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9" r:id="rId3"/>
    <p:sldId id="258" r:id="rId4"/>
    <p:sldId id="304" r:id="rId5"/>
    <p:sldId id="284" r:id="rId6"/>
    <p:sldId id="285" r:id="rId7"/>
    <p:sldId id="344" r:id="rId8"/>
    <p:sldId id="345" r:id="rId9"/>
    <p:sldId id="346" r:id="rId10"/>
    <p:sldId id="347" r:id="rId11"/>
    <p:sldId id="303" r:id="rId12"/>
    <p:sldId id="306" r:id="rId13"/>
    <p:sldId id="349" r:id="rId14"/>
    <p:sldId id="339" r:id="rId15"/>
    <p:sldId id="274" r:id="rId16"/>
    <p:sldId id="308" r:id="rId17"/>
    <p:sldId id="309" r:id="rId18"/>
    <p:sldId id="311" r:id="rId19"/>
    <p:sldId id="312" r:id="rId20"/>
    <p:sldId id="313" r:id="rId21"/>
    <p:sldId id="314" r:id="rId22"/>
    <p:sldId id="348" r:id="rId23"/>
    <p:sldId id="307" r:id="rId24"/>
  </p:sldIdLst>
  <p:sldSz cx="9144000" cy="6858000" type="screen4x3"/>
  <p:notesSz cx="6858000" cy="9296400"/>
  <p:defaultTextStyle>
    <a:lvl1pPr>
      <a:defRPr sz="1400">
        <a:latin typeface="Helvetica"/>
        <a:ea typeface="Helvetica"/>
        <a:cs typeface="Helvetica"/>
        <a:sym typeface="Helvetica"/>
      </a:defRPr>
    </a:lvl1pPr>
    <a:lvl2pPr>
      <a:defRPr sz="1400">
        <a:latin typeface="Helvetica"/>
        <a:ea typeface="Helvetica"/>
        <a:cs typeface="Helvetica"/>
        <a:sym typeface="Helvetica"/>
      </a:defRPr>
    </a:lvl2pPr>
    <a:lvl3pPr>
      <a:defRPr sz="1400">
        <a:latin typeface="Helvetica"/>
        <a:ea typeface="Helvetica"/>
        <a:cs typeface="Helvetica"/>
        <a:sym typeface="Helvetica"/>
      </a:defRPr>
    </a:lvl3pPr>
    <a:lvl4pPr>
      <a:defRPr sz="1400">
        <a:latin typeface="Helvetica"/>
        <a:ea typeface="Helvetica"/>
        <a:cs typeface="Helvetica"/>
        <a:sym typeface="Helvetica"/>
      </a:defRPr>
    </a:lvl4pPr>
    <a:lvl5pPr>
      <a:defRPr sz="1400">
        <a:latin typeface="Helvetica"/>
        <a:ea typeface="Helvetica"/>
        <a:cs typeface="Helvetica"/>
        <a:sym typeface="Helvetica"/>
      </a:defRPr>
    </a:lvl5pPr>
    <a:lvl6pPr>
      <a:defRPr sz="1400">
        <a:latin typeface="Helvetica"/>
        <a:ea typeface="Helvetica"/>
        <a:cs typeface="Helvetica"/>
        <a:sym typeface="Helvetica"/>
      </a:defRPr>
    </a:lvl6pPr>
    <a:lvl7pPr>
      <a:defRPr sz="1400">
        <a:latin typeface="Helvetica"/>
        <a:ea typeface="Helvetica"/>
        <a:cs typeface="Helvetica"/>
        <a:sym typeface="Helvetica"/>
      </a:defRPr>
    </a:lvl7pPr>
    <a:lvl8pPr>
      <a:defRPr sz="1400">
        <a:latin typeface="Helvetica"/>
        <a:ea typeface="Helvetica"/>
        <a:cs typeface="Helvetica"/>
        <a:sym typeface="Helvetica"/>
      </a:defRPr>
    </a:lvl8pPr>
    <a:lvl9pPr>
      <a:defRPr sz="1400">
        <a:latin typeface="Helvetica"/>
        <a:ea typeface="Helvetica"/>
        <a:cs typeface="Helvetica"/>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829876A-9CAF-446B-8EE3-5014CFECA156}" v="28" dt="2025-01-22T02:34:24.230"/>
  </p1510:revLst>
</p1510:revInfo>
</file>

<file path=ppt/tableStyles.xml><?xml version="1.0" encoding="utf-8"?>
<a:tblStyleLst xmlns:a="http://schemas.openxmlformats.org/drawingml/2006/main" def="{5940675A-B579-460E-94D1-54222C63F5DA}">
  <a:tblStyle styleId="{8F44A2F1-9E1F-4B54-A3A2-5F16C0AD49E2}" styleName="">
    <a:tblBg/>
    <a:wholeTbl>
      <a:tcTxStyle b="on" i="on">
        <a:font>
          <a:latin typeface="Helvetica"/>
          <a:ea typeface="Helvetica"/>
          <a:cs typeface="Helvetica"/>
        </a:font>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DCDCDC"/>
          </a:solidFill>
        </a:fill>
      </a:tcStyle>
    </a:wholeTbl>
    <a:band2H>
      <a:tcTxStyle/>
      <a:tcStyle>
        <a:tcBdr/>
        <a:fill>
          <a:solidFill>
            <a:srgbClr val="EEEEEE"/>
          </a:solidFill>
        </a:fill>
      </a:tcStyle>
    </a:band2H>
    <a:firstCol>
      <a:tcTxStyle b="on" i="on">
        <a:font>
          <a:latin typeface="Helvetica"/>
          <a:ea typeface="Helvetica"/>
          <a:cs typeface="Helvetica"/>
        </a:font>
        <a:srgbClr val="FFFFFF"/>
      </a:tcTxStyle>
      <a:tcStyle>
        <a:tcBdr>
          <a:left>
            <a:ln w="12700" cap="flat">
              <a:solidFill>
                <a:srgbClr val="FFFFFF"/>
              </a:solidFill>
              <a:prstDash val="solid"/>
              <a:bevel/>
            </a:ln>
          </a:left>
          <a:right>
            <a:ln w="381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69696"/>
          </a:solidFill>
        </a:fill>
      </a:tcStyle>
    </a:firstCol>
    <a:lastRow>
      <a:tcTxStyle b="on" i="on">
        <a:font>
          <a:latin typeface="Helvetica"/>
          <a:ea typeface="Helvetica"/>
          <a:cs typeface="Helvetica"/>
        </a:font>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69696"/>
          </a:solidFill>
        </a:fill>
      </a:tcStyle>
    </a:lastRow>
    <a:firstRow>
      <a:tcTxStyle b="on" i="on">
        <a:font>
          <a:latin typeface="Helvetica"/>
          <a:ea typeface="Helvetica"/>
          <a:cs typeface="Helvetica"/>
        </a:font>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969696"/>
          </a:solidFill>
        </a:fill>
      </a:tcStyle>
    </a:firstRow>
  </a:tblStyle>
  <a:tblStyle styleId="{C7B018BB-80A7-4F77-B60F-C8B233D01FF8}" styleName="">
    <a:tblBg/>
    <a:wholeTbl>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5AC831"/>
          </a:solidFill>
        </a:fill>
      </a:tcStyle>
    </a:firstCol>
    <a:lastRow>
      <a:tcTxStyle>
        <a:font>
          <a:latin typeface="Helvetica Light"/>
          <a:ea typeface="Helvetica Light"/>
          <a:cs typeface="Helvetica Light"/>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lastRow>
    <a:firstRow>
      <a:tcTxStyle b="on">
        <a:font>
          <a:latin typeface="Helvetica Light"/>
          <a:ea typeface="Helvetica Light"/>
          <a:cs typeface="Helvetica Light"/>
        </a:font>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00882B"/>
          </a:solidFill>
        </a:fill>
      </a:tcStyle>
    </a:firstRow>
  </a:tblStyle>
  <a:tblStyle styleId="{EEE7283C-3CF3-47DC-8721-378D4A62B228}" styleName="">
    <a:tblBg/>
    <a:wholeTbl>
      <a:tcTxStyle>
        <a:font>
          <a:latin typeface="Helvetica Light"/>
          <a:ea typeface="Helvetica Light"/>
          <a:cs typeface="Helvetica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E6E3D7"/>
          </a:solidFill>
        </a:fill>
      </a:tcStyle>
    </a:wholeTbl>
    <a:band2H>
      <a:tcTxStyle/>
      <a:tcStyle>
        <a:tcBdr/>
        <a:fill>
          <a:solidFill>
            <a:srgbClr val="C3C2C2"/>
          </a:solidFill>
        </a:fill>
      </a:tcStyle>
    </a:band2H>
    <a:firstCol>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09C99"/>
          </a:solidFill>
        </a:fill>
      </a:tcStyle>
    </a:firstCol>
    <a:la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lastRow>
    <a:firstRow>
      <a:tcTxStyle b="on">
        <a:font>
          <a:latin typeface="Helvetica Light"/>
          <a:ea typeface="Helvetica Light"/>
          <a:cs typeface="Helvetica Light"/>
        </a:font>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97764E"/>
          </a:solidFill>
        </a:fill>
      </a:tcStyle>
    </a:firstRow>
  </a:tblStyle>
  <a:tblStyle styleId="{CF821DB8-F4EB-4A41-A1BA-3FCAFE7338EE}" styleName="">
    <a:tblBg/>
    <a:wholeTbl>
      <a:tcTxStyle>
        <a:font>
          <a:latin typeface="Helvetica Light"/>
          <a:ea typeface="Helvetica Light"/>
          <a:cs typeface="Helvetica Light"/>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EBEBEB"/>
          </a:solidFill>
        </a:fill>
      </a:tcStyle>
    </a:wholeTbl>
    <a:band2H>
      <a:tcTxStyle/>
      <a:tcStyle>
        <a:tcBdr/>
        <a:fill>
          <a:solidFill>
            <a:srgbClr val="DCE5E6"/>
          </a:solidFill>
        </a:fill>
      </a:tcStyle>
    </a:band2H>
    <a:firstCol>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Col>
    <a:la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lastRow>
    <a:firstRow>
      <a:tcTxStyle b="on">
        <a:font>
          <a:latin typeface="Helvetica Light"/>
          <a:ea typeface="Helvetica Light"/>
          <a:cs typeface="Helvetica Light"/>
        </a:font>
        <a:srgbClr val="FFFFFF"/>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5E7790"/>
          </a:solidFill>
        </a:fill>
      </a:tcStyle>
    </a:firstRow>
  </a:tblStyle>
  <a:tblStyle styleId="{33BA23B1-9221-436E-865A-0063620EA4FD}" styleName="">
    <a:tblBg/>
    <a:wholeTbl>
      <a:tcTxStyle>
        <a:font>
          <a:latin typeface="Helvetica Light"/>
          <a:ea typeface="Helvetica Light"/>
          <a:cs typeface="Helvetica Light"/>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D0D1D2"/>
          </a:solidFill>
        </a:fill>
      </a:tcStyle>
    </a:wholeTbl>
    <a:band2H>
      <a:tcTxStyle/>
      <a:tcStyle>
        <a:tcBdr/>
        <a:fill>
          <a:solidFill>
            <a:srgbClr val="DEDEDF"/>
          </a:solidFill>
        </a:fill>
      </a:tcStyle>
    </a:band2H>
    <a:firstCol>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761"/>
          </a:solidFill>
        </a:fill>
      </a:tcStyle>
    </a:firstCol>
    <a:la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909398"/>
          </a:solidFill>
        </a:fill>
      </a:tcStyle>
    </a:lastRow>
    <a:firstRow>
      <a:tcTxStyle b="on">
        <a:font>
          <a:latin typeface="Helvetica Light"/>
          <a:ea typeface="Helvetica Light"/>
          <a:cs typeface="Helvetica Light"/>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67C85"/>
          </a:solidFill>
        </a:fill>
      </a:tcStyle>
    </a:firstRow>
  </a:tblStyle>
  <a:tblStyle styleId="{2708684C-4D16-4618-839F-0558EEFCDFE6}" styleName="">
    <a:tblBg/>
    <a:wholeTbl>
      <a:tcTxStyle>
        <a:font>
          <a:latin typeface="Helvetica Light"/>
          <a:ea typeface="Helvetica Light"/>
          <a:cs typeface="Helvetica Light"/>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a:font>
          <a:latin typeface="Helvetica"/>
          <a:ea typeface="Helvetica"/>
          <a:cs typeface="Helvetica"/>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a:font>
          <a:latin typeface="Helvetica"/>
          <a:ea typeface="Helvetica"/>
          <a:cs typeface="Helvetica"/>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4C3C2611-4C71-4FC5-86AE-919BDF0F9419}" styleName="">
    <a:tblBg/>
    <a:wholeTbl>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398CCE"/>
          </a:solidFill>
        </a:fill>
      </a:tcStyle>
    </a:firstCol>
    <a:lastRow>
      <a:tcTxStyle>
        <a:font>
          <a:latin typeface="Helvetica Light"/>
          <a:ea typeface="Helvetica Light"/>
          <a:cs typeface="Helvetica Light"/>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a:font>
          <a:latin typeface="Helvetica Light"/>
          <a:ea typeface="Helvetica Light"/>
          <a:cs typeface="Helvetica Light"/>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365C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2"/>
    <p:restoredTop sz="66388" autoAdjust="0"/>
  </p:normalViewPr>
  <p:slideViewPr>
    <p:cSldViewPr snapToGrid="0">
      <p:cViewPr varScale="1">
        <p:scale>
          <a:sx n="70" d="100"/>
          <a:sy n="70" d="100"/>
        </p:scale>
        <p:origin x="1437"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4" name="Shape 64"/>
          <p:cNvSpPr>
            <a:spLocks noGrp="1" noRot="1" noChangeAspect="1"/>
          </p:cNvSpPr>
          <p:nvPr>
            <p:ph type="sldImg"/>
          </p:nvPr>
        </p:nvSpPr>
        <p:spPr>
          <a:xfrm>
            <a:off x="1104900" y="696913"/>
            <a:ext cx="4648200" cy="3486150"/>
          </a:xfrm>
          <a:prstGeom prst="rect">
            <a:avLst/>
          </a:prstGeom>
        </p:spPr>
        <p:txBody>
          <a:bodyPr/>
          <a:lstStyle/>
          <a:p>
            <a:pPr lvl="0"/>
            <a:endParaRPr/>
          </a:p>
        </p:txBody>
      </p:sp>
      <p:sp>
        <p:nvSpPr>
          <p:cNvPr id="65" name="Shape 65"/>
          <p:cNvSpPr>
            <a:spLocks noGrp="1"/>
          </p:cNvSpPr>
          <p:nvPr>
            <p:ph type="body" sz="quarter" idx="1"/>
          </p:nvPr>
        </p:nvSpPr>
        <p:spPr>
          <a:xfrm>
            <a:off x="914400" y="4415790"/>
            <a:ext cx="5029200" cy="4183380"/>
          </a:xfrm>
          <a:prstGeom prst="rect">
            <a:avLst/>
          </a:prstGeom>
        </p:spPr>
        <p:txBody>
          <a:bodyPr/>
          <a:lstStyle/>
          <a:p>
            <a:pPr lvl="0"/>
            <a:endParaRPr/>
          </a:p>
        </p:txBody>
      </p:sp>
    </p:spTree>
    <p:extLst>
      <p:ext uri="{BB962C8B-B14F-4D97-AF65-F5344CB8AC3E}">
        <p14:creationId xmlns:p14="http://schemas.microsoft.com/office/powerpoint/2010/main" val="2483954175"/>
      </p:ext>
    </p:extLst>
  </p:cSld>
  <p:clrMap bg1="lt1" tx1="dk1" bg2="lt2" tx2="dk2" accent1="accent1" accent2="accent2" accent3="accent3" accent4="accent4" accent5="accent5" accent6="accent6" hlink="hlink" folHlink="folHlink"/>
  <p:notesStyle>
    <a:lvl1pPr defTabSz="457200">
      <a:defRPr sz="2200">
        <a:latin typeface="Lucida Grande"/>
        <a:ea typeface="Lucida Grande"/>
        <a:cs typeface="Lucida Grande"/>
        <a:sym typeface="Lucida Grande"/>
      </a:defRPr>
    </a:lvl1pPr>
    <a:lvl2pPr indent="228600" defTabSz="457200">
      <a:defRPr sz="2200">
        <a:latin typeface="Lucida Grande"/>
        <a:ea typeface="Lucida Grande"/>
        <a:cs typeface="Lucida Grande"/>
        <a:sym typeface="Lucida Grande"/>
      </a:defRPr>
    </a:lvl2pPr>
    <a:lvl3pPr indent="457200" defTabSz="457200">
      <a:defRPr sz="2200">
        <a:latin typeface="Lucida Grande"/>
        <a:ea typeface="Lucida Grande"/>
        <a:cs typeface="Lucida Grande"/>
        <a:sym typeface="Lucida Grande"/>
      </a:defRPr>
    </a:lvl3pPr>
    <a:lvl4pPr indent="685800" defTabSz="457200">
      <a:defRPr sz="2200">
        <a:latin typeface="Lucida Grande"/>
        <a:ea typeface="Lucida Grande"/>
        <a:cs typeface="Lucida Grande"/>
        <a:sym typeface="Lucida Grande"/>
      </a:defRPr>
    </a:lvl4pPr>
    <a:lvl5pPr indent="914400" defTabSz="457200">
      <a:defRPr sz="2200">
        <a:latin typeface="Lucida Grande"/>
        <a:ea typeface="Lucida Grande"/>
        <a:cs typeface="Lucida Grande"/>
        <a:sym typeface="Lucida Grande"/>
      </a:defRPr>
    </a:lvl5pPr>
    <a:lvl6pPr indent="1143000" defTabSz="457200">
      <a:defRPr sz="2200">
        <a:latin typeface="Lucida Grande"/>
        <a:ea typeface="Lucida Grande"/>
        <a:cs typeface="Lucida Grande"/>
        <a:sym typeface="Lucida Grande"/>
      </a:defRPr>
    </a:lvl6pPr>
    <a:lvl7pPr indent="1371600" defTabSz="457200">
      <a:defRPr sz="2200">
        <a:latin typeface="Lucida Grande"/>
        <a:ea typeface="Lucida Grande"/>
        <a:cs typeface="Lucida Grande"/>
        <a:sym typeface="Lucida Grande"/>
      </a:defRPr>
    </a:lvl7pPr>
    <a:lvl8pPr indent="1600200" defTabSz="457200">
      <a:defRPr sz="2200">
        <a:latin typeface="Lucida Grande"/>
        <a:ea typeface="Lucida Grande"/>
        <a:cs typeface="Lucida Grande"/>
        <a:sym typeface="Lucida Grande"/>
      </a:defRPr>
    </a:lvl8pPr>
    <a:lvl9pPr indent="1828800" defTabSz="457200">
      <a:defRPr sz="2200">
        <a:latin typeface="Lucida Grande"/>
        <a:ea typeface="Lucida Grande"/>
        <a:cs typeface="Lucida Grande"/>
        <a:sym typeface="Lucida Grand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prstGeom prst="rect">
            <a:avLst/>
          </a:prstGeom>
        </p:spPr>
        <p:txBody>
          <a:bodyPr/>
          <a:lstStyle/>
          <a:p>
            <a:pPr lvl="0"/>
            <a:endParaRPr/>
          </a:p>
        </p:txBody>
      </p:sp>
      <p:sp>
        <p:nvSpPr>
          <p:cNvPr id="70" name="Shape 70"/>
          <p:cNvSpPr>
            <a:spLocks noGrp="1"/>
          </p:cNvSpPr>
          <p:nvPr>
            <p:ph type="body" sz="quarter" idx="1"/>
          </p:nvPr>
        </p:nvSpPr>
        <p:spPr>
          <a:prstGeom prst="rect">
            <a:avLst/>
          </a:prstGeom>
        </p:spPr>
        <p:txBody>
          <a:bodyPr/>
          <a:lstStyle/>
          <a:p>
            <a:pPr lvl="0" defTabSz="914400">
              <a:spcBef>
                <a:spcPts val="400"/>
              </a:spcBef>
              <a:defRPr sz="1800"/>
            </a:pPr>
            <a:endParaRPr sz="1200" dirty="0">
              <a:latin typeface="Times Roman"/>
              <a:ea typeface="Times Roman"/>
              <a:cs typeface="Times Roman"/>
              <a:sym typeface="Times Roman"/>
            </a:endParaRPr>
          </a:p>
        </p:txBody>
      </p:sp>
    </p:spTree>
    <p:extLst>
      <p:ext uri="{BB962C8B-B14F-4D97-AF65-F5344CB8AC3E}">
        <p14:creationId xmlns:p14="http://schemas.microsoft.com/office/powerpoint/2010/main" val="9608127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Shape 84"/>
          <p:cNvSpPr>
            <a:spLocks noGrp="1" noRot="1" noChangeAspect="1"/>
          </p:cNvSpPr>
          <p:nvPr>
            <p:ph type="sldImg"/>
          </p:nvPr>
        </p:nvSpPr>
        <p:spPr>
          <a:prstGeom prst="rect">
            <a:avLst/>
          </a:prstGeom>
        </p:spPr>
        <p:txBody>
          <a:bodyPr/>
          <a:lstStyle/>
          <a:p>
            <a:pPr lvl="0"/>
            <a:endParaRPr/>
          </a:p>
        </p:txBody>
      </p:sp>
      <p:sp>
        <p:nvSpPr>
          <p:cNvPr id="85" name="Shape 85"/>
          <p:cNvSpPr>
            <a:spLocks noGrp="1"/>
          </p:cNvSpPr>
          <p:nvPr>
            <p:ph type="body" sz="quarter" idx="1"/>
          </p:nvPr>
        </p:nvSpPr>
        <p:spPr>
          <a:prstGeom prst="rect">
            <a:avLst/>
          </a:prstGeom>
        </p:spPr>
        <p:txBody>
          <a:bodyPr/>
          <a:lstStyle>
            <a:lvl1pPr defTabSz="914400">
              <a:spcBef>
                <a:spcPts val="400"/>
              </a:spcBef>
              <a:defRPr sz="1200">
                <a:latin typeface="Times Roman"/>
                <a:ea typeface="Times Roman"/>
                <a:cs typeface="Times Roman"/>
                <a:sym typeface="Times Roman"/>
              </a:defRPr>
            </a:lvl1pPr>
          </a:lstStyle>
          <a:p>
            <a:pPr lvl="0">
              <a:defRPr sz="1800"/>
            </a:pPr>
            <a:r>
              <a:rPr lang="en-US" sz="1200" dirty="0"/>
              <a:t>Please </a:t>
            </a:r>
            <a:endParaRPr sz="1200" dirty="0"/>
          </a:p>
        </p:txBody>
      </p:sp>
    </p:spTree>
    <p:extLst>
      <p:ext uri="{BB962C8B-B14F-4D97-AF65-F5344CB8AC3E}">
        <p14:creationId xmlns:p14="http://schemas.microsoft.com/office/powerpoint/2010/main" val="34324069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Shape 79"/>
          <p:cNvSpPr>
            <a:spLocks noGrp="1" noRot="1" noChangeAspect="1"/>
          </p:cNvSpPr>
          <p:nvPr>
            <p:ph type="sldImg"/>
          </p:nvPr>
        </p:nvSpPr>
        <p:spPr>
          <a:prstGeom prst="rect">
            <a:avLst/>
          </a:prstGeom>
        </p:spPr>
        <p:txBody>
          <a:bodyPr/>
          <a:lstStyle/>
          <a:p>
            <a:pPr lvl="0"/>
            <a:endParaRPr/>
          </a:p>
        </p:txBody>
      </p:sp>
      <p:sp>
        <p:nvSpPr>
          <p:cNvPr id="80" name="Shape 80"/>
          <p:cNvSpPr>
            <a:spLocks noGrp="1"/>
          </p:cNvSpPr>
          <p:nvPr>
            <p:ph type="body" sz="quarter" idx="1"/>
          </p:nvPr>
        </p:nvSpPr>
        <p:spPr>
          <a:prstGeom prst="rect">
            <a:avLst/>
          </a:prstGeom>
        </p:spPr>
        <p:txBody>
          <a:bodyPr/>
          <a:lstStyle>
            <a:lvl1pPr defTabSz="914400">
              <a:spcBef>
                <a:spcPts val="400"/>
              </a:spcBef>
              <a:defRPr sz="1200">
                <a:latin typeface="Times Roman"/>
                <a:ea typeface="Times Roman"/>
                <a:cs typeface="Times Roman"/>
                <a:sym typeface="Times Roman"/>
              </a:defRPr>
            </a:lvl1pPr>
          </a:lstStyle>
          <a:p>
            <a:pPr lvl="0">
              <a:defRPr sz="1800"/>
            </a:pPr>
            <a:r>
              <a:rPr lang="en-US" sz="1200" dirty="0"/>
              <a:t>Use t-accounts, write journal entries—if you’re stuck, </a:t>
            </a:r>
            <a:endParaRPr sz="1200" dirty="0"/>
          </a:p>
        </p:txBody>
      </p:sp>
    </p:spTree>
    <p:extLst>
      <p:ext uri="{BB962C8B-B14F-4D97-AF65-F5344CB8AC3E}">
        <p14:creationId xmlns:p14="http://schemas.microsoft.com/office/powerpoint/2010/main" val="131842494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hape 74"/>
          <p:cNvSpPr>
            <a:spLocks noGrp="1" noRot="1" noChangeAspect="1"/>
          </p:cNvSpPr>
          <p:nvPr>
            <p:ph type="sldImg"/>
          </p:nvPr>
        </p:nvSpPr>
        <p:spPr>
          <a:prstGeom prst="rect">
            <a:avLst/>
          </a:prstGeom>
        </p:spPr>
        <p:txBody>
          <a:bodyPr/>
          <a:lstStyle/>
          <a:p>
            <a:pPr lvl="0"/>
            <a:endParaRPr/>
          </a:p>
        </p:txBody>
      </p:sp>
      <p:sp>
        <p:nvSpPr>
          <p:cNvPr id="75" name="Shape 75"/>
          <p:cNvSpPr>
            <a:spLocks noGrp="1"/>
          </p:cNvSpPr>
          <p:nvPr>
            <p:ph type="body" sz="quarter" idx="1"/>
          </p:nvPr>
        </p:nvSpPr>
        <p:spPr>
          <a:prstGeom prst="rect">
            <a:avLst/>
          </a:prstGeom>
        </p:spPr>
        <p:txBody>
          <a:bodyPr/>
          <a:lstStyle/>
          <a:p>
            <a:pPr marL="76188" lvl="0" indent="-76188" defTabSz="914400">
              <a:spcBef>
                <a:spcPts val="400"/>
              </a:spcBef>
              <a:buSzPct val="100000"/>
              <a:buFont typeface="Times Roman"/>
              <a:buChar char="-"/>
              <a:defRPr sz="1800"/>
            </a:pPr>
            <a:endParaRPr sz="1200" dirty="0">
              <a:latin typeface="Times Roman"/>
              <a:ea typeface="Times Roman"/>
              <a:cs typeface="Times Roman"/>
              <a:sym typeface="Times Roman"/>
            </a:endParaRPr>
          </a:p>
        </p:txBody>
      </p:sp>
    </p:spTree>
    <p:extLst>
      <p:ext uri="{BB962C8B-B14F-4D97-AF65-F5344CB8AC3E}">
        <p14:creationId xmlns:p14="http://schemas.microsoft.com/office/powerpoint/2010/main" val="28287032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343244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854233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46354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582472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16544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9995587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491583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735874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ADC4A7-E92A-6ED9-9D39-8CB05669BB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AB81B1-1A31-3C1B-8B33-95B1E0027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317F71-621E-1D7B-84E9-71EF642CF2C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49607729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hape 74"/>
          <p:cNvSpPr>
            <a:spLocks noGrp="1" noRot="1" noChangeAspect="1"/>
          </p:cNvSpPr>
          <p:nvPr>
            <p:ph type="sldImg"/>
          </p:nvPr>
        </p:nvSpPr>
        <p:spPr>
          <a:prstGeom prst="rect">
            <a:avLst/>
          </a:prstGeom>
        </p:spPr>
        <p:txBody>
          <a:bodyPr/>
          <a:lstStyle/>
          <a:p>
            <a:pPr lvl="0"/>
            <a:endParaRPr/>
          </a:p>
        </p:txBody>
      </p:sp>
      <p:sp>
        <p:nvSpPr>
          <p:cNvPr id="75" name="Shape 75"/>
          <p:cNvSpPr>
            <a:spLocks noGrp="1"/>
          </p:cNvSpPr>
          <p:nvPr>
            <p:ph type="body" sz="quarter" idx="1"/>
          </p:nvPr>
        </p:nvSpPr>
        <p:spPr>
          <a:prstGeom prst="rect">
            <a:avLst/>
          </a:prstGeom>
        </p:spPr>
        <p:txBody>
          <a:bodyPr/>
          <a:lstStyle/>
          <a:p>
            <a:pPr marL="76188" lvl="0" indent="-76188" defTabSz="914400">
              <a:spcBef>
                <a:spcPts val="400"/>
              </a:spcBef>
              <a:buSzPct val="100000"/>
              <a:buFont typeface="Times Roman"/>
              <a:buChar char="-"/>
              <a:defRPr sz="1800"/>
            </a:pPr>
            <a:endParaRPr sz="1200" dirty="0">
              <a:latin typeface="Times Roman"/>
              <a:ea typeface="Times Roman"/>
              <a:cs typeface="Times Roman"/>
              <a:sym typeface="Times Roman"/>
            </a:endParaRPr>
          </a:p>
        </p:txBody>
      </p:sp>
    </p:spTree>
    <p:extLst>
      <p:ext uri="{BB962C8B-B14F-4D97-AF65-F5344CB8AC3E}">
        <p14:creationId xmlns:p14="http://schemas.microsoft.com/office/powerpoint/2010/main" val="126328190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Shape 79"/>
          <p:cNvSpPr>
            <a:spLocks noGrp="1" noRot="1" noChangeAspect="1"/>
          </p:cNvSpPr>
          <p:nvPr>
            <p:ph type="sldImg"/>
          </p:nvPr>
        </p:nvSpPr>
        <p:spPr>
          <a:prstGeom prst="rect">
            <a:avLst/>
          </a:prstGeom>
        </p:spPr>
        <p:txBody>
          <a:bodyPr/>
          <a:lstStyle/>
          <a:p>
            <a:pPr lvl="0"/>
            <a:endParaRPr/>
          </a:p>
        </p:txBody>
      </p:sp>
      <p:sp>
        <p:nvSpPr>
          <p:cNvPr id="80" name="Shape 80"/>
          <p:cNvSpPr>
            <a:spLocks noGrp="1"/>
          </p:cNvSpPr>
          <p:nvPr>
            <p:ph type="body" sz="quarter" idx="1"/>
          </p:nvPr>
        </p:nvSpPr>
        <p:spPr>
          <a:prstGeom prst="rect">
            <a:avLst/>
          </a:prstGeom>
        </p:spPr>
        <p:txBody>
          <a:bodyPr/>
          <a:lstStyle>
            <a:lvl1pPr defTabSz="914400">
              <a:spcBef>
                <a:spcPts val="400"/>
              </a:spcBef>
              <a:defRPr sz="1200">
                <a:latin typeface="Times Roman"/>
                <a:ea typeface="Times Roman"/>
                <a:cs typeface="Times Roman"/>
                <a:sym typeface="Times Roman"/>
              </a:defRPr>
            </a:lvl1pPr>
          </a:lstStyle>
          <a:p>
            <a:pPr lvl="0">
              <a:defRPr sz="1800"/>
            </a:pPr>
            <a:r>
              <a:rPr lang="en-US" sz="1200" dirty="0"/>
              <a:t>It’s really important that you’re comfortable with debit—credits, T-accounts, journal entries, etc.</a:t>
            </a:r>
          </a:p>
          <a:p>
            <a:pPr lvl="0">
              <a:defRPr sz="1800"/>
            </a:pPr>
            <a:r>
              <a:rPr lang="en-US" sz="1200" dirty="0"/>
              <a:t>The entries will become more and more complicated</a:t>
            </a:r>
          </a:p>
          <a:p>
            <a:pPr lvl="0">
              <a:defRPr sz="1800"/>
            </a:pPr>
            <a:r>
              <a:rPr lang="en-US" sz="1200" dirty="0"/>
              <a:t>I think it’s always helpful to write down what you know (debit cash, credit revenue, etc.), and oftentimes you’re able to kind of fill in by deduction what you don’t know—take a step back and think about the general nature of what you’re trying to do</a:t>
            </a:r>
          </a:p>
          <a:p>
            <a:pPr lvl="0">
              <a:defRPr sz="1800"/>
            </a:pPr>
            <a:r>
              <a:rPr lang="en-US" sz="1200" dirty="0"/>
              <a:t>It’s helpful to think about the “flow”—it’s double-entry accounting, right; think of the fundamental accounting equation: things need to balance, so think about how entries affect BS, IS, things move through different accounts, etc.</a:t>
            </a:r>
            <a:endParaRPr sz="1200" dirty="0"/>
          </a:p>
        </p:txBody>
      </p:sp>
    </p:spTree>
    <p:extLst>
      <p:ext uri="{BB962C8B-B14F-4D97-AF65-F5344CB8AC3E}">
        <p14:creationId xmlns:p14="http://schemas.microsoft.com/office/powerpoint/2010/main" val="21062516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 and SE are on the RHS (credit), so credits to these accounts </a:t>
            </a:r>
            <a:r>
              <a:rPr lang="en-US" b="1" dirty="0"/>
              <a:t>increase </a:t>
            </a:r>
            <a:r>
              <a:rPr lang="en-US" b="0" dirty="0"/>
              <a:t>these balances</a:t>
            </a:r>
            <a:endParaRPr lang="en-US" dirty="0"/>
          </a:p>
        </p:txBody>
      </p:sp>
    </p:spTree>
    <p:extLst>
      <p:ext uri="{BB962C8B-B14F-4D97-AF65-F5344CB8AC3E}">
        <p14:creationId xmlns:p14="http://schemas.microsoft.com/office/powerpoint/2010/main" val="17379404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25511472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0733712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 method id’s the sources uses</a:t>
            </a:r>
            <a:r>
              <a:rPr lang="en-US" baseline="0" dirty="0"/>
              <a:t> of cash. E.g., Cash flow to customers. </a:t>
            </a:r>
          </a:p>
          <a:p>
            <a:endParaRPr lang="en-US" baseline="0" dirty="0"/>
          </a:p>
          <a:p>
            <a:r>
              <a:rPr lang="en-US" baseline="0" dirty="0"/>
              <a:t>Indirect method, you start with net income, and adjust for non-cash activities (i.e., accruals). </a:t>
            </a:r>
          </a:p>
          <a:p>
            <a:endParaRPr lang="en-US" baseline="0" dirty="0"/>
          </a:p>
          <a:p>
            <a:r>
              <a:rPr lang="en-US" baseline="0" dirty="0"/>
              <a:t>What is best? FASB thinks the direct method is best? Why? How many firms use the direct method?</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B86788C-3F39-40E4-8156-107A3B8B696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800351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8861666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9909774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CD4D7-8255-5818-7C0A-02136A150E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FE82C3-ADEE-14EE-BA78-B0D5CDE3FC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3874990-91F7-0E32-6044-52DB601BC35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548165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Shape 74"/>
          <p:cNvSpPr>
            <a:spLocks noGrp="1" noRot="1" noChangeAspect="1"/>
          </p:cNvSpPr>
          <p:nvPr>
            <p:ph type="sldImg"/>
          </p:nvPr>
        </p:nvSpPr>
        <p:spPr>
          <a:prstGeom prst="rect">
            <a:avLst/>
          </a:prstGeom>
        </p:spPr>
        <p:txBody>
          <a:bodyPr/>
          <a:lstStyle/>
          <a:p>
            <a:pPr lvl="0"/>
            <a:endParaRPr/>
          </a:p>
        </p:txBody>
      </p:sp>
      <p:sp>
        <p:nvSpPr>
          <p:cNvPr id="75" name="Shape 75"/>
          <p:cNvSpPr>
            <a:spLocks noGrp="1"/>
          </p:cNvSpPr>
          <p:nvPr>
            <p:ph type="body" sz="quarter" idx="1"/>
          </p:nvPr>
        </p:nvSpPr>
        <p:spPr>
          <a:prstGeom prst="rect">
            <a:avLst/>
          </a:prstGeom>
        </p:spPr>
        <p:txBody>
          <a:bodyPr/>
          <a:lstStyle/>
          <a:p>
            <a:pPr marL="76188" lvl="0" indent="-76188" defTabSz="914400">
              <a:spcBef>
                <a:spcPts val="400"/>
              </a:spcBef>
              <a:buSzPct val="100000"/>
              <a:buFont typeface="Times Roman"/>
              <a:buChar char="-"/>
              <a:defRPr sz="1800"/>
            </a:pPr>
            <a:endParaRPr sz="1200" dirty="0">
              <a:latin typeface="Times Roman"/>
              <a:ea typeface="Times Roman"/>
              <a:cs typeface="Times Roman"/>
              <a:sym typeface="Times Roman"/>
            </a:endParaRPr>
          </a:p>
        </p:txBody>
      </p:sp>
    </p:spTree>
    <p:extLst>
      <p:ext uri="{BB962C8B-B14F-4D97-AF65-F5344CB8AC3E}">
        <p14:creationId xmlns:p14="http://schemas.microsoft.com/office/powerpoint/2010/main" val="18640684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4_Title Slide">
    <p:spTree>
      <p:nvGrpSpPr>
        <p:cNvPr id="1" name=""/>
        <p:cNvGrpSpPr/>
        <p:nvPr/>
      </p:nvGrpSpPr>
      <p:grpSpPr>
        <a:xfrm>
          <a:off x="0" y="0"/>
          <a:ext cx="0" cy="0"/>
          <a:chOff x="0" y="0"/>
          <a:chExt cx="0" cy="0"/>
        </a:xfrm>
      </p:grpSpPr>
      <p:pic>
        <p:nvPicPr>
          <p:cNvPr id="6" name="image2.png"/>
          <p:cNvPicPr/>
          <p:nvPr/>
        </p:nvPicPr>
        <p:blipFill>
          <a:blip r:embed="rId2"/>
          <a:stretch>
            <a:fillRect/>
          </a:stretch>
        </p:blipFill>
        <p:spPr>
          <a:xfrm>
            <a:off x="4840287" y="0"/>
            <a:ext cx="4303713" cy="6858000"/>
          </a:xfrm>
          <a:prstGeom prst="rect">
            <a:avLst/>
          </a:prstGeom>
          <a:ln w="12700">
            <a:miter lim="400000"/>
          </a:ln>
        </p:spPr>
      </p:pic>
      <p:pic>
        <p:nvPicPr>
          <p:cNvPr id="7" name="image3.png"/>
          <p:cNvPicPr/>
          <p:nvPr/>
        </p:nvPicPr>
        <p:blipFill>
          <a:blip r:embed="rId3"/>
          <a:stretch>
            <a:fillRect/>
          </a:stretch>
        </p:blipFill>
        <p:spPr>
          <a:xfrm>
            <a:off x="457200" y="4232275"/>
            <a:ext cx="5519738" cy="1525588"/>
          </a:xfrm>
          <a:prstGeom prst="rect">
            <a:avLst/>
          </a:prstGeom>
          <a:ln w="12700">
            <a:miter lim="400000"/>
          </a:ln>
        </p:spPr>
      </p:pic>
      <p:sp>
        <p:nvSpPr>
          <p:cNvPr id="8" name="Shape 8"/>
          <p:cNvSpPr>
            <a:spLocks noGrp="1"/>
          </p:cNvSpPr>
          <p:nvPr>
            <p:ph type="title"/>
          </p:nvPr>
        </p:nvSpPr>
        <p:spPr>
          <a:xfrm>
            <a:off x="457200" y="1163321"/>
            <a:ext cx="8229600" cy="1242697"/>
          </a:xfrm>
          <a:prstGeom prst="rect">
            <a:avLst/>
          </a:prstGeom>
        </p:spPr>
        <p:txBody>
          <a:bodyPr lIns="0" tIns="0" rIns="0" bIns="0"/>
          <a:lstStyle>
            <a:lvl1pPr>
              <a:lnSpc>
                <a:spcPct val="90000"/>
              </a:lnSpc>
              <a:defRPr sz="4000">
                <a:solidFill>
                  <a:srgbClr val="820E09"/>
                </a:solidFill>
                <a:latin typeface="+mj-lt"/>
                <a:ea typeface="+mj-ea"/>
                <a:cs typeface="+mj-cs"/>
                <a:sym typeface="Arial Bold"/>
              </a:defRPr>
            </a:lvl1pPr>
          </a:lstStyle>
          <a:p>
            <a:pPr lvl="0">
              <a:defRPr sz="1800">
                <a:solidFill>
                  <a:srgbClr val="000000"/>
                </a:solidFill>
              </a:defRPr>
            </a:pPr>
            <a:r>
              <a:rPr sz="4000">
                <a:solidFill>
                  <a:srgbClr val="820E09"/>
                </a:solidFill>
              </a:rPr>
              <a:t>标题文本</a:t>
            </a:r>
          </a:p>
        </p:txBody>
      </p:sp>
      <p:sp>
        <p:nvSpPr>
          <p:cNvPr id="9" name="Shape 9"/>
          <p:cNvSpPr>
            <a:spLocks noGrp="1"/>
          </p:cNvSpPr>
          <p:nvPr>
            <p:ph type="body" idx="1"/>
          </p:nvPr>
        </p:nvSpPr>
        <p:spPr>
          <a:xfrm>
            <a:off x="457200" y="2406013"/>
            <a:ext cx="6400800" cy="2894968"/>
          </a:xfrm>
          <a:prstGeom prst="rect">
            <a:avLst/>
          </a:prstGeom>
        </p:spPr>
        <p:txBody>
          <a:bodyPr lIns="0" tIns="0" rIns="0" bIns="0"/>
          <a:lstStyle>
            <a:lvl1pPr>
              <a:lnSpc>
                <a:spcPct val="114000"/>
              </a:lnSpc>
              <a:defRPr sz="2000"/>
            </a:lvl1pPr>
            <a:lvl2pPr marL="175845" indent="-175845">
              <a:lnSpc>
                <a:spcPct val="114000"/>
              </a:lnSpc>
              <a:buSzPct val="100000"/>
              <a:buChar char="▪"/>
              <a:defRPr sz="2000"/>
            </a:lvl2pPr>
            <a:lvl3pPr marL="404445" indent="-175845">
              <a:lnSpc>
                <a:spcPct val="114000"/>
              </a:lnSpc>
              <a:buSzPct val="100000"/>
              <a:buChar char="▪"/>
              <a:defRPr sz="2000"/>
            </a:lvl3pPr>
            <a:lvl4pPr marL="677007" indent="-219807">
              <a:lnSpc>
                <a:spcPct val="114000"/>
              </a:lnSpc>
              <a:buSzPct val="100000"/>
              <a:buChar char="▪"/>
              <a:defRPr sz="2000"/>
            </a:lvl4pPr>
            <a:lvl5pPr marL="918795" indent="-175846">
              <a:lnSpc>
                <a:spcPct val="114000"/>
              </a:lnSpc>
              <a:buSzPct val="100000"/>
              <a:buChar char="▪"/>
              <a:defRPr sz="2000"/>
            </a:lvl5pPr>
          </a:lstStyle>
          <a:p>
            <a:pPr lvl="0">
              <a:defRPr sz="1800"/>
            </a:pPr>
            <a:r>
              <a:rPr sz="2000"/>
              <a:t>正文级别 1</a:t>
            </a:r>
          </a:p>
          <a:p>
            <a:pPr lvl="1">
              <a:defRPr sz="1800"/>
            </a:pPr>
            <a:r>
              <a:rPr sz="2000"/>
              <a:t>正文级别 2</a:t>
            </a:r>
          </a:p>
          <a:p>
            <a:pPr lvl="2">
              <a:defRPr sz="1800"/>
            </a:pPr>
            <a:r>
              <a:rPr sz="2000"/>
              <a:t>正文级别 3</a:t>
            </a:r>
          </a:p>
          <a:p>
            <a:pPr lvl="3">
              <a:defRPr sz="1800"/>
            </a:pPr>
            <a:r>
              <a:rPr sz="2000"/>
              <a:t>正文级别 4</a:t>
            </a:r>
          </a:p>
          <a:p>
            <a:pPr lvl="4">
              <a:defRPr sz="1800"/>
            </a:pPr>
            <a:r>
              <a:rPr sz="2000"/>
              <a:t>正文级别 5</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11_Title Slide">
    <p:spTree>
      <p:nvGrpSpPr>
        <p:cNvPr id="1" name=""/>
        <p:cNvGrpSpPr/>
        <p:nvPr/>
      </p:nvGrpSpPr>
      <p:grpSpPr>
        <a:xfrm>
          <a:off x="0" y="0"/>
          <a:ext cx="0" cy="0"/>
          <a:chOff x="0" y="0"/>
          <a:chExt cx="0" cy="0"/>
        </a:xfrm>
      </p:grpSpPr>
      <p:pic>
        <p:nvPicPr>
          <p:cNvPr id="11" name="image2.png"/>
          <p:cNvPicPr/>
          <p:nvPr/>
        </p:nvPicPr>
        <p:blipFill>
          <a:blip r:embed="rId2"/>
          <a:stretch>
            <a:fillRect/>
          </a:stretch>
        </p:blipFill>
        <p:spPr>
          <a:xfrm>
            <a:off x="4840287" y="0"/>
            <a:ext cx="4303713" cy="6858000"/>
          </a:xfrm>
          <a:prstGeom prst="rect">
            <a:avLst/>
          </a:prstGeom>
          <a:ln w="12700">
            <a:miter lim="400000"/>
          </a:ln>
        </p:spPr>
      </p:pic>
      <p:sp>
        <p:nvSpPr>
          <p:cNvPr id="12" name="Shape 12"/>
          <p:cNvSpPr/>
          <p:nvPr/>
        </p:nvSpPr>
        <p:spPr>
          <a:xfrm>
            <a:off x="-1" y="685800"/>
            <a:ext cx="9144004" cy="1589"/>
          </a:xfrm>
          <a:prstGeom prst="line">
            <a:avLst/>
          </a:prstGeom>
          <a:ln w="3175">
            <a:solidFill>
              <a:srgbClr val="6E0A00"/>
            </a:solidFill>
            <a:round/>
          </a:ln>
        </p:spPr>
        <p:txBody>
          <a:bodyPr lIns="0" tIns="0" rIns="0" bIns="0"/>
          <a:lstStyle/>
          <a:p>
            <a:pPr lvl="0" defTabSz="457200">
              <a:defRPr sz="1200"/>
            </a:pPr>
            <a:endParaRPr/>
          </a:p>
        </p:txBody>
      </p:sp>
      <p:pic>
        <p:nvPicPr>
          <p:cNvPr id="13" name="image1.png"/>
          <p:cNvPicPr/>
          <p:nvPr/>
        </p:nvPicPr>
        <p:blipFill>
          <a:blip r:embed="rId3"/>
          <a:stretch>
            <a:fillRect/>
          </a:stretch>
        </p:blipFill>
        <p:spPr>
          <a:xfrm>
            <a:off x="457200" y="173037"/>
            <a:ext cx="2100266" cy="412752"/>
          </a:xfrm>
          <a:prstGeom prst="rect">
            <a:avLst/>
          </a:prstGeom>
          <a:ln w="12700">
            <a:miter lim="400000"/>
          </a:ln>
        </p:spPr>
      </p:pic>
      <p:sp>
        <p:nvSpPr>
          <p:cNvPr id="14" name="Shape 14"/>
          <p:cNvSpPr>
            <a:spLocks noGrp="1"/>
          </p:cNvSpPr>
          <p:nvPr>
            <p:ph type="title"/>
          </p:nvPr>
        </p:nvSpPr>
        <p:spPr>
          <a:xfrm>
            <a:off x="457200" y="1663880"/>
            <a:ext cx="8229600" cy="2827024"/>
          </a:xfrm>
          <a:prstGeom prst="rect">
            <a:avLst/>
          </a:prstGeom>
        </p:spPr>
        <p:txBody>
          <a:bodyPr lIns="0" tIns="0" rIns="0" bIns="0"/>
          <a:lstStyle>
            <a:lvl1pPr>
              <a:lnSpc>
                <a:spcPct val="90000"/>
              </a:lnSpc>
              <a:defRPr sz="4000">
                <a:solidFill>
                  <a:srgbClr val="820E09"/>
                </a:solidFill>
                <a:latin typeface="+mj-lt"/>
                <a:ea typeface="+mj-ea"/>
                <a:cs typeface="+mj-cs"/>
                <a:sym typeface="Arial Bold"/>
              </a:defRPr>
            </a:lvl1pPr>
          </a:lstStyle>
          <a:p>
            <a:pPr lvl="0">
              <a:defRPr sz="1800">
                <a:solidFill>
                  <a:srgbClr val="000000"/>
                </a:solidFill>
              </a:defRPr>
            </a:pPr>
            <a:r>
              <a:rPr sz="4000">
                <a:solidFill>
                  <a:srgbClr val="820E09"/>
                </a:solidFill>
              </a:rPr>
              <a:t>标题文本</a:t>
            </a:r>
          </a:p>
        </p:txBody>
      </p:sp>
      <p:sp>
        <p:nvSpPr>
          <p:cNvPr id="15" name="Shape 15"/>
          <p:cNvSpPr>
            <a:spLocks noGrp="1"/>
          </p:cNvSpPr>
          <p:nvPr>
            <p:ph type="body" idx="1"/>
          </p:nvPr>
        </p:nvSpPr>
        <p:spPr>
          <a:xfrm>
            <a:off x="5241335" y="87493"/>
            <a:ext cx="3456101" cy="1576389"/>
          </a:xfrm>
          <a:prstGeom prst="rect">
            <a:avLst/>
          </a:prstGeom>
        </p:spPr>
        <p:txBody>
          <a:bodyPr lIns="0" tIns="0" rIns="0" bIns="0"/>
          <a:lstStyle>
            <a:lvl1pPr marL="228600" indent="-228600" algn="r">
              <a:spcBef>
                <a:spcPts val="700"/>
              </a:spcBef>
              <a:defRPr sz="3300">
                <a:solidFill>
                  <a:srgbClr val="808080"/>
                </a:solidFill>
                <a:latin typeface="Arial Narrow"/>
                <a:ea typeface="Arial Narrow"/>
                <a:cs typeface="Arial Narrow"/>
                <a:sym typeface="Arial Narrow"/>
              </a:defRPr>
            </a:lvl1pPr>
            <a:lvl2pPr marL="290145" indent="-290145" algn="r">
              <a:spcBef>
                <a:spcPts val="700"/>
              </a:spcBef>
              <a:buSzPct val="100000"/>
              <a:buChar char="▪"/>
              <a:defRPr sz="3300">
                <a:solidFill>
                  <a:srgbClr val="808080"/>
                </a:solidFill>
                <a:latin typeface="Arial Narrow"/>
                <a:ea typeface="Arial Narrow"/>
                <a:cs typeface="Arial Narrow"/>
                <a:sym typeface="Arial Narrow"/>
              </a:defRPr>
            </a:lvl2pPr>
            <a:lvl3pPr marL="518745" indent="-290145" algn="r">
              <a:spcBef>
                <a:spcPts val="700"/>
              </a:spcBef>
              <a:buSzPct val="100000"/>
              <a:buChar char="▪"/>
              <a:defRPr sz="3300">
                <a:solidFill>
                  <a:srgbClr val="808080"/>
                </a:solidFill>
                <a:latin typeface="Arial Narrow"/>
                <a:ea typeface="Arial Narrow"/>
                <a:cs typeface="Arial Narrow"/>
                <a:sym typeface="Arial Narrow"/>
              </a:defRPr>
            </a:lvl3pPr>
            <a:lvl4pPr marL="819882" indent="-362682" algn="r">
              <a:spcBef>
                <a:spcPts val="700"/>
              </a:spcBef>
              <a:buSzPct val="100000"/>
              <a:buChar char="▪"/>
              <a:defRPr sz="3300">
                <a:solidFill>
                  <a:srgbClr val="808080"/>
                </a:solidFill>
                <a:latin typeface="Arial Narrow"/>
                <a:ea typeface="Arial Narrow"/>
                <a:cs typeface="Arial Narrow"/>
                <a:sym typeface="Arial Narrow"/>
              </a:defRPr>
            </a:lvl4pPr>
            <a:lvl5pPr marL="1033095" indent="-290146" algn="r">
              <a:spcBef>
                <a:spcPts val="700"/>
              </a:spcBef>
              <a:buSzPct val="100000"/>
              <a:buChar char="▪"/>
              <a:defRPr sz="3300">
                <a:solidFill>
                  <a:srgbClr val="808080"/>
                </a:solidFill>
                <a:latin typeface="Arial Narrow"/>
                <a:ea typeface="Arial Narrow"/>
                <a:cs typeface="Arial Narrow"/>
                <a:sym typeface="Arial Narrow"/>
              </a:defRPr>
            </a:lvl5pPr>
          </a:lstStyle>
          <a:p>
            <a:pPr lvl="0">
              <a:defRPr sz="1800">
                <a:solidFill>
                  <a:srgbClr val="000000"/>
                </a:solidFill>
              </a:defRPr>
            </a:pPr>
            <a:r>
              <a:rPr sz="3300">
                <a:solidFill>
                  <a:srgbClr val="808080"/>
                </a:solidFill>
              </a:rPr>
              <a:t>正文级别 1</a:t>
            </a:r>
          </a:p>
          <a:p>
            <a:pPr lvl="1">
              <a:defRPr sz="1800">
                <a:solidFill>
                  <a:srgbClr val="000000"/>
                </a:solidFill>
              </a:defRPr>
            </a:pPr>
            <a:r>
              <a:rPr sz="3300">
                <a:solidFill>
                  <a:srgbClr val="808080"/>
                </a:solidFill>
              </a:rPr>
              <a:t>正文级别 2</a:t>
            </a:r>
          </a:p>
          <a:p>
            <a:pPr lvl="2">
              <a:defRPr sz="1800">
                <a:solidFill>
                  <a:srgbClr val="000000"/>
                </a:solidFill>
              </a:defRPr>
            </a:pPr>
            <a:r>
              <a:rPr sz="3300">
                <a:solidFill>
                  <a:srgbClr val="808080"/>
                </a:solidFill>
              </a:rPr>
              <a:t>正文级别 3</a:t>
            </a:r>
          </a:p>
          <a:p>
            <a:pPr lvl="3">
              <a:defRPr sz="1800">
                <a:solidFill>
                  <a:srgbClr val="000000"/>
                </a:solidFill>
              </a:defRPr>
            </a:pPr>
            <a:r>
              <a:rPr sz="3300">
                <a:solidFill>
                  <a:srgbClr val="808080"/>
                </a:solidFill>
              </a:rPr>
              <a:t>正文级别 4</a:t>
            </a:r>
          </a:p>
          <a:p>
            <a:pPr lvl="4">
              <a:defRPr sz="1800">
                <a:solidFill>
                  <a:srgbClr val="000000"/>
                </a:solidFill>
              </a:defRPr>
            </a:pPr>
            <a:r>
              <a:rPr sz="3300">
                <a:solidFill>
                  <a:srgbClr val="808080"/>
                </a:solidFill>
              </a:rPr>
              <a:t>正文级别 5</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5_Title Slide">
    <p:spTree>
      <p:nvGrpSpPr>
        <p:cNvPr id="1" name=""/>
        <p:cNvGrpSpPr/>
        <p:nvPr/>
      </p:nvGrpSpPr>
      <p:grpSpPr>
        <a:xfrm>
          <a:off x="0" y="0"/>
          <a:ext cx="0" cy="0"/>
          <a:chOff x="0" y="0"/>
          <a:chExt cx="0" cy="0"/>
        </a:xfrm>
      </p:grpSpPr>
      <p:pic>
        <p:nvPicPr>
          <p:cNvPr id="17" name="image1.jpeg"/>
          <p:cNvPicPr/>
          <p:nvPr/>
        </p:nvPicPr>
        <p:blipFill>
          <a:blip r:embed="rId2"/>
          <a:stretch>
            <a:fillRect/>
          </a:stretch>
        </p:blipFill>
        <p:spPr>
          <a:xfrm>
            <a:off x="0" y="0"/>
            <a:ext cx="9144000" cy="6858000"/>
          </a:xfrm>
          <a:prstGeom prst="rect">
            <a:avLst/>
          </a:prstGeom>
          <a:ln w="12700">
            <a:miter lim="400000"/>
          </a:ln>
        </p:spPr>
      </p:pic>
      <p:pic>
        <p:nvPicPr>
          <p:cNvPr id="18" name="image4.png"/>
          <p:cNvPicPr/>
          <p:nvPr/>
        </p:nvPicPr>
        <p:blipFill>
          <a:blip r:embed="rId3"/>
          <a:stretch>
            <a:fillRect/>
          </a:stretch>
        </p:blipFill>
        <p:spPr>
          <a:xfrm>
            <a:off x="457200" y="4232275"/>
            <a:ext cx="8229600" cy="2273300"/>
          </a:xfrm>
          <a:prstGeom prst="rect">
            <a:avLst/>
          </a:prstGeom>
          <a:ln w="12700">
            <a:miter lim="400000"/>
          </a:ln>
        </p:spPr>
      </p:pic>
      <p:sp>
        <p:nvSpPr>
          <p:cNvPr id="19" name="Shape 19"/>
          <p:cNvSpPr>
            <a:spLocks noGrp="1"/>
          </p:cNvSpPr>
          <p:nvPr>
            <p:ph type="title"/>
          </p:nvPr>
        </p:nvSpPr>
        <p:spPr>
          <a:xfrm>
            <a:off x="457200" y="1161288"/>
            <a:ext cx="8229600" cy="1243587"/>
          </a:xfrm>
          <a:prstGeom prst="rect">
            <a:avLst/>
          </a:prstGeom>
        </p:spPr>
        <p:txBody>
          <a:bodyPr lIns="0" tIns="0" rIns="0" bIns="0"/>
          <a:lstStyle>
            <a:lvl1pPr>
              <a:lnSpc>
                <a:spcPct val="90000"/>
              </a:lnSpc>
              <a:defRPr sz="4000">
                <a:solidFill>
                  <a:srgbClr val="FFFFFF"/>
                </a:solidFill>
                <a:latin typeface="+mj-lt"/>
                <a:ea typeface="+mj-ea"/>
                <a:cs typeface="+mj-cs"/>
                <a:sym typeface="Arial Bold"/>
              </a:defRPr>
            </a:lvl1pPr>
          </a:lstStyle>
          <a:p>
            <a:pPr lvl="0">
              <a:defRPr sz="1800">
                <a:solidFill>
                  <a:srgbClr val="000000"/>
                </a:solidFill>
              </a:defRPr>
            </a:pPr>
            <a:r>
              <a:rPr sz="4000">
                <a:solidFill>
                  <a:srgbClr val="FFFFFF"/>
                </a:solidFill>
              </a:rPr>
              <a:t>标题文本</a:t>
            </a:r>
          </a:p>
        </p:txBody>
      </p:sp>
      <p:sp>
        <p:nvSpPr>
          <p:cNvPr id="20" name="Shape 20"/>
          <p:cNvSpPr>
            <a:spLocks noGrp="1"/>
          </p:cNvSpPr>
          <p:nvPr>
            <p:ph type="body" idx="1"/>
          </p:nvPr>
        </p:nvSpPr>
        <p:spPr>
          <a:xfrm>
            <a:off x="457200" y="2404872"/>
            <a:ext cx="6400800" cy="2894078"/>
          </a:xfrm>
          <a:prstGeom prst="rect">
            <a:avLst/>
          </a:prstGeom>
        </p:spPr>
        <p:txBody>
          <a:bodyPr lIns="0" tIns="0" rIns="0" bIns="0"/>
          <a:lstStyle>
            <a:lvl1pPr>
              <a:lnSpc>
                <a:spcPct val="113000"/>
              </a:lnSpc>
              <a:defRPr sz="2000">
                <a:solidFill>
                  <a:srgbClr val="FFFFFF"/>
                </a:solidFill>
              </a:defRPr>
            </a:lvl1pPr>
            <a:lvl2pPr marL="175845" indent="-175845">
              <a:lnSpc>
                <a:spcPct val="113000"/>
              </a:lnSpc>
              <a:buSzPct val="100000"/>
              <a:buChar char="▪"/>
              <a:defRPr sz="2000">
                <a:solidFill>
                  <a:srgbClr val="FFFFFF"/>
                </a:solidFill>
              </a:defRPr>
            </a:lvl2pPr>
            <a:lvl3pPr marL="404445" indent="-175845">
              <a:lnSpc>
                <a:spcPct val="113000"/>
              </a:lnSpc>
              <a:buSzPct val="100000"/>
              <a:buChar char="▪"/>
              <a:defRPr sz="2000">
                <a:solidFill>
                  <a:srgbClr val="FFFFFF"/>
                </a:solidFill>
              </a:defRPr>
            </a:lvl3pPr>
            <a:lvl4pPr marL="677007" indent="-219807">
              <a:lnSpc>
                <a:spcPct val="113000"/>
              </a:lnSpc>
              <a:buSzPct val="100000"/>
              <a:buChar char="▪"/>
              <a:defRPr sz="2000">
                <a:solidFill>
                  <a:srgbClr val="FFFFFF"/>
                </a:solidFill>
              </a:defRPr>
            </a:lvl4pPr>
            <a:lvl5pPr marL="918795" indent="-175846">
              <a:lnSpc>
                <a:spcPct val="113000"/>
              </a:lnSpc>
              <a:buSzPct val="100000"/>
              <a:buChar char="▪"/>
              <a:defRPr sz="2000">
                <a:solidFill>
                  <a:srgbClr val="FFFFFF"/>
                </a:solidFill>
              </a:defRPr>
            </a:lvl5pPr>
          </a:lstStyle>
          <a:p>
            <a:pPr lvl="0">
              <a:defRPr sz="1800">
                <a:solidFill>
                  <a:srgbClr val="000000"/>
                </a:solidFill>
              </a:defRPr>
            </a:pPr>
            <a:r>
              <a:rPr sz="2000">
                <a:solidFill>
                  <a:srgbClr val="FFFFFF"/>
                </a:solidFill>
              </a:rPr>
              <a:t>正文级别 1</a:t>
            </a:r>
          </a:p>
          <a:p>
            <a:pPr lvl="1">
              <a:defRPr sz="1800">
                <a:solidFill>
                  <a:srgbClr val="000000"/>
                </a:solidFill>
              </a:defRPr>
            </a:pPr>
            <a:r>
              <a:rPr sz="2000">
                <a:solidFill>
                  <a:srgbClr val="FFFFFF"/>
                </a:solidFill>
              </a:rPr>
              <a:t>正文级别 2</a:t>
            </a:r>
          </a:p>
          <a:p>
            <a:pPr lvl="2">
              <a:defRPr sz="1800">
                <a:solidFill>
                  <a:srgbClr val="000000"/>
                </a:solidFill>
              </a:defRPr>
            </a:pPr>
            <a:r>
              <a:rPr sz="2000">
                <a:solidFill>
                  <a:srgbClr val="FFFFFF"/>
                </a:solidFill>
              </a:rPr>
              <a:t>正文级别 3</a:t>
            </a:r>
          </a:p>
          <a:p>
            <a:pPr lvl="3">
              <a:defRPr sz="1800">
                <a:solidFill>
                  <a:srgbClr val="000000"/>
                </a:solidFill>
              </a:defRPr>
            </a:pPr>
            <a:r>
              <a:rPr sz="2000">
                <a:solidFill>
                  <a:srgbClr val="FFFFFF"/>
                </a:solidFill>
              </a:rPr>
              <a:t>正文级别 4</a:t>
            </a:r>
          </a:p>
          <a:p>
            <a:pPr lvl="4">
              <a:defRPr sz="1800">
                <a:solidFill>
                  <a:srgbClr val="000000"/>
                </a:solidFill>
              </a:defRPr>
            </a:pPr>
            <a:r>
              <a:rPr sz="2000">
                <a:solidFill>
                  <a:srgbClr val="FFFFFF"/>
                </a:solidFill>
              </a:rPr>
              <a:t>正文级别 5</a:t>
            </a: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14_Title Slide">
    <p:spTree>
      <p:nvGrpSpPr>
        <p:cNvPr id="1" name=""/>
        <p:cNvGrpSpPr/>
        <p:nvPr/>
      </p:nvGrpSpPr>
      <p:grpSpPr>
        <a:xfrm>
          <a:off x="0" y="0"/>
          <a:ext cx="0" cy="0"/>
          <a:chOff x="0" y="0"/>
          <a:chExt cx="0" cy="0"/>
        </a:xfrm>
      </p:grpSpPr>
      <p:pic>
        <p:nvPicPr>
          <p:cNvPr id="22" name="image1.jpeg"/>
          <p:cNvPicPr/>
          <p:nvPr/>
        </p:nvPicPr>
        <p:blipFill>
          <a:blip r:embed="rId2"/>
          <a:stretch>
            <a:fillRect/>
          </a:stretch>
        </p:blipFill>
        <p:spPr>
          <a:xfrm>
            <a:off x="0" y="0"/>
            <a:ext cx="9144000" cy="6858000"/>
          </a:xfrm>
          <a:prstGeom prst="rect">
            <a:avLst/>
          </a:prstGeom>
          <a:ln w="12700">
            <a:miter lim="400000"/>
          </a:ln>
        </p:spPr>
      </p:pic>
      <p:sp>
        <p:nvSpPr>
          <p:cNvPr id="23" name="Shape 23"/>
          <p:cNvSpPr/>
          <p:nvPr/>
        </p:nvSpPr>
        <p:spPr>
          <a:xfrm>
            <a:off x="-1" y="685800"/>
            <a:ext cx="9144004" cy="1589"/>
          </a:xfrm>
          <a:prstGeom prst="line">
            <a:avLst/>
          </a:prstGeom>
          <a:ln w="3175">
            <a:solidFill>
              <a:srgbClr val="FFFFFF"/>
            </a:solidFill>
            <a:round/>
          </a:ln>
        </p:spPr>
        <p:txBody>
          <a:bodyPr lIns="0" tIns="0" rIns="0" bIns="0"/>
          <a:lstStyle/>
          <a:p>
            <a:pPr lvl="0" defTabSz="457200">
              <a:defRPr sz="1200"/>
            </a:pPr>
            <a:endParaRPr/>
          </a:p>
        </p:txBody>
      </p:sp>
      <p:pic>
        <p:nvPicPr>
          <p:cNvPr id="24" name="image5.png"/>
          <p:cNvPicPr/>
          <p:nvPr/>
        </p:nvPicPr>
        <p:blipFill>
          <a:blip r:embed="rId3"/>
          <a:stretch>
            <a:fillRect/>
          </a:stretch>
        </p:blipFill>
        <p:spPr>
          <a:xfrm>
            <a:off x="457200" y="177800"/>
            <a:ext cx="2103441" cy="411163"/>
          </a:xfrm>
          <a:prstGeom prst="rect">
            <a:avLst/>
          </a:prstGeom>
          <a:ln w="12700">
            <a:miter lim="400000"/>
          </a:ln>
        </p:spPr>
      </p:pic>
      <p:sp>
        <p:nvSpPr>
          <p:cNvPr id="25" name="Shape 25"/>
          <p:cNvSpPr>
            <a:spLocks noGrp="1"/>
          </p:cNvSpPr>
          <p:nvPr>
            <p:ph type="title"/>
          </p:nvPr>
        </p:nvSpPr>
        <p:spPr>
          <a:xfrm>
            <a:off x="457200" y="1664205"/>
            <a:ext cx="8229600" cy="2830072"/>
          </a:xfrm>
          <a:prstGeom prst="rect">
            <a:avLst/>
          </a:prstGeom>
        </p:spPr>
        <p:txBody>
          <a:bodyPr lIns="0" tIns="0" rIns="0" bIns="0"/>
          <a:lstStyle>
            <a:lvl1pPr>
              <a:lnSpc>
                <a:spcPct val="90000"/>
              </a:lnSpc>
              <a:defRPr sz="4000">
                <a:solidFill>
                  <a:srgbClr val="FFFFFF"/>
                </a:solidFill>
                <a:latin typeface="+mj-lt"/>
                <a:ea typeface="+mj-ea"/>
                <a:cs typeface="+mj-cs"/>
                <a:sym typeface="Arial Bold"/>
              </a:defRPr>
            </a:lvl1pPr>
          </a:lstStyle>
          <a:p>
            <a:pPr lvl="0">
              <a:defRPr sz="1800">
                <a:solidFill>
                  <a:srgbClr val="000000"/>
                </a:solidFill>
              </a:defRPr>
            </a:pPr>
            <a:r>
              <a:rPr sz="4000">
                <a:solidFill>
                  <a:srgbClr val="FFFFFF"/>
                </a:solidFill>
              </a:rPr>
              <a:t>标题文本</a:t>
            </a:r>
          </a:p>
        </p:txBody>
      </p:sp>
      <p:sp>
        <p:nvSpPr>
          <p:cNvPr id="26" name="Shape 26"/>
          <p:cNvSpPr>
            <a:spLocks noGrp="1"/>
          </p:cNvSpPr>
          <p:nvPr>
            <p:ph type="body" idx="1"/>
          </p:nvPr>
        </p:nvSpPr>
        <p:spPr>
          <a:xfrm>
            <a:off x="5241335" y="87493"/>
            <a:ext cx="3456101" cy="1576715"/>
          </a:xfrm>
          <a:prstGeom prst="rect">
            <a:avLst/>
          </a:prstGeom>
        </p:spPr>
        <p:txBody>
          <a:bodyPr lIns="0" tIns="0" rIns="0" bIns="0"/>
          <a:lstStyle>
            <a:lvl1pPr marL="228600" indent="-228600" algn="r">
              <a:spcBef>
                <a:spcPts val="700"/>
              </a:spcBef>
              <a:defRPr sz="3300">
                <a:solidFill>
                  <a:srgbClr val="FFFFFF"/>
                </a:solidFill>
                <a:latin typeface="Arial Narrow"/>
                <a:ea typeface="Arial Narrow"/>
                <a:cs typeface="Arial Narrow"/>
                <a:sym typeface="Arial Narrow"/>
              </a:defRPr>
            </a:lvl1pPr>
            <a:lvl2pPr marL="290145" indent="-290145" algn="r">
              <a:spcBef>
                <a:spcPts val="700"/>
              </a:spcBef>
              <a:buSzPct val="100000"/>
              <a:buChar char="▪"/>
              <a:defRPr sz="3300">
                <a:solidFill>
                  <a:srgbClr val="FFFFFF"/>
                </a:solidFill>
                <a:latin typeface="Arial Narrow"/>
                <a:ea typeface="Arial Narrow"/>
                <a:cs typeface="Arial Narrow"/>
                <a:sym typeface="Arial Narrow"/>
              </a:defRPr>
            </a:lvl2pPr>
            <a:lvl3pPr marL="518745" indent="-290145" algn="r">
              <a:spcBef>
                <a:spcPts val="700"/>
              </a:spcBef>
              <a:buSzPct val="100000"/>
              <a:buChar char="▪"/>
              <a:defRPr sz="3300">
                <a:solidFill>
                  <a:srgbClr val="FFFFFF"/>
                </a:solidFill>
                <a:latin typeface="Arial Narrow"/>
                <a:ea typeface="Arial Narrow"/>
                <a:cs typeface="Arial Narrow"/>
                <a:sym typeface="Arial Narrow"/>
              </a:defRPr>
            </a:lvl3pPr>
            <a:lvl4pPr marL="819882" indent="-362682" algn="r">
              <a:spcBef>
                <a:spcPts val="700"/>
              </a:spcBef>
              <a:buSzPct val="100000"/>
              <a:buChar char="▪"/>
              <a:defRPr sz="3300">
                <a:solidFill>
                  <a:srgbClr val="FFFFFF"/>
                </a:solidFill>
                <a:latin typeface="Arial Narrow"/>
                <a:ea typeface="Arial Narrow"/>
                <a:cs typeface="Arial Narrow"/>
                <a:sym typeface="Arial Narrow"/>
              </a:defRPr>
            </a:lvl4pPr>
            <a:lvl5pPr marL="1033095" indent="-290146" algn="r">
              <a:spcBef>
                <a:spcPts val="700"/>
              </a:spcBef>
              <a:buSzPct val="100000"/>
              <a:buChar char="▪"/>
              <a:defRPr sz="3300">
                <a:solidFill>
                  <a:srgbClr val="FFFFFF"/>
                </a:solidFill>
                <a:latin typeface="Arial Narrow"/>
                <a:ea typeface="Arial Narrow"/>
                <a:cs typeface="Arial Narrow"/>
                <a:sym typeface="Arial Narrow"/>
              </a:defRPr>
            </a:lvl5pPr>
          </a:lstStyle>
          <a:p>
            <a:pPr lvl="0">
              <a:defRPr sz="1800">
                <a:solidFill>
                  <a:srgbClr val="000000"/>
                </a:solidFill>
              </a:defRPr>
            </a:pPr>
            <a:r>
              <a:rPr sz="3300">
                <a:solidFill>
                  <a:srgbClr val="FFFFFF"/>
                </a:solidFill>
              </a:rPr>
              <a:t>正文级别 1</a:t>
            </a:r>
          </a:p>
          <a:p>
            <a:pPr lvl="1">
              <a:defRPr sz="1800">
                <a:solidFill>
                  <a:srgbClr val="000000"/>
                </a:solidFill>
              </a:defRPr>
            </a:pPr>
            <a:r>
              <a:rPr sz="3300">
                <a:solidFill>
                  <a:srgbClr val="FFFFFF"/>
                </a:solidFill>
              </a:rPr>
              <a:t>正文级别 2</a:t>
            </a:r>
          </a:p>
          <a:p>
            <a:pPr lvl="2">
              <a:defRPr sz="1800">
                <a:solidFill>
                  <a:srgbClr val="000000"/>
                </a:solidFill>
              </a:defRPr>
            </a:pPr>
            <a:r>
              <a:rPr sz="3300">
                <a:solidFill>
                  <a:srgbClr val="FFFFFF"/>
                </a:solidFill>
              </a:rPr>
              <a:t>正文级别 3</a:t>
            </a:r>
          </a:p>
          <a:p>
            <a:pPr lvl="3">
              <a:defRPr sz="1800">
                <a:solidFill>
                  <a:srgbClr val="000000"/>
                </a:solidFill>
              </a:defRPr>
            </a:pPr>
            <a:r>
              <a:rPr sz="3300">
                <a:solidFill>
                  <a:srgbClr val="FFFFFF"/>
                </a:solidFill>
              </a:rPr>
              <a:t>正文级别 4</a:t>
            </a:r>
          </a:p>
          <a:p>
            <a:pPr lvl="4">
              <a:defRPr sz="1800">
                <a:solidFill>
                  <a:srgbClr val="000000"/>
                </a:solidFill>
              </a:defRPr>
            </a:pPr>
            <a:r>
              <a:rPr sz="3300">
                <a:solidFill>
                  <a:srgbClr val="FFFFFF"/>
                </a:solidFill>
              </a:rPr>
              <a:t>正文级别 5</a:t>
            </a: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6_Title Slide">
    <p:bg>
      <p:bgPr>
        <a:solidFill>
          <a:srgbClr val="C9C9C9"/>
        </a:solidFill>
        <a:effectLst/>
      </p:bgPr>
    </p:bg>
    <p:spTree>
      <p:nvGrpSpPr>
        <p:cNvPr id="1" name=""/>
        <p:cNvGrpSpPr/>
        <p:nvPr/>
      </p:nvGrpSpPr>
      <p:grpSpPr>
        <a:xfrm>
          <a:off x="0" y="0"/>
          <a:ext cx="0" cy="0"/>
          <a:chOff x="0" y="0"/>
          <a:chExt cx="0" cy="0"/>
        </a:xfrm>
      </p:grpSpPr>
      <p:pic>
        <p:nvPicPr>
          <p:cNvPr id="28" name="image6.png"/>
          <p:cNvPicPr/>
          <p:nvPr/>
        </p:nvPicPr>
        <p:blipFill>
          <a:blip r:embed="rId2"/>
          <a:stretch>
            <a:fillRect/>
          </a:stretch>
        </p:blipFill>
        <p:spPr>
          <a:xfrm>
            <a:off x="4840287" y="0"/>
            <a:ext cx="4303713" cy="6858000"/>
          </a:xfrm>
          <a:prstGeom prst="rect">
            <a:avLst/>
          </a:prstGeom>
          <a:ln w="12700">
            <a:miter lim="400000"/>
          </a:ln>
        </p:spPr>
      </p:pic>
      <p:pic>
        <p:nvPicPr>
          <p:cNvPr id="29" name="image7.png"/>
          <p:cNvPicPr/>
          <p:nvPr/>
        </p:nvPicPr>
        <p:blipFill>
          <a:blip r:embed="rId3"/>
          <a:stretch>
            <a:fillRect/>
          </a:stretch>
        </p:blipFill>
        <p:spPr>
          <a:xfrm>
            <a:off x="457200" y="4233862"/>
            <a:ext cx="8229600" cy="2274890"/>
          </a:xfrm>
          <a:prstGeom prst="rect">
            <a:avLst/>
          </a:prstGeom>
          <a:ln w="12700">
            <a:miter lim="400000"/>
          </a:ln>
        </p:spPr>
      </p:pic>
      <p:sp>
        <p:nvSpPr>
          <p:cNvPr id="30" name="Shape 30"/>
          <p:cNvSpPr>
            <a:spLocks noGrp="1"/>
          </p:cNvSpPr>
          <p:nvPr>
            <p:ph type="title"/>
          </p:nvPr>
        </p:nvSpPr>
        <p:spPr>
          <a:xfrm>
            <a:off x="457200" y="1161288"/>
            <a:ext cx="8229600" cy="1243587"/>
          </a:xfrm>
          <a:prstGeom prst="rect">
            <a:avLst/>
          </a:prstGeom>
        </p:spPr>
        <p:txBody>
          <a:bodyPr lIns="0" tIns="0" rIns="0" bIns="0"/>
          <a:lstStyle>
            <a:lvl1pPr>
              <a:lnSpc>
                <a:spcPct val="90000"/>
              </a:lnSpc>
              <a:defRPr sz="4000">
                <a:solidFill>
                  <a:srgbClr val="6E0A00"/>
                </a:solidFill>
                <a:latin typeface="+mj-lt"/>
                <a:ea typeface="+mj-ea"/>
                <a:cs typeface="+mj-cs"/>
                <a:sym typeface="Arial Bold"/>
              </a:defRPr>
            </a:lvl1pPr>
          </a:lstStyle>
          <a:p>
            <a:pPr lvl="0">
              <a:defRPr sz="1800">
                <a:solidFill>
                  <a:srgbClr val="000000"/>
                </a:solidFill>
              </a:defRPr>
            </a:pPr>
            <a:r>
              <a:rPr sz="4000">
                <a:solidFill>
                  <a:srgbClr val="6E0A00"/>
                </a:solidFill>
              </a:rPr>
              <a:t>标题文本</a:t>
            </a:r>
          </a:p>
        </p:txBody>
      </p:sp>
      <p:sp>
        <p:nvSpPr>
          <p:cNvPr id="31" name="Shape 31"/>
          <p:cNvSpPr>
            <a:spLocks noGrp="1"/>
          </p:cNvSpPr>
          <p:nvPr>
            <p:ph type="body" idx="1"/>
          </p:nvPr>
        </p:nvSpPr>
        <p:spPr>
          <a:xfrm>
            <a:off x="457200" y="2404872"/>
            <a:ext cx="6400800" cy="2894078"/>
          </a:xfrm>
          <a:prstGeom prst="rect">
            <a:avLst/>
          </a:prstGeom>
        </p:spPr>
        <p:txBody>
          <a:bodyPr lIns="0" tIns="0" rIns="0" bIns="0"/>
          <a:lstStyle>
            <a:lvl1pPr>
              <a:lnSpc>
                <a:spcPct val="113000"/>
              </a:lnSpc>
              <a:defRPr sz="2000"/>
            </a:lvl1pPr>
            <a:lvl2pPr marL="175845" indent="-175845">
              <a:lnSpc>
                <a:spcPct val="113000"/>
              </a:lnSpc>
              <a:buSzPct val="100000"/>
              <a:buChar char="▪"/>
              <a:defRPr sz="2000"/>
            </a:lvl2pPr>
            <a:lvl3pPr marL="404445" indent="-175845">
              <a:lnSpc>
                <a:spcPct val="113000"/>
              </a:lnSpc>
              <a:buSzPct val="100000"/>
              <a:buChar char="▪"/>
              <a:defRPr sz="2000"/>
            </a:lvl3pPr>
            <a:lvl4pPr marL="677007" indent="-219807">
              <a:lnSpc>
                <a:spcPct val="113000"/>
              </a:lnSpc>
              <a:buSzPct val="100000"/>
              <a:buChar char="▪"/>
              <a:defRPr sz="2000"/>
            </a:lvl4pPr>
            <a:lvl5pPr marL="918795" indent="-175846">
              <a:lnSpc>
                <a:spcPct val="113000"/>
              </a:lnSpc>
              <a:buSzPct val="100000"/>
              <a:buChar char="▪"/>
              <a:defRPr sz="2000"/>
            </a:lvl5pPr>
          </a:lstStyle>
          <a:p>
            <a:pPr lvl="0">
              <a:defRPr sz="1800"/>
            </a:pPr>
            <a:r>
              <a:rPr sz="2000"/>
              <a:t>正文级别 1</a:t>
            </a:r>
          </a:p>
          <a:p>
            <a:pPr lvl="1">
              <a:defRPr sz="1800"/>
            </a:pPr>
            <a:r>
              <a:rPr sz="2000"/>
              <a:t>正文级别 2</a:t>
            </a:r>
          </a:p>
          <a:p>
            <a:pPr lvl="2">
              <a:defRPr sz="1800"/>
            </a:pPr>
            <a:r>
              <a:rPr sz="2000"/>
              <a:t>正文级别 3</a:t>
            </a:r>
          </a:p>
          <a:p>
            <a:pPr lvl="3">
              <a:defRPr sz="1800"/>
            </a:pPr>
            <a:r>
              <a:rPr sz="2000"/>
              <a:t>正文级别 4</a:t>
            </a:r>
          </a:p>
          <a:p>
            <a:pPr lvl="4">
              <a:defRPr sz="1800"/>
            </a:pPr>
            <a:r>
              <a:rPr sz="2000"/>
              <a:t>正文级别 5</a:t>
            </a: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2_Title and Content">
    <p:spTree>
      <p:nvGrpSpPr>
        <p:cNvPr id="1" name=""/>
        <p:cNvGrpSpPr/>
        <p:nvPr/>
      </p:nvGrpSpPr>
      <p:grpSpPr>
        <a:xfrm>
          <a:off x="0" y="0"/>
          <a:ext cx="0" cy="0"/>
          <a:chOff x="0" y="0"/>
          <a:chExt cx="0" cy="0"/>
        </a:xfrm>
      </p:grpSpPr>
      <p:pic>
        <p:nvPicPr>
          <p:cNvPr id="39" name="image2.png"/>
          <p:cNvPicPr/>
          <p:nvPr/>
        </p:nvPicPr>
        <p:blipFill>
          <a:blip r:embed="rId2"/>
          <a:stretch>
            <a:fillRect/>
          </a:stretch>
        </p:blipFill>
        <p:spPr>
          <a:xfrm>
            <a:off x="4840287" y="0"/>
            <a:ext cx="4303713" cy="6858000"/>
          </a:xfrm>
          <a:prstGeom prst="rect">
            <a:avLst/>
          </a:prstGeom>
          <a:ln w="12700">
            <a:miter lim="400000"/>
          </a:ln>
        </p:spPr>
      </p:pic>
      <p:sp>
        <p:nvSpPr>
          <p:cNvPr id="40" name="Shape 40"/>
          <p:cNvSpPr/>
          <p:nvPr/>
        </p:nvSpPr>
        <p:spPr>
          <a:xfrm>
            <a:off x="-1" y="685800"/>
            <a:ext cx="9144004" cy="1589"/>
          </a:xfrm>
          <a:prstGeom prst="line">
            <a:avLst/>
          </a:prstGeom>
          <a:ln w="3175">
            <a:solidFill>
              <a:srgbClr val="6E0A00"/>
            </a:solidFill>
            <a:round/>
          </a:ln>
        </p:spPr>
        <p:txBody>
          <a:bodyPr lIns="0" tIns="0" rIns="0" bIns="0"/>
          <a:lstStyle/>
          <a:p>
            <a:pPr lvl="0" defTabSz="457200">
              <a:defRPr sz="1200"/>
            </a:pPr>
            <a:endParaRPr/>
          </a:p>
        </p:txBody>
      </p:sp>
      <p:pic>
        <p:nvPicPr>
          <p:cNvPr id="41" name="image1.png"/>
          <p:cNvPicPr/>
          <p:nvPr/>
        </p:nvPicPr>
        <p:blipFill>
          <a:blip r:embed="rId3"/>
          <a:stretch>
            <a:fillRect/>
          </a:stretch>
        </p:blipFill>
        <p:spPr>
          <a:xfrm>
            <a:off x="457200" y="173037"/>
            <a:ext cx="2100266" cy="412752"/>
          </a:xfrm>
          <a:prstGeom prst="rect">
            <a:avLst/>
          </a:prstGeom>
          <a:ln w="12700">
            <a:miter lim="400000"/>
          </a:ln>
        </p:spPr>
      </p:pic>
      <p:sp>
        <p:nvSpPr>
          <p:cNvPr id="42" name="Shape 42"/>
          <p:cNvSpPr>
            <a:spLocks noGrp="1"/>
          </p:cNvSpPr>
          <p:nvPr>
            <p:ph type="title"/>
          </p:nvPr>
        </p:nvSpPr>
        <p:spPr>
          <a:xfrm>
            <a:off x="457200" y="0"/>
            <a:ext cx="8229600" cy="2113028"/>
          </a:xfrm>
          <a:prstGeom prst="rect">
            <a:avLst/>
          </a:prstGeom>
        </p:spPr>
        <p:txBody>
          <a:bodyPr lIns="0" tIns="0" rIns="0" bIns="0" anchor="b"/>
          <a:lstStyle>
            <a:lvl1pPr>
              <a:lnSpc>
                <a:spcPct val="90000"/>
              </a:lnSpc>
              <a:defRPr sz="3200" spc="-70">
                <a:solidFill>
                  <a:srgbClr val="820E09"/>
                </a:solidFill>
                <a:latin typeface="+mj-lt"/>
                <a:ea typeface="+mj-ea"/>
                <a:cs typeface="+mj-cs"/>
                <a:sym typeface="Arial Bold"/>
              </a:defRPr>
            </a:lvl1pPr>
          </a:lstStyle>
          <a:p>
            <a:pPr lvl="0">
              <a:defRPr sz="1800" spc="0">
                <a:solidFill>
                  <a:srgbClr val="000000"/>
                </a:solidFill>
              </a:defRPr>
            </a:pPr>
            <a:r>
              <a:rPr sz="3200" spc="-70">
                <a:solidFill>
                  <a:srgbClr val="820E09"/>
                </a:solidFill>
              </a:rPr>
              <a:t>标题文本</a:t>
            </a:r>
          </a:p>
        </p:txBody>
      </p:sp>
      <p:sp>
        <p:nvSpPr>
          <p:cNvPr id="43" name="Shape 43"/>
          <p:cNvSpPr>
            <a:spLocks noGrp="1"/>
          </p:cNvSpPr>
          <p:nvPr>
            <p:ph type="body" idx="1"/>
          </p:nvPr>
        </p:nvSpPr>
        <p:spPr>
          <a:xfrm>
            <a:off x="457198" y="2267711"/>
            <a:ext cx="8229601" cy="4590290"/>
          </a:xfrm>
          <a:prstGeom prst="rect">
            <a:avLst/>
          </a:prstGeom>
        </p:spPr>
        <p:txBody>
          <a:bodyPr lIns="0" tIns="0" rIns="0" bIns="0"/>
          <a:lstStyle>
            <a:lvl1pPr>
              <a:spcBef>
                <a:spcPts val="900"/>
              </a:spcBef>
              <a:defRPr sz="2600"/>
            </a:lvl1pPr>
            <a:lvl2pPr marL="228600" indent="-228600">
              <a:spcBef>
                <a:spcPts val="900"/>
              </a:spcBef>
              <a:buSzPct val="100000"/>
              <a:buChar char="▪"/>
              <a:defRPr sz="2600"/>
            </a:lvl2pPr>
            <a:lvl3pPr marL="457200" indent="-228600">
              <a:spcBef>
                <a:spcPts val="900"/>
              </a:spcBef>
              <a:buSzPct val="100000"/>
              <a:buChar char="▪"/>
              <a:defRPr sz="2600"/>
            </a:lvl3pPr>
            <a:lvl4pPr marL="742950" indent="-285750">
              <a:spcBef>
                <a:spcPts val="900"/>
              </a:spcBef>
              <a:buSzPct val="100000"/>
              <a:buChar char="▪"/>
              <a:defRPr sz="2600"/>
            </a:lvl4pPr>
            <a:lvl5pPr marL="971550" indent="-228600">
              <a:spcBef>
                <a:spcPts val="900"/>
              </a:spcBef>
              <a:buSzPct val="100000"/>
              <a:buChar char="▪"/>
              <a:defRPr sz="2600"/>
            </a:lvl5pPr>
          </a:lstStyle>
          <a:p>
            <a:pPr lvl="0">
              <a:defRPr sz="1800"/>
            </a:pPr>
            <a:r>
              <a:rPr sz="2600"/>
              <a:t>正文级别 1</a:t>
            </a:r>
          </a:p>
          <a:p>
            <a:pPr lvl="1">
              <a:defRPr sz="1800"/>
            </a:pPr>
            <a:r>
              <a:rPr sz="2600"/>
              <a:t>正文级别 2</a:t>
            </a:r>
          </a:p>
          <a:p>
            <a:pPr lvl="2">
              <a:defRPr sz="1800"/>
            </a:pPr>
            <a:r>
              <a:rPr sz="2600"/>
              <a:t>正文级别 3</a:t>
            </a:r>
          </a:p>
          <a:p>
            <a:pPr lvl="3">
              <a:defRPr sz="1800"/>
            </a:pPr>
            <a:r>
              <a:rPr sz="2600"/>
              <a:t>正文级别 4</a:t>
            </a:r>
          </a:p>
          <a:p>
            <a:pPr lvl="4">
              <a:defRPr sz="1800"/>
            </a:pPr>
            <a:r>
              <a:rPr sz="2600"/>
              <a:t>正文级别 5</a:t>
            </a: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2_Title and Content">
    <p:spTree>
      <p:nvGrpSpPr>
        <p:cNvPr id="1" name=""/>
        <p:cNvGrpSpPr/>
        <p:nvPr/>
      </p:nvGrpSpPr>
      <p:grpSpPr>
        <a:xfrm>
          <a:off x="0" y="0"/>
          <a:ext cx="0" cy="0"/>
          <a:chOff x="0" y="0"/>
          <a:chExt cx="0" cy="0"/>
        </a:xfrm>
      </p:grpSpPr>
      <p:pic>
        <p:nvPicPr>
          <p:cNvPr id="45" name="image2.png"/>
          <p:cNvPicPr/>
          <p:nvPr/>
        </p:nvPicPr>
        <p:blipFill>
          <a:blip r:embed="rId2"/>
          <a:stretch>
            <a:fillRect/>
          </a:stretch>
        </p:blipFill>
        <p:spPr>
          <a:xfrm>
            <a:off x="4840287" y="0"/>
            <a:ext cx="4303713" cy="6858000"/>
          </a:xfrm>
          <a:prstGeom prst="rect">
            <a:avLst/>
          </a:prstGeom>
          <a:ln w="12700">
            <a:miter lim="400000"/>
          </a:ln>
        </p:spPr>
      </p:pic>
      <p:sp>
        <p:nvSpPr>
          <p:cNvPr id="46" name="Shape 46"/>
          <p:cNvSpPr/>
          <p:nvPr/>
        </p:nvSpPr>
        <p:spPr>
          <a:xfrm>
            <a:off x="-1" y="685800"/>
            <a:ext cx="9144002" cy="1588"/>
          </a:xfrm>
          <a:prstGeom prst="line">
            <a:avLst/>
          </a:prstGeom>
          <a:ln w="3175">
            <a:solidFill>
              <a:srgbClr val="6E0A00"/>
            </a:solidFill>
            <a:round/>
          </a:ln>
        </p:spPr>
        <p:txBody>
          <a:bodyPr lIns="0" tIns="0" rIns="0" bIns="0"/>
          <a:lstStyle/>
          <a:p>
            <a:pPr lvl="0" defTabSz="457200">
              <a:defRPr sz="1200"/>
            </a:pPr>
            <a:endParaRPr/>
          </a:p>
        </p:txBody>
      </p:sp>
      <p:pic>
        <p:nvPicPr>
          <p:cNvPr id="47" name="image1.png"/>
          <p:cNvPicPr/>
          <p:nvPr/>
        </p:nvPicPr>
        <p:blipFill>
          <a:blip r:embed="rId3"/>
          <a:stretch>
            <a:fillRect/>
          </a:stretch>
        </p:blipFill>
        <p:spPr>
          <a:xfrm>
            <a:off x="457200" y="173037"/>
            <a:ext cx="2100265" cy="412752"/>
          </a:xfrm>
          <a:prstGeom prst="rect">
            <a:avLst/>
          </a:prstGeom>
          <a:ln w="12700">
            <a:miter lim="400000"/>
          </a:ln>
        </p:spPr>
      </p:pic>
      <p:sp>
        <p:nvSpPr>
          <p:cNvPr id="48" name="Shape 48"/>
          <p:cNvSpPr>
            <a:spLocks noGrp="1"/>
          </p:cNvSpPr>
          <p:nvPr>
            <p:ph type="title"/>
          </p:nvPr>
        </p:nvSpPr>
        <p:spPr>
          <a:xfrm>
            <a:off x="457200" y="0"/>
            <a:ext cx="8229600" cy="2113028"/>
          </a:xfrm>
          <a:prstGeom prst="rect">
            <a:avLst/>
          </a:prstGeom>
        </p:spPr>
        <p:txBody>
          <a:bodyPr lIns="0" tIns="0" rIns="0" bIns="0" anchor="b"/>
          <a:lstStyle>
            <a:lvl1pPr>
              <a:lnSpc>
                <a:spcPct val="90000"/>
              </a:lnSpc>
              <a:defRPr sz="3200" spc="-70">
                <a:solidFill>
                  <a:srgbClr val="820E09"/>
                </a:solidFill>
                <a:latin typeface="+mj-lt"/>
                <a:ea typeface="+mj-ea"/>
                <a:cs typeface="+mj-cs"/>
                <a:sym typeface="Arial Bold"/>
              </a:defRPr>
            </a:lvl1pPr>
          </a:lstStyle>
          <a:p>
            <a:pPr lvl="0">
              <a:defRPr sz="1800" spc="0">
                <a:solidFill>
                  <a:srgbClr val="000000"/>
                </a:solidFill>
              </a:defRPr>
            </a:pPr>
            <a:r>
              <a:rPr sz="3200" spc="-70">
                <a:solidFill>
                  <a:srgbClr val="820E09"/>
                </a:solidFill>
              </a:rPr>
              <a:t>标题文本</a:t>
            </a:r>
          </a:p>
        </p:txBody>
      </p:sp>
      <p:sp>
        <p:nvSpPr>
          <p:cNvPr id="49" name="Shape 49"/>
          <p:cNvSpPr>
            <a:spLocks noGrp="1"/>
          </p:cNvSpPr>
          <p:nvPr>
            <p:ph type="body" idx="1"/>
          </p:nvPr>
        </p:nvSpPr>
        <p:spPr>
          <a:xfrm>
            <a:off x="457198" y="2267711"/>
            <a:ext cx="8229601" cy="4590289"/>
          </a:xfrm>
          <a:prstGeom prst="rect">
            <a:avLst/>
          </a:prstGeom>
        </p:spPr>
        <p:txBody>
          <a:bodyPr lIns="0" tIns="0" rIns="0" bIns="0"/>
          <a:lstStyle>
            <a:lvl1pPr>
              <a:spcBef>
                <a:spcPts val="900"/>
              </a:spcBef>
              <a:defRPr sz="2600"/>
            </a:lvl1pPr>
            <a:lvl2pPr marL="228600" indent="-228600">
              <a:spcBef>
                <a:spcPts val="900"/>
              </a:spcBef>
              <a:buSzPct val="100000"/>
              <a:buChar char="▪"/>
              <a:defRPr sz="2600"/>
            </a:lvl2pPr>
            <a:lvl3pPr marL="457200" indent="-228600">
              <a:spcBef>
                <a:spcPts val="900"/>
              </a:spcBef>
              <a:buSzPct val="100000"/>
              <a:buChar char="▪"/>
              <a:defRPr sz="2600"/>
            </a:lvl3pPr>
            <a:lvl4pPr marL="742950" indent="-285750">
              <a:spcBef>
                <a:spcPts val="900"/>
              </a:spcBef>
              <a:buSzPct val="100000"/>
              <a:buChar char="▪"/>
              <a:defRPr sz="2600"/>
            </a:lvl4pPr>
            <a:lvl5pPr marL="971550" indent="-228600">
              <a:spcBef>
                <a:spcPts val="900"/>
              </a:spcBef>
              <a:buSzPct val="100000"/>
              <a:buChar char="▪"/>
              <a:defRPr sz="2600"/>
            </a:lvl5pPr>
          </a:lstStyle>
          <a:p>
            <a:pPr lvl="0">
              <a:defRPr sz="1800"/>
            </a:pPr>
            <a:r>
              <a:rPr sz="2600"/>
              <a:t>正文级别 1</a:t>
            </a:r>
          </a:p>
          <a:p>
            <a:pPr lvl="1">
              <a:defRPr sz="1800"/>
            </a:pPr>
            <a:r>
              <a:rPr sz="2600"/>
              <a:t>正文级别 2</a:t>
            </a:r>
          </a:p>
          <a:p>
            <a:pPr lvl="2">
              <a:defRPr sz="1800"/>
            </a:pPr>
            <a:r>
              <a:rPr sz="2600"/>
              <a:t>正文级别 3</a:t>
            </a:r>
          </a:p>
          <a:p>
            <a:pPr lvl="3">
              <a:defRPr sz="1800"/>
            </a:pPr>
            <a:r>
              <a:rPr sz="2600"/>
              <a:t>正文级别 4</a:t>
            </a:r>
          </a:p>
          <a:p>
            <a:pPr lvl="4">
              <a:defRPr sz="1800"/>
            </a:pPr>
            <a:r>
              <a:rPr sz="2600"/>
              <a:t>正文级别 5</a:t>
            </a: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2_Title and Content">
    <p:spTree>
      <p:nvGrpSpPr>
        <p:cNvPr id="1" name=""/>
        <p:cNvGrpSpPr/>
        <p:nvPr/>
      </p:nvGrpSpPr>
      <p:grpSpPr>
        <a:xfrm>
          <a:off x="0" y="0"/>
          <a:ext cx="0" cy="0"/>
          <a:chOff x="0" y="0"/>
          <a:chExt cx="0" cy="0"/>
        </a:xfrm>
      </p:grpSpPr>
      <p:sp>
        <p:nvSpPr>
          <p:cNvPr id="56" name="Shape 56"/>
          <p:cNvSpPr/>
          <p:nvPr/>
        </p:nvSpPr>
        <p:spPr>
          <a:xfrm>
            <a:off x="-1" y="685800"/>
            <a:ext cx="9144001" cy="1588"/>
          </a:xfrm>
          <a:prstGeom prst="line">
            <a:avLst/>
          </a:prstGeom>
          <a:ln w="3175">
            <a:solidFill>
              <a:srgbClr val="6E0A00"/>
            </a:solidFill>
            <a:round/>
          </a:ln>
        </p:spPr>
        <p:txBody>
          <a:bodyPr lIns="0" tIns="0" rIns="0" bIns="0"/>
          <a:lstStyle/>
          <a:p>
            <a:pPr lvl="0" defTabSz="457200">
              <a:defRPr sz="1200"/>
            </a:pPr>
            <a:endParaRPr/>
          </a:p>
        </p:txBody>
      </p:sp>
      <p:pic>
        <p:nvPicPr>
          <p:cNvPr id="57" name="image1.png"/>
          <p:cNvPicPr/>
          <p:nvPr/>
        </p:nvPicPr>
        <p:blipFill>
          <a:blip r:embed="rId2"/>
          <a:stretch>
            <a:fillRect/>
          </a:stretch>
        </p:blipFill>
        <p:spPr>
          <a:xfrm>
            <a:off x="457200" y="173037"/>
            <a:ext cx="2100264" cy="412751"/>
          </a:xfrm>
          <a:prstGeom prst="rect">
            <a:avLst/>
          </a:prstGeom>
          <a:ln w="12700">
            <a:miter lim="400000"/>
          </a:ln>
        </p:spPr>
      </p:pic>
      <p:sp>
        <p:nvSpPr>
          <p:cNvPr id="58" name="Shape 58"/>
          <p:cNvSpPr>
            <a:spLocks noGrp="1"/>
          </p:cNvSpPr>
          <p:nvPr>
            <p:ph type="title"/>
          </p:nvPr>
        </p:nvSpPr>
        <p:spPr>
          <a:xfrm>
            <a:off x="457200" y="0"/>
            <a:ext cx="8229600" cy="1286365"/>
          </a:xfrm>
          <a:prstGeom prst="rect">
            <a:avLst/>
          </a:prstGeom>
        </p:spPr>
        <p:txBody>
          <a:bodyPr lIns="0" tIns="0" rIns="0" bIns="0" anchor="b"/>
          <a:lstStyle>
            <a:lvl1pPr>
              <a:lnSpc>
                <a:spcPct val="90000"/>
              </a:lnSpc>
              <a:defRPr sz="3200" spc="-70">
                <a:solidFill>
                  <a:srgbClr val="820E09"/>
                </a:solidFill>
                <a:latin typeface="+mj-lt"/>
                <a:ea typeface="+mj-ea"/>
                <a:cs typeface="+mj-cs"/>
                <a:sym typeface="Arial Bold"/>
              </a:defRPr>
            </a:lvl1pPr>
          </a:lstStyle>
          <a:p>
            <a:pPr lvl="0">
              <a:defRPr sz="1800" spc="0">
                <a:solidFill>
                  <a:srgbClr val="000000"/>
                </a:solidFill>
              </a:defRPr>
            </a:pPr>
            <a:r>
              <a:rPr sz="3200" spc="-70">
                <a:solidFill>
                  <a:srgbClr val="820E09"/>
                </a:solidFill>
              </a:rPr>
              <a:t>标题文本</a:t>
            </a:r>
          </a:p>
        </p:txBody>
      </p:sp>
      <p:sp>
        <p:nvSpPr>
          <p:cNvPr id="59" name="Shape 59"/>
          <p:cNvSpPr>
            <a:spLocks noGrp="1"/>
          </p:cNvSpPr>
          <p:nvPr>
            <p:ph type="body" idx="1"/>
          </p:nvPr>
        </p:nvSpPr>
        <p:spPr>
          <a:xfrm>
            <a:off x="457198" y="1301858"/>
            <a:ext cx="8229601" cy="5556142"/>
          </a:xfrm>
          <a:prstGeom prst="rect">
            <a:avLst/>
          </a:prstGeom>
        </p:spPr>
        <p:txBody>
          <a:bodyPr lIns="0" tIns="0" rIns="0" bIns="0"/>
          <a:lstStyle>
            <a:lvl1pPr>
              <a:spcBef>
                <a:spcPts val="900"/>
              </a:spcBef>
              <a:defRPr sz="2600"/>
            </a:lvl1pPr>
            <a:lvl2pPr marL="228600" indent="-228600">
              <a:spcBef>
                <a:spcPts val="900"/>
              </a:spcBef>
              <a:buSzPct val="100000"/>
              <a:buChar char="▪"/>
              <a:defRPr sz="2600"/>
            </a:lvl2pPr>
            <a:lvl3pPr marL="457200" indent="-228600">
              <a:spcBef>
                <a:spcPts val="900"/>
              </a:spcBef>
              <a:buSzPct val="100000"/>
              <a:buChar char="▪"/>
              <a:defRPr sz="2600"/>
            </a:lvl3pPr>
            <a:lvl4pPr marL="742950" indent="-285750">
              <a:spcBef>
                <a:spcPts val="900"/>
              </a:spcBef>
              <a:buSzPct val="100000"/>
              <a:buChar char="▪"/>
              <a:defRPr sz="2600"/>
            </a:lvl4pPr>
            <a:lvl5pPr marL="971550" indent="-228600">
              <a:spcBef>
                <a:spcPts val="900"/>
              </a:spcBef>
              <a:buSzPct val="100000"/>
              <a:buChar char="▪"/>
              <a:defRPr sz="2600"/>
            </a:lvl5pPr>
          </a:lstStyle>
          <a:p>
            <a:pPr lvl="0">
              <a:defRPr sz="1800"/>
            </a:pPr>
            <a:r>
              <a:rPr sz="2600"/>
              <a:t>正文级别 1</a:t>
            </a:r>
          </a:p>
          <a:p>
            <a:pPr lvl="1">
              <a:defRPr sz="1800"/>
            </a:pPr>
            <a:r>
              <a:rPr sz="2600"/>
              <a:t>正文级别 2</a:t>
            </a:r>
          </a:p>
          <a:p>
            <a:pPr lvl="2">
              <a:defRPr sz="1800"/>
            </a:pPr>
            <a:r>
              <a:rPr sz="2600"/>
              <a:t>正文级别 3</a:t>
            </a:r>
          </a:p>
          <a:p>
            <a:pPr lvl="3">
              <a:defRPr sz="1800"/>
            </a:pPr>
            <a:r>
              <a:rPr sz="2600"/>
              <a:t>正文级别 4</a:t>
            </a:r>
          </a:p>
          <a:p>
            <a:pPr lvl="4">
              <a:defRPr sz="1800"/>
            </a:pPr>
            <a:r>
              <a:rPr sz="2600"/>
              <a:t>正文级别 5</a:t>
            </a: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
        <p:cNvGrpSpPr/>
        <p:nvPr/>
      </p:nvGrpSpPr>
      <p:grpSpPr>
        <a:xfrm>
          <a:off x="0" y="0"/>
          <a:ext cx="0" cy="0"/>
          <a:chOff x="0" y="0"/>
          <a:chExt cx="0" cy="0"/>
        </a:xfrm>
      </p:grpSpPr>
      <p:sp>
        <p:nvSpPr>
          <p:cNvPr id="61" name="Shape 61"/>
          <p:cNvSpPr>
            <a:spLocks noGrp="1"/>
          </p:cNvSpPr>
          <p:nvPr>
            <p:ph type="title"/>
          </p:nvPr>
        </p:nvSpPr>
        <p:spPr>
          <a:prstGeom prst="rect">
            <a:avLst/>
          </a:prstGeom>
        </p:spPr>
        <p:txBody>
          <a:bodyPr/>
          <a:lstStyle/>
          <a:p>
            <a:pPr lvl="0"/>
            <a:r>
              <a:t>标题文本</a:t>
            </a:r>
          </a:p>
        </p:txBody>
      </p:sp>
      <p:sp>
        <p:nvSpPr>
          <p:cNvPr id="62" name="Shape 62"/>
          <p:cNvSpPr>
            <a:spLocks noGrp="1"/>
          </p:cNvSpPr>
          <p:nvPr>
            <p:ph type="body" idx="1"/>
          </p:nvPr>
        </p:nvSpPr>
        <p:spPr>
          <a:prstGeom prst="rect">
            <a:avLst/>
          </a:prstGeom>
        </p:spPr>
        <p:txBody>
          <a:bodyPr/>
          <a:lstStyle/>
          <a:p>
            <a:pPr lvl="0">
              <a:defRPr sz="1800"/>
            </a:pPr>
            <a:r>
              <a:rPr sz="2800"/>
              <a:t>正文级别 1</a:t>
            </a:r>
          </a:p>
          <a:p>
            <a:pPr lvl="1">
              <a:defRPr sz="1800"/>
            </a:pPr>
            <a:r>
              <a:rPr sz="2800"/>
              <a:t>正文级别 2</a:t>
            </a:r>
          </a:p>
          <a:p>
            <a:pPr lvl="2">
              <a:defRPr sz="1800"/>
            </a:pPr>
            <a:r>
              <a:rPr sz="2800"/>
              <a:t>正文级别 3</a:t>
            </a:r>
          </a:p>
          <a:p>
            <a:pPr lvl="3">
              <a:defRPr sz="1800"/>
            </a:pPr>
            <a:r>
              <a:rPr sz="2800"/>
              <a:t>正文级别 4</a:t>
            </a:r>
          </a:p>
          <a:p>
            <a:pPr lvl="4">
              <a:defRPr sz="1800"/>
            </a:pPr>
            <a:r>
              <a:rPr sz="2800"/>
              <a:t>正文级别 5</a:t>
            </a:r>
          </a:p>
        </p:txBody>
      </p:sp>
      <p:sp>
        <p:nvSpPr>
          <p:cNvPr id="63" name="Shape 63"/>
          <p:cNvSpPr>
            <a:spLocks noGrp="1"/>
          </p:cNvSpPr>
          <p:nvPr>
            <p:ph type="sldNum" sz="quarter" idx="2"/>
          </p:nvPr>
        </p:nvSpPr>
        <p:spPr>
          <a:prstGeom prst="rect">
            <a:avLst/>
          </a:prstGeom>
        </p:spPr>
        <p:txBody>
          <a:bodyPr/>
          <a:lstStyle/>
          <a:p>
            <a:pPr lvl="0"/>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5CF472-379D-4B01-9068-DEB5203CBEB4}" type="datetimeFigureOut">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17DFBE4-5A6B-4966-8942-53212DEB4EE8}" type="slidenum">
              <a:rPr lang="en-US" smtClean="0"/>
              <a:t>‹#›</a:t>
            </a:fld>
            <a:endParaRPr lang="en-US"/>
          </a:p>
        </p:txBody>
      </p:sp>
    </p:spTree>
    <p:extLst>
      <p:ext uri="{BB962C8B-B14F-4D97-AF65-F5344CB8AC3E}">
        <p14:creationId xmlns:p14="http://schemas.microsoft.com/office/powerpoint/2010/main" val="1921998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pic>
        <p:nvPicPr>
          <p:cNvPr id="5" name="Picture 3" descr="Stripes-graphic_fade_thinner.png"/>
          <p:cNvPicPr>
            <a:picLocks noChangeAspect="1"/>
          </p:cNvPicPr>
          <p:nvPr userDrawn="1"/>
        </p:nvPicPr>
        <p:blipFill>
          <a:blip r:embed="rId2"/>
          <a:srcRect/>
          <a:stretch>
            <a:fillRect/>
          </a:stretch>
        </p:blipFill>
        <p:spPr bwMode="auto">
          <a:xfrm>
            <a:off x="0" y="0"/>
            <a:ext cx="9144000" cy="3308350"/>
          </a:xfrm>
          <a:prstGeom prst="rect">
            <a:avLst/>
          </a:prstGeom>
          <a:noFill/>
          <a:ln w="9525">
            <a:noFill/>
            <a:miter lim="800000"/>
            <a:headEnd/>
            <a:tailEnd/>
          </a:ln>
        </p:spPr>
      </p:pic>
      <p:pic>
        <p:nvPicPr>
          <p:cNvPr id="6" name="Picture 4" descr="CB-shield-title.png"/>
          <p:cNvPicPr>
            <a:picLocks noChangeAspect="1"/>
          </p:cNvPicPr>
          <p:nvPr userDrawn="1"/>
        </p:nvPicPr>
        <p:blipFill>
          <a:blip r:embed="rId3"/>
          <a:srcRect/>
          <a:stretch>
            <a:fillRect/>
          </a:stretch>
        </p:blipFill>
        <p:spPr bwMode="auto">
          <a:xfrm>
            <a:off x="457200" y="173038"/>
            <a:ext cx="2100263" cy="412750"/>
          </a:xfrm>
          <a:prstGeom prst="rect">
            <a:avLst/>
          </a:prstGeom>
          <a:noFill/>
          <a:ln w="9525">
            <a:noFill/>
            <a:miter lim="800000"/>
            <a:headEnd/>
            <a:tailEnd/>
          </a:ln>
        </p:spPr>
      </p:pic>
      <p:sp>
        <p:nvSpPr>
          <p:cNvPr id="7" name="Text Placeholder 5"/>
          <p:cNvSpPr>
            <a:spLocks noGrp="1"/>
          </p:cNvSpPr>
          <p:nvPr>
            <p:ph type="body" sz="quarter" idx="10" hasCustomPrompt="1"/>
          </p:nvPr>
        </p:nvSpPr>
        <p:spPr>
          <a:xfrm>
            <a:off x="5241335" y="87494"/>
            <a:ext cx="3456098" cy="548640"/>
          </a:xfrm>
        </p:spPr>
        <p:txBody>
          <a:bodyPr lIns="0" tIns="0" rIns="0" bIns="0"/>
          <a:lstStyle>
            <a:lvl1pPr algn="r">
              <a:defRPr sz="3300" baseline="0">
                <a:solidFill>
                  <a:schemeClr val="accent4">
                    <a:lumMod val="50000"/>
                    <a:lumOff val="50000"/>
                  </a:schemeClr>
                </a:solidFill>
                <a:latin typeface="Arial Narrow" pitchFamily="34" charset="0"/>
              </a:defRPr>
            </a:lvl1pPr>
          </a:lstStyle>
          <a:p>
            <a:pPr lvl="0"/>
            <a:fld id="{C96A22AC-A5F0-42E9-B923-4C446D34FA9E}" type="slidenum">
              <a:rPr lang="en-US" smtClean="0"/>
              <a:t>‹#›</a:t>
            </a:fld>
            <a:endParaRPr lang="en-US" dirty="0"/>
          </a:p>
        </p:txBody>
      </p:sp>
      <p:sp>
        <p:nvSpPr>
          <p:cNvPr id="2" name="Title 1"/>
          <p:cNvSpPr>
            <a:spLocks noGrp="1"/>
          </p:cNvSpPr>
          <p:nvPr>
            <p:ph type="title"/>
          </p:nvPr>
        </p:nvSpPr>
        <p:spPr>
          <a:xfrm>
            <a:off x="457200" y="950976"/>
            <a:ext cx="8229600" cy="703199"/>
          </a:xfrm>
        </p:spPr>
        <p:txBody>
          <a:bodyPr lIns="0" tIns="0" rIns="0" bIns="0" anchor="b"/>
          <a:lstStyle>
            <a:lvl1pPr>
              <a:lnSpc>
                <a:spcPct val="90000"/>
              </a:lnSpc>
              <a:defRPr sz="3200" b="1" kern="1200" spc="-70" baseline="0"/>
            </a:lvl1pPr>
          </a:lstStyle>
          <a:p>
            <a:r>
              <a:rPr lang="en-US" dirty="0"/>
              <a:t>Click to edit Master title style</a:t>
            </a:r>
          </a:p>
        </p:txBody>
      </p:sp>
      <p:sp>
        <p:nvSpPr>
          <p:cNvPr id="3" name="Content Placeholder 2"/>
          <p:cNvSpPr>
            <a:spLocks noGrp="1"/>
          </p:cNvSpPr>
          <p:nvPr>
            <p:ph idx="1"/>
          </p:nvPr>
        </p:nvSpPr>
        <p:spPr>
          <a:xfrm>
            <a:off x="457199" y="1781092"/>
            <a:ext cx="8229600" cy="4802589"/>
          </a:xfrm>
        </p:spPr>
        <p:txBody>
          <a:bodyPr lIns="0" tIns="0" rIns="0" bIns="0"/>
          <a:lstStyle>
            <a:lvl1pPr marL="0" indent="0">
              <a:lnSpc>
                <a:spcPct val="100000"/>
              </a:lnSpc>
              <a:spcBef>
                <a:spcPts val="900"/>
              </a:spcBef>
              <a:defRPr sz="2600"/>
            </a:lvl1pPr>
            <a:lvl2pPr marL="228600" indent="-228600">
              <a:lnSpc>
                <a:spcPct val="100000"/>
              </a:lnSpc>
              <a:spcBef>
                <a:spcPts val="900"/>
              </a:spcBef>
              <a:buFont typeface="Wingdings" pitchFamily="2" charset="2"/>
              <a:buChar char="§"/>
              <a:defRPr sz="2600"/>
            </a:lvl2pPr>
            <a:lvl3pPr marL="457200" indent="-228600">
              <a:lnSpc>
                <a:spcPct val="100000"/>
              </a:lnSpc>
              <a:spcBef>
                <a:spcPts val="900"/>
              </a:spcBef>
              <a:buFont typeface="Wingdings" pitchFamily="2" charset="2"/>
              <a:buChar char="§"/>
              <a:defRPr sz="2600"/>
            </a:lvl3pPr>
            <a:lvl4pPr marL="742950" indent="-285750">
              <a:lnSpc>
                <a:spcPct val="100000"/>
              </a:lnSpc>
              <a:spcBef>
                <a:spcPts val="900"/>
              </a:spcBef>
              <a:buFont typeface="Wingdings" pitchFamily="2" charset="2"/>
              <a:buChar char="§"/>
              <a:defRPr sz="2600"/>
            </a:lvl4pPr>
            <a:lvl5pPr marL="971550" indent="-228600">
              <a:lnSpc>
                <a:spcPct val="100000"/>
              </a:lnSpc>
              <a:spcBef>
                <a:spcPts val="900"/>
              </a:spcBef>
              <a:buFont typeface="Wingdings" pitchFamily="2" charset="2"/>
              <a:buChar char="§"/>
              <a:defRPr sz="2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76447002"/>
      </p:ext>
    </p:extLst>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2"/>
          <p:cNvSpPr>
            <a:spLocks noGrp="1"/>
          </p:cNvSpPr>
          <p:nvPr>
            <p:ph type="title"/>
          </p:nvPr>
        </p:nvSpPr>
        <p:spPr>
          <a:xfrm>
            <a:off x="311698" y="1302274"/>
            <a:ext cx="8520604" cy="707453"/>
          </a:xfrm>
          <a:prstGeom prst="rect">
            <a:avLst/>
          </a:prstGeom>
          <a:ln w="12700">
            <a:miter lim="400000"/>
          </a:ln>
          <a:extLst>
            <a:ext uri="{C572A759-6A51-4108-AA02-DFA0A04FC94B}">
              <ma14:wrappingTextBoxFlag xmlns:ma14="http://schemas.microsoft.com/office/mac/drawingml/2011/main" xmlns="" val="1"/>
            </a:ext>
          </a:extLst>
        </p:spPr>
        <p:txBody>
          <a:bodyPr lIns="91422" tIns="91422" rIns="91422" bIns="91422"/>
          <a:lstStyle/>
          <a:p>
            <a:pPr lvl="0"/>
            <a:r>
              <a:t>标题文本</a:t>
            </a:r>
          </a:p>
        </p:txBody>
      </p:sp>
      <p:sp>
        <p:nvSpPr>
          <p:cNvPr id="3" name="Shape 3"/>
          <p:cNvSpPr>
            <a:spLocks noGrp="1"/>
          </p:cNvSpPr>
          <p:nvPr>
            <p:ph type="body" idx="1"/>
          </p:nvPr>
        </p:nvSpPr>
        <p:spPr>
          <a:xfrm>
            <a:off x="311698" y="2009725"/>
            <a:ext cx="8520604" cy="3991025"/>
          </a:xfrm>
          <a:prstGeom prst="rect">
            <a:avLst/>
          </a:prstGeom>
          <a:ln w="12700">
            <a:miter lim="400000"/>
          </a:ln>
          <a:extLst>
            <a:ext uri="{C572A759-6A51-4108-AA02-DFA0A04FC94B}">
              <ma14:wrappingTextBoxFlag xmlns:ma14="http://schemas.microsoft.com/office/mac/drawingml/2011/main" xmlns="" val="1"/>
            </a:ext>
          </a:extLst>
        </p:spPr>
        <p:txBody>
          <a:bodyPr lIns="91422" tIns="91422" rIns="91422" bIns="91422"/>
          <a:lstStyle/>
          <a:p>
            <a:pPr lvl="0">
              <a:defRPr sz="1800"/>
            </a:pPr>
            <a:r>
              <a:rPr sz="2800"/>
              <a:t>正文级别 1</a:t>
            </a:r>
          </a:p>
          <a:p>
            <a:pPr lvl="1">
              <a:defRPr sz="1800"/>
            </a:pPr>
            <a:r>
              <a:rPr sz="2800"/>
              <a:t>正文级别 2</a:t>
            </a:r>
          </a:p>
          <a:p>
            <a:pPr lvl="2">
              <a:defRPr sz="1800"/>
            </a:pPr>
            <a:r>
              <a:rPr sz="2800"/>
              <a:t>正文级别 3</a:t>
            </a:r>
          </a:p>
          <a:p>
            <a:pPr lvl="3">
              <a:defRPr sz="1800"/>
            </a:pPr>
            <a:r>
              <a:rPr sz="2800"/>
              <a:t>正文级别 4</a:t>
            </a:r>
          </a:p>
          <a:p>
            <a:pPr lvl="4">
              <a:defRPr sz="1800"/>
            </a:pPr>
            <a:r>
              <a:rPr sz="2800"/>
              <a:t>正文级别 5</a:t>
            </a:r>
          </a:p>
        </p:txBody>
      </p:sp>
      <p:sp>
        <p:nvSpPr>
          <p:cNvPr id="4" name="Shape 4"/>
          <p:cNvSpPr>
            <a:spLocks noGrp="1"/>
          </p:cNvSpPr>
          <p:nvPr>
            <p:ph type="sldNum" sz="quarter" idx="2"/>
          </p:nvPr>
        </p:nvSpPr>
        <p:spPr>
          <a:xfrm>
            <a:off x="8497999" y="5562483"/>
            <a:ext cx="548703" cy="360647"/>
          </a:xfrm>
          <a:prstGeom prst="rect">
            <a:avLst/>
          </a:prstGeom>
          <a:ln w="12700">
            <a:miter lim="400000"/>
          </a:ln>
        </p:spPr>
        <p:txBody>
          <a:bodyPr lIns="91422" tIns="91422" rIns="91422" bIns="91422" anchor="ctr">
            <a:spAutoFit/>
          </a:bodyPr>
          <a:lstStyle>
            <a:lvl1pPr algn="r">
              <a:defRPr sz="1200">
                <a:solidFill>
                  <a:srgbClr val="7F7F7F"/>
                </a:solidFill>
                <a:latin typeface="Source Sans Pro"/>
                <a:ea typeface="Source Sans Pro"/>
                <a:cs typeface="Source Sans Pro"/>
                <a:sym typeface="Source Sans Pro"/>
              </a:defRPr>
            </a:lvl1pPr>
          </a:lstStyle>
          <a:p>
            <a:pPr lvl="0"/>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5" r:id="rId6"/>
    <p:sldLayoutId id="2147483656" r:id="rId7"/>
    <p:sldLayoutId id="2147483658" r:id="rId8"/>
    <p:sldLayoutId id="2147483659" r:id="rId9"/>
    <p:sldLayoutId id="2147483660" r:id="rId10"/>
    <p:sldLayoutId id="2147483661" r:id="rId11"/>
  </p:sldLayoutIdLst>
  <p:transition spd="med"/>
  <p:txStyles>
    <p:titleStyle>
      <a:lvl1pPr>
        <a:defRPr>
          <a:latin typeface="+mn-lt"/>
          <a:ea typeface="+mn-ea"/>
          <a:cs typeface="+mn-cs"/>
          <a:sym typeface="Arial"/>
        </a:defRPr>
      </a:lvl1pPr>
      <a:lvl2pPr>
        <a:defRPr>
          <a:latin typeface="+mn-lt"/>
          <a:ea typeface="+mn-ea"/>
          <a:cs typeface="+mn-cs"/>
          <a:sym typeface="Arial"/>
        </a:defRPr>
      </a:lvl2pPr>
      <a:lvl3pPr>
        <a:defRPr>
          <a:latin typeface="+mn-lt"/>
          <a:ea typeface="+mn-ea"/>
          <a:cs typeface="+mn-cs"/>
          <a:sym typeface="Arial"/>
        </a:defRPr>
      </a:lvl3pPr>
      <a:lvl4pPr>
        <a:defRPr>
          <a:latin typeface="+mn-lt"/>
          <a:ea typeface="+mn-ea"/>
          <a:cs typeface="+mn-cs"/>
          <a:sym typeface="Arial"/>
        </a:defRPr>
      </a:lvl4pPr>
      <a:lvl5pPr>
        <a:defRPr>
          <a:latin typeface="+mn-lt"/>
          <a:ea typeface="+mn-ea"/>
          <a:cs typeface="+mn-cs"/>
          <a:sym typeface="Arial"/>
        </a:defRPr>
      </a:lvl5pPr>
      <a:lvl6pPr>
        <a:defRPr>
          <a:latin typeface="+mn-lt"/>
          <a:ea typeface="+mn-ea"/>
          <a:cs typeface="+mn-cs"/>
          <a:sym typeface="Arial"/>
        </a:defRPr>
      </a:lvl6pPr>
      <a:lvl7pPr>
        <a:defRPr>
          <a:latin typeface="+mn-lt"/>
          <a:ea typeface="+mn-ea"/>
          <a:cs typeface="+mn-cs"/>
          <a:sym typeface="Arial"/>
        </a:defRPr>
      </a:lvl7pPr>
      <a:lvl8pPr>
        <a:defRPr>
          <a:latin typeface="+mn-lt"/>
          <a:ea typeface="+mn-ea"/>
          <a:cs typeface="+mn-cs"/>
          <a:sym typeface="Arial"/>
        </a:defRPr>
      </a:lvl8pPr>
      <a:lvl9pPr>
        <a:defRPr>
          <a:latin typeface="+mn-lt"/>
          <a:ea typeface="+mn-ea"/>
          <a:cs typeface="+mn-cs"/>
          <a:sym typeface="Arial"/>
        </a:defRPr>
      </a:lvl9pPr>
    </p:titleStyle>
    <p:bodyStyle>
      <a:lvl1pPr>
        <a:defRPr sz="2800">
          <a:latin typeface="+mn-lt"/>
          <a:ea typeface="+mn-ea"/>
          <a:cs typeface="+mn-cs"/>
          <a:sym typeface="Arial"/>
        </a:defRPr>
      </a:lvl1pPr>
      <a:lvl2pPr>
        <a:defRPr sz="2800">
          <a:latin typeface="+mn-lt"/>
          <a:ea typeface="+mn-ea"/>
          <a:cs typeface="+mn-cs"/>
          <a:sym typeface="Arial"/>
        </a:defRPr>
      </a:lvl2pPr>
      <a:lvl3pPr>
        <a:defRPr sz="2800">
          <a:latin typeface="+mn-lt"/>
          <a:ea typeface="+mn-ea"/>
          <a:cs typeface="+mn-cs"/>
          <a:sym typeface="Arial"/>
        </a:defRPr>
      </a:lvl3pPr>
      <a:lvl4pPr>
        <a:defRPr sz="2800">
          <a:latin typeface="+mn-lt"/>
          <a:ea typeface="+mn-ea"/>
          <a:cs typeface="+mn-cs"/>
          <a:sym typeface="Arial"/>
        </a:defRPr>
      </a:lvl4pPr>
      <a:lvl5pPr>
        <a:defRPr sz="2800">
          <a:latin typeface="+mn-lt"/>
          <a:ea typeface="+mn-ea"/>
          <a:cs typeface="+mn-cs"/>
          <a:sym typeface="Arial"/>
        </a:defRPr>
      </a:lvl5pPr>
      <a:lvl6pPr>
        <a:defRPr sz="2800">
          <a:latin typeface="+mn-lt"/>
          <a:ea typeface="+mn-ea"/>
          <a:cs typeface="+mn-cs"/>
          <a:sym typeface="Arial"/>
        </a:defRPr>
      </a:lvl6pPr>
      <a:lvl7pPr>
        <a:defRPr sz="2800">
          <a:latin typeface="+mn-lt"/>
          <a:ea typeface="+mn-ea"/>
          <a:cs typeface="+mn-cs"/>
          <a:sym typeface="Arial"/>
        </a:defRPr>
      </a:lvl7pPr>
      <a:lvl8pPr>
        <a:defRPr sz="2800">
          <a:latin typeface="+mn-lt"/>
          <a:ea typeface="+mn-ea"/>
          <a:cs typeface="+mn-cs"/>
          <a:sym typeface="Arial"/>
        </a:defRPr>
      </a:lvl8pPr>
      <a:lvl9pPr>
        <a:defRPr sz="2800">
          <a:latin typeface="+mn-lt"/>
          <a:ea typeface="+mn-ea"/>
          <a:cs typeface="+mn-cs"/>
          <a:sym typeface="Arial"/>
        </a:defRPr>
      </a:lvl9pPr>
    </p:bodyStyle>
    <p:otherStyle>
      <a:lvl1pPr algn="r">
        <a:defRPr sz="1200">
          <a:solidFill>
            <a:schemeClr val="tx1"/>
          </a:solidFill>
          <a:latin typeface="+mn-lt"/>
          <a:ea typeface="+mn-ea"/>
          <a:cs typeface="+mn-cs"/>
          <a:sym typeface="Source Sans Pro"/>
        </a:defRPr>
      </a:lvl1pPr>
      <a:lvl2pPr algn="r">
        <a:defRPr sz="1200">
          <a:solidFill>
            <a:schemeClr val="tx1"/>
          </a:solidFill>
          <a:latin typeface="+mn-lt"/>
          <a:ea typeface="+mn-ea"/>
          <a:cs typeface="+mn-cs"/>
          <a:sym typeface="Source Sans Pro"/>
        </a:defRPr>
      </a:lvl2pPr>
      <a:lvl3pPr algn="r">
        <a:defRPr sz="1200">
          <a:solidFill>
            <a:schemeClr val="tx1"/>
          </a:solidFill>
          <a:latin typeface="+mn-lt"/>
          <a:ea typeface="+mn-ea"/>
          <a:cs typeface="+mn-cs"/>
          <a:sym typeface="Source Sans Pro"/>
        </a:defRPr>
      </a:lvl3pPr>
      <a:lvl4pPr algn="r">
        <a:defRPr sz="1200">
          <a:solidFill>
            <a:schemeClr val="tx1"/>
          </a:solidFill>
          <a:latin typeface="+mn-lt"/>
          <a:ea typeface="+mn-ea"/>
          <a:cs typeface="+mn-cs"/>
          <a:sym typeface="Source Sans Pro"/>
        </a:defRPr>
      </a:lvl4pPr>
      <a:lvl5pPr algn="r">
        <a:defRPr sz="1200">
          <a:solidFill>
            <a:schemeClr val="tx1"/>
          </a:solidFill>
          <a:latin typeface="+mn-lt"/>
          <a:ea typeface="+mn-ea"/>
          <a:cs typeface="+mn-cs"/>
          <a:sym typeface="Source Sans Pro"/>
        </a:defRPr>
      </a:lvl5pPr>
      <a:lvl6pPr algn="r">
        <a:defRPr sz="1200">
          <a:solidFill>
            <a:schemeClr val="tx1"/>
          </a:solidFill>
          <a:latin typeface="+mn-lt"/>
          <a:ea typeface="+mn-ea"/>
          <a:cs typeface="+mn-cs"/>
          <a:sym typeface="Source Sans Pro"/>
        </a:defRPr>
      </a:lvl6pPr>
      <a:lvl7pPr algn="r">
        <a:defRPr sz="1200">
          <a:solidFill>
            <a:schemeClr val="tx1"/>
          </a:solidFill>
          <a:latin typeface="+mn-lt"/>
          <a:ea typeface="+mn-ea"/>
          <a:cs typeface="+mn-cs"/>
          <a:sym typeface="Source Sans Pro"/>
        </a:defRPr>
      </a:lvl7pPr>
      <a:lvl8pPr algn="r">
        <a:defRPr sz="1200">
          <a:solidFill>
            <a:schemeClr val="tx1"/>
          </a:solidFill>
          <a:latin typeface="+mn-lt"/>
          <a:ea typeface="+mn-ea"/>
          <a:cs typeface="+mn-cs"/>
          <a:sym typeface="Source Sans Pro"/>
        </a:defRPr>
      </a:lvl8pPr>
      <a:lvl9pPr algn="r">
        <a:defRPr sz="1200">
          <a:solidFill>
            <a:schemeClr val="tx1"/>
          </a:solidFill>
          <a:latin typeface="+mn-lt"/>
          <a:ea typeface="+mn-ea"/>
          <a:cs typeface="+mn-cs"/>
          <a:sym typeface="Source Sans Pro"/>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Shape 67"/>
          <p:cNvSpPr>
            <a:spLocks noGrp="1"/>
          </p:cNvSpPr>
          <p:nvPr>
            <p:ph type="title"/>
          </p:nvPr>
        </p:nvSpPr>
        <p:spPr>
          <a:xfrm>
            <a:off x="457200" y="673767"/>
            <a:ext cx="8311416" cy="1107996"/>
          </a:xfrm>
          <a:prstGeom prst="rect">
            <a:avLst/>
          </a:prstGeom>
        </p:spPr>
        <p:txBody>
          <a:bodyPr>
            <a:spAutoFit/>
          </a:bodyPr>
          <a:lstStyle/>
          <a:p>
            <a:pPr lvl="0">
              <a:defRPr sz="1800">
                <a:solidFill>
                  <a:srgbClr val="000000"/>
                </a:solidFill>
              </a:defRPr>
            </a:pPr>
            <a:r>
              <a:rPr sz="4000" dirty="0">
                <a:solidFill>
                  <a:srgbClr val="820E09"/>
                </a:solidFill>
              </a:rPr>
              <a:t>Executive MBA</a:t>
            </a:r>
          </a:p>
          <a:p>
            <a:pPr lvl="0">
              <a:defRPr sz="1800">
                <a:solidFill>
                  <a:srgbClr val="000000"/>
                </a:solidFill>
              </a:defRPr>
            </a:pPr>
            <a:r>
              <a:rPr sz="4000" dirty="0">
                <a:solidFill>
                  <a:srgbClr val="820E09"/>
                </a:solidFill>
              </a:rPr>
              <a:t>Financial Accounting</a:t>
            </a:r>
          </a:p>
        </p:txBody>
      </p:sp>
      <p:sp>
        <p:nvSpPr>
          <p:cNvPr id="68" name="Shape 68"/>
          <p:cNvSpPr>
            <a:spLocks noGrp="1"/>
          </p:cNvSpPr>
          <p:nvPr>
            <p:ph type="body" idx="1"/>
          </p:nvPr>
        </p:nvSpPr>
        <p:spPr>
          <a:xfrm>
            <a:off x="421907" y="2472969"/>
            <a:ext cx="8382001" cy="1026243"/>
          </a:xfrm>
          <a:prstGeom prst="rect">
            <a:avLst/>
          </a:prstGeom>
        </p:spPr>
        <p:txBody>
          <a:bodyPr>
            <a:spAutoFit/>
          </a:bodyPr>
          <a:lstStyle/>
          <a:p>
            <a:pPr lvl="0">
              <a:defRPr sz="1800"/>
            </a:pPr>
            <a:r>
              <a:rPr lang="en-HK" sz="2400" i="1" dirty="0"/>
              <a:t>TA </a:t>
            </a:r>
            <a:r>
              <a:rPr sz="2400" i="1" dirty="0"/>
              <a:t>Review Session 1</a:t>
            </a:r>
          </a:p>
          <a:p>
            <a:pPr lvl="0">
              <a:defRPr sz="1800"/>
            </a:pPr>
            <a:endParaRPr i="1" dirty="0"/>
          </a:p>
          <a:p>
            <a:pPr lvl="0">
              <a:defRPr sz="1800"/>
            </a:pPr>
            <a:r>
              <a:rPr lang="en-US" sz="1800" dirty="0"/>
              <a:t>Shirley Xu</a:t>
            </a:r>
            <a:endParaRPr sz="20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 name="Shape 82"/>
          <p:cNvSpPr>
            <a:spLocks noGrp="1"/>
          </p:cNvSpPr>
          <p:nvPr>
            <p:ph type="title"/>
          </p:nvPr>
        </p:nvSpPr>
        <p:spPr>
          <a:xfrm>
            <a:off x="457200" y="941631"/>
            <a:ext cx="8229600" cy="443198"/>
          </a:xfrm>
          <a:prstGeom prst="rect">
            <a:avLst/>
          </a:prstGeom>
        </p:spPr>
        <p:txBody>
          <a:bodyPr>
            <a:spAutoFit/>
          </a:bodyPr>
          <a:lstStyle>
            <a:lvl1pPr>
              <a:defRPr spc="-100"/>
            </a:lvl1pPr>
          </a:lstStyle>
          <a:p>
            <a:pPr lvl="0">
              <a:defRPr sz="1800" spc="0">
                <a:solidFill>
                  <a:srgbClr val="000000"/>
                </a:solidFill>
              </a:defRPr>
            </a:pPr>
            <a:r>
              <a:rPr sz="3200" spc="-100" dirty="0">
                <a:solidFill>
                  <a:srgbClr val="820E09"/>
                </a:solidFill>
              </a:rPr>
              <a:t>Housekeeping </a:t>
            </a:r>
            <a:r>
              <a:rPr lang="en-HK" sz="3200" spc="-100" dirty="0">
                <a:solidFill>
                  <a:srgbClr val="820E09"/>
                </a:solidFill>
              </a:rPr>
              <a:t>Information</a:t>
            </a:r>
            <a:endParaRPr sz="3200" spc="-100" dirty="0">
              <a:solidFill>
                <a:srgbClr val="820E09"/>
              </a:solidFill>
            </a:endParaRPr>
          </a:p>
        </p:txBody>
      </p:sp>
      <p:sp>
        <p:nvSpPr>
          <p:cNvPr id="83" name="Shape 83"/>
          <p:cNvSpPr>
            <a:spLocks noGrp="1"/>
          </p:cNvSpPr>
          <p:nvPr>
            <p:ph type="body" idx="1"/>
          </p:nvPr>
        </p:nvSpPr>
        <p:spPr>
          <a:xfrm>
            <a:off x="457199" y="1484600"/>
            <a:ext cx="8229601" cy="4993675"/>
          </a:xfrm>
          <a:prstGeom prst="rect">
            <a:avLst/>
          </a:prstGeom>
        </p:spPr>
        <p:txBody>
          <a:bodyPr>
            <a:spAutoFit/>
          </a:bodyPr>
          <a:lstStyle/>
          <a:p>
            <a:pPr lvl="1">
              <a:defRPr sz="1800"/>
            </a:pPr>
            <a:r>
              <a:rPr lang="en-US" sz="2000" b="1" dirty="0"/>
              <a:t>Shirley Xu</a:t>
            </a:r>
            <a:r>
              <a:rPr lang="en-US" sz="2000" dirty="0"/>
              <a:t>,</a:t>
            </a:r>
            <a:r>
              <a:rPr lang="en-US" sz="2000" b="1" dirty="0"/>
              <a:t> </a:t>
            </a:r>
            <a:r>
              <a:rPr lang="en-US" sz="2000" dirty="0"/>
              <a:t>room G11, xxu32@alumni.chicagobooth.edu</a:t>
            </a:r>
          </a:p>
          <a:p>
            <a:pPr lvl="1">
              <a:defRPr sz="1800"/>
            </a:pPr>
            <a:r>
              <a:rPr lang="en-US" sz="2000" b="1" dirty="0"/>
              <a:t>Angela </a:t>
            </a:r>
            <a:r>
              <a:rPr lang="en-US" sz="2000" b="1" i="0" dirty="0">
                <a:effectLst/>
                <a:latin typeface="Arial" panose="020B0604020202020204" pitchFamily="34" charset="0"/>
              </a:rPr>
              <a:t>Cheng</a:t>
            </a:r>
            <a:r>
              <a:rPr lang="en-US" sz="2000" dirty="0"/>
              <a:t>, room G12, hcheng12@alumni.chicagobooth.edu</a:t>
            </a:r>
            <a:endParaRPr sz="2000" dirty="0"/>
          </a:p>
          <a:p>
            <a:pPr lvl="0">
              <a:defRPr sz="1800"/>
            </a:pPr>
            <a:r>
              <a:rPr lang="en-US" sz="2200" b="1" u="sng" dirty="0"/>
              <a:t>Review Sessions</a:t>
            </a:r>
          </a:p>
          <a:p>
            <a:pPr lvl="1">
              <a:defRPr sz="1800"/>
            </a:pPr>
            <a:r>
              <a:rPr lang="en-US" sz="2000" dirty="0"/>
              <a:t>Two per week</a:t>
            </a:r>
          </a:p>
          <a:p>
            <a:pPr lvl="1">
              <a:defRPr sz="1800"/>
            </a:pPr>
            <a:r>
              <a:rPr lang="en-US" sz="2000" dirty="0"/>
              <a:t>Review </a:t>
            </a:r>
          </a:p>
          <a:p>
            <a:pPr marL="576263" lvl="1" indent="-347663">
              <a:buFont typeface="Wingdings" panose="05000000000000000000" pitchFamily="2" charset="2"/>
              <a:buChar char="Ø"/>
              <a:defRPr sz="1800"/>
            </a:pPr>
            <a:r>
              <a:rPr lang="en-US" sz="2000" dirty="0"/>
              <a:t>lecture content</a:t>
            </a:r>
          </a:p>
          <a:p>
            <a:pPr marL="576263" lvl="1" indent="-347663">
              <a:buFont typeface="Wingdings" panose="05000000000000000000" pitchFamily="2" charset="2"/>
              <a:buChar char="Ø"/>
              <a:defRPr sz="1800"/>
            </a:pPr>
            <a:r>
              <a:rPr lang="en-US" sz="2000" dirty="0"/>
              <a:t>assignment/exam-like questions and solutions, and </a:t>
            </a:r>
          </a:p>
          <a:p>
            <a:pPr marL="576263" lvl="1" indent="-347663">
              <a:buFont typeface="Wingdings" panose="05000000000000000000" pitchFamily="2" charset="2"/>
              <a:buChar char="Ø"/>
              <a:defRPr sz="1800"/>
            </a:pPr>
            <a:r>
              <a:rPr lang="en-US" sz="2000" dirty="0"/>
              <a:t>Q&amp;As</a:t>
            </a:r>
            <a:endParaRPr lang="en-US" sz="2200" b="1" dirty="0"/>
          </a:p>
          <a:p>
            <a:pPr lvl="0">
              <a:defRPr sz="1800"/>
            </a:pPr>
            <a:r>
              <a:rPr lang="en-US" sz="2200" b="1" u="sng" dirty="0"/>
              <a:t>Office Hours</a:t>
            </a:r>
            <a:endParaRPr lang="en-US" sz="2000" b="1" i="1" u="sng" dirty="0"/>
          </a:p>
          <a:p>
            <a:pPr lvl="1">
              <a:defRPr sz="1800"/>
            </a:pPr>
            <a:r>
              <a:rPr lang="en-US" sz="2000" dirty="0"/>
              <a:t>Optional, during non-class weeks, sessions will be held on Mondays</a:t>
            </a:r>
          </a:p>
          <a:p>
            <a:pPr lvl="3">
              <a:defRPr sz="1800"/>
            </a:pPr>
            <a:r>
              <a:rPr lang="en-US" sz="2000" dirty="0"/>
              <a:t>27/1(AC), 3/2(AC), 10/2(SX), 17/2(SX) – 8:00-9:00 PM HK time</a:t>
            </a:r>
          </a:p>
          <a:p>
            <a:pPr marL="228600" lvl="2">
              <a:defRPr sz="1800"/>
            </a:pPr>
            <a:r>
              <a:rPr lang="en-US" sz="1800" dirty="0"/>
              <a:t>Please submit questions in advance via emails (until the day before)</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Shape 77"/>
          <p:cNvSpPr>
            <a:spLocks noGrp="1"/>
          </p:cNvSpPr>
          <p:nvPr>
            <p:ph type="title"/>
          </p:nvPr>
        </p:nvSpPr>
        <p:spPr>
          <a:xfrm>
            <a:off x="457198" y="854545"/>
            <a:ext cx="8229600" cy="443198"/>
          </a:xfrm>
          <a:prstGeom prst="rect">
            <a:avLst/>
          </a:prstGeom>
        </p:spPr>
        <p:txBody>
          <a:bodyPr>
            <a:spAutoFit/>
          </a:bodyPr>
          <a:lstStyle>
            <a:lvl1pPr>
              <a:defRPr spc="-100"/>
            </a:lvl1pPr>
          </a:lstStyle>
          <a:p>
            <a:pPr lvl="0">
              <a:defRPr sz="1800" spc="0">
                <a:solidFill>
                  <a:srgbClr val="000000"/>
                </a:solidFill>
              </a:defRPr>
            </a:pPr>
            <a:r>
              <a:rPr sz="3200" spc="-100" dirty="0">
                <a:solidFill>
                  <a:srgbClr val="820E09"/>
                </a:solidFill>
              </a:rPr>
              <a:t>Housekeeping</a:t>
            </a:r>
            <a:r>
              <a:rPr lang="en-HK" sz="3200" spc="-100" dirty="0">
                <a:solidFill>
                  <a:srgbClr val="820E09"/>
                </a:solidFill>
              </a:rPr>
              <a:t> Information</a:t>
            </a:r>
            <a:endParaRPr sz="3200" spc="-100" dirty="0">
              <a:solidFill>
                <a:srgbClr val="820E09"/>
              </a:solidFill>
            </a:endParaRPr>
          </a:p>
        </p:txBody>
      </p:sp>
      <p:sp>
        <p:nvSpPr>
          <p:cNvPr id="78" name="Shape 78"/>
          <p:cNvSpPr>
            <a:spLocks noGrp="1"/>
          </p:cNvSpPr>
          <p:nvPr>
            <p:ph type="body" idx="1"/>
          </p:nvPr>
        </p:nvSpPr>
        <p:spPr>
          <a:xfrm>
            <a:off x="457198" y="1395714"/>
            <a:ext cx="8229601" cy="3801041"/>
          </a:xfrm>
          <a:prstGeom prst="rect">
            <a:avLst/>
          </a:prstGeom>
        </p:spPr>
        <p:txBody>
          <a:bodyPr>
            <a:spAutoFit/>
          </a:bodyPr>
          <a:lstStyle/>
          <a:p>
            <a:pPr lvl="0">
              <a:defRPr sz="1800"/>
            </a:pPr>
            <a:r>
              <a:rPr sz="2000" b="1" dirty="0"/>
              <a:t>Assignment </a:t>
            </a:r>
            <a:r>
              <a:rPr lang="en-US" sz="2000" b="1" dirty="0"/>
              <a:t>1 due tomorrow morning!</a:t>
            </a:r>
            <a:r>
              <a:rPr lang="en-US" sz="2000" dirty="0"/>
              <a:t> (And Assignment 2 shortly thereafter). Check Canvas dates, start working earlier rather than later. Work (and struggle) together.</a:t>
            </a:r>
          </a:p>
          <a:p>
            <a:pPr lvl="0">
              <a:defRPr sz="1800"/>
            </a:pPr>
            <a:endParaRPr lang="en-US" sz="2000" dirty="0"/>
          </a:p>
          <a:p>
            <a:pPr lvl="0">
              <a:defRPr sz="1800"/>
            </a:pPr>
            <a:r>
              <a:rPr lang="en-US" sz="2000" b="1" dirty="0"/>
              <a:t>WE ARE HERE TO HELP!</a:t>
            </a:r>
          </a:p>
          <a:p>
            <a:pPr lvl="0">
              <a:defRPr sz="1800"/>
            </a:pPr>
            <a:r>
              <a:rPr lang="en-US" sz="2000" dirty="0"/>
              <a:t>If you have any question, let us know.</a:t>
            </a:r>
          </a:p>
          <a:p>
            <a:pPr lvl="0">
              <a:defRPr sz="1800"/>
            </a:pPr>
            <a:endParaRPr lang="en-US" sz="2000" dirty="0"/>
          </a:p>
          <a:p>
            <a:pPr>
              <a:defRPr sz="1800"/>
            </a:pPr>
            <a:r>
              <a:rPr lang="en-US" sz="2200" b="1" dirty="0"/>
              <a:t>Roadmap</a:t>
            </a:r>
          </a:p>
          <a:p>
            <a:pPr>
              <a:defRPr sz="1800"/>
            </a:pPr>
            <a:r>
              <a:rPr lang="en-US" sz="2000" dirty="0"/>
              <a:t>Know </a:t>
            </a:r>
            <a:r>
              <a:rPr lang="en-US" sz="2000" b="1" dirty="0"/>
              <a:t>Journal Entries</a:t>
            </a:r>
            <a:r>
              <a:rPr lang="en-US" sz="2000" dirty="0"/>
              <a:t>, </a:t>
            </a:r>
            <a:r>
              <a:rPr lang="en-US" sz="2000" b="1" dirty="0"/>
              <a:t>T-Accounts</a:t>
            </a:r>
            <a:r>
              <a:rPr lang="en-US" sz="2000" dirty="0"/>
              <a:t>, and Composition of the </a:t>
            </a:r>
            <a:r>
              <a:rPr lang="en-US" sz="2000" b="1" dirty="0"/>
              <a:t>three Financial Statements</a:t>
            </a:r>
            <a:r>
              <a:rPr lang="en-US" sz="2000" dirty="0"/>
              <a:t> very well before Week 2</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xfrm>
            <a:off x="457200" y="1153825"/>
            <a:ext cx="8248651" cy="443198"/>
          </a:xfrm>
          <a:prstGeom prst="rect">
            <a:avLst/>
          </a:prstGeom>
        </p:spPr>
        <p:txBody>
          <a:bodyPr>
            <a:spAutoFit/>
          </a:bodyPr>
          <a:lstStyle>
            <a:lvl1pPr>
              <a:defRPr spc="-100"/>
            </a:lvl1pPr>
          </a:lstStyle>
          <a:p>
            <a:pPr lvl="0">
              <a:defRPr sz="1800" spc="0">
                <a:solidFill>
                  <a:srgbClr val="000000"/>
                </a:solidFill>
              </a:defRPr>
            </a:pPr>
            <a:r>
              <a:rPr lang="en-US" sz="3200" spc="-100" dirty="0">
                <a:solidFill>
                  <a:srgbClr val="820E09"/>
                </a:solidFill>
              </a:rPr>
              <a:t>Review of </a:t>
            </a:r>
            <a:r>
              <a:rPr sz="3200" spc="-100" dirty="0">
                <a:solidFill>
                  <a:srgbClr val="820E09"/>
                </a:solidFill>
              </a:rPr>
              <a:t>Quiz</a:t>
            </a:r>
            <a:r>
              <a:rPr lang="en-US" sz="3200" spc="-100" dirty="0">
                <a:solidFill>
                  <a:srgbClr val="820E09"/>
                </a:solidFill>
              </a:rPr>
              <a:t> 1</a:t>
            </a:r>
            <a:endParaRPr sz="3200" spc="-100" dirty="0">
              <a:solidFill>
                <a:srgbClr val="820E09"/>
              </a:solidFill>
            </a:endParaRPr>
          </a:p>
        </p:txBody>
      </p:sp>
      <p:sp>
        <p:nvSpPr>
          <p:cNvPr id="73" name="Shape 73"/>
          <p:cNvSpPr/>
          <p:nvPr/>
        </p:nvSpPr>
        <p:spPr>
          <a:xfrm>
            <a:off x="457200" y="1597023"/>
            <a:ext cx="8229600" cy="361637"/>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lvl="0">
              <a:spcBef>
                <a:spcPts val="900"/>
              </a:spcBef>
              <a:defRPr sz="1800"/>
            </a:pPr>
            <a:endParaRPr sz="800" u="sng" dirty="0">
              <a:latin typeface="+mj-lt"/>
              <a:ea typeface="+mj-ea"/>
              <a:cs typeface="+mj-cs"/>
              <a:sym typeface="Arial Bold"/>
            </a:endParaRPr>
          </a:p>
          <a:p>
            <a:pPr lvl="0">
              <a:spcBef>
                <a:spcPts val="900"/>
              </a:spcBef>
              <a:defRPr sz="1800"/>
            </a:pPr>
            <a:endParaRPr sz="800" dirty="0">
              <a:latin typeface="+mn-lt"/>
              <a:ea typeface="+mn-ea"/>
              <a:cs typeface="+mn-cs"/>
              <a:sym typeface="Arial"/>
            </a:endParaRPr>
          </a:p>
        </p:txBody>
      </p:sp>
      <p:sp>
        <p:nvSpPr>
          <p:cNvPr id="4" name="Text Placeholder 2"/>
          <p:cNvSpPr>
            <a:spLocks noGrp="1"/>
          </p:cNvSpPr>
          <p:nvPr>
            <p:ph type="body" idx="1"/>
          </p:nvPr>
        </p:nvSpPr>
        <p:spPr>
          <a:xfrm>
            <a:off x="476250" y="1728597"/>
            <a:ext cx="8229601" cy="1946687"/>
          </a:xfrm>
        </p:spPr>
        <p:txBody>
          <a:bodyPr>
            <a:spAutoFit/>
          </a:bodyPr>
          <a:lstStyle/>
          <a:p>
            <a:pPr marL="457200" indent="-457200">
              <a:buFont typeface="Wingdings" panose="05000000000000000000" pitchFamily="2" charset="2"/>
              <a:buChar char="§"/>
            </a:pPr>
            <a:r>
              <a:rPr lang="en-US" dirty="0"/>
              <a:t>Overall comments</a:t>
            </a:r>
          </a:p>
          <a:p>
            <a:pPr marL="457200" indent="-457200">
              <a:buFont typeface="Wingdings" panose="05000000000000000000" pitchFamily="2" charset="2"/>
              <a:buChar char="§"/>
            </a:pPr>
            <a:r>
              <a:rPr lang="en-US" dirty="0"/>
              <a:t>Q1(a) – (c) are generally OK</a:t>
            </a:r>
          </a:p>
          <a:p>
            <a:pPr marL="457200" indent="-457200">
              <a:buFont typeface="Wingdings" panose="05000000000000000000" pitchFamily="2" charset="2"/>
              <a:buChar char="§"/>
            </a:pPr>
            <a:r>
              <a:rPr lang="en-US" dirty="0"/>
              <a:t>Problem starts from Q1(d)…</a:t>
            </a:r>
          </a:p>
          <a:p>
            <a:pPr marL="457200" indent="-457200">
              <a:buFont typeface="Wingdings" panose="05000000000000000000" pitchFamily="2" charset="2"/>
              <a:buChar char="§"/>
            </a:pPr>
            <a:r>
              <a:rPr lang="en-US" dirty="0"/>
              <a:t>Details are important in accounting</a:t>
            </a:r>
          </a:p>
        </p:txBody>
      </p:sp>
    </p:spTree>
    <p:extLst>
      <p:ext uri="{BB962C8B-B14F-4D97-AF65-F5344CB8AC3E}">
        <p14:creationId xmlns:p14="http://schemas.microsoft.com/office/powerpoint/2010/main" val="3150824232"/>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843167"/>
            <a:ext cx="8229600" cy="443198"/>
          </a:xfrm>
        </p:spPr>
        <p:txBody>
          <a:bodyPr>
            <a:spAutoFit/>
          </a:bodyPr>
          <a:lstStyle/>
          <a:p>
            <a:r>
              <a:rPr lang="en-US" dirty="0"/>
              <a:t>Quiz</a:t>
            </a:r>
          </a:p>
        </p:txBody>
      </p:sp>
      <p:sp>
        <p:nvSpPr>
          <p:cNvPr id="3" name="Text Placeholder 2"/>
          <p:cNvSpPr>
            <a:spLocks noGrp="1"/>
          </p:cNvSpPr>
          <p:nvPr>
            <p:ph type="body" idx="1"/>
          </p:nvPr>
        </p:nvSpPr>
        <p:spPr>
          <a:xfrm>
            <a:off x="457199" y="1286365"/>
            <a:ext cx="8229601" cy="792525"/>
          </a:xfrm>
        </p:spPr>
        <p:txBody>
          <a:bodyPr>
            <a:spAutoFit/>
          </a:bodyPr>
          <a:lstStyle/>
          <a:p>
            <a:r>
              <a:rPr lang="en-US" dirty="0"/>
              <a:t>Question 1d</a:t>
            </a:r>
            <a:endParaRPr lang="he-IL" sz="2100" dirty="0"/>
          </a:p>
          <a:p>
            <a:r>
              <a:rPr lang="en-US" sz="1800" dirty="0">
                <a:effectLst/>
                <a:latin typeface="Times New Roman" panose="02020603050405020304" pitchFamily="18" charset="0"/>
                <a:ea typeface="PMingLiU" panose="020B0604030504040204" pitchFamily="18" charset="-120"/>
              </a:rPr>
              <a:t> </a:t>
            </a:r>
          </a:p>
        </p:txBody>
      </p:sp>
      <p:sp>
        <p:nvSpPr>
          <p:cNvPr id="4" name="TextBox 3"/>
          <p:cNvSpPr txBox="1"/>
          <p:nvPr/>
        </p:nvSpPr>
        <p:spPr>
          <a:xfrm>
            <a:off x="457198" y="2893198"/>
            <a:ext cx="8081160" cy="3334246"/>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100" b="1" u="sng" dirty="0">
                <a:solidFill>
                  <a:srgbClr val="FF0000"/>
                </a:solidFill>
                <a:latin typeface="+mn-lt"/>
              </a:rPr>
              <a:t>No Entry</a:t>
            </a:r>
          </a:p>
          <a:p>
            <a:endParaRPr lang="en-US" sz="2100" dirty="0">
              <a:solidFill>
                <a:srgbClr val="FF0000"/>
              </a:solidFill>
              <a:latin typeface="+mn-lt"/>
            </a:endParaRPr>
          </a:p>
          <a:p>
            <a:r>
              <a:rPr lang="en-US" sz="2100" dirty="0">
                <a:solidFill>
                  <a:srgbClr val="FF0000"/>
                </a:solidFill>
                <a:latin typeface="+mn-lt"/>
              </a:rPr>
              <a:t>Because:</a:t>
            </a:r>
          </a:p>
          <a:p>
            <a:endParaRPr lang="en-US" sz="2100" dirty="0">
              <a:solidFill>
                <a:srgbClr val="FF0000"/>
              </a:solidFill>
              <a:latin typeface="+mn-lt"/>
            </a:endParaRPr>
          </a:p>
          <a:p>
            <a:pPr marL="342900" indent="-342900">
              <a:buFont typeface="Wingdings" panose="05000000000000000000" pitchFamily="2" charset="2"/>
              <a:buChar char="§"/>
            </a:pPr>
            <a:r>
              <a:rPr lang="en-US" sz="2100" dirty="0">
                <a:solidFill>
                  <a:srgbClr val="FF0000"/>
                </a:solidFill>
                <a:latin typeface="+mn-lt"/>
              </a:rPr>
              <a:t>Receiving an order does NOT equal to Sales actually happen</a:t>
            </a:r>
          </a:p>
          <a:p>
            <a:pPr marL="342900" indent="-342900">
              <a:buFont typeface="Wingdings" panose="05000000000000000000" pitchFamily="2" charset="2"/>
              <a:buChar char="§"/>
            </a:pPr>
            <a:r>
              <a:rPr lang="en-US" sz="2100" dirty="0">
                <a:solidFill>
                  <a:srgbClr val="FF0000"/>
                </a:solidFill>
                <a:latin typeface="+mn-lt"/>
              </a:rPr>
              <a:t>Sales revenue is usually recognized when order fulfills (or patricianly fulfills)</a:t>
            </a:r>
          </a:p>
          <a:p>
            <a:pPr marL="342900" indent="-342900">
              <a:buFont typeface="Wingdings" panose="05000000000000000000" pitchFamily="2" charset="2"/>
              <a:buChar char="§"/>
            </a:pPr>
            <a:r>
              <a:rPr lang="en-US" sz="2100" dirty="0">
                <a:solidFill>
                  <a:srgbClr val="FF0000"/>
                </a:solidFill>
                <a:latin typeface="+mn-lt"/>
              </a:rPr>
              <a:t>No product is delivered, and </a:t>
            </a:r>
          </a:p>
          <a:p>
            <a:pPr marL="342900" indent="-342900">
              <a:buFont typeface="Wingdings" panose="05000000000000000000" pitchFamily="2" charset="2"/>
              <a:buChar char="§"/>
            </a:pPr>
            <a:r>
              <a:rPr lang="en-US" sz="2100" dirty="0">
                <a:solidFill>
                  <a:srgbClr val="FF0000"/>
                </a:solidFill>
                <a:latin typeface="+mn-lt"/>
              </a:rPr>
              <a:t>No cash is received either</a:t>
            </a:r>
          </a:p>
          <a:p>
            <a:pPr marL="342900" indent="-342900">
              <a:buFont typeface="Wingdings" panose="05000000000000000000" pitchFamily="2" charset="2"/>
              <a:buChar char="§"/>
            </a:pPr>
            <a:endParaRPr lang="en-US" sz="2100" dirty="0">
              <a:solidFill>
                <a:srgbClr val="FF0000"/>
              </a:solidFill>
              <a:latin typeface="+mn-lt"/>
            </a:endParaRPr>
          </a:p>
        </p:txBody>
      </p:sp>
      <p:sp>
        <p:nvSpPr>
          <p:cNvPr id="8" name="Rectangle 7"/>
          <p:cNvSpPr/>
          <p:nvPr/>
        </p:nvSpPr>
        <p:spPr>
          <a:xfrm>
            <a:off x="457198" y="1682627"/>
            <a:ext cx="8510531" cy="1200329"/>
          </a:xfrm>
          <a:prstGeom prst="rect">
            <a:avLst/>
          </a:prstGeom>
        </p:spPr>
        <p:txBody>
          <a:bodyPr wrap="square">
            <a:spAutoFit/>
          </a:bodyPr>
          <a:lstStyle/>
          <a:p>
            <a:pPr marR="0" lvl="0">
              <a:spcBef>
                <a:spcPts val="0"/>
              </a:spcBef>
              <a:spcAft>
                <a:spcPts val="0"/>
              </a:spcAft>
            </a:pPr>
            <a:r>
              <a:rPr lang="en-US" sz="2400" dirty="0">
                <a:latin typeface="Times New Roman" panose="02020603050405020304" pitchFamily="18" charset="0"/>
                <a:ea typeface="PMingLiU" panose="020B0604030504040204"/>
              </a:rPr>
              <a:t>During October 2024, DD receives an order to deliver customized products for a sales price of R800,000. No cash is received from the customer. </a:t>
            </a:r>
            <a:r>
              <a:rPr lang="en-US" sz="2400" b="1" dirty="0">
                <a:latin typeface="Times New Roman" panose="02020603050405020304" pitchFamily="18" charset="0"/>
                <a:ea typeface="PMingLiU" panose="020B0604030504040204"/>
              </a:rPr>
              <a:t> (5 points)</a:t>
            </a:r>
            <a:endParaRPr lang="en-US" sz="2400" dirty="0">
              <a:latin typeface="Times New Roman" panose="02020603050405020304" pitchFamily="18" charset="0"/>
              <a:ea typeface="PMingLiU" panose="020B0604030504040204"/>
            </a:endParaRPr>
          </a:p>
        </p:txBody>
      </p:sp>
    </p:spTree>
    <p:extLst>
      <p:ext uri="{BB962C8B-B14F-4D97-AF65-F5344CB8AC3E}">
        <p14:creationId xmlns:p14="http://schemas.microsoft.com/office/powerpoint/2010/main" val="351670842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3167"/>
            <a:ext cx="8229600" cy="443198"/>
          </a:xfrm>
        </p:spPr>
        <p:txBody>
          <a:bodyPr>
            <a:spAutoFit/>
          </a:bodyPr>
          <a:lstStyle/>
          <a:p>
            <a:r>
              <a:rPr lang="en-US" dirty="0"/>
              <a:t>Quiz</a:t>
            </a:r>
          </a:p>
        </p:txBody>
      </p:sp>
      <p:sp>
        <p:nvSpPr>
          <p:cNvPr id="3" name="Text Placeholder 2"/>
          <p:cNvSpPr>
            <a:spLocks noGrp="1"/>
          </p:cNvSpPr>
          <p:nvPr>
            <p:ph type="body" idx="1"/>
          </p:nvPr>
        </p:nvSpPr>
        <p:spPr>
          <a:xfrm>
            <a:off x="457200" y="1286365"/>
            <a:ext cx="8229601" cy="400110"/>
          </a:xfrm>
        </p:spPr>
        <p:txBody>
          <a:bodyPr>
            <a:spAutoFit/>
          </a:bodyPr>
          <a:lstStyle/>
          <a:p>
            <a:r>
              <a:rPr lang="en-US" dirty="0"/>
              <a:t>Question 1e</a:t>
            </a:r>
            <a:endParaRPr lang="en-US" sz="2100" dirty="0"/>
          </a:p>
        </p:txBody>
      </p:sp>
      <p:sp>
        <p:nvSpPr>
          <p:cNvPr id="4" name="TextBox 3"/>
          <p:cNvSpPr txBox="1"/>
          <p:nvPr/>
        </p:nvSpPr>
        <p:spPr>
          <a:xfrm>
            <a:off x="457200" y="3612878"/>
            <a:ext cx="8081160" cy="204158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100" dirty="0">
                <a:solidFill>
                  <a:srgbClr val="FF0000"/>
                </a:solidFill>
                <a:latin typeface="+mn-lt"/>
              </a:rPr>
              <a:t>1.   Dr. Cash	      450,000</a:t>
            </a:r>
          </a:p>
          <a:p>
            <a:r>
              <a:rPr lang="en-US" sz="2100" dirty="0">
                <a:solidFill>
                  <a:srgbClr val="FF0000"/>
                </a:solidFill>
                <a:latin typeface="+mn-lt"/>
              </a:rPr>
              <a:t>		Cr. Revenue				400,000</a:t>
            </a:r>
          </a:p>
          <a:p>
            <a:r>
              <a:rPr lang="en-US" sz="2100" dirty="0">
                <a:solidFill>
                  <a:srgbClr val="FF0000"/>
                </a:solidFill>
                <a:latin typeface="+mn-lt"/>
              </a:rPr>
              <a:t>		Cr. Deferred/Unearned Revenue	50,000</a:t>
            </a:r>
          </a:p>
          <a:p>
            <a:endParaRPr lang="en-US" sz="2100" dirty="0">
              <a:solidFill>
                <a:srgbClr val="FF0000"/>
              </a:solidFill>
              <a:latin typeface="+mn-lt"/>
            </a:endParaRPr>
          </a:p>
          <a:p>
            <a:pPr marL="457200" indent="-457200">
              <a:buAutoNum type="arabicPeriod" startAt="2"/>
            </a:pPr>
            <a:r>
              <a:rPr lang="en-US" sz="2100" dirty="0">
                <a:solidFill>
                  <a:srgbClr val="FF0000"/>
                </a:solidFill>
                <a:latin typeface="+mn-lt"/>
              </a:rPr>
              <a:t>Dr. COGS      150,000</a:t>
            </a:r>
          </a:p>
          <a:p>
            <a:r>
              <a:rPr lang="en-US" sz="2100" dirty="0">
                <a:solidFill>
                  <a:srgbClr val="FF0000"/>
                </a:solidFill>
                <a:latin typeface="+mn-lt"/>
              </a:rPr>
              <a:t>		Cr. Inventory 				150,000</a:t>
            </a:r>
          </a:p>
        </p:txBody>
      </p:sp>
      <p:sp>
        <p:nvSpPr>
          <p:cNvPr id="6" name="Rectangle 5"/>
          <p:cNvSpPr/>
          <p:nvPr/>
        </p:nvSpPr>
        <p:spPr>
          <a:xfrm>
            <a:off x="380081" y="1732123"/>
            <a:ext cx="8389345" cy="1631216"/>
          </a:xfrm>
          <a:prstGeom prst="rect">
            <a:avLst/>
          </a:prstGeom>
        </p:spPr>
        <p:txBody>
          <a:bodyPr wrap="square">
            <a:spAutoFit/>
          </a:bodyPr>
          <a:lstStyle/>
          <a:p>
            <a:pPr marR="0" lvl="0">
              <a:spcBef>
                <a:spcPts val="0"/>
              </a:spcBef>
              <a:spcAft>
                <a:spcPts val="0"/>
              </a:spcAft>
            </a:pPr>
            <a:r>
              <a:rPr lang="en-US" sz="2000" dirty="0">
                <a:latin typeface="Times New Roman" panose="02020603050405020304" pitchFamily="18" charset="0"/>
                <a:ea typeface="PMingLiU" panose="020B0604030504040204"/>
              </a:rPr>
              <a:t>During December 2024, DD fulfills one half of the order received in October by </a:t>
            </a:r>
            <a:r>
              <a:rPr lang="en-US" sz="2000" b="1" u="sng" dirty="0">
                <a:latin typeface="Times New Roman" panose="02020603050405020304" pitchFamily="18" charset="0"/>
                <a:ea typeface="PMingLiU" panose="020B0604030504040204"/>
              </a:rPr>
              <a:t>delivering products</a:t>
            </a:r>
            <a:r>
              <a:rPr lang="en-US" sz="2000" dirty="0">
                <a:latin typeface="Times New Roman" panose="02020603050405020304" pitchFamily="18" charset="0"/>
                <a:ea typeface="PMingLiU" panose="020B0604030504040204"/>
              </a:rPr>
              <a:t> costing R150,000 with a </a:t>
            </a:r>
            <a:r>
              <a:rPr lang="en-US" sz="2000" b="1" u="sng" dirty="0">
                <a:latin typeface="Times New Roman" panose="02020603050405020304" pitchFamily="18" charset="0"/>
                <a:ea typeface="PMingLiU" panose="020B0604030504040204"/>
              </a:rPr>
              <a:t>sales price</a:t>
            </a:r>
            <a:r>
              <a:rPr lang="en-US" sz="2000" dirty="0">
                <a:latin typeface="Times New Roman" panose="02020603050405020304" pitchFamily="18" charset="0"/>
                <a:ea typeface="PMingLiU" panose="020B0604030504040204"/>
              </a:rPr>
              <a:t> of R400,000. The customer pays DD R450,000 consisting of R400,000 for half of the order fulfilled and </a:t>
            </a:r>
            <a:r>
              <a:rPr lang="en-US" sz="2000" b="1" u="sng" dirty="0">
                <a:solidFill>
                  <a:schemeClr val="tx1"/>
                </a:solidFill>
                <a:latin typeface="Times New Roman" panose="02020603050405020304" pitchFamily="18" charset="0"/>
                <a:ea typeface="PMingLiU" panose="020B0604030504040204"/>
              </a:rPr>
              <a:t>R50,000 as a </a:t>
            </a:r>
            <a:r>
              <a:rPr lang="en-US" sz="2000" b="1" u="sng" dirty="0" err="1">
                <a:solidFill>
                  <a:schemeClr val="tx1"/>
                </a:solidFill>
                <a:latin typeface="Times New Roman" panose="02020603050405020304" pitchFamily="18" charset="0"/>
                <a:ea typeface="PMingLiU" panose="020B0604030504040204"/>
              </a:rPr>
              <a:t>downpayment</a:t>
            </a:r>
            <a:r>
              <a:rPr lang="en-US" sz="2000" dirty="0">
                <a:latin typeface="Times New Roman" panose="02020603050405020304" pitchFamily="18" charset="0"/>
                <a:ea typeface="PMingLiU" panose="020B0604030504040204"/>
              </a:rPr>
              <a:t> for the other half of the order that will be fulfilled in the future. </a:t>
            </a:r>
            <a:r>
              <a:rPr lang="en-US" sz="2000" b="1" dirty="0">
                <a:latin typeface="Times New Roman" panose="02020603050405020304" pitchFamily="18" charset="0"/>
                <a:ea typeface="PMingLiU" panose="020B0604030504040204"/>
              </a:rPr>
              <a:t>(5 points)</a:t>
            </a:r>
            <a:endParaRPr lang="en-US" sz="2000" dirty="0">
              <a:latin typeface="Times New Roman" panose="02020603050405020304" pitchFamily="18" charset="0"/>
              <a:ea typeface="PMingLiU" panose="020B0604030504040204"/>
            </a:endParaRPr>
          </a:p>
        </p:txBody>
      </p:sp>
    </p:spTree>
    <p:extLst>
      <p:ext uri="{BB962C8B-B14F-4D97-AF65-F5344CB8AC3E}">
        <p14:creationId xmlns:p14="http://schemas.microsoft.com/office/powerpoint/2010/main" val="3952944149"/>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AFB6C-9FFC-45CD-C75F-1C2617079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313DF-B8DB-390F-975A-ECB5C2507784}"/>
              </a:ext>
            </a:extLst>
          </p:cNvPr>
          <p:cNvSpPr>
            <a:spLocks noGrp="1"/>
          </p:cNvSpPr>
          <p:nvPr>
            <p:ph type="title"/>
          </p:nvPr>
        </p:nvSpPr>
        <p:spPr>
          <a:xfrm>
            <a:off x="457200" y="843167"/>
            <a:ext cx="8229600" cy="443198"/>
          </a:xfrm>
        </p:spPr>
        <p:txBody>
          <a:bodyPr>
            <a:spAutoFit/>
          </a:bodyPr>
          <a:lstStyle/>
          <a:p>
            <a:r>
              <a:rPr lang="en-US" dirty="0"/>
              <a:t>Quiz</a:t>
            </a:r>
          </a:p>
        </p:txBody>
      </p:sp>
      <p:sp>
        <p:nvSpPr>
          <p:cNvPr id="3" name="Text Placeholder 2">
            <a:extLst>
              <a:ext uri="{FF2B5EF4-FFF2-40B4-BE49-F238E27FC236}">
                <a16:creationId xmlns:a16="http://schemas.microsoft.com/office/drawing/2014/main" id="{43C4CFF3-4F32-BEE8-D857-75A55D0B1626}"/>
              </a:ext>
            </a:extLst>
          </p:cNvPr>
          <p:cNvSpPr>
            <a:spLocks noGrp="1"/>
          </p:cNvSpPr>
          <p:nvPr>
            <p:ph type="body" idx="1"/>
          </p:nvPr>
        </p:nvSpPr>
        <p:spPr>
          <a:xfrm>
            <a:off x="457200" y="1286365"/>
            <a:ext cx="8229601" cy="400110"/>
          </a:xfrm>
        </p:spPr>
        <p:txBody>
          <a:bodyPr>
            <a:spAutoFit/>
          </a:bodyPr>
          <a:lstStyle/>
          <a:p>
            <a:r>
              <a:rPr lang="en-US" dirty="0"/>
              <a:t>Question 1f</a:t>
            </a:r>
            <a:endParaRPr lang="en-US" sz="2100" dirty="0"/>
          </a:p>
        </p:txBody>
      </p:sp>
      <p:sp>
        <p:nvSpPr>
          <p:cNvPr id="4" name="TextBox 3">
            <a:extLst>
              <a:ext uri="{FF2B5EF4-FFF2-40B4-BE49-F238E27FC236}">
                <a16:creationId xmlns:a16="http://schemas.microsoft.com/office/drawing/2014/main" id="{33BDDA4E-D902-89F4-5BDB-856A7D128FCF}"/>
              </a:ext>
            </a:extLst>
          </p:cNvPr>
          <p:cNvSpPr txBox="1"/>
          <p:nvPr/>
        </p:nvSpPr>
        <p:spPr>
          <a:xfrm>
            <a:off x="531420" y="3440284"/>
            <a:ext cx="8081160" cy="139525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100" dirty="0">
                <a:solidFill>
                  <a:srgbClr val="FF0000"/>
                </a:solidFill>
                <a:latin typeface="+mn-lt"/>
              </a:rPr>
              <a:t>	Dr. Cash		1,100,000 (Bal.)</a:t>
            </a:r>
          </a:p>
          <a:p>
            <a:r>
              <a:rPr lang="en-US" sz="2100" dirty="0">
                <a:solidFill>
                  <a:srgbClr val="FF0000"/>
                </a:solidFill>
                <a:latin typeface="+mn-lt"/>
              </a:rPr>
              <a:t>	</a:t>
            </a:r>
          </a:p>
          <a:p>
            <a:r>
              <a:rPr lang="en-US" sz="2100" dirty="0">
                <a:solidFill>
                  <a:srgbClr val="FF0000"/>
                </a:solidFill>
                <a:latin typeface="+mn-lt"/>
              </a:rPr>
              <a:t>		Cr. Land		800,000</a:t>
            </a:r>
          </a:p>
          <a:p>
            <a:r>
              <a:rPr lang="en-US" sz="2100" dirty="0">
                <a:solidFill>
                  <a:srgbClr val="FF0000"/>
                </a:solidFill>
                <a:latin typeface="+mn-lt"/>
              </a:rPr>
              <a:t>		Cr. Gain on sale	300,000</a:t>
            </a:r>
          </a:p>
        </p:txBody>
      </p:sp>
      <p:sp>
        <p:nvSpPr>
          <p:cNvPr id="6" name="Rectangle 5"/>
          <p:cNvSpPr/>
          <p:nvPr/>
        </p:nvSpPr>
        <p:spPr>
          <a:xfrm>
            <a:off x="380082" y="1686475"/>
            <a:ext cx="8306718" cy="1569660"/>
          </a:xfrm>
          <a:prstGeom prst="rect">
            <a:avLst/>
          </a:prstGeom>
        </p:spPr>
        <p:txBody>
          <a:bodyPr wrap="square">
            <a:spAutoFit/>
          </a:bodyPr>
          <a:lstStyle/>
          <a:p>
            <a:pPr marR="0" lvl="0">
              <a:spcBef>
                <a:spcPts val="0"/>
              </a:spcBef>
              <a:spcAft>
                <a:spcPts val="0"/>
              </a:spcAft>
            </a:pPr>
            <a:r>
              <a:rPr lang="en-US" sz="2400" dirty="0">
                <a:latin typeface="Times New Roman" panose="02020603050405020304" pitchFamily="18" charset="0"/>
                <a:ea typeface="PMingLiU" panose="020B0604030504040204"/>
              </a:rPr>
              <a:t>During December 2024, DD sells the land purchased in transaction (a) above at a pre-tax Gain of R300,000. Note that the land was originally purchased for R800,000 in June 2024. The sale of the land was a cash sale. </a:t>
            </a:r>
            <a:r>
              <a:rPr lang="en-US" sz="2400" b="1" dirty="0">
                <a:latin typeface="Times New Roman" panose="02020603050405020304" pitchFamily="18" charset="0"/>
                <a:ea typeface="PMingLiU" panose="020B0604030504040204"/>
              </a:rPr>
              <a:t>(5 points)</a:t>
            </a:r>
            <a:endParaRPr lang="en-US" sz="2400" dirty="0">
              <a:latin typeface="Times New Roman" panose="02020603050405020304" pitchFamily="18" charset="0"/>
              <a:ea typeface="PMingLiU" panose="020B0604030504040204"/>
            </a:endParaRPr>
          </a:p>
        </p:txBody>
      </p:sp>
    </p:spTree>
    <p:extLst>
      <p:ext uri="{BB962C8B-B14F-4D97-AF65-F5344CB8AC3E}">
        <p14:creationId xmlns:p14="http://schemas.microsoft.com/office/powerpoint/2010/main" val="256940405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AFB6C-9FFC-45CD-C75F-1C2617079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313DF-B8DB-390F-975A-ECB5C2507784}"/>
              </a:ext>
            </a:extLst>
          </p:cNvPr>
          <p:cNvSpPr>
            <a:spLocks noGrp="1"/>
          </p:cNvSpPr>
          <p:nvPr>
            <p:ph type="title"/>
          </p:nvPr>
        </p:nvSpPr>
        <p:spPr>
          <a:xfrm>
            <a:off x="457200" y="843167"/>
            <a:ext cx="8229600" cy="443198"/>
          </a:xfrm>
        </p:spPr>
        <p:txBody>
          <a:bodyPr>
            <a:spAutoFit/>
          </a:bodyPr>
          <a:lstStyle/>
          <a:p>
            <a:r>
              <a:rPr lang="en-US" dirty="0"/>
              <a:t>Quiz</a:t>
            </a:r>
          </a:p>
        </p:txBody>
      </p:sp>
      <p:sp>
        <p:nvSpPr>
          <p:cNvPr id="3" name="Text Placeholder 2">
            <a:extLst>
              <a:ext uri="{FF2B5EF4-FFF2-40B4-BE49-F238E27FC236}">
                <a16:creationId xmlns:a16="http://schemas.microsoft.com/office/drawing/2014/main" id="{43C4CFF3-4F32-BEE8-D857-75A55D0B1626}"/>
              </a:ext>
            </a:extLst>
          </p:cNvPr>
          <p:cNvSpPr>
            <a:spLocks noGrp="1"/>
          </p:cNvSpPr>
          <p:nvPr>
            <p:ph type="body" idx="1"/>
          </p:nvPr>
        </p:nvSpPr>
        <p:spPr>
          <a:xfrm>
            <a:off x="457200" y="1286365"/>
            <a:ext cx="8229601" cy="400110"/>
          </a:xfrm>
        </p:spPr>
        <p:txBody>
          <a:bodyPr>
            <a:spAutoFit/>
          </a:bodyPr>
          <a:lstStyle/>
          <a:p>
            <a:r>
              <a:rPr lang="en-US" dirty="0"/>
              <a:t>Question 1g</a:t>
            </a:r>
            <a:endParaRPr lang="en-US" sz="2100" dirty="0"/>
          </a:p>
        </p:txBody>
      </p:sp>
      <p:sp>
        <p:nvSpPr>
          <p:cNvPr id="4" name="TextBox 3">
            <a:extLst>
              <a:ext uri="{FF2B5EF4-FFF2-40B4-BE49-F238E27FC236}">
                <a16:creationId xmlns:a16="http://schemas.microsoft.com/office/drawing/2014/main" id="{33BDDA4E-D902-89F4-5BDB-856A7D128FCF}"/>
              </a:ext>
            </a:extLst>
          </p:cNvPr>
          <p:cNvSpPr txBox="1"/>
          <p:nvPr/>
        </p:nvSpPr>
        <p:spPr>
          <a:xfrm>
            <a:off x="531420" y="3429701"/>
            <a:ext cx="8381226" cy="1395254"/>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100" dirty="0">
                <a:solidFill>
                  <a:srgbClr val="FF0000"/>
                </a:solidFill>
                <a:latin typeface="+mn-lt"/>
              </a:rPr>
              <a:t>	Dr. Income Tax Exp.    152,000</a:t>
            </a:r>
          </a:p>
          <a:p>
            <a:r>
              <a:rPr lang="en-US" sz="2100" dirty="0">
                <a:solidFill>
                  <a:srgbClr val="FF0000"/>
                </a:solidFill>
                <a:latin typeface="+mn-lt"/>
              </a:rPr>
              <a:t>	</a:t>
            </a:r>
          </a:p>
          <a:p>
            <a:r>
              <a:rPr lang="en-US" sz="2100" dirty="0">
                <a:solidFill>
                  <a:srgbClr val="FF0000"/>
                </a:solidFill>
                <a:latin typeface="+mn-lt"/>
              </a:rPr>
              <a:t>		Cr. </a:t>
            </a:r>
            <a:r>
              <a:rPr lang="en-US" sz="2100" b="1" u="sng" dirty="0">
                <a:solidFill>
                  <a:srgbClr val="FF0000"/>
                </a:solidFill>
                <a:latin typeface="+mn-lt"/>
              </a:rPr>
              <a:t>Cash</a:t>
            </a:r>
            <a:r>
              <a:rPr lang="en-US" sz="2100" dirty="0">
                <a:solidFill>
                  <a:srgbClr val="FF0000"/>
                </a:solidFill>
                <a:latin typeface="+mn-lt"/>
              </a:rPr>
              <a:t>		152,000</a:t>
            </a:r>
          </a:p>
          <a:p>
            <a:r>
              <a:rPr lang="en-US" sz="2100" dirty="0">
                <a:solidFill>
                  <a:srgbClr val="FF0000"/>
                </a:solidFill>
                <a:latin typeface="+mn-lt"/>
              </a:rPr>
              <a:t>		</a:t>
            </a:r>
          </a:p>
        </p:txBody>
      </p:sp>
      <p:sp>
        <p:nvSpPr>
          <p:cNvPr id="7" name="Rectangle 6"/>
          <p:cNvSpPr/>
          <p:nvPr/>
        </p:nvSpPr>
        <p:spPr>
          <a:xfrm>
            <a:off x="358048" y="1716735"/>
            <a:ext cx="8554598" cy="1323439"/>
          </a:xfrm>
          <a:prstGeom prst="rect">
            <a:avLst/>
          </a:prstGeom>
        </p:spPr>
        <p:txBody>
          <a:bodyPr wrap="square">
            <a:spAutoFit/>
          </a:bodyPr>
          <a:lstStyle/>
          <a:p>
            <a:r>
              <a:rPr lang="en-US" sz="2000" dirty="0">
                <a:latin typeface="Times New Roman" panose="02020603050405020304" pitchFamily="18" charset="0"/>
                <a:ea typeface="PMingLiU" panose="020B0604030504040204"/>
              </a:rPr>
              <a:t>At the end of fiscal year 2024, i.e., on December 31, 2024, DD recognizes income taxes at a rate of 16% of any income before taxes. Any taxes owed are paid in cash at the end of fiscal year 2024. Before making this journal entry, you may find completing Question 2 below useful for calculating income tax expense. </a:t>
            </a:r>
            <a:endParaRPr lang="en-US" sz="2000" dirty="0"/>
          </a:p>
        </p:txBody>
      </p:sp>
    </p:spTree>
    <p:extLst>
      <p:ext uri="{BB962C8B-B14F-4D97-AF65-F5344CB8AC3E}">
        <p14:creationId xmlns:p14="http://schemas.microsoft.com/office/powerpoint/2010/main" val="292949610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AFB6C-9FFC-45CD-C75F-1C2617079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313DF-B8DB-390F-975A-ECB5C2507784}"/>
              </a:ext>
            </a:extLst>
          </p:cNvPr>
          <p:cNvSpPr>
            <a:spLocks noGrp="1"/>
          </p:cNvSpPr>
          <p:nvPr>
            <p:ph type="title"/>
          </p:nvPr>
        </p:nvSpPr>
        <p:spPr>
          <a:xfrm>
            <a:off x="457200" y="843167"/>
            <a:ext cx="8229600" cy="443198"/>
          </a:xfrm>
        </p:spPr>
        <p:txBody>
          <a:bodyPr>
            <a:spAutoFit/>
          </a:bodyPr>
          <a:lstStyle/>
          <a:p>
            <a:r>
              <a:rPr lang="en-US" dirty="0"/>
              <a:t>Journal Entries</a:t>
            </a:r>
          </a:p>
        </p:txBody>
      </p:sp>
      <p:sp>
        <p:nvSpPr>
          <p:cNvPr id="3" name="Text Placeholder 2">
            <a:extLst>
              <a:ext uri="{FF2B5EF4-FFF2-40B4-BE49-F238E27FC236}">
                <a16:creationId xmlns:a16="http://schemas.microsoft.com/office/drawing/2014/main" id="{43C4CFF3-4F32-BEE8-D857-75A55D0B1626}"/>
              </a:ext>
            </a:extLst>
          </p:cNvPr>
          <p:cNvSpPr>
            <a:spLocks noGrp="1"/>
          </p:cNvSpPr>
          <p:nvPr>
            <p:ph type="body" idx="1"/>
          </p:nvPr>
        </p:nvSpPr>
        <p:spPr>
          <a:xfrm>
            <a:off x="457200" y="1305790"/>
            <a:ext cx="8229601" cy="323165"/>
          </a:xfrm>
        </p:spPr>
        <p:txBody>
          <a:bodyPr>
            <a:spAutoFit/>
          </a:bodyPr>
          <a:lstStyle/>
          <a:p>
            <a:pPr marL="342900" indent="-342900">
              <a:buFont typeface="Wingdings" panose="05000000000000000000" pitchFamily="2" charset="2"/>
              <a:buChar char="§"/>
            </a:pPr>
            <a:r>
              <a:rPr lang="en-US" sz="2100" b="1" dirty="0"/>
              <a:t>Double entries: Dr. = Cr. always</a:t>
            </a:r>
          </a:p>
        </p:txBody>
      </p:sp>
      <p:sp>
        <p:nvSpPr>
          <p:cNvPr id="4" name="TextBox 3">
            <a:extLst>
              <a:ext uri="{FF2B5EF4-FFF2-40B4-BE49-F238E27FC236}">
                <a16:creationId xmlns:a16="http://schemas.microsoft.com/office/drawing/2014/main" id="{33BDDA4E-D902-89F4-5BDB-856A7D128FCF}"/>
              </a:ext>
            </a:extLst>
          </p:cNvPr>
          <p:cNvSpPr txBox="1"/>
          <p:nvPr/>
        </p:nvSpPr>
        <p:spPr>
          <a:xfrm>
            <a:off x="381387" y="3514160"/>
            <a:ext cx="8381226" cy="2041585"/>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100" dirty="0">
                <a:solidFill>
                  <a:srgbClr val="FF0000"/>
                </a:solidFill>
                <a:latin typeface="+mn-lt"/>
              </a:rPr>
              <a:t>	Dr. COGS (I/S)			400,000</a:t>
            </a:r>
          </a:p>
          <a:p>
            <a:r>
              <a:rPr lang="en-US" sz="2100" dirty="0">
                <a:solidFill>
                  <a:srgbClr val="FF0000"/>
                </a:solidFill>
                <a:latin typeface="+mn-lt"/>
              </a:rPr>
              <a:t>		</a:t>
            </a:r>
            <a:r>
              <a:rPr lang="en-US" sz="2100" dirty="0">
                <a:solidFill>
                  <a:srgbClr val="FF0000"/>
                </a:solidFill>
              </a:rPr>
              <a:t>Cr. Inventory (B/S)		400,000</a:t>
            </a:r>
            <a:endParaRPr lang="en-US" sz="2100" dirty="0">
              <a:solidFill>
                <a:srgbClr val="FF0000"/>
              </a:solidFill>
              <a:latin typeface="+mn-lt"/>
            </a:endParaRPr>
          </a:p>
          <a:p>
            <a:r>
              <a:rPr lang="en-US" sz="2100" dirty="0">
                <a:solidFill>
                  <a:srgbClr val="FF0000"/>
                </a:solidFill>
                <a:latin typeface="+mn-lt"/>
              </a:rPr>
              <a:t>		</a:t>
            </a:r>
          </a:p>
          <a:p>
            <a:r>
              <a:rPr lang="en-US" sz="2100" dirty="0">
                <a:solidFill>
                  <a:srgbClr val="FF0000"/>
                </a:solidFill>
                <a:latin typeface="+mn-lt"/>
              </a:rPr>
              <a:t>		Cr. Revenue (I/S) 			800,000</a:t>
            </a:r>
          </a:p>
          <a:p>
            <a:r>
              <a:rPr lang="en-US" sz="2100" dirty="0">
                <a:solidFill>
                  <a:srgbClr val="FF0000"/>
                </a:solidFill>
                <a:latin typeface="+mn-lt"/>
              </a:rPr>
              <a:t>	Dr. Cash (B/S)			200,000</a:t>
            </a:r>
          </a:p>
          <a:p>
            <a:r>
              <a:rPr lang="en-US" sz="2100" dirty="0">
                <a:solidFill>
                  <a:srgbClr val="FF0000"/>
                </a:solidFill>
                <a:latin typeface="+mn-lt"/>
              </a:rPr>
              <a:t>	Dr. Accounts Rec. (B/S)	600,000 (Bal.)</a:t>
            </a:r>
          </a:p>
        </p:txBody>
      </p:sp>
      <p:sp>
        <p:nvSpPr>
          <p:cNvPr id="6" name="Rectangle 5"/>
          <p:cNvSpPr/>
          <p:nvPr/>
        </p:nvSpPr>
        <p:spPr>
          <a:xfrm>
            <a:off x="457200" y="1848131"/>
            <a:ext cx="8367311" cy="1323439"/>
          </a:xfrm>
          <a:prstGeom prst="rect">
            <a:avLst/>
          </a:prstGeom>
        </p:spPr>
        <p:txBody>
          <a:bodyPr wrap="square">
            <a:spAutoFit/>
          </a:bodyPr>
          <a:lstStyle/>
          <a:p>
            <a:r>
              <a:rPr lang="en-US" sz="2000" dirty="0">
                <a:latin typeface="Times New Roman" panose="02020603050405020304" pitchFamily="18" charset="0"/>
                <a:ea typeface="PMingLiU"/>
              </a:rPr>
              <a:t>1c. During September 2024, DD sells inventory originally costing R400,000 for a total sales price of R800,000. DD collects R200,000 in cash and the rest of the sales are made on credit. The customers have no right of return and DD expects to collect on all credit sales</a:t>
            </a:r>
            <a:endParaRPr lang="en-US" sz="2000" dirty="0"/>
          </a:p>
        </p:txBody>
      </p:sp>
    </p:spTree>
    <p:extLst>
      <p:ext uri="{BB962C8B-B14F-4D97-AF65-F5344CB8AC3E}">
        <p14:creationId xmlns:p14="http://schemas.microsoft.com/office/powerpoint/2010/main" val="8625555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CAFB6C-9FFC-45CD-C75F-1C2617079D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313DF-B8DB-390F-975A-ECB5C2507784}"/>
              </a:ext>
            </a:extLst>
          </p:cNvPr>
          <p:cNvSpPr>
            <a:spLocks noGrp="1"/>
          </p:cNvSpPr>
          <p:nvPr>
            <p:ph type="title"/>
          </p:nvPr>
        </p:nvSpPr>
        <p:spPr>
          <a:xfrm>
            <a:off x="457200" y="843167"/>
            <a:ext cx="8229600" cy="443198"/>
          </a:xfrm>
        </p:spPr>
        <p:txBody>
          <a:bodyPr>
            <a:spAutoFit/>
          </a:bodyPr>
          <a:lstStyle/>
          <a:p>
            <a:r>
              <a:rPr lang="en-US" dirty="0"/>
              <a:t>Journal Entries</a:t>
            </a:r>
          </a:p>
        </p:txBody>
      </p:sp>
      <p:sp>
        <p:nvSpPr>
          <p:cNvPr id="3" name="Text Placeholder 2">
            <a:extLst>
              <a:ext uri="{FF2B5EF4-FFF2-40B4-BE49-F238E27FC236}">
                <a16:creationId xmlns:a16="http://schemas.microsoft.com/office/drawing/2014/main" id="{43C4CFF3-4F32-BEE8-D857-75A55D0B1626}"/>
              </a:ext>
            </a:extLst>
          </p:cNvPr>
          <p:cNvSpPr>
            <a:spLocks noGrp="1"/>
          </p:cNvSpPr>
          <p:nvPr>
            <p:ph type="body" idx="1"/>
          </p:nvPr>
        </p:nvSpPr>
        <p:spPr>
          <a:xfrm>
            <a:off x="457200" y="1305790"/>
            <a:ext cx="8229601" cy="2954655"/>
          </a:xfrm>
        </p:spPr>
        <p:txBody>
          <a:bodyPr>
            <a:spAutoFit/>
          </a:bodyPr>
          <a:lstStyle/>
          <a:p>
            <a:pPr marL="342900" indent="-342900">
              <a:buFont typeface="Wingdings" panose="05000000000000000000" pitchFamily="2" charset="2"/>
              <a:buChar char="§"/>
            </a:pPr>
            <a:r>
              <a:rPr lang="en-US" sz="2100" b="1" dirty="0"/>
              <a:t>Double entries: + / -</a:t>
            </a:r>
          </a:p>
          <a:p>
            <a:pPr marL="342900" indent="-342900">
              <a:buFont typeface="Wingdings" panose="05000000000000000000" pitchFamily="2" charset="2"/>
              <a:buChar char="§"/>
            </a:pPr>
            <a:r>
              <a:rPr lang="en-US" sz="2100" b="1" dirty="0"/>
              <a:t>Income statement</a:t>
            </a:r>
            <a:r>
              <a:rPr lang="en-US" sz="2100" dirty="0"/>
              <a:t>: Dr. - minus / Cr. - plus </a:t>
            </a:r>
          </a:p>
          <a:p>
            <a:pPr marL="682625" indent="-342900">
              <a:buFont typeface="Wingdings" panose="05000000000000000000" pitchFamily="2" charset="2"/>
              <a:buChar char="Ø"/>
            </a:pPr>
            <a:r>
              <a:rPr lang="en-US" sz="2100" dirty="0"/>
              <a:t>Net Income </a:t>
            </a:r>
            <a:r>
              <a:rPr lang="en-US" sz="2100" dirty="0">
                <a:sym typeface="Wingdings" panose="05000000000000000000" pitchFamily="2" charset="2"/>
              </a:rPr>
              <a:t> Retained Earnings in </a:t>
            </a:r>
            <a:r>
              <a:rPr lang="en-US" sz="2100" b="1" dirty="0">
                <a:sym typeface="Wingdings" panose="05000000000000000000" pitchFamily="2" charset="2"/>
              </a:rPr>
              <a:t>Equity</a:t>
            </a:r>
            <a:endParaRPr lang="en-US" sz="2100" b="1" dirty="0"/>
          </a:p>
          <a:p>
            <a:pPr marL="342900" indent="-342900">
              <a:buFont typeface="Wingdings" panose="05000000000000000000" pitchFamily="2" charset="2"/>
              <a:buChar char="§"/>
            </a:pPr>
            <a:r>
              <a:rPr lang="en-US" sz="2100" dirty="0"/>
              <a:t>Balance sheet: </a:t>
            </a:r>
          </a:p>
          <a:p>
            <a:pPr marL="682625" indent="-341313">
              <a:buFont typeface="Wingdings" panose="05000000000000000000" pitchFamily="2" charset="2"/>
              <a:buChar char="Ø"/>
            </a:pPr>
            <a:r>
              <a:rPr lang="en-US" sz="2100" b="1" dirty="0"/>
              <a:t>Assets</a:t>
            </a:r>
            <a:r>
              <a:rPr lang="en-US" sz="2100" dirty="0"/>
              <a:t>: Dr. – plus / Cr. – minus</a:t>
            </a:r>
          </a:p>
          <a:p>
            <a:pPr marL="682625" indent="-341313">
              <a:buFont typeface="Wingdings" panose="05000000000000000000" pitchFamily="2" charset="2"/>
              <a:buChar char="Ø"/>
            </a:pPr>
            <a:r>
              <a:rPr lang="en-US" sz="2100" b="1" dirty="0"/>
              <a:t>Liabilities &amp; Equities</a:t>
            </a:r>
            <a:r>
              <a:rPr lang="en-US" sz="2100" dirty="0"/>
              <a:t>: Dr. – minus / Cr. - plus</a:t>
            </a:r>
          </a:p>
          <a:p>
            <a:pPr marL="682625" indent="-341313">
              <a:buFont typeface="Wingdings" panose="05000000000000000000" pitchFamily="2" charset="2"/>
              <a:buChar char="Ø"/>
            </a:pPr>
            <a:endParaRPr lang="en-US" sz="2100" dirty="0"/>
          </a:p>
        </p:txBody>
      </p:sp>
      <p:sp>
        <p:nvSpPr>
          <p:cNvPr id="4" name="TextBox 3">
            <a:extLst>
              <a:ext uri="{FF2B5EF4-FFF2-40B4-BE49-F238E27FC236}">
                <a16:creationId xmlns:a16="http://schemas.microsoft.com/office/drawing/2014/main" id="{33BDDA4E-D902-89F4-5BDB-856A7D128FCF}"/>
              </a:ext>
            </a:extLst>
          </p:cNvPr>
          <p:cNvSpPr txBox="1"/>
          <p:nvPr/>
        </p:nvSpPr>
        <p:spPr>
          <a:xfrm>
            <a:off x="381387" y="3964052"/>
            <a:ext cx="8381226" cy="2364750"/>
          </a:xfrm>
          <a:prstGeom prst="rect">
            <a:avLst/>
          </a:prstGeom>
          <a:noFill/>
          <a:ln w="12700" cap="flat">
            <a:noFill/>
            <a:miter lim="400000"/>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r>
              <a:rPr lang="en-US" sz="2100" u="sng" dirty="0">
                <a:solidFill>
                  <a:srgbClr val="FF0000"/>
                </a:solidFill>
                <a:latin typeface="+mn-lt"/>
              </a:rPr>
              <a:t>Same example</a:t>
            </a:r>
            <a:r>
              <a:rPr lang="en-US" sz="2100" dirty="0">
                <a:solidFill>
                  <a:srgbClr val="FF0000"/>
                </a:solidFill>
                <a:latin typeface="+mn-lt"/>
              </a:rPr>
              <a:t> </a:t>
            </a:r>
          </a:p>
          <a:p>
            <a:r>
              <a:rPr lang="en-US" sz="2100" dirty="0">
                <a:solidFill>
                  <a:srgbClr val="FF0000"/>
                </a:solidFill>
                <a:latin typeface="+mn-lt"/>
              </a:rPr>
              <a:t>	Dr. COGS (I/S)			400,000</a:t>
            </a:r>
          </a:p>
          <a:p>
            <a:r>
              <a:rPr lang="en-US" sz="2100" dirty="0">
                <a:solidFill>
                  <a:srgbClr val="FF0000"/>
                </a:solidFill>
                <a:latin typeface="+mn-lt"/>
              </a:rPr>
              <a:t>		</a:t>
            </a:r>
            <a:r>
              <a:rPr lang="en-US" sz="2100" dirty="0">
                <a:solidFill>
                  <a:srgbClr val="FF0000"/>
                </a:solidFill>
              </a:rPr>
              <a:t>Cr. Inventory (B/S)		400,000</a:t>
            </a:r>
            <a:endParaRPr lang="en-US" sz="2100" dirty="0">
              <a:solidFill>
                <a:srgbClr val="FF0000"/>
              </a:solidFill>
              <a:latin typeface="+mn-lt"/>
            </a:endParaRPr>
          </a:p>
          <a:p>
            <a:r>
              <a:rPr lang="en-US" sz="2100" dirty="0">
                <a:solidFill>
                  <a:srgbClr val="FF0000"/>
                </a:solidFill>
                <a:latin typeface="+mn-lt"/>
              </a:rPr>
              <a:t>		</a:t>
            </a:r>
          </a:p>
          <a:p>
            <a:r>
              <a:rPr lang="en-US" sz="2100" dirty="0">
                <a:solidFill>
                  <a:srgbClr val="FF0000"/>
                </a:solidFill>
                <a:latin typeface="+mn-lt"/>
              </a:rPr>
              <a:t>		Cr. Revenue (I/S) 			800,000</a:t>
            </a:r>
          </a:p>
          <a:p>
            <a:r>
              <a:rPr lang="en-US" sz="2100" dirty="0">
                <a:solidFill>
                  <a:srgbClr val="FF0000"/>
                </a:solidFill>
                <a:latin typeface="+mn-lt"/>
              </a:rPr>
              <a:t>	Dr. Cash (B/S)			200,000</a:t>
            </a:r>
          </a:p>
          <a:p>
            <a:r>
              <a:rPr lang="en-US" sz="2100" dirty="0">
                <a:solidFill>
                  <a:srgbClr val="FF0000"/>
                </a:solidFill>
                <a:latin typeface="+mn-lt"/>
              </a:rPr>
              <a:t>	Dr. Accounts Rec. (B/S)	600,000 (Bal.)</a:t>
            </a:r>
          </a:p>
        </p:txBody>
      </p:sp>
    </p:spTree>
    <p:extLst>
      <p:ext uri="{BB962C8B-B14F-4D97-AF65-F5344CB8AC3E}">
        <p14:creationId xmlns:p14="http://schemas.microsoft.com/office/powerpoint/2010/main" val="280743884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858660"/>
            <a:ext cx="8229600" cy="443198"/>
          </a:xfrm>
        </p:spPr>
        <p:txBody>
          <a:bodyPr>
            <a:spAutoFit/>
          </a:bodyPr>
          <a:lstStyle/>
          <a:p>
            <a:r>
              <a:rPr lang="en-US" dirty="0"/>
              <a:t>Quiz</a:t>
            </a:r>
          </a:p>
        </p:txBody>
      </p:sp>
      <p:sp>
        <p:nvSpPr>
          <p:cNvPr id="3" name="Text Placeholder 2"/>
          <p:cNvSpPr>
            <a:spLocks noGrp="1"/>
          </p:cNvSpPr>
          <p:nvPr>
            <p:ph type="body" idx="1"/>
          </p:nvPr>
        </p:nvSpPr>
        <p:spPr>
          <a:xfrm>
            <a:off x="457198" y="1301858"/>
            <a:ext cx="8229601" cy="1277273"/>
          </a:xfrm>
        </p:spPr>
        <p:txBody>
          <a:bodyPr>
            <a:spAutoFit/>
          </a:bodyPr>
          <a:lstStyle/>
          <a:p>
            <a:r>
              <a:rPr lang="en-US" dirty="0"/>
              <a:t>Question 2</a:t>
            </a:r>
            <a:endParaRPr lang="en-US" sz="2100" dirty="0"/>
          </a:p>
          <a:p>
            <a:r>
              <a:rPr lang="en-US" sz="2100" dirty="0"/>
              <a:t>DD’s Income Statement for the year ended December 31, 2024.</a:t>
            </a:r>
          </a:p>
          <a:p>
            <a:r>
              <a:rPr lang="en-US" sz="2100" dirty="0"/>
              <a:t>- </a:t>
            </a:r>
            <a:r>
              <a:rPr lang="en-US" sz="2100" b="1" dirty="0"/>
              <a:t>Add all journal entries in Q1</a:t>
            </a:r>
            <a:r>
              <a:rPr lang="en-US" sz="2100" dirty="0"/>
              <a:t>:  </a:t>
            </a:r>
          </a:p>
        </p:txBody>
      </p:sp>
      <p:graphicFrame>
        <p:nvGraphicFramePr>
          <p:cNvPr id="5" name="Table 4"/>
          <p:cNvGraphicFramePr>
            <a:graphicFrameLocks noGrp="1"/>
          </p:cNvGraphicFramePr>
          <p:nvPr>
            <p:extLst>
              <p:ext uri="{D42A27DB-BD31-4B8C-83A1-F6EECF244321}">
                <p14:modId xmlns:p14="http://schemas.microsoft.com/office/powerpoint/2010/main" val="1338983493"/>
              </p:ext>
            </p:extLst>
          </p:nvPr>
        </p:nvGraphicFramePr>
        <p:xfrm>
          <a:off x="594911" y="2743200"/>
          <a:ext cx="7711807" cy="3337560"/>
        </p:xfrm>
        <a:graphic>
          <a:graphicData uri="http://schemas.openxmlformats.org/drawingml/2006/table">
            <a:tbl>
              <a:tblPr firstRow="1" bandRow="1">
                <a:tableStyleId>{5940675A-B579-460E-94D1-54222C63F5DA}</a:tableStyleId>
              </a:tblPr>
              <a:tblGrid>
                <a:gridCol w="3016030">
                  <a:extLst>
                    <a:ext uri="{9D8B030D-6E8A-4147-A177-3AD203B41FA5}">
                      <a16:colId xmlns:a16="http://schemas.microsoft.com/office/drawing/2014/main" val="1241997838"/>
                    </a:ext>
                  </a:extLst>
                </a:gridCol>
                <a:gridCol w="1633088">
                  <a:extLst>
                    <a:ext uri="{9D8B030D-6E8A-4147-A177-3AD203B41FA5}">
                      <a16:colId xmlns:a16="http://schemas.microsoft.com/office/drawing/2014/main" val="4076286741"/>
                    </a:ext>
                  </a:extLst>
                </a:gridCol>
                <a:gridCol w="3062689">
                  <a:extLst>
                    <a:ext uri="{9D8B030D-6E8A-4147-A177-3AD203B41FA5}">
                      <a16:colId xmlns:a16="http://schemas.microsoft.com/office/drawing/2014/main" val="3329202352"/>
                    </a:ext>
                  </a:extLst>
                </a:gridCol>
              </a:tblGrid>
              <a:tr h="370840">
                <a:tc>
                  <a:txBody>
                    <a:bodyPr/>
                    <a:lstStyle/>
                    <a:p>
                      <a:pPr algn="l"/>
                      <a:r>
                        <a:rPr lang="en-US" sz="1800" dirty="0">
                          <a:solidFill>
                            <a:schemeClr val="tx1"/>
                          </a:solidFill>
                        </a:rPr>
                        <a:t>Revenues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dirty="0">
                          <a:solidFill>
                            <a:schemeClr val="tx1"/>
                          </a:solidFill>
                        </a:rPr>
                        <a:t>1,200,000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r>
                        <a:rPr lang="en-US" sz="1800" dirty="0">
                          <a:solidFill>
                            <a:srgbClr val="C00000"/>
                          </a:solidFill>
                        </a:rPr>
                        <a:t>(c) +800k and (e) +400k</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91242191"/>
                  </a:ext>
                </a:extLst>
              </a:tr>
              <a:tr h="370840">
                <a:tc>
                  <a:txBody>
                    <a:bodyPr/>
                    <a:lstStyle/>
                    <a:p>
                      <a:pPr algn="l"/>
                      <a:r>
                        <a:rPr lang="en-US" sz="1800" dirty="0">
                          <a:solidFill>
                            <a:schemeClr val="tx1"/>
                          </a:solidFill>
                        </a:rPr>
                        <a:t>Cost of Goods Sold</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dirty="0">
                          <a:solidFill>
                            <a:schemeClr val="tx1"/>
                          </a:solidFill>
                        </a:rPr>
                        <a:t>-550,000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C00000"/>
                          </a:solidFill>
                        </a:rPr>
                        <a:t>(c) -400k and (e) –150k</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147109412"/>
                  </a:ext>
                </a:extLst>
              </a:tr>
              <a:tr h="370840">
                <a:tc>
                  <a:txBody>
                    <a:bodyPr/>
                    <a:lstStyle/>
                    <a:p>
                      <a:pPr algn="l"/>
                      <a:r>
                        <a:rPr lang="en-US" sz="1800" b="1" dirty="0">
                          <a:solidFill>
                            <a:schemeClr val="tx1"/>
                          </a:solidFill>
                        </a:rPr>
                        <a:t>Gross Profit</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1" dirty="0">
                          <a:solidFill>
                            <a:schemeClr val="tx1"/>
                          </a:solidFill>
                        </a:rPr>
                        <a:t>650,000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endParaRPr lang="en-US" sz="1800" b="1" dirty="0">
                        <a:solidFill>
                          <a:srgbClr val="C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700189235"/>
                  </a:ext>
                </a:extLst>
              </a:tr>
              <a:tr h="370840">
                <a:tc>
                  <a:txBody>
                    <a:bodyPr/>
                    <a:lstStyle/>
                    <a:p>
                      <a:pPr algn="l"/>
                      <a:r>
                        <a:rPr lang="en-US" sz="1800" dirty="0">
                          <a:solidFill>
                            <a:schemeClr val="tx1"/>
                          </a:solidFill>
                        </a:rPr>
                        <a:t>SG&amp;A Expense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0" dirty="0">
                          <a:solidFill>
                            <a:schemeClr val="tx1"/>
                          </a:solidFill>
                        </a:rPr>
                        <a:t>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endParaRPr lang="en-US" sz="1800" b="0" dirty="0">
                        <a:solidFill>
                          <a:srgbClr val="C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991101836"/>
                  </a:ext>
                </a:extLst>
              </a:tr>
              <a:tr h="370840">
                <a:tc>
                  <a:txBody>
                    <a:bodyPr/>
                    <a:lstStyle/>
                    <a:p>
                      <a:pPr algn="l"/>
                      <a:r>
                        <a:rPr lang="en-US" sz="1800" b="1" dirty="0">
                          <a:solidFill>
                            <a:schemeClr val="tx1"/>
                          </a:solidFill>
                        </a:rPr>
                        <a:t>Operating Income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1" dirty="0">
                          <a:solidFill>
                            <a:schemeClr val="tx1"/>
                          </a:solidFill>
                        </a:rPr>
                        <a:t>650,000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endParaRPr lang="en-US" sz="1800" b="1" dirty="0">
                        <a:solidFill>
                          <a:srgbClr val="C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99368488"/>
                  </a:ext>
                </a:extLst>
              </a:tr>
              <a:tr h="370840">
                <a:tc>
                  <a:txBody>
                    <a:bodyPr/>
                    <a:lstStyle/>
                    <a:p>
                      <a:pPr algn="l"/>
                      <a:r>
                        <a:rPr lang="en-US" sz="1800" b="0" baseline="0" dirty="0">
                          <a:solidFill>
                            <a:schemeClr val="tx1"/>
                          </a:solidFill>
                        </a:rPr>
                        <a:t>Gain on Sale of Land</a:t>
                      </a:r>
                      <a:endParaRPr lang="en-US" sz="1800" b="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dirty="0">
                          <a:solidFill>
                            <a:schemeClr val="tx1"/>
                          </a:solidFill>
                        </a:rPr>
                        <a:t>+300,000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r>
                        <a:rPr lang="en-US" sz="1800" dirty="0">
                          <a:solidFill>
                            <a:srgbClr val="C00000"/>
                          </a:solidFill>
                        </a:rPr>
                        <a:t>(f)</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200623780"/>
                  </a:ext>
                </a:extLst>
              </a:tr>
              <a:tr h="370840">
                <a:tc>
                  <a:txBody>
                    <a:bodyPr/>
                    <a:lstStyle/>
                    <a:p>
                      <a:pPr algn="l"/>
                      <a:r>
                        <a:rPr lang="en-US" sz="1800" b="1" dirty="0">
                          <a:solidFill>
                            <a:schemeClr val="tx1"/>
                          </a:solidFill>
                        </a:rPr>
                        <a:t>Income Before Taxes</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1" dirty="0">
                          <a:solidFill>
                            <a:schemeClr val="tx1"/>
                          </a:solidFill>
                        </a:rPr>
                        <a:t>950,000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endParaRPr lang="en-US" sz="1800" b="1" dirty="0">
                        <a:solidFill>
                          <a:srgbClr val="C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758336432"/>
                  </a:ext>
                </a:extLst>
              </a:tr>
              <a:tr h="370840">
                <a:tc>
                  <a:txBody>
                    <a:bodyPr/>
                    <a:lstStyle/>
                    <a:p>
                      <a:pPr algn="l"/>
                      <a:r>
                        <a:rPr lang="en-US" sz="1800" b="0" dirty="0">
                          <a:solidFill>
                            <a:schemeClr val="tx1"/>
                          </a:solidFill>
                        </a:rPr>
                        <a:t>Income</a:t>
                      </a:r>
                      <a:r>
                        <a:rPr lang="en-US" sz="1800" b="0" baseline="0" dirty="0">
                          <a:solidFill>
                            <a:schemeClr val="tx1"/>
                          </a:solidFill>
                        </a:rPr>
                        <a:t> Tax Expense</a:t>
                      </a:r>
                      <a:endParaRPr lang="en-US" sz="1800" b="0" dirty="0">
                        <a:solidFill>
                          <a:schemeClr val="tx1"/>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dirty="0">
                          <a:solidFill>
                            <a:schemeClr val="tx1"/>
                          </a:solidFill>
                        </a:rPr>
                        <a:t>-152,000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dirty="0">
                          <a:solidFill>
                            <a:srgbClr val="C00000"/>
                          </a:solidFill>
                        </a:rPr>
                        <a:t>@16% per (g)</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67189171"/>
                  </a:ext>
                </a:extLst>
              </a:tr>
              <a:tr h="370840">
                <a:tc>
                  <a:txBody>
                    <a:bodyPr/>
                    <a:lstStyle/>
                    <a:p>
                      <a:pPr algn="l"/>
                      <a:r>
                        <a:rPr lang="en-US" sz="1800" b="1" dirty="0">
                          <a:solidFill>
                            <a:schemeClr val="tx1"/>
                          </a:solidFill>
                        </a:rPr>
                        <a:t>Net Income</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1" dirty="0">
                          <a:solidFill>
                            <a:schemeClr val="tx1"/>
                          </a:solidFill>
                        </a:rPr>
                        <a:t>798,000</a:t>
                      </a: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endParaRPr lang="en-US" sz="1800" dirty="0">
                        <a:solidFill>
                          <a:srgbClr val="C00000"/>
                        </a:solidFill>
                      </a:endParaRPr>
                    </a:p>
                  </a:txBody>
                  <a:tcP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347629101"/>
                  </a:ext>
                </a:extLst>
              </a:tr>
            </a:tbl>
          </a:graphicData>
        </a:graphic>
      </p:graphicFrame>
    </p:spTree>
    <p:extLst>
      <p:ext uri="{BB962C8B-B14F-4D97-AF65-F5344CB8AC3E}">
        <p14:creationId xmlns:p14="http://schemas.microsoft.com/office/powerpoint/2010/main" val="3052131383"/>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3167"/>
            <a:ext cx="8229600" cy="443198"/>
          </a:xfrm>
        </p:spPr>
        <p:txBody>
          <a:bodyPr>
            <a:spAutoFit/>
          </a:bodyPr>
          <a:lstStyle/>
          <a:p>
            <a:r>
              <a:rPr lang="en-US" dirty="0"/>
              <a:t>Quiz</a:t>
            </a:r>
          </a:p>
        </p:txBody>
      </p:sp>
      <p:sp>
        <p:nvSpPr>
          <p:cNvPr id="3" name="Text Placeholder 2"/>
          <p:cNvSpPr>
            <a:spLocks noGrp="1"/>
          </p:cNvSpPr>
          <p:nvPr>
            <p:ph type="body" idx="1"/>
          </p:nvPr>
        </p:nvSpPr>
        <p:spPr>
          <a:xfrm>
            <a:off x="250823" y="1286365"/>
            <a:ext cx="8496301" cy="1161857"/>
          </a:xfrm>
        </p:spPr>
        <p:txBody>
          <a:bodyPr>
            <a:spAutoFit/>
          </a:bodyPr>
          <a:lstStyle/>
          <a:p>
            <a:r>
              <a:rPr lang="en-US" dirty="0"/>
              <a:t>Question 3</a:t>
            </a:r>
            <a:endParaRPr lang="en-US" sz="2100" dirty="0"/>
          </a:p>
          <a:p>
            <a:r>
              <a:rPr lang="en-US" sz="2100" dirty="0"/>
              <a:t>Complete the Operating Section of DD’s Statement of Cash Flows using the Indirect Method for the year ended December 31, 2024.</a:t>
            </a:r>
          </a:p>
        </p:txBody>
      </p:sp>
      <p:graphicFrame>
        <p:nvGraphicFramePr>
          <p:cNvPr id="4" name="Table 3"/>
          <p:cNvGraphicFramePr>
            <a:graphicFrameLocks noGrp="1"/>
          </p:cNvGraphicFramePr>
          <p:nvPr>
            <p:extLst>
              <p:ext uri="{D42A27DB-BD31-4B8C-83A1-F6EECF244321}">
                <p14:modId xmlns:p14="http://schemas.microsoft.com/office/powerpoint/2010/main" val="54438021"/>
              </p:ext>
            </p:extLst>
          </p:nvPr>
        </p:nvGraphicFramePr>
        <p:xfrm>
          <a:off x="250823" y="2448222"/>
          <a:ext cx="8642353" cy="4246880"/>
        </p:xfrm>
        <a:graphic>
          <a:graphicData uri="http://schemas.openxmlformats.org/drawingml/2006/table">
            <a:tbl>
              <a:tblPr firstRow="1" bandRow="1">
                <a:tableStyleId>{5940675A-B579-460E-94D1-54222C63F5DA}</a:tableStyleId>
              </a:tblPr>
              <a:tblGrid>
                <a:gridCol w="4600835">
                  <a:extLst>
                    <a:ext uri="{9D8B030D-6E8A-4147-A177-3AD203B41FA5}">
                      <a16:colId xmlns:a16="http://schemas.microsoft.com/office/drawing/2014/main" val="1241997838"/>
                    </a:ext>
                  </a:extLst>
                </a:gridCol>
                <a:gridCol w="1399917">
                  <a:extLst>
                    <a:ext uri="{9D8B030D-6E8A-4147-A177-3AD203B41FA5}">
                      <a16:colId xmlns:a16="http://schemas.microsoft.com/office/drawing/2014/main" val="4076286741"/>
                    </a:ext>
                  </a:extLst>
                </a:gridCol>
                <a:gridCol w="2641601">
                  <a:extLst>
                    <a:ext uri="{9D8B030D-6E8A-4147-A177-3AD203B41FA5}">
                      <a16:colId xmlns:a16="http://schemas.microsoft.com/office/drawing/2014/main" val="3329202352"/>
                    </a:ext>
                  </a:extLst>
                </a:gridCol>
              </a:tblGrid>
              <a:tr h="370840">
                <a:tc>
                  <a:txBody>
                    <a:bodyPr/>
                    <a:lstStyle/>
                    <a:p>
                      <a:pPr algn="l"/>
                      <a:r>
                        <a:rPr lang="en-US" sz="1800" b="1" dirty="0"/>
                        <a:t>1. Net Income</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dirty="0"/>
                        <a:t>798,000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r>
                        <a:rPr lang="en-US" sz="1800" dirty="0">
                          <a:solidFill>
                            <a:srgbClr val="FF0000"/>
                          </a:solidFill>
                        </a:rPr>
                        <a:t>Net Income in Q2</a:t>
                      </a: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591242191"/>
                  </a:ext>
                </a:extLst>
              </a:tr>
              <a:tr h="370840">
                <a:tc>
                  <a:txBody>
                    <a:bodyPr/>
                    <a:lstStyle/>
                    <a:p>
                      <a:pPr algn="l"/>
                      <a:r>
                        <a:rPr lang="en-US" sz="1800" b="1" dirty="0"/>
                        <a:t>2. +/- Non-Cash Charges:</a:t>
                      </a:r>
                    </a:p>
                  </a:txBody>
                  <a:tcPr>
                    <a:lnL w="12700" cmpd="sng">
                      <a:noFill/>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US" sz="180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endParaRPr lang="en-US" sz="1800" dirty="0">
                        <a:solidFill>
                          <a:srgbClr val="FF0000"/>
                        </a:solidFill>
                      </a:endParaRPr>
                    </a:p>
                  </a:txBody>
                  <a:tcPr>
                    <a:lnL w="12700"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4147109412"/>
                  </a:ext>
                </a:extLst>
              </a:tr>
              <a:tr h="370840">
                <a:tc>
                  <a:txBody>
                    <a:bodyPr/>
                    <a:lstStyle/>
                    <a:p>
                      <a:pPr algn="l"/>
                      <a:r>
                        <a:rPr lang="en-US" sz="1800" b="0" dirty="0"/>
                        <a:t>    Gain on Sale of Land</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0" dirty="0"/>
                        <a:t>-300,000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r>
                        <a:rPr lang="en-US" sz="1800" b="0" baseline="0" dirty="0">
                          <a:solidFill>
                            <a:srgbClr val="FF0000"/>
                          </a:solidFill>
                        </a:rPr>
                        <a:t>1(f) less non-cash gain</a:t>
                      </a:r>
                      <a:endParaRPr lang="en-US" sz="1800" b="0" dirty="0">
                        <a:solidFill>
                          <a:srgbClr val="FF0000"/>
                        </a:solidFill>
                      </a:endParaRP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700189235"/>
                  </a:ext>
                </a:extLst>
              </a:tr>
              <a:tr h="370840">
                <a:tc>
                  <a:txBody>
                    <a:bodyPr/>
                    <a:lstStyle/>
                    <a:p>
                      <a:pPr algn="l"/>
                      <a:r>
                        <a:rPr lang="en-US" sz="1800" b="1" dirty="0"/>
                        <a:t>3. +/- Change in Operating</a:t>
                      </a:r>
                      <a:r>
                        <a:rPr lang="en-US" sz="1800" b="1" baseline="0" dirty="0"/>
                        <a:t> Assets and Liabilities:</a:t>
                      </a:r>
                      <a:endParaRPr lang="en-US" sz="1800" b="1" dirty="0"/>
                    </a:p>
                  </a:txBody>
                  <a:tcPr>
                    <a:lnL w="12700" cmpd="sng">
                      <a:noFill/>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endParaRPr lang="en-US" sz="1800" b="0" dirty="0"/>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endParaRPr lang="en-US" sz="1800" b="0" dirty="0">
                        <a:solidFill>
                          <a:srgbClr val="FF0000"/>
                        </a:solidFill>
                      </a:endParaRPr>
                    </a:p>
                  </a:txBody>
                  <a:tcPr>
                    <a:lnL w="12700"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991101836"/>
                  </a:ext>
                </a:extLst>
              </a:tr>
              <a:tr h="370840">
                <a:tc>
                  <a:txBody>
                    <a:bodyPr/>
                    <a:lstStyle/>
                    <a:p>
                      <a:pPr algn="l"/>
                      <a:r>
                        <a:rPr lang="en-US" sz="1800" b="1" dirty="0"/>
                        <a:t>   </a:t>
                      </a:r>
                      <a:r>
                        <a:rPr lang="en-US" sz="1800" b="0" dirty="0"/>
                        <a:t>Change</a:t>
                      </a:r>
                      <a:r>
                        <a:rPr lang="en-US" sz="1800" b="0" baseline="0" dirty="0"/>
                        <a:t> in Accounts Receivable </a:t>
                      </a:r>
                      <a:r>
                        <a:rPr lang="en-US" sz="1800" b="0" baseline="0" dirty="0">
                          <a:solidFill>
                            <a:srgbClr val="00B050"/>
                          </a:solidFill>
                        </a:rPr>
                        <a:t>(Assets)</a:t>
                      </a:r>
                      <a:endParaRPr lang="en-US" sz="1800" b="1" dirty="0">
                        <a:solidFill>
                          <a:srgbClr val="00B050"/>
                        </a:solidFill>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0" dirty="0"/>
                        <a:t>-600,000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baseline="0" dirty="0">
                          <a:solidFill>
                            <a:srgbClr val="FF0000"/>
                          </a:solidFill>
                        </a:rPr>
                        <a:t>1(c) Dr. AR – go up </a:t>
                      </a:r>
                      <a:endParaRPr lang="en-US" sz="1800" b="0" dirty="0">
                        <a:solidFill>
                          <a:srgbClr val="FF0000"/>
                        </a:solidFill>
                      </a:endParaRP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99368488"/>
                  </a:ext>
                </a:extLst>
              </a:tr>
              <a:tr h="370840">
                <a:tc>
                  <a:txBody>
                    <a:bodyPr/>
                    <a:lstStyle/>
                    <a:p>
                      <a:pPr algn="l"/>
                      <a:r>
                        <a:rPr lang="en-US" sz="1800" b="0" dirty="0"/>
                        <a:t>   Change in Inventory </a:t>
                      </a:r>
                      <a:r>
                        <a:rPr lang="en-US" sz="1800" b="0" dirty="0">
                          <a:solidFill>
                            <a:srgbClr val="00B050"/>
                          </a:solidFill>
                        </a:rPr>
                        <a:t>(Assets)</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0" dirty="0"/>
                        <a:t>-300,000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baseline="0" dirty="0">
                          <a:solidFill>
                            <a:srgbClr val="FF0000"/>
                          </a:solidFill>
                        </a:rPr>
                        <a:t>1(b)+850, (c) -400, (e) -150 = 300 - go up</a:t>
                      </a:r>
                      <a:endParaRPr lang="en-US" sz="1800" dirty="0">
                        <a:solidFill>
                          <a:srgbClr val="FF0000"/>
                        </a:solidFill>
                      </a:endParaRP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200623780"/>
                  </a:ext>
                </a:extLst>
              </a:tr>
              <a:tr h="370840">
                <a:tc>
                  <a:txBody>
                    <a:bodyPr/>
                    <a:lstStyle/>
                    <a:p>
                      <a:pPr algn="l"/>
                      <a:r>
                        <a:rPr lang="en-US" sz="1800" b="1" dirty="0"/>
                        <a:t>   </a:t>
                      </a:r>
                      <a:r>
                        <a:rPr lang="en-US" sz="1800" b="0" dirty="0"/>
                        <a:t>Change</a:t>
                      </a:r>
                      <a:r>
                        <a:rPr lang="en-US" sz="1800" b="0" baseline="0" dirty="0"/>
                        <a:t> in Accounts Payable </a:t>
                      </a:r>
                      <a:r>
                        <a:rPr lang="en-US" sz="1800" b="0" baseline="0" dirty="0">
                          <a:solidFill>
                            <a:srgbClr val="FF0000"/>
                          </a:solidFill>
                        </a:rPr>
                        <a:t>(Lia)</a:t>
                      </a:r>
                      <a:endParaRPr lang="en-US" sz="1800" b="1" dirty="0">
                        <a:solidFill>
                          <a:srgbClr val="FF0000"/>
                        </a:solidFill>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0" dirty="0"/>
                        <a:t>467,500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baseline="0" dirty="0">
                          <a:solidFill>
                            <a:srgbClr val="FF0000"/>
                          </a:solidFill>
                        </a:rPr>
                        <a:t>1(b) Cr. Lia – go up </a:t>
                      </a:r>
                      <a:endParaRPr lang="en-US" sz="1800" b="0" dirty="0">
                        <a:solidFill>
                          <a:srgbClr val="FF0000"/>
                        </a:solidFill>
                      </a:endParaRP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758336432"/>
                  </a:ext>
                </a:extLst>
              </a:tr>
              <a:tr h="370840">
                <a:tc>
                  <a:txBody>
                    <a:bodyPr/>
                    <a:lstStyle/>
                    <a:p>
                      <a:pPr algn="l"/>
                      <a:r>
                        <a:rPr lang="en-US" sz="1800" b="0" dirty="0"/>
                        <a:t>   Change in Deferred Revenue </a:t>
                      </a:r>
                      <a:r>
                        <a:rPr lang="en-US" sz="1800" b="0" dirty="0">
                          <a:solidFill>
                            <a:srgbClr val="FF0000"/>
                          </a:solidFill>
                        </a:rPr>
                        <a:t>(Lia)</a:t>
                      </a: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0" dirty="0">
                          <a:solidFill>
                            <a:schemeClr val="tx1"/>
                          </a:solidFill>
                        </a:rPr>
                        <a:t>50,000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baseline="0" dirty="0">
                          <a:solidFill>
                            <a:srgbClr val="FF0000"/>
                          </a:solidFill>
                        </a:rPr>
                        <a:t>1(e) Cr. Lia – go up</a:t>
                      </a:r>
                      <a:endParaRPr lang="en-US" sz="1800" dirty="0">
                        <a:solidFill>
                          <a:srgbClr val="FF0000"/>
                        </a:solidFill>
                      </a:endParaRP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3867189171"/>
                  </a:ext>
                </a:extLst>
              </a:tr>
              <a:tr h="370840">
                <a:tc>
                  <a:txBody>
                    <a:bodyPr/>
                    <a:lstStyle/>
                    <a:p>
                      <a:pPr algn="l"/>
                      <a:r>
                        <a:rPr lang="en-US" sz="1800" b="1" dirty="0"/>
                        <a:t>   </a:t>
                      </a:r>
                      <a:r>
                        <a:rPr lang="en-US" sz="1800" b="0" dirty="0"/>
                        <a:t>Change in Taxes Payable </a:t>
                      </a:r>
                      <a:r>
                        <a:rPr lang="en-US" sz="1800" b="0" dirty="0">
                          <a:solidFill>
                            <a:srgbClr val="FF0000"/>
                          </a:solidFill>
                        </a:rPr>
                        <a:t>(Lia)</a:t>
                      </a:r>
                      <a:endParaRPr lang="en-US" sz="1800" b="1" dirty="0">
                        <a:solidFill>
                          <a:srgbClr val="FF0000"/>
                        </a:solidFill>
                      </a:endParaRPr>
                    </a:p>
                  </a:txBody>
                  <a:tcPr>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0" dirty="0"/>
                        <a:t>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800" b="0" baseline="0" dirty="0">
                          <a:solidFill>
                            <a:srgbClr val="FF0000"/>
                          </a:solidFill>
                        </a:rPr>
                        <a:t>1(g)</a:t>
                      </a:r>
                      <a:endParaRPr lang="en-US" sz="1800" b="0" dirty="0">
                        <a:solidFill>
                          <a:srgbClr val="FF0000"/>
                        </a:solidFill>
                      </a:endParaRPr>
                    </a:p>
                  </a:txBody>
                  <a:tcPr>
                    <a:lnL w="12700" cap="flat" cmpd="sng" algn="ctr">
                      <a:noFill/>
                      <a:prstDash val="solid"/>
                      <a:round/>
                      <a:headEnd type="none" w="med" len="med"/>
                      <a:tailEnd type="none" w="med" len="med"/>
                    </a:lnL>
                    <a:lnR w="12700" cmpd="sng">
                      <a:noFill/>
                    </a:lnR>
                    <a:lnT w="12700" cap="flat" cmpd="sng" algn="ctr">
                      <a:no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347629101"/>
                  </a:ext>
                </a:extLst>
              </a:tr>
              <a:tr h="370840">
                <a:tc>
                  <a:txBody>
                    <a:bodyPr/>
                    <a:lstStyle/>
                    <a:p>
                      <a:pPr algn="l"/>
                      <a:r>
                        <a:rPr lang="en-US" sz="1800" b="1" dirty="0"/>
                        <a:t>Cash</a:t>
                      </a:r>
                      <a:r>
                        <a:rPr lang="en-US" sz="1800" b="1" baseline="0" dirty="0"/>
                        <a:t> Flows from Operating Activities</a:t>
                      </a:r>
                      <a:endParaRPr lang="en-US" sz="1800" b="1" dirty="0"/>
                    </a:p>
                  </a:txBody>
                  <a:tcPr>
                    <a:lnL w="12700" cmpd="sng">
                      <a:noFill/>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r>
                        <a:rPr lang="en-US" sz="1800" b="1" dirty="0"/>
                        <a:t>115,500</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r>
                        <a:rPr lang="en-US" sz="1800" dirty="0">
                          <a:solidFill>
                            <a:srgbClr val="FF0000"/>
                          </a:solidFill>
                        </a:rPr>
                        <a:t>Add all up</a:t>
                      </a:r>
                    </a:p>
                  </a:txBody>
                  <a:tcPr>
                    <a:lnL w="12700" cap="flat" cmpd="sng" algn="ctr">
                      <a:noFill/>
                      <a:prstDash val="solid"/>
                      <a:round/>
                      <a:headEnd type="none" w="med" len="med"/>
                      <a:tailEnd type="none" w="med" len="med"/>
                    </a:lnL>
                    <a:lnR w="12700" cmpd="sng">
                      <a:noFill/>
                    </a:lnR>
                    <a:lnT w="28575"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167303529"/>
                  </a:ext>
                </a:extLst>
              </a:tr>
            </a:tbl>
          </a:graphicData>
        </a:graphic>
      </p:graphicFrame>
    </p:spTree>
    <p:extLst>
      <p:ext uri="{BB962C8B-B14F-4D97-AF65-F5344CB8AC3E}">
        <p14:creationId xmlns:p14="http://schemas.microsoft.com/office/powerpoint/2010/main" val="303362697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7ACA1-3579-C0FF-2DA4-CE306B300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881083-09D2-6755-96C4-76DA98FBFC37}"/>
              </a:ext>
            </a:extLst>
          </p:cNvPr>
          <p:cNvSpPr>
            <a:spLocks noGrp="1"/>
          </p:cNvSpPr>
          <p:nvPr>
            <p:ph type="title"/>
          </p:nvPr>
        </p:nvSpPr>
        <p:spPr>
          <a:xfrm>
            <a:off x="348340" y="837212"/>
            <a:ext cx="8229600" cy="886397"/>
          </a:xfrm>
        </p:spPr>
        <p:txBody>
          <a:bodyPr>
            <a:spAutoFit/>
          </a:bodyPr>
          <a:lstStyle/>
          <a:p>
            <a:r>
              <a:rPr lang="en-US" dirty="0"/>
              <a:t>Cash Flows from Operating Activities – Indirect Method</a:t>
            </a:r>
          </a:p>
        </p:txBody>
      </p:sp>
      <p:sp>
        <p:nvSpPr>
          <p:cNvPr id="5" name="Text Placeholder 2">
            <a:extLst>
              <a:ext uri="{FF2B5EF4-FFF2-40B4-BE49-F238E27FC236}">
                <a16:creationId xmlns:a16="http://schemas.microsoft.com/office/drawing/2014/main" id="{DADC9E99-5CDC-78C0-AB8A-F6D7933A6B51}"/>
              </a:ext>
            </a:extLst>
          </p:cNvPr>
          <p:cNvSpPr>
            <a:spLocks noGrp="1"/>
          </p:cNvSpPr>
          <p:nvPr>
            <p:ph type="body" idx="1"/>
          </p:nvPr>
        </p:nvSpPr>
        <p:spPr>
          <a:xfrm>
            <a:off x="335278" y="1944096"/>
            <a:ext cx="8686800" cy="3770263"/>
          </a:xfrm>
        </p:spPr>
        <p:txBody>
          <a:bodyPr>
            <a:spAutoFit/>
          </a:bodyPr>
          <a:lstStyle/>
          <a:p>
            <a:r>
              <a:rPr lang="en-US" sz="2500" dirty="0"/>
              <a:t>Net Income</a:t>
            </a:r>
          </a:p>
          <a:p>
            <a:pPr marL="457200" indent="-457200">
              <a:buFont typeface="+mj-lt"/>
              <a:buAutoNum type="arabicPeriod"/>
            </a:pPr>
            <a:r>
              <a:rPr lang="en-US" sz="2500" dirty="0"/>
              <a:t>+ Non-Cash Charges </a:t>
            </a:r>
          </a:p>
          <a:p>
            <a:pPr marL="744538" indent="-403225">
              <a:buFont typeface="Wingdings" panose="05000000000000000000" pitchFamily="2" charset="2"/>
              <a:buChar char="Ø"/>
            </a:pPr>
            <a:r>
              <a:rPr lang="en-US" sz="2500" dirty="0"/>
              <a:t>Depreciation &amp; amortization</a:t>
            </a:r>
            <a:r>
              <a:rPr lang="en-HK" sz="2500" dirty="0"/>
              <a:t>, etc. </a:t>
            </a:r>
            <a:r>
              <a:rPr lang="en-US" sz="2500" dirty="0"/>
              <a:t> </a:t>
            </a:r>
          </a:p>
          <a:p>
            <a:pPr marL="744538" indent="-403225">
              <a:buFont typeface="Wingdings" panose="05000000000000000000" pitchFamily="2" charset="2"/>
              <a:buChar char="Ø"/>
            </a:pPr>
            <a:r>
              <a:rPr lang="en-US" sz="2500" dirty="0"/>
              <a:t>Losses/Gains from Sale of Assets</a:t>
            </a:r>
          </a:p>
          <a:p>
            <a:r>
              <a:rPr lang="en-US" sz="2500" dirty="0"/>
              <a:t>2.  +/- Changes in </a:t>
            </a:r>
            <a:r>
              <a:rPr lang="en-US" sz="2500" i="1" dirty="0"/>
              <a:t>Operating</a:t>
            </a:r>
            <a:r>
              <a:rPr lang="en-US" sz="2500" dirty="0"/>
              <a:t> Assets and Liabilities (Working Capital)</a:t>
            </a:r>
          </a:p>
          <a:p>
            <a:pPr marL="744538" lvl="4" indent="-403225">
              <a:buFont typeface="Wingdings" panose="05000000000000000000" pitchFamily="2" charset="2"/>
              <a:buChar char="Ø"/>
            </a:pPr>
            <a:r>
              <a:rPr lang="en-US" sz="2500" dirty="0"/>
              <a:t>Increase in Liability / Decrease in Asset: </a:t>
            </a:r>
            <a:r>
              <a:rPr lang="en-US" sz="2500" b="1" dirty="0"/>
              <a:t>Add</a:t>
            </a:r>
          </a:p>
          <a:p>
            <a:pPr marL="744538" lvl="4" indent="-403225">
              <a:buFont typeface="Wingdings" panose="05000000000000000000" pitchFamily="2" charset="2"/>
              <a:buChar char="Ø"/>
            </a:pPr>
            <a:r>
              <a:rPr lang="en-US" sz="2500" dirty="0"/>
              <a:t>Decrease in Liability / Increase in Asset: </a:t>
            </a:r>
            <a:r>
              <a:rPr lang="en-US" sz="2500" b="1" dirty="0"/>
              <a:t>Subtract</a:t>
            </a:r>
            <a:endParaRPr lang="en-US" sz="2500" dirty="0"/>
          </a:p>
        </p:txBody>
      </p:sp>
    </p:spTree>
    <p:extLst>
      <p:ext uri="{BB962C8B-B14F-4D97-AF65-F5344CB8AC3E}">
        <p14:creationId xmlns:p14="http://schemas.microsoft.com/office/powerpoint/2010/main" val="123351951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xfrm>
            <a:off x="457200" y="1153825"/>
            <a:ext cx="8248651" cy="443198"/>
          </a:xfrm>
          <a:prstGeom prst="rect">
            <a:avLst/>
          </a:prstGeom>
        </p:spPr>
        <p:txBody>
          <a:bodyPr>
            <a:spAutoFit/>
          </a:bodyPr>
          <a:lstStyle>
            <a:lvl1pPr>
              <a:defRPr spc="-100"/>
            </a:lvl1pPr>
          </a:lstStyle>
          <a:p>
            <a:pPr lvl="0">
              <a:defRPr sz="1800" spc="0">
                <a:solidFill>
                  <a:srgbClr val="000000"/>
                </a:solidFill>
              </a:defRPr>
            </a:pPr>
            <a:r>
              <a:rPr lang="en-US" sz="3200" spc="-100" dirty="0">
                <a:solidFill>
                  <a:srgbClr val="820E09"/>
                </a:solidFill>
              </a:rPr>
              <a:t>Overall Review</a:t>
            </a:r>
            <a:endParaRPr sz="3200" spc="-100" dirty="0">
              <a:solidFill>
                <a:srgbClr val="820E09"/>
              </a:solidFill>
            </a:endParaRPr>
          </a:p>
        </p:txBody>
      </p:sp>
      <p:sp>
        <p:nvSpPr>
          <p:cNvPr id="73" name="Shape 73"/>
          <p:cNvSpPr/>
          <p:nvPr/>
        </p:nvSpPr>
        <p:spPr>
          <a:xfrm>
            <a:off x="457200" y="1597023"/>
            <a:ext cx="8229600" cy="361637"/>
          </a:xfrm>
          <a:prstGeom prst="rect">
            <a:avLst/>
          </a:prstGeom>
          <a:ln w="12700">
            <a:miter lim="400000"/>
          </a:ln>
          <a:extLst>
            <a:ext uri="{C572A759-6A51-4108-AA02-DFA0A04FC94B}">
              <ma14:wrappingTextBoxFlag xmlns="" xmlns:ma14="http://schemas.microsoft.com/office/mac/drawingml/2011/main" val="1"/>
            </a:ext>
          </a:extLst>
        </p:spPr>
        <p:txBody>
          <a:bodyPr lIns="0" tIns="0" rIns="0" bIns="0">
            <a:spAutoFit/>
          </a:bodyPr>
          <a:lstStyle/>
          <a:p>
            <a:pPr lvl="0">
              <a:spcBef>
                <a:spcPts val="900"/>
              </a:spcBef>
              <a:defRPr sz="1800"/>
            </a:pPr>
            <a:endParaRPr sz="800" u="sng" dirty="0">
              <a:latin typeface="+mj-lt"/>
              <a:ea typeface="+mj-ea"/>
              <a:cs typeface="+mj-cs"/>
              <a:sym typeface="Arial Bold"/>
            </a:endParaRPr>
          </a:p>
          <a:p>
            <a:pPr lvl="0">
              <a:spcBef>
                <a:spcPts val="900"/>
              </a:spcBef>
              <a:defRPr sz="1800"/>
            </a:pPr>
            <a:endParaRPr sz="800" dirty="0">
              <a:latin typeface="+mn-lt"/>
              <a:ea typeface="+mn-ea"/>
              <a:cs typeface="+mn-cs"/>
              <a:sym typeface="Arial"/>
            </a:endParaRPr>
          </a:p>
        </p:txBody>
      </p:sp>
    </p:spTree>
    <p:extLst>
      <p:ext uri="{BB962C8B-B14F-4D97-AF65-F5344CB8AC3E}">
        <p14:creationId xmlns:p14="http://schemas.microsoft.com/office/powerpoint/2010/main" val="343652776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 name="Shape 77"/>
          <p:cNvSpPr>
            <a:spLocks noGrp="1"/>
          </p:cNvSpPr>
          <p:nvPr>
            <p:ph type="title"/>
          </p:nvPr>
        </p:nvSpPr>
        <p:spPr>
          <a:xfrm>
            <a:off x="457200" y="843167"/>
            <a:ext cx="8229600" cy="443198"/>
          </a:xfrm>
          <a:prstGeom prst="rect">
            <a:avLst/>
          </a:prstGeom>
        </p:spPr>
        <p:txBody>
          <a:bodyPr>
            <a:spAutoFit/>
          </a:bodyPr>
          <a:lstStyle>
            <a:lvl1pPr>
              <a:defRPr spc="-100"/>
            </a:lvl1pPr>
          </a:lstStyle>
          <a:p>
            <a:pPr lvl="0">
              <a:defRPr sz="1800" spc="0">
                <a:solidFill>
                  <a:srgbClr val="000000"/>
                </a:solidFill>
              </a:defRPr>
            </a:pPr>
            <a:r>
              <a:rPr lang="en-US" sz="3200" spc="-100" dirty="0">
                <a:solidFill>
                  <a:srgbClr val="820E09"/>
                </a:solidFill>
              </a:rPr>
              <a:t>The Basics</a:t>
            </a:r>
            <a:endParaRPr sz="3200" spc="-100" dirty="0">
              <a:solidFill>
                <a:srgbClr val="820E09"/>
              </a:solidFill>
            </a:endParaRPr>
          </a:p>
        </p:txBody>
      </p:sp>
      <p:sp>
        <p:nvSpPr>
          <p:cNvPr id="2" name="Rectangle 1"/>
          <p:cNvSpPr/>
          <p:nvPr/>
        </p:nvSpPr>
        <p:spPr>
          <a:xfrm>
            <a:off x="712690" y="4037610"/>
            <a:ext cx="7848603" cy="926276"/>
          </a:xfrm>
          <a:prstGeom prst="rect">
            <a:avLst/>
          </a:prstGeom>
          <a:solidFill>
            <a:srgbClr val="FFFFFF"/>
          </a:solidFill>
          <a:ln w="25400" cap="flat">
            <a:solidFill>
              <a:srgbClr val="969696"/>
            </a:solidFill>
            <a:prstDash val="solid"/>
            <a:bevel/>
          </a:ln>
          <a:effectLst/>
        </p:spPr>
        <p:style>
          <a:lnRef idx="0">
            <a:scrgbClr r="0" g="0" b="0"/>
          </a:lnRef>
          <a:fillRef idx="0">
            <a:scrgbClr r="0" g="0" b="0"/>
          </a:fillRef>
          <a:effectRef idx="0">
            <a:scrgbClr r="0" g="0" b="0"/>
          </a:effectRef>
          <a:fontRef idx="none"/>
        </p:style>
        <p:txBody>
          <a:bodyPr rot="0" spcFirstLastPara="1" vertOverflow="overflow" horzOverflow="overflow" vert="horz" wrap="square" lIns="45145" tIns="45145" rIns="45145" bIns="45145" numCol="1" spcCol="38100" rtlCol="0" anchor="t">
            <a:sp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400" b="0" i="0" u="none" strike="noStrike" cap="none" spc="0" normalizeH="0" baseline="0">
              <a:ln>
                <a:noFill/>
              </a:ln>
              <a:solidFill>
                <a:srgbClr val="000000"/>
              </a:solidFill>
              <a:effectLst/>
              <a:uFillTx/>
              <a:latin typeface="Helvetica"/>
              <a:ea typeface="Helvetica"/>
              <a:cs typeface="Helvetica"/>
              <a:sym typeface="Helvetica"/>
            </a:endParaRPr>
          </a:p>
        </p:txBody>
      </p:sp>
      <p:sp>
        <p:nvSpPr>
          <p:cNvPr id="78" name="Shape 78"/>
          <p:cNvSpPr>
            <a:spLocks noGrp="1"/>
          </p:cNvSpPr>
          <p:nvPr>
            <p:ph type="body" idx="1"/>
          </p:nvPr>
        </p:nvSpPr>
        <p:spPr>
          <a:xfrm>
            <a:off x="457200" y="1464455"/>
            <a:ext cx="8229601" cy="3462486"/>
          </a:xfrm>
          <a:prstGeom prst="rect">
            <a:avLst/>
          </a:prstGeom>
        </p:spPr>
        <p:txBody>
          <a:bodyPr>
            <a:spAutoFit/>
          </a:bodyPr>
          <a:lstStyle/>
          <a:p>
            <a:pPr marL="342900" lvl="0" indent="-342900">
              <a:buFont typeface="Arial" panose="020B0604020202020204" pitchFamily="34" charset="0"/>
              <a:buChar char="•"/>
              <a:defRPr sz="1800"/>
            </a:pPr>
            <a:r>
              <a:rPr lang="en-US" sz="2000" dirty="0"/>
              <a:t>Accounting Equation (Balance Sheet)</a:t>
            </a:r>
          </a:p>
          <a:p>
            <a:pPr marL="342900" lvl="0" indent="-342900">
              <a:buFont typeface="Arial" panose="020B0604020202020204" pitchFamily="34" charset="0"/>
              <a:buChar char="•"/>
              <a:defRPr sz="1800"/>
            </a:pPr>
            <a:endParaRPr lang="en-US" sz="2000" dirty="0"/>
          </a:p>
          <a:p>
            <a:pPr marL="342900" lvl="0" indent="-342900">
              <a:buFont typeface="Arial" panose="020B0604020202020204" pitchFamily="34" charset="0"/>
              <a:buChar char="•"/>
              <a:defRPr sz="1800"/>
            </a:pPr>
            <a:endParaRPr lang="en-US" sz="2000" dirty="0"/>
          </a:p>
          <a:p>
            <a:pPr marL="342900" lvl="0" indent="-342900">
              <a:buFont typeface="Arial" panose="020B0604020202020204" pitchFamily="34" charset="0"/>
              <a:buChar char="•"/>
              <a:defRPr sz="1800"/>
            </a:pPr>
            <a:endParaRPr lang="en-US" sz="2000" dirty="0"/>
          </a:p>
          <a:p>
            <a:pPr marL="342900" lvl="0" indent="-342900">
              <a:buFont typeface="Arial" panose="020B0604020202020204" pitchFamily="34" charset="0"/>
              <a:buChar char="•"/>
              <a:defRPr sz="1800"/>
            </a:pPr>
            <a:endParaRPr lang="en-US" sz="2000" dirty="0"/>
          </a:p>
          <a:p>
            <a:pPr marL="342900" lvl="0" indent="-342900">
              <a:buFont typeface="Arial" panose="020B0604020202020204" pitchFamily="34" charset="0"/>
              <a:buChar char="•"/>
              <a:defRPr sz="1800"/>
            </a:pPr>
            <a:r>
              <a:rPr lang="en-US" sz="2000" dirty="0"/>
              <a:t>Journal Entries &amp; T-Accounts</a:t>
            </a:r>
          </a:p>
          <a:p>
            <a:pPr lvl="0">
              <a:defRPr sz="1800"/>
            </a:pPr>
            <a:endParaRPr lang="en-US" sz="500" dirty="0"/>
          </a:p>
          <a:p>
            <a:pPr lvl="0">
              <a:defRPr sz="1800"/>
            </a:pPr>
            <a:r>
              <a:rPr lang="en-US" sz="2000" dirty="0"/>
              <a:t>	Dr: Debited Account	Debited Amount ($)</a:t>
            </a:r>
          </a:p>
          <a:p>
            <a:pPr lvl="0">
              <a:defRPr sz="1800"/>
            </a:pPr>
            <a:r>
              <a:rPr lang="en-US" sz="2000" dirty="0"/>
              <a:t>		Cr: Credit Account	Credited Amount ($)</a:t>
            </a:r>
          </a:p>
        </p:txBody>
      </p:sp>
      <p:graphicFrame>
        <p:nvGraphicFramePr>
          <p:cNvPr id="4" name="Table 3"/>
          <p:cNvGraphicFramePr>
            <a:graphicFrameLocks noGrp="1"/>
          </p:cNvGraphicFramePr>
          <p:nvPr>
            <p:extLst>
              <p:ext uri="{D42A27DB-BD31-4B8C-83A1-F6EECF244321}">
                <p14:modId xmlns:p14="http://schemas.microsoft.com/office/powerpoint/2010/main" val="3415880166"/>
              </p:ext>
            </p:extLst>
          </p:nvPr>
        </p:nvGraphicFramePr>
        <p:xfrm>
          <a:off x="286867" y="2223536"/>
          <a:ext cx="8570261" cy="762000"/>
        </p:xfrm>
        <a:graphic>
          <a:graphicData uri="http://schemas.openxmlformats.org/drawingml/2006/table">
            <a:tbl>
              <a:tblPr firstRow="1" bandRow="1">
                <a:tableStyleId>{F5AB1C69-6EDB-4FF4-983F-18BD219EF322}</a:tableStyleId>
              </a:tblPr>
              <a:tblGrid>
                <a:gridCol w="2249504">
                  <a:extLst>
                    <a:ext uri="{9D8B030D-6E8A-4147-A177-3AD203B41FA5}">
                      <a16:colId xmlns:a16="http://schemas.microsoft.com/office/drawing/2014/main" val="20000"/>
                    </a:ext>
                  </a:extLst>
                </a:gridCol>
                <a:gridCol w="1154424">
                  <a:extLst>
                    <a:ext uri="{9D8B030D-6E8A-4147-A177-3AD203B41FA5}">
                      <a16:colId xmlns:a16="http://schemas.microsoft.com/office/drawing/2014/main" val="20003"/>
                    </a:ext>
                  </a:extLst>
                </a:gridCol>
                <a:gridCol w="2100405">
                  <a:extLst>
                    <a:ext uri="{9D8B030D-6E8A-4147-A177-3AD203B41FA5}">
                      <a16:colId xmlns:a16="http://schemas.microsoft.com/office/drawing/2014/main" val="20004"/>
                    </a:ext>
                  </a:extLst>
                </a:gridCol>
                <a:gridCol w="851647">
                  <a:extLst>
                    <a:ext uri="{9D8B030D-6E8A-4147-A177-3AD203B41FA5}">
                      <a16:colId xmlns:a16="http://schemas.microsoft.com/office/drawing/2014/main" val="20007"/>
                    </a:ext>
                  </a:extLst>
                </a:gridCol>
                <a:gridCol w="2214281">
                  <a:extLst>
                    <a:ext uri="{9D8B030D-6E8A-4147-A177-3AD203B41FA5}">
                      <a16:colId xmlns:a16="http://schemas.microsoft.com/office/drawing/2014/main" val="20008"/>
                    </a:ext>
                  </a:extLst>
                </a:gridCol>
              </a:tblGrid>
              <a:tr h="537467">
                <a:tc>
                  <a:txBody>
                    <a:bodyPr/>
                    <a:lstStyle/>
                    <a:p>
                      <a:pPr algn="ctr"/>
                      <a:r>
                        <a:rPr lang="en-US" sz="2200" dirty="0">
                          <a:solidFill>
                            <a:schemeClr val="tx1"/>
                          </a:solidFill>
                          <a:latin typeface="+mn-lt"/>
                        </a:rPr>
                        <a:t>Assets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latin typeface="+mn-lt"/>
                        </a:rPr>
                        <a:t>Liabilities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latin typeface="+mn-lt"/>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2200" dirty="0">
                          <a:solidFill>
                            <a:schemeClr val="tx1"/>
                          </a:solidFill>
                          <a:latin typeface="+mn-lt"/>
                        </a:rPr>
                        <a:t>Shareholders’ Equity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780393394"/>
              </p:ext>
            </p:extLst>
          </p:nvPr>
        </p:nvGraphicFramePr>
        <p:xfrm>
          <a:off x="712690" y="5141976"/>
          <a:ext cx="7848603" cy="1112520"/>
        </p:xfrm>
        <a:graphic>
          <a:graphicData uri="http://schemas.openxmlformats.org/drawingml/2006/table">
            <a:tbl>
              <a:tblPr firstRow="1" bandRow="1">
                <a:tableStyleId>{5C22544A-7EE6-4342-B048-85BDC9FD1C3A}</a:tableStyleId>
              </a:tblPr>
              <a:tblGrid>
                <a:gridCol w="2616201">
                  <a:extLst>
                    <a:ext uri="{9D8B030D-6E8A-4147-A177-3AD203B41FA5}">
                      <a16:colId xmlns:a16="http://schemas.microsoft.com/office/drawing/2014/main" val="20000"/>
                    </a:ext>
                  </a:extLst>
                </a:gridCol>
                <a:gridCol w="2616201">
                  <a:extLst>
                    <a:ext uri="{9D8B030D-6E8A-4147-A177-3AD203B41FA5}">
                      <a16:colId xmlns:a16="http://schemas.microsoft.com/office/drawing/2014/main" val="20001"/>
                    </a:ext>
                  </a:extLst>
                </a:gridCol>
                <a:gridCol w="2616201">
                  <a:extLst>
                    <a:ext uri="{9D8B030D-6E8A-4147-A177-3AD203B41FA5}">
                      <a16:colId xmlns:a16="http://schemas.microsoft.com/office/drawing/2014/main" val="20002"/>
                    </a:ext>
                  </a:extLst>
                </a:gridCol>
              </a:tblGrid>
              <a:tr h="370840">
                <a:tc>
                  <a:txBody>
                    <a:bodyPr/>
                    <a:lstStyle/>
                    <a:p>
                      <a:r>
                        <a:rPr lang="en-US" sz="1600" dirty="0">
                          <a:solidFill>
                            <a:schemeClr val="tx1"/>
                          </a:solidFill>
                          <a:latin typeface="+mn-lt"/>
                        </a:rPr>
                        <a:t>Account Type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latin typeface="+mn-lt"/>
                        </a:rPr>
                        <a:t>Debit</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mn-lt"/>
                        </a:rPr>
                        <a:t>Credit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0840">
                <a:tc>
                  <a:txBody>
                    <a:bodyPr/>
                    <a:lstStyle/>
                    <a:p>
                      <a:r>
                        <a:rPr lang="en-US" sz="1600" dirty="0">
                          <a:solidFill>
                            <a:schemeClr val="tx1"/>
                          </a:solidFill>
                          <a:latin typeface="+mn-lt"/>
                        </a:rPr>
                        <a:t>Asset (Expense)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600" dirty="0">
                          <a:solidFill>
                            <a:schemeClr val="tx1"/>
                          </a:solidFill>
                          <a:latin typeface="+mn-lt"/>
                        </a:rPr>
                        <a:t>Increase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tc>
                  <a:txBody>
                    <a:bodyPr/>
                    <a:lstStyle/>
                    <a:p>
                      <a:pPr algn="ctr"/>
                      <a:r>
                        <a:rPr lang="en-US" sz="1600" dirty="0">
                          <a:solidFill>
                            <a:schemeClr val="tx1"/>
                          </a:solidFill>
                          <a:latin typeface="+mn-lt"/>
                        </a:rPr>
                        <a:t>Decrease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0001"/>
                  </a:ext>
                </a:extLst>
              </a:tr>
              <a:tr h="370840">
                <a:tc>
                  <a:txBody>
                    <a:bodyPr/>
                    <a:lstStyle/>
                    <a:p>
                      <a:r>
                        <a:rPr lang="en-US" sz="1600" dirty="0">
                          <a:solidFill>
                            <a:schemeClr val="tx1"/>
                          </a:solidFill>
                          <a:latin typeface="+mn-lt"/>
                        </a:rPr>
                        <a:t>Liability (Revenue)</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600" dirty="0">
                          <a:solidFill>
                            <a:schemeClr val="tx1"/>
                          </a:solidFill>
                          <a:latin typeface="+mn-lt"/>
                        </a:rPr>
                        <a:t>Decrease</a:t>
                      </a:r>
                    </a:p>
                  </a:txBody>
                  <a:tcPr>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latin typeface="+mn-lt"/>
                        </a:rPr>
                        <a:t>Increase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588456233"/>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43167"/>
            <a:ext cx="8229600" cy="443198"/>
          </a:xfrm>
        </p:spPr>
        <p:txBody>
          <a:bodyPr>
            <a:spAutoFit/>
          </a:bodyPr>
          <a:lstStyle/>
          <a:p>
            <a:r>
              <a:rPr lang="en-US" dirty="0"/>
              <a:t>The Basics</a:t>
            </a:r>
          </a:p>
        </p:txBody>
      </p:sp>
      <p:sp>
        <p:nvSpPr>
          <p:cNvPr id="3" name="Content Placeholder 2"/>
          <p:cNvSpPr>
            <a:spLocks noGrp="1"/>
          </p:cNvSpPr>
          <p:nvPr>
            <p:ph type="body" idx="1"/>
          </p:nvPr>
        </p:nvSpPr>
        <p:spPr>
          <a:xfrm>
            <a:off x="457199" y="1502228"/>
            <a:ext cx="8229601" cy="5220536"/>
          </a:xfrm>
        </p:spPr>
        <p:txBody>
          <a:bodyPr>
            <a:normAutofit lnSpcReduction="10000"/>
          </a:bodyPr>
          <a:lstStyle/>
          <a:p>
            <a:r>
              <a:rPr lang="en-US" dirty="0"/>
              <a:t>A = L + SE</a:t>
            </a:r>
          </a:p>
          <a:p>
            <a:r>
              <a:rPr lang="en-US" dirty="0"/>
              <a:t>A – L = SE</a:t>
            </a:r>
          </a:p>
          <a:p>
            <a:r>
              <a:rPr lang="en-US" b="1" dirty="0"/>
              <a:t>Assets</a:t>
            </a:r>
            <a:r>
              <a:rPr lang="en-US" dirty="0"/>
              <a:t> (what you have): </a:t>
            </a:r>
            <a:r>
              <a:rPr lang="en-US" i="1" dirty="0"/>
              <a:t>measurable resources</a:t>
            </a:r>
            <a:r>
              <a:rPr lang="en-US" dirty="0"/>
              <a:t> with potential to provide future economic benefits to a firm.</a:t>
            </a:r>
          </a:p>
          <a:p>
            <a:r>
              <a:rPr lang="en-US" b="1" dirty="0"/>
              <a:t>Liabilities</a:t>
            </a:r>
            <a:r>
              <a:rPr lang="en-US" dirty="0"/>
              <a:t> (what you owe): creditors’ claims to firm resources (i.e., obligations to sacrifice resources).</a:t>
            </a:r>
          </a:p>
          <a:p>
            <a:r>
              <a:rPr lang="en-US" b="1" dirty="0"/>
              <a:t>Shareholders’ Equity</a:t>
            </a:r>
            <a:r>
              <a:rPr lang="en-US" dirty="0"/>
              <a:t> (net worth, what is left over): residual claim by owners on assets after all liabilities have been satisfied.</a:t>
            </a:r>
          </a:p>
          <a:p>
            <a:r>
              <a:rPr lang="en-US" dirty="0"/>
              <a:t>So, A – L = SE implies that (what you have) – (what you owe) = net worth. If you’re getting confused as to when to debit or credit an account, this thought process will usually guide you through it!</a:t>
            </a:r>
          </a:p>
        </p:txBody>
      </p:sp>
    </p:spTree>
    <p:extLst>
      <p:ext uri="{BB962C8B-B14F-4D97-AF65-F5344CB8AC3E}">
        <p14:creationId xmlns:p14="http://schemas.microsoft.com/office/powerpoint/2010/main" val="336083540"/>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Basics</a:t>
            </a:r>
          </a:p>
        </p:txBody>
      </p:sp>
      <p:sp>
        <p:nvSpPr>
          <p:cNvPr id="3" name="Content Placeholder 2"/>
          <p:cNvSpPr>
            <a:spLocks noGrp="1"/>
          </p:cNvSpPr>
          <p:nvPr>
            <p:ph type="body" idx="1"/>
          </p:nvPr>
        </p:nvSpPr>
        <p:spPr>
          <a:xfrm>
            <a:off x="457200" y="1454258"/>
            <a:ext cx="8229601" cy="4178067"/>
          </a:xfrm>
        </p:spPr>
        <p:txBody>
          <a:bodyPr>
            <a:spAutoFit/>
          </a:bodyPr>
          <a:lstStyle/>
          <a:p>
            <a:r>
              <a:rPr lang="en-US" dirty="0"/>
              <a:t>A = L + SE</a:t>
            </a:r>
          </a:p>
          <a:p>
            <a:r>
              <a:rPr lang="en-US" dirty="0"/>
              <a:t>ΔA = ΔL + ΔSE</a:t>
            </a:r>
          </a:p>
          <a:p>
            <a:r>
              <a:rPr lang="en-US" dirty="0"/>
              <a:t>ΔA = ΔL + ΔCS + ΔRE. Here we introduce the key concept of </a:t>
            </a:r>
            <a:r>
              <a:rPr lang="en-US" i="1" dirty="0"/>
              <a:t>Net Income</a:t>
            </a:r>
            <a:endParaRPr lang="en-US" dirty="0"/>
          </a:p>
          <a:p>
            <a:r>
              <a:rPr lang="en-US" dirty="0"/>
              <a:t>ΔA = ΔL + ΔCS + NI – Dividends</a:t>
            </a:r>
          </a:p>
          <a:p>
            <a:r>
              <a:rPr lang="en-US" dirty="0"/>
              <a:t>ΔA = ΔL + ΔCS + (Revenues – Expenses) – Dividends</a:t>
            </a:r>
          </a:p>
          <a:p>
            <a:r>
              <a:rPr lang="en-US" dirty="0"/>
              <a:t>So, rewriting this as A – L = SE, note that income increases net assets (A – L) by the same amount it increases shareholders’ equity/net worth (SE).</a:t>
            </a:r>
          </a:p>
        </p:txBody>
      </p:sp>
    </p:spTree>
    <p:extLst>
      <p:ext uri="{BB962C8B-B14F-4D97-AF65-F5344CB8AC3E}">
        <p14:creationId xmlns:p14="http://schemas.microsoft.com/office/powerpoint/2010/main" val="2890674570"/>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Statement of Cash Flows</a:t>
            </a:r>
          </a:p>
        </p:txBody>
      </p:sp>
      <p:sp>
        <p:nvSpPr>
          <p:cNvPr id="3" name="Text Placeholder 2"/>
          <p:cNvSpPr>
            <a:spLocks noGrp="1"/>
          </p:cNvSpPr>
          <p:nvPr>
            <p:ph type="body" idx="1"/>
          </p:nvPr>
        </p:nvSpPr>
        <p:spPr>
          <a:xfrm>
            <a:off x="457199" y="1508336"/>
            <a:ext cx="8229601" cy="2977738"/>
          </a:xfrm>
        </p:spPr>
        <p:txBody>
          <a:bodyPr>
            <a:spAutoFit/>
          </a:bodyPr>
          <a:lstStyle/>
          <a:p>
            <a:r>
              <a:rPr lang="en-US" dirty="0"/>
              <a:t>Comprised of 3 sections</a:t>
            </a:r>
          </a:p>
          <a:p>
            <a:pPr marL="457200" indent="-457200">
              <a:buFont typeface="Arial" panose="020B0604020202020204" pitchFamily="34" charset="0"/>
              <a:buChar char="•"/>
            </a:pPr>
            <a:r>
              <a:rPr lang="en-US" dirty="0"/>
              <a:t>Cash Flows from </a:t>
            </a:r>
            <a:r>
              <a:rPr lang="en-US" b="1" dirty="0"/>
              <a:t>Operating</a:t>
            </a:r>
            <a:r>
              <a:rPr lang="en-US" dirty="0"/>
              <a:t> Activities (CFO)</a:t>
            </a:r>
          </a:p>
          <a:p>
            <a:pPr marL="685800" lvl="1" indent="-457200">
              <a:buFont typeface="Arial" panose="020B0604020202020204" pitchFamily="34" charset="0"/>
              <a:buChar char="•"/>
            </a:pPr>
            <a:r>
              <a:rPr lang="en-US" dirty="0"/>
              <a:t>Direct Method</a:t>
            </a:r>
          </a:p>
          <a:p>
            <a:pPr marL="685800" lvl="1" indent="-457200">
              <a:buFont typeface="Arial" panose="020B0604020202020204" pitchFamily="34" charset="0"/>
              <a:buChar char="•"/>
            </a:pPr>
            <a:r>
              <a:rPr lang="en-US" dirty="0"/>
              <a:t>Indirect Method</a:t>
            </a:r>
          </a:p>
          <a:p>
            <a:pPr marL="457200" indent="-457200">
              <a:buFont typeface="Arial" panose="020B0604020202020204" pitchFamily="34" charset="0"/>
              <a:buChar char="•"/>
            </a:pPr>
            <a:r>
              <a:rPr lang="en-US" dirty="0"/>
              <a:t>Cash Flows from </a:t>
            </a:r>
            <a:r>
              <a:rPr lang="en-US" b="1" dirty="0"/>
              <a:t>Investing</a:t>
            </a:r>
            <a:r>
              <a:rPr lang="en-US" dirty="0"/>
              <a:t> Activities (CFI)</a:t>
            </a:r>
          </a:p>
          <a:p>
            <a:pPr marL="457200" indent="-457200">
              <a:buFont typeface="Arial" panose="020B0604020202020204" pitchFamily="34" charset="0"/>
              <a:buChar char="•"/>
            </a:pPr>
            <a:r>
              <a:rPr lang="en-US" dirty="0"/>
              <a:t>Cash Flows from </a:t>
            </a:r>
            <a:r>
              <a:rPr lang="en-US" b="1" dirty="0"/>
              <a:t>Financing</a:t>
            </a:r>
            <a:r>
              <a:rPr lang="en-US" dirty="0"/>
              <a:t> Activities (CFF)</a:t>
            </a:r>
          </a:p>
        </p:txBody>
      </p:sp>
    </p:spTree>
    <p:extLst>
      <p:ext uri="{BB962C8B-B14F-4D97-AF65-F5344CB8AC3E}">
        <p14:creationId xmlns:p14="http://schemas.microsoft.com/office/powerpoint/2010/main" val="293453595"/>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457200" y="843167"/>
            <a:ext cx="8229600" cy="443198"/>
          </a:xfrm>
        </p:spPr>
        <p:txBody>
          <a:bodyPr>
            <a:spAutoFit/>
          </a:bodyPr>
          <a:lstStyle/>
          <a:p>
            <a:r>
              <a:rPr lang="en-US" dirty="0">
                <a:solidFill>
                  <a:srgbClr val="820009"/>
                </a:solidFill>
              </a:rPr>
              <a:t>Define Direct and Indirect Methods</a:t>
            </a:r>
            <a:endParaRPr lang="en-US" dirty="0"/>
          </a:p>
        </p:txBody>
      </p:sp>
      <p:sp>
        <p:nvSpPr>
          <p:cNvPr id="4" name="Content Placeholder 3"/>
          <p:cNvSpPr>
            <a:spLocks noGrp="1"/>
          </p:cNvSpPr>
          <p:nvPr>
            <p:ph type="body" idx="1"/>
          </p:nvPr>
        </p:nvSpPr>
        <p:spPr>
          <a:xfrm>
            <a:off x="457198" y="1301858"/>
            <a:ext cx="8229601" cy="4716676"/>
          </a:xfrm>
        </p:spPr>
        <p:txBody>
          <a:bodyPr>
            <a:spAutoFit/>
          </a:bodyPr>
          <a:lstStyle/>
          <a:p>
            <a:pPr lvl="1">
              <a:buClr>
                <a:srgbClr val="000000"/>
              </a:buClr>
              <a:buFont typeface="Wingdings" charset="2"/>
              <a:buChar char="§"/>
            </a:pPr>
            <a:r>
              <a:rPr lang="en-US" sz="1600" dirty="0">
                <a:solidFill>
                  <a:srgbClr val="000000"/>
                </a:solidFill>
              </a:rPr>
              <a:t>Only relevant for operating activities, investing and financing activities always uses the direct method</a:t>
            </a:r>
          </a:p>
          <a:p>
            <a:pPr lvl="1">
              <a:buClr>
                <a:srgbClr val="000000"/>
              </a:buClr>
              <a:buFont typeface="Wingdings" charset="2"/>
              <a:buChar char="§"/>
            </a:pPr>
            <a:r>
              <a:rPr lang="en-US" sz="1600" i="1" dirty="0">
                <a:solidFill>
                  <a:srgbClr val="6E0000"/>
                </a:solidFill>
              </a:rPr>
              <a:t>Direct Method</a:t>
            </a:r>
          </a:p>
          <a:p>
            <a:pPr lvl="3">
              <a:buClr>
                <a:srgbClr val="000000"/>
              </a:buClr>
            </a:pPr>
            <a:r>
              <a:rPr lang="en-US" sz="1600" i="1" dirty="0">
                <a:solidFill>
                  <a:srgbClr val="000000"/>
                </a:solidFill>
              </a:rPr>
              <a:t>Directly</a:t>
            </a:r>
            <a:r>
              <a:rPr lang="en-US" sz="1600" dirty="0">
                <a:solidFill>
                  <a:srgbClr val="000000"/>
                </a:solidFill>
              </a:rPr>
              <a:t> lists individual cash receipts and disbursements by source/use of funds</a:t>
            </a:r>
            <a:r>
              <a:rPr lang="en-US" sz="1600" b="1" dirty="0">
                <a:solidFill>
                  <a:srgbClr val="000000"/>
                </a:solidFill>
              </a:rPr>
              <a:t> </a:t>
            </a:r>
            <a:endParaRPr lang="en-US" sz="1600" dirty="0">
              <a:solidFill>
                <a:srgbClr val="000000"/>
              </a:solidFill>
            </a:endParaRPr>
          </a:p>
          <a:p>
            <a:pPr lvl="3">
              <a:buClr>
                <a:srgbClr val="000000"/>
              </a:buClr>
            </a:pPr>
            <a:r>
              <a:rPr lang="en-US" sz="1600" dirty="0">
                <a:solidFill>
                  <a:srgbClr val="000000"/>
                </a:solidFill>
              </a:rPr>
              <a:t>Always used for investing and financing activities</a:t>
            </a:r>
          </a:p>
          <a:p>
            <a:pPr lvl="3">
              <a:buClr>
                <a:srgbClr val="000000"/>
              </a:buClr>
            </a:pPr>
            <a:r>
              <a:rPr lang="en-US" sz="1600" dirty="0">
                <a:solidFill>
                  <a:srgbClr val="000000"/>
                </a:solidFill>
              </a:rPr>
              <a:t>Occasionally used for operating activities</a:t>
            </a:r>
            <a:r>
              <a:rPr lang="en-US" sz="1600" b="1" dirty="0">
                <a:solidFill>
                  <a:srgbClr val="000000"/>
                </a:solidFill>
              </a:rPr>
              <a:t> </a:t>
            </a:r>
            <a:endParaRPr lang="en-US" sz="1600" dirty="0">
              <a:solidFill>
                <a:srgbClr val="000000"/>
              </a:solidFill>
            </a:endParaRPr>
          </a:p>
          <a:p>
            <a:pPr lvl="1">
              <a:buClr>
                <a:srgbClr val="000000"/>
              </a:buClr>
              <a:buFont typeface="Wingdings" charset="2"/>
              <a:buChar char="§"/>
            </a:pPr>
            <a:endParaRPr lang="en-US" sz="1600" dirty="0">
              <a:solidFill>
                <a:srgbClr val="000000"/>
              </a:solidFill>
            </a:endParaRPr>
          </a:p>
          <a:p>
            <a:pPr lvl="1">
              <a:buClr>
                <a:srgbClr val="000000"/>
              </a:buClr>
              <a:buFont typeface="Wingdings" charset="2"/>
              <a:buChar char="§"/>
            </a:pPr>
            <a:r>
              <a:rPr lang="en-US" sz="1600" i="1" dirty="0">
                <a:solidFill>
                  <a:srgbClr val="6E0000"/>
                </a:solidFill>
              </a:rPr>
              <a:t>Indirect Method</a:t>
            </a:r>
          </a:p>
          <a:p>
            <a:pPr lvl="3" algn="l">
              <a:buClr>
                <a:srgbClr val="000000"/>
              </a:buClr>
            </a:pPr>
            <a:r>
              <a:rPr lang="en-US" sz="1600" dirty="0">
                <a:solidFill>
                  <a:srgbClr val="000000"/>
                </a:solidFill>
              </a:rPr>
              <a:t>Only used for operating activities</a:t>
            </a:r>
            <a:r>
              <a:rPr lang="en-US" sz="1600" b="1" dirty="0">
                <a:solidFill>
                  <a:srgbClr val="000000"/>
                </a:solidFill>
              </a:rPr>
              <a:t> </a:t>
            </a:r>
            <a:endParaRPr lang="en-US" sz="1600" dirty="0">
              <a:solidFill>
                <a:srgbClr val="000000"/>
              </a:solidFill>
            </a:endParaRPr>
          </a:p>
          <a:p>
            <a:pPr lvl="3" algn="l">
              <a:buClr>
                <a:srgbClr val="000000"/>
              </a:buClr>
            </a:pPr>
            <a:r>
              <a:rPr lang="en-US" sz="1600" b="1" dirty="0">
                <a:solidFill>
                  <a:srgbClr val="000000"/>
                </a:solidFill>
              </a:rPr>
              <a:t>Goal is to reconcile net income with cash from operations by removing non-cash items from net income</a:t>
            </a:r>
          </a:p>
          <a:p>
            <a:pPr lvl="3" algn="l">
              <a:buClr>
                <a:srgbClr val="000000"/>
              </a:buClr>
            </a:pPr>
            <a:r>
              <a:rPr lang="en-US" sz="1600" dirty="0">
                <a:solidFill>
                  <a:srgbClr val="000000"/>
                </a:solidFill>
              </a:rPr>
              <a:t>Almost every company uses this method for operating activities</a:t>
            </a:r>
          </a:p>
          <a:p>
            <a:pPr lvl="1">
              <a:buClr>
                <a:srgbClr val="000000"/>
              </a:buClr>
              <a:buFont typeface="Wingdings" charset="2"/>
              <a:buChar char="§"/>
            </a:pPr>
            <a:endParaRPr lang="en-US" sz="1600" dirty="0">
              <a:solidFill>
                <a:srgbClr val="000000"/>
              </a:solidFill>
            </a:endParaRPr>
          </a:p>
          <a:p>
            <a:pPr lvl="1">
              <a:buClr>
                <a:srgbClr val="000000"/>
              </a:buClr>
              <a:buFont typeface="Wingdings" charset="2"/>
              <a:buChar char="§"/>
            </a:pPr>
            <a:r>
              <a:rPr lang="en-US" sz="1600" dirty="0">
                <a:solidFill>
                  <a:srgbClr val="000000"/>
                </a:solidFill>
              </a:rPr>
              <a:t>The two methods are alternative ways to arrive at the same number.</a:t>
            </a:r>
          </a:p>
        </p:txBody>
      </p:sp>
    </p:spTree>
    <p:extLst>
      <p:ext uri="{BB962C8B-B14F-4D97-AF65-F5344CB8AC3E}">
        <p14:creationId xmlns:p14="http://schemas.microsoft.com/office/powerpoint/2010/main" val="1247730629"/>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8" y="803730"/>
            <a:ext cx="8229600" cy="886397"/>
          </a:xfrm>
        </p:spPr>
        <p:txBody>
          <a:bodyPr>
            <a:spAutoFit/>
          </a:bodyPr>
          <a:lstStyle/>
          <a:p>
            <a:r>
              <a:rPr lang="en-US" dirty="0"/>
              <a:t>Cash Flows from Operating Activities – Direct Method</a:t>
            </a:r>
          </a:p>
        </p:txBody>
      </p:sp>
      <p:graphicFrame>
        <p:nvGraphicFramePr>
          <p:cNvPr id="5" name="Table 4"/>
          <p:cNvGraphicFramePr>
            <a:graphicFrameLocks noGrp="1"/>
          </p:cNvGraphicFramePr>
          <p:nvPr>
            <p:extLst>
              <p:ext uri="{D42A27DB-BD31-4B8C-83A1-F6EECF244321}">
                <p14:modId xmlns:p14="http://schemas.microsoft.com/office/powerpoint/2010/main" val="2269870514"/>
              </p:ext>
            </p:extLst>
          </p:nvPr>
        </p:nvGraphicFramePr>
        <p:xfrm>
          <a:off x="779027" y="1938524"/>
          <a:ext cx="7585941" cy="2277216"/>
        </p:xfrm>
        <a:graphic>
          <a:graphicData uri="http://schemas.openxmlformats.org/drawingml/2006/table">
            <a:tbl>
              <a:tblPr firstRow="1" bandRow="1">
                <a:tableStyleId>{5C22544A-7EE6-4342-B048-85BDC9FD1C3A}</a:tableStyleId>
              </a:tblPr>
              <a:tblGrid>
                <a:gridCol w="5959021">
                  <a:extLst>
                    <a:ext uri="{9D8B030D-6E8A-4147-A177-3AD203B41FA5}">
                      <a16:colId xmlns:a16="http://schemas.microsoft.com/office/drawing/2014/main" val="1830342829"/>
                    </a:ext>
                  </a:extLst>
                </a:gridCol>
                <a:gridCol w="1626920">
                  <a:extLst>
                    <a:ext uri="{9D8B030D-6E8A-4147-A177-3AD203B41FA5}">
                      <a16:colId xmlns:a16="http://schemas.microsoft.com/office/drawing/2014/main" val="994535020"/>
                    </a:ext>
                  </a:extLst>
                </a:gridCol>
              </a:tblGrid>
              <a:tr h="284652">
                <a:tc>
                  <a:txBody>
                    <a:bodyPr/>
                    <a:lstStyle/>
                    <a:p>
                      <a:pPr marL="0" algn="l" defTabSz="914400" rtl="0" eaLnBrk="1" latinLnBrk="0" hangingPunct="1">
                        <a:spcBef>
                          <a:spcPts val="0"/>
                        </a:spcBef>
                      </a:pPr>
                      <a:r>
                        <a:rPr lang="en-US" sz="1600" b="1" kern="1200" baseline="0" dirty="0">
                          <a:solidFill>
                            <a:schemeClr val="tx1"/>
                          </a:solidFill>
                          <a:latin typeface="+mn-lt"/>
                          <a:ea typeface="+mn-ea"/>
                          <a:cs typeface="+mn-cs"/>
                        </a:rPr>
                        <a:t>Operating Activities</a:t>
                      </a:r>
                      <a:endParaRPr lang="en-US" sz="1600" b="1" kern="1200" dirty="0">
                        <a:solidFill>
                          <a:schemeClr val="tx1"/>
                        </a:solidFill>
                        <a:latin typeface="+mn-lt"/>
                        <a:ea typeface="+mn-ea"/>
                        <a:cs typeface="+mn-cs"/>
                      </a:endParaRPr>
                    </a:p>
                  </a:txBody>
                  <a:tcPr marL="91414" marR="91414" marT="0" marB="0" anchor="ctr">
                    <a:solidFill>
                      <a:schemeClr val="accent5">
                        <a:lumMod val="20000"/>
                        <a:lumOff val="80000"/>
                      </a:schemeClr>
                    </a:solidFill>
                  </a:tcPr>
                </a:tc>
                <a:tc>
                  <a:txBody>
                    <a:bodyPr/>
                    <a:lstStyle/>
                    <a:p>
                      <a:pPr marL="0" algn="l" defTabSz="914400" rtl="0" eaLnBrk="1" latinLnBrk="0" hangingPunct="1">
                        <a:spcBef>
                          <a:spcPts val="0"/>
                        </a:spcBef>
                      </a:pPr>
                      <a:endParaRPr lang="en-US" sz="1400" kern="1200" dirty="0">
                        <a:solidFill>
                          <a:schemeClr val="tx1"/>
                        </a:solidFill>
                        <a:latin typeface="+mn-lt"/>
                        <a:ea typeface="+mn-ea"/>
                        <a:cs typeface="+mn-cs"/>
                      </a:endParaRPr>
                    </a:p>
                  </a:txBody>
                  <a:tcPr marL="91414" marR="91414" marT="0" marB="0" anchor="ctr">
                    <a:solidFill>
                      <a:schemeClr val="accent5">
                        <a:lumMod val="20000"/>
                        <a:lumOff val="80000"/>
                      </a:schemeClr>
                    </a:solidFill>
                  </a:tcPr>
                </a:tc>
                <a:extLst>
                  <a:ext uri="{0D108BD9-81ED-4DB2-BD59-A6C34878D82A}">
                    <a16:rowId xmlns:a16="http://schemas.microsoft.com/office/drawing/2014/main" val="3469790416"/>
                  </a:ext>
                </a:extLst>
              </a:tr>
              <a:tr h="284652">
                <a:tc>
                  <a:txBody>
                    <a:bodyPr/>
                    <a:lstStyle/>
                    <a:p>
                      <a:pPr algn="l">
                        <a:spcBef>
                          <a:spcPts val="0"/>
                        </a:spcBef>
                      </a:pPr>
                      <a:r>
                        <a:rPr lang="en-US" sz="1600" i="1" dirty="0">
                          <a:solidFill>
                            <a:schemeClr val="tx1"/>
                          </a:solidFill>
                        </a:rPr>
                        <a:t>Sources</a:t>
                      </a:r>
                      <a:r>
                        <a:rPr lang="en-US" sz="1600" i="1" baseline="0" dirty="0">
                          <a:solidFill>
                            <a:schemeClr val="tx1"/>
                          </a:solidFill>
                        </a:rPr>
                        <a:t> of Cash</a:t>
                      </a:r>
                      <a:endParaRPr lang="en-US" sz="1600" i="1" dirty="0">
                        <a:solidFill>
                          <a:schemeClr val="tx1"/>
                        </a:solidFill>
                      </a:endParaRPr>
                    </a:p>
                  </a:txBody>
                  <a:tcPr marL="91414" marR="91414" marT="0" marB="0" anchor="ctr">
                    <a:solidFill>
                      <a:schemeClr val="accent5">
                        <a:lumMod val="20000"/>
                        <a:lumOff val="80000"/>
                      </a:schemeClr>
                    </a:solidFill>
                  </a:tcPr>
                </a:tc>
                <a:tc>
                  <a:txBody>
                    <a:bodyPr/>
                    <a:lstStyle/>
                    <a:p>
                      <a:pPr algn="r">
                        <a:spcBef>
                          <a:spcPts val="0"/>
                        </a:spcBef>
                      </a:pPr>
                      <a:endParaRPr lang="en-US" sz="1600" u="sng" dirty="0">
                        <a:solidFill>
                          <a:schemeClr val="tx1"/>
                        </a:solidFill>
                      </a:endParaRPr>
                    </a:p>
                  </a:txBody>
                  <a:tcPr marL="91414" marR="91414" marT="0" marB="0" anchor="ctr">
                    <a:solidFill>
                      <a:schemeClr val="accent5">
                        <a:lumMod val="20000"/>
                        <a:lumOff val="80000"/>
                      </a:schemeClr>
                    </a:solidFill>
                  </a:tcPr>
                </a:tc>
                <a:extLst>
                  <a:ext uri="{0D108BD9-81ED-4DB2-BD59-A6C34878D82A}">
                    <a16:rowId xmlns:a16="http://schemas.microsoft.com/office/drawing/2014/main" val="3722011290"/>
                  </a:ext>
                </a:extLst>
              </a:tr>
              <a:tr h="284652">
                <a:tc>
                  <a:txBody>
                    <a:bodyPr/>
                    <a:lstStyle/>
                    <a:p>
                      <a:pPr algn="l">
                        <a:spcBef>
                          <a:spcPts val="0"/>
                        </a:spcBef>
                      </a:pPr>
                      <a:r>
                        <a:rPr lang="en-US" sz="1600" dirty="0">
                          <a:solidFill>
                            <a:schemeClr val="tx1"/>
                          </a:solidFill>
                        </a:rPr>
                        <a:t>    Cash</a:t>
                      </a:r>
                      <a:r>
                        <a:rPr lang="en-US" sz="1600" baseline="0" dirty="0">
                          <a:solidFill>
                            <a:schemeClr val="tx1"/>
                          </a:solidFill>
                        </a:rPr>
                        <a:t> Received from </a:t>
                      </a:r>
                      <a:r>
                        <a:rPr lang="en-US" sz="1600" dirty="0">
                          <a:solidFill>
                            <a:schemeClr val="tx1"/>
                          </a:solidFill>
                        </a:rPr>
                        <a:t>Customers</a:t>
                      </a:r>
                    </a:p>
                  </a:txBody>
                  <a:tcPr marL="91414" marR="91414" marT="0" marB="0" anchor="ctr">
                    <a:solidFill>
                      <a:schemeClr val="accent5">
                        <a:lumMod val="20000"/>
                        <a:lumOff val="80000"/>
                      </a:schemeClr>
                    </a:solidFill>
                  </a:tcPr>
                </a:tc>
                <a:tc>
                  <a:txBody>
                    <a:bodyPr/>
                    <a:lstStyle/>
                    <a:p>
                      <a:pPr algn="r">
                        <a:spcBef>
                          <a:spcPts val="0"/>
                        </a:spcBef>
                      </a:pPr>
                      <a:r>
                        <a:rPr lang="en-US" sz="1600" dirty="0">
                          <a:solidFill>
                            <a:schemeClr val="tx1"/>
                          </a:solidFill>
                        </a:rPr>
                        <a:t>$  50,000</a:t>
                      </a:r>
                    </a:p>
                  </a:txBody>
                  <a:tcPr marL="91414" marR="91414" marT="0" marB="0" anchor="ctr">
                    <a:solidFill>
                      <a:schemeClr val="accent5">
                        <a:lumMod val="20000"/>
                        <a:lumOff val="80000"/>
                      </a:schemeClr>
                    </a:solidFill>
                  </a:tcPr>
                </a:tc>
                <a:extLst>
                  <a:ext uri="{0D108BD9-81ED-4DB2-BD59-A6C34878D82A}">
                    <a16:rowId xmlns:a16="http://schemas.microsoft.com/office/drawing/2014/main" val="1856500122"/>
                  </a:ext>
                </a:extLst>
              </a:tr>
              <a:tr h="284652">
                <a:tc>
                  <a:txBody>
                    <a:bodyPr/>
                    <a:lstStyle/>
                    <a:p>
                      <a:pPr algn="l">
                        <a:spcBef>
                          <a:spcPts val="0"/>
                        </a:spcBef>
                      </a:pPr>
                      <a:r>
                        <a:rPr lang="en-US" sz="1600" b="0" i="1" dirty="0">
                          <a:solidFill>
                            <a:schemeClr val="tx1"/>
                          </a:solidFill>
                        </a:rPr>
                        <a:t>Uses of Cash</a:t>
                      </a:r>
                    </a:p>
                  </a:txBody>
                  <a:tcPr marL="91414" marR="91414" marT="0" marB="0" anchor="ctr">
                    <a:solidFill>
                      <a:schemeClr val="accent5">
                        <a:lumMod val="20000"/>
                        <a:lumOff val="80000"/>
                      </a:schemeClr>
                    </a:solidFill>
                  </a:tcPr>
                </a:tc>
                <a:tc>
                  <a:txBody>
                    <a:bodyPr/>
                    <a:lstStyle/>
                    <a:p>
                      <a:pPr algn="r">
                        <a:spcBef>
                          <a:spcPts val="0"/>
                        </a:spcBef>
                      </a:pPr>
                      <a:endParaRPr lang="en-US" sz="1600" dirty="0">
                        <a:solidFill>
                          <a:schemeClr val="tx1"/>
                        </a:solidFill>
                      </a:endParaRPr>
                    </a:p>
                  </a:txBody>
                  <a:tcPr marL="91414" marR="91414" marT="0" marB="0" anchor="ctr">
                    <a:solidFill>
                      <a:schemeClr val="accent5">
                        <a:lumMod val="20000"/>
                        <a:lumOff val="80000"/>
                      </a:schemeClr>
                    </a:solidFill>
                  </a:tcPr>
                </a:tc>
                <a:extLst>
                  <a:ext uri="{0D108BD9-81ED-4DB2-BD59-A6C34878D82A}">
                    <a16:rowId xmlns:a16="http://schemas.microsoft.com/office/drawing/2014/main" val="473661251"/>
                  </a:ext>
                </a:extLst>
              </a:tr>
              <a:tr h="284652">
                <a:tc>
                  <a:txBody>
                    <a:bodyPr/>
                    <a:lstStyle/>
                    <a:p>
                      <a:pPr algn="l">
                        <a:spcBef>
                          <a:spcPts val="0"/>
                        </a:spcBef>
                      </a:pPr>
                      <a:r>
                        <a:rPr lang="en-US" sz="1600" b="1" dirty="0">
                          <a:solidFill>
                            <a:schemeClr val="tx1"/>
                          </a:solidFill>
                        </a:rPr>
                        <a:t>   </a:t>
                      </a:r>
                      <a:r>
                        <a:rPr lang="en-US" sz="1600" b="0" dirty="0">
                          <a:solidFill>
                            <a:schemeClr val="tx1"/>
                          </a:solidFill>
                        </a:rPr>
                        <a:t>Cash</a:t>
                      </a:r>
                      <a:r>
                        <a:rPr lang="en-US" sz="1600" b="0" baseline="0" dirty="0">
                          <a:solidFill>
                            <a:schemeClr val="tx1"/>
                          </a:solidFill>
                        </a:rPr>
                        <a:t> Paid to Suppliers</a:t>
                      </a:r>
                      <a:endParaRPr lang="en-US" sz="1600" b="0" dirty="0">
                        <a:solidFill>
                          <a:schemeClr val="tx1"/>
                        </a:solidFill>
                      </a:endParaRPr>
                    </a:p>
                  </a:txBody>
                  <a:tcPr marL="91414" marR="91414" marT="0" marB="0" anchor="ctr">
                    <a:solidFill>
                      <a:schemeClr val="accent5">
                        <a:lumMod val="20000"/>
                        <a:lumOff val="80000"/>
                      </a:schemeClr>
                    </a:solidFill>
                  </a:tcPr>
                </a:tc>
                <a:tc>
                  <a:txBody>
                    <a:bodyPr/>
                    <a:lstStyle/>
                    <a:p>
                      <a:pPr algn="r">
                        <a:spcBef>
                          <a:spcPts val="0"/>
                        </a:spcBef>
                      </a:pPr>
                      <a:r>
                        <a:rPr lang="en-US" sz="1600" dirty="0">
                          <a:solidFill>
                            <a:schemeClr val="tx1"/>
                          </a:solidFill>
                        </a:rPr>
                        <a:t>  (25,000)  </a:t>
                      </a:r>
                    </a:p>
                  </a:txBody>
                  <a:tcPr marL="91414" marR="91414" marT="0" marB="0" anchor="ctr">
                    <a:solidFill>
                      <a:schemeClr val="accent5">
                        <a:lumMod val="20000"/>
                        <a:lumOff val="80000"/>
                      </a:schemeClr>
                    </a:solidFill>
                  </a:tcPr>
                </a:tc>
                <a:extLst>
                  <a:ext uri="{0D108BD9-81ED-4DB2-BD59-A6C34878D82A}">
                    <a16:rowId xmlns:a16="http://schemas.microsoft.com/office/drawing/2014/main" val="793591014"/>
                  </a:ext>
                </a:extLst>
              </a:tr>
              <a:tr h="284652">
                <a:tc>
                  <a:txBody>
                    <a:bodyPr/>
                    <a:lstStyle/>
                    <a:p>
                      <a:pPr algn="l">
                        <a:spcBef>
                          <a:spcPts val="0"/>
                        </a:spcBef>
                      </a:pPr>
                      <a:r>
                        <a:rPr lang="en-US" sz="1600" dirty="0">
                          <a:solidFill>
                            <a:schemeClr val="tx1"/>
                          </a:solidFill>
                        </a:rPr>
                        <a:t>   Cash Paid for</a:t>
                      </a:r>
                      <a:r>
                        <a:rPr lang="en-US" sz="1600" baseline="0" dirty="0">
                          <a:solidFill>
                            <a:schemeClr val="tx1"/>
                          </a:solidFill>
                        </a:rPr>
                        <a:t> Operating Expenses</a:t>
                      </a:r>
                      <a:endParaRPr lang="en-US" sz="1600" dirty="0">
                        <a:solidFill>
                          <a:schemeClr val="tx1"/>
                        </a:solidFill>
                      </a:endParaRPr>
                    </a:p>
                  </a:txBody>
                  <a:tcPr marL="91414" marR="91414" marT="0" marB="0" anchor="ctr">
                    <a:solidFill>
                      <a:schemeClr val="accent5">
                        <a:lumMod val="20000"/>
                        <a:lumOff val="80000"/>
                      </a:schemeClr>
                    </a:solidFill>
                  </a:tcPr>
                </a:tc>
                <a:tc>
                  <a:txBody>
                    <a:bodyPr/>
                    <a:lstStyle/>
                    <a:p>
                      <a:pPr algn="r">
                        <a:spcBef>
                          <a:spcPts val="0"/>
                        </a:spcBef>
                      </a:pPr>
                      <a:r>
                        <a:rPr lang="en-US" sz="1600" dirty="0">
                          <a:solidFill>
                            <a:schemeClr val="tx1"/>
                          </a:solidFill>
                        </a:rPr>
                        <a:t>(10,000)           </a:t>
                      </a:r>
                    </a:p>
                  </a:txBody>
                  <a:tcPr marL="91414" marR="91414" marT="0" marB="0" anchor="ctr">
                    <a:solidFill>
                      <a:schemeClr val="accent5">
                        <a:lumMod val="20000"/>
                        <a:lumOff val="80000"/>
                      </a:schemeClr>
                    </a:solidFill>
                  </a:tcPr>
                </a:tc>
                <a:extLst>
                  <a:ext uri="{0D108BD9-81ED-4DB2-BD59-A6C34878D82A}">
                    <a16:rowId xmlns:a16="http://schemas.microsoft.com/office/drawing/2014/main" val="1532675779"/>
                  </a:ext>
                </a:extLst>
              </a:tr>
              <a:tr h="284652">
                <a:tc>
                  <a:txBody>
                    <a:bodyPr/>
                    <a:lstStyle/>
                    <a:p>
                      <a:pPr algn="l">
                        <a:spcBef>
                          <a:spcPts val="0"/>
                        </a:spcBef>
                      </a:pPr>
                      <a:r>
                        <a:rPr lang="en-US" sz="1600" dirty="0">
                          <a:solidFill>
                            <a:schemeClr val="tx1"/>
                          </a:solidFill>
                        </a:rPr>
                        <a:t>   Cash</a:t>
                      </a:r>
                      <a:r>
                        <a:rPr lang="en-US" sz="1600" baseline="0" dirty="0">
                          <a:solidFill>
                            <a:schemeClr val="tx1"/>
                          </a:solidFill>
                        </a:rPr>
                        <a:t> Paid for Interest &amp; Taxes</a:t>
                      </a:r>
                      <a:endParaRPr lang="en-US" sz="1600" dirty="0">
                        <a:solidFill>
                          <a:schemeClr val="tx1"/>
                        </a:solidFill>
                      </a:endParaRPr>
                    </a:p>
                  </a:txBody>
                  <a:tcPr marL="91414" marR="91414" marT="0"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tc>
                  <a:txBody>
                    <a:bodyPr/>
                    <a:lstStyle/>
                    <a:p>
                      <a:pPr algn="r">
                        <a:spcBef>
                          <a:spcPts val="0"/>
                        </a:spcBef>
                      </a:pPr>
                      <a:r>
                        <a:rPr lang="en-US" sz="1600" u="none" dirty="0">
                          <a:solidFill>
                            <a:schemeClr val="tx1"/>
                          </a:solidFill>
                        </a:rPr>
                        <a:t>           (5,000)</a:t>
                      </a:r>
                    </a:p>
                  </a:txBody>
                  <a:tcPr marL="91414" marR="91414" marT="0" marB="0" anchor="ctr">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385903926"/>
                  </a:ext>
                </a:extLst>
              </a:tr>
              <a:tr h="284652">
                <a:tc>
                  <a:txBody>
                    <a:bodyPr/>
                    <a:lstStyle/>
                    <a:p>
                      <a:pPr algn="l">
                        <a:spcBef>
                          <a:spcPts val="0"/>
                        </a:spcBef>
                      </a:pPr>
                      <a:r>
                        <a:rPr lang="en-US" sz="1600" b="0" dirty="0">
                          <a:solidFill>
                            <a:schemeClr val="tx1"/>
                          </a:solidFill>
                        </a:rPr>
                        <a:t>    </a:t>
                      </a:r>
                      <a:r>
                        <a:rPr lang="en-US" sz="1600" b="1" dirty="0">
                          <a:solidFill>
                            <a:schemeClr val="tx1"/>
                          </a:solidFill>
                        </a:rPr>
                        <a:t>Net Cash Provided (Used) by</a:t>
                      </a:r>
                      <a:r>
                        <a:rPr lang="en-US" sz="1600" b="1" baseline="0" dirty="0">
                          <a:solidFill>
                            <a:schemeClr val="tx1"/>
                          </a:solidFill>
                        </a:rPr>
                        <a:t> Operating</a:t>
                      </a:r>
                      <a:r>
                        <a:rPr lang="en-US" sz="1600" b="1" dirty="0">
                          <a:solidFill>
                            <a:schemeClr val="tx1"/>
                          </a:solidFill>
                        </a:rPr>
                        <a:t> Activities (CFO)</a:t>
                      </a:r>
                      <a:endParaRPr lang="en-US" sz="1600" b="1" i="1" dirty="0">
                        <a:solidFill>
                          <a:schemeClr val="tx1"/>
                        </a:solidFill>
                      </a:endParaRPr>
                    </a:p>
                  </a:txBody>
                  <a:tcPr marL="91414" marR="91414" marT="0" marB="0" anchor="ctr">
                    <a:lnT w="12700" cap="flat" cmpd="sng" algn="ctr">
                      <a:solidFill>
                        <a:schemeClr val="tx1"/>
                      </a:solidFill>
                      <a:prstDash val="solid"/>
                      <a:round/>
                      <a:headEnd type="none" w="med" len="med"/>
                      <a:tailEnd type="none" w="med" len="med"/>
                    </a:lnT>
                    <a:solidFill>
                      <a:schemeClr val="accent5">
                        <a:lumMod val="20000"/>
                        <a:lumOff val="80000"/>
                      </a:schemeClr>
                    </a:solidFill>
                  </a:tcPr>
                </a:tc>
                <a:tc>
                  <a:txBody>
                    <a:bodyPr/>
                    <a:lstStyle/>
                    <a:p>
                      <a:pPr algn="r">
                        <a:spcBef>
                          <a:spcPts val="0"/>
                        </a:spcBef>
                      </a:pPr>
                      <a:r>
                        <a:rPr lang="en-US" sz="1600" dirty="0">
                          <a:solidFill>
                            <a:schemeClr val="tx1"/>
                          </a:solidFill>
                        </a:rPr>
                        <a:t>$ 10,000</a:t>
                      </a:r>
                    </a:p>
                  </a:txBody>
                  <a:tcPr marL="91414" marR="91414" marT="0" marB="0" anchor="ctr">
                    <a:lnT w="12700" cap="flat" cmpd="sng" algn="ctr">
                      <a:solidFill>
                        <a:schemeClr val="tx1"/>
                      </a:solidFill>
                      <a:prstDash val="solid"/>
                      <a:round/>
                      <a:headEnd type="none" w="med" len="med"/>
                      <a:tailEnd type="none" w="med" len="med"/>
                    </a:lnT>
                    <a:solidFill>
                      <a:schemeClr val="accent5">
                        <a:lumMod val="20000"/>
                        <a:lumOff val="80000"/>
                      </a:schemeClr>
                    </a:solidFill>
                  </a:tcPr>
                </a:tc>
                <a:extLst>
                  <a:ext uri="{0D108BD9-81ED-4DB2-BD59-A6C34878D82A}">
                    <a16:rowId xmlns:a16="http://schemas.microsoft.com/office/drawing/2014/main" val="1927542832"/>
                  </a:ext>
                </a:extLst>
              </a:tr>
            </a:tbl>
          </a:graphicData>
        </a:graphic>
      </p:graphicFrame>
      <p:sp>
        <p:nvSpPr>
          <p:cNvPr id="6" name="Text Placeholder 2"/>
          <p:cNvSpPr>
            <a:spLocks noGrp="1"/>
          </p:cNvSpPr>
          <p:nvPr>
            <p:ph type="body" idx="1"/>
          </p:nvPr>
        </p:nvSpPr>
        <p:spPr>
          <a:xfrm>
            <a:off x="457198" y="4464138"/>
            <a:ext cx="8229601" cy="1315745"/>
          </a:xfrm>
        </p:spPr>
        <p:txBody>
          <a:bodyPr>
            <a:spAutoFit/>
          </a:bodyPr>
          <a:lstStyle/>
          <a:p>
            <a:pPr marL="457200" indent="-457200">
              <a:buFont typeface="Arial" panose="020B0604020202020204" pitchFamily="34" charset="0"/>
              <a:buChar char="•"/>
            </a:pPr>
            <a:r>
              <a:rPr lang="en-US" dirty="0"/>
              <a:t>Directly listing the sources and uses of cash provided/used by operating activities</a:t>
            </a:r>
          </a:p>
          <a:p>
            <a:pPr marL="457200" indent="-457200">
              <a:buFont typeface="Arial" panose="020B0604020202020204" pitchFamily="34" charset="0"/>
              <a:buChar char="•"/>
            </a:pPr>
            <a:r>
              <a:rPr lang="en-US" dirty="0"/>
              <a:t>Does not reconcile directly to the income statement</a:t>
            </a:r>
          </a:p>
        </p:txBody>
      </p:sp>
    </p:spTree>
    <p:extLst>
      <p:ext uri="{BB962C8B-B14F-4D97-AF65-F5344CB8AC3E}">
        <p14:creationId xmlns:p14="http://schemas.microsoft.com/office/powerpoint/2010/main" val="2587017768"/>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8" y="403761"/>
            <a:ext cx="8229600" cy="1286365"/>
          </a:xfrm>
        </p:spPr>
        <p:txBody>
          <a:bodyPr/>
          <a:lstStyle/>
          <a:p>
            <a:r>
              <a:rPr lang="en-US" dirty="0"/>
              <a:t>Cash Flows from Operating Activities – Indirect Method</a:t>
            </a:r>
          </a:p>
        </p:txBody>
      </p:sp>
      <p:sp>
        <p:nvSpPr>
          <p:cNvPr id="6" name="Text Placeholder 2"/>
          <p:cNvSpPr>
            <a:spLocks noGrp="1"/>
          </p:cNvSpPr>
          <p:nvPr>
            <p:ph type="body" idx="1"/>
          </p:nvPr>
        </p:nvSpPr>
        <p:spPr>
          <a:xfrm>
            <a:off x="457198" y="1982196"/>
            <a:ext cx="8229601" cy="3031599"/>
          </a:xfrm>
        </p:spPr>
        <p:txBody>
          <a:bodyPr>
            <a:spAutoFit/>
          </a:bodyPr>
          <a:lstStyle/>
          <a:p>
            <a:pPr marL="457200" indent="-457200">
              <a:buFont typeface="Arial" panose="020B0604020202020204" pitchFamily="34" charset="0"/>
              <a:buChar char="•"/>
            </a:pPr>
            <a:r>
              <a:rPr lang="en-US" dirty="0"/>
              <a:t>Use Net Income as our starting point</a:t>
            </a:r>
          </a:p>
          <a:p>
            <a:pPr marL="457200" indent="-457200">
              <a:buFont typeface="Arial" panose="020B0604020202020204" pitchFamily="34" charset="0"/>
              <a:buChar char="•"/>
            </a:pPr>
            <a:r>
              <a:rPr lang="en-US" dirty="0"/>
              <a:t>Net Income includes certain non-cash transactions and does not capture all changes in cash flows due to accrual accounting</a:t>
            </a:r>
          </a:p>
          <a:p>
            <a:pPr marL="914400" lvl="1" indent="0">
              <a:buNone/>
            </a:pPr>
            <a:r>
              <a:rPr lang="en-US" dirty="0">
                <a:sym typeface="Wingdings" panose="05000000000000000000" pitchFamily="2" charset="2"/>
              </a:rPr>
              <a:t> </a:t>
            </a:r>
            <a:r>
              <a:rPr lang="en-US" b="1" dirty="0">
                <a:sym typeface="Wingdings" panose="05000000000000000000" pitchFamily="2" charset="2"/>
              </a:rPr>
              <a:t>Therefore, we adjust Net Income to “extract” Cash Flows from Operating Activities</a:t>
            </a:r>
            <a:endParaRPr lang="en-US" dirty="0"/>
          </a:p>
        </p:txBody>
      </p:sp>
    </p:spTree>
    <p:extLst>
      <p:ext uri="{BB962C8B-B14F-4D97-AF65-F5344CB8AC3E}">
        <p14:creationId xmlns:p14="http://schemas.microsoft.com/office/powerpoint/2010/main" val="2996010922"/>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3C3721-5413-2C86-E32C-EAD240660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C1CF63-F9E1-7463-315E-36C73FF1BAD4}"/>
              </a:ext>
            </a:extLst>
          </p:cNvPr>
          <p:cNvSpPr>
            <a:spLocks noGrp="1"/>
          </p:cNvSpPr>
          <p:nvPr>
            <p:ph type="title"/>
          </p:nvPr>
        </p:nvSpPr>
        <p:spPr>
          <a:xfrm>
            <a:off x="348340" y="837212"/>
            <a:ext cx="8229600" cy="886397"/>
          </a:xfrm>
        </p:spPr>
        <p:txBody>
          <a:bodyPr>
            <a:spAutoFit/>
          </a:bodyPr>
          <a:lstStyle/>
          <a:p>
            <a:r>
              <a:rPr lang="en-US" dirty="0"/>
              <a:t>Cash Flows from Operating Activities – Indirect Method</a:t>
            </a:r>
          </a:p>
        </p:txBody>
      </p:sp>
      <p:sp>
        <p:nvSpPr>
          <p:cNvPr id="5" name="Text Placeholder 2">
            <a:extLst>
              <a:ext uri="{FF2B5EF4-FFF2-40B4-BE49-F238E27FC236}">
                <a16:creationId xmlns:a16="http://schemas.microsoft.com/office/drawing/2014/main" id="{FD96B166-BD7D-EEA9-5C41-5FDAE9AAC046}"/>
              </a:ext>
            </a:extLst>
          </p:cNvPr>
          <p:cNvSpPr>
            <a:spLocks noGrp="1"/>
          </p:cNvSpPr>
          <p:nvPr>
            <p:ph type="body" idx="1"/>
          </p:nvPr>
        </p:nvSpPr>
        <p:spPr>
          <a:xfrm>
            <a:off x="335278" y="1944096"/>
            <a:ext cx="8686800" cy="3770263"/>
          </a:xfrm>
        </p:spPr>
        <p:txBody>
          <a:bodyPr>
            <a:spAutoFit/>
          </a:bodyPr>
          <a:lstStyle/>
          <a:p>
            <a:r>
              <a:rPr lang="en-US" sz="2500" dirty="0"/>
              <a:t>Net Income</a:t>
            </a:r>
          </a:p>
          <a:p>
            <a:pPr marL="457200" indent="-457200">
              <a:buFont typeface="+mj-lt"/>
              <a:buAutoNum type="arabicPeriod"/>
            </a:pPr>
            <a:r>
              <a:rPr lang="en-US" sz="2500" dirty="0"/>
              <a:t>+ Non-Cash Charges </a:t>
            </a:r>
          </a:p>
          <a:p>
            <a:pPr marL="744538" indent="-403225">
              <a:buFont typeface="Wingdings" panose="05000000000000000000" pitchFamily="2" charset="2"/>
              <a:buChar char="Ø"/>
            </a:pPr>
            <a:r>
              <a:rPr lang="en-US" sz="2500" dirty="0"/>
              <a:t>Depreciation &amp; amortization</a:t>
            </a:r>
            <a:r>
              <a:rPr lang="en-HK" sz="2500" dirty="0"/>
              <a:t>, etc. </a:t>
            </a:r>
            <a:r>
              <a:rPr lang="en-US" sz="2500" dirty="0"/>
              <a:t> </a:t>
            </a:r>
          </a:p>
          <a:p>
            <a:pPr marL="744538" indent="-403225">
              <a:buFont typeface="Wingdings" panose="05000000000000000000" pitchFamily="2" charset="2"/>
              <a:buChar char="Ø"/>
            </a:pPr>
            <a:r>
              <a:rPr lang="en-US" sz="2500" dirty="0"/>
              <a:t>Losses/Gains from Sale of Assets</a:t>
            </a:r>
          </a:p>
          <a:p>
            <a:r>
              <a:rPr lang="en-US" sz="2500" dirty="0"/>
              <a:t>2.  +/- Changes in </a:t>
            </a:r>
            <a:r>
              <a:rPr lang="en-US" sz="2500" i="1" dirty="0"/>
              <a:t>Operating</a:t>
            </a:r>
            <a:r>
              <a:rPr lang="en-US" sz="2500" dirty="0"/>
              <a:t> Assets and Liabilities (Working Capital)</a:t>
            </a:r>
          </a:p>
          <a:p>
            <a:pPr marL="744538" lvl="4" indent="-403225">
              <a:buFont typeface="Wingdings" panose="05000000000000000000" pitchFamily="2" charset="2"/>
              <a:buChar char="Ø"/>
            </a:pPr>
            <a:r>
              <a:rPr lang="en-US" sz="2500" dirty="0"/>
              <a:t>Increase in Liability / Decrease in Asset: </a:t>
            </a:r>
            <a:r>
              <a:rPr lang="en-US" sz="2500" b="1" dirty="0"/>
              <a:t>Add</a:t>
            </a:r>
          </a:p>
          <a:p>
            <a:pPr marL="744538" lvl="4" indent="-403225">
              <a:buFont typeface="Wingdings" panose="05000000000000000000" pitchFamily="2" charset="2"/>
              <a:buChar char="Ø"/>
            </a:pPr>
            <a:r>
              <a:rPr lang="en-US" sz="2500" dirty="0"/>
              <a:t>Decrease in Liability / Increase in Asset: </a:t>
            </a:r>
            <a:r>
              <a:rPr lang="en-US" sz="2500" b="1" dirty="0"/>
              <a:t>Subtract</a:t>
            </a:r>
            <a:endParaRPr lang="en-US" sz="2500" dirty="0"/>
          </a:p>
        </p:txBody>
      </p:sp>
    </p:spTree>
    <p:extLst>
      <p:ext uri="{BB962C8B-B14F-4D97-AF65-F5344CB8AC3E}">
        <p14:creationId xmlns:p14="http://schemas.microsoft.com/office/powerpoint/2010/main" val="3243837727"/>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Shape 72"/>
          <p:cNvSpPr>
            <a:spLocks noGrp="1"/>
          </p:cNvSpPr>
          <p:nvPr>
            <p:ph type="title"/>
          </p:nvPr>
        </p:nvSpPr>
        <p:spPr>
          <a:xfrm>
            <a:off x="446087" y="712787"/>
            <a:ext cx="8248651" cy="741365"/>
          </a:xfrm>
          <a:prstGeom prst="rect">
            <a:avLst/>
          </a:prstGeom>
        </p:spPr>
        <p:txBody>
          <a:bodyPr>
            <a:normAutofit/>
          </a:bodyPr>
          <a:lstStyle>
            <a:lvl1pPr>
              <a:defRPr spc="-100"/>
            </a:lvl1pPr>
          </a:lstStyle>
          <a:p>
            <a:pPr lvl="0">
              <a:defRPr sz="1800" spc="0">
                <a:solidFill>
                  <a:srgbClr val="000000"/>
                </a:solidFill>
              </a:defRPr>
            </a:pPr>
            <a:r>
              <a:rPr lang="en-US" sz="3200" spc="-100" dirty="0">
                <a:solidFill>
                  <a:srgbClr val="820E09"/>
                </a:solidFill>
              </a:rPr>
              <a:t>Q &amp; A</a:t>
            </a:r>
            <a:endParaRPr sz="3200" spc="-100" dirty="0">
              <a:solidFill>
                <a:srgbClr val="820E09"/>
              </a:solidFill>
            </a:endParaRPr>
          </a:p>
        </p:txBody>
      </p:sp>
      <p:sp>
        <p:nvSpPr>
          <p:cNvPr id="73" name="Shape 73"/>
          <p:cNvSpPr/>
          <p:nvPr/>
        </p:nvSpPr>
        <p:spPr>
          <a:xfrm>
            <a:off x="457200" y="1597023"/>
            <a:ext cx="8229600" cy="361637"/>
          </a:xfrm>
          <a:prstGeom prst="rect">
            <a:avLst/>
          </a:prstGeom>
          <a:ln w="12700">
            <a:miter lim="400000"/>
          </a:ln>
          <a:extLst>
            <a:ext uri="{C572A759-6A51-4108-AA02-DFA0A04FC94B}">
              <ma14:wrappingTextBoxFlag xmlns:ma14="http://schemas.microsoft.com/office/mac/drawingml/2011/main" xmlns="" val="1"/>
            </a:ext>
          </a:extLst>
        </p:spPr>
        <p:txBody>
          <a:bodyPr lIns="0" tIns="0" rIns="0" bIns="0">
            <a:spAutoFit/>
          </a:bodyPr>
          <a:lstStyle/>
          <a:p>
            <a:pPr lvl="0">
              <a:spcBef>
                <a:spcPts val="900"/>
              </a:spcBef>
              <a:defRPr sz="1800"/>
            </a:pPr>
            <a:endParaRPr sz="800" u="sng" dirty="0">
              <a:latin typeface="+mj-lt"/>
              <a:ea typeface="+mj-ea"/>
              <a:cs typeface="+mj-cs"/>
              <a:sym typeface="Arial Bold"/>
            </a:endParaRPr>
          </a:p>
          <a:p>
            <a:pPr lvl="0">
              <a:spcBef>
                <a:spcPts val="900"/>
              </a:spcBef>
              <a:defRPr sz="1800"/>
            </a:pPr>
            <a:endParaRPr sz="800" dirty="0">
              <a:latin typeface="+mn-lt"/>
              <a:ea typeface="+mn-ea"/>
              <a:cs typeface="+mn-cs"/>
              <a:sym typeface="Arial"/>
            </a:endParaRPr>
          </a:p>
        </p:txBody>
      </p:sp>
    </p:spTree>
    <p:extLst>
      <p:ext uri="{BB962C8B-B14F-4D97-AF65-F5344CB8AC3E}">
        <p14:creationId xmlns:p14="http://schemas.microsoft.com/office/powerpoint/2010/main" val="1273662536"/>
      </p:ext>
    </p:extLst>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Bold"/>
        <a:ea typeface="Arial Bold"/>
        <a:cs typeface="Arial Bold"/>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969696"/>
          </a:solidFill>
          <a:prstDash val="solid"/>
          <a:bevel/>
        </a:ln>
        <a:effectLst/>
      </a:spPr>
      <a:bodyPr rot="0" spcFirstLastPara="1" vertOverflow="overflow" horzOverflow="overflow" vert="horz" wrap="square" lIns="45145" tIns="45145" rIns="45145" bIns="45145"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969696"/>
          </a:solidFill>
          <a:prstDash val="solid"/>
          <a:bevel/>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3585F"/>
      </a:dk2>
      <a:lt2>
        <a:srgbClr val="DCDEE0"/>
      </a:lt2>
      <a:accent1>
        <a:srgbClr val="0365C0"/>
      </a:accent1>
      <a:accent2>
        <a:srgbClr val="00882B"/>
      </a:accent2>
      <a:accent3>
        <a:srgbClr val="DCBD23"/>
      </a:accent3>
      <a:accent4>
        <a:srgbClr val="DE6A10"/>
      </a:accent4>
      <a:accent5>
        <a:srgbClr val="C82506"/>
      </a:accent5>
      <a:accent6>
        <a:srgbClr val="773F9B"/>
      </a:accent6>
      <a:hlink>
        <a:srgbClr val="0000FF"/>
      </a:hlink>
      <a:folHlink>
        <a:srgbClr val="FF00FF"/>
      </a:folHlink>
    </a:clrScheme>
    <a:fontScheme name="White">
      <a:majorFont>
        <a:latin typeface="Arial Bold"/>
        <a:ea typeface="Arial Bold"/>
        <a:cs typeface="Arial Bold"/>
      </a:majorFont>
      <a:minorFont>
        <a:latin typeface="Arial"/>
        <a:ea typeface="Arial"/>
        <a:cs typeface="Arial"/>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12700" rotWithShape="0">
              <a:srgbClr val="000000">
                <a:alpha val="50000"/>
              </a:srgbClr>
            </a:outerShdw>
          </a:effectLst>
        </a:effectStyle>
        <a:effectStyle>
          <a:effectLst>
            <a:outerShdw blurRad="38100" dist="25400" dir="5400000" rotWithShape="0">
              <a:srgbClr val="000000">
                <a:alpha val="50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969696"/>
          </a:solidFill>
          <a:prstDash val="solid"/>
          <a:bevel/>
        </a:ln>
        <a:effectLst/>
      </a:spPr>
      <a:bodyPr rot="0" spcFirstLastPara="1" vertOverflow="overflow" horzOverflow="overflow" vert="horz" wrap="square" lIns="45145" tIns="45145" rIns="45145" bIns="45145"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969696"/>
          </a:solidFill>
          <a:prstDash val="solid"/>
          <a:bevel/>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50800" tIns="50800" rIns="50800" bIns="50800" numCol="1" spcCol="38100" rtlCol="0" anchor="ctr">
        <a:spAutoFit/>
      </a:bodyPr>
      <a:lstStyle>
        <a:defPPr marL="0" marR="0" indent="0" algn="l" defTabSz="914400" rtl="0" fontAlgn="auto" latinLnBrk="1"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Helvetica"/>
            <a:ea typeface="Helvetica"/>
            <a:cs typeface="Helvetica"/>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5574</TotalTime>
  <Words>1956</Words>
  <Application>Microsoft Office PowerPoint</Application>
  <PresentationFormat>On-screen Show (4:3)</PresentationFormat>
  <Paragraphs>253</Paragraphs>
  <Slides>23</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Lucida Grande</vt:lpstr>
      <vt:lpstr>Times Roman</vt:lpstr>
      <vt:lpstr>Arial</vt:lpstr>
      <vt:lpstr>Arial Narrow</vt:lpstr>
      <vt:lpstr>Calibri</vt:lpstr>
      <vt:lpstr>Helvetica</vt:lpstr>
      <vt:lpstr>Source Sans Pro</vt:lpstr>
      <vt:lpstr>Times New Roman</vt:lpstr>
      <vt:lpstr>Wingdings</vt:lpstr>
      <vt:lpstr>White</vt:lpstr>
      <vt:lpstr>Executive MBA Financial Accounting</vt:lpstr>
      <vt:lpstr>Housekeeping Information</vt:lpstr>
      <vt:lpstr>Housekeeping Information</vt:lpstr>
      <vt:lpstr>Review of Quiz 1</vt:lpstr>
      <vt:lpstr>Quiz</vt:lpstr>
      <vt:lpstr>Quiz</vt:lpstr>
      <vt:lpstr>Quiz</vt:lpstr>
      <vt:lpstr>Quiz</vt:lpstr>
      <vt:lpstr>Journal Entries</vt:lpstr>
      <vt:lpstr>Journal Entries</vt:lpstr>
      <vt:lpstr>Quiz</vt:lpstr>
      <vt:lpstr>Quiz</vt:lpstr>
      <vt:lpstr>Cash Flows from Operating Activities – Indirect Method</vt:lpstr>
      <vt:lpstr>Overall Review</vt:lpstr>
      <vt:lpstr>The Basics</vt:lpstr>
      <vt:lpstr>The Basics</vt:lpstr>
      <vt:lpstr>The Basics</vt:lpstr>
      <vt:lpstr>Statement of Cash Flows</vt:lpstr>
      <vt:lpstr>Define Direct and Indirect Methods</vt:lpstr>
      <vt:lpstr>Cash Flows from Operating Activities – Direct Method</vt:lpstr>
      <vt:lpstr>Cash Flows from Operating Activities – Indirect Method</vt:lpstr>
      <vt:lpstr>Cash Flows from Operating Activities – Indirect Method</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Executive MBA Financial Accounting</dc:title>
  <dc:creator>Lu, Shirley Simiao</dc:creator>
  <cp:lastModifiedBy>XU, Xiaoling</cp:lastModifiedBy>
  <cp:revision>88</cp:revision>
  <cp:lastPrinted>2025-01-07T19:22:46Z</cp:lastPrinted>
  <dcterms:modified xsi:type="dcterms:W3CDTF">2025-01-22T02:46:21Z</dcterms:modified>
</cp:coreProperties>
</file>