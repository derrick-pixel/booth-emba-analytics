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700" r:id="rId2"/>
    <p:sldId id="754" r:id="rId3"/>
    <p:sldId id="749" r:id="rId4"/>
    <p:sldId id="719" r:id="rId5"/>
    <p:sldId id="89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4"/>
  </p:normalViewPr>
  <p:slideViewPr>
    <p:cSldViewPr snapToGrid="0">
      <p:cViewPr varScale="1">
        <p:scale>
          <a:sx n="106" d="100"/>
          <a:sy n="106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2639EC-6A04-4476-902B-F2DF8E336DC3}" type="datetimeFigureOut">
              <a:rPr lang="en-US" smtClean="0"/>
              <a:t>8/6/25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4B23F-2FC4-41C4-8B87-EC272CFB6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44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1:notes"/>
          <p:cNvSpPr txBox="1">
            <a:spLocks noGrp="1"/>
          </p:cNvSpPr>
          <p:nvPr>
            <p:ph type="body" idx="1"/>
          </p:nvPr>
        </p:nvSpPr>
        <p:spPr>
          <a:xfrm>
            <a:off x="685480" y="4400181"/>
            <a:ext cx="5487041" cy="360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72" name="Google Shape;57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447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1:notes"/>
          <p:cNvSpPr txBox="1">
            <a:spLocks noGrp="1"/>
          </p:cNvSpPr>
          <p:nvPr>
            <p:ph type="body" idx="1"/>
          </p:nvPr>
        </p:nvSpPr>
        <p:spPr>
          <a:xfrm>
            <a:off x="685480" y="4400181"/>
            <a:ext cx="5487041" cy="360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72" name="Google Shape;57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739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1:notes"/>
          <p:cNvSpPr txBox="1">
            <a:spLocks noGrp="1"/>
          </p:cNvSpPr>
          <p:nvPr>
            <p:ph type="body" idx="1"/>
          </p:nvPr>
        </p:nvSpPr>
        <p:spPr>
          <a:xfrm>
            <a:off x="685480" y="4400181"/>
            <a:ext cx="5487041" cy="360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72" name="Google Shape;57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67758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1:notes"/>
          <p:cNvSpPr txBox="1">
            <a:spLocks noGrp="1"/>
          </p:cNvSpPr>
          <p:nvPr>
            <p:ph type="body" idx="1"/>
          </p:nvPr>
        </p:nvSpPr>
        <p:spPr>
          <a:xfrm>
            <a:off x="685480" y="4400181"/>
            <a:ext cx="5487041" cy="360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72" name="Google Shape;57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86916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35C3-5411-D8E9-C705-CEF03C5B1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9FB6F4-BE61-6B9B-3ECE-D7B2DA3C4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92789-B0DD-6669-5A60-C0948D87F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47B5-0269-49EC-A2A7-43ED6752BD12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957A8-E2CA-12A2-380A-5163FA3F5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E4FD0-25B1-579F-8E5D-77ED3A1D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669E-4D17-4DB8-87FC-25C2A6861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9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CA3B-7AEC-013D-F1E0-F5F897AF4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E0B27-087A-CA2C-A50C-03EAC2257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1ACBA-4575-AE01-5476-F93B6798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47B5-0269-49EC-A2A7-43ED6752BD12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8C52A-A02B-A712-B4D0-08F290F47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4B140-40F2-E706-7D6B-14D3EFFC5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669E-4D17-4DB8-87FC-25C2A6861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09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E1F4-6F56-5F5C-C4BF-E822B296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F5373-5D62-3D36-7EE4-9D18AFEA1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1287E-03A1-C0DC-0A2B-F9EAE3A5A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47B5-0269-49EC-A2A7-43ED6752BD12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3B777-BEF8-5597-7F7F-58210C9A6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CCED4-823B-624E-142F-630AEA50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669E-4D17-4DB8-87FC-25C2A6861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9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7FC8-BABB-9F09-EB20-7B8B7121E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D61A-3497-E16B-DD67-CEA1E1B9F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8C36A-4C58-A393-C986-070EC04E6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DEB0A-59FC-E480-FABA-92C021C2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47B5-0269-49EC-A2A7-43ED6752BD12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1BA0-6569-D0CD-371E-A0767CF4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61E78-81CE-3892-EE4B-7D7F2396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669E-4D17-4DB8-87FC-25C2A6861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60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A2D00-4D2F-E62D-6014-7827674C9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C2828-8E29-9E17-C8A3-12E7225E4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5FB93-BC84-B522-EFC5-AD75B4202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FA19B6-F2D2-900A-CFAA-7F0D37012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041C50-2326-73B9-2FAE-2B5494906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EB3111-1EDD-C56F-113D-91D52D6CE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47B5-0269-49EC-A2A7-43ED6752BD12}" type="datetimeFigureOut">
              <a:rPr lang="en-US" smtClean="0"/>
              <a:t>8/6/25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6E57F-80A9-957C-C691-485547D6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7C3173-1E61-06C2-6800-77BE5946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669E-4D17-4DB8-87FC-25C2A6861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8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28EF6-C4FC-26A2-0134-964289BDE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93FA7F-EB8F-6080-BC6A-F5EE5F75F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47B5-0269-49EC-A2A7-43ED6752BD12}" type="datetimeFigureOut">
              <a:rPr lang="en-US" smtClean="0"/>
              <a:t>8/6/25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BB60FF-17D5-72AC-B309-1B1484DD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3193C-DAD8-D476-05BB-0C552510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669E-4D17-4DB8-87FC-25C2A6861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2E814-0492-DB10-1C7F-F7316E78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47B5-0269-49EC-A2A7-43ED6752BD12}" type="datetimeFigureOut">
              <a:rPr lang="en-US" smtClean="0"/>
              <a:t>8/6/25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40C73F-CC6E-06D7-406E-ACE8A7D1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39667-79BC-5164-5283-667699224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669E-4D17-4DB8-87FC-25C2A6861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89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F373B-990A-65AC-E639-D43CE790A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6A2B2-46FE-44C1-E64B-DE62A82E1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2F272-5EDF-9ADC-269C-ED8AC9DB2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2078E-9053-4597-FE9B-6B6FBE561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47B5-0269-49EC-A2A7-43ED6752BD12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50DCE-49D9-9380-290A-FFECFB25F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9187A-254A-7EDF-2320-D11BC568E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669E-4D17-4DB8-87FC-25C2A6861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9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0CEF0-8A86-F9C5-A592-BB1235457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CFD6B7-CBA1-E5BE-507B-3B4112657A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7907D-1DD8-0E67-CF80-A9F1FCA9F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71DF4-4996-153B-BD40-D9AE1854B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47B5-0269-49EC-A2A7-43ED6752BD12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E037C-787B-59D9-06CF-4DB59BF25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870EB-FF47-01C8-C116-992C77974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669E-4D17-4DB8-87FC-25C2A6861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65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21472-58FE-CBD5-8095-FCEDE9472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85B40-5432-591E-E9F9-3D403271D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F4C6C-A42E-0719-09D2-B144113E7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47B5-0269-49EC-A2A7-43ED6752BD12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B23DB-C6C4-DF9D-B449-16DA4F94D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3393D-ED24-3B9A-8382-8F3C6022F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669E-4D17-4DB8-87FC-25C2A6861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03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066706-3D98-44A1-4A96-2E2FCF1E13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161DE-4E85-F497-D6CE-2C3FDBC37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C6E47-8C7B-777E-022D-E7CA40E10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47B5-0269-49EC-A2A7-43ED6752BD12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C877A-1CA7-AEF4-1924-F3062578C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1599A-34E1-660B-3AC5-866CA8FE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669E-4D17-4DB8-87FC-25C2A6861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73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794220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6E7282-2C32-8866-A486-2F24988DD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CA47D-BF2C-1862-7A72-834F746C9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8C66D-E103-CD13-D9BC-EDDC3A333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F47B5-0269-49EC-A2A7-43ED6752BD12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EF387-0FC5-A130-06C5-952DFCE1B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4185A-2B4A-E6AC-2141-DA5BF8519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6669E-4D17-4DB8-87FC-25C2A6861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52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38801" y="3222781"/>
            <a:ext cx="2385317" cy="337650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600" u="sng" dirty="0"/>
              <a:t>Creative techniques</a:t>
            </a:r>
          </a:p>
          <a:p>
            <a:pPr algn="l" rtl="0">
              <a:lnSpc>
                <a:spcPct val="150000"/>
              </a:lnSpc>
            </a:pPr>
            <a:r>
              <a:rPr lang="en-US" sz="1600" dirty="0"/>
              <a:t>Limitations</a:t>
            </a:r>
          </a:p>
          <a:p>
            <a:pPr algn="l" rtl="0">
              <a:lnSpc>
                <a:spcPct val="150000"/>
              </a:lnSpc>
            </a:pPr>
            <a:r>
              <a:rPr lang="en-US" sz="1600" dirty="0"/>
              <a:t>Details, facts, anecdotes</a:t>
            </a:r>
          </a:p>
          <a:p>
            <a:pPr algn="l" rtl="0">
              <a:lnSpc>
                <a:spcPct val="150000"/>
              </a:lnSpc>
            </a:pPr>
            <a:r>
              <a:rPr lang="en-US" sz="1600" dirty="0"/>
              <a:t>Mystery Box</a:t>
            </a:r>
          </a:p>
          <a:p>
            <a:pPr algn="l" rtl="0">
              <a:lnSpc>
                <a:spcPct val="150000"/>
              </a:lnSpc>
            </a:pPr>
            <a:r>
              <a:rPr lang="en-US" sz="1600" dirty="0"/>
              <a:t>Metaphors</a:t>
            </a:r>
          </a:p>
          <a:p>
            <a:pPr algn="l" rtl="0">
              <a:lnSpc>
                <a:spcPct val="150000"/>
              </a:lnSpc>
            </a:pPr>
            <a:r>
              <a:rPr lang="en-US" sz="1600" dirty="0"/>
              <a:t>Cultural references</a:t>
            </a:r>
          </a:p>
          <a:p>
            <a:pPr algn="l" rtl="0">
              <a:lnSpc>
                <a:spcPct val="150000"/>
              </a:lnSpc>
            </a:pPr>
            <a:r>
              <a:rPr lang="en-US" sz="1600" dirty="0"/>
              <a:t>Simplicity</a:t>
            </a:r>
          </a:p>
          <a:p>
            <a:pPr algn="l" rtl="0">
              <a:lnSpc>
                <a:spcPct val="150000"/>
              </a:lnSpc>
            </a:pPr>
            <a:r>
              <a:rPr lang="en-US" sz="1600" dirty="0"/>
              <a:t>Show, don’t tell</a:t>
            </a:r>
          </a:p>
          <a:p>
            <a:pPr algn="l" rtl="0">
              <a:lnSpc>
                <a:spcPct val="150000"/>
              </a:lnSpc>
            </a:pPr>
            <a:r>
              <a:rPr lang="en-US" sz="1600" dirty="0"/>
              <a:t>Interact</a:t>
            </a:r>
            <a:endParaRPr lang="he-IL" sz="1600" dirty="0"/>
          </a:p>
        </p:txBody>
      </p:sp>
      <p:sp>
        <p:nvSpPr>
          <p:cNvPr id="13" name="מלבן 12"/>
          <p:cNvSpPr/>
          <p:nvPr/>
        </p:nvSpPr>
        <p:spPr>
          <a:xfrm>
            <a:off x="9345026" y="3781102"/>
            <a:ext cx="133564" cy="1232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מלבן 13"/>
          <p:cNvSpPr/>
          <p:nvPr/>
        </p:nvSpPr>
        <p:spPr>
          <a:xfrm>
            <a:off x="9345026" y="4146151"/>
            <a:ext cx="133564" cy="1232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מלבן 14"/>
          <p:cNvSpPr/>
          <p:nvPr/>
        </p:nvSpPr>
        <p:spPr>
          <a:xfrm>
            <a:off x="9345026" y="4511200"/>
            <a:ext cx="133564" cy="1232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מלבן 15"/>
          <p:cNvSpPr/>
          <p:nvPr/>
        </p:nvSpPr>
        <p:spPr>
          <a:xfrm>
            <a:off x="9345026" y="4876249"/>
            <a:ext cx="133564" cy="1232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מלבן 16"/>
          <p:cNvSpPr/>
          <p:nvPr/>
        </p:nvSpPr>
        <p:spPr>
          <a:xfrm>
            <a:off x="9345026" y="5241298"/>
            <a:ext cx="133564" cy="1232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מלבן 17"/>
          <p:cNvSpPr/>
          <p:nvPr/>
        </p:nvSpPr>
        <p:spPr>
          <a:xfrm>
            <a:off x="9345026" y="5606347"/>
            <a:ext cx="133564" cy="1232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מלבן 18"/>
          <p:cNvSpPr/>
          <p:nvPr/>
        </p:nvSpPr>
        <p:spPr>
          <a:xfrm>
            <a:off x="9345026" y="5971396"/>
            <a:ext cx="133564" cy="1232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מלבן 19"/>
          <p:cNvSpPr/>
          <p:nvPr/>
        </p:nvSpPr>
        <p:spPr>
          <a:xfrm>
            <a:off x="9345026" y="6336446"/>
            <a:ext cx="133564" cy="1232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TextBox 23"/>
          <p:cNvSpPr txBox="1"/>
          <p:nvPr/>
        </p:nvSpPr>
        <p:spPr>
          <a:xfrm>
            <a:off x="210619" y="133690"/>
            <a:ext cx="738711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3600" b="1" dirty="0"/>
              <a:t>Story Headline</a:t>
            </a:r>
            <a:endParaRPr lang="he-IL" sz="1200" dirty="0"/>
          </a:p>
        </p:txBody>
      </p:sp>
      <p:sp>
        <p:nvSpPr>
          <p:cNvPr id="25" name="מלבן 24"/>
          <p:cNvSpPr/>
          <p:nvPr/>
        </p:nvSpPr>
        <p:spPr>
          <a:xfrm>
            <a:off x="292811" y="1703753"/>
            <a:ext cx="8522416" cy="48374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27" name="מחבר ישר 26"/>
          <p:cNvCxnSpPr/>
          <p:nvPr/>
        </p:nvCxnSpPr>
        <p:spPr>
          <a:xfrm>
            <a:off x="9059379" y="0"/>
            <a:ext cx="0" cy="68169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ate Placeholder 3"/>
          <p:cNvSpPr txBox="1"/>
          <p:nvPr/>
        </p:nvSpPr>
        <p:spPr>
          <a:xfrm>
            <a:off x="38212" y="6599283"/>
            <a:ext cx="411003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l">
              <a:defRPr sz="1100"/>
            </a:lvl1pPr>
          </a:lstStyle>
          <a:p>
            <a:r>
              <a:rPr sz="1000" dirty="0"/>
              <a:t>Prof. Guy </a:t>
            </a:r>
            <a:r>
              <a:rPr sz="1000" dirty="0" err="1"/>
              <a:t>Rolnik</a:t>
            </a:r>
            <a:r>
              <a:rPr sz="1000" dirty="0"/>
              <a:t>, all rights reserved. Do not use without permission </a:t>
            </a:r>
          </a:p>
        </p:txBody>
      </p:sp>
      <p:sp>
        <p:nvSpPr>
          <p:cNvPr id="2" name="מלבן 1"/>
          <p:cNvSpPr/>
          <p:nvPr/>
        </p:nvSpPr>
        <p:spPr>
          <a:xfrm>
            <a:off x="9322710" y="1703754"/>
            <a:ext cx="2538902" cy="14456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 rtl="0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Protagonist</a:t>
            </a:r>
          </a:p>
          <a:p>
            <a:pPr algn="l" rtl="0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Antagonist</a:t>
            </a:r>
          </a:p>
          <a:p>
            <a:pPr algn="l" rtl="0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Conflict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1" name="מלבן 20"/>
          <p:cNvSpPr/>
          <p:nvPr/>
        </p:nvSpPr>
        <p:spPr>
          <a:xfrm>
            <a:off x="9316633" y="355198"/>
            <a:ext cx="2518881" cy="1218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</a:rPr>
              <a:t>Controlling Idea 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</a:rPr>
              <a:t>(value + message)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22" name="מלבן 21"/>
          <p:cNvSpPr/>
          <p:nvPr/>
        </p:nvSpPr>
        <p:spPr>
          <a:xfrm>
            <a:off x="4564349" y="355199"/>
            <a:ext cx="4250878" cy="1218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</a:rPr>
              <a:t>The Audience</a:t>
            </a:r>
          </a:p>
          <a:p>
            <a:pPr algn="l" rtl="0"/>
            <a:r>
              <a:rPr lang="en-US" dirty="0">
                <a:solidFill>
                  <a:schemeClr val="tx1"/>
                </a:solidFill>
              </a:rPr>
              <a:t>Who are they?</a:t>
            </a:r>
          </a:p>
          <a:p>
            <a:pPr algn="l" rtl="0"/>
            <a:r>
              <a:rPr lang="en-US" dirty="0">
                <a:solidFill>
                  <a:schemeClr val="tx1"/>
                </a:solidFill>
              </a:rPr>
              <a:t>WIIFT? (what is it for them)</a:t>
            </a:r>
          </a:p>
          <a:p>
            <a:pPr algn="l" rtl="0"/>
            <a:r>
              <a:rPr lang="en-US" dirty="0">
                <a:solidFill>
                  <a:schemeClr val="tx1"/>
                </a:solidFill>
              </a:rPr>
              <a:t>Beliefs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6" name="מלבן 25"/>
          <p:cNvSpPr/>
          <p:nvPr/>
        </p:nvSpPr>
        <p:spPr>
          <a:xfrm>
            <a:off x="292811" y="838091"/>
            <a:ext cx="4027386" cy="737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>
                <a:solidFill>
                  <a:schemeClr val="tx1"/>
                </a:solidFill>
              </a:rPr>
              <a:t>Purpose: WIIFM?</a:t>
            </a:r>
            <a:r>
              <a:rPr lang="he-IL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(what is it for me)</a:t>
            </a:r>
          </a:p>
          <a:p>
            <a:pPr algn="l" rtl="0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8" name="צורה חופשית 7"/>
          <p:cNvSpPr/>
          <p:nvPr/>
        </p:nvSpPr>
        <p:spPr>
          <a:xfrm>
            <a:off x="531341" y="2130451"/>
            <a:ext cx="7979526" cy="3671350"/>
          </a:xfrm>
          <a:custGeom>
            <a:avLst/>
            <a:gdLst>
              <a:gd name="connsiteX0" fmla="*/ 0 w 7979526"/>
              <a:gd name="connsiteY0" fmla="*/ 1164493 h 3671350"/>
              <a:gd name="connsiteX1" fmla="*/ 984738 w 7979526"/>
              <a:gd name="connsiteY1" fmla="*/ 1148862 h 3671350"/>
              <a:gd name="connsiteX2" fmla="*/ 1406769 w 7979526"/>
              <a:gd name="connsiteY2" fmla="*/ 1852246 h 3671350"/>
              <a:gd name="connsiteX3" fmla="*/ 1899138 w 7979526"/>
              <a:gd name="connsiteY3" fmla="*/ 1797539 h 3671350"/>
              <a:gd name="connsiteX4" fmla="*/ 2117969 w 7979526"/>
              <a:gd name="connsiteY4" fmla="*/ 1813170 h 3671350"/>
              <a:gd name="connsiteX5" fmla="*/ 2266461 w 7979526"/>
              <a:gd name="connsiteY5" fmla="*/ 1953846 h 3671350"/>
              <a:gd name="connsiteX6" fmla="*/ 2524369 w 7979526"/>
              <a:gd name="connsiteY6" fmla="*/ 2422770 h 3671350"/>
              <a:gd name="connsiteX7" fmla="*/ 2954215 w 7979526"/>
              <a:gd name="connsiteY7" fmla="*/ 3423139 h 3671350"/>
              <a:gd name="connsiteX8" fmla="*/ 3415323 w 7979526"/>
              <a:gd name="connsiteY8" fmla="*/ 3641970 h 3671350"/>
              <a:gd name="connsiteX9" fmla="*/ 4040554 w 7979526"/>
              <a:gd name="connsiteY9" fmla="*/ 3595077 h 3671350"/>
              <a:gd name="connsiteX10" fmla="*/ 4556369 w 7979526"/>
              <a:gd name="connsiteY10" fmla="*/ 2969846 h 3671350"/>
              <a:gd name="connsiteX11" fmla="*/ 5189415 w 7979526"/>
              <a:gd name="connsiteY11" fmla="*/ 1899139 h 3671350"/>
              <a:gd name="connsiteX12" fmla="*/ 5884984 w 7979526"/>
              <a:gd name="connsiteY12" fmla="*/ 2086708 h 3671350"/>
              <a:gd name="connsiteX13" fmla="*/ 6127261 w 7979526"/>
              <a:gd name="connsiteY13" fmla="*/ 2078893 h 3671350"/>
              <a:gd name="connsiteX14" fmla="*/ 6307015 w 7979526"/>
              <a:gd name="connsiteY14" fmla="*/ 1930400 h 3671350"/>
              <a:gd name="connsiteX15" fmla="*/ 6486769 w 7979526"/>
              <a:gd name="connsiteY15" fmla="*/ 1750646 h 3671350"/>
              <a:gd name="connsiteX16" fmla="*/ 7010400 w 7979526"/>
              <a:gd name="connsiteY16" fmla="*/ 1148862 h 3671350"/>
              <a:gd name="connsiteX17" fmla="*/ 7823200 w 7979526"/>
              <a:gd name="connsiteY17" fmla="*/ 195385 h 3671350"/>
              <a:gd name="connsiteX18" fmla="*/ 7979507 w 7979526"/>
              <a:gd name="connsiteY18" fmla="*/ 0 h 3671350"/>
              <a:gd name="connsiteX19" fmla="*/ 7979507 w 7979526"/>
              <a:gd name="connsiteY19" fmla="*/ 0 h 367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979526" h="3671350">
                <a:moveTo>
                  <a:pt x="0" y="1164493"/>
                </a:moveTo>
                <a:cubicBezTo>
                  <a:pt x="375138" y="1099365"/>
                  <a:pt x="750277" y="1034237"/>
                  <a:pt x="984738" y="1148862"/>
                </a:cubicBezTo>
                <a:cubicBezTo>
                  <a:pt x="1219199" y="1263487"/>
                  <a:pt x="1254369" y="1744133"/>
                  <a:pt x="1406769" y="1852246"/>
                </a:cubicBezTo>
                <a:cubicBezTo>
                  <a:pt x="1559169" y="1960359"/>
                  <a:pt x="1780605" y="1804052"/>
                  <a:pt x="1899138" y="1797539"/>
                </a:cubicBezTo>
                <a:cubicBezTo>
                  <a:pt x="2017671" y="1791026"/>
                  <a:pt x="2056748" y="1787119"/>
                  <a:pt x="2117969" y="1813170"/>
                </a:cubicBezTo>
                <a:cubicBezTo>
                  <a:pt x="2179190" y="1839221"/>
                  <a:pt x="2198728" y="1852246"/>
                  <a:pt x="2266461" y="1953846"/>
                </a:cubicBezTo>
                <a:cubicBezTo>
                  <a:pt x="2334194" y="2055446"/>
                  <a:pt x="2409743" y="2177888"/>
                  <a:pt x="2524369" y="2422770"/>
                </a:cubicBezTo>
                <a:cubicBezTo>
                  <a:pt x="2638995" y="2667652"/>
                  <a:pt x="2805723" y="3219939"/>
                  <a:pt x="2954215" y="3423139"/>
                </a:cubicBezTo>
                <a:cubicBezTo>
                  <a:pt x="3102707" y="3626339"/>
                  <a:pt x="3234267" y="3613314"/>
                  <a:pt x="3415323" y="3641970"/>
                </a:cubicBezTo>
                <a:cubicBezTo>
                  <a:pt x="3596380" y="3670626"/>
                  <a:pt x="3850380" y="3707098"/>
                  <a:pt x="4040554" y="3595077"/>
                </a:cubicBezTo>
                <a:cubicBezTo>
                  <a:pt x="4230728" y="3483056"/>
                  <a:pt x="4364892" y="3252502"/>
                  <a:pt x="4556369" y="2969846"/>
                </a:cubicBezTo>
                <a:cubicBezTo>
                  <a:pt x="4747846" y="2687190"/>
                  <a:pt x="4967979" y="2046329"/>
                  <a:pt x="5189415" y="1899139"/>
                </a:cubicBezTo>
                <a:cubicBezTo>
                  <a:pt x="5410851" y="1751949"/>
                  <a:pt x="5728676" y="2056749"/>
                  <a:pt x="5884984" y="2086708"/>
                </a:cubicBezTo>
                <a:cubicBezTo>
                  <a:pt x="6041292" y="2116667"/>
                  <a:pt x="6056923" y="2104944"/>
                  <a:pt x="6127261" y="2078893"/>
                </a:cubicBezTo>
                <a:cubicBezTo>
                  <a:pt x="6197600" y="2052842"/>
                  <a:pt x="6247097" y="1985108"/>
                  <a:pt x="6307015" y="1930400"/>
                </a:cubicBezTo>
                <a:cubicBezTo>
                  <a:pt x="6366933" y="1875692"/>
                  <a:pt x="6369538" y="1880902"/>
                  <a:pt x="6486769" y="1750646"/>
                </a:cubicBezTo>
                <a:cubicBezTo>
                  <a:pt x="6604000" y="1620390"/>
                  <a:pt x="7010400" y="1148862"/>
                  <a:pt x="7010400" y="1148862"/>
                </a:cubicBezTo>
                <a:lnTo>
                  <a:pt x="7823200" y="195385"/>
                </a:lnTo>
                <a:cubicBezTo>
                  <a:pt x="7984718" y="3908"/>
                  <a:pt x="7979507" y="0"/>
                  <a:pt x="7979507" y="0"/>
                </a:cubicBezTo>
                <a:lnTo>
                  <a:pt x="7979507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TextBox 27"/>
          <p:cNvSpPr txBox="1"/>
          <p:nvPr/>
        </p:nvSpPr>
        <p:spPr>
          <a:xfrm>
            <a:off x="2113283" y="3557455"/>
            <a:ext cx="1405667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1400" i="1" dirty="0"/>
              <a:t>Inciting Event</a:t>
            </a:r>
            <a:endParaRPr lang="he-IL" sz="1400" i="1" dirty="0"/>
          </a:p>
        </p:txBody>
      </p:sp>
      <p:sp>
        <p:nvSpPr>
          <p:cNvPr id="29" name="TextBox 28"/>
          <p:cNvSpPr txBox="1"/>
          <p:nvPr/>
        </p:nvSpPr>
        <p:spPr>
          <a:xfrm>
            <a:off x="359889" y="2871333"/>
            <a:ext cx="1061665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1400" i="1" dirty="0"/>
              <a:t>Setting</a:t>
            </a:r>
            <a:endParaRPr lang="he-IL" sz="1400" i="1" dirty="0"/>
          </a:p>
        </p:txBody>
      </p:sp>
      <p:sp>
        <p:nvSpPr>
          <p:cNvPr id="31" name="TextBox 30"/>
          <p:cNvSpPr txBox="1"/>
          <p:nvPr/>
        </p:nvSpPr>
        <p:spPr>
          <a:xfrm>
            <a:off x="7649548" y="3063336"/>
            <a:ext cx="1061665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1400" i="1" dirty="0"/>
              <a:t>Resolution</a:t>
            </a:r>
            <a:endParaRPr lang="he-IL" sz="1400" i="1" dirty="0"/>
          </a:p>
        </p:txBody>
      </p:sp>
      <p:sp>
        <p:nvSpPr>
          <p:cNvPr id="32" name="TextBox 31"/>
          <p:cNvSpPr txBox="1"/>
          <p:nvPr/>
        </p:nvSpPr>
        <p:spPr>
          <a:xfrm>
            <a:off x="6864101" y="3969818"/>
            <a:ext cx="1061665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1400" i="1" dirty="0"/>
              <a:t>Change</a:t>
            </a:r>
            <a:endParaRPr lang="he-IL" sz="1400" i="1" dirty="0"/>
          </a:p>
        </p:txBody>
      </p:sp>
      <p:sp>
        <p:nvSpPr>
          <p:cNvPr id="34" name="TextBox 33"/>
          <p:cNvSpPr txBox="1"/>
          <p:nvPr/>
        </p:nvSpPr>
        <p:spPr>
          <a:xfrm>
            <a:off x="3167717" y="5776482"/>
            <a:ext cx="1961068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1400" i="1" dirty="0"/>
              <a:t>Pressure Point + Stakes </a:t>
            </a:r>
            <a:endParaRPr lang="he-IL" sz="1400" i="1" dirty="0"/>
          </a:p>
        </p:txBody>
      </p:sp>
      <p:sp>
        <p:nvSpPr>
          <p:cNvPr id="30" name="Text Box 2">
            <a:extLst>
              <a:ext uri="{FF2B5EF4-FFF2-40B4-BE49-F238E27FC236}">
                <a16:creationId xmlns:a16="http://schemas.microsoft.com/office/drawing/2014/main" id="{69308E16-875F-D7AE-EA03-EA1A4770D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30" y="3386789"/>
            <a:ext cx="1167137" cy="5232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5" name="Text Box 2">
            <a:extLst>
              <a:ext uri="{FF2B5EF4-FFF2-40B4-BE49-F238E27FC236}">
                <a16:creationId xmlns:a16="http://schemas.microsoft.com/office/drawing/2014/main" id="{638270A0-34C9-4233-106E-F36C5445B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116" y="2984640"/>
            <a:ext cx="1167138" cy="5232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6" name="Text Box 2">
            <a:extLst>
              <a:ext uri="{FF2B5EF4-FFF2-40B4-BE49-F238E27FC236}">
                <a16:creationId xmlns:a16="http://schemas.microsoft.com/office/drawing/2014/main" id="{247A77A7-C951-4D04-F566-AD8484B8C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5417" y="6019910"/>
            <a:ext cx="1405667" cy="46707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7" name="Text Box 2">
            <a:extLst>
              <a:ext uri="{FF2B5EF4-FFF2-40B4-BE49-F238E27FC236}">
                <a16:creationId xmlns:a16="http://schemas.microsoft.com/office/drawing/2014/main" id="{DDC7ACC4-152D-1F77-F134-B3E31F33A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1821" y="4311235"/>
            <a:ext cx="1405667" cy="5232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8" name="Text Box 2">
            <a:extLst>
              <a:ext uri="{FF2B5EF4-FFF2-40B4-BE49-F238E27FC236}">
                <a16:creationId xmlns:a16="http://schemas.microsoft.com/office/drawing/2014/main" id="{6AC7A13E-9BB3-AD05-3A9E-3E6ECD90F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9560" y="3476449"/>
            <a:ext cx="1364173" cy="5232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089487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1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0BF4C17-61C7-B441-B92C-120F12C5F53F}"/>
              </a:ext>
            </a:extLst>
          </p:cNvPr>
          <p:cNvSpPr/>
          <p:nvPr/>
        </p:nvSpPr>
        <p:spPr>
          <a:xfrm>
            <a:off x="459409" y="1556461"/>
            <a:ext cx="5502568" cy="1742849"/>
          </a:xfrm>
          <a:prstGeom prst="rect">
            <a:avLst/>
          </a:prstGeom>
          <a:solidFill>
            <a:srgbClr val="0E1154">
              <a:alpha val="78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2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21EF25-EBE6-4A4C-A793-495BF3AEC5C6}"/>
              </a:ext>
            </a:extLst>
          </p:cNvPr>
          <p:cNvSpPr/>
          <p:nvPr/>
        </p:nvSpPr>
        <p:spPr>
          <a:xfrm>
            <a:off x="455231" y="463412"/>
            <a:ext cx="11281538" cy="7863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TAKE IT WITH YOU</a:t>
            </a:r>
            <a:endParaRPr lang="aa-ET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188EAB-1D70-9543-8CCD-8647E74CCD94}"/>
              </a:ext>
            </a:extLst>
          </p:cNvPr>
          <p:cNvSpPr/>
          <p:nvPr/>
        </p:nvSpPr>
        <p:spPr>
          <a:xfrm>
            <a:off x="455231" y="3605975"/>
            <a:ext cx="11281538" cy="2772109"/>
          </a:xfrm>
          <a:prstGeom prst="rect">
            <a:avLst/>
          </a:prstGeom>
          <a:solidFill>
            <a:srgbClr val="0E1154">
              <a:alpha val="78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2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9" name="Google Shape;579;p51"/>
          <p:cNvSpPr txBox="1"/>
          <p:nvPr/>
        </p:nvSpPr>
        <p:spPr>
          <a:xfrm>
            <a:off x="564736" y="3758766"/>
            <a:ext cx="2179559" cy="36929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1" u="none" strike="noStrike" cap="none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Controlling Idea</a:t>
            </a:r>
            <a:endParaRPr b="1" u="none" strike="noStrike" cap="none" dirty="0"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29D77-C226-0340-82C9-04B404E3208A}"/>
              </a:ext>
            </a:extLst>
          </p:cNvPr>
          <p:cNvSpPr/>
          <p:nvPr/>
        </p:nvSpPr>
        <p:spPr>
          <a:xfrm>
            <a:off x="567234" y="4126904"/>
            <a:ext cx="1096215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What message are you communicating in order to achieve your purpose?</a:t>
            </a:r>
          </a:p>
          <a:p>
            <a:pPr marL="285750" lvl="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What is the universal value? What are you saying about that value?</a:t>
            </a:r>
          </a:p>
          <a:p>
            <a:pPr marL="6350" lvl="0">
              <a:buClr>
                <a:schemeClr val="dk1"/>
              </a:buClr>
              <a:buSzPts val="1300"/>
            </a:pPr>
            <a:endParaRPr lang="en-US" sz="16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6350" lvl="0">
              <a:buClr>
                <a:schemeClr val="dk1"/>
              </a:buClr>
              <a:buSzPts val="1300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Tips: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Use universal values: life/death, love/hate, freedom/slavery, truth/lie, courage/cowardice, loyalty/betrayal, wisdom/stupidity, 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strength/weakness, hope/despair…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Use a common template: X happens because the hero does Y; If you want to do X, you have to do Y; With X comes Y; 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There’s no X without Y, etc.</a:t>
            </a:r>
            <a:endParaRPr lang="en-US" sz="16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52E0DD-17F0-414B-AABC-A66D80824137}"/>
              </a:ext>
            </a:extLst>
          </p:cNvPr>
          <p:cNvSpPr/>
          <p:nvPr/>
        </p:nvSpPr>
        <p:spPr>
          <a:xfrm>
            <a:off x="564736" y="2056796"/>
            <a:ext cx="522521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What are you “selling”? (An idea? A product? Yourself?)</a:t>
            </a:r>
          </a:p>
          <a:p>
            <a:pPr marL="28575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What do you want your audience to feel? Think? Do?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33939C-3BB1-3C4A-9D31-979E76BC597A}"/>
              </a:ext>
            </a:extLst>
          </p:cNvPr>
          <p:cNvSpPr/>
          <p:nvPr/>
        </p:nvSpPr>
        <p:spPr>
          <a:xfrm>
            <a:off x="564736" y="1718876"/>
            <a:ext cx="966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Purpose</a:t>
            </a:r>
            <a:endParaRPr lang="aa-ET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A0BF4C17-61C7-B441-B92C-120F12C5F53F}"/>
              </a:ext>
            </a:extLst>
          </p:cNvPr>
          <p:cNvSpPr/>
          <p:nvPr/>
        </p:nvSpPr>
        <p:spPr>
          <a:xfrm>
            <a:off x="6234201" y="1556461"/>
            <a:ext cx="5502568" cy="1742849"/>
          </a:xfrm>
          <a:prstGeom prst="rect">
            <a:avLst/>
          </a:prstGeom>
          <a:solidFill>
            <a:srgbClr val="0E1154">
              <a:alpha val="78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2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9B33939C-3BB1-3C4A-9D31-979E76BC597A}"/>
              </a:ext>
            </a:extLst>
          </p:cNvPr>
          <p:cNvSpPr/>
          <p:nvPr/>
        </p:nvSpPr>
        <p:spPr>
          <a:xfrm>
            <a:off x="6504550" y="1718242"/>
            <a:ext cx="1077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Audience</a:t>
            </a:r>
            <a:endParaRPr lang="aa-ET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4BABB5-889E-B944-9BDE-83F00D783250}"/>
              </a:ext>
            </a:extLst>
          </p:cNvPr>
          <p:cNvSpPr/>
          <p:nvPr/>
        </p:nvSpPr>
        <p:spPr>
          <a:xfrm>
            <a:off x="6504549" y="2018818"/>
            <a:ext cx="502484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To whom are you telling your story?</a:t>
            </a:r>
          </a:p>
          <a:p>
            <a:pPr marL="28575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What are their beliefs in regards </a:t>
            </a:r>
            <a:b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to your controlling idea?</a:t>
            </a:r>
          </a:p>
          <a:p>
            <a:pPr marL="28575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What’s in it for them (why should they care)?</a:t>
            </a:r>
            <a:endParaRPr lang="en-US" sz="16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53A82D-413F-154D-C677-5164E57EDD2F}"/>
              </a:ext>
            </a:extLst>
          </p:cNvPr>
          <p:cNvSpPr txBox="1"/>
          <p:nvPr/>
        </p:nvSpPr>
        <p:spPr>
          <a:xfrm>
            <a:off x="38212" y="6599283"/>
            <a:ext cx="411003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l">
              <a:defRPr sz="1100"/>
            </a:lvl1pPr>
          </a:lstStyle>
          <a:p>
            <a:r>
              <a:rPr sz="1000" dirty="0"/>
              <a:t>Prof. Guy </a:t>
            </a:r>
            <a:r>
              <a:rPr sz="1000" dirty="0" err="1"/>
              <a:t>Rolnik</a:t>
            </a:r>
            <a:r>
              <a:rPr sz="1000" dirty="0"/>
              <a:t>, all rights reserved. Do not use without permission </a:t>
            </a:r>
          </a:p>
        </p:txBody>
      </p:sp>
    </p:spTree>
    <p:extLst>
      <p:ext uri="{BB962C8B-B14F-4D97-AF65-F5344CB8AC3E}">
        <p14:creationId xmlns:p14="http://schemas.microsoft.com/office/powerpoint/2010/main" val="3623947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0BF4C17-61C7-B441-B92C-120F12C5F53F}"/>
              </a:ext>
            </a:extLst>
          </p:cNvPr>
          <p:cNvSpPr/>
          <p:nvPr/>
        </p:nvSpPr>
        <p:spPr>
          <a:xfrm>
            <a:off x="459409" y="1518883"/>
            <a:ext cx="11277360" cy="1828315"/>
          </a:xfrm>
          <a:prstGeom prst="rect">
            <a:avLst/>
          </a:prstGeom>
          <a:solidFill>
            <a:srgbClr val="0E1154">
              <a:alpha val="78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2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21EF25-EBE6-4A4C-A793-495BF3AEC5C6}"/>
              </a:ext>
            </a:extLst>
          </p:cNvPr>
          <p:cNvSpPr/>
          <p:nvPr/>
        </p:nvSpPr>
        <p:spPr>
          <a:xfrm>
            <a:off x="455231" y="463412"/>
            <a:ext cx="11281538" cy="7863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TAKE IT WITH YOU</a:t>
            </a:r>
            <a:endParaRPr lang="aa-ET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188EAB-1D70-9543-8CCD-8647E74CCD94}"/>
              </a:ext>
            </a:extLst>
          </p:cNvPr>
          <p:cNvSpPr/>
          <p:nvPr/>
        </p:nvSpPr>
        <p:spPr>
          <a:xfrm>
            <a:off x="455231" y="3605975"/>
            <a:ext cx="11281538" cy="2772109"/>
          </a:xfrm>
          <a:prstGeom prst="rect">
            <a:avLst/>
          </a:prstGeom>
          <a:solidFill>
            <a:srgbClr val="0E1154">
              <a:alpha val="78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2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9" name="Google Shape;579;p51"/>
          <p:cNvSpPr txBox="1"/>
          <p:nvPr/>
        </p:nvSpPr>
        <p:spPr>
          <a:xfrm>
            <a:off x="564736" y="3902815"/>
            <a:ext cx="2179559" cy="36929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1" u="none" strike="noStrike" cap="none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Conflict</a:t>
            </a:r>
            <a:endParaRPr b="1" u="none" strike="noStrike" cap="none" dirty="0"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29D77-C226-0340-82C9-04B404E3208A}"/>
              </a:ext>
            </a:extLst>
          </p:cNvPr>
          <p:cNvSpPr/>
          <p:nvPr/>
        </p:nvSpPr>
        <p:spPr>
          <a:xfrm>
            <a:off x="567234" y="4270953"/>
            <a:ext cx="1096215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The soul of the story and the engine of its plot</a:t>
            </a:r>
          </a:p>
          <a:p>
            <a:pPr marL="28575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/>
              <a:t>Problem → Solution is not enough! Make sure: Problem → </a:t>
            </a:r>
            <a:r>
              <a:rPr lang="en-US" sz="1600" b="1" dirty="0"/>
              <a:t>Conflict</a:t>
            </a:r>
            <a:r>
              <a:rPr lang="en-US" sz="1600" dirty="0"/>
              <a:t> → Solution</a:t>
            </a:r>
          </a:p>
          <a:p>
            <a:pPr marL="28575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/>
              <a:t>Is your solution tied to the Controlling Idea?</a:t>
            </a:r>
          </a:p>
          <a:p>
            <a:pPr marL="6350" lvl="0">
              <a:buClr>
                <a:schemeClr val="dk1"/>
              </a:buClr>
              <a:buSzPts val="1300"/>
            </a:pPr>
            <a:endParaRPr lang="en-US" sz="16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6350">
              <a:buClr>
                <a:schemeClr val="dk1"/>
              </a:buClr>
              <a:buSzPts val="1300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Types of conflict: </a:t>
            </a:r>
            <a:r>
              <a:rPr lang="en-US" sz="1600" dirty="0"/>
              <a:t>Person vs. Himself (doubt, fear, confusion, uncertainty…); Person vs. Person (lovers, family, friends, peers, bosses, other people…); Person vs. Nature (weather, animals, disease, time, distance…); Person vs. Society (companies, institutions, governments, groups, norms…); Person vs. Supernatural; Person vs. Destiny.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52E0DD-17F0-414B-AABC-A66D80824137}"/>
              </a:ext>
            </a:extLst>
          </p:cNvPr>
          <p:cNvSpPr/>
          <p:nvPr/>
        </p:nvSpPr>
        <p:spPr>
          <a:xfrm>
            <a:off x="564736" y="2056796"/>
            <a:ext cx="109646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Who is your Hero?</a:t>
            </a:r>
          </a:p>
          <a:p>
            <a:pPr marL="28575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What is the Hero’s conscious desire?</a:t>
            </a:r>
          </a:p>
          <a:p>
            <a:pPr marL="28575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What is the Hero’s </a:t>
            </a:r>
            <a:r>
              <a:rPr lang="en-US" sz="16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un</a:t>
            </a: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conscious desire?</a:t>
            </a:r>
          </a:p>
          <a:p>
            <a:pPr marL="28575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Is the Hero empathetic? Are we, in some way, similar that person? (tip: think of the universal value in your Controlling Idea)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33939C-3BB1-3C4A-9D31-979E76BC597A}"/>
              </a:ext>
            </a:extLst>
          </p:cNvPr>
          <p:cNvSpPr/>
          <p:nvPr/>
        </p:nvSpPr>
        <p:spPr>
          <a:xfrm>
            <a:off x="564736" y="1718876"/>
            <a:ext cx="1280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Protagonist</a:t>
            </a:r>
            <a:endParaRPr lang="aa-ET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Date Placeholder 3"/>
          <p:cNvSpPr txBox="1"/>
          <p:nvPr/>
        </p:nvSpPr>
        <p:spPr>
          <a:xfrm>
            <a:off x="38212" y="6599283"/>
            <a:ext cx="411003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l">
              <a:defRPr sz="1100"/>
            </a:lvl1pPr>
          </a:lstStyle>
          <a:p>
            <a:r>
              <a:rPr sz="1000" dirty="0"/>
              <a:t>Prof. Guy </a:t>
            </a:r>
            <a:r>
              <a:rPr sz="1000" dirty="0" err="1"/>
              <a:t>Rolnik</a:t>
            </a:r>
            <a:r>
              <a:rPr sz="1000" dirty="0"/>
              <a:t>, all rights reserved. Do not use without permission </a:t>
            </a:r>
          </a:p>
        </p:txBody>
      </p:sp>
    </p:spTree>
    <p:extLst>
      <p:ext uri="{BB962C8B-B14F-4D97-AF65-F5344CB8AC3E}">
        <p14:creationId xmlns:p14="http://schemas.microsoft.com/office/powerpoint/2010/main" val="1269630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0BF4C17-61C7-B441-B92C-120F12C5F53F}"/>
              </a:ext>
            </a:extLst>
          </p:cNvPr>
          <p:cNvSpPr/>
          <p:nvPr/>
        </p:nvSpPr>
        <p:spPr>
          <a:xfrm>
            <a:off x="459409" y="1556461"/>
            <a:ext cx="5502568" cy="1742849"/>
          </a:xfrm>
          <a:prstGeom prst="rect">
            <a:avLst/>
          </a:prstGeom>
          <a:solidFill>
            <a:srgbClr val="0E1154">
              <a:alpha val="78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2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21EF25-EBE6-4A4C-A793-495BF3AEC5C6}"/>
              </a:ext>
            </a:extLst>
          </p:cNvPr>
          <p:cNvSpPr/>
          <p:nvPr/>
        </p:nvSpPr>
        <p:spPr>
          <a:xfrm>
            <a:off x="455231" y="463412"/>
            <a:ext cx="11281538" cy="7863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TAKE IT WITH YOU</a:t>
            </a:r>
            <a:endParaRPr lang="aa-ET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188EAB-1D70-9543-8CCD-8647E74CCD94}"/>
              </a:ext>
            </a:extLst>
          </p:cNvPr>
          <p:cNvSpPr/>
          <p:nvPr/>
        </p:nvSpPr>
        <p:spPr>
          <a:xfrm>
            <a:off x="455231" y="3551663"/>
            <a:ext cx="11281538" cy="2826421"/>
          </a:xfrm>
          <a:prstGeom prst="rect">
            <a:avLst/>
          </a:prstGeom>
          <a:solidFill>
            <a:srgbClr val="0E1154">
              <a:alpha val="78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2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9" name="Google Shape;579;p51"/>
          <p:cNvSpPr txBox="1"/>
          <p:nvPr/>
        </p:nvSpPr>
        <p:spPr>
          <a:xfrm>
            <a:off x="564736" y="3758766"/>
            <a:ext cx="3957084" cy="36929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The Pressure Point and The Stakes</a:t>
            </a:r>
            <a:endParaRPr b="1" u="none" strike="noStrike" cap="none" dirty="0"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29D77-C226-0340-82C9-04B404E3208A}"/>
              </a:ext>
            </a:extLst>
          </p:cNvPr>
          <p:cNvSpPr/>
          <p:nvPr/>
        </p:nvSpPr>
        <p:spPr>
          <a:xfrm>
            <a:off x="567234" y="4126904"/>
            <a:ext cx="1096215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 lowest arc point – with the highest Stakes</a:t>
            </a:r>
          </a:p>
          <a:p>
            <a:pPr marL="285750" lvl="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What are you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risking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? What do you stand to lose/gain?</a:t>
            </a:r>
          </a:p>
          <a:p>
            <a:pPr marL="285750" lvl="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How much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does it matter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to you? What will happen if you fail?</a:t>
            </a:r>
          </a:p>
          <a:p>
            <a:pPr marL="285750" lvl="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Stakes can be both internal and external</a:t>
            </a:r>
          </a:p>
          <a:p>
            <a:pPr marL="285750" lvl="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 Stakes are inextricably linked to the Controlling Idea</a:t>
            </a:r>
          </a:p>
          <a:p>
            <a:pPr marL="6350" lvl="0">
              <a:buClr>
                <a:schemeClr val="dk1"/>
              </a:buClr>
              <a:buSzPts val="1300"/>
            </a:pPr>
            <a:endParaRPr lang="en-US" sz="16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6350" lvl="0">
              <a:buClr>
                <a:schemeClr val="dk1"/>
              </a:buClr>
              <a:buSzPts val="1300"/>
            </a:pPr>
            <a:r>
              <a:rPr lang="en-US" sz="16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How to raise the Stakes</a:t>
            </a: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Define the Dilemma; Remember the Setting; Change the pace; Zoom in with details; Add a time limit; Make it personal for the nemesis; Make it bigger; Break the 4</a:t>
            </a:r>
            <a:r>
              <a:rPr lang="en-US" sz="1600" baseline="30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th</a:t>
            </a: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wall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52E0DD-17F0-414B-AABC-A66D80824137}"/>
              </a:ext>
            </a:extLst>
          </p:cNvPr>
          <p:cNvSpPr/>
          <p:nvPr/>
        </p:nvSpPr>
        <p:spPr>
          <a:xfrm>
            <a:off x="564736" y="2056796"/>
            <a:ext cx="522521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Period</a:t>
            </a:r>
          </a:p>
          <a:p>
            <a:pPr marL="28575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Location</a:t>
            </a:r>
          </a:p>
          <a:p>
            <a:pPr marL="28575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Duration</a:t>
            </a:r>
          </a:p>
          <a:p>
            <a:pPr marL="285750" indent="-27940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Adjacent characters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33939C-3BB1-3C4A-9D31-979E76BC597A}"/>
              </a:ext>
            </a:extLst>
          </p:cNvPr>
          <p:cNvSpPr/>
          <p:nvPr/>
        </p:nvSpPr>
        <p:spPr>
          <a:xfrm>
            <a:off x="564736" y="1718876"/>
            <a:ext cx="12591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The Setting</a:t>
            </a:r>
            <a:endParaRPr lang="aa-ET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A0BF4C17-61C7-B441-B92C-120F12C5F53F}"/>
              </a:ext>
            </a:extLst>
          </p:cNvPr>
          <p:cNvSpPr/>
          <p:nvPr/>
        </p:nvSpPr>
        <p:spPr>
          <a:xfrm>
            <a:off x="6234201" y="1556461"/>
            <a:ext cx="5502568" cy="1742849"/>
          </a:xfrm>
          <a:prstGeom prst="rect">
            <a:avLst/>
          </a:prstGeom>
          <a:solidFill>
            <a:srgbClr val="0E1154">
              <a:alpha val="78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2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9B33939C-3BB1-3C4A-9D31-979E76BC597A}"/>
              </a:ext>
            </a:extLst>
          </p:cNvPr>
          <p:cNvSpPr/>
          <p:nvPr/>
        </p:nvSpPr>
        <p:spPr>
          <a:xfrm>
            <a:off x="6504550" y="1718242"/>
            <a:ext cx="18784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The Inciting Event</a:t>
            </a:r>
            <a:endParaRPr lang="aa-ET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4BABB5-889E-B944-9BDE-83F00D783250}"/>
              </a:ext>
            </a:extLst>
          </p:cNvPr>
          <p:cNvSpPr/>
          <p:nvPr/>
        </p:nvSpPr>
        <p:spPr>
          <a:xfrm>
            <a:off x="6504549" y="2018818"/>
            <a:ext cx="502484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>
              <a:buClr>
                <a:schemeClr val="dk1"/>
              </a:buClr>
              <a:buSzPts val="1300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Introduce the Conflict – put the plot into motion</a:t>
            </a:r>
            <a:endParaRPr lang="en-US" sz="16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76564" y="1996963"/>
            <a:ext cx="208045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600" dirty="0"/>
              <a:t>The Setting helps us understand the Stakes later in the story</a:t>
            </a:r>
            <a:endParaRPr lang="he-IL" sz="1600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62CD732-089E-4E28-48B1-C5351BBC1329}"/>
              </a:ext>
            </a:extLst>
          </p:cNvPr>
          <p:cNvSpPr txBox="1"/>
          <p:nvPr/>
        </p:nvSpPr>
        <p:spPr>
          <a:xfrm>
            <a:off x="38212" y="6599283"/>
            <a:ext cx="411003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l">
              <a:defRPr sz="1100"/>
            </a:lvl1pPr>
          </a:lstStyle>
          <a:p>
            <a:r>
              <a:rPr sz="1000" dirty="0"/>
              <a:t>Prof. Guy </a:t>
            </a:r>
            <a:r>
              <a:rPr sz="1000" dirty="0" err="1"/>
              <a:t>Rolnik</a:t>
            </a:r>
            <a:r>
              <a:rPr sz="1000" dirty="0"/>
              <a:t>, all rights reserved. Do not use without permission </a:t>
            </a:r>
          </a:p>
        </p:txBody>
      </p:sp>
    </p:spTree>
    <p:extLst>
      <p:ext uri="{BB962C8B-B14F-4D97-AF65-F5344CB8AC3E}">
        <p14:creationId xmlns:p14="http://schemas.microsoft.com/office/powerpoint/2010/main" val="127324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0BF4C17-61C7-B441-B92C-120F12C5F53F}"/>
              </a:ext>
            </a:extLst>
          </p:cNvPr>
          <p:cNvSpPr/>
          <p:nvPr/>
        </p:nvSpPr>
        <p:spPr>
          <a:xfrm>
            <a:off x="459409" y="1518883"/>
            <a:ext cx="11277360" cy="1910117"/>
          </a:xfrm>
          <a:prstGeom prst="rect">
            <a:avLst/>
          </a:prstGeom>
          <a:solidFill>
            <a:srgbClr val="0E1154">
              <a:alpha val="78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aa-ET" sz="2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21EF25-EBE6-4A4C-A793-495BF3AEC5C6}"/>
              </a:ext>
            </a:extLst>
          </p:cNvPr>
          <p:cNvSpPr/>
          <p:nvPr/>
        </p:nvSpPr>
        <p:spPr>
          <a:xfrm>
            <a:off x="455231" y="463412"/>
            <a:ext cx="11281538" cy="7863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TAKE IT WITH YOU</a:t>
            </a:r>
            <a:endParaRPr lang="aa-ET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188EAB-1D70-9543-8CCD-8647E74CCD94}"/>
              </a:ext>
            </a:extLst>
          </p:cNvPr>
          <p:cNvSpPr/>
          <p:nvPr/>
        </p:nvSpPr>
        <p:spPr>
          <a:xfrm>
            <a:off x="455231" y="3609683"/>
            <a:ext cx="11281538" cy="2911433"/>
          </a:xfrm>
          <a:prstGeom prst="rect">
            <a:avLst/>
          </a:prstGeom>
          <a:solidFill>
            <a:srgbClr val="0E1154">
              <a:alpha val="78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aa-ET" sz="2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9" name="Google Shape;579;p51"/>
          <p:cNvSpPr txBox="1"/>
          <p:nvPr/>
        </p:nvSpPr>
        <p:spPr>
          <a:xfrm>
            <a:off x="564736" y="3902815"/>
            <a:ext cx="2179559" cy="369291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1" u="none" strike="noStrike" cap="none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How it all connects</a:t>
            </a:r>
            <a:endParaRPr b="1" u="none" strike="noStrike" cap="none" dirty="0"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52E0DD-17F0-414B-AABC-A66D80824137}"/>
              </a:ext>
            </a:extLst>
          </p:cNvPr>
          <p:cNvSpPr/>
          <p:nvPr/>
        </p:nvSpPr>
        <p:spPr>
          <a:xfrm>
            <a:off x="564736" y="1978588"/>
            <a:ext cx="1096465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algn="l" rtl="0">
              <a:buClr>
                <a:schemeClr val="dk1"/>
              </a:buClr>
              <a:buSzPts val="1300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Ask yourself:</a:t>
            </a:r>
          </a:p>
          <a:p>
            <a:pPr marL="285750" indent="-279400" algn="l" rtl="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How was the conflict resolved?</a:t>
            </a:r>
          </a:p>
          <a:p>
            <a:pPr marL="285750" indent="-279400" algn="l" rtl="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What Change has the Protagonist undergone?</a:t>
            </a:r>
          </a:p>
          <a:p>
            <a:pPr marL="285750" indent="-279400" algn="l" rtl="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/>
              <a:t>What lesson did the Hero learn? What did the Hero discover about herself?</a:t>
            </a:r>
          </a:p>
          <a:p>
            <a:pPr marL="285750" indent="-279400" algn="l" rtl="0"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600" dirty="0"/>
              <a:t>What did that discovery compel the Hero to do? [through the Hero’s actions, the audience recognizes the Change]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33939C-3BB1-3C4A-9D31-979E76BC597A}"/>
              </a:ext>
            </a:extLst>
          </p:cNvPr>
          <p:cNvSpPr/>
          <p:nvPr/>
        </p:nvSpPr>
        <p:spPr>
          <a:xfrm>
            <a:off x="564736" y="1640668"/>
            <a:ext cx="23748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Resolution and Change</a:t>
            </a:r>
            <a:endParaRPr lang="aa-ET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Date Placeholder 3"/>
          <p:cNvSpPr txBox="1"/>
          <p:nvPr/>
        </p:nvSpPr>
        <p:spPr>
          <a:xfrm>
            <a:off x="38212" y="6599283"/>
            <a:ext cx="411003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algn="l">
              <a:defRPr sz="1100"/>
            </a:lvl1pPr>
          </a:lstStyle>
          <a:p>
            <a:pPr rtl="0"/>
            <a:r>
              <a:rPr sz="1000" dirty="0"/>
              <a:t>Prof. Guy </a:t>
            </a:r>
            <a:r>
              <a:rPr sz="1000" dirty="0" err="1"/>
              <a:t>Rolnik</a:t>
            </a:r>
            <a:r>
              <a:rPr sz="1000" dirty="0"/>
              <a:t>, all rights reserved. Do not use without permission </a:t>
            </a:r>
          </a:p>
        </p:txBody>
      </p:sp>
      <p:sp>
        <p:nvSpPr>
          <p:cNvPr id="5" name="אליפסה 4"/>
          <p:cNvSpPr/>
          <p:nvPr/>
        </p:nvSpPr>
        <p:spPr>
          <a:xfrm>
            <a:off x="5088665" y="4358195"/>
            <a:ext cx="2050637" cy="1467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en-US" sz="2000" b="1" dirty="0">
                <a:solidFill>
                  <a:schemeClr val="tx1"/>
                </a:solidFill>
              </a:rPr>
              <a:t>The Controlling Idea</a:t>
            </a:r>
            <a:endParaRPr lang="he-IL" sz="2000" b="1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4462" y="4731638"/>
            <a:ext cx="370751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dirty="0"/>
              <a:t>The universal </a:t>
            </a:r>
            <a:r>
              <a:rPr lang="en-US" b="1" dirty="0"/>
              <a:t>value</a:t>
            </a:r>
            <a:r>
              <a:rPr lang="en-US" dirty="0"/>
              <a:t> in the Controlling Idea makes the </a:t>
            </a:r>
            <a:r>
              <a:rPr lang="en-US" b="1" dirty="0"/>
              <a:t>Hero empathetic</a:t>
            </a:r>
            <a:endParaRPr lang="he-IL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7030001" y="3995937"/>
            <a:ext cx="335399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dirty="0"/>
              <a:t>The </a:t>
            </a:r>
            <a:r>
              <a:rPr lang="en-US" b="1" dirty="0"/>
              <a:t>Stakes</a:t>
            </a:r>
            <a:r>
              <a:rPr lang="en-US" dirty="0"/>
              <a:t> present a Dilemma </a:t>
            </a:r>
            <a:br>
              <a:rPr lang="en-US" dirty="0"/>
            </a:br>
            <a:r>
              <a:rPr lang="en-US" dirty="0"/>
              <a:t>in regards to the Controlling Idea</a:t>
            </a:r>
            <a:endParaRPr lang="he-IL" dirty="0"/>
          </a:p>
        </p:txBody>
      </p:sp>
      <p:sp>
        <p:nvSpPr>
          <p:cNvPr id="15" name="TextBox 14"/>
          <p:cNvSpPr txBox="1"/>
          <p:nvPr/>
        </p:nvSpPr>
        <p:spPr>
          <a:xfrm>
            <a:off x="3334060" y="5750041"/>
            <a:ext cx="297583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dirty="0"/>
              <a:t>The Controlling Idea is </a:t>
            </a:r>
            <a:br>
              <a:rPr lang="en-US" dirty="0"/>
            </a:br>
            <a:r>
              <a:rPr lang="en-US" dirty="0"/>
              <a:t>at the heart of the </a:t>
            </a:r>
            <a:r>
              <a:rPr lang="en-US" b="1" dirty="0"/>
              <a:t>Conflict</a:t>
            </a:r>
            <a:endParaRPr lang="he-IL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138693" y="5390780"/>
            <a:ext cx="320921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dirty="0"/>
              <a:t>The </a:t>
            </a:r>
            <a:r>
              <a:rPr lang="en-US" b="1" dirty="0"/>
              <a:t>Resolution</a:t>
            </a:r>
            <a:r>
              <a:rPr lang="en-US" dirty="0"/>
              <a:t> and the </a:t>
            </a:r>
            <a:r>
              <a:rPr lang="en-US" b="1" dirty="0"/>
              <a:t>Change</a:t>
            </a:r>
            <a:r>
              <a:rPr lang="en-US" dirty="0"/>
              <a:t> convey the Controlling Idea</a:t>
            </a:r>
            <a:endParaRPr lang="he-IL" dirty="0"/>
          </a:p>
        </p:txBody>
      </p:sp>
      <p:sp>
        <p:nvSpPr>
          <p:cNvPr id="17" name="TextBox 16"/>
          <p:cNvSpPr txBox="1"/>
          <p:nvPr/>
        </p:nvSpPr>
        <p:spPr>
          <a:xfrm>
            <a:off x="3555112" y="3728115"/>
            <a:ext cx="297583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dirty="0"/>
              <a:t>The </a:t>
            </a:r>
            <a:r>
              <a:rPr lang="en-US" b="1" dirty="0"/>
              <a:t>Audience</a:t>
            </a:r>
            <a:r>
              <a:rPr lang="en-US" dirty="0"/>
              <a:t>’s beliefs guide the Controlling Idea</a:t>
            </a:r>
            <a:endParaRPr lang="he-IL" dirty="0"/>
          </a:p>
        </p:txBody>
      </p:sp>
      <p:cxnSp>
        <p:nvCxnSpPr>
          <p:cNvPr id="9" name="מחבר ישר 8"/>
          <p:cNvCxnSpPr/>
          <p:nvPr/>
        </p:nvCxnSpPr>
        <p:spPr>
          <a:xfrm>
            <a:off x="5149516" y="4374446"/>
            <a:ext cx="282742" cy="2670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ישר 20"/>
          <p:cNvCxnSpPr/>
          <p:nvPr/>
        </p:nvCxnSpPr>
        <p:spPr>
          <a:xfrm>
            <a:off x="4822413" y="5122958"/>
            <a:ext cx="3271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מחבר ישר 22"/>
          <p:cNvCxnSpPr/>
          <p:nvPr/>
        </p:nvCxnSpPr>
        <p:spPr>
          <a:xfrm flipV="1">
            <a:off x="5088665" y="5553105"/>
            <a:ext cx="343593" cy="2352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מחבר ישר 26"/>
          <p:cNvCxnSpPr/>
          <p:nvPr/>
        </p:nvCxnSpPr>
        <p:spPr>
          <a:xfrm>
            <a:off x="6809711" y="5553105"/>
            <a:ext cx="341057" cy="1173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מחבר ישר 29"/>
          <p:cNvCxnSpPr/>
          <p:nvPr/>
        </p:nvCxnSpPr>
        <p:spPr>
          <a:xfrm flipV="1">
            <a:off x="6691058" y="4327679"/>
            <a:ext cx="389230" cy="2357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0135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9287</TotalTime>
  <Words>736</Words>
  <Application>Microsoft Macintosh PowerPoint</Application>
  <PresentationFormat>Widescreen</PresentationFormat>
  <Paragraphs>93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nadia.belkind</dc:creator>
  <cp:lastModifiedBy>Nadia Belkind</cp:lastModifiedBy>
  <cp:revision>16</cp:revision>
  <dcterms:created xsi:type="dcterms:W3CDTF">2022-07-20T02:06:22Z</dcterms:created>
  <dcterms:modified xsi:type="dcterms:W3CDTF">2025-08-06T23:53:19Z</dcterms:modified>
</cp:coreProperties>
</file>