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9" r:id="rId1"/>
  </p:sldMasterIdLst>
  <p:notesMasterIdLst>
    <p:notesMasterId r:id="rId62"/>
  </p:notesMasterIdLst>
  <p:handoutMasterIdLst>
    <p:handoutMasterId r:id="rId63"/>
  </p:handoutMasterIdLst>
  <p:sldIdLst>
    <p:sldId id="256" r:id="rId2"/>
    <p:sldId id="327" r:id="rId3"/>
    <p:sldId id="347" r:id="rId4"/>
    <p:sldId id="320" r:id="rId5"/>
    <p:sldId id="315" r:id="rId6"/>
    <p:sldId id="316"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348" r:id="rId27"/>
    <p:sldId id="323" r:id="rId28"/>
    <p:sldId id="317" r:id="rId29"/>
    <p:sldId id="318" r:id="rId30"/>
    <p:sldId id="283" r:id="rId31"/>
    <p:sldId id="284" r:id="rId32"/>
    <p:sldId id="285" r:id="rId33"/>
    <p:sldId id="286" r:id="rId34"/>
    <p:sldId id="287" r:id="rId35"/>
    <p:sldId id="288" r:id="rId36"/>
    <p:sldId id="349" r:id="rId37"/>
    <p:sldId id="290" r:id="rId38"/>
    <p:sldId id="291" r:id="rId39"/>
    <p:sldId id="350" r:id="rId40"/>
    <p:sldId id="345" r:id="rId41"/>
    <p:sldId id="326" r:id="rId42"/>
    <p:sldId id="321" r:id="rId43"/>
    <p:sldId id="346" r:id="rId44"/>
    <p:sldId id="292"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x="9144000" cy="6858000" type="screen4x3"/>
  <p:notesSz cx="6877050" cy="916305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21" d="100"/>
          <a:sy n="121" d="100"/>
        </p:scale>
        <p:origin x="190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96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9738" cy="458788"/>
          </a:xfrm>
          <a:prstGeom prst="rect">
            <a:avLst/>
          </a:prstGeom>
          <a:noFill/>
          <a:ln w="9525">
            <a:noFill/>
            <a:miter lim="800000"/>
            <a:headEnd/>
            <a:tailEnd/>
          </a:ln>
          <a:effectLst/>
        </p:spPr>
        <p:txBody>
          <a:bodyPr vert="horz" wrap="square" lIns="91640" tIns="45820" rIns="91640" bIns="45820" numCol="1" anchor="t" anchorCtr="0" compatLnSpc="1">
            <a:prstTxWarp prst="textNoShape">
              <a:avLst/>
            </a:prstTxWarp>
          </a:bodyPr>
          <a:lstStyle>
            <a:lvl1pPr defTabSz="915988">
              <a:lnSpc>
                <a:spcPct val="90000"/>
              </a:lnSpc>
              <a:spcBef>
                <a:spcPct val="20000"/>
              </a:spcBef>
              <a:buClr>
                <a:schemeClr val="tx1"/>
              </a:buClr>
              <a:buSzPct val="100000"/>
              <a:buFontTx/>
              <a:buChar char="•"/>
              <a:defRPr sz="1200"/>
            </a:lvl1pPr>
          </a:lstStyle>
          <a:p>
            <a:pPr>
              <a:defRPr/>
            </a:pPr>
            <a:endParaRPr lang="en-US"/>
          </a:p>
        </p:txBody>
      </p:sp>
      <p:sp>
        <p:nvSpPr>
          <p:cNvPr id="46083" name="Rectangle 3"/>
          <p:cNvSpPr>
            <a:spLocks noGrp="1" noChangeArrowheads="1"/>
          </p:cNvSpPr>
          <p:nvPr>
            <p:ph type="dt" sz="quarter" idx="1"/>
          </p:nvPr>
        </p:nvSpPr>
        <p:spPr bwMode="auto">
          <a:xfrm>
            <a:off x="3897313" y="0"/>
            <a:ext cx="2979737" cy="458788"/>
          </a:xfrm>
          <a:prstGeom prst="rect">
            <a:avLst/>
          </a:prstGeom>
          <a:noFill/>
          <a:ln w="9525">
            <a:noFill/>
            <a:miter lim="800000"/>
            <a:headEnd/>
            <a:tailEnd/>
          </a:ln>
          <a:effectLst/>
        </p:spPr>
        <p:txBody>
          <a:bodyPr vert="horz" wrap="square" lIns="91640" tIns="45820" rIns="91640" bIns="45820" numCol="1" anchor="t" anchorCtr="0" compatLnSpc="1">
            <a:prstTxWarp prst="textNoShape">
              <a:avLst/>
            </a:prstTxWarp>
          </a:bodyPr>
          <a:lstStyle>
            <a:lvl1pPr algn="r" defTabSz="915988">
              <a:lnSpc>
                <a:spcPct val="90000"/>
              </a:lnSpc>
              <a:spcBef>
                <a:spcPct val="20000"/>
              </a:spcBef>
              <a:buClr>
                <a:schemeClr val="tx1"/>
              </a:buClr>
              <a:buSzPct val="100000"/>
              <a:buFontTx/>
              <a:buChar char="•"/>
              <a:defRPr sz="1200"/>
            </a:lvl1pPr>
          </a:lstStyle>
          <a:p>
            <a:pPr>
              <a:defRPr/>
            </a:pPr>
            <a:endParaRPr lang="en-US"/>
          </a:p>
        </p:txBody>
      </p:sp>
      <p:sp>
        <p:nvSpPr>
          <p:cNvPr id="46084" name="Rectangle 4"/>
          <p:cNvSpPr>
            <a:spLocks noGrp="1" noChangeArrowheads="1"/>
          </p:cNvSpPr>
          <p:nvPr>
            <p:ph type="ftr" sz="quarter" idx="2"/>
          </p:nvPr>
        </p:nvSpPr>
        <p:spPr bwMode="auto">
          <a:xfrm>
            <a:off x="0" y="8704263"/>
            <a:ext cx="2979738" cy="458787"/>
          </a:xfrm>
          <a:prstGeom prst="rect">
            <a:avLst/>
          </a:prstGeom>
          <a:noFill/>
          <a:ln w="9525">
            <a:noFill/>
            <a:miter lim="800000"/>
            <a:headEnd/>
            <a:tailEnd/>
          </a:ln>
          <a:effectLst/>
        </p:spPr>
        <p:txBody>
          <a:bodyPr vert="horz" wrap="square" lIns="91640" tIns="45820" rIns="91640" bIns="45820" numCol="1" anchor="b" anchorCtr="0" compatLnSpc="1">
            <a:prstTxWarp prst="textNoShape">
              <a:avLst/>
            </a:prstTxWarp>
          </a:bodyPr>
          <a:lstStyle>
            <a:lvl1pPr defTabSz="915988">
              <a:lnSpc>
                <a:spcPct val="90000"/>
              </a:lnSpc>
              <a:spcBef>
                <a:spcPct val="20000"/>
              </a:spcBef>
              <a:buClr>
                <a:schemeClr val="tx1"/>
              </a:buClr>
              <a:buSzPct val="100000"/>
              <a:buFontTx/>
              <a:buChar char="•"/>
              <a:defRPr sz="1200"/>
            </a:lvl1pPr>
          </a:lstStyle>
          <a:p>
            <a:pPr>
              <a:defRPr/>
            </a:pPr>
            <a:endParaRPr lang="en-US"/>
          </a:p>
        </p:txBody>
      </p:sp>
      <p:sp>
        <p:nvSpPr>
          <p:cNvPr id="46085" name="Rectangle 5"/>
          <p:cNvSpPr>
            <a:spLocks noGrp="1" noChangeArrowheads="1"/>
          </p:cNvSpPr>
          <p:nvPr>
            <p:ph type="sldNum" sz="quarter" idx="3"/>
          </p:nvPr>
        </p:nvSpPr>
        <p:spPr bwMode="auto">
          <a:xfrm>
            <a:off x="3897313" y="8704263"/>
            <a:ext cx="2979737" cy="458787"/>
          </a:xfrm>
          <a:prstGeom prst="rect">
            <a:avLst/>
          </a:prstGeom>
          <a:noFill/>
          <a:ln w="9525">
            <a:noFill/>
            <a:miter lim="800000"/>
            <a:headEnd/>
            <a:tailEnd/>
          </a:ln>
          <a:effectLst/>
        </p:spPr>
        <p:txBody>
          <a:bodyPr vert="horz" wrap="square" lIns="91640" tIns="45820" rIns="91640" bIns="45820" numCol="1" anchor="b" anchorCtr="0" compatLnSpc="1">
            <a:prstTxWarp prst="textNoShape">
              <a:avLst/>
            </a:prstTxWarp>
          </a:bodyPr>
          <a:lstStyle>
            <a:lvl1pPr algn="r" defTabSz="915988">
              <a:lnSpc>
                <a:spcPct val="90000"/>
              </a:lnSpc>
              <a:spcBef>
                <a:spcPct val="20000"/>
              </a:spcBef>
              <a:buClr>
                <a:schemeClr val="tx1"/>
              </a:buClr>
              <a:buSzPct val="100000"/>
              <a:buFontTx/>
              <a:buChar char="•"/>
              <a:defRPr sz="1200"/>
            </a:lvl1pPr>
          </a:lstStyle>
          <a:p>
            <a:pPr>
              <a:defRPr/>
            </a:pPr>
            <a:fld id="{86DB15AE-37E9-496B-8A31-392203AD2CE2}" type="slidenum">
              <a:rPr lang="en-US"/>
              <a:pPr>
                <a:defRPr/>
              </a:pPr>
              <a:t>‹#›</a:t>
            </a:fld>
            <a:endParaRPr lang="en-US"/>
          </a:p>
        </p:txBody>
      </p:sp>
    </p:spTree>
    <p:extLst>
      <p:ext uri="{BB962C8B-B14F-4D97-AF65-F5344CB8AC3E}">
        <p14:creationId xmlns:p14="http://schemas.microsoft.com/office/powerpoint/2010/main" val="1569944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9738" cy="458788"/>
          </a:xfrm>
          <a:prstGeom prst="rect">
            <a:avLst/>
          </a:prstGeom>
          <a:noFill/>
          <a:ln w="9525">
            <a:noFill/>
            <a:miter lim="800000"/>
            <a:headEnd/>
            <a:tailEnd/>
          </a:ln>
          <a:effectLst/>
        </p:spPr>
        <p:txBody>
          <a:bodyPr vert="horz" wrap="square" lIns="91640" tIns="45820" rIns="91640" bIns="45820" numCol="1" anchor="t" anchorCtr="0" compatLnSpc="1">
            <a:prstTxWarp prst="textNoShape">
              <a:avLst/>
            </a:prstTxWarp>
          </a:bodyPr>
          <a:lstStyle>
            <a:lvl1pPr defTabSz="915988" eaLnBrk="1" hangingPunct="1">
              <a:defRPr sz="1200"/>
            </a:lvl1pPr>
          </a:lstStyle>
          <a:p>
            <a:pPr>
              <a:defRPr/>
            </a:pPr>
            <a:endParaRPr lang="en-US"/>
          </a:p>
        </p:txBody>
      </p:sp>
      <p:sp>
        <p:nvSpPr>
          <p:cNvPr id="4099" name="Rectangle 3"/>
          <p:cNvSpPr>
            <a:spLocks noGrp="1" noChangeArrowheads="1"/>
          </p:cNvSpPr>
          <p:nvPr>
            <p:ph type="dt" idx="1"/>
          </p:nvPr>
        </p:nvSpPr>
        <p:spPr bwMode="auto">
          <a:xfrm>
            <a:off x="3897313" y="0"/>
            <a:ext cx="2979737" cy="458788"/>
          </a:xfrm>
          <a:prstGeom prst="rect">
            <a:avLst/>
          </a:prstGeom>
          <a:noFill/>
          <a:ln w="9525">
            <a:noFill/>
            <a:miter lim="800000"/>
            <a:headEnd/>
            <a:tailEnd/>
          </a:ln>
          <a:effectLst/>
        </p:spPr>
        <p:txBody>
          <a:bodyPr vert="horz" wrap="square" lIns="91640" tIns="45820" rIns="91640" bIns="45820" numCol="1" anchor="t" anchorCtr="0" compatLnSpc="1">
            <a:prstTxWarp prst="textNoShape">
              <a:avLst/>
            </a:prstTxWarp>
          </a:bodyPr>
          <a:lstStyle>
            <a:lvl1pPr algn="r" defTabSz="915988" eaLnBrk="1" hangingPunct="1">
              <a:defRPr sz="1200"/>
            </a:lvl1pPr>
          </a:lstStyle>
          <a:p>
            <a:pPr>
              <a:defRPr/>
            </a:pPr>
            <a:endParaRPr lang="en-US"/>
          </a:p>
        </p:txBody>
      </p:sp>
      <p:sp>
        <p:nvSpPr>
          <p:cNvPr id="46084" name="Rectangle 4"/>
          <p:cNvSpPr>
            <a:spLocks noGrp="1" noRot="1" noChangeAspect="1" noChangeArrowheads="1" noTextEdit="1"/>
          </p:cNvSpPr>
          <p:nvPr>
            <p:ph type="sldImg" idx="2"/>
          </p:nvPr>
        </p:nvSpPr>
        <p:spPr bwMode="auto">
          <a:xfrm>
            <a:off x="1149350" y="687388"/>
            <a:ext cx="4581525" cy="343535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17575" y="4352925"/>
            <a:ext cx="5041900" cy="4122738"/>
          </a:xfrm>
          <a:prstGeom prst="rect">
            <a:avLst/>
          </a:prstGeom>
          <a:noFill/>
          <a:ln w="9525">
            <a:noFill/>
            <a:miter lim="800000"/>
            <a:headEnd/>
            <a:tailEnd/>
          </a:ln>
          <a:effectLst/>
        </p:spPr>
        <p:txBody>
          <a:bodyPr vert="horz" wrap="square" lIns="91640" tIns="45820" rIns="91640" bIns="458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04263"/>
            <a:ext cx="2979738" cy="458787"/>
          </a:xfrm>
          <a:prstGeom prst="rect">
            <a:avLst/>
          </a:prstGeom>
          <a:noFill/>
          <a:ln w="9525">
            <a:noFill/>
            <a:miter lim="800000"/>
            <a:headEnd/>
            <a:tailEnd/>
          </a:ln>
          <a:effectLst/>
        </p:spPr>
        <p:txBody>
          <a:bodyPr vert="horz" wrap="square" lIns="91640" tIns="45820" rIns="91640" bIns="45820" numCol="1" anchor="b" anchorCtr="0" compatLnSpc="1">
            <a:prstTxWarp prst="textNoShape">
              <a:avLst/>
            </a:prstTxWarp>
          </a:bodyPr>
          <a:lstStyle>
            <a:lvl1pPr defTabSz="915988" eaLnBrk="1" hangingPunct="1">
              <a:defRPr sz="1200"/>
            </a:lvl1pPr>
          </a:lstStyle>
          <a:p>
            <a:pPr>
              <a:defRPr/>
            </a:pPr>
            <a:endParaRPr lang="en-US"/>
          </a:p>
        </p:txBody>
      </p:sp>
      <p:sp>
        <p:nvSpPr>
          <p:cNvPr id="4103" name="Rectangle 7"/>
          <p:cNvSpPr>
            <a:spLocks noGrp="1" noChangeArrowheads="1"/>
          </p:cNvSpPr>
          <p:nvPr>
            <p:ph type="sldNum" sz="quarter" idx="5"/>
          </p:nvPr>
        </p:nvSpPr>
        <p:spPr bwMode="auto">
          <a:xfrm>
            <a:off x="3897313" y="8704263"/>
            <a:ext cx="2979737" cy="458787"/>
          </a:xfrm>
          <a:prstGeom prst="rect">
            <a:avLst/>
          </a:prstGeom>
          <a:noFill/>
          <a:ln w="9525">
            <a:noFill/>
            <a:miter lim="800000"/>
            <a:headEnd/>
            <a:tailEnd/>
          </a:ln>
          <a:effectLst/>
        </p:spPr>
        <p:txBody>
          <a:bodyPr vert="horz" wrap="square" lIns="91640" tIns="45820" rIns="91640" bIns="45820" numCol="1" anchor="b" anchorCtr="0" compatLnSpc="1">
            <a:prstTxWarp prst="textNoShape">
              <a:avLst/>
            </a:prstTxWarp>
          </a:bodyPr>
          <a:lstStyle>
            <a:lvl1pPr algn="r" defTabSz="915988" eaLnBrk="1" hangingPunct="1">
              <a:defRPr sz="1200"/>
            </a:lvl1pPr>
          </a:lstStyle>
          <a:p>
            <a:pPr>
              <a:defRPr/>
            </a:pPr>
            <a:fld id="{755B32EE-AC91-47B8-935C-1757789B34E7}" type="slidenum">
              <a:rPr lang="en-US"/>
              <a:pPr>
                <a:defRPr/>
              </a:pPr>
              <a:t>‹#›</a:t>
            </a:fld>
            <a:endParaRPr lang="en-US"/>
          </a:p>
        </p:txBody>
      </p:sp>
    </p:spTree>
    <p:extLst>
      <p:ext uri="{BB962C8B-B14F-4D97-AF65-F5344CB8AC3E}">
        <p14:creationId xmlns:p14="http://schemas.microsoft.com/office/powerpoint/2010/main" val="31044732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pic>
        <p:nvPicPr>
          <p:cNvPr id="12" name="Picture 11" descr="Lg-Ghosted-Shield-offset_red.jpg"/>
          <p:cNvPicPr>
            <a:picLocks noChangeAspect="1"/>
          </p:cNvPicPr>
          <p:nvPr userDrawn="1"/>
        </p:nvPicPr>
        <p:blipFill>
          <a:blip r:embed="rId3"/>
          <a:stretch>
            <a:fillRect/>
          </a:stretch>
        </p:blipFill>
        <p:spPr>
          <a:xfrm>
            <a:off x="0" y="0"/>
            <a:ext cx="9144000" cy="6858000"/>
          </a:xfrm>
          <a:prstGeom prst="rect">
            <a:avLst/>
          </a:prstGeom>
        </p:spPr>
      </p:pic>
      <p:sp>
        <p:nvSpPr>
          <p:cNvPr id="13" name="Rectangle 12"/>
          <p:cNvSpPr/>
          <p:nvPr userDrawn="1"/>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userDrawn="1"/>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p:nvPr userDrawn="1"/>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6"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17"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8"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7E7CF4D2-22D1-48E5-82E4-BFA1B2240848}" type="slidenum">
              <a:rPr lang="en-US" smtClean="0"/>
              <a:pPr>
                <a:defRPr/>
              </a:pPr>
              <a:t>‹#›</a:t>
            </a:fld>
            <a:endParaRPr lang="en-US"/>
          </a:p>
        </p:txBody>
      </p:sp>
      <p:pic>
        <p:nvPicPr>
          <p:cNvPr id="19" name="Picture 18" descr="Logo-for-gray-bg-ppt-whitemaroon.png"/>
          <p:cNvPicPr>
            <a:picLocks noChangeAspect="1"/>
          </p:cNvPicPr>
          <p:nvPr userDrawn="1"/>
        </p:nvPicPr>
        <p:blipFill>
          <a:blip r:embed="rId4"/>
          <a:stretch>
            <a:fillRect/>
          </a:stretch>
        </p:blipFill>
        <p:spPr>
          <a:xfrm>
            <a:off x="7429166" y="6194310"/>
            <a:ext cx="1591121" cy="439967"/>
          </a:xfrm>
          <a:prstGeom prst="rect">
            <a:avLst/>
          </a:prstGeom>
        </p:spPr>
      </p:pic>
    </p:spTree>
    <p:extLst>
      <p:ext uri="{BB962C8B-B14F-4D97-AF65-F5344CB8AC3E}">
        <p14:creationId xmlns:p14="http://schemas.microsoft.com/office/powerpoint/2010/main" val="16285078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normAutofit/>
          </a:bodyPr>
          <a:lstStyle>
            <a:lvl1pPr>
              <a:defRPr sz="4000" baseline="0">
                <a:latin typeface="+mj-lt"/>
              </a:defRPr>
            </a:lvl1pPr>
          </a:lstStyle>
          <a:p>
            <a:r>
              <a:rPr lang="en-US" dirty="0"/>
              <a:t>Click to edit Master title style</a:t>
            </a:r>
          </a:p>
        </p:txBody>
      </p:sp>
      <p:sp>
        <p:nvSpPr>
          <p:cNvPr id="8" name="Content Placeholder 7"/>
          <p:cNvSpPr>
            <a:spLocks noGrp="1"/>
          </p:cNvSpPr>
          <p:nvPr>
            <p:ph sz="quarter" idx="1"/>
          </p:nvPr>
        </p:nvSpPr>
        <p:spPr>
          <a:xfrm>
            <a:off x="612648" y="1600200"/>
            <a:ext cx="8153400" cy="4495800"/>
          </a:xfrm>
        </p:spPr>
        <p:txBody>
          <a:bodyPr>
            <a:normAutofit/>
          </a:bodyPr>
          <a:lstStyle>
            <a:lvl1pPr>
              <a:defRPr sz="2400" baseline="0">
                <a:latin typeface="+mj-lt"/>
              </a:defRPr>
            </a:lvl1pPr>
            <a:lvl2pPr>
              <a:defRPr sz="2400" baseline="0">
                <a:latin typeface="+mj-lt"/>
              </a:defRPr>
            </a:lvl2pPr>
            <a:lvl3pPr>
              <a:defRPr sz="2400" baseline="0">
                <a:latin typeface="+mj-lt"/>
              </a:defRPr>
            </a:lvl3pPr>
            <a:lvl4pPr>
              <a:defRPr sz="2400" baseline="0">
                <a:latin typeface="+mj-lt"/>
              </a:defRPr>
            </a:lvl4pPr>
            <a:lvl5pPr>
              <a:defRPr sz="2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0772933E-39C1-4424-B52B-5CD391ABE165}" type="slidenum">
              <a:rPr lang="en-US" smtClean="0"/>
              <a:pPr>
                <a:defRPr/>
              </a:pPr>
              <a:t>‹#›</a:t>
            </a:fld>
            <a:endParaRPr lang="en-US"/>
          </a:p>
        </p:txBody>
      </p:sp>
      <p:pic>
        <p:nvPicPr>
          <p:cNvPr id="7" name="Picture 29" descr="LOGOs_430+202_just_110508.png"/>
          <p:cNvPicPr>
            <a:picLocks noChangeAspect="1"/>
          </p:cNvPicPr>
          <p:nvPr userDrawn="1"/>
        </p:nvPicPr>
        <p:blipFill>
          <a:blip r:embed="rId2" cstate="print"/>
          <a:srcRect/>
          <a:stretch>
            <a:fillRect/>
          </a:stretch>
        </p:blipFill>
        <p:spPr bwMode="auto">
          <a:xfrm>
            <a:off x="7148513" y="6324600"/>
            <a:ext cx="1690687" cy="461963"/>
          </a:xfrm>
          <a:prstGeom prst="rect">
            <a:avLst/>
          </a:prstGeom>
          <a:noFill/>
          <a:ln w="9525">
            <a:noFill/>
            <a:miter lim="800000"/>
            <a:headEnd/>
            <a:tailEnd/>
          </a:ln>
        </p:spPr>
      </p:pic>
    </p:spTree>
    <p:extLst>
      <p:ext uri="{BB962C8B-B14F-4D97-AF65-F5344CB8AC3E}">
        <p14:creationId xmlns:p14="http://schemas.microsoft.com/office/powerpoint/2010/main" val="1407788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933868AA-CDF1-43EF-A2C4-0B669FC33D03}" type="slidenum">
              <a:rPr lang="en-US" smtClean="0"/>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5316989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9E78CA18-2FAB-4961-BCC5-388C9A75E601}" type="slidenum">
              <a:rPr lang="en-US" smtClean="0"/>
              <a:pPr>
                <a:defRPr/>
              </a:pPr>
              <a:t>‹#›</a:t>
            </a:fld>
            <a:endParaRPr lang="en-US"/>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4162840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4115514F-45B9-4EE0-8599-CEDFBD0D0AC9}" type="slidenum">
              <a:rPr lang="en-US" smtClean="0"/>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991452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3A761A1B-CB74-456B-BE08-D13284643064}" type="slidenum">
              <a:rPr lang="en-US" smtClean="0"/>
              <a:pPr>
                <a:defRPr/>
              </a:pPr>
              <a:t>‹#›</a:t>
            </a:fld>
            <a:endParaRPr lang="en-US"/>
          </a:p>
        </p:txBody>
      </p:sp>
    </p:spTree>
    <p:extLst>
      <p:ext uri="{BB962C8B-B14F-4D97-AF65-F5344CB8AC3E}">
        <p14:creationId xmlns:p14="http://schemas.microsoft.com/office/powerpoint/2010/main" val="1723866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36B6E4FC-21C2-4358-B14E-1F4BC99E7BC5}" type="slidenum">
              <a:rPr lang="en-US" smtClean="0"/>
              <a:pPr>
                <a:defRPr/>
              </a:pPr>
              <a:t>‹#›</a:t>
            </a:fld>
            <a:endParaRPr lang="en-US"/>
          </a:p>
        </p:txBody>
      </p:sp>
      <p:pic>
        <p:nvPicPr>
          <p:cNvPr id="5" name="Picture 29" descr="LOGOs_430+202_just_110508.png"/>
          <p:cNvPicPr>
            <a:picLocks noChangeAspect="1"/>
          </p:cNvPicPr>
          <p:nvPr userDrawn="1"/>
        </p:nvPicPr>
        <p:blipFill>
          <a:blip r:embed="rId2" cstate="print"/>
          <a:srcRect/>
          <a:stretch>
            <a:fillRect/>
          </a:stretch>
        </p:blipFill>
        <p:spPr bwMode="auto">
          <a:xfrm>
            <a:off x="7148513" y="6324600"/>
            <a:ext cx="1690687" cy="461963"/>
          </a:xfrm>
          <a:prstGeom prst="rect">
            <a:avLst/>
          </a:prstGeom>
          <a:noFill/>
          <a:ln w="9525">
            <a:noFill/>
            <a:miter lim="800000"/>
            <a:headEnd/>
            <a:tailEnd/>
          </a:ln>
        </p:spPr>
      </p:pic>
    </p:spTree>
    <p:extLst>
      <p:ext uri="{BB962C8B-B14F-4D97-AF65-F5344CB8AC3E}">
        <p14:creationId xmlns:p14="http://schemas.microsoft.com/office/powerpoint/2010/main" val="1799341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6180D2FF-C9D1-4143-99FD-F327DB31A1AB}" type="slidenum">
              <a:rPr lang="en-US" smtClean="0"/>
              <a:pPr>
                <a:defRPr/>
              </a:pPr>
              <a:t>‹#›</a:t>
            </a:fld>
            <a:endParaRPr lang="en-US"/>
          </a:p>
        </p:txBody>
      </p:sp>
    </p:spTree>
    <p:extLst>
      <p:ext uri="{BB962C8B-B14F-4D97-AF65-F5344CB8AC3E}">
        <p14:creationId xmlns:p14="http://schemas.microsoft.com/office/powerpoint/2010/main" val="646837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4E19EED9-7620-44BC-B6DE-10844A80C20C}" type="slidenum">
              <a:rPr lang="en-US" smtClean="0"/>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extLst>
      <p:ext uri="{BB962C8B-B14F-4D97-AF65-F5344CB8AC3E}">
        <p14:creationId xmlns:p14="http://schemas.microsoft.com/office/powerpoint/2010/main" val="311457203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45635816-210A-47EF-8CC7-33AF83E34D22}" type="slidenum">
              <a:rPr lang="en-US" smtClean="0"/>
              <a:pPr>
                <a:defRPr/>
              </a:pPr>
              <a:t>‹#›</a:t>
            </a:fld>
            <a:endParaRPr lang="en-US"/>
          </a:p>
        </p:txBody>
      </p:sp>
    </p:spTree>
    <p:extLst>
      <p:ext uri="{BB962C8B-B14F-4D97-AF65-F5344CB8AC3E}">
        <p14:creationId xmlns:p14="http://schemas.microsoft.com/office/powerpoint/2010/main" val="318219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E20C5A96-F70F-40DF-BED1-B6902D95CDA0}" type="slidenum">
              <a:rPr lang="en-US" smtClean="0"/>
              <a:pPr>
                <a:defRPr/>
              </a:pPr>
              <a:t>‹#›</a:t>
            </a:fld>
            <a:endParaRPr lang="en-US"/>
          </a:p>
        </p:txBody>
      </p:sp>
    </p:spTree>
    <p:extLst>
      <p:ext uri="{BB962C8B-B14F-4D97-AF65-F5344CB8AC3E}">
        <p14:creationId xmlns:p14="http://schemas.microsoft.com/office/powerpoint/2010/main" val="320469787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53800516-271D-4DF7-9BB7-8D8206B6EAB2}" type="slidenum">
              <a:rPr lang="en-US" smtClean="0"/>
              <a:pPr>
                <a:defRPr/>
              </a:pPr>
              <a:t>‹#›</a:t>
            </a:fld>
            <a:endParaRPr lang="en-US"/>
          </a:p>
        </p:txBody>
      </p:sp>
      <p:pic>
        <p:nvPicPr>
          <p:cNvPr id="10" name="Picture 29" descr="LOGOs_430+202_just_110508.png"/>
          <p:cNvPicPr>
            <a:picLocks noChangeAspect="1"/>
          </p:cNvPicPr>
          <p:nvPr userDrawn="1"/>
        </p:nvPicPr>
        <p:blipFill>
          <a:blip r:embed="rId13" cstate="print"/>
          <a:srcRect/>
          <a:stretch>
            <a:fillRect/>
          </a:stretch>
        </p:blipFill>
        <p:spPr bwMode="auto">
          <a:xfrm>
            <a:off x="7148513" y="6324600"/>
            <a:ext cx="1690687" cy="4619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hf hdr="0" ftr="0" dt="0"/>
  <p:txStyles>
    <p:title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w Cen MT" pitchFamily="34" charset="0"/>
        </a:defRPr>
      </a:lvl2pPr>
      <a:lvl3pPr algn="l" rtl="0" eaLnBrk="1" fontAlgn="base" hangingPunct="1">
        <a:spcBef>
          <a:spcPct val="0"/>
        </a:spcBef>
        <a:spcAft>
          <a:spcPct val="0"/>
        </a:spcAft>
        <a:defRPr sz="4400">
          <a:solidFill>
            <a:schemeClr val="tx2"/>
          </a:solidFill>
          <a:latin typeface="Tw Cen MT" pitchFamily="34" charset="0"/>
        </a:defRPr>
      </a:lvl3pPr>
      <a:lvl4pPr algn="l" rtl="0" eaLnBrk="1" fontAlgn="base" hangingPunct="1">
        <a:spcBef>
          <a:spcPct val="0"/>
        </a:spcBef>
        <a:spcAft>
          <a:spcPct val="0"/>
        </a:spcAft>
        <a:defRPr sz="4400">
          <a:solidFill>
            <a:schemeClr val="tx2"/>
          </a:solidFill>
          <a:latin typeface="Tw Cen MT" pitchFamily="34" charset="0"/>
        </a:defRPr>
      </a:lvl4pPr>
      <a:lvl5pPr algn="l" rtl="0" eaLnBrk="1" fontAlgn="base" hangingPunct="1">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p:titleStyle>
    <p:body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rive.google.com/file/d/1mjo6zEHLi0HqefEuw3u_G--bhRr_cCGR/view" TargetMode="External"/><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onlinelibrary.wiley.com/doi/pdf/10.1111/1467-8276.00360" TargetMode="External"/><Relationship Id="rId2" Type="http://schemas.openxmlformats.org/officeDocument/2006/relationships/hyperlink" Target="https://onlinelibrary.wiley.com/doi/pdf/10.1111/j.1756-2171.2008.00049.x" TargetMode="External"/><Relationship Id="rId1" Type="http://schemas.openxmlformats.org/officeDocument/2006/relationships/slideLayout" Target="../slideLayouts/slideLayout2.xml"/><Relationship Id="rId4" Type="http://schemas.openxmlformats.org/officeDocument/2006/relationships/hyperlink" Target="https://www.journals.uchicago.edu/doi/epdf/10.1086/467257"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hyperlink" Target="https://papers.ssrn.com/sol3/papers.cfm?abstract_id=3821885" TargetMode="Externa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9.xml.rels><?xml version="1.0" encoding="UTF-8" standalone="yes"?>
<Relationships xmlns="http://schemas.openxmlformats.org/package/2006/relationships"><Relationship Id="rId2" Type="http://schemas.openxmlformats.org/officeDocument/2006/relationships/hyperlink" Target="https://papers.ssrn.com/sol3/papers.cfm?abstract_id=3821885"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www.ftc.gov/tips-advice/competition-guidance/guide-antitrust-laws/dealings-competitors/price-fixing"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theguardian.com/business/2014/dec/18/france-fines-unilever-reckitt-benckiser-procter-and-gamble-gillette-price-fixing" TargetMode="Externa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42.xml.rels><?xml version="1.0" encoding="UTF-8" standalone="yes"?>
<Relationships xmlns="http://schemas.openxmlformats.org/package/2006/relationships"><Relationship Id="rId3" Type="http://schemas.openxmlformats.org/officeDocument/2006/relationships/hyperlink" Target="https://www.dropbox.com/s/pk83ocy9in8is8c/Algorithmic_Competition__with_Humans.pdf?dl=0" TargetMode="External"/><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vox.com/policy/399369/big-french-fry-lawsuits" TargetMode="External"/><Relationship Id="rId1" Type="http://schemas.openxmlformats.org/officeDocument/2006/relationships/slideLayout" Target="../slideLayouts/slideLayout2.xml"/><Relationship Id="rId4" Type="http://schemas.openxmlformats.org/officeDocument/2006/relationships/hyperlink" Target="https://thehill.com/business/5002158-lawsuits-target-potato-cartel-enabled-by-price-data-aggregator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hyperlink" Target="http://wgnradio.com/2015/11/27/black-friday-deals-whats-all-the-fuss/" TargetMode="External"/><Relationship Id="rId2" Type="http://schemas.openxmlformats.org/officeDocument/2006/relationships/hyperlink" Target="http://www.chicagobooth.edu/about/newsroom/press-releases/2013/2013-11-04" TargetMode="External"/><Relationship Id="rId1" Type="http://schemas.openxmlformats.org/officeDocument/2006/relationships/slideLayout" Target="../slideLayouts/slideLayout2.xml"/><Relationship Id="rId4" Type="http://schemas.openxmlformats.org/officeDocument/2006/relationships/hyperlink" Target="https://www.retailmenot.com/blog/black-friday-store-hours.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ctrTitle"/>
          </p:nvPr>
        </p:nvSpPr>
        <p:spPr>
          <a:xfrm>
            <a:off x="2362200" y="4038600"/>
            <a:ext cx="6477000" cy="1828800"/>
          </a:xfrm>
        </p:spPr>
        <p:txBody>
          <a:bodyPr/>
          <a:lstStyle/>
          <a:p>
            <a:r>
              <a:rPr lang="en-US"/>
              <a:t>Competitive Pricing</a:t>
            </a:r>
          </a:p>
        </p:txBody>
      </p:sp>
      <p:sp>
        <p:nvSpPr>
          <p:cNvPr id="5" name="Rectangle 3"/>
          <p:cNvSpPr txBox="1">
            <a:spLocks noChangeArrowheads="1"/>
          </p:cNvSpPr>
          <p:nvPr/>
        </p:nvSpPr>
        <p:spPr bwMode="auto">
          <a:xfrm>
            <a:off x="2362200" y="6050037"/>
            <a:ext cx="6705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8" tIns="44450" rIns="90488" bIns="44450" numCol="1" anchor="t" anchorCtr="0" compatLnSpc="1">
            <a:prstTxWarp prst="textNoShape">
              <a:avLst/>
            </a:prstTxWarp>
            <a:normAutofit lnSpcReduction="10000"/>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Font typeface="Wingdings" pitchFamily="2" charset="2"/>
              <a:buNone/>
            </a:pPr>
            <a:r>
              <a:rPr lang="en-US" sz="2800" dirty="0"/>
              <a:t>Jean-Pierre </a:t>
            </a:r>
            <a:r>
              <a:rPr lang="en-US" sz="2800" dirty="0" err="1"/>
              <a:t>Dubé</a:t>
            </a:r>
            <a:endParaRPr lang="en-US" sz="2800" dirty="0"/>
          </a:p>
          <a:p>
            <a:pPr marL="0" indent="0">
              <a:buFont typeface="Wingdings" pitchFamily="2" charset="2"/>
              <a:buNone/>
            </a:pPr>
            <a:r>
              <a:rPr lang="en-US" sz="900" b="1" dirty="0">
                <a:latin typeface="Arial" pitchFamily="34" charset="0"/>
                <a:sym typeface="Symbol" pitchFamily="18" charset="2"/>
              </a:rPr>
              <a:t></a:t>
            </a:r>
            <a:r>
              <a:rPr lang="en-US" sz="900" b="1" dirty="0">
                <a:latin typeface="Arial" pitchFamily="34" charset="0"/>
              </a:rPr>
              <a:t> Copyright 2025</a:t>
            </a:r>
          </a:p>
        </p:txBody>
      </p:sp>
      <p:sp>
        <p:nvSpPr>
          <p:cNvPr id="6" name="TextBox 5"/>
          <p:cNvSpPr txBox="1"/>
          <p:nvPr/>
        </p:nvSpPr>
        <p:spPr>
          <a:xfrm>
            <a:off x="152400" y="6137369"/>
            <a:ext cx="1455848" cy="523220"/>
          </a:xfrm>
          <a:prstGeom prst="rect">
            <a:avLst/>
          </a:prstGeom>
          <a:noFill/>
        </p:spPr>
        <p:txBody>
          <a:bodyPr wrap="none" rtlCol="0">
            <a:spAutoFit/>
          </a:bodyPr>
          <a:lstStyle/>
          <a:p>
            <a:r>
              <a:rPr lang="en-US" sz="1400" dirty="0"/>
              <a:t>Pricing Strategies</a:t>
            </a:r>
          </a:p>
          <a:p>
            <a:r>
              <a:rPr lang="en-US" sz="1400" dirty="0"/>
              <a:t>2025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sz="quarter" idx="1"/>
          </p:nvPr>
        </p:nvSpPr>
        <p:spPr/>
        <p:txBody>
          <a:bodyPr>
            <a:normAutofit/>
          </a:bodyPr>
          <a:lstStyle/>
          <a:p>
            <a:pPr marL="366713" lvl="1" indent="0">
              <a:buNone/>
            </a:pPr>
            <a:r>
              <a:rPr lang="en-US" b="1" dirty="0"/>
              <a:t>Pricing </a:t>
            </a:r>
            <a:r>
              <a:rPr lang="en-US" dirty="0"/>
              <a:t>is a balancing act: </a:t>
            </a:r>
            <a:r>
              <a:rPr lang="en-US" b="1" dirty="0">
                <a:effectLst>
                  <a:outerShdw blurRad="38100" dist="38100" dir="2700000" algn="tl">
                    <a:srgbClr val="000000">
                      <a:alpha val="43137"/>
                    </a:srgbClr>
                  </a:outerShdw>
                </a:effectLst>
              </a:rPr>
              <a:t>value</a:t>
            </a:r>
            <a:r>
              <a:rPr lang="en-US" dirty="0"/>
              <a:t>, </a:t>
            </a:r>
            <a:r>
              <a:rPr lang="en-US" b="1" dirty="0">
                <a:effectLst>
                  <a:outerShdw blurRad="38100" dist="38100" dir="2700000" algn="tl">
                    <a:srgbClr val="000000">
                      <a:alpha val="43137"/>
                    </a:srgbClr>
                  </a:outerShdw>
                </a:effectLst>
              </a:rPr>
              <a:t>costs</a:t>
            </a:r>
            <a:r>
              <a:rPr lang="en-US" dirty="0"/>
              <a:t> &amp; </a:t>
            </a:r>
            <a:r>
              <a:rPr lang="en-US" sz="3500" b="1" dirty="0">
                <a:solidFill>
                  <a:srgbClr val="FF0000"/>
                </a:solidFill>
                <a:effectLst>
                  <a:outerShdw blurRad="38100" dist="38100" dir="2700000" algn="tl">
                    <a:srgbClr val="000000">
                      <a:alpha val="43137"/>
                    </a:srgbClr>
                  </a:outerShdw>
                </a:effectLst>
              </a:rPr>
              <a:t>competition</a:t>
            </a:r>
            <a:endParaRPr lang="en-US" dirty="0"/>
          </a:p>
          <a:p>
            <a:endParaRPr lang="en-US" dirty="0"/>
          </a:p>
          <a:p>
            <a:pPr marL="0" indent="0">
              <a:lnSpc>
                <a:spcPct val="90000"/>
              </a:lnSpc>
              <a:spcBef>
                <a:spcPts val="3600"/>
              </a:spcBef>
              <a:spcAft>
                <a:spcPts val="600"/>
              </a:spcAft>
              <a:buNone/>
              <a:defRPr/>
            </a:pPr>
            <a:endParaRPr lang="en-US" sz="1800" dirty="0"/>
          </a:p>
          <a:p>
            <a:pPr marL="0" indent="0" algn="ctr">
              <a:buNone/>
            </a:pPr>
            <a:r>
              <a:rPr lang="en-US" dirty="0"/>
              <a:t>Let’s explore how competitor decisions can impact a market …</a:t>
            </a:r>
            <a:endParaRPr lang="en-US" sz="3500" dirty="0">
              <a:solidFill>
                <a:srgbClr val="FF0000"/>
              </a:solidFill>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2</a:t>
            </a:fld>
            <a:endParaRPr lang="en-US"/>
          </a:p>
        </p:txBody>
      </p:sp>
      <p:sp>
        <p:nvSpPr>
          <p:cNvPr id="5" name="TextBox 4"/>
          <p:cNvSpPr txBox="1"/>
          <p:nvPr/>
        </p:nvSpPr>
        <p:spPr>
          <a:xfrm>
            <a:off x="4191000" y="2278612"/>
            <a:ext cx="935629" cy="307777"/>
          </a:xfrm>
          <a:prstGeom prst="rect">
            <a:avLst/>
          </a:prstGeom>
          <a:noFill/>
        </p:spPr>
        <p:txBody>
          <a:bodyPr wrap="square" rtlCol="0">
            <a:spAutoFit/>
          </a:bodyPr>
          <a:lstStyle/>
          <a:p>
            <a:pPr algn="ctr"/>
            <a:r>
              <a:rPr lang="en-US" sz="1400" dirty="0">
                <a:solidFill>
                  <a:srgbClr val="0070C0"/>
                </a:solidFill>
              </a:rPr>
              <a:t>weeks 1-3</a:t>
            </a:r>
          </a:p>
        </p:txBody>
      </p:sp>
      <p:sp>
        <p:nvSpPr>
          <p:cNvPr id="6" name="Right Brace 5"/>
          <p:cNvSpPr/>
          <p:nvPr/>
        </p:nvSpPr>
        <p:spPr>
          <a:xfrm rot="5400000">
            <a:off x="4613794" y="1863206"/>
            <a:ext cx="145012" cy="685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5061761" y="2278612"/>
            <a:ext cx="834942" cy="307777"/>
          </a:xfrm>
          <a:prstGeom prst="rect">
            <a:avLst/>
          </a:prstGeom>
          <a:noFill/>
        </p:spPr>
        <p:txBody>
          <a:bodyPr wrap="square" rtlCol="0">
            <a:spAutoFit/>
          </a:bodyPr>
          <a:lstStyle/>
          <a:p>
            <a:pPr algn="ctr"/>
            <a:r>
              <a:rPr lang="en-US" sz="1400" dirty="0">
                <a:solidFill>
                  <a:srgbClr val="0070C0"/>
                </a:solidFill>
              </a:rPr>
              <a:t>week 4</a:t>
            </a:r>
          </a:p>
        </p:txBody>
      </p:sp>
      <p:sp>
        <p:nvSpPr>
          <p:cNvPr id="8" name="Right Brace 7"/>
          <p:cNvSpPr/>
          <p:nvPr/>
        </p:nvSpPr>
        <p:spPr>
          <a:xfrm rot="5400000">
            <a:off x="5372536" y="1939406"/>
            <a:ext cx="145012" cy="533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8579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E504-D9EE-469F-ADC4-0E6F288CA45D}"/>
              </a:ext>
            </a:extLst>
          </p:cNvPr>
          <p:cNvSpPr>
            <a:spLocks noGrp="1"/>
          </p:cNvSpPr>
          <p:nvPr>
            <p:ph type="title"/>
          </p:nvPr>
        </p:nvSpPr>
        <p:spPr/>
        <p:txBody>
          <a:bodyPr>
            <a:normAutofit fontScale="90000"/>
          </a:bodyPr>
          <a:lstStyle/>
          <a:p>
            <a:r>
              <a:rPr lang="en-US" sz="4400" dirty="0"/>
              <a:t>The emergence of algorithmic pricing</a:t>
            </a:r>
            <a:br>
              <a:rPr lang="en-US" sz="4400" dirty="0"/>
            </a:br>
            <a:r>
              <a:rPr lang="en-US" sz="3600" dirty="0"/>
              <a:t>example: Amazon </a:t>
            </a:r>
            <a:r>
              <a:rPr lang="en-US" sz="3600" dirty="0" err="1"/>
              <a:t>Repricer</a:t>
            </a:r>
            <a:endParaRPr lang="en-US" dirty="0"/>
          </a:p>
        </p:txBody>
      </p:sp>
      <p:sp>
        <p:nvSpPr>
          <p:cNvPr id="3" name="Content Placeholder 2">
            <a:extLst>
              <a:ext uri="{FF2B5EF4-FFF2-40B4-BE49-F238E27FC236}">
                <a16:creationId xmlns:a16="http://schemas.microsoft.com/office/drawing/2014/main" id="{EAE08816-4E73-4261-9B83-A442D1B609E0}"/>
              </a:ext>
            </a:extLst>
          </p:cNvPr>
          <p:cNvSpPr>
            <a:spLocks noGrp="1"/>
          </p:cNvSpPr>
          <p:nvPr>
            <p:ph sz="quarter" idx="1"/>
          </p:nvPr>
        </p:nvSpPr>
        <p:spPr>
          <a:xfrm>
            <a:off x="612648" y="4156230"/>
            <a:ext cx="8153400" cy="1939770"/>
          </a:xfrm>
        </p:spPr>
        <p:txBody>
          <a:bodyPr/>
          <a:lstStyle/>
          <a:p>
            <a:r>
              <a:rPr lang="en-US" dirty="0"/>
              <a:t>As price tracking and algorithmic price adjustments become more prevalent…</a:t>
            </a:r>
          </a:p>
          <a:p>
            <a:pPr marL="0" indent="0">
              <a:buNone/>
            </a:pPr>
            <a:r>
              <a:rPr lang="en-US" dirty="0"/>
              <a:t>	</a:t>
            </a:r>
          </a:p>
          <a:p>
            <a:pPr marL="0" indent="0" algn="ctr">
              <a:buNone/>
            </a:pPr>
            <a:r>
              <a:rPr lang="en-US" dirty="0"/>
              <a:t>What’s your prediction for impact on prices?</a:t>
            </a:r>
          </a:p>
        </p:txBody>
      </p:sp>
      <p:sp>
        <p:nvSpPr>
          <p:cNvPr id="4" name="Slide Number Placeholder 3">
            <a:extLst>
              <a:ext uri="{FF2B5EF4-FFF2-40B4-BE49-F238E27FC236}">
                <a16:creationId xmlns:a16="http://schemas.microsoft.com/office/drawing/2014/main" id="{E03E6680-1974-4A72-81DA-2B143CB8E715}"/>
              </a:ext>
            </a:extLst>
          </p:cNvPr>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3</a:t>
            </a:fld>
            <a:endParaRPr lang="en-US" dirty="0"/>
          </a:p>
        </p:txBody>
      </p:sp>
      <p:pic>
        <p:nvPicPr>
          <p:cNvPr id="25602" name="Picture 2" descr="image">
            <a:extLst>
              <a:ext uri="{FF2B5EF4-FFF2-40B4-BE49-F238E27FC236}">
                <a16:creationId xmlns:a16="http://schemas.microsoft.com/office/drawing/2014/main" id="{AF1DB1F4-EAEE-439D-9AE9-D9C8ED6EA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34970"/>
            <a:ext cx="4334934"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3" descr="image">
            <a:extLst>
              <a:ext uri="{FF2B5EF4-FFF2-40B4-BE49-F238E27FC236}">
                <a16:creationId xmlns:a16="http://schemas.microsoft.com/office/drawing/2014/main" id="{1E597E83-2364-44E7-B68F-11003E87E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963815"/>
            <a:ext cx="31623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7BEDF3C-1B4A-DE6E-7F71-7091DED22D38}"/>
              </a:ext>
            </a:extLst>
          </p:cNvPr>
          <p:cNvSpPr txBox="1"/>
          <p:nvPr/>
        </p:nvSpPr>
        <p:spPr>
          <a:xfrm>
            <a:off x="109045" y="5798403"/>
            <a:ext cx="8534400" cy="830997"/>
          </a:xfrm>
          <a:prstGeom prst="rect">
            <a:avLst/>
          </a:prstGeom>
          <a:noFill/>
        </p:spPr>
        <p:txBody>
          <a:bodyPr wrap="square" rtlCol="0">
            <a:spAutoFit/>
          </a:bodyPr>
          <a:lstStyle/>
          <a:p>
            <a:r>
              <a:rPr lang="en-US" sz="1600" dirty="0"/>
              <a:t>10 July 2025; Natural economic instincts; when algo track competitors real time, it should imply that prices are race to bottom.</a:t>
            </a:r>
          </a:p>
          <a:p>
            <a:r>
              <a:rPr lang="en-US" sz="1600" dirty="0"/>
              <a:t>However, it does not seem this case. Refer next slide. </a:t>
            </a:r>
          </a:p>
        </p:txBody>
      </p:sp>
    </p:spTree>
    <p:extLst>
      <p:ext uri="{BB962C8B-B14F-4D97-AF65-F5344CB8AC3E}">
        <p14:creationId xmlns:p14="http://schemas.microsoft.com/office/powerpoint/2010/main" val="2260153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Overview</a:t>
            </a:r>
            <a:br>
              <a:rPr lang="en-US" sz="4400" dirty="0"/>
            </a:br>
            <a:r>
              <a:rPr lang="en-US" sz="3600" dirty="0"/>
              <a:t>Pricing A.I. at German gas stations</a:t>
            </a:r>
            <a:endParaRPr lang="en-US" sz="3100" dirty="0"/>
          </a:p>
        </p:txBody>
      </p:sp>
      <p:sp>
        <p:nvSpPr>
          <p:cNvPr id="3" name="Content Placeholder 2"/>
          <p:cNvSpPr>
            <a:spLocks noGrp="1"/>
          </p:cNvSpPr>
          <p:nvPr>
            <p:ph sz="quarter" idx="1"/>
          </p:nvPr>
        </p:nvSpPr>
        <p:spPr>
          <a:xfrm>
            <a:off x="612648" y="1600200"/>
            <a:ext cx="8302752" cy="5029200"/>
          </a:xfrm>
        </p:spPr>
        <p:txBody>
          <a:bodyPr>
            <a:normAutofit fontScale="77500" lnSpcReduction="20000"/>
          </a:bodyPr>
          <a:lstStyle/>
          <a:p>
            <a:pPr marL="0" indent="0" algn="ctr">
              <a:buNone/>
            </a:pPr>
            <a:r>
              <a:rPr lang="en-US" b="1" dirty="0"/>
              <a:t>“When the Machines Learn to Price-Gouge”</a:t>
            </a:r>
          </a:p>
          <a:p>
            <a:pPr marL="0" indent="0" algn="r">
              <a:buNone/>
            </a:pPr>
            <a:r>
              <a:rPr lang="en-US" sz="1400" dirty="0"/>
              <a:t>Mike Bird, WSJ, Sept. 29, 2020</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r>
              <a:rPr lang="en-US" dirty="0"/>
              <a:t>Wide adoption of pricing AI by German gas station in 2017</a:t>
            </a:r>
          </a:p>
          <a:p>
            <a:r>
              <a:rPr lang="en-US" dirty="0"/>
              <a:t>In duopoly markets:</a:t>
            </a:r>
          </a:p>
          <a:p>
            <a:pPr lvl="1"/>
            <a:r>
              <a:rPr lang="en-US" dirty="0"/>
              <a:t>If only one adopted, no impact</a:t>
            </a:r>
          </a:p>
          <a:p>
            <a:pPr lvl="1"/>
            <a:r>
              <a:rPr lang="en-US" dirty="0"/>
              <a:t>If both adopted	</a:t>
            </a:r>
            <a:r>
              <a:rPr lang="en-US" dirty="0">
                <a:sym typeface="Wingdings" panose="05000000000000000000" pitchFamily="2" charset="2"/>
              </a:rPr>
              <a:t> </a:t>
            </a:r>
            <a:r>
              <a:rPr lang="en-US" dirty="0"/>
              <a:t>large increases in price</a:t>
            </a:r>
          </a:p>
          <a:p>
            <a:pPr marL="366713" lvl="1" indent="0">
              <a:buNone/>
            </a:pPr>
            <a:r>
              <a:rPr lang="en-US" dirty="0"/>
              <a:t> 			</a:t>
            </a:r>
            <a:r>
              <a:rPr lang="en-US" dirty="0">
                <a:sym typeface="Wingdings" panose="05000000000000000000" pitchFamily="2" charset="2"/>
              </a:rPr>
              <a:t> </a:t>
            </a:r>
            <a:r>
              <a:rPr lang="en-US" dirty="0"/>
              <a:t>30% increase in margins</a:t>
            </a:r>
            <a:endParaRPr lang="en-US" sz="2000" dirty="0"/>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a:t>
            </a:fld>
            <a:endParaRPr lang="en-US"/>
          </a:p>
        </p:txBody>
      </p:sp>
      <p:pic>
        <p:nvPicPr>
          <p:cNvPr id="12290" name="Picture 2" descr="First Aldi petrol stations started in Germany - erpecnews liv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1264" y="2185909"/>
            <a:ext cx="4648200" cy="26146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33400" y="6595021"/>
            <a:ext cx="2412840" cy="253916"/>
          </a:xfrm>
          <a:prstGeom prst="rect">
            <a:avLst/>
          </a:prstGeom>
          <a:noFill/>
        </p:spPr>
        <p:txBody>
          <a:bodyPr wrap="none" rtlCol="0">
            <a:spAutoFit/>
          </a:bodyPr>
          <a:lstStyle/>
          <a:p>
            <a:r>
              <a:rPr lang="en-US" sz="1050" dirty="0"/>
              <a:t>See: </a:t>
            </a:r>
            <a:r>
              <a:rPr lang="en-US" sz="1050" dirty="0">
                <a:hlinkClick r:id="rId3"/>
              </a:rPr>
              <a:t>Assad, Clark, Ershov and Xu (2023)</a:t>
            </a:r>
            <a:endParaRPr lang="en-US" sz="1050" dirty="0"/>
          </a:p>
        </p:txBody>
      </p:sp>
      <p:sp>
        <p:nvSpPr>
          <p:cNvPr id="7" name="TextBox 6"/>
          <p:cNvSpPr txBox="1"/>
          <p:nvPr/>
        </p:nvSpPr>
        <p:spPr>
          <a:xfrm>
            <a:off x="6895288" y="2438400"/>
            <a:ext cx="2133600" cy="1569660"/>
          </a:xfrm>
          <a:prstGeom prst="rect">
            <a:avLst/>
          </a:prstGeom>
          <a:noFill/>
        </p:spPr>
        <p:txBody>
          <a:bodyPr wrap="square" rtlCol="0">
            <a:spAutoFit/>
          </a:bodyPr>
          <a:lstStyle/>
          <a:p>
            <a:pPr algn="ctr"/>
            <a:r>
              <a:rPr lang="en-US" dirty="0">
                <a:solidFill>
                  <a:srgbClr val="FF0000"/>
                </a:solidFill>
              </a:rPr>
              <a:t>Automated competitive reactions led to higher prices!</a:t>
            </a:r>
          </a:p>
        </p:txBody>
      </p:sp>
      <p:pic>
        <p:nvPicPr>
          <p:cNvPr id="9" name="Picture 8" descr="Image"/>
          <p:cNvPicPr/>
          <p:nvPr/>
        </p:nvPicPr>
        <p:blipFill rotWithShape="1">
          <a:blip r:embed="rId4" cstate="print">
            <a:extLst>
              <a:ext uri="{28A0092B-C50C-407E-A947-70E740481C1C}">
                <a14:useLocalDpi xmlns:a14="http://schemas.microsoft.com/office/drawing/2010/main" val="0"/>
              </a:ext>
            </a:extLst>
          </a:blip>
          <a:srcRect b="2200"/>
          <a:stretch/>
        </p:blipFill>
        <p:spPr bwMode="auto">
          <a:xfrm>
            <a:off x="438130" y="1581000"/>
            <a:ext cx="1598122" cy="3284459"/>
          </a:xfrm>
          <a:prstGeom prst="rect">
            <a:avLst/>
          </a:prstGeom>
          <a:noFill/>
          <a:ln>
            <a:noFill/>
          </a:ln>
        </p:spPr>
      </p:pic>
    </p:spTree>
    <p:extLst>
      <p:ext uri="{BB962C8B-B14F-4D97-AF65-F5344CB8AC3E}">
        <p14:creationId xmlns:p14="http://schemas.microsoft.com/office/powerpoint/2010/main" val="390009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2" end="1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3" end="1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4" end="1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3"/>
          <p:cNvSpPr>
            <a:spLocks noGrp="1" noChangeArrowheads="1"/>
          </p:cNvSpPr>
          <p:nvPr>
            <p:ph sz="quarter" idx="1"/>
          </p:nvPr>
        </p:nvSpPr>
        <p:spPr>
          <a:xfrm>
            <a:off x="612648" y="1600200"/>
            <a:ext cx="8153400" cy="4800600"/>
          </a:xfrm>
        </p:spPr>
        <p:txBody>
          <a:bodyPr lIns="90488" tIns="44450" rIns="90488" bIns="44450">
            <a:normAutofit/>
          </a:bodyPr>
          <a:lstStyle/>
          <a:p>
            <a:pPr marL="0" indent="0">
              <a:lnSpc>
                <a:spcPct val="90000"/>
              </a:lnSpc>
              <a:spcBef>
                <a:spcPts val="1800"/>
              </a:spcBef>
              <a:spcAft>
                <a:spcPts val="1200"/>
              </a:spcAft>
              <a:buNone/>
              <a:defRPr/>
            </a:pPr>
            <a:r>
              <a:rPr lang="en-US" u="sng" dirty="0">
                <a:latin typeface="+mj-lt"/>
              </a:rPr>
              <a:t>So today</a:t>
            </a:r>
            <a:r>
              <a:rPr lang="en-US" dirty="0">
                <a:latin typeface="+mj-lt"/>
              </a:rPr>
              <a:t>:</a:t>
            </a:r>
          </a:p>
          <a:p>
            <a:pPr>
              <a:lnSpc>
                <a:spcPct val="90000"/>
              </a:lnSpc>
              <a:spcBef>
                <a:spcPts val="1200"/>
              </a:spcBef>
              <a:spcAft>
                <a:spcPts val="600"/>
              </a:spcAft>
              <a:defRPr/>
            </a:pPr>
            <a:r>
              <a:rPr lang="en-US" dirty="0">
                <a:latin typeface="+mj-lt"/>
              </a:rPr>
              <a:t>Anticipating </a:t>
            </a:r>
            <a:r>
              <a:rPr lang="en-US" b="1" dirty="0">
                <a:solidFill>
                  <a:srgbClr val="FF0000"/>
                </a:solidFill>
                <a:effectLst>
                  <a:outerShdw blurRad="38100" dist="38100" dir="2700000" algn="tl">
                    <a:srgbClr val="000000">
                      <a:alpha val="43137"/>
                    </a:srgbClr>
                  </a:outerShdw>
                </a:effectLst>
                <a:latin typeface="+mj-lt"/>
              </a:rPr>
              <a:t>competitive response</a:t>
            </a:r>
          </a:p>
          <a:p>
            <a:pPr lvl="1">
              <a:lnSpc>
                <a:spcPct val="90000"/>
              </a:lnSpc>
              <a:spcAft>
                <a:spcPts val="600"/>
              </a:spcAft>
              <a:defRPr/>
            </a:pPr>
            <a:r>
              <a:rPr lang="en-US" dirty="0">
                <a:latin typeface="+mj-lt"/>
              </a:rPr>
              <a:t>Using </a:t>
            </a:r>
            <a:r>
              <a:rPr lang="en-US" b="1" dirty="0">
                <a:solidFill>
                  <a:srgbClr val="FF0000"/>
                </a:solidFill>
                <a:effectLst>
                  <a:outerShdw blurRad="38100" dist="38100" dir="2700000" algn="tl">
                    <a:srgbClr val="000000">
                      <a:alpha val="43137"/>
                    </a:srgbClr>
                  </a:outerShdw>
                </a:effectLst>
                <a:latin typeface="+mj-lt"/>
              </a:rPr>
              <a:t>EVC</a:t>
            </a:r>
          </a:p>
          <a:p>
            <a:pPr lvl="1">
              <a:lnSpc>
                <a:spcPct val="90000"/>
              </a:lnSpc>
              <a:spcAft>
                <a:spcPts val="1800"/>
              </a:spcAft>
              <a:defRPr/>
            </a:pPr>
            <a:r>
              <a:rPr lang="en-US" dirty="0">
                <a:latin typeface="+mj-lt"/>
              </a:rPr>
              <a:t>Thinking Like Your Competitor</a:t>
            </a:r>
          </a:p>
          <a:p>
            <a:pPr>
              <a:lnSpc>
                <a:spcPct val="90000"/>
              </a:lnSpc>
              <a:spcBef>
                <a:spcPts val="1800"/>
              </a:spcBef>
              <a:spcAft>
                <a:spcPts val="600"/>
              </a:spcAft>
              <a:defRPr/>
            </a:pPr>
            <a:r>
              <a:rPr lang="en-US" dirty="0">
                <a:latin typeface="+mj-lt"/>
              </a:rPr>
              <a:t>Modeling </a:t>
            </a:r>
            <a:r>
              <a:rPr lang="en-US" dirty="0"/>
              <a:t>strategic price interactions between competitors</a:t>
            </a:r>
          </a:p>
          <a:p>
            <a:pPr lvl="1">
              <a:lnSpc>
                <a:spcPct val="90000"/>
              </a:lnSpc>
              <a:spcAft>
                <a:spcPts val="600"/>
              </a:spcAft>
              <a:defRPr/>
            </a:pPr>
            <a:r>
              <a:rPr lang="en-US" dirty="0">
                <a:latin typeface="+mj-lt"/>
              </a:rPr>
              <a:t>Beauregard Textiles</a:t>
            </a:r>
          </a:p>
          <a:p>
            <a:pPr lvl="1">
              <a:lnSpc>
                <a:spcPct val="90000"/>
              </a:lnSpc>
              <a:spcAft>
                <a:spcPts val="600"/>
              </a:spcAft>
              <a:defRPr/>
            </a:pPr>
            <a:r>
              <a:rPr lang="en-US" dirty="0">
                <a:latin typeface="+mj-lt"/>
              </a:rPr>
              <a:t>Strategic price interactions</a:t>
            </a:r>
          </a:p>
          <a:p>
            <a:pPr lvl="1">
              <a:lnSpc>
                <a:spcPct val="90000"/>
              </a:lnSpc>
              <a:spcAft>
                <a:spcPts val="600"/>
              </a:spcAft>
              <a:defRPr/>
            </a:pPr>
            <a:r>
              <a:rPr lang="en-US" dirty="0">
                <a:latin typeface="+mj-lt"/>
              </a:rPr>
              <a:t>Reaction Functions (</a:t>
            </a:r>
            <a:r>
              <a:rPr lang="en-US" b="1" dirty="0">
                <a:effectLst>
                  <a:outerShdw blurRad="38100" dist="38100" dir="2700000" algn="tl">
                    <a:srgbClr val="000000">
                      <a:alpha val="43137"/>
                    </a:srgbClr>
                  </a:outerShdw>
                </a:effectLst>
                <a:latin typeface="+mj-lt"/>
              </a:rPr>
              <a:t>Game Theory</a:t>
            </a:r>
            <a:r>
              <a:rPr lang="en-US" dirty="0">
                <a:latin typeface="+mj-lt"/>
              </a:rPr>
              <a:t>)</a:t>
            </a:r>
          </a:p>
          <a:p>
            <a:pPr lvl="1">
              <a:lnSpc>
                <a:spcPct val="90000"/>
              </a:lnSpc>
              <a:spcAft>
                <a:spcPts val="600"/>
              </a:spcAft>
              <a:defRPr/>
            </a:pPr>
            <a:r>
              <a:rPr lang="en-US" dirty="0"/>
              <a:t>Potentially perplexing </a:t>
            </a:r>
            <a:r>
              <a:rPr lang="en-US" b="1" dirty="0">
                <a:solidFill>
                  <a:srgbClr val="FF0000"/>
                </a:solidFill>
                <a:effectLst>
                  <a:outerShdw blurRad="38100" dist="38100" dir="2700000" algn="tl">
                    <a:srgbClr val="000000">
                      <a:alpha val="43137"/>
                    </a:srgbClr>
                  </a:outerShdw>
                </a:effectLst>
              </a:rPr>
              <a:t>equilibrium</a:t>
            </a:r>
            <a:r>
              <a:rPr lang="en-US" dirty="0"/>
              <a:t> outcomes</a:t>
            </a:r>
            <a:endParaRPr lang="en-US" dirty="0">
              <a:latin typeface="+mj-lt"/>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a:t>
            </a:fld>
            <a:endParaRPr lang="en-US"/>
          </a:p>
        </p:txBody>
      </p:sp>
      <p:sp>
        <p:nvSpPr>
          <p:cNvPr id="6" name="Title 1"/>
          <p:cNvSpPr>
            <a:spLocks noGrp="1"/>
          </p:cNvSpPr>
          <p:nvPr>
            <p:ph type="title"/>
          </p:nvPr>
        </p:nvSpPr>
        <p:spPr>
          <a:xfrm>
            <a:off x="612648" y="228600"/>
            <a:ext cx="8153400" cy="990600"/>
          </a:xfrm>
        </p:spPr>
        <p:txBody>
          <a:bodyPr/>
          <a:lstStyle/>
          <a:p>
            <a:r>
              <a:rPr lang="en-US" dirty="0"/>
              <a:t>Overview</a:t>
            </a:r>
          </a:p>
        </p:txBody>
      </p:sp>
    </p:spTree>
    <p:extLst>
      <p:ext uri="{BB962C8B-B14F-4D97-AF65-F5344CB8AC3E}">
        <p14:creationId xmlns:p14="http://schemas.microsoft.com/office/powerpoint/2010/main" val="59338922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z="4000" dirty="0"/>
              <a:t>Competitive Price Changes and EVC</a:t>
            </a:r>
          </a:p>
        </p:txBody>
      </p:sp>
      <p:sp>
        <p:nvSpPr>
          <p:cNvPr id="43011" name="Rectangle 3"/>
          <p:cNvSpPr>
            <a:spLocks noGrp="1" noChangeArrowheads="1"/>
          </p:cNvSpPr>
          <p:nvPr>
            <p:ph sz="quarter" idx="1"/>
          </p:nvPr>
        </p:nvSpPr>
        <p:spPr>
          <a:xfrm>
            <a:off x="612648" y="1600200"/>
            <a:ext cx="8153400" cy="5029200"/>
          </a:xfrm>
        </p:spPr>
        <p:txBody>
          <a:bodyPr>
            <a:normAutofit lnSpcReduction="10000"/>
          </a:bodyPr>
          <a:lstStyle/>
          <a:p>
            <a:pPr marL="0" indent="0">
              <a:lnSpc>
                <a:spcPct val="90000"/>
              </a:lnSpc>
              <a:spcAft>
                <a:spcPts val="600"/>
              </a:spcAft>
              <a:buNone/>
              <a:defRPr/>
            </a:pPr>
            <a:r>
              <a:rPr lang="en-US" sz="2400" dirty="0">
                <a:latin typeface="+mj-lt"/>
              </a:rPr>
              <a:t>For some customer </a:t>
            </a:r>
            <a:r>
              <a:rPr lang="en-US" sz="2400" i="1" dirty="0" err="1">
                <a:latin typeface="+mj-lt"/>
              </a:rPr>
              <a:t>i</a:t>
            </a:r>
            <a:endParaRPr lang="en-US" sz="2400" i="1" dirty="0">
              <a:latin typeface="+mj-lt"/>
            </a:endParaRPr>
          </a:p>
          <a:p>
            <a:pPr marL="366713" lvl="1" indent="0">
              <a:lnSpc>
                <a:spcPct val="90000"/>
              </a:lnSpc>
              <a:spcBef>
                <a:spcPts val="1800"/>
              </a:spcBef>
              <a:spcAft>
                <a:spcPts val="1200"/>
              </a:spcAft>
              <a:buNone/>
              <a:defRPr/>
            </a:pPr>
            <a:endParaRPr lang="en-US" sz="2400" b="1" dirty="0">
              <a:latin typeface="+mj-lt"/>
            </a:endParaRPr>
          </a:p>
          <a:p>
            <a:pPr marL="366713" lvl="1" indent="0">
              <a:lnSpc>
                <a:spcPct val="90000"/>
              </a:lnSpc>
              <a:spcBef>
                <a:spcPts val="1800"/>
              </a:spcBef>
              <a:spcAft>
                <a:spcPts val="1200"/>
              </a:spcAft>
              <a:buNone/>
              <a:defRPr/>
            </a:pPr>
            <a:r>
              <a:rPr lang="en-US" sz="2400" b="1" dirty="0" err="1">
                <a:latin typeface="+mj-lt"/>
              </a:rPr>
              <a:t>R</a:t>
            </a:r>
            <a:r>
              <a:rPr lang="en-US" sz="2400" b="1" baseline="-25000" dirty="0" err="1">
                <a:latin typeface="+mj-lt"/>
              </a:rPr>
              <a:t>i</a:t>
            </a:r>
            <a:r>
              <a:rPr lang="en-US" sz="2400" baseline="-25000" dirty="0">
                <a:latin typeface="+mj-lt"/>
              </a:rPr>
              <a:t> </a:t>
            </a:r>
            <a:r>
              <a:rPr lang="en-US" sz="2400" dirty="0">
                <a:latin typeface="+mj-lt"/>
              </a:rPr>
              <a:t>is closest competitor’s price</a:t>
            </a:r>
          </a:p>
          <a:p>
            <a:pPr>
              <a:lnSpc>
                <a:spcPct val="90000"/>
              </a:lnSpc>
              <a:spcBef>
                <a:spcPts val="1200"/>
              </a:spcBef>
              <a:spcAft>
                <a:spcPts val="600"/>
              </a:spcAft>
              <a:defRPr/>
            </a:pPr>
            <a:r>
              <a:rPr lang="en-US" sz="2400" dirty="0">
                <a:latin typeface="+mj-lt"/>
              </a:rPr>
              <a:t>As competitor increases (decreases) her price:</a:t>
            </a:r>
          </a:p>
          <a:p>
            <a:pPr lvl="1">
              <a:lnSpc>
                <a:spcPct val="90000"/>
              </a:lnSpc>
              <a:spcAft>
                <a:spcPts val="600"/>
              </a:spcAft>
              <a:buFont typeface="Wingdings" panose="05000000000000000000" pitchFamily="2" charset="2"/>
              <a:buChar char="Ø"/>
              <a:defRPr/>
            </a:pPr>
            <a:r>
              <a:rPr lang="en-US" dirty="0">
                <a:latin typeface="+mj-lt"/>
              </a:rPr>
              <a:t>EVC of our product increases (decreases)</a:t>
            </a:r>
          </a:p>
          <a:p>
            <a:pPr lvl="1">
              <a:lnSpc>
                <a:spcPct val="90000"/>
              </a:lnSpc>
              <a:spcAft>
                <a:spcPts val="1200"/>
              </a:spcAft>
              <a:buFont typeface="Wingdings" panose="05000000000000000000" pitchFamily="2" charset="2"/>
              <a:buChar char="Ø"/>
              <a:defRPr/>
            </a:pPr>
            <a:r>
              <a:rPr lang="en-US" sz="2400" dirty="0">
                <a:latin typeface="+mj-lt"/>
              </a:rPr>
              <a:t>In turn, our demand curve shifts out (in)</a:t>
            </a:r>
          </a:p>
          <a:p>
            <a:pPr marL="366713" lvl="1" indent="0">
              <a:lnSpc>
                <a:spcPct val="90000"/>
              </a:lnSpc>
              <a:spcAft>
                <a:spcPts val="1200"/>
              </a:spcAft>
              <a:buNone/>
              <a:defRPr/>
            </a:pPr>
            <a:r>
              <a:rPr lang="en-US" dirty="0"/>
              <a:t>which changes our pricing incentives.</a:t>
            </a:r>
          </a:p>
          <a:p>
            <a:pPr marL="366713" lvl="1" indent="0">
              <a:lnSpc>
                <a:spcPct val="90000"/>
              </a:lnSpc>
              <a:spcAft>
                <a:spcPts val="1200"/>
              </a:spcAft>
              <a:buNone/>
              <a:defRPr/>
            </a:pPr>
            <a:endParaRPr lang="en-US" sz="2400" dirty="0">
              <a:latin typeface="+mj-lt"/>
            </a:endParaRPr>
          </a:p>
          <a:p>
            <a:pPr marL="366713" lvl="1" indent="0">
              <a:lnSpc>
                <a:spcPct val="90000"/>
              </a:lnSpc>
              <a:spcAft>
                <a:spcPts val="1200"/>
              </a:spcAft>
              <a:buNone/>
              <a:defRPr/>
            </a:pPr>
            <a:r>
              <a:rPr lang="en-US" dirty="0"/>
              <a:t>Now let’s put ourselves into our competitors’ shoes…</a:t>
            </a:r>
            <a:endParaRPr lang="en-US" sz="2400" dirty="0">
              <a:latin typeface="+mj-lt"/>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6</a:t>
            </a:fld>
            <a:endParaRPr lang="en-US"/>
          </a:p>
        </p:txBody>
      </p:sp>
      <mc:AlternateContent xmlns:mc="http://schemas.openxmlformats.org/markup-compatibility/2006" xmlns:a14="http://schemas.microsoft.com/office/drawing/2010/main">
        <mc:Choice Requires="a14">
          <p:sp>
            <p:nvSpPr>
              <p:cNvPr id="3" name="Rounded Rectangle 2"/>
              <p:cNvSpPr/>
              <p:nvPr/>
            </p:nvSpPr>
            <p:spPr>
              <a:xfrm>
                <a:off x="1219200" y="1981200"/>
                <a:ext cx="6096000" cy="762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m:rPr>
                          <m:nor/>
                        </m:rPr>
                        <a:rPr lang="en-US" sz="3200" dirty="0" smtClean="0">
                          <a:effectLst>
                            <a:outerShdw blurRad="38100" dist="38100" dir="2700000" algn="tl">
                              <a:srgbClr val="000000">
                                <a:alpha val="43137"/>
                              </a:srgbClr>
                            </a:outerShdw>
                          </a:effectLst>
                        </a:rPr>
                        <m:t>EVC</m:t>
                      </m:r>
                      <m:r>
                        <m:rPr>
                          <m:nor/>
                        </m:rPr>
                        <a:rPr lang="en-US" sz="3200" baseline="-25000" dirty="0"/>
                        <m:t>i</m:t>
                      </m:r>
                      <m:r>
                        <a:rPr lang="en-US" sz="3200" i="1" dirty="0">
                          <a:latin typeface="Cambria Math"/>
                          <a:ea typeface="Cambria Math"/>
                        </a:rPr>
                        <m:t>≡</m:t>
                      </m:r>
                      <m:r>
                        <a:rPr lang="en-US" sz="3200" i="1" dirty="0">
                          <a:latin typeface="Cambria Math" panose="02040503050406030204" pitchFamily="18" charset="0"/>
                          <a:ea typeface="Cambria Math"/>
                        </a:rPr>
                        <m:t> </m:t>
                      </m:r>
                      <m:r>
                        <m:rPr>
                          <m:nor/>
                        </m:rPr>
                        <a:rPr lang="en-US" sz="3200" dirty="0"/>
                        <m:t>Maximum</m:t>
                      </m:r>
                      <m:r>
                        <m:rPr>
                          <m:nor/>
                        </m:rPr>
                        <a:rPr lang="en-US" sz="3200" dirty="0"/>
                        <m:t> </m:t>
                      </m:r>
                      <m:r>
                        <m:rPr>
                          <m:nor/>
                        </m:rPr>
                        <a:rPr lang="en-US" sz="3200" dirty="0" err="1"/>
                        <m:t>WTP</m:t>
                      </m:r>
                      <m:r>
                        <m:rPr>
                          <m:nor/>
                        </m:rPr>
                        <a:rPr lang="en-US" sz="3200" baseline="-25000" dirty="0" err="1"/>
                        <m:t>i</m:t>
                      </m:r>
                      <m:r>
                        <m:rPr>
                          <m:nor/>
                        </m:rPr>
                        <a:rPr lang="en-US" sz="3200" dirty="0"/>
                        <m:t> = </m:t>
                      </m:r>
                      <m:r>
                        <m:rPr>
                          <m:nor/>
                        </m:rPr>
                        <a:rPr lang="en-US" sz="3200" dirty="0" err="1"/>
                        <m:t>DV</m:t>
                      </m:r>
                      <m:r>
                        <m:rPr>
                          <m:nor/>
                        </m:rPr>
                        <a:rPr lang="en-US" sz="3200" baseline="-25000" dirty="0" err="1"/>
                        <m:t>i</m:t>
                      </m:r>
                      <m:r>
                        <m:rPr>
                          <m:nor/>
                        </m:rPr>
                        <a:rPr lang="en-US" sz="3200" dirty="0"/>
                        <m:t> + </m:t>
                      </m:r>
                      <m:r>
                        <m:rPr>
                          <m:nor/>
                        </m:rPr>
                        <a:rPr lang="en-US" sz="3200" dirty="0" err="1"/>
                        <m:t>R</m:t>
                      </m:r>
                      <m:r>
                        <m:rPr>
                          <m:nor/>
                        </m:rPr>
                        <a:rPr lang="en-US" sz="3200" baseline="-25000" dirty="0" err="1"/>
                        <m:t>i</m:t>
                      </m:r>
                    </m:oMath>
                  </m:oMathPara>
                </a14:m>
                <a:endParaRPr lang="en-US" sz="3200" dirty="0"/>
              </a:p>
            </p:txBody>
          </p:sp>
        </mc:Choice>
        <mc:Fallback xmlns="">
          <p:sp>
            <p:nvSpPr>
              <p:cNvPr id="3" name="Rounded Rectangle 2"/>
              <p:cNvSpPr>
                <a:spLocks noRot="1" noChangeAspect="1" noMove="1" noResize="1" noEditPoints="1" noAdjustHandles="1" noChangeArrowheads="1" noChangeShapeType="1" noTextEdit="1"/>
              </p:cNvSpPr>
              <p:nvPr/>
            </p:nvSpPr>
            <p:spPr>
              <a:xfrm>
                <a:off x="1219200" y="1981200"/>
                <a:ext cx="6096000" cy="762000"/>
              </a:xfrm>
              <a:prstGeom prst="round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790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7" descr="Olympus - OM-D E-M10 Mark II Mirrorless Camera with 14-42mm Lens - Silver - Front_Zo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168040"/>
            <a:ext cx="5644988" cy="3664112"/>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p:cNvSpPr>
            <a:spLocks noGrp="1"/>
          </p:cNvSpPr>
          <p:nvPr>
            <p:ph type="body" idx="1"/>
          </p:nvPr>
        </p:nvSpPr>
        <p:spPr/>
        <p:txBody>
          <a:bodyPr/>
          <a:lstStyle/>
          <a:p>
            <a:r>
              <a:rPr lang="en-US" sz="2000" b="1" dirty="0"/>
              <a:t>Hypothetical case study of new product launch at Olympus</a:t>
            </a:r>
          </a:p>
        </p:txBody>
      </p:sp>
      <p:sp>
        <p:nvSpPr>
          <p:cNvPr id="3" name="Title 2"/>
          <p:cNvSpPr>
            <a:spLocks noGrp="1"/>
          </p:cNvSpPr>
          <p:nvPr>
            <p:ph type="title"/>
          </p:nvPr>
        </p:nvSpPr>
        <p:spPr/>
        <p:txBody>
          <a:bodyPr/>
          <a:lstStyle/>
          <a:p>
            <a:r>
              <a:rPr lang="en-US" dirty="0"/>
              <a:t>EVC to Assess Price Reactions</a:t>
            </a:r>
          </a:p>
        </p:txBody>
      </p:sp>
      <p:sp>
        <p:nvSpPr>
          <p:cNvPr id="4" name="Slide Number Placeholder 3"/>
          <p:cNvSpPr>
            <a:spLocks noGrp="1"/>
          </p:cNvSpPr>
          <p:nvPr>
            <p:ph type="sldNum" sz="quarter" idx="11"/>
          </p:nvPr>
        </p:nvSpPr>
        <p:spPr/>
        <p:txBody>
          <a:bodyPr/>
          <a:lstStyle/>
          <a:p>
            <a:pPr>
              <a:defRPr/>
            </a:pPr>
            <a:fld id="{933868AA-CDF1-43EF-A2C4-0B669FC33D03}" type="slidenum">
              <a:rPr lang="en-US" smtClean="0"/>
              <a:pPr>
                <a:defRPr/>
              </a:pPr>
              <a:t>7</a:t>
            </a:fld>
            <a:endParaRPr lang="en-US"/>
          </a:p>
        </p:txBody>
      </p:sp>
    </p:spTree>
    <p:extLst>
      <p:ext uri="{BB962C8B-B14F-4D97-AF65-F5344CB8AC3E}">
        <p14:creationId xmlns:p14="http://schemas.microsoft.com/office/powerpoint/2010/main" val="194902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Olympus Objectives</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8</a:t>
            </a:fld>
            <a:endParaRPr lang="en-US" dirty="0"/>
          </a:p>
        </p:txBody>
      </p:sp>
      <p:sp>
        <p:nvSpPr>
          <p:cNvPr id="11" name="Rectangle 3"/>
          <p:cNvSpPr>
            <a:spLocks noGrp="1" noChangeArrowheads="1"/>
          </p:cNvSpPr>
          <p:nvPr>
            <p:ph sz="quarter" idx="1"/>
          </p:nvPr>
        </p:nvSpPr>
        <p:spPr>
          <a:xfrm>
            <a:off x="612648" y="1600200"/>
            <a:ext cx="7589837" cy="609600"/>
          </a:xfrm>
        </p:spPr>
        <p:txBody>
          <a:bodyPr>
            <a:noAutofit/>
          </a:bodyPr>
          <a:lstStyle/>
          <a:p>
            <a:pPr>
              <a:spcAft>
                <a:spcPts val="1200"/>
              </a:spcAft>
              <a:defRPr/>
            </a:pPr>
            <a:r>
              <a:rPr lang="en-US" dirty="0">
                <a:latin typeface="+mj-lt"/>
              </a:rPr>
              <a:t>Olympus planning new product launch:</a:t>
            </a:r>
          </a:p>
          <a:p>
            <a:pPr marL="0" indent="0" algn="ctr">
              <a:spcBef>
                <a:spcPts val="0"/>
              </a:spcBef>
              <a:spcAft>
                <a:spcPts val="1200"/>
              </a:spcAft>
              <a:buNone/>
              <a:defRPr/>
            </a:pPr>
            <a:r>
              <a:rPr lang="en-US" dirty="0"/>
              <a:t>Olympus, 12.2MP, DSLR camera</a:t>
            </a:r>
          </a:p>
          <a:p>
            <a:pPr>
              <a:spcBef>
                <a:spcPts val="0"/>
              </a:spcBef>
              <a:spcAft>
                <a:spcPts val="1200"/>
              </a:spcAft>
              <a:defRPr/>
            </a:pPr>
            <a:endParaRPr lang="en-US" dirty="0"/>
          </a:p>
          <a:p>
            <a:pPr>
              <a:spcBef>
                <a:spcPts val="0"/>
              </a:spcBef>
              <a:spcAft>
                <a:spcPts val="1200"/>
              </a:spcAft>
              <a:defRPr/>
            </a:pPr>
            <a:r>
              <a:rPr lang="en-US" dirty="0"/>
              <a:t>Objectives</a:t>
            </a:r>
          </a:p>
          <a:p>
            <a:pPr marL="0" indent="0">
              <a:spcBef>
                <a:spcPts val="1200"/>
              </a:spcBef>
              <a:spcAft>
                <a:spcPts val="1200"/>
              </a:spcAft>
              <a:buNone/>
              <a:defRPr/>
            </a:pPr>
            <a:r>
              <a:rPr lang="en-US" dirty="0"/>
              <a:t>	Assess the incumbent market</a:t>
            </a:r>
          </a:p>
          <a:p>
            <a:pPr marL="0" indent="0">
              <a:spcBef>
                <a:spcPts val="1200"/>
              </a:spcBef>
              <a:spcAft>
                <a:spcPts val="1200"/>
              </a:spcAft>
              <a:buNone/>
              <a:defRPr/>
            </a:pPr>
            <a:r>
              <a:rPr lang="en-US" dirty="0"/>
              <a:t>	Assess Olympus’ launch price incentives</a:t>
            </a:r>
          </a:p>
        </p:txBody>
      </p:sp>
      <p:sp>
        <p:nvSpPr>
          <p:cNvPr id="12" name="TextBox 11"/>
          <p:cNvSpPr txBox="1"/>
          <p:nvPr/>
        </p:nvSpPr>
        <p:spPr>
          <a:xfrm>
            <a:off x="7010400" y="1443335"/>
            <a:ext cx="2101970" cy="923330"/>
          </a:xfrm>
          <a:prstGeom prst="rect">
            <a:avLst/>
          </a:prstGeom>
          <a:noFill/>
        </p:spPr>
        <p:txBody>
          <a:bodyPr wrap="square" rtlCol="0">
            <a:spAutoFit/>
          </a:bodyPr>
          <a:lstStyle/>
          <a:p>
            <a:pPr algn="ctr"/>
            <a:r>
              <a:rPr lang="en-US" sz="1800" dirty="0">
                <a:solidFill>
                  <a:srgbClr val="FF0000"/>
                </a:solidFill>
              </a:rPr>
              <a:t>see “competitor simulation” handout on Canvas</a:t>
            </a:r>
          </a:p>
        </p:txBody>
      </p:sp>
      <p:cxnSp>
        <p:nvCxnSpPr>
          <p:cNvPr id="13" name="Straight Arrow Connector 12"/>
          <p:cNvCxnSpPr/>
          <p:nvPr/>
        </p:nvCxnSpPr>
        <p:spPr>
          <a:xfrm flipH="1">
            <a:off x="6258311" y="1828800"/>
            <a:ext cx="838200"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 Placeholder 2"/>
          <p:cNvSpPr txBox="1">
            <a:spLocks/>
          </p:cNvSpPr>
          <p:nvPr/>
        </p:nvSpPr>
        <p:spPr>
          <a:xfrm>
            <a:off x="990600" y="4572000"/>
            <a:ext cx="403384" cy="403384"/>
          </a:xfrm>
          <a:prstGeom prst="ellipse">
            <a:avLst/>
          </a:prstGeom>
          <a:solidFill>
            <a:srgbClr val="92D050"/>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2</a:t>
            </a:r>
          </a:p>
        </p:txBody>
      </p:sp>
      <p:sp>
        <p:nvSpPr>
          <p:cNvPr id="15" name="Text Placeholder 3"/>
          <p:cNvSpPr txBox="1">
            <a:spLocks/>
          </p:cNvSpPr>
          <p:nvPr/>
        </p:nvSpPr>
        <p:spPr>
          <a:xfrm>
            <a:off x="990600" y="3886200"/>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104511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9</a:t>
            </a:fld>
            <a:endParaRPr lang="en-US"/>
          </a:p>
        </p:txBody>
      </p:sp>
      <p:pic>
        <p:nvPicPr>
          <p:cNvPr id="14338" name="Picture 2" descr="Myanma A-hala"/>
          <p:cNvPicPr>
            <a:picLocks noGrp="1" noChangeAspect="1" noChangeArrowheads="1"/>
          </p:cNvPicPr>
          <p:nvPr>
            <p:ph sz="quarter" idx="1"/>
          </p:nvPr>
        </p:nvPicPr>
        <p:blipFill rotWithShape="1">
          <a:blip r:embed="rId2">
            <a:extLst>
              <a:ext uri="{28A0092B-C50C-407E-A947-70E740481C1C}">
                <a14:useLocalDpi xmlns:a14="http://schemas.microsoft.com/office/drawing/2010/main" val="0"/>
              </a:ext>
            </a:extLst>
          </a:blip>
          <a:srcRect l="18873" t="22754" r="54003" b="44599"/>
          <a:stretch/>
        </p:blipFill>
        <p:spPr bwMode="auto">
          <a:xfrm>
            <a:off x="152400" y="1981200"/>
            <a:ext cx="4367561" cy="35052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612648" y="228600"/>
            <a:ext cx="8153400" cy="990600"/>
          </a:xfrm>
        </p:spPr>
        <p:txBody>
          <a:bodyPr>
            <a:normAutofit fontScale="90000"/>
          </a:bodyPr>
          <a:lstStyle/>
          <a:p>
            <a:r>
              <a:rPr lang="en-US" sz="4400" dirty="0"/>
              <a:t>Market Analysis: Pre Olympus Launch</a:t>
            </a:r>
            <a:br>
              <a:rPr lang="en-US" sz="4400" dirty="0"/>
            </a:br>
            <a:r>
              <a:rPr lang="en-US" sz="3600" dirty="0"/>
              <a:t>   Assess Incumbent Market</a:t>
            </a:r>
          </a:p>
        </p:txBody>
      </p:sp>
      <p:sp>
        <p:nvSpPr>
          <p:cNvPr id="7" name="Content Placeholder 2"/>
          <p:cNvSpPr txBox="1">
            <a:spLocks/>
          </p:cNvSpPr>
          <p:nvPr/>
        </p:nvSpPr>
        <p:spPr bwMode="auto">
          <a:xfrm>
            <a:off x="4800600" y="2362200"/>
            <a:ext cx="43434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400" kern="1200" baseline="0">
                <a:solidFill>
                  <a:schemeClr val="tx1"/>
                </a:solidFill>
                <a:latin typeface="+mj-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400" kern="1200" baseline="0">
                <a:solidFill>
                  <a:schemeClr val="tx1"/>
                </a:solidFill>
                <a:latin typeface="+mj-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400" kern="1200" baseline="0">
                <a:solidFill>
                  <a:schemeClr val="tx1"/>
                </a:solidFill>
                <a:latin typeface="+mj-lt"/>
                <a:ea typeface="+mn-ea"/>
                <a:cs typeface="+mn-cs"/>
              </a:defRPr>
            </a:lvl3pPr>
            <a:lvl4pPr marL="1371600" indent="-228600" algn="l" rtl="0" eaLnBrk="1" fontAlgn="base" hangingPunct="1">
              <a:spcBef>
                <a:spcPts val="400"/>
              </a:spcBef>
              <a:spcAft>
                <a:spcPct val="0"/>
              </a:spcAft>
              <a:buClr>
                <a:srgbClr val="A5AB81"/>
              </a:buClr>
              <a:buSzPct val="75000"/>
              <a:buFont typeface="Wingdings" pitchFamily="2" charset="2"/>
              <a:buChar char=""/>
              <a:defRPr sz="2400" kern="1200" baseline="0">
                <a:solidFill>
                  <a:schemeClr val="tx1"/>
                </a:solidFill>
                <a:latin typeface="+mj-lt"/>
                <a:ea typeface="+mn-ea"/>
                <a:cs typeface="+mn-cs"/>
              </a:defRPr>
            </a:lvl4pPr>
            <a:lvl5pPr marL="1828800" indent="-228600" algn="l" rtl="0" eaLnBrk="1" fontAlgn="base" hangingPunct="1">
              <a:spcBef>
                <a:spcPts val="400"/>
              </a:spcBef>
              <a:spcAft>
                <a:spcPct val="0"/>
              </a:spcAft>
              <a:buClr>
                <a:srgbClr val="D8B25C"/>
              </a:buClr>
              <a:buSzPct val="65000"/>
              <a:buFont typeface="Wingdings" pitchFamily="2" charset="2"/>
              <a:buChar char=""/>
              <a:defRPr sz="2400" kern="1200" baseline="0">
                <a:solidFill>
                  <a:schemeClr val="tx1"/>
                </a:solidFill>
                <a:latin typeface="+mj-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0" indent="0">
              <a:buNone/>
            </a:pPr>
            <a:r>
              <a:rPr lang="en-US" dirty="0"/>
              <a:t>Currently, there are 2 products already in the market:</a:t>
            </a:r>
          </a:p>
          <a:p>
            <a:pPr marL="503238" indent="-457200">
              <a:spcBef>
                <a:spcPts val="1200"/>
              </a:spcBef>
              <a:spcAft>
                <a:spcPts val="600"/>
              </a:spcAft>
              <a:buFont typeface="+mj-lt"/>
              <a:buAutoNum type="arabicPeriod"/>
            </a:pPr>
            <a:r>
              <a:rPr lang="en-US" dirty="0"/>
              <a:t>Canon, 5MP, non-DSLR: $280</a:t>
            </a:r>
          </a:p>
          <a:p>
            <a:pPr marL="503238" indent="-457200">
              <a:spcBef>
                <a:spcPts val="1200"/>
              </a:spcBef>
              <a:spcAft>
                <a:spcPts val="600"/>
              </a:spcAft>
              <a:buFont typeface="+mj-lt"/>
              <a:buAutoNum type="arabicPeriod"/>
            </a:pPr>
            <a:r>
              <a:rPr lang="en-US" dirty="0"/>
              <a:t>Sony, 5MP, non-DSLR: $250</a:t>
            </a:r>
          </a:p>
        </p:txBody>
      </p:sp>
      <p:sp>
        <p:nvSpPr>
          <p:cNvPr id="2" name="Rectangle 1"/>
          <p:cNvSpPr/>
          <p:nvPr/>
        </p:nvSpPr>
        <p:spPr>
          <a:xfrm>
            <a:off x="188842" y="5756701"/>
            <a:ext cx="7735957" cy="461665"/>
          </a:xfrm>
          <a:prstGeom prst="rect">
            <a:avLst/>
          </a:prstGeom>
        </p:spPr>
        <p:txBody>
          <a:bodyPr wrap="square">
            <a:spAutoFit/>
          </a:bodyPr>
          <a:lstStyle/>
          <a:p>
            <a:r>
              <a:rPr lang="en-US" dirty="0"/>
              <a:t>Can we help Olympus derive demand for incumbent brands?</a:t>
            </a:r>
          </a:p>
        </p:txBody>
      </p:sp>
      <p:sp>
        <p:nvSpPr>
          <p:cNvPr id="8" name="Text Placeholder 3"/>
          <p:cNvSpPr txBox="1">
            <a:spLocks/>
          </p:cNvSpPr>
          <p:nvPr/>
        </p:nvSpPr>
        <p:spPr>
          <a:xfrm>
            <a:off x="551191" y="815816"/>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4037047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10</a:t>
            </a:fld>
            <a:endParaRPr lang="en-US" dirty="0"/>
          </a:p>
        </p:txBody>
      </p:sp>
      <p:sp>
        <p:nvSpPr>
          <p:cNvPr id="7" name="Freeform 6"/>
          <p:cNvSpPr/>
          <p:nvPr/>
        </p:nvSpPr>
        <p:spPr>
          <a:xfrm>
            <a:off x="112725" y="2006898"/>
            <a:ext cx="1487474" cy="1219200"/>
          </a:xfrm>
          <a:custGeom>
            <a:avLst/>
            <a:gdLst>
              <a:gd name="connsiteX0" fmla="*/ 870440 w 1071608"/>
              <a:gd name="connsiteY0" fmla="*/ 0 h 795528"/>
              <a:gd name="connsiteX1" fmla="*/ 1760 w 1071608"/>
              <a:gd name="connsiteY1" fmla="*/ 475488 h 795528"/>
              <a:gd name="connsiteX2" fmla="*/ 1071608 w 1071608"/>
              <a:gd name="connsiteY2" fmla="*/ 795528 h 795528"/>
            </a:gdLst>
            <a:ahLst/>
            <a:cxnLst>
              <a:cxn ang="0">
                <a:pos x="connsiteX0" y="connsiteY0"/>
              </a:cxn>
              <a:cxn ang="0">
                <a:pos x="connsiteX1" y="connsiteY1"/>
              </a:cxn>
              <a:cxn ang="0">
                <a:pos x="connsiteX2" y="connsiteY2"/>
              </a:cxn>
            </a:cxnLst>
            <a:rect l="l" t="t" r="r" b="b"/>
            <a:pathLst>
              <a:path w="1071608" h="795528">
                <a:moveTo>
                  <a:pt x="870440" y="0"/>
                </a:moveTo>
                <a:cubicBezTo>
                  <a:pt x="419336" y="171450"/>
                  <a:pt x="-31768" y="342900"/>
                  <a:pt x="1760" y="475488"/>
                </a:cubicBezTo>
                <a:cubicBezTo>
                  <a:pt x="35288" y="608076"/>
                  <a:pt x="553448" y="701802"/>
                  <a:pt x="1071608" y="795528"/>
                </a:cubicBezTo>
              </a:path>
            </a:pathLst>
          </a:custGeom>
          <a:noFill/>
          <a:ln>
            <a:solidFill>
              <a:srgbClr val="FF0000"/>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Brace 7"/>
          <p:cNvSpPr/>
          <p:nvPr/>
        </p:nvSpPr>
        <p:spPr>
          <a:xfrm>
            <a:off x="7833994" y="2956988"/>
            <a:ext cx="353885" cy="2209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8109583" y="3461723"/>
            <a:ext cx="966058" cy="1200329"/>
          </a:xfrm>
          <a:prstGeom prst="rect">
            <a:avLst/>
          </a:prstGeom>
          <a:noFill/>
        </p:spPr>
        <p:txBody>
          <a:bodyPr wrap="square" rtlCol="0">
            <a:spAutoFit/>
          </a:bodyPr>
          <a:lstStyle/>
          <a:p>
            <a:pPr algn="ctr"/>
            <a:r>
              <a:rPr lang="en-US" sz="1800" dirty="0">
                <a:solidFill>
                  <a:srgbClr val="FF0000"/>
                </a:solidFill>
              </a:rPr>
              <a:t>These are </a:t>
            </a:r>
            <a:r>
              <a:rPr lang="en-US" sz="1800" i="1" dirty="0">
                <a:solidFill>
                  <a:srgbClr val="FF0000"/>
                </a:solidFill>
              </a:rPr>
              <a:t>utilities</a:t>
            </a:r>
          </a:p>
          <a:p>
            <a:pPr algn="ctr"/>
            <a:r>
              <a:rPr lang="en-US" sz="1800" dirty="0">
                <a:solidFill>
                  <a:srgbClr val="FF0000"/>
                </a:solidFill>
              </a:rPr>
              <a:t>(in $)</a:t>
            </a:r>
          </a:p>
        </p:txBody>
      </p:sp>
      <p:sp>
        <p:nvSpPr>
          <p:cNvPr id="4" name="Rectangle 3"/>
          <p:cNvSpPr/>
          <p:nvPr/>
        </p:nvSpPr>
        <p:spPr>
          <a:xfrm>
            <a:off x="1143000" y="1710035"/>
            <a:ext cx="3200400" cy="307777"/>
          </a:xfrm>
          <a:prstGeom prst="rect">
            <a:avLst/>
          </a:prstGeom>
        </p:spPr>
        <p:txBody>
          <a:bodyPr wrap="square">
            <a:spAutoFit/>
          </a:bodyPr>
          <a:lstStyle/>
          <a:p>
            <a:pPr>
              <a:buNone/>
              <a:defRPr/>
            </a:pPr>
            <a:r>
              <a:rPr lang="en-US" sz="1400" b="1" dirty="0"/>
              <a:t>Base model</a:t>
            </a:r>
            <a:r>
              <a:rPr lang="en-US" sz="1400" dirty="0"/>
              <a:t>: {Canon, 5 MP, no DSLR}</a:t>
            </a:r>
          </a:p>
        </p:txBody>
      </p:sp>
      <p:sp>
        <p:nvSpPr>
          <p:cNvPr id="10" name="Rectangle 9"/>
          <p:cNvSpPr/>
          <p:nvPr/>
        </p:nvSpPr>
        <p:spPr>
          <a:xfrm>
            <a:off x="3026280" y="5565047"/>
            <a:ext cx="3529812" cy="738664"/>
          </a:xfrm>
          <a:prstGeom prst="rect">
            <a:avLst/>
          </a:prstGeom>
        </p:spPr>
        <p:txBody>
          <a:bodyPr wrap="none">
            <a:spAutoFit/>
          </a:bodyPr>
          <a:lstStyle/>
          <a:p>
            <a:pPr algn="ctr"/>
            <a:r>
              <a:rPr lang="en-US" b="1" dirty="0"/>
              <a:t>Conjoint Analysis Results</a:t>
            </a:r>
          </a:p>
          <a:p>
            <a:pPr algn="ctr"/>
            <a:r>
              <a:rPr lang="en-US" sz="1800" b="1" dirty="0"/>
              <a:t>(marketing research on customer)</a:t>
            </a:r>
          </a:p>
        </p:txBody>
      </p:sp>
      <p:graphicFrame>
        <p:nvGraphicFramePr>
          <p:cNvPr id="5" name="Table 4"/>
          <p:cNvGraphicFramePr>
            <a:graphicFrameLocks noGrp="1"/>
          </p:cNvGraphicFramePr>
          <p:nvPr>
            <p:extLst>
              <p:ext uri="{D42A27DB-BD31-4B8C-83A1-F6EECF244321}">
                <p14:modId xmlns:p14="http://schemas.microsoft.com/office/powerpoint/2010/main" val="2394173594"/>
              </p:ext>
            </p:extLst>
          </p:nvPr>
        </p:nvGraphicFramePr>
        <p:xfrm>
          <a:off x="1600199" y="2176687"/>
          <a:ext cx="6096000" cy="3388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388861514"/>
                    </a:ext>
                  </a:extLst>
                </a:gridCol>
                <a:gridCol w="1524000">
                  <a:extLst>
                    <a:ext uri="{9D8B030D-6E8A-4147-A177-3AD203B41FA5}">
                      <a16:colId xmlns:a16="http://schemas.microsoft.com/office/drawing/2014/main" val="804506040"/>
                    </a:ext>
                  </a:extLst>
                </a:gridCol>
                <a:gridCol w="1524000">
                  <a:extLst>
                    <a:ext uri="{9D8B030D-6E8A-4147-A177-3AD203B41FA5}">
                      <a16:colId xmlns:a16="http://schemas.microsoft.com/office/drawing/2014/main" val="3206249871"/>
                    </a:ext>
                  </a:extLst>
                </a:gridCol>
                <a:gridCol w="1524000">
                  <a:extLst>
                    <a:ext uri="{9D8B030D-6E8A-4147-A177-3AD203B41FA5}">
                      <a16:colId xmlns:a16="http://schemas.microsoft.com/office/drawing/2014/main" val="477268221"/>
                    </a:ext>
                  </a:extLst>
                </a:gridCol>
              </a:tblGrid>
              <a:tr h="370840">
                <a:tc>
                  <a:txBody>
                    <a:bodyPr/>
                    <a:lstStyle/>
                    <a:p>
                      <a:endParaRPr lang="en-US" dirty="0"/>
                    </a:p>
                  </a:txBody>
                  <a:tcPr/>
                </a:tc>
                <a:tc gridSpan="3">
                  <a:txBody>
                    <a:bodyPr/>
                    <a:lstStyle/>
                    <a:p>
                      <a:pPr algn="ctr"/>
                      <a:r>
                        <a:rPr lang="en-US" sz="2000" dirty="0"/>
                        <a:t>Consumer Preferences</a:t>
                      </a:r>
                    </a:p>
                  </a:txBody>
                  <a:tcPr anchor="ctr"/>
                </a:tc>
                <a:tc hMerge="1">
                  <a:txBody>
                    <a:bodyPr/>
                    <a:lstStyle/>
                    <a:p>
                      <a:pPr algn="ctr"/>
                      <a:endParaRPr lang="en-US" sz="2000" dirty="0"/>
                    </a:p>
                  </a:txBody>
                  <a:tcPr anchor="ctr"/>
                </a:tc>
                <a:tc hMerge="1">
                  <a:txBody>
                    <a:bodyPr/>
                    <a:lstStyle/>
                    <a:p>
                      <a:pPr algn="ctr"/>
                      <a:endParaRPr lang="en-US" sz="2000" dirty="0"/>
                    </a:p>
                  </a:txBody>
                  <a:tcPr anchor="ctr"/>
                </a:tc>
                <a:extLst>
                  <a:ext uri="{0D108BD9-81ED-4DB2-BD59-A6C34878D82A}">
                    <a16:rowId xmlns:a16="http://schemas.microsoft.com/office/drawing/2014/main" val="2681283532"/>
                  </a:ext>
                </a:extLst>
              </a:tr>
              <a:tr h="370840">
                <a:tc>
                  <a:txBody>
                    <a:bodyPr/>
                    <a:lstStyle/>
                    <a:p>
                      <a:r>
                        <a:rPr lang="en-US" dirty="0"/>
                        <a:t>Features</a:t>
                      </a:r>
                    </a:p>
                  </a:txBody>
                  <a:tcPr/>
                </a:tc>
                <a:tc>
                  <a:txBody>
                    <a:bodyPr/>
                    <a:lstStyle/>
                    <a:p>
                      <a:pPr algn="ctr"/>
                      <a:r>
                        <a:rPr lang="en-US" sz="2000" dirty="0"/>
                        <a:t>Segment</a:t>
                      </a:r>
                      <a:r>
                        <a:rPr lang="en-US" sz="2000" baseline="0" dirty="0"/>
                        <a:t> A</a:t>
                      </a:r>
                      <a:endParaRPr lang="en-US" sz="2000" dirty="0"/>
                    </a:p>
                  </a:txBody>
                  <a:tcPr anchor="ctr"/>
                </a:tc>
                <a:tc>
                  <a:txBody>
                    <a:bodyPr/>
                    <a:lstStyle/>
                    <a:p>
                      <a:pPr algn="ctr"/>
                      <a:r>
                        <a:rPr lang="en-US" sz="2000" dirty="0"/>
                        <a:t>Segment B</a:t>
                      </a:r>
                    </a:p>
                  </a:txBody>
                  <a:tcPr anchor="ctr"/>
                </a:tc>
                <a:tc>
                  <a:txBody>
                    <a:bodyPr/>
                    <a:lstStyle/>
                    <a:p>
                      <a:pPr algn="ctr"/>
                      <a:r>
                        <a:rPr lang="en-US" sz="2000" dirty="0"/>
                        <a:t>Segment C</a:t>
                      </a:r>
                    </a:p>
                  </a:txBody>
                  <a:tcPr anchor="ctr"/>
                </a:tc>
                <a:extLst>
                  <a:ext uri="{0D108BD9-81ED-4DB2-BD59-A6C34878D82A}">
                    <a16:rowId xmlns:a16="http://schemas.microsoft.com/office/drawing/2014/main" val="2270310121"/>
                  </a:ext>
                </a:extLst>
              </a:tr>
              <a:tr h="370840">
                <a:tc>
                  <a:txBody>
                    <a:bodyPr/>
                    <a:lstStyle/>
                    <a:p>
                      <a:pPr algn="l"/>
                      <a:r>
                        <a:rPr lang="en-US" b="1" dirty="0"/>
                        <a:t>Base Model</a:t>
                      </a:r>
                    </a:p>
                  </a:txBody>
                  <a:tcPr anchor="ctr"/>
                </a:tc>
                <a:tc>
                  <a:txBody>
                    <a:bodyPr/>
                    <a:lstStyle/>
                    <a:p>
                      <a:pPr algn="ctr"/>
                      <a:r>
                        <a:rPr lang="en-US" dirty="0"/>
                        <a:t>$ 350</a:t>
                      </a:r>
                    </a:p>
                  </a:txBody>
                  <a:tcPr anchor="ctr"/>
                </a:tc>
                <a:tc>
                  <a:txBody>
                    <a:bodyPr/>
                    <a:lstStyle/>
                    <a:p>
                      <a:pPr algn="ctr"/>
                      <a:r>
                        <a:rPr lang="en-US" dirty="0"/>
                        <a:t>$ 280</a:t>
                      </a:r>
                    </a:p>
                  </a:txBody>
                  <a:tcPr anchor="ctr"/>
                </a:tc>
                <a:tc>
                  <a:txBody>
                    <a:bodyPr/>
                    <a:lstStyle/>
                    <a:p>
                      <a:pPr algn="ctr"/>
                      <a:r>
                        <a:rPr lang="en-US" dirty="0"/>
                        <a:t>$ 320</a:t>
                      </a:r>
                    </a:p>
                  </a:txBody>
                  <a:tcPr anchor="ctr"/>
                </a:tc>
                <a:extLst>
                  <a:ext uri="{0D108BD9-81ED-4DB2-BD59-A6C34878D82A}">
                    <a16:rowId xmlns:a16="http://schemas.microsoft.com/office/drawing/2014/main" val="2743391047"/>
                  </a:ext>
                </a:extLst>
              </a:tr>
              <a:tr h="370840">
                <a:tc>
                  <a:txBody>
                    <a:bodyPr/>
                    <a:lstStyle/>
                    <a:p>
                      <a:pPr algn="l"/>
                      <a:r>
                        <a:rPr lang="en-US" b="1" dirty="0"/>
                        <a:t>MP:</a:t>
                      </a:r>
                      <a:r>
                        <a:rPr lang="en-US" b="1" baseline="0" dirty="0"/>
                        <a:t> 10</a:t>
                      </a:r>
                      <a:endParaRPr lang="en-US" b="1" dirty="0"/>
                    </a:p>
                  </a:txBody>
                  <a:tcPr anchor="ctr"/>
                </a:tc>
                <a:tc>
                  <a:txBody>
                    <a:bodyPr/>
                    <a:lstStyle/>
                    <a:p>
                      <a:pPr algn="ctr"/>
                      <a:r>
                        <a:rPr lang="en-US" dirty="0"/>
                        <a:t>$ 100</a:t>
                      </a:r>
                    </a:p>
                  </a:txBody>
                  <a:tcPr anchor="ctr"/>
                </a:tc>
                <a:tc>
                  <a:txBody>
                    <a:bodyPr/>
                    <a:lstStyle/>
                    <a:p>
                      <a:pPr algn="ctr"/>
                      <a:r>
                        <a:rPr lang="en-US" dirty="0"/>
                        <a:t>$   28</a:t>
                      </a:r>
                    </a:p>
                  </a:txBody>
                  <a:tcPr anchor="ctr"/>
                </a:tc>
                <a:tc>
                  <a:txBody>
                    <a:bodyPr/>
                    <a:lstStyle/>
                    <a:p>
                      <a:pPr algn="ctr"/>
                      <a:r>
                        <a:rPr lang="en-US" dirty="0"/>
                        <a:t>$   33</a:t>
                      </a:r>
                    </a:p>
                  </a:txBody>
                  <a:tcPr anchor="ctr"/>
                </a:tc>
                <a:extLst>
                  <a:ext uri="{0D108BD9-81ED-4DB2-BD59-A6C34878D82A}">
                    <a16:rowId xmlns:a16="http://schemas.microsoft.com/office/drawing/2014/main" val="1819367801"/>
                  </a:ext>
                </a:extLst>
              </a:tr>
              <a:tr h="370840">
                <a:tc>
                  <a:txBody>
                    <a:bodyPr/>
                    <a:lstStyle/>
                    <a:p>
                      <a:pPr algn="l"/>
                      <a:r>
                        <a:rPr lang="en-US" b="1" dirty="0"/>
                        <a:t>MP: 12.2</a:t>
                      </a:r>
                    </a:p>
                  </a:txBody>
                  <a:tcPr anchor="ctr"/>
                </a:tc>
                <a:tc>
                  <a:txBody>
                    <a:bodyPr/>
                    <a:lstStyle/>
                    <a:p>
                      <a:pPr algn="ctr"/>
                      <a:r>
                        <a:rPr lang="en-US" dirty="0"/>
                        <a:t>$ 120</a:t>
                      </a:r>
                    </a:p>
                  </a:txBody>
                  <a:tcPr anchor="ctr"/>
                </a:tc>
                <a:tc>
                  <a:txBody>
                    <a:bodyPr/>
                    <a:lstStyle/>
                    <a:p>
                      <a:pPr algn="ctr"/>
                      <a:r>
                        <a:rPr lang="en-US" dirty="0"/>
                        <a:t>$   40</a:t>
                      </a:r>
                    </a:p>
                  </a:txBody>
                  <a:tcPr anchor="ctr"/>
                </a:tc>
                <a:tc>
                  <a:txBody>
                    <a:bodyPr/>
                    <a:lstStyle/>
                    <a:p>
                      <a:pPr algn="ctr"/>
                      <a:r>
                        <a:rPr lang="en-US" dirty="0"/>
                        <a:t>$   60</a:t>
                      </a:r>
                    </a:p>
                  </a:txBody>
                  <a:tcPr anchor="ctr"/>
                </a:tc>
                <a:extLst>
                  <a:ext uri="{0D108BD9-81ED-4DB2-BD59-A6C34878D82A}">
                    <a16:rowId xmlns:a16="http://schemas.microsoft.com/office/drawing/2014/main" val="2709359626"/>
                  </a:ext>
                </a:extLst>
              </a:tr>
              <a:tr h="370840">
                <a:tc>
                  <a:txBody>
                    <a:bodyPr/>
                    <a:lstStyle/>
                    <a:p>
                      <a:pPr algn="l"/>
                      <a:r>
                        <a:rPr lang="en-US" b="1" dirty="0"/>
                        <a:t>Sony</a:t>
                      </a:r>
                    </a:p>
                  </a:txBody>
                  <a:tcPr anchor="ctr"/>
                </a:tc>
                <a:tc>
                  <a:txBody>
                    <a:bodyPr/>
                    <a:lstStyle/>
                    <a:p>
                      <a:pPr algn="ctr"/>
                      <a:r>
                        <a:rPr lang="en-US" dirty="0"/>
                        <a:t>$ </a:t>
                      </a:r>
                      <a:r>
                        <a:rPr lang="en-US" baseline="0" dirty="0"/>
                        <a:t> (50)</a:t>
                      </a:r>
                      <a:endParaRPr lang="en-US" dirty="0"/>
                    </a:p>
                  </a:txBody>
                  <a:tcPr anchor="ctr"/>
                </a:tc>
                <a:tc>
                  <a:txBody>
                    <a:bodyPr/>
                    <a:lstStyle/>
                    <a:p>
                      <a:pPr algn="ctr"/>
                      <a:r>
                        <a:rPr lang="en-US" dirty="0"/>
                        <a:t>$   40</a:t>
                      </a:r>
                    </a:p>
                  </a:txBody>
                  <a:tcPr anchor="ctr"/>
                </a:tc>
                <a:tc>
                  <a:txBody>
                    <a:bodyPr/>
                    <a:lstStyle/>
                    <a:p>
                      <a:pPr algn="ctr"/>
                      <a:r>
                        <a:rPr lang="en-US" dirty="0"/>
                        <a:t>$  (67)</a:t>
                      </a:r>
                    </a:p>
                  </a:txBody>
                  <a:tcPr anchor="ctr"/>
                </a:tc>
                <a:extLst>
                  <a:ext uri="{0D108BD9-81ED-4DB2-BD59-A6C34878D82A}">
                    <a16:rowId xmlns:a16="http://schemas.microsoft.com/office/drawing/2014/main" val="1976008793"/>
                  </a:ext>
                </a:extLst>
              </a:tr>
              <a:tr h="370840">
                <a:tc>
                  <a:txBody>
                    <a:bodyPr/>
                    <a:lstStyle/>
                    <a:p>
                      <a:pPr algn="l"/>
                      <a:r>
                        <a:rPr lang="en-US" b="1" dirty="0"/>
                        <a:t>Olympus</a:t>
                      </a:r>
                    </a:p>
                  </a:txBody>
                  <a:tcPr anchor="ctr"/>
                </a:tc>
                <a:tc>
                  <a:txBody>
                    <a:bodyPr/>
                    <a:lstStyle/>
                    <a:p>
                      <a:pPr algn="ctr"/>
                      <a:r>
                        <a:rPr lang="en-US" dirty="0"/>
                        <a:t>$ 100</a:t>
                      </a:r>
                    </a:p>
                  </a:txBody>
                  <a:tcPr anchor="ctr"/>
                </a:tc>
                <a:tc>
                  <a:txBody>
                    <a:bodyPr/>
                    <a:lstStyle/>
                    <a:p>
                      <a:pPr algn="ctr"/>
                      <a:r>
                        <a:rPr lang="en-US" dirty="0"/>
                        <a:t>$   48</a:t>
                      </a:r>
                    </a:p>
                  </a:txBody>
                  <a:tcPr anchor="ctr"/>
                </a:tc>
                <a:tc>
                  <a:txBody>
                    <a:bodyPr/>
                    <a:lstStyle/>
                    <a:p>
                      <a:pPr algn="ctr"/>
                      <a:r>
                        <a:rPr lang="en-US" dirty="0"/>
                        <a:t>$   33</a:t>
                      </a:r>
                    </a:p>
                  </a:txBody>
                  <a:tcPr anchor="ctr"/>
                </a:tc>
                <a:extLst>
                  <a:ext uri="{0D108BD9-81ED-4DB2-BD59-A6C34878D82A}">
                    <a16:rowId xmlns:a16="http://schemas.microsoft.com/office/drawing/2014/main" val="2540263358"/>
                  </a:ext>
                </a:extLst>
              </a:tr>
              <a:tr h="370840">
                <a:tc>
                  <a:txBody>
                    <a:bodyPr/>
                    <a:lstStyle/>
                    <a:p>
                      <a:pPr algn="l"/>
                      <a:r>
                        <a:rPr lang="en-US" b="1" dirty="0"/>
                        <a:t>DSLR</a:t>
                      </a:r>
                    </a:p>
                  </a:txBody>
                  <a:tcPr anchor="ctr">
                    <a:lnB w="12700" cap="flat" cmpd="sng" algn="ctr">
                      <a:solidFill>
                        <a:schemeClr val="tx1"/>
                      </a:solidFill>
                      <a:prstDash val="solid"/>
                      <a:round/>
                      <a:headEnd type="none" w="med" len="med"/>
                      <a:tailEnd type="none" w="med" len="med"/>
                    </a:lnB>
                  </a:tcPr>
                </a:tc>
                <a:tc>
                  <a:txBody>
                    <a:bodyPr/>
                    <a:lstStyle/>
                    <a:p>
                      <a:pPr algn="ctr"/>
                      <a:r>
                        <a:rPr lang="en-US" dirty="0"/>
                        <a:t>$   50</a:t>
                      </a:r>
                    </a:p>
                  </a:txBody>
                  <a:tcPr anchor="ctr">
                    <a:lnB w="12700" cap="flat" cmpd="sng" algn="ctr">
                      <a:solidFill>
                        <a:schemeClr val="tx1"/>
                      </a:solidFill>
                      <a:prstDash val="solid"/>
                      <a:round/>
                      <a:headEnd type="none" w="med" len="med"/>
                      <a:tailEnd type="none" w="med" len="med"/>
                    </a:lnB>
                  </a:tcPr>
                </a:tc>
                <a:tc>
                  <a:txBody>
                    <a:bodyPr/>
                    <a:lstStyle/>
                    <a:p>
                      <a:pPr algn="ctr"/>
                      <a:r>
                        <a:rPr lang="en-US" dirty="0"/>
                        <a:t>$   28</a:t>
                      </a:r>
                    </a:p>
                  </a:txBody>
                  <a:tcPr anchor="ctr">
                    <a:lnB w="12700" cap="flat" cmpd="sng" algn="ctr">
                      <a:solidFill>
                        <a:schemeClr val="tx1"/>
                      </a:solidFill>
                      <a:prstDash val="solid"/>
                      <a:round/>
                      <a:headEnd type="none" w="med" len="med"/>
                      <a:tailEnd type="none" w="med" len="med"/>
                    </a:lnB>
                  </a:tcPr>
                </a:tc>
                <a:tc>
                  <a:txBody>
                    <a:bodyPr/>
                    <a:lstStyle/>
                    <a:p>
                      <a:pPr algn="ctr"/>
                      <a:r>
                        <a:rPr lang="en-US" dirty="0"/>
                        <a:t>$   27</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622831"/>
                  </a:ext>
                </a:extLst>
              </a:tr>
              <a:tr h="370840">
                <a:tc>
                  <a:txBody>
                    <a:bodyPr/>
                    <a:lstStyle/>
                    <a:p>
                      <a:pPr algn="l"/>
                      <a:r>
                        <a:rPr lang="en-US" dirty="0"/>
                        <a:t>Segment</a:t>
                      </a:r>
                      <a:r>
                        <a:rPr lang="en-US" baseline="0" dirty="0"/>
                        <a:t> size</a:t>
                      </a:r>
                      <a:endParaRPr lang="en-US" dirty="0"/>
                    </a:p>
                  </a:txBody>
                  <a:tcPr anchor="ctr">
                    <a:lnT w="12700" cap="flat" cmpd="sng" algn="ctr">
                      <a:solidFill>
                        <a:schemeClr val="tx1"/>
                      </a:solidFill>
                      <a:prstDash val="solid"/>
                      <a:round/>
                      <a:headEnd type="none" w="med" len="med"/>
                      <a:tailEnd type="none" w="med" len="med"/>
                    </a:lnT>
                  </a:tcPr>
                </a:tc>
                <a:tc>
                  <a:txBody>
                    <a:bodyPr/>
                    <a:lstStyle/>
                    <a:p>
                      <a:pPr algn="ctr"/>
                      <a:r>
                        <a:rPr lang="en-US" dirty="0"/>
                        <a:t>40%</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20%</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40%</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54683382"/>
                  </a:ext>
                </a:extLst>
              </a:tr>
            </a:tbl>
          </a:graphicData>
        </a:graphic>
      </p:graphicFrame>
      <p:sp>
        <p:nvSpPr>
          <p:cNvPr id="16" name="Title 1"/>
          <p:cNvSpPr>
            <a:spLocks noGrp="1"/>
          </p:cNvSpPr>
          <p:nvPr>
            <p:ph type="title"/>
          </p:nvPr>
        </p:nvSpPr>
        <p:spPr>
          <a:xfrm>
            <a:off x="612648" y="228600"/>
            <a:ext cx="8153400" cy="990600"/>
          </a:xfrm>
        </p:spPr>
        <p:txBody>
          <a:bodyPr>
            <a:normAutofit fontScale="90000"/>
          </a:bodyPr>
          <a:lstStyle/>
          <a:p>
            <a:r>
              <a:rPr lang="en-US" sz="4400" dirty="0"/>
              <a:t>Market Analysis: Pre Olympus Launch</a:t>
            </a:r>
            <a:br>
              <a:rPr lang="en-US" sz="4400" dirty="0"/>
            </a:br>
            <a:r>
              <a:rPr lang="en-US" sz="3600" dirty="0"/>
              <a:t>   Assess Incumbent Market</a:t>
            </a:r>
          </a:p>
        </p:txBody>
      </p:sp>
      <p:sp>
        <p:nvSpPr>
          <p:cNvPr id="17" name="Text Placeholder 3"/>
          <p:cNvSpPr txBox="1">
            <a:spLocks/>
          </p:cNvSpPr>
          <p:nvPr/>
        </p:nvSpPr>
        <p:spPr>
          <a:xfrm>
            <a:off x="551191" y="815816"/>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435608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2648" y="4648200"/>
            <a:ext cx="8153400" cy="2057400"/>
          </a:xfrm>
        </p:spPr>
        <p:txBody>
          <a:bodyPr>
            <a:normAutofit fontScale="92500" lnSpcReduction="10000"/>
          </a:bodyPr>
          <a:lstStyle/>
          <a:p>
            <a:r>
              <a:rPr lang="en-US" dirty="0"/>
              <a:t>Incumbent products already in the market are:</a:t>
            </a:r>
          </a:p>
          <a:p>
            <a:pPr lvl="1"/>
            <a:r>
              <a:rPr lang="en-US" dirty="0"/>
              <a:t>Canon base model at $280</a:t>
            </a:r>
          </a:p>
          <a:p>
            <a:pPr lvl="1"/>
            <a:r>
              <a:rPr lang="en-US" dirty="0"/>
              <a:t>Sony base model at $250</a:t>
            </a:r>
          </a:p>
          <a:p>
            <a:endParaRPr lang="en-US" dirty="0"/>
          </a:p>
          <a:p>
            <a:r>
              <a:rPr lang="en-US" dirty="0">
                <a:solidFill>
                  <a:srgbClr val="00B050"/>
                </a:solidFill>
              </a:rPr>
              <a:t>What is EVC for Canon pre Olympus launch?</a:t>
            </a:r>
          </a:p>
          <a:p>
            <a:pPr lvl="1"/>
            <a:endParaRPr lang="en-US" dirty="0"/>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11</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172913967"/>
              </p:ext>
            </p:extLst>
          </p:nvPr>
        </p:nvGraphicFramePr>
        <p:xfrm>
          <a:off x="1641348" y="1548720"/>
          <a:ext cx="6096000" cy="29921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388861514"/>
                    </a:ext>
                  </a:extLst>
                </a:gridCol>
                <a:gridCol w="1524000">
                  <a:extLst>
                    <a:ext uri="{9D8B030D-6E8A-4147-A177-3AD203B41FA5}">
                      <a16:colId xmlns:a16="http://schemas.microsoft.com/office/drawing/2014/main" val="804506040"/>
                    </a:ext>
                  </a:extLst>
                </a:gridCol>
                <a:gridCol w="1524000">
                  <a:extLst>
                    <a:ext uri="{9D8B030D-6E8A-4147-A177-3AD203B41FA5}">
                      <a16:colId xmlns:a16="http://schemas.microsoft.com/office/drawing/2014/main" val="3206249871"/>
                    </a:ext>
                  </a:extLst>
                </a:gridCol>
                <a:gridCol w="1524000">
                  <a:extLst>
                    <a:ext uri="{9D8B030D-6E8A-4147-A177-3AD203B41FA5}">
                      <a16:colId xmlns:a16="http://schemas.microsoft.com/office/drawing/2014/main" val="477268221"/>
                    </a:ext>
                  </a:extLst>
                </a:gridCol>
              </a:tblGrid>
              <a:tr h="370840">
                <a:tc>
                  <a:txBody>
                    <a:bodyPr/>
                    <a:lstStyle/>
                    <a:p>
                      <a:endParaRPr lang="en-US" dirty="0"/>
                    </a:p>
                  </a:txBody>
                  <a:tcPr/>
                </a:tc>
                <a:tc>
                  <a:txBody>
                    <a:bodyPr/>
                    <a:lstStyle/>
                    <a:p>
                      <a:pPr algn="ctr"/>
                      <a:r>
                        <a:rPr lang="en-US" sz="2000" dirty="0"/>
                        <a:t>Segment</a:t>
                      </a:r>
                      <a:r>
                        <a:rPr lang="en-US" sz="2000" baseline="0" dirty="0"/>
                        <a:t> A</a:t>
                      </a:r>
                      <a:endParaRPr lang="en-US" sz="2000" dirty="0"/>
                    </a:p>
                  </a:txBody>
                  <a:tcPr anchor="ctr"/>
                </a:tc>
                <a:tc>
                  <a:txBody>
                    <a:bodyPr/>
                    <a:lstStyle/>
                    <a:p>
                      <a:pPr algn="ctr"/>
                      <a:r>
                        <a:rPr lang="en-US" sz="2000" dirty="0"/>
                        <a:t>Segment B</a:t>
                      </a:r>
                    </a:p>
                  </a:txBody>
                  <a:tcPr anchor="ctr"/>
                </a:tc>
                <a:tc>
                  <a:txBody>
                    <a:bodyPr/>
                    <a:lstStyle/>
                    <a:p>
                      <a:pPr algn="ctr"/>
                      <a:r>
                        <a:rPr lang="en-US" sz="2000" dirty="0"/>
                        <a:t>Segment C</a:t>
                      </a:r>
                    </a:p>
                  </a:txBody>
                  <a:tcPr anchor="ctr"/>
                </a:tc>
                <a:extLst>
                  <a:ext uri="{0D108BD9-81ED-4DB2-BD59-A6C34878D82A}">
                    <a16:rowId xmlns:a16="http://schemas.microsoft.com/office/drawing/2014/main" val="2270310121"/>
                  </a:ext>
                </a:extLst>
              </a:tr>
              <a:tr h="370840">
                <a:tc>
                  <a:txBody>
                    <a:bodyPr/>
                    <a:lstStyle/>
                    <a:p>
                      <a:pPr algn="l"/>
                      <a:r>
                        <a:rPr lang="en-US" b="1" dirty="0"/>
                        <a:t>Base</a:t>
                      </a:r>
                    </a:p>
                  </a:txBody>
                  <a:tcPr anchor="ctr"/>
                </a:tc>
                <a:tc>
                  <a:txBody>
                    <a:bodyPr/>
                    <a:lstStyle/>
                    <a:p>
                      <a:pPr algn="ctr"/>
                      <a:r>
                        <a:rPr lang="en-US" dirty="0"/>
                        <a:t>$ 350</a:t>
                      </a:r>
                    </a:p>
                  </a:txBody>
                  <a:tcPr anchor="ctr"/>
                </a:tc>
                <a:tc>
                  <a:txBody>
                    <a:bodyPr/>
                    <a:lstStyle/>
                    <a:p>
                      <a:pPr algn="ctr"/>
                      <a:r>
                        <a:rPr lang="en-US" dirty="0"/>
                        <a:t>$ 280</a:t>
                      </a:r>
                    </a:p>
                  </a:txBody>
                  <a:tcPr anchor="ctr"/>
                </a:tc>
                <a:tc>
                  <a:txBody>
                    <a:bodyPr/>
                    <a:lstStyle/>
                    <a:p>
                      <a:pPr algn="ctr"/>
                      <a:r>
                        <a:rPr lang="en-US" dirty="0"/>
                        <a:t>$ 320</a:t>
                      </a:r>
                    </a:p>
                  </a:txBody>
                  <a:tcPr anchor="ctr"/>
                </a:tc>
                <a:extLst>
                  <a:ext uri="{0D108BD9-81ED-4DB2-BD59-A6C34878D82A}">
                    <a16:rowId xmlns:a16="http://schemas.microsoft.com/office/drawing/2014/main" val="2743391047"/>
                  </a:ext>
                </a:extLst>
              </a:tr>
              <a:tr h="370840">
                <a:tc>
                  <a:txBody>
                    <a:bodyPr/>
                    <a:lstStyle/>
                    <a:p>
                      <a:pPr algn="l"/>
                      <a:r>
                        <a:rPr lang="en-US" b="1" dirty="0"/>
                        <a:t>MP:</a:t>
                      </a:r>
                      <a:r>
                        <a:rPr lang="en-US" b="1" baseline="0" dirty="0"/>
                        <a:t> 10</a:t>
                      </a:r>
                      <a:endParaRPr lang="en-US" b="1" dirty="0"/>
                    </a:p>
                  </a:txBody>
                  <a:tcPr anchor="ctr"/>
                </a:tc>
                <a:tc>
                  <a:txBody>
                    <a:bodyPr/>
                    <a:lstStyle/>
                    <a:p>
                      <a:pPr algn="ctr"/>
                      <a:r>
                        <a:rPr lang="en-US" dirty="0"/>
                        <a:t>$ 100</a:t>
                      </a:r>
                    </a:p>
                  </a:txBody>
                  <a:tcPr anchor="ctr"/>
                </a:tc>
                <a:tc>
                  <a:txBody>
                    <a:bodyPr/>
                    <a:lstStyle/>
                    <a:p>
                      <a:pPr algn="ctr"/>
                      <a:r>
                        <a:rPr lang="en-US" dirty="0"/>
                        <a:t>$   28</a:t>
                      </a:r>
                    </a:p>
                  </a:txBody>
                  <a:tcPr anchor="ctr"/>
                </a:tc>
                <a:tc>
                  <a:txBody>
                    <a:bodyPr/>
                    <a:lstStyle/>
                    <a:p>
                      <a:pPr algn="ctr"/>
                      <a:r>
                        <a:rPr lang="en-US" dirty="0"/>
                        <a:t>$   33</a:t>
                      </a:r>
                    </a:p>
                  </a:txBody>
                  <a:tcPr anchor="ctr"/>
                </a:tc>
                <a:extLst>
                  <a:ext uri="{0D108BD9-81ED-4DB2-BD59-A6C34878D82A}">
                    <a16:rowId xmlns:a16="http://schemas.microsoft.com/office/drawing/2014/main" val="1819367801"/>
                  </a:ext>
                </a:extLst>
              </a:tr>
              <a:tr h="370840">
                <a:tc>
                  <a:txBody>
                    <a:bodyPr/>
                    <a:lstStyle/>
                    <a:p>
                      <a:pPr algn="l"/>
                      <a:r>
                        <a:rPr lang="en-US" b="1" dirty="0"/>
                        <a:t>MP: 12.2</a:t>
                      </a:r>
                    </a:p>
                  </a:txBody>
                  <a:tcPr anchor="ctr"/>
                </a:tc>
                <a:tc>
                  <a:txBody>
                    <a:bodyPr/>
                    <a:lstStyle/>
                    <a:p>
                      <a:pPr algn="ctr"/>
                      <a:r>
                        <a:rPr lang="en-US" dirty="0"/>
                        <a:t>$ 120</a:t>
                      </a:r>
                    </a:p>
                  </a:txBody>
                  <a:tcPr anchor="ctr"/>
                </a:tc>
                <a:tc>
                  <a:txBody>
                    <a:bodyPr/>
                    <a:lstStyle/>
                    <a:p>
                      <a:pPr algn="ctr"/>
                      <a:r>
                        <a:rPr lang="en-US" dirty="0"/>
                        <a:t>$   40</a:t>
                      </a:r>
                    </a:p>
                  </a:txBody>
                  <a:tcPr anchor="ctr"/>
                </a:tc>
                <a:tc>
                  <a:txBody>
                    <a:bodyPr/>
                    <a:lstStyle/>
                    <a:p>
                      <a:pPr algn="ctr"/>
                      <a:r>
                        <a:rPr lang="en-US" dirty="0"/>
                        <a:t>$   60</a:t>
                      </a:r>
                    </a:p>
                  </a:txBody>
                  <a:tcPr anchor="ctr"/>
                </a:tc>
                <a:extLst>
                  <a:ext uri="{0D108BD9-81ED-4DB2-BD59-A6C34878D82A}">
                    <a16:rowId xmlns:a16="http://schemas.microsoft.com/office/drawing/2014/main" val="2709359626"/>
                  </a:ext>
                </a:extLst>
              </a:tr>
              <a:tr h="370840">
                <a:tc>
                  <a:txBody>
                    <a:bodyPr/>
                    <a:lstStyle/>
                    <a:p>
                      <a:pPr algn="l"/>
                      <a:r>
                        <a:rPr lang="en-US" b="1" dirty="0"/>
                        <a:t>Sony</a:t>
                      </a:r>
                    </a:p>
                  </a:txBody>
                  <a:tcPr anchor="ctr"/>
                </a:tc>
                <a:tc>
                  <a:txBody>
                    <a:bodyPr/>
                    <a:lstStyle/>
                    <a:p>
                      <a:pPr algn="ctr"/>
                      <a:r>
                        <a:rPr lang="en-US" dirty="0"/>
                        <a:t>$ </a:t>
                      </a:r>
                      <a:r>
                        <a:rPr lang="en-US" baseline="0" dirty="0"/>
                        <a:t> (50)</a:t>
                      </a:r>
                      <a:endParaRPr lang="en-US" dirty="0"/>
                    </a:p>
                  </a:txBody>
                  <a:tcPr anchor="ctr"/>
                </a:tc>
                <a:tc>
                  <a:txBody>
                    <a:bodyPr/>
                    <a:lstStyle/>
                    <a:p>
                      <a:pPr algn="ctr"/>
                      <a:r>
                        <a:rPr lang="en-US" dirty="0"/>
                        <a:t>$   40</a:t>
                      </a:r>
                    </a:p>
                  </a:txBody>
                  <a:tcPr anchor="ctr"/>
                </a:tc>
                <a:tc>
                  <a:txBody>
                    <a:bodyPr/>
                    <a:lstStyle/>
                    <a:p>
                      <a:pPr algn="ctr"/>
                      <a:r>
                        <a:rPr lang="en-US" dirty="0"/>
                        <a:t>$  (67)</a:t>
                      </a:r>
                    </a:p>
                  </a:txBody>
                  <a:tcPr anchor="ctr"/>
                </a:tc>
                <a:extLst>
                  <a:ext uri="{0D108BD9-81ED-4DB2-BD59-A6C34878D82A}">
                    <a16:rowId xmlns:a16="http://schemas.microsoft.com/office/drawing/2014/main" val="1976008793"/>
                  </a:ext>
                </a:extLst>
              </a:tr>
              <a:tr h="370840">
                <a:tc>
                  <a:txBody>
                    <a:bodyPr/>
                    <a:lstStyle/>
                    <a:p>
                      <a:pPr algn="l"/>
                      <a:r>
                        <a:rPr lang="en-US" b="1" dirty="0"/>
                        <a:t>Olympus</a:t>
                      </a:r>
                    </a:p>
                  </a:txBody>
                  <a:tcPr anchor="ctr"/>
                </a:tc>
                <a:tc>
                  <a:txBody>
                    <a:bodyPr/>
                    <a:lstStyle/>
                    <a:p>
                      <a:pPr algn="ctr"/>
                      <a:r>
                        <a:rPr lang="en-US" dirty="0"/>
                        <a:t>$ 100</a:t>
                      </a:r>
                    </a:p>
                  </a:txBody>
                  <a:tcPr anchor="ctr"/>
                </a:tc>
                <a:tc>
                  <a:txBody>
                    <a:bodyPr/>
                    <a:lstStyle/>
                    <a:p>
                      <a:pPr algn="ctr"/>
                      <a:r>
                        <a:rPr lang="en-US" dirty="0"/>
                        <a:t>$   48</a:t>
                      </a:r>
                    </a:p>
                  </a:txBody>
                  <a:tcPr anchor="ctr"/>
                </a:tc>
                <a:tc>
                  <a:txBody>
                    <a:bodyPr/>
                    <a:lstStyle/>
                    <a:p>
                      <a:pPr algn="ctr"/>
                      <a:r>
                        <a:rPr lang="en-US" dirty="0"/>
                        <a:t>$   33</a:t>
                      </a:r>
                    </a:p>
                  </a:txBody>
                  <a:tcPr anchor="ctr"/>
                </a:tc>
                <a:extLst>
                  <a:ext uri="{0D108BD9-81ED-4DB2-BD59-A6C34878D82A}">
                    <a16:rowId xmlns:a16="http://schemas.microsoft.com/office/drawing/2014/main" val="2540263358"/>
                  </a:ext>
                </a:extLst>
              </a:tr>
              <a:tr h="370840">
                <a:tc>
                  <a:txBody>
                    <a:bodyPr/>
                    <a:lstStyle/>
                    <a:p>
                      <a:pPr algn="l"/>
                      <a:r>
                        <a:rPr lang="en-US" b="1" dirty="0"/>
                        <a:t>DSLR</a:t>
                      </a:r>
                    </a:p>
                  </a:txBody>
                  <a:tcPr anchor="ctr">
                    <a:lnB w="12700" cap="flat" cmpd="sng" algn="ctr">
                      <a:solidFill>
                        <a:schemeClr val="tx1"/>
                      </a:solidFill>
                      <a:prstDash val="solid"/>
                      <a:round/>
                      <a:headEnd type="none" w="med" len="med"/>
                      <a:tailEnd type="none" w="med" len="med"/>
                    </a:lnB>
                  </a:tcPr>
                </a:tc>
                <a:tc>
                  <a:txBody>
                    <a:bodyPr/>
                    <a:lstStyle/>
                    <a:p>
                      <a:pPr algn="ctr"/>
                      <a:r>
                        <a:rPr lang="en-US" dirty="0"/>
                        <a:t>$   50</a:t>
                      </a:r>
                    </a:p>
                  </a:txBody>
                  <a:tcPr anchor="ctr">
                    <a:lnB w="12700" cap="flat" cmpd="sng" algn="ctr">
                      <a:solidFill>
                        <a:schemeClr val="tx1"/>
                      </a:solidFill>
                      <a:prstDash val="solid"/>
                      <a:round/>
                      <a:headEnd type="none" w="med" len="med"/>
                      <a:tailEnd type="none" w="med" len="med"/>
                    </a:lnB>
                  </a:tcPr>
                </a:tc>
                <a:tc>
                  <a:txBody>
                    <a:bodyPr/>
                    <a:lstStyle/>
                    <a:p>
                      <a:pPr algn="ctr"/>
                      <a:r>
                        <a:rPr lang="en-US" dirty="0"/>
                        <a:t>$   28</a:t>
                      </a:r>
                    </a:p>
                  </a:txBody>
                  <a:tcPr anchor="ctr">
                    <a:lnB w="12700" cap="flat" cmpd="sng" algn="ctr">
                      <a:solidFill>
                        <a:schemeClr val="tx1"/>
                      </a:solidFill>
                      <a:prstDash val="solid"/>
                      <a:round/>
                      <a:headEnd type="none" w="med" len="med"/>
                      <a:tailEnd type="none" w="med" len="med"/>
                    </a:lnB>
                  </a:tcPr>
                </a:tc>
                <a:tc>
                  <a:txBody>
                    <a:bodyPr/>
                    <a:lstStyle/>
                    <a:p>
                      <a:pPr algn="ctr"/>
                      <a:r>
                        <a:rPr lang="en-US" dirty="0"/>
                        <a:t>$   27</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622831"/>
                  </a:ext>
                </a:extLst>
              </a:tr>
              <a:tr h="370840">
                <a:tc>
                  <a:txBody>
                    <a:bodyPr/>
                    <a:lstStyle/>
                    <a:p>
                      <a:pPr algn="l"/>
                      <a:r>
                        <a:rPr lang="en-US" dirty="0"/>
                        <a:t>Segment</a:t>
                      </a:r>
                      <a:r>
                        <a:rPr lang="en-US" baseline="0" dirty="0"/>
                        <a:t> size</a:t>
                      </a:r>
                      <a:endParaRPr lang="en-US" dirty="0"/>
                    </a:p>
                  </a:txBody>
                  <a:tcPr anchor="ctr">
                    <a:lnT w="12700" cap="flat" cmpd="sng" algn="ctr">
                      <a:solidFill>
                        <a:schemeClr val="tx1"/>
                      </a:solidFill>
                      <a:prstDash val="solid"/>
                      <a:round/>
                      <a:headEnd type="none" w="med" len="med"/>
                      <a:tailEnd type="none" w="med" len="med"/>
                    </a:lnT>
                  </a:tcPr>
                </a:tc>
                <a:tc>
                  <a:txBody>
                    <a:bodyPr/>
                    <a:lstStyle/>
                    <a:p>
                      <a:pPr algn="ctr"/>
                      <a:r>
                        <a:rPr lang="en-US" dirty="0"/>
                        <a:t>40%</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20%</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40%</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54683382"/>
                  </a:ext>
                </a:extLst>
              </a:tr>
            </a:tbl>
          </a:graphicData>
        </a:graphic>
      </p:graphicFrame>
      <p:sp>
        <p:nvSpPr>
          <p:cNvPr id="8" name="Title 1"/>
          <p:cNvSpPr>
            <a:spLocks noGrp="1"/>
          </p:cNvSpPr>
          <p:nvPr>
            <p:ph type="title"/>
          </p:nvPr>
        </p:nvSpPr>
        <p:spPr>
          <a:xfrm>
            <a:off x="612648" y="228600"/>
            <a:ext cx="8153400" cy="990600"/>
          </a:xfrm>
        </p:spPr>
        <p:txBody>
          <a:bodyPr>
            <a:normAutofit fontScale="90000"/>
          </a:bodyPr>
          <a:lstStyle/>
          <a:p>
            <a:r>
              <a:rPr lang="en-US" sz="4400" dirty="0"/>
              <a:t>Market Analysis: Pre Olympus Launch</a:t>
            </a:r>
            <a:br>
              <a:rPr lang="en-US" sz="4400" dirty="0"/>
            </a:br>
            <a:r>
              <a:rPr lang="en-US" sz="3600" dirty="0"/>
              <a:t>   Assess Incumbent Market</a:t>
            </a:r>
          </a:p>
        </p:txBody>
      </p:sp>
      <p:sp>
        <p:nvSpPr>
          <p:cNvPr id="9" name="Text Placeholder 3"/>
          <p:cNvSpPr txBox="1">
            <a:spLocks/>
          </p:cNvSpPr>
          <p:nvPr/>
        </p:nvSpPr>
        <p:spPr>
          <a:xfrm>
            <a:off x="551191" y="815816"/>
            <a:ext cx="403384" cy="403384"/>
          </a:xfrm>
          <a:prstGeom prst="ellipse">
            <a:avLst/>
          </a:prstGeom>
          <a:solidFill>
            <a:srgbClr val="CD9A33"/>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55949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en-US" sz="4000" dirty="0"/>
              <a:t>Canon Demand</a:t>
            </a:r>
            <a:br>
              <a:rPr lang="en-US" sz="4000" dirty="0"/>
            </a:br>
            <a:r>
              <a:rPr lang="en-US" sz="3200" dirty="0"/>
              <a:t>Sony at $250, Olympus </a:t>
            </a:r>
            <a:r>
              <a:rPr lang="en-US" sz="3200" b="1" dirty="0"/>
              <a:t>not </a:t>
            </a:r>
            <a:r>
              <a:rPr lang="en-US" sz="3200" dirty="0"/>
              <a:t>offered</a:t>
            </a:r>
          </a:p>
        </p:txBody>
      </p:sp>
      <p:sp>
        <p:nvSpPr>
          <p:cNvPr id="3" name="Slide Number Placeholder 2"/>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12</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824153843"/>
              </p:ext>
            </p:extLst>
          </p:nvPr>
        </p:nvGraphicFramePr>
        <p:xfrm>
          <a:off x="1066800" y="1600200"/>
          <a:ext cx="5679441" cy="4373880"/>
        </p:xfrm>
        <a:graphic>
          <a:graphicData uri="http://schemas.openxmlformats.org/drawingml/2006/table">
            <a:tbl>
              <a:tblPr firstRow="1" bandRow="1">
                <a:tableStyleId>{5C22544A-7EE6-4342-B048-85BDC9FD1C3A}</a:tableStyleId>
              </a:tblPr>
              <a:tblGrid>
                <a:gridCol w="1339491">
                  <a:extLst>
                    <a:ext uri="{9D8B030D-6E8A-4147-A177-3AD203B41FA5}">
                      <a16:colId xmlns:a16="http://schemas.microsoft.com/office/drawing/2014/main" val="3686849379"/>
                    </a:ext>
                  </a:extLst>
                </a:gridCol>
                <a:gridCol w="1446650">
                  <a:extLst>
                    <a:ext uri="{9D8B030D-6E8A-4147-A177-3AD203B41FA5}">
                      <a16:colId xmlns:a16="http://schemas.microsoft.com/office/drawing/2014/main" val="4233504509"/>
                    </a:ext>
                  </a:extLst>
                </a:gridCol>
                <a:gridCol w="1446650">
                  <a:extLst>
                    <a:ext uri="{9D8B030D-6E8A-4147-A177-3AD203B41FA5}">
                      <a16:colId xmlns:a16="http://schemas.microsoft.com/office/drawing/2014/main" val="107695191"/>
                    </a:ext>
                  </a:extLst>
                </a:gridCol>
                <a:gridCol w="1446650">
                  <a:extLst>
                    <a:ext uri="{9D8B030D-6E8A-4147-A177-3AD203B41FA5}">
                      <a16:colId xmlns:a16="http://schemas.microsoft.com/office/drawing/2014/main" val="3207602153"/>
                    </a:ext>
                  </a:extLst>
                </a:gridCol>
              </a:tblGrid>
              <a:tr h="365760">
                <a:tc gridSpan="4">
                  <a:txBody>
                    <a:bodyPr/>
                    <a:lstStyle/>
                    <a:p>
                      <a:r>
                        <a:rPr lang="en-US" dirty="0"/>
                        <a:t>Sony Base Model</a:t>
                      </a: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323413666"/>
                  </a:ext>
                </a:extLst>
              </a:tr>
              <a:tr h="365760">
                <a:tc gridSpan="4">
                  <a:txBody>
                    <a:bodyPr/>
                    <a:lstStyle/>
                    <a:p>
                      <a:r>
                        <a:rPr lang="en-US" dirty="0"/>
                        <a:t>Price = $250</a:t>
                      </a: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011934992"/>
                  </a:ext>
                </a:extLst>
              </a:tr>
              <a:tr h="365760">
                <a:tc gridSpan="4">
                  <a:txBody>
                    <a:bodyPr/>
                    <a:lstStyle/>
                    <a:p>
                      <a:r>
                        <a:rPr lang="en-US" dirty="0"/>
                        <a:t>What is demand for Canon Base Model?</a:t>
                      </a: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017374537"/>
                  </a:ext>
                </a:extLst>
              </a:tr>
              <a:tr h="0">
                <a:tc gridSpan="4">
                  <a:txBody>
                    <a:bodyPr/>
                    <a:lstStyle/>
                    <a:p>
                      <a:endParaRPr lang="en-US" sz="100" dirty="0"/>
                    </a:p>
                  </a:txBody>
                  <a:tcPr>
                    <a:solidFill>
                      <a:schemeClr val="bg1"/>
                    </a:solidFill>
                  </a:tcPr>
                </a:tc>
                <a:tc hMerge="1">
                  <a:txBody>
                    <a:bodyPr/>
                    <a:lstStyle/>
                    <a:p>
                      <a:endParaRPr lang="en-US" dirty="0"/>
                    </a:p>
                  </a:txBody>
                  <a:tcPr>
                    <a:solidFill>
                      <a:schemeClr val="bg1"/>
                    </a:solidFill>
                  </a:tcPr>
                </a:tc>
                <a:tc hMerge="1">
                  <a:txBody>
                    <a:bodyPr/>
                    <a:lstStyle/>
                    <a:p>
                      <a:endParaRPr lang="en-US" sz="300" dirty="0"/>
                    </a:p>
                  </a:txBody>
                  <a:tcPr>
                    <a:solidFill>
                      <a:schemeClr val="bg1"/>
                    </a:solidFill>
                  </a:tcPr>
                </a:tc>
                <a:tc hMerge="1">
                  <a:txBody>
                    <a:bodyPr/>
                    <a:lstStyle/>
                    <a:p>
                      <a:endParaRPr lang="en-US" dirty="0"/>
                    </a:p>
                  </a:txBody>
                  <a:tcPr>
                    <a:solidFill>
                      <a:schemeClr val="bg1"/>
                    </a:solidFill>
                  </a:tcPr>
                </a:tc>
                <a:extLst>
                  <a:ext uri="{0D108BD9-81ED-4DB2-BD59-A6C34878D82A}">
                    <a16:rowId xmlns:a16="http://schemas.microsoft.com/office/drawing/2014/main" val="1511773006"/>
                  </a:ext>
                </a:extLst>
              </a:tr>
              <a:tr h="365760">
                <a:tc>
                  <a:txBody>
                    <a:bodyPr/>
                    <a:lstStyle/>
                    <a:p>
                      <a:endParaRPr lang="en-US" dirty="0"/>
                    </a:p>
                  </a:txBody>
                  <a:tcPr>
                    <a:solidFill>
                      <a:schemeClr val="bg2">
                        <a:lumMod val="50000"/>
                      </a:schemeClr>
                    </a:solidFill>
                  </a:tcPr>
                </a:tc>
                <a:tc>
                  <a:txBody>
                    <a:bodyPr/>
                    <a:lstStyle/>
                    <a:p>
                      <a:pPr algn="ctr"/>
                      <a:r>
                        <a:rPr lang="en-US" dirty="0"/>
                        <a:t>Segment A</a:t>
                      </a:r>
                    </a:p>
                  </a:txBody>
                  <a:tcPr anchor="ctr">
                    <a:solidFill>
                      <a:schemeClr val="bg2">
                        <a:lumMod val="50000"/>
                      </a:schemeClr>
                    </a:solidFill>
                  </a:tcPr>
                </a:tc>
                <a:tc>
                  <a:txBody>
                    <a:bodyPr/>
                    <a:lstStyle/>
                    <a:p>
                      <a:pPr algn="ctr"/>
                      <a:r>
                        <a:rPr lang="en-US" dirty="0"/>
                        <a:t>Segment B</a:t>
                      </a:r>
                    </a:p>
                  </a:txBody>
                  <a:tcPr anchor="ctr">
                    <a:solidFill>
                      <a:schemeClr val="bg2">
                        <a:lumMod val="50000"/>
                      </a:schemeClr>
                    </a:solidFill>
                  </a:tcPr>
                </a:tc>
                <a:tc>
                  <a:txBody>
                    <a:bodyPr/>
                    <a:lstStyle/>
                    <a:p>
                      <a:pPr algn="ctr"/>
                      <a:r>
                        <a:rPr lang="en-US" dirty="0"/>
                        <a:t>Segment</a:t>
                      </a:r>
                      <a:r>
                        <a:rPr lang="en-US" baseline="0" dirty="0"/>
                        <a:t> C</a:t>
                      </a:r>
                      <a:endParaRPr lang="en-US" dirty="0"/>
                    </a:p>
                  </a:txBody>
                  <a:tcPr anchor="ctr">
                    <a:solidFill>
                      <a:schemeClr val="bg2">
                        <a:lumMod val="50000"/>
                      </a:schemeClr>
                    </a:solidFill>
                  </a:tcPr>
                </a:tc>
                <a:extLst>
                  <a:ext uri="{0D108BD9-81ED-4DB2-BD59-A6C34878D82A}">
                    <a16:rowId xmlns:a16="http://schemas.microsoft.com/office/drawing/2014/main" val="2011733741"/>
                  </a:ext>
                </a:extLst>
              </a:tr>
              <a:tr h="365760">
                <a:tc>
                  <a:txBody>
                    <a:bodyPr/>
                    <a:lstStyle/>
                    <a:p>
                      <a:r>
                        <a:rPr lang="en-US" dirty="0"/>
                        <a:t>Ref Brand</a:t>
                      </a:r>
                    </a:p>
                  </a:txBody>
                  <a:tcPr anchor="ctr">
                    <a:solidFill>
                      <a:schemeClr val="accent1">
                        <a:lumMod val="40000"/>
                        <a:lumOff val="60000"/>
                      </a:schemeClr>
                    </a:solidFill>
                  </a:tcPr>
                </a:tc>
                <a:tc>
                  <a:txBody>
                    <a:bodyPr/>
                    <a:lstStyle/>
                    <a:p>
                      <a:pPr algn="ctr"/>
                      <a:r>
                        <a:rPr lang="en-US" dirty="0"/>
                        <a:t>Sony</a:t>
                      </a:r>
                    </a:p>
                  </a:txBody>
                  <a:tcPr anchor="ctr">
                    <a:solidFill>
                      <a:schemeClr val="accent1">
                        <a:lumMod val="40000"/>
                        <a:lumOff val="60000"/>
                      </a:schemeClr>
                    </a:solidFill>
                  </a:tcPr>
                </a:tc>
                <a:tc>
                  <a:txBody>
                    <a:bodyPr/>
                    <a:lstStyle/>
                    <a:p>
                      <a:pPr algn="ctr"/>
                      <a:r>
                        <a:rPr lang="en-US" dirty="0"/>
                        <a:t>Sony</a:t>
                      </a:r>
                    </a:p>
                  </a:txBody>
                  <a:tcPr anchor="ctr">
                    <a:solidFill>
                      <a:schemeClr val="accent1">
                        <a:lumMod val="40000"/>
                        <a:lumOff val="60000"/>
                      </a:schemeClr>
                    </a:solidFill>
                  </a:tcPr>
                </a:tc>
                <a:tc>
                  <a:txBody>
                    <a:bodyPr/>
                    <a:lstStyle/>
                    <a:p>
                      <a:pPr algn="ctr"/>
                      <a:r>
                        <a:rPr lang="en-US" dirty="0"/>
                        <a:t>Sony</a:t>
                      </a:r>
                    </a:p>
                  </a:txBody>
                  <a:tcPr anchor="ctr">
                    <a:solidFill>
                      <a:schemeClr val="accent1">
                        <a:lumMod val="40000"/>
                        <a:lumOff val="60000"/>
                      </a:schemeClr>
                    </a:solidFill>
                  </a:tcPr>
                </a:tc>
                <a:extLst>
                  <a:ext uri="{0D108BD9-81ED-4DB2-BD59-A6C34878D82A}">
                    <a16:rowId xmlns:a16="http://schemas.microsoft.com/office/drawing/2014/main" val="295555190"/>
                  </a:ext>
                </a:extLst>
              </a:tr>
              <a:tr h="365760">
                <a:tc>
                  <a:txBody>
                    <a:bodyPr/>
                    <a:lstStyle/>
                    <a:p>
                      <a:r>
                        <a:rPr lang="en-US" dirty="0"/>
                        <a:t>Ref Value</a:t>
                      </a:r>
                    </a:p>
                  </a:txBody>
                  <a:tcPr anchor="ctr">
                    <a:solidFill>
                      <a:schemeClr val="accent1">
                        <a:lumMod val="40000"/>
                        <a:lumOff val="60000"/>
                      </a:schemeClr>
                    </a:solidFill>
                  </a:tcPr>
                </a:tc>
                <a:tc>
                  <a:txBody>
                    <a:bodyPr/>
                    <a:lstStyle/>
                    <a:p>
                      <a:pPr algn="r"/>
                      <a:r>
                        <a:rPr lang="en-US" dirty="0"/>
                        <a:t>$250</a:t>
                      </a:r>
                    </a:p>
                  </a:txBody>
                  <a:tcPr>
                    <a:solidFill>
                      <a:schemeClr val="accent1">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$250</a:t>
                      </a:r>
                    </a:p>
                  </a:txBody>
                  <a:tcPr>
                    <a:solidFill>
                      <a:schemeClr val="accent1">
                        <a:lumMod val="40000"/>
                        <a:lumOff val="6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$250</a:t>
                      </a:r>
                    </a:p>
                  </a:txBody>
                  <a:tcPr>
                    <a:solidFill>
                      <a:schemeClr val="accent1">
                        <a:lumMod val="40000"/>
                        <a:lumOff val="60000"/>
                      </a:schemeClr>
                    </a:solidFill>
                  </a:tcPr>
                </a:tc>
                <a:extLst>
                  <a:ext uri="{0D108BD9-81ED-4DB2-BD59-A6C34878D82A}">
                    <a16:rowId xmlns:a16="http://schemas.microsoft.com/office/drawing/2014/main" val="1431510000"/>
                  </a:ext>
                </a:extLst>
              </a:tr>
              <a:tr h="0">
                <a:tc gridSpan="4">
                  <a:txBody>
                    <a:bodyPr/>
                    <a:lstStyle/>
                    <a:p>
                      <a:endParaRPr lang="en-US" sz="100" dirty="0"/>
                    </a:p>
                  </a:txBody>
                  <a:tcPr anchor="ctr">
                    <a:solidFill>
                      <a:schemeClr val="bg1"/>
                    </a:solidFill>
                  </a:tcPr>
                </a:tc>
                <a:tc hMerge="1">
                  <a:txBody>
                    <a:bodyPr/>
                    <a:lstStyle/>
                    <a:p>
                      <a:endParaRPr lang="en-US" sz="100" dirty="0"/>
                    </a:p>
                  </a:txBody>
                  <a:tcPr>
                    <a:solidFill>
                      <a:schemeClr val="bg1"/>
                    </a:solidFill>
                  </a:tcPr>
                </a:tc>
                <a:tc hMerge="1">
                  <a:txBody>
                    <a:bodyPr/>
                    <a:lstStyle/>
                    <a:p>
                      <a:endParaRPr lang="en-US" sz="100" dirty="0"/>
                    </a:p>
                  </a:txBody>
                  <a:tcPr>
                    <a:solidFill>
                      <a:schemeClr val="bg1"/>
                    </a:solidFill>
                  </a:tcPr>
                </a:tc>
                <a:tc hMerge="1">
                  <a:txBody>
                    <a:bodyPr/>
                    <a:lstStyle/>
                    <a:p>
                      <a:endParaRPr lang="en-US" sz="100" dirty="0"/>
                    </a:p>
                  </a:txBody>
                  <a:tcPr>
                    <a:solidFill>
                      <a:schemeClr val="bg1"/>
                    </a:solidFill>
                  </a:tcPr>
                </a:tc>
                <a:extLst>
                  <a:ext uri="{0D108BD9-81ED-4DB2-BD59-A6C34878D82A}">
                    <a16:rowId xmlns:a16="http://schemas.microsoft.com/office/drawing/2014/main" val="883635369"/>
                  </a:ext>
                </a:extLst>
              </a:tr>
              <a:tr h="365760">
                <a:tc>
                  <a:txBody>
                    <a:bodyPr/>
                    <a:lstStyle/>
                    <a:p>
                      <a:r>
                        <a:rPr lang="en-US" dirty="0"/>
                        <a:t>Diff Value</a:t>
                      </a:r>
                    </a:p>
                  </a:txBody>
                  <a:tcPr anchor="ct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extLst>
                  <a:ext uri="{0D108BD9-81ED-4DB2-BD59-A6C34878D82A}">
                    <a16:rowId xmlns:a16="http://schemas.microsoft.com/office/drawing/2014/main" val="452319697"/>
                  </a:ext>
                </a:extLst>
              </a:tr>
              <a:tr h="365760">
                <a:tc>
                  <a:txBody>
                    <a:bodyPr/>
                    <a:lstStyle/>
                    <a:p>
                      <a:r>
                        <a:rPr lang="en-US" dirty="0"/>
                        <a:t>Meg</a:t>
                      </a:r>
                    </a:p>
                  </a:txBody>
                  <a:tcPr anchor="ct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extLst>
                  <a:ext uri="{0D108BD9-81ED-4DB2-BD59-A6C34878D82A}">
                    <a16:rowId xmlns:a16="http://schemas.microsoft.com/office/drawing/2014/main" val="428803167"/>
                  </a:ext>
                </a:extLst>
              </a:tr>
              <a:tr h="365760">
                <a:tc>
                  <a:txBody>
                    <a:bodyPr/>
                    <a:lstStyle/>
                    <a:p>
                      <a:r>
                        <a:rPr lang="en-US" dirty="0"/>
                        <a:t>Brand</a:t>
                      </a:r>
                    </a:p>
                  </a:txBody>
                  <a:tcPr anchor="ctr">
                    <a:solidFill>
                      <a:schemeClr val="accent1">
                        <a:lumMod val="40000"/>
                        <a:lumOff val="60000"/>
                      </a:schemeClr>
                    </a:solidFill>
                  </a:tcPr>
                </a:tc>
                <a:tc>
                  <a:txBody>
                    <a:bodyPr/>
                    <a:lstStyle/>
                    <a:p>
                      <a:pPr algn="r"/>
                      <a:r>
                        <a:rPr lang="en-US" dirty="0"/>
                        <a:t>$50</a:t>
                      </a:r>
                    </a:p>
                  </a:txBody>
                  <a:tcPr>
                    <a:solidFill>
                      <a:schemeClr val="accent1">
                        <a:lumMod val="40000"/>
                        <a:lumOff val="60000"/>
                      </a:schemeClr>
                    </a:solidFill>
                  </a:tcPr>
                </a:tc>
                <a:tc>
                  <a:txBody>
                    <a:bodyPr/>
                    <a:lstStyle/>
                    <a:p>
                      <a:pPr algn="r"/>
                      <a:r>
                        <a:rPr lang="en-US" dirty="0"/>
                        <a:t>$(40)</a:t>
                      </a:r>
                    </a:p>
                  </a:txBody>
                  <a:tcPr>
                    <a:solidFill>
                      <a:schemeClr val="accent1">
                        <a:lumMod val="40000"/>
                        <a:lumOff val="60000"/>
                      </a:schemeClr>
                    </a:solidFill>
                  </a:tcPr>
                </a:tc>
                <a:tc>
                  <a:txBody>
                    <a:bodyPr/>
                    <a:lstStyle/>
                    <a:p>
                      <a:pPr algn="r"/>
                      <a:r>
                        <a:rPr lang="en-US" dirty="0"/>
                        <a:t>$67</a:t>
                      </a:r>
                    </a:p>
                  </a:txBody>
                  <a:tcPr>
                    <a:solidFill>
                      <a:schemeClr val="accent1">
                        <a:lumMod val="40000"/>
                        <a:lumOff val="60000"/>
                      </a:schemeClr>
                    </a:solidFill>
                  </a:tcPr>
                </a:tc>
                <a:extLst>
                  <a:ext uri="{0D108BD9-81ED-4DB2-BD59-A6C34878D82A}">
                    <a16:rowId xmlns:a16="http://schemas.microsoft.com/office/drawing/2014/main" val="913181167"/>
                  </a:ext>
                </a:extLst>
              </a:tr>
              <a:tr h="365760">
                <a:tc>
                  <a:txBody>
                    <a:bodyPr/>
                    <a:lstStyle/>
                    <a:p>
                      <a:r>
                        <a:rPr lang="en-US" dirty="0"/>
                        <a:t>DSLR</a:t>
                      </a:r>
                    </a:p>
                  </a:txBody>
                  <a:tcPr anchor="ct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extLst>
                  <a:ext uri="{0D108BD9-81ED-4DB2-BD59-A6C34878D82A}">
                    <a16:rowId xmlns:a16="http://schemas.microsoft.com/office/drawing/2014/main" val="1068180452"/>
                  </a:ext>
                </a:extLst>
              </a:tr>
              <a:tr h="0">
                <a:tc>
                  <a:txBody>
                    <a:bodyPr/>
                    <a:lstStyle/>
                    <a:p>
                      <a:endParaRPr lang="en-US" sz="100" dirty="0"/>
                    </a:p>
                  </a:txBody>
                  <a:tcPr anchor="ctr">
                    <a:solidFill>
                      <a:schemeClr val="bg1"/>
                    </a:solidFill>
                  </a:tcPr>
                </a:tc>
                <a:tc>
                  <a:txBody>
                    <a:bodyPr/>
                    <a:lstStyle/>
                    <a:p>
                      <a:pPr algn="r"/>
                      <a:endParaRPr lang="en-US" sz="100" dirty="0"/>
                    </a:p>
                  </a:txBody>
                  <a:tcPr>
                    <a:solidFill>
                      <a:schemeClr val="bg1"/>
                    </a:solidFill>
                  </a:tcPr>
                </a:tc>
                <a:tc>
                  <a:txBody>
                    <a:bodyPr/>
                    <a:lstStyle/>
                    <a:p>
                      <a:pPr algn="r"/>
                      <a:endParaRPr lang="en-US" sz="100"/>
                    </a:p>
                  </a:txBody>
                  <a:tcPr>
                    <a:solidFill>
                      <a:schemeClr val="bg1"/>
                    </a:solidFill>
                  </a:tcPr>
                </a:tc>
                <a:tc>
                  <a:txBody>
                    <a:bodyPr/>
                    <a:lstStyle/>
                    <a:p>
                      <a:pPr algn="r"/>
                      <a:endParaRPr lang="en-US" sz="100" dirty="0"/>
                    </a:p>
                  </a:txBody>
                  <a:tcPr>
                    <a:solidFill>
                      <a:schemeClr val="bg1"/>
                    </a:solidFill>
                  </a:tcPr>
                </a:tc>
                <a:extLst>
                  <a:ext uri="{0D108BD9-81ED-4DB2-BD59-A6C34878D82A}">
                    <a16:rowId xmlns:a16="http://schemas.microsoft.com/office/drawing/2014/main" val="1588926462"/>
                  </a:ext>
                </a:extLst>
              </a:tr>
              <a:tr h="365760">
                <a:tc>
                  <a:txBody>
                    <a:bodyPr/>
                    <a:lstStyle/>
                    <a:p>
                      <a:r>
                        <a:rPr lang="en-US" dirty="0"/>
                        <a:t>EVC</a:t>
                      </a:r>
                    </a:p>
                  </a:txBody>
                  <a:tcPr anchor="ctr">
                    <a:solidFill>
                      <a:schemeClr val="accent1"/>
                    </a:solidFill>
                  </a:tcPr>
                </a:tc>
                <a:tc>
                  <a:txBody>
                    <a:bodyPr/>
                    <a:lstStyle/>
                    <a:p>
                      <a:pPr algn="r"/>
                      <a:r>
                        <a:rPr lang="en-US" dirty="0"/>
                        <a:t>$300</a:t>
                      </a:r>
                    </a:p>
                  </a:txBody>
                  <a:tcPr>
                    <a:solidFill>
                      <a:schemeClr val="accent1"/>
                    </a:solidFill>
                  </a:tcPr>
                </a:tc>
                <a:tc>
                  <a:txBody>
                    <a:bodyPr/>
                    <a:lstStyle/>
                    <a:p>
                      <a:pPr algn="r"/>
                      <a:r>
                        <a:rPr lang="en-US" dirty="0"/>
                        <a:t>$210</a:t>
                      </a:r>
                    </a:p>
                  </a:txBody>
                  <a:tcPr>
                    <a:solidFill>
                      <a:schemeClr val="accent1"/>
                    </a:solidFill>
                  </a:tcPr>
                </a:tc>
                <a:tc>
                  <a:txBody>
                    <a:bodyPr/>
                    <a:lstStyle/>
                    <a:p>
                      <a:pPr algn="r"/>
                      <a:r>
                        <a:rPr lang="en-US" dirty="0"/>
                        <a:t>$317</a:t>
                      </a:r>
                    </a:p>
                  </a:txBody>
                  <a:tcPr>
                    <a:solidFill>
                      <a:schemeClr val="accent1"/>
                    </a:solidFill>
                  </a:tcPr>
                </a:tc>
                <a:extLst>
                  <a:ext uri="{0D108BD9-81ED-4DB2-BD59-A6C34878D82A}">
                    <a16:rowId xmlns:a16="http://schemas.microsoft.com/office/drawing/2014/main" val="2615505647"/>
                  </a:ext>
                </a:extLst>
              </a:tr>
            </a:tbl>
          </a:graphicData>
        </a:graphic>
      </p:graphicFrame>
    </p:spTree>
    <p:extLst>
      <p:ext uri="{BB962C8B-B14F-4D97-AF65-F5344CB8AC3E}">
        <p14:creationId xmlns:p14="http://schemas.microsoft.com/office/powerpoint/2010/main" val="1854432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Canon Demand</a:t>
            </a:r>
            <a:br>
              <a:rPr lang="en-US" sz="4000" dirty="0"/>
            </a:br>
            <a:r>
              <a:rPr lang="en-US" sz="3200" dirty="0"/>
              <a:t>EVC demand </a:t>
            </a:r>
            <a:r>
              <a:rPr lang="en-US" sz="3200" b="1" dirty="0"/>
              <a:t>before</a:t>
            </a:r>
            <a:r>
              <a:rPr lang="en-US" sz="3200" dirty="0"/>
              <a:t> Olympus launches</a:t>
            </a:r>
          </a:p>
        </p:txBody>
      </p:sp>
      <p:sp>
        <p:nvSpPr>
          <p:cNvPr id="3" name="Line 3"/>
          <p:cNvSpPr>
            <a:spLocks noChangeShapeType="1"/>
          </p:cNvSpPr>
          <p:nvPr/>
        </p:nvSpPr>
        <p:spPr bwMode="auto">
          <a:xfrm>
            <a:off x="1905000" y="5410200"/>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4" name="Line 4"/>
          <p:cNvSpPr>
            <a:spLocks noChangeShapeType="1"/>
          </p:cNvSpPr>
          <p:nvPr/>
        </p:nvSpPr>
        <p:spPr bwMode="auto">
          <a:xfrm flipV="1">
            <a:off x="1905000" y="2286000"/>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6" name="Text Box 6"/>
          <p:cNvSpPr txBox="1">
            <a:spLocks noChangeArrowheads="1"/>
          </p:cNvSpPr>
          <p:nvPr/>
        </p:nvSpPr>
        <p:spPr bwMode="auto">
          <a:xfrm>
            <a:off x="1066800" y="26670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$317</a:t>
            </a:r>
          </a:p>
        </p:txBody>
      </p:sp>
      <p:sp>
        <p:nvSpPr>
          <p:cNvPr id="7" name="Text Box 7"/>
          <p:cNvSpPr txBox="1">
            <a:spLocks noChangeArrowheads="1"/>
          </p:cNvSpPr>
          <p:nvPr/>
        </p:nvSpPr>
        <p:spPr bwMode="auto">
          <a:xfrm>
            <a:off x="1066800" y="28956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$300</a:t>
            </a:r>
          </a:p>
        </p:txBody>
      </p:sp>
      <p:sp>
        <p:nvSpPr>
          <p:cNvPr id="8" name="Text Box 8"/>
          <p:cNvSpPr txBox="1">
            <a:spLocks noChangeArrowheads="1"/>
          </p:cNvSpPr>
          <p:nvPr/>
        </p:nvSpPr>
        <p:spPr bwMode="auto">
          <a:xfrm>
            <a:off x="1066800" y="38862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$210</a:t>
            </a:r>
          </a:p>
        </p:txBody>
      </p:sp>
      <p:sp>
        <p:nvSpPr>
          <p:cNvPr id="9" name="Text Box 9"/>
          <p:cNvSpPr txBox="1">
            <a:spLocks noChangeArrowheads="1"/>
          </p:cNvSpPr>
          <p:nvPr/>
        </p:nvSpPr>
        <p:spPr bwMode="auto">
          <a:xfrm>
            <a:off x="4144168" y="5641848"/>
            <a:ext cx="1006750" cy="523220"/>
          </a:xfrm>
          <a:prstGeom prst="rect">
            <a:avLst/>
          </a:prstGeom>
          <a:noFill/>
          <a:ln w="12700">
            <a:noFill/>
            <a:miter lim="800000"/>
            <a:headEnd/>
            <a:tailEnd/>
          </a:ln>
        </p:spPr>
        <p:txBody>
          <a:bodyPr wrap="none">
            <a:spAutoFit/>
          </a:bodyPr>
          <a:lstStyle/>
          <a:p>
            <a:r>
              <a:rPr lang="en-US" sz="1400" b="1" dirty="0"/>
              <a:t>Segment A</a:t>
            </a:r>
          </a:p>
          <a:p>
            <a:pPr algn="ctr"/>
            <a:r>
              <a:rPr lang="en-US" sz="1400" b="1" dirty="0"/>
              <a:t>(40%)</a:t>
            </a:r>
            <a:endParaRPr lang="en-US" b="1" dirty="0"/>
          </a:p>
        </p:txBody>
      </p:sp>
      <p:sp>
        <p:nvSpPr>
          <p:cNvPr id="10" name="Text Box 10"/>
          <p:cNvSpPr txBox="1">
            <a:spLocks noChangeArrowheads="1"/>
          </p:cNvSpPr>
          <p:nvPr/>
        </p:nvSpPr>
        <p:spPr bwMode="auto">
          <a:xfrm>
            <a:off x="5641848" y="5641848"/>
            <a:ext cx="1007007" cy="523220"/>
          </a:xfrm>
          <a:prstGeom prst="rect">
            <a:avLst/>
          </a:prstGeom>
          <a:noFill/>
          <a:ln w="12700">
            <a:noFill/>
            <a:miter lim="800000"/>
            <a:headEnd/>
            <a:tailEnd/>
          </a:ln>
        </p:spPr>
        <p:txBody>
          <a:bodyPr wrap="none">
            <a:spAutoFit/>
          </a:bodyPr>
          <a:lstStyle/>
          <a:p>
            <a:r>
              <a:rPr lang="en-US" sz="1400" b="1" dirty="0"/>
              <a:t>Segment B</a:t>
            </a:r>
          </a:p>
          <a:p>
            <a:pPr algn="ctr"/>
            <a:r>
              <a:rPr lang="en-US" sz="1400" b="1" dirty="0"/>
              <a:t>(20%)</a:t>
            </a:r>
            <a:endParaRPr lang="en-US" b="1" dirty="0"/>
          </a:p>
        </p:txBody>
      </p:sp>
      <p:sp>
        <p:nvSpPr>
          <p:cNvPr id="11" name="Text Box 11"/>
          <p:cNvSpPr txBox="1">
            <a:spLocks noChangeArrowheads="1"/>
          </p:cNvSpPr>
          <p:nvPr/>
        </p:nvSpPr>
        <p:spPr bwMode="auto">
          <a:xfrm>
            <a:off x="2209800" y="5638800"/>
            <a:ext cx="1008063" cy="523220"/>
          </a:xfrm>
          <a:prstGeom prst="rect">
            <a:avLst/>
          </a:prstGeom>
          <a:noFill/>
          <a:ln w="12700">
            <a:noFill/>
            <a:miter lim="800000"/>
            <a:headEnd/>
            <a:tailEnd/>
          </a:ln>
        </p:spPr>
        <p:txBody>
          <a:bodyPr>
            <a:spAutoFit/>
          </a:bodyPr>
          <a:lstStyle/>
          <a:p>
            <a:r>
              <a:rPr lang="en-US" sz="1400" b="1" dirty="0"/>
              <a:t>Segment C</a:t>
            </a:r>
          </a:p>
          <a:p>
            <a:pPr algn="ctr"/>
            <a:r>
              <a:rPr lang="en-US" sz="1400" b="1" dirty="0"/>
              <a:t>(40%)</a:t>
            </a:r>
            <a:endParaRPr lang="en-US" b="1" dirty="0"/>
          </a:p>
        </p:txBody>
      </p:sp>
      <p:sp>
        <p:nvSpPr>
          <p:cNvPr id="18" name="Text Box 18"/>
          <p:cNvSpPr txBox="1">
            <a:spLocks noChangeArrowheads="1"/>
          </p:cNvSpPr>
          <p:nvPr/>
        </p:nvSpPr>
        <p:spPr bwMode="auto">
          <a:xfrm>
            <a:off x="6755606" y="3886200"/>
            <a:ext cx="1433341" cy="523220"/>
          </a:xfrm>
          <a:prstGeom prst="rect">
            <a:avLst/>
          </a:prstGeom>
          <a:noFill/>
          <a:ln w="12700">
            <a:noFill/>
            <a:miter lim="800000"/>
            <a:headEnd/>
            <a:tailEnd/>
          </a:ln>
        </p:spPr>
        <p:txBody>
          <a:bodyPr wrap="none">
            <a:spAutoFit/>
          </a:bodyPr>
          <a:lstStyle/>
          <a:p>
            <a:r>
              <a:rPr lang="en-US" sz="1400" b="1" dirty="0"/>
              <a:t>Canon Demand</a:t>
            </a:r>
          </a:p>
          <a:p>
            <a:r>
              <a:rPr lang="en-US" sz="1400" b="1" dirty="0"/>
              <a:t>Before Olympus</a:t>
            </a:r>
            <a:endParaRPr lang="en-US" b="1" u="sng" dirty="0"/>
          </a:p>
        </p:txBody>
      </p:sp>
      <p:cxnSp>
        <p:nvCxnSpPr>
          <p:cNvPr id="23" name="Straight Connector 22"/>
          <p:cNvCxnSpPr/>
          <p:nvPr/>
        </p:nvCxnSpPr>
        <p:spPr>
          <a:xfrm>
            <a:off x="1905000" y="2819400"/>
            <a:ext cx="1856232"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733800" y="3077921"/>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5562600" y="4068612"/>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733800" y="2819399"/>
            <a:ext cx="0" cy="283464"/>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549660" y="3062286"/>
            <a:ext cx="0" cy="1024128"/>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911332" y="1824335"/>
            <a:ext cx="816249" cy="461665"/>
          </a:xfrm>
          <a:prstGeom prst="rect">
            <a:avLst/>
          </a:prstGeom>
          <a:noFill/>
        </p:spPr>
        <p:txBody>
          <a:bodyPr wrap="none" rtlCol="0">
            <a:spAutoFit/>
          </a:bodyPr>
          <a:lstStyle/>
          <a:p>
            <a:r>
              <a:rPr lang="en-US" dirty="0"/>
              <a:t>Price</a:t>
            </a:r>
          </a:p>
        </p:txBody>
      </p:sp>
      <p:sp>
        <p:nvSpPr>
          <p:cNvPr id="48" name="TextBox 47"/>
          <p:cNvSpPr txBox="1"/>
          <p:nvPr/>
        </p:nvSpPr>
        <p:spPr>
          <a:xfrm>
            <a:off x="7620000" y="5712767"/>
            <a:ext cx="1260281" cy="461665"/>
          </a:xfrm>
          <a:prstGeom prst="rect">
            <a:avLst/>
          </a:prstGeom>
          <a:noFill/>
        </p:spPr>
        <p:txBody>
          <a:bodyPr wrap="none" rtlCol="0">
            <a:spAutoFit/>
          </a:bodyPr>
          <a:lstStyle/>
          <a:p>
            <a:r>
              <a:rPr lang="en-US" dirty="0"/>
              <a:t>Quantity</a:t>
            </a:r>
          </a:p>
        </p:txBody>
      </p:sp>
      <p:sp>
        <p:nvSpPr>
          <p:cNvPr id="49" name="Line 20"/>
          <p:cNvSpPr>
            <a:spLocks noChangeShapeType="1"/>
          </p:cNvSpPr>
          <p:nvPr/>
        </p:nvSpPr>
        <p:spPr bwMode="auto">
          <a:xfrm>
            <a:off x="1905000" y="3429000"/>
            <a:ext cx="5181600" cy="0"/>
          </a:xfrm>
          <a:prstGeom prst="line">
            <a:avLst/>
          </a:prstGeom>
          <a:noFill/>
          <a:ln w="12700">
            <a:solidFill>
              <a:srgbClr val="00B050"/>
            </a:solidFill>
            <a:prstDash val="dash"/>
            <a:round/>
            <a:headEnd/>
            <a:tailEnd/>
          </a:ln>
        </p:spPr>
        <p:txBody>
          <a:bodyPr wrap="none" lIns="90488" tIns="44450" rIns="90488" bIns="44450"/>
          <a:lstStyle/>
          <a:p>
            <a:endParaRPr lang="en-US"/>
          </a:p>
        </p:txBody>
      </p:sp>
      <p:sp>
        <p:nvSpPr>
          <p:cNvPr id="50" name="Text Box 21"/>
          <p:cNvSpPr txBox="1">
            <a:spLocks noChangeArrowheads="1"/>
          </p:cNvSpPr>
          <p:nvPr/>
        </p:nvSpPr>
        <p:spPr bwMode="auto">
          <a:xfrm>
            <a:off x="7086600" y="3276600"/>
            <a:ext cx="835229" cy="307777"/>
          </a:xfrm>
          <a:prstGeom prst="rect">
            <a:avLst/>
          </a:prstGeom>
          <a:noFill/>
          <a:ln w="12700">
            <a:noFill/>
            <a:miter lim="800000"/>
            <a:headEnd/>
            <a:tailEnd/>
          </a:ln>
        </p:spPr>
        <p:txBody>
          <a:bodyPr wrap="none">
            <a:spAutoFit/>
          </a:bodyPr>
          <a:lstStyle/>
          <a:p>
            <a:r>
              <a:rPr lang="en-US" sz="1400" b="1" dirty="0">
                <a:solidFill>
                  <a:srgbClr val="00B050"/>
                </a:solidFill>
              </a:rPr>
              <a:t>P = $280</a:t>
            </a:r>
            <a:endParaRPr lang="en-US" b="1" u="sng" dirty="0">
              <a:solidFill>
                <a:srgbClr val="00B050"/>
              </a:solidFill>
            </a:endParaRPr>
          </a:p>
        </p:txBody>
      </p:sp>
      <p:sp>
        <p:nvSpPr>
          <p:cNvPr id="5" name="Slide Number Placeholder 4"/>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13</a:t>
            </a:fld>
            <a:endParaRPr lang="en-US"/>
          </a:p>
        </p:txBody>
      </p:sp>
    </p:spTree>
    <p:extLst>
      <p:ext uri="{BB962C8B-B14F-4D97-AF65-F5344CB8AC3E}">
        <p14:creationId xmlns:p14="http://schemas.microsoft.com/office/powerpoint/2010/main" val="2312351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sz="quarter" idx="1"/>
          </p:nvPr>
        </p:nvSpPr>
        <p:spPr>
          <a:xfrm>
            <a:off x="612648" y="1600200"/>
            <a:ext cx="8153400" cy="4495800"/>
          </a:xfrm>
        </p:spPr>
        <p:txBody>
          <a:bodyPr/>
          <a:lstStyle/>
          <a:p>
            <a:pPr>
              <a:spcAft>
                <a:spcPts val="1200"/>
              </a:spcAft>
              <a:defRPr/>
            </a:pPr>
            <a:r>
              <a:rPr lang="en-US" sz="2400" dirty="0">
                <a:latin typeface="+mj-lt"/>
              </a:rPr>
              <a:t>Determine demand for Olympus 12.2MP DSLR </a:t>
            </a:r>
          </a:p>
          <a:p>
            <a:pPr marL="0" indent="0">
              <a:spcBef>
                <a:spcPts val="600"/>
              </a:spcBef>
              <a:spcAft>
                <a:spcPts val="1800"/>
              </a:spcAft>
              <a:buNone/>
              <a:defRPr/>
            </a:pPr>
            <a:r>
              <a:rPr lang="en-US" dirty="0"/>
              <a:t>		(</a:t>
            </a:r>
            <a:r>
              <a:rPr lang="en-US" sz="2400" dirty="0">
                <a:latin typeface="+mj-lt"/>
              </a:rPr>
              <a:t>new firm, new product)</a:t>
            </a:r>
          </a:p>
          <a:p>
            <a:pPr>
              <a:spcAft>
                <a:spcPts val="600"/>
              </a:spcAft>
              <a:defRPr/>
            </a:pPr>
            <a:r>
              <a:rPr lang="en-US" sz="2400" dirty="0">
                <a:latin typeface="+mj-lt"/>
              </a:rPr>
              <a:t>Assess pricing strategies for Olympus</a:t>
            </a:r>
          </a:p>
          <a:p>
            <a:pPr marL="0" indent="0">
              <a:spcAft>
                <a:spcPts val="600"/>
              </a:spcAft>
              <a:buNone/>
              <a:defRPr/>
            </a:pPr>
            <a:r>
              <a:rPr lang="en-US" dirty="0"/>
              <a:t>	This is a </a:t>
            </a:r>
            <a:r>
              <a:rPr lang="en-US" b="1" u="sng" dirty="0"/>
              <a:t>Market Simulation</a:t>
            </a:r>
            <a:r>
              <a:rPr lang="en-US" b="1" dirty="0"/>
              <a:t>:</a:t>
            </a:r>
            <a:endParaRPr lang="en-US" sz="2400" dirty="0">
              <a:latin typeface="+mj-lt"/>
            </a:endParaRPr>
          </a:p>
          <a:p>
            <a:pPr lvl="1">
              <a:spcAft>
                <a:spcPts val="600"/>
              </a:spcAft>
              <a:defRPr/>
            </a:pPr>
            <a:r>
              <a:rPr lang="en-US" sz="2400" dirty="0">
                <a:latin typeface="+mj-lt"/>
              </a:rPr>
              <a:t>Impact on Canon and Sony</a:t>
            </a:r>
          </a:p>
          <a:p>
            <a:pPr lvl="1">
              <a:defRPr/>
            </a:pPr>
            <a:r>
              <a:rPr lang="en-US" sz="2400" dirty="0">
                <a:latin typeface="+mj-lt"/>
              </a:rPr>
              <a:t>Likely reactions from Canon and Sony</a:t>
            </a:r>
          </a:p>
          <a:p>
            <a:pPr lvl="1">
              <a:defRPr/>
            </a:pPr>
            <a:endParaRPr lang="en-US" dirty="0"/>
          </a:p>
          <a:p>
            <a:pPr marL="366713" lvl="1" indent="0" algn="ctr">
              <a:buNone/>
              <a:defRPr/>
            </a:pPr>
            <a:r>
              <a:rPr lang="en-US" sz="2400" b="1" dirty="0">
                <a:solidFill>
                  <a:srgbClr val="00B050"/>
                </a:solidFill>
                <a:latin typeface="Aharoni" panose="02010803020104030203" pitchFamily="2" charset="-79"/>
                <a:cs typeface="Aharoni" panose="02010803020104030203" pitchFamily="2" charset="-79"/>
              </a:rPr>
              <a:t>What’s Olympus’ reference product</a:t>
            </a:r>
            <a:r>
              <a:rPr lang="en-US" sz="3200" b="1" dirty="0">
                <a:solidFill>
                  <a:srgbClr val="00B050"/>
                </a:solidFill>
                <a:latin typeface="Aharoni" panose="02010803020104030203" pitchFamily="2" charset="-79"/>
                <a:cs typeface="Aharoni" panose="02010803020104030203" pitchFamily="2" charset="-79"/>
              </a:rPr>
              <a:t>?</a:t>
            </a:r>
            <a:endParaRPr lang="en-US" sz="2400" b="1" dirty="0">
              <a:solidFill>
                <a:srgbClr val="00B050"/>
              </a:solidFill>
              <a:latin typeface="Aharoni" panose="02010803020104030203" pitchFamily="2" charset="-79"/>
              <a:cs typeface="Aharoni" panose="02010803020104030203" pitchFamily="2" charset="-79"/>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14</a:t>
            </a:fld>
            <a:endParaRPr lang="en-US"/>
          </a:p>
        </p:txBody>
      </p:sp>
      <p:sp>
        <p:nvSpPr>
          <p:cNvPr id="6" name="Title 1"/>
          <p:cNvSpPr>
            <a:spLocks noGrp="1"/>
          </p:cNvSpPr>
          <p:nvPr>
            <p:ph type="title"/>
          </p:nvPr>
        </p:nvSpPr>
        <p:spPr>
          <a:xfrm>
            <a:off x="612648" y="228600"/>
            <a:ext cx="8153400" cy="990600"/>
          </a:xfrm>
        </p:spPr>
        <p:txBody>
          <a:bodyPr>
            <a:normAutofit fontScale="90000"/>
          </a:bodyPr>
          <a:lstStyle/>
          <a:p>
            <a:r>
              <a:rPr lang="en-US" sz="4400" dirty="0"/>
              <a:t>Market Analysis: Olympus Launch</a:t>
            </a:r>
            <a:br>
              <a:rPr lang="en-US" sz="4400" dirty="0"/>
            </a:br>
            <a:r>
              <a:rPr lang="en-US" sz="3600" dirty="0"/>
              <a:t>   Assess Olympus launch price incentives</a:t>
            </a:r>
          </a:p>
        </p:txBody>
      </p:sp>
      <p:sp>
        <p:nvSpPr>
          <p:cNvPr id="7" name="Text Placeholder 2"/>
          <p:cNvSpPr txBox="1">
            <a:spLocks/>
          </p:cNvSpPr>
          <p:nvPr/>
        </p:nvSpPr>
        <p:spPr>
          <a:xfrm>
            <a:off x="556562" y="831929"/>
            <a:ext cx="403384" cy="403384"/>
          </a:xfrm>
          <a:prstGeom prst="ellipse">
            <a:avLst/>
          </a:prstGeom>
          <a:solidFill>
            <a:srgbClr val="92D050"/>
          </a:solidFill>
        </p:spPr>
        <p:txBody>
          <a:bodyPr anchor="ctr" anchorCtr="1"/>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mn-cs"/>
              </a:defRPr>
            </a:lvl1pPr>
            <a:lvl2pPr marL="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342900" indent="-342900" algn="l" defTabSz="914400" rtl="0" eaLnBrk="1" latinLnBrk="0" hangingPunct="1">
              <a:lnSpc>
                <a:spcPct val="90000"/>
              </a:lnSpc>
              <a:spcBef>
                <a:spcPts val="500"/>
              </a:spcBef>
              <a:buFont typeface="HelveticaNeueLT Std Lt" panose="020B0403020202020204" pitchFamily="34" charset="0"/>
              <a:buChar char="+"/>
              <a:defRPr sz="2000" kern="1200">
                <a:solidFill>
                  <a:schemeClr val="tx1"/>
                </a:solidFill>
                <a:latin typeface="+mn-lt"/>
                <a:ea typeface="+mn-ea"/>
                <a:cs typeface="+mn-cs"/>
              </a:defRPr>
            </a:lvl3pPr>
            <a:lvl4pPr marL="347663" indent="0" algn="l" defTabSz="914400" rtl="0" eaLnBrk="1" latinLnBrk="0" hangingPunct="1">
              <a:lnSpc>
                <a:spcPct val="90000"/>
              </a:lnSpc>
              <a:spcBef>
                <a:spcPts val="500"/>
              </a:spcBef>
              <a:buFontTx/>
              <a:buNone/>
              <a:defRPr sz="1800" b="1" kern="1200">
                <a:solidFill>
                  <a:schemeClr val="tx1"/>
                </a:solidFill>
                <a:latin typeface="+mn-lt"/>
                <a:ea typeface="+mn-ea"/>
                <a:cs typeface="+mn-cs"/>
              </a:defRPr>
            </a:lvl4pPr>
            <a:lvl5pPr marL="347663"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latin typeface="Arial" panose="020B0604020202020204" pitchFamily="34" charset="0"/>
                <a:cs typeface="Arial" panose="020B0604020202020204" pitchFamily="34" charset="0"/>
              </a:rPr>
              <a:t>2</a:t>
            </a:r>
          </a:p>
        </p:txBody>
      </p:sp>
    </p:spTree>
    <p:extLst>
      <p:ext uri="{BB962C8B-B14F-4D97-AF65-F5344CB8AC3E}">
        <p14:creationId xmlns:p14="http://schemas.microsoft.com/office/powerpoint/2010/main" val="209394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Demand for Olympus 12.2 MP DSLR</a:t>
            </a:r>
          </a:p>
        </p:txBody>
      </p:sp>
      <p:sp>
        <p:nvSpPr>
          <p:cNvPr id="5" name="Rectangle 3"/>
          <p:cNvSpPr>
            <a:spLocks noGrp="1" noChangeArrowheads="1"/>
          </p:cNvSpPr>
          <p:nvPr>
            <p:ph sz="quarter" idx="1"/>
          </p:nvPr>
        </p:nvSpPr>
        <p:spPr>
          <a:xfrm>
            <a:off x="612648" y="1600200"/>
            <a:ext cx="8153400" cy="5105400"/>
          </a:xfrm>
        </p:spPr>
        <p:txBody>
          <a:bodyPr>
            <a:normAutofit fontScale="92500"/>
          </a:bodyPr>
          <a:lstStyle/>
          <a:p>
            <a:pPr>
              <a:lnSpc>
                <a:spcPct val="90000"/>
              </a:lnSpc>
              <a:spcAft>
                <a:spcPts val="600"/>
              </a:spcAft>
              <a:defRPr/>
            </a:pPr>
            <a:r>
              <a:rPr lang="en-US" sz="2400" dirty="0">
                <a:latin typeface="+mj-lt"/>
              </a:rPr>
              <a:t>First, determin</a:t>
            </a:r>
            <a:r>
              <a:rPr lang="en-US" dirty="0"/>
              <a:t>e Olympus’ reference product in each segment</a:t>
            </a:r>
          </a:p>
          <a:p>
            <a:pPr>
              <a:lnSpc>
                <a:spcPct val="90000"/>
              </a:lnSpc>
              <a:spcAft>
                <a:spcPts val="600"/>
              </a:spcAft>
              <a:defRPr/>
            </a:pPr>
            <a:r>
              <a:rPr lang="en-US" sz="2400" dirty="0">
                <a:latin typeface="+mj-lt"/>
              </a:rPr>
              <a:t>Can just use the demand curves</a:t>
            </a:r>
          </a:p>
          <a:p>
            <a:pPr>
              <a:lnSpc>
                <a:spcPct val="90000"/>
              </a:lnSpc>
              <a:spcAft>
                <a:spcPts val="600"/>
              </a:spcAft>
              <a:defRPr/>
            </a:pPr>
            <a:r>
              <a:rPr lang="en-US" dirty="0"/>
              <a:t>OR …</a:t>
            </a:r>
            <a:endParaRPr lang="en-US" sz="2400" dirty="0">
              <a:latin typeface="+mj-lt"/>
            </a:endParaRPr>
          </a:p>
          <a:p>
            <a:pPr lvl="1">
              <a:lnSpc>
                <a:spcPct val="90000"/>
              </a:lnSpc>
              <a:spcAft>
                <a:spcPts val="600"/>
              </a:spcAft>
              <a:defRPr/>
            </a:pPr>
            <a:r>
              <a:rPr lang="en-US" dirty="0">
                <a:latin typeface="+mj-lt"/>
              </a:rPr>
              <a:t>If Olympus not offered, will segment pick base Sony or Canon?</a:t>
            </a:r>
          </a:p>
          <a:p>
            <a:pPr lvl="2">
              <a:lnSpc>
                <a:spcPct val="90000"/>
              </a:lnSpc>
              <a:spcAft>
                <a:spcPts val="600"/>
              </a:spcAft>
              <a:defRPr/>
            </a:pPr>
            <a:r>
              <a:rPr lang="en-US" dirty="0">
                <a:latin typeface="+mj-lt"/>
              </a:rPr>
              <a:t>Canon-Sony Price: $30</a:t>
            </a:r>
          </a:p>
          <a:p>
            <a:pPr lvl="2">
              <a:lnSpc>
                <a:spcPct val="90000"/>
              </a:lnSpc>
              <a:spcAft>
                <a:spcPts val="1200"/>
              </a:spcAft>
              <a:defRPr/>
            </a:pPr>
            <a:r>
              <a:rPr lang="en-US" dirty="0">
                <a:latin typeface="+mj-lt"/>
              </a:rPr>
              <a:t>If the Diff. Value &gt; $30 then buy Canon</a:t>
            </a:r>
          </a:p>
          <a:p>
            <a:pPr lvl="1">
              <a:lnSpc>
                <a:spcPct val="90000"/>
              </a:lnSpc>
              <a:spcAft>
                <a:spcPts val="600"/>
              </a:spcAft>
              <a:defRPr/>
            </a:pPr>
            <a:r>
              <a:rPr lang="en-US" dirty="0">
                <a:latin typeface="+mj-lt"/>
              </a:rPr>
              <a:t>Diff. Value of Canon vs. Sony</a:t>
            </a:r>
          </a:p>
          <a:p>
            <a:pPr lvl="2">
              <a:lnSpc>
                <a:spcPct val="90000"/>
              </a:lnSpc>
              <a:spcAft>
                <a:spcPts val="600"/>
              </a:spcAft>
              <a:defRPr/>
            </a:pPr>
            <a:r>
              <a:rPr lang="en-US" dirty="0" err="1">
                <a:latin typeface="+mj-lt"/>
              </a:rPr>
              <a:t>Seg</a:t>
            </a:r>
            <a:r>
              <a:rPr lang="en-US" dirty="0">
                <a:latin typeface="+mj-lt"/>
              </a:rPr>
              <a:t>. A: +$50 &gt; $30 so buy Canon</a:t>
            </a:r>
          </a:p>
          <a:p>
            <a:pPr lvl="2">
              <a:lnSpc>
                <a:spcPct val="90000"/>
              </a:lnSpc>
              <a:spcAft>
                <a:spcPts val="600"/>
              </a:spcAft>
              <a:defRPr/>
            </a:pPr>
            <a:r>
              <a:rPr lang="en-US" dirty="0" err="1">
                <a:latin typeface="+mj-lt"/>
              </a:rPr>
              <a:t>Seg</a:t>
            </a:r>
            <a:r>
              <a:rPr lang="en-US" dirty="0">
                <a:latin typeface="+mj-lt"/>
              </a:rPr>
              <a:t>. B: -$40 &lt; $30 so buy Sony</a:t>
            </a:r>
          </a:p>
          <a:p>
            <a:pPr lvl="2">
              <a:lnSpc>
                <a:spcPct val="90000"/>
              </a:lnSpc>
              <a:spcAft>
                <a:spcPts val="1200"/>
              </a:spcAft>
              <a:defRPr/>
            </a:pPr>
            <a:r>
              <a:rPr lang="en-US" dirty="0" err="1">
                <a:latin typeface="+mj-lt"/>
              </a:rPr>
              <a:t>Seg</a:t>
            </a:r>
            <a:r>
              <a:rPr lang="en-US" dirty="0">
                <a:latin typeface="+mj-lt"/>
              </a:rPr>
              <a:t>. C: +$67 &gt; $30 so buy Canon</a:t>
            </a:r>
          </a:p>
          <a:p>
            <a:pPr>
              <a:lnSpc>
                <a:spcPct val="90000"/>
              </a:lnSpc>
              <a:spcAft>
                <a:spcPts val="600"/>
              </a:spcAft>
              <a:defRPr/>
            </a:pPr>
            <a:r>
              <a:rPr lang="en-US" sz="2400" dirty="0">
                <a:latin typeface="+mj-lt"/>
              </a:rPr>
              <a:t>This gives us the Reference Brand for each segment.</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15</a:t>
            </a:fld>
            <a:endParaRPr lang="en-US"/>
          </a:p>
        </p:txBody>
      </p:sp>
      <p:sp>
        <p:nvSpPr>
          <p:cNvPr id="3" name="Rectangle 2"/>
          <p:cNvSpPr/>
          <p:nvPr/>
        </p:nvSpPr>
        <p:spPr>
          <a:xfrm>
            <a:off x="914400" y="2057400"/>
            <a:ext cx="3733800" cy="457200"/>
          </a:xfrm>
          <a:prstGeom prst="rect">
            <a:avLst/>
          </a:prstGeom>
          <a:solidFill>
            <a:srgbClr val="FFFF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ine 3"/>
          <p:cNvSpPr>
            <a:spLocks noChangeShapeType="1"/>
          </p:cNvSpPr>
          <p:nvPr/>
        </p:nvSpPr>
        <p:spPr bwMode="auto">
          <a:xfrm>
            <a:off x="1753257" y="5773864"/>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7" name="Line 4"/>
          <p:cNvSpPr>
            <a:spLocks noChangeShapeType="1"/>
          </p:cNvSpPr>
          <p:nvPr/>
        </p:nvSpPr>
        <p:spPr bwMode="auto">
          <a:xfrm flipV="1">
            <a:off x="1753257" y="2649664"/>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8" name="Text Box 6"/>
          <p:cNvSpPr txBox="1">
            <a:spLocks noChangeArrowheads="1"/>
          </p:cNvSpPr>
          <p:nvPr/>
        </p:nvSpPr>
        <p:spPr bwMode="auto">
          <a:xfrm>
            <a:off x="915057" y="3030664"/>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$317</a:t>
            </a:r>
          </a:p>
        </p:txBody>
      </p:sp>
      <p:sp>
        <p:nvSpPr>
          <p:cNvPr id="9" name="Text Box 7"/>
          <p:cNvSpPr txBox="1">
            <a:spLocks noChangeArrowheads="1"/>
          </p:cNvSpPr>
          <p:nvPr/>
        </p:nvSpPr>
        <p:spPr bwMode="auto">
          <a:xfrm>
            <a:off x="915057" y="3259264"/>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$300</a:t>
            </a:r>
          </a:p>
        </p:txBody>
      </p:sp>
      <p:sp>
        <p:nvSpPr>
          <p:cNvPr id="10" name="Text Box 8"/>
          <p:cNvSpPr txBox="1">
            <a:spLocks noChangeArrowheads="1"/>
          </p:cNvSpPr>
          <p:nvPr/>
        </p:nvSpPr>
        <p:spPr bwMode="auto">
          <a:xfrm>
            <a:off x="915057" y="4249864"/>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$210</a:t>
            </a:r>
          </a:p>
        </p:txBody>
      </p:sp>
      <p:sp>
        <p:nvSpPr>
          <p:cNvPr id="11" name="Text Box 9"/>
          <p:cNvSpPr txBox="1">
            <a:spLocks noChangeArrowheads="1"/>
          </p:cNvSpPr>
          <p:nvPr/>
        </p:nvSpPr>
        <p:spPr bwMode="auto">
          <a:xfrm>
            <a:off x="3992425" y="6005512"/>
            <a:ext cx="1006750" cy="523220"/>
          </a:xfrm>
          <a:prstGeom prst="rect">
            <a:avLst/>
          </a:prstGeom>
          <a:noFill/>
          <a:ln w="12700">
            <a:noFill/>
            <a:miter lim="800000"/>
            <a:headEnd/>
            <a:tailEnd/>
          </a:ln>
        </p:spPr>
        <p:txBody>
          <a:bodyPr wrap="none">
            <a:spAutoFit/>
          </a:bodyPr>
          <a:lstStyle/>
          <a:p>
            <a:r>
              <a:rPr lang="en-US" sz="1400" b="1" dirty="0"/>
              <a:t>Segment A</a:t>
            </a:r>
          </a:p>
          <a:p>
            <a:pPr algn="ctr"/>
            <a:r>
              <a:rPr lang="en-US" sz="1400" b="1" dirty="0"/>
              <a:t>(40%)</a:t>
            </a:r>
            <a:endParaRPr lang="en-US" b="1" dirty="0"/>
          </a:p>
        </p:txBody>
      </p:sp>
      <p:sp>
        <p:nvSpPr>
          <p:cNvPr id="12" name="Text Box 10"/>
          <p:cNvSpPr txBox="1">
            <a:spLocks noChangeArrowheads="1"/>
          </p:cNvSpPr>
          <p:nvPr/>
        </p:nvSpPr>
        <p:spPr bwMode="auto">
          <a:xfrm>
            <a:off x="5490105" y="6005512"/>
            <a:ext cx="1007007" cy="523220"/>
          </a:xfrm>
          <a:prstGeom prst="rect">
            <a:avLst/>
          </a:prstGeom>
          <a:noFill/>
          <a:ln w="12700">
            <a:noFill/>
            <a:miter lim="800000"/>
            <a:headEnd/>
            <a:tailEnd/>
          </a:ln>
        </p:spPr>
        <p:txBody>
          <a:bodyPr wrap="none">
            <a:spAutoFit/>
          </a:bodyPr>
          <a:lstStyle/>
          <a:p>
            <a:r>
              <a:rPr lang="en-US" sz="1400" b="1" dirty="0"/>
              <a:t>Segment B</a:t>
            </a:r>
          </a:p>
          <a:p>
            <a:pPr algn="ctr"/>
            <a:r>
              <a:rPr lang="en-US" sz="1400" b="1" dirty="0"/>
              <a:t>(20%)</a:t>
            </a:r>
            <a:endParaRPr lang="en-US" b="1" dirty="0"/>
          </a:p>
        </p:txBody>
      </p:sp>
      <p:sp>
        <p:nvSpPr>
          <p:cNvPr id="13" name="Text Box 11"/>
          <p:cNvSpPr txBox="1">
            <a:spLocks noChangeArrowheads="1"/>
          </p:cNvSpPr>
          <p:nvPr/>
        </p:nvSpPr>
        <p:spPr bwMode="auto">
          <a:xfrm>
            <a:off x="2058057" y="6002464"/>
            <a:ext cx="1008063" cy="523220"/>
          </a:xfrm>
          <a:prstGeom prst="rect">
            <a:avLst/>
          </a:prstGeom>
          <a:noFill/>
          <a:ln w="12700">
            <a:noFill/>
            <a:miter lim="800000"/>
            <a:headEnd/>
            <a:tailEnd/>
          </a:ln>
        </p:spPr>
        <p:txBody>
          <a:bodyPr>
            <a:spAutoFit/>
          </a:bodyPr>
          <a:lstStyle/>
          <a:p>
            <a:r>
              <a:rPr lang="en-US" sz="1400" b="1" dirty="0"/>
              <a:t>Segment C</a:t>
            </a:r>
          </a:p>
          <a:p>
            <a:pPr algn="ctr"/>
            <a:r>
              <a:rPr lang="en-US" sz="1400" b="1" dirty="0"/>
              <a:t>(40%)</a:t>
            </a:r>
            <a:endParaRPr lang="en-US" b="1" dirty="0"/>
          </a:p>
        </p:txBody>
      </p:sp>
      <p:sp>
        <p:nvSpPr>
          <p:cNvPr id="14" name="Text Box 18"/>
          <p:cNvSpPr txBox="1">
            <a:spLocks noChangeArrowheads="1"/>
          </p:cNvSpPr>
          <p:nvPr/>
        </p:nvSpPr>
        <p:spPr bwMode="auto">
          <a:xfrm>
            <a:off x="6603863" y="4249864"/>
            <a:ext cx="1484702" cy="523220"/>
          </a:xfrm>
          <a:prstGeom prst="rect">
            <a:avLst/>
          </a:prstGeom>
          <a:noFill/>
          <a:ln w="12700">
            <a:noFill/>
            <a:miter lim="800000"/>
            <a:headEnd/>
            <a:tailEnd/>
          </a:ln>
        </p:spPr>
        <p:txBody>
          <a:bodyPr wrap="none">
            <a:spAutoFit/>
          </a:bodyPr>
          <a:lstStyle/>
          <a:p>
            <a:r>
              <a:rPr lang="en-US" sz="1400" b="1" dirty="0"/>
              <a:t>Canon Demand</a:t>
            </a:r>
          </a:p>
          <a:p>
            <a:r>
              <a:rPr lang="en-US" sz="1400" b="1" dirty="0"/>
              <a:t>Before Olympus</a:t>
            </a:r>
            <a:endParaRPr lang="en-US" b="1" u="sng" dirty="0"/>
          </a:p>
        </p:txBody>
      </p:sp>
      <p:cxnSp>
        <p:nvCxnSpPr>
          <p:cNvPr id="15" name="Straight Connector 14"/>
          <p:cNvCxnSpPr/>
          <p:nvPr/>
        </p:nvCxnSpPr>
        <p:spPr>
          <a:xfrm>
            <a:off x="1753257" y="3183064"/>
            <a:ext cx="1828800" cy="18288"/>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582057" y="3441585"/>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410857" y="4432276"/>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582057" y="3183063"/>
            <a:ext cx="0" cy="27432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97917" y="3425950"/>
            <a:ext cx="0" cy="1024128"/>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98808" y="3482688"/>
            <a:ext cx="816249" cy="461665"/>
          </a:xfrm>
          <a:prstGeom prst="rect">
            <a:avLst/>
          </a:prstGeom>
          <a:noFill/>
        </p:spPr>
        <p:txBody>
          <a:bodyPr wrap="none" rtlCol="0">
            <a:spAutoFit/>
          </a:bodyPr>
          <a:lstStyle/>
          <a:p>
            <a:r>
              <a:rPr lang="en-US" dirty="0"/>
              <a:t>Price</a:t>
            </a:r>
          </a:p>
        </p:txBody>
      </p:sp>
      <p:sp>
        <p:nvSpPr>
          <p:cNvPr id="21" name="TextBox 20"/>
          <p:cNvSpPr txBox="1"/>
          <p:nvPr/>
        </p:nvSpPr>
        <p:spPr>
          <a:xfrm>
            <a:off x="7468257" y="5845598"/>
            <a:ext cx="1260281" cy="461665"/>
          </a:xfrm>
          <a:prstGeom prst="rect">
            <a:avLst/>
          </a:prstGeom>
          <a:noFill/>
        </p:spPr>
        <p:txBody>
          <a:bodyPr wrap="none" rtlCol="0">
            <a:spAutoFit/>
          </a:bodyPr>
          <a:lstStyle/>
          <a:p>
            <a:r>
              <a:rPr lang="en-US" dirty="0"/>
              <a:t>Quantity</a:t>
            </a:r>
          </a:p>
        </p:txBody>
      </p:sp>
      <p:sp>
        <p:nvSpPr>
          <p:cNvPr id="22" name="Line 20"/>
          <p:cNvSpPr>
            <a:spLocks noChangeShapeType="1"/>
          </p:cNvSpPr>
          <p:nvPr/>
        </p:nvSpPr>
        <p:spPr bwMode="auto">
          <a:xfrm>
            <a:off x="1753257" y="3792664"/>
            <a:ext cx="5181600" cy="0"/>
          </a:xfrm>
          <a:prstGeom prst="line">
            <a:avLst/>
          </a:prstGeom>
          <a:noFill/>
          <a:ln w="12700">
            <a:solidFill>
              <a:srgbClr val="00B050"/>
            </a:solidFill>
            <a:prstDash val="dash"/>
            <a:round/>
            <a:headEnd/>
            <a:tailEnd/>
          </a:ln>
        </p:spPr>
        <p:txBody>
          <a:bodyPr wrap="none" lIns="90488" tIns="44450" rIns="90488" bIns="44450"/>
          <a:lstStyle/>
          <a:p>
            <a:endParaRPr lang="en-US"/>
          </a:p>
        </p:txBody>
      </p:sp>
      <p:sp>
        <p:nvSpPr>
          <p:cNvPr id="23" name="Text Box 21"/>
          <p:cNvSpPr txBox="1">
            <a:spLocks noChangeArrowheads="1"/>
          </p:cNvSpPr>
          <p:nvPr/>
        </p:nvSpPr>
        <p:spPr bwMode="auto">
          <a:xfrm>
            <a:off x="6934857" y="3640264"/>
            <a:ext cx="835229" cy="307777"/>
          </a:xfrm>
          <a:prstGeom prst="rect">
            <a:avLst/>
          </a:prstGeom>
          <a:noFill/>
          <a:ln w="12700">
            <a:noFill/>
            <a:miter lim="800000"/>
            <a:headEnd/>
            <a:tailEnd/>
          </a:ln>
        </p:spPr>
        <p:txBody>
          <a:bodyPr wrap="none">
            <a:spAutoFit/>
          </a:bodyPr>
          <a:lstStyle/>
          <a:p>
            <a:r>
              <a:rPr lang="en-US" sz="1400" b="1" dirty="0">
                <a:solidFill>
                  <a:srgbClr val="00B050"/>
                </a:solidFill>
              </a:rPr>
              <a:t>P = $280</a:t>
            </a:r>
            <a:endParaRPr lang="en-US" b="1" u="sng" dirty="0">
              <a:solidFill>
                <a:srgbClr val="00B050"/>
              </a:solidFill>
            </a:endParaRPr>
          </a:p>
        </p:txBody>
      </p:sp>
    </p:spTree>
    <p:extLst>
      <p:ext uri="{BB962C8B-B14F-4D97-AF65-F5344CB8AC3E}">
        <p14:creationId xmlns:p14="http://schemas.microsoft.com/office/powerpoint/2010/main" val="127912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p:bldP spid="9" grpId="0"/>
      <p:bldP spid="10" grpId="0"/>
      <p:bldP spid="11" grpId="0"/>
      <p:bldP spid="12" grpId="0"/>
      <p:bldP spid="13" grpId="0"/>
      <p:bldP spid="14" grpId="0"/>
      <p:bldP spid="20" grpId="0"/>
      <p:bldP spid="21" grpId="0"/>
      <p:bldP spid="22" grpId="0" animBg="1"/>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a:spLocks noGrp="1" noChangeArrowheads="1"/>
          </p:cNvSpPr>
          <p:nvPr>
            <p:ph type="title"/>
          </p:nvPr>
        </p:nvSpPr>
        <p:spPr/>
        <p:txBody>
          <a:bodyPr/>
          <a:lstStyle/>
          <a:p>
            <a:r>
              <a:rPr lang="en-US" sz="4000" dirty="0"/>
              <a:t>Demand for Olympus 12.2 MP DSLR</a:t>
            </a:r>
            <a:br>
              <a:rPr lang="en-US" sz="4800" dirty="0"/>
            </a:br>
            <a:r>
              <a:rPr lang="en-US" sz="3200" dirty="0"/>
              <a:t>Canon Base $280, Sony Base $250</a:t>
            </a:r>
          </a:p>
        </p:txBody>
      </p:sp>
      <p:sp>
        <p:nvSpPr>
          <p:cNvPr id="3" name="Slide Number Placeholder 2"/>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16</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1942828498"/>
              </p:ext>
            </p:extLst>
          </p:nvPr>
        </p:nvGraphicFramePr>
        <p:xfrm>
          <a:off x="1066800" y="1600200"/>
          <a:ext cx="5679441" cy="5120640"/>
        </p:xfrm>
        <a:graphic>
          <a:graphicData uri="http://schemas.openxmlformats.org/drawingml/2006/table">
            <a:tbl>
              <a:tblPr firstRow="1" bandRow="1">
                <a:tableStyleId>{5C22544A-7EE6-4342-B048-85BDC9FD1C3A}</a:tableStyleId>
              </a:tblPr>
              <a:tblGrid>
                <a:gridCol w="1339491">
                  <a:extLst>
                    <a:ext uri="{9D8B030D-6E8A-4147-A177-3AD203B41FA5}">
                      <a16:colId xmlns:a16="http://schemas.microsoft.com/office/drawing/2014/main" val="3686849379"/>
                    </a:ext>
                  </a:extLst>
                </a:gridCol>
                <a:gridCol w="1446650">
                  <a:extLst>
                    <a:ext uri="{9D8B030D-6E8A-4147-A177-3AD203B41FA5}">
                      <a16:colId xmlns:a16="http://schemas.microsoft.com/office/drawing/2014/main" val="4233504509"/>
                    </a:ext>
                  </a:extLst>
                </a:gridCol>
                <a:gridCol w="1446650">
                  <a:extLst>
                    <a:ext uri="{9D8B030D-6E8A-4147-A177-3AD203B41FA5}">
                      <a16:colId xmlns:a16="http://schemas.microsoft.com/office/drawing/2014/main" val="107695191"/>
                    </a:ext>
                  </a:extLst>
                </a:gridCol>
                <a:gridCol w="1446650">
                  <a:extLst>
                    <a:ext uri="{9D8B030D-6E8A-4147-A177-3AD203B41FA5}">
                      <a16:colId xmlns:a16="http://schemas.microsoft.com/office/drawing/2014/main" val="3207602153"/>
                    </a:ext>
                  </a:extLst>
                </a:gridCol>
              </a:tblGrid>
              <a:tr h="182880">
                <a:tc gridSpan="4">
                  <a:txBody>
                    <a:bodyPr/>
                    <a:lstStyle/>
                    <a:p>
                      <a:r>
                        <a:rPr lang="en-US" dirty="0"/>
                        <a:t>Canon Base Model                       Sony</a:t>
                      </a:r>
                      <a:r>
                        <a:rPr lang="en-US" baseline="0" dirty="0"/>
                        <a:t> Base Model</a:t>
                      </a:r>
                      <a:endParaRPr lang="en-US" dirty="0"/>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323413666"/>
                  </a:ext>
                </a:extLst>
              </a:tr>
              <a:tr h="182880">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Price = $280                               Price = $250</a:t>
                      </a: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011934992"/>
                  </a:ext>
                </a:extLst>
              </a:tr>
              <a:tr h="182880">
                <a:tc gridSpan="4">
                  <a:txBody>
                    <a:bodyPr/>
                    <a:lstStyle/>
                    <a:p>
                      <a:r>
                        <a:rPr lang="en-US" sz="1400" dirty="0"/>
                        <a:t>Segments A &amp;</a:t>
                      </a:r>
                      <a:r>
                        <a:rPr lang="en-US" sz="1400" baseline="0" dirty="0"/>
                        <a:t> C prefer Canon</a:t>
                      </a:r>
                      <a:endParaRPr lang="en-US" sz="1400" dirty="0"/>
                    </a:p>
                  </a:txBody>
                  <a:tcPr>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4688910"/>
                  </a:ext>
                </a:extLst>
              </a:tr>
              <a:tr h="182880">
                <a:tc gridSpan="4">
                  <a:txBody>
                    <a:bodyPr/>
                    <a:lstStyle/>
                    <a:p>
                      <a:r>
                        <a:rPr lang="en-US" sz="1400" dirty="0"/>
                        <a:t>Segment B prefers Sony</a:t>
                      </a:r>
                    </a:p>
                  </a:txBody>
                  <a:tcPr>
                    <a:solidFill>
                      <a:schemeClr val="accent1">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87585041"/>
                  </a:ext>
                </a:extLst>
              </a:tr>
              <a:tr h="182880">
                <a:tc gridSpan="4">
                  <a:txBody>
                    <a:bodyPr/>
                    <a:lstStyle/>
                    <a:p>
                      <a:r>
                        <a:rPr lang="en-US" sz="1400" dirty="0"/>
                        <a:t>What is demand for Olympus</a:t>
                      </a:r>
                      <a:r>
                        <a:rPr lang="en-US" sz="1400" baseline="0" dirty="0"/>
                        <a:t> 12.2 MP, DSLR</a:t>
                      </a:r>
                      <a:r>
                        <a:rPr lang="en-US" sz="1400" dirty="0"/>
                        <a:t> Model?</a:t>
                      </a: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017374537"/>
                  </a:ext>
                </a:extLst>
              </a:tr>
              <a:tr h="182880">
                <a:tc gridSpan="4">
                  <a:txBody>
                    <a:bodyPr/>
                    <a:lstStyle/>
                    <a:p>
                      <a:endParaRPr lang="en-US" sz="100" dirty="0"/>
                    </a:p>
                  </a:txBody>
                  <a:tcPr>
                    <a:solidFill>
                      <a:schemeClr val="bg1"/>
                    </a:solidFill>
                  </a:tcPr>
                </a:tc>
                <a:tc hMerge="1">
                  <a:txBody>
                    <a:bodyPr/>
                    <a:lstStyle/>
                    <a:p>
                      <a:endParaRPr lang="en-US" dirty="0"/>
                    </a:p>
                  </a:txBody>
                  <a:tcPr>
                    <a:solidFill>
                      <a:schemeClr val="bg1"/>
                    </a:solidFill>
                  </a:tcPr>
                </a:tc>
                <a:tc hMerge="1">
                  <a:txBody>
                    <a:bodyPr/>
                    <a:lstStyle/>
                    <a:p>
                      <a:endParaRPr lang="en-US" sz="300" dirty="0"/>
                    </a:p>
                  </a:txBody>
                  <a:tcPr>
                    <a:solidFill>
                      <a:schemeClr val="bg1"/>
                    </a:solidFill>
                  </a:tcPr>
                </a:tc>
                <a:tc hMerge="1">
                  <a:txBody>
                    <a:bodyPr/>
                    <a:lstStyle/>
                    <a:p>
                      <a:endParaRPr lang="en-US" dirty="0"/>
                    </a:p>
                  </a:txBody>
                  <a:tcPr>
                    <a:solidFill>
                      <a:schemeClr val="bg1"/>
                    </a:solidFill>
                  </a:tcPr>
                </a:tc>
                <a:extLst>
                  <a:ext uri="{0D108BD9-81ED-4DB2-BD59-A6C34878D82A}">
                    <a16:rowId xmlns:a16="http://schemas.microsoft.com/office/drawing/2014/main" val="1511773006"/>
                  </a:ext>
                </a:extLst>
              </a:tr>
              <a:tr h="182880">
                <a:tc>
                  <a:txBody>
                    <a:bodyPr/>
                    <a:lstStyle/>
                    <a:p>
                      <a:endParaRPr lang="en-US" dirty="0"/>
                    </a:p>
                  </a:txBody>
                  <a:tcPr>
                    <a:solidFill>
                      <a:schemeClr val="bg2">
                        <a:lumMod val="50000"/>
                      </a:schemeClr>
                    </a:solidFill>
                  </a:tcPr>
                </a:tc>
                <a:tc>
                  <a:txBody>
                    <a:bodyPr/>
                    <a:lstStyle/>
                    <a:p>
                      <a:pPr algn="ctr"/>
                      <a:r>
                        <a:rPr lang="en-US" dirty="0"/>
                        <a:t>Segment A</a:t>
                      </a:r>
                    </a:p>
                  </a:txBody>
                  <a:tcPr anchor="ctr">
                    <a:solidFill>
                      <a:schemeClr val="bg2">
                        <a:lumMod val="50000"/>
                      </a:schemeClr>
                    </a:solidFill>
                  </a:tcPr>
                </a:tc>
                <a:tc>
                  <a:txBody>
                    <a:bodyPr/>
                    <a:lstStyle/>
                    <a:p>
                      <a:pPr algn="ctr"/>
                      <a:r>
                        <a:rPr lang="en-US" dirty="0"/>
                        <a:t>Segment B</a:t>
                      </a:r>
                    </a:p>
                  </a:txBody>
                  <a:tcPr anchor="ctr">
                    <a:solidFill>
                      <a:schemeClr val="bg2">
                        <a:lumMod val="50000"/>
                      </a:schemeClr>
                    </a:solidFill>
                  </a:tcPr>
                </a:tc>
                <a:tc>
                  <a:txBody>
                    <a:bodyPr/>
                    <a:lstStyle/>
                    <a:p>
                      <a:pPr algn="ctr"/>
                      <a:r>
                        <a:rPr lang="en-US" dirty="0"/>
                        <a:t>Segment</a:t>
                      </a:r>
                      <a:r>
                        <a:rPr lang="en-US" baseline="0" dirty="0"/>
                        <a:t> C</a:t>
                      </a:r>
                      <a:endParaRPr lang="en-US" dirty="0"/>
                    </a:p>
                  </a:txBody>
                  <a:tcPr anchor="ctr">
                    <a:solidFill>
                      <a:schemeClr val="bg2">
                        <a:lumMod val="50000"/>
                      </a:schemeClr>
                    </a:solidFill>
                  </a:tcPr>
                </a:tc>
                <a:extLst>
                  <a:ext uri="{0D108BD9-81ED-4DB2-BD59-A6C34878D82A}">
                    <a16:rowId xmlns:a16="http://schemas.microsoft.com/office/drawing/2014/main" val="2011733741"/>
                  </a:ext>
                </a:extLst>
              </a:tr>
              <a:tr h="182880">
                <a:tc>
                  <a:txBody>
                    <a:bodyPr/>
                    <a:lstStyle/>
                    <a:p>
                      <a:r>
                        <a:rPr lang="en-US" dirty="0"/>
                        <a:t>Ref Brand</a:t>
                      </a:r>
                    </a:p>
                  </a:txBody>
                  <a:tcPr anchor="ctr">
                    <a:solidFill>
                      <a:schemeClr val="accent1">
                        <a:lumMod val="20000"/>
                        <a:lumOff val="80000"/>
                      </a:schemeClr>
                    </a:solidFill>
                  </a:tcPr>
                </a:tc>
                <a:tc>
                  <a:txBody>
                    <a:bodyPr/>
                    <a:lstStyle/>
                    <a:p>
                      <a:pPr algn="ctr"/>
                      <a:r>
                        <a:rPr lang="en-US" dirty="0"/>
                        <a:t>Canon</a:t>
                      </a:r>
                    </a:p>
                  </a:txBody>
                  <a:tcPr anchor="ctr">
                    <a:solidFill>
                      <a:schemeClr val="accent1">
                        <a:lumMod val="20000"/>
                        <a:lumOff val="80000"/>
                      </a:schemeClr>
                    </a:solidFill>
                  </a:tcPr>
                </a:tc>
                <a:tc>
                  <a:txBody>
                    <a:bodyPr/>
                    <a:lstStyle/>
                    <a:p>
                      <a:pPr algn="ctr"/>
                      <a:r>
                        <a:rPr lang="en-US" dirty="0"/>
                        <a:t>Sony</a:t>
                      </a:r>
                    </a:p>
                  </a:txBody>
                  <a:tcPr anchor="ctr">
                    <a:solidFill>
                      <a:schemeClr val="accent1">
                        <a:lumMod val="20000"/>
                        <a:lumOff val="80000"/>
                      </a:schemeClr>
                    </a:solidFill>
                  </a:tcPr>
                </a:tc>
                <a:tc>
                  <a:txBody>
                    <a:bodyPr/>
                    <a:lstStyle/>
                    <a:p>
                      <a:pPr algn="ctr"/>
                      <a:r>
                        <a:rPr lang="en-US" dirty="0"/>
                        <a:t>Canon</a:t>
                      </a:r>
                    </a:p>
                  </a:txBody>
                  <a:tcPr anchor="ctr">
                    <a:solidFill>
                      <a:schemeClr val="accent1">
                        <a:lumMod val="20000"/>
                        <a:lumOff val="80000"/>
                      </a:schemeClr>
                    </a:solidFill>
                  </a:tcPr>
                </a:tc>
                <a:extLst>
                  <a:ext uri="{0D108BD9-81ED-4DB2-BD59-A6C34878D82A}">
                    <a16:rowId xmlns:a16="http://schemas.microsoft.com/office/drawing/2014/main" val="295555190"/>
                  </a:ext>
                </a:extLst>
              </a:tr>
              <a:tr h="182880">
                <a:tc>
                  <a:txBody>
                    <a:bodyPr/>
                    <a:lstStyle/>
                    <a:p>
                      <a:r>
                        <a:rPr lang="en-US" dirty="0"/>
                        <a:t>Ref Value</a:t>
                      </a:r>
                    </a:p>
                  </a:txBody>
                  <a:tcPr anchor="ctr">
                    <a:solidFill>
                      <a:schemeClr val="accent1">
                        <a:lumMod val="20000"/>
                        <a:lumOff val="80000"/>
                      </a:schemeClr>
                    </a:solidFill>
                  </a:tcPr>
                </a:tc>
                <a:tc>
                  <a:txBody>
                    <a:bodyPr/>
                    <a:lstStyle/>
                    <a:p>
                      <a:pPr algn="r"/>
                      <a:r>
                        <a:rPr lang="en-US" dirty="0"/>
                        <a:t>$280</a:t>
                      </a:r>
                    </a:p>
                  </a:txBody>
                  <a:tcP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$250</a:t>
                      </a:r>
                    </a:p>
                  </a:txBody>
                  <a:tcP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$280</a:t>
                      </a:r>
                    </a:p>
                  </a:txBody>
                  <a:tcPr>
                    <a:solidFill>
                      <a:schemeClr val="accent1">
                        <a:lumMod val="20000"/>
                        <a:lumOff val="80000"/>
                      </a:schemeClr>
                    </a:solidFill>
                  </a:tcPr>
                </a:tc>
                <a:extLst>
                  <a:ext uri="{0D108BD9-81ED-4DB2-BD59-A6C34878D82A}">
                    <a16:rowId xmlns:a16="http://schemas.microsoft.com/office/drawing/2014/main" val="1431510000"/>
                  </a:ext>
                </a:extLst>
              </a:tr>
              <a:tr h="182880">
                <a:tc>
                  <a:txBody>
                    <a:bodyPr/>
                    <a:lstStyle/>
                    <a:p>
                      <a:endParaRPr lang="en-US" sz="100" dirty="0"/>
                    </a:p>
                  </a:txBody>
                  <a:tcPr anchor="ctr">
                    <a:solidFill>
                      <a:schemeClr val="bg1"/>
                    </a:solidFill>
                  </a:tcPr>
                </a:tc>
                <a:tc>
                  <a:txBody>
                    <a:bodyPr/>
                    <a:lstStyle/>
                    <a:p>
                      <a:endParaRPr lang="en-US" sz="100" dirty="0"/>
                    </a:p>
                  </a:txBody>
                  <a:tcPr>
                    <a:solidFill>
                      <a:schemeClr val="bg1"/>
                    </a:solidFill>
                  </a:tcPr>
                </a:tc>
                <a:tc>
                  <a:txBody>
                    <a:bodyPr/>
                    <a:lstStyle/>
                    <a:p>
                      <a:endParaRPr lang="en-US" sz="100" dirty="0"/>
                    </a:p>
                  </a:txBody>
                  <a:tcPr>
                    <a:solidFill>
                      <a:schemeClr val="bg1"/>
                    </a:solidFill>
                  </a:tcPr>
                </a:tc>
                <a:tc>
                  <a:txBody>
                    <a:bodyPr/>
                    <a:lstStyle/>
                    <a:p>
                      <a:endParaRPr lang="en-US" sz="100" dirty="0"/>
                    </a:p>
                  </a:txBody>
                  <a:tcPr>
                    <a:solidFill>
                      <a:schemeClr val="bg1"/>
                    </a:solidFill>
                  </a:tcPr>
                </a:tc>
                <a:extLst>
                  <a:ext uri="{0D108BD9-81ED-4DB2-BD59-A6C34878D82A}">
                    <a16:rowId xmlns:a16="http://schemas.microsoft.com/office/drawing/2014/main" val="883635369"/>
                  </a:ext>
                </a:extLst>
              </a:tr>
              <a:tr h="182880">
                <a:tc>
                  <a:txBody>
                    <a:bodyPr/>
                    <a:lstStyle/>
                    <a:p>
                      <a:r>
                        <a:rPr lang="en-US" dirty="0"/>
                        <a:t>Diff Value</a:t>
                      </a:r>
                    </a:p>
                  </a:txBody>
                  <a:tcPr anchor="ct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extLst>
                  <a:ext uri="{0D108BD9-81ED-4DB2-BD59-A6C34878D82A}">
                    <a16:rowId xmlns:a16="http://schemas.microsoft.com/office/drawing/2014/main" val="452319697"/>
                  </a:ext>
                </a:extLst>
              </a:tr>
              <a:tr h="182880">
                <a:tc>
                  <a:txBody>
                    <a:bodyPr/>
                    <a:lstStyle/>
                    <a:p>
                      <a:r>
                        <a:rPr lang="en-US" dirty="0"/>
                        <a:t>Meg</a:t>
                      </a:r>
                    </a:p>
                  </a:txBody>
                  <a:tcPr anchor="ctr">
                    <a:solidFill>
                      <a:schemeClr val="accent1">
                        <a:lumMod val="40000"/>
                        <a:lumOff val="60000"/>
                      </a:schemeClr>
                    </a:solidFill>
                  </a:tcPr>
                </a:tc>
                <a:tc>
                  <a:txBody>
                    <a:bodyPr/>
                    <a:lstStyle/>
                    <a:p>
                      <a:pPr algn="r"/>
                      <a:r>
                        <a:rPr lang="en-US" dirty="0"/>
                        <a:t>$120</a:t>
                      </a:r>
                    </a:p>
                  </a:txBody>
                  <a:tcPr>
                    <a:solidFill>
                      <a:schemeClr val="accent1">
                        <a:lumMod val="40000"/>
                        <a:lumOff val="60000"/>
                      </a:schemeClr>
                    </a:solidFill>
                  </a:tcPr>
                </a:tc>
                <a:tc>
                  <a:txBody>
                    <a:bodyPr/>
                    <a:lstStyle/>
                    <a:p>
                      <a:pPr algn="r"/>
                      <a:r>
                        <a:rPr lang="en-US" dirty="0"/>
                        <a:t>$  40</a:t>
                      </a:r>
                    </a:p>
                  </a:txBody>
                  <a:tcPr>
                    <a:solidFill>
                      <a:schemeClr val="accent1">
                        <a:lumMod val="40000"/>
                        <a:lumOff val="60000"/>
                      </a:schemeClr>
                    </a:solidFill>
                  </a:tcPr>
                </a:tc>
                <a:tc>
                  <a:txBody>
                    <a:bodyPr/>
                    <a:lstStyle/>
                    <a:p>
                      <a:pPr algn="r"/>
                      <a:r>
                        <a:rPr lang="en-US" dirty="0"/>
                        <a:t>$  60</a:t>
                      </a:r>
                    </a:p>
                  </a:txBody>
                  <a:tcPr>
                    <a:solidFill>
                      <a:schemeClr val="accent1">
                        <a:lumMod val="40000"/>
                        <a:lumOff val="60000"/>
                      </a:schemeClr>
                    </a:solidFill>
                  </a:tcPr>
                </a:tc>
                <a:extLst>
                  <a:ext uri="{0D108BD9-81ED-4DB2-BD59-A6C34878D82A}">
                    <a16:rowId xmlns:a16="http://schemas.microsoft.com/office/drawing/2014/main" val="428803167"/>
                  </a:ext>
                </a:extLst>
              </a:tr>
              <a:tr h="182880">
                <a:tc>
                  <a:txBody>
                    <a:bodyPr/>
                    <a:lstStyle/>
                    <a:p>
                      <a:r>
                        <a:rPr lang="en-US" dirty="0"/>
                        <a:t>Brand</a:t>
                      </a:r>
                    </a:p>
                  </a:txBody>
                  <a:tcPr anchor="ctr">
                    <a:solidFill>
                      <a:schemeClr val="accent1">
                        <a:lumMod val="40000"/>
                        <a:lumOff val="60000"/>
                      </a:schemeClr>
                    </a:solidFill>
                  </a:tcPr>
                </a:tc>
                <a:tc>
                  <a:txBody>
                    <a:bodyPr/>
                    <a:lstStyle/>
                    <a:p>
                      <a:pPr algn="r"/>
                      <a:r>
                        <a:rPr lang="en-US" dirty="0"/>
                        <a:t>$100</a:t>
                      </a:r>
                    </a:p>
                  </a:txBody>
                  <a:tcPr>
                    <a:solidFill>
                      <a:schemeClr val="accent1">
                        <a:lumMod val="40000"/>
                        <a:lumOff val="60000"/>
                      </a:schemeClr>
                    </a:solidFill>
                  </a:tcPr>
                </a:tc>
                <a:tc>
                  <a:txBody>
                    <a:bodyPr/>
                    <a:lstStyle/>
                    <a:p>
                      <a:pPr algn="r"/>
                      <a:r>
                        <a:rPr lang="en-US" dirty="0"/>
                        <a:t>$    8</a:t>
                      </a:r>
                    </a:p>
                  </a:txBody>
                  <a:tcPr>
                    <a:solidFill>
                      <a:schemeClr val="accent1">
                        <a:lumMod val="40000"/>
                        <a:lumOff val="60000"/>
                      </a:schemeClr>
                    </a:solidFill>
                  </a:tcPr>
                </a:tc>
                <a:tc>
                  <a:txBody>
                    <a:bodyPr/>
                    <a:lstStyle/>
                    <a:p>
                      <a:pPr algn="r"/>
                      <a:r>
                        <a:rPr lang="en-US" dirty="0"/>
                        <a:t>$  33</a:t>
                      </a:r>
                    </a:p>
                  </a:txBody>
                  <a:tcPr>
                    <a:solidFill>
                      <a:schemeClr val="accent1">
                        <a:lumMod val="40000"/>
                        <a:lumOff val="60000"/>
                      </a:schemeClr>
                    </a:solidFill>
                  </a:tcPr>
                </a:tc>
                <a:extLst>
                  <a:ext uri="{0D108BD9-81ED-4DB2-BD59-A6C34878D82A}">
                    <a16:rowId xmlns:a16="http://schemas.microsoft.com/office/drawing/2014/main" val="913181167"/>
                  </a:ext>
                </a:extLst>
              </a:tr>
              <a:tr h="182880">
                <a:tc>
                  <a:txBody>
                    <a:bodyPr/>
                    <a:lstStyle/>
                    <a:p>
                      <a:r>
                        <a:rPr lang="en-US" dirty="0"/>
                        <a:t>DSLR</a:t>
                      </a:r>
                    </a:p>
                  </a:txBody>
                  <a:tcPr anchor="ctr">
                    <a:solidFill>
                      <a:schemeClr val="accent1">
                        <a:lumMod val="40000"/>
                        <a:lumOff val="60000"/>
                      </a:schemeClr>
                    </a:solidFill>
                  </a:tcPr>
                </a:tc>
                <a:tc>
                  <a:txBody>
                    <a:bodyPr/>
                    <a:lstStyle/>
                    <a:p>
                      <a:pPr algn="r"/>
                      <a:r>
                        <a:rPr lang="en-US" dirty="0"/>
                        <a:t>$  50</a:t>
                      </a:r>
                    </a:p>
                  </a:txBody>
                  <a:tcPr>
                    <a:solidFill>
                      <a:schemeClr val="accent1">
                        <a:lumMod val="40000"/>
                        <a:lumOff val="60000"/>
                      </a:schemeClr>
                    </a:solidFill>
                  </a:tcPr>
                </a:tc>
                <a:tc>
                  <a:txBody>
                    <a:bodyPr/>
                    <a:lstStyle/>
                    <a:p>
                      <a:pPr algn="r"/>
                      <a:r>
                        <a:rPr lang="en-US" dirty="0"/>
                        <a:t>$  28</a:t>
                      </a:r>
                    </a:p>
                  </a:txBody>
                  <a:tcPr>
                    <a:solidFill>
                      <a:schemeClr val="accent1">
                        <a:lumMod val="40000"/>
                        <a:lumOff val="60000"/>
                      </a:schemeClr>
                    </a:solidFill>
                  </a:tcPr>
                </a:tc>
                <a:tc>
                  <a:txBody>
                    <a:bodyPr/>
                    <a:lstStyle/>
                    <a:p>
                      <a:pPr algn="r"/>
                      <a:r>
                        <a:rPr lang="en-US" dirty="0"/>
                        <a:t>$</a:t>
                      </a:r>
                      <a:r>
                        <a:rPr lang="en-US" baseline="0" dirty="0"/>
                        <a:t>  27</a:t>
                      </a:r>
                      <a:endParaRPr lang="en-US" dirty="0"/>
                    </a:p>
                  </a:txBody>
                  <a:tcPr>
                    <a:solidFill>
                      <a:schemeClr val="accent1">
                        <a:lumMod val="40000"/>
                        <a:lumOff val="60000"/>
                      </a:schemeClr>
                    </a:solidFill>
                  </a:tcPr>
                </a:tc>
                <a:extLst>
                  <a:ext uri="{0D108BD9-81ED-4DB2-BD59-A6C34878D82A}">
                    <a16:rowId xmlns:a16="http://schemas.microsoft.com/office/drawing/2014/main" val="1068180452"/>
                  </a:ext>
                </a:extLst>
              </a:tr>
              <a:tr h="182880">
                <a:tc>
                  <a:txBody>
                    <a:bodyPr/>
                    <a:lstStyle/>
                    <a:p>
                      <a:endParaRPr lang="en-US" sz="100" dirty="0"/>
                    </a:p>
                  </a:txBody>
                  <a:tcPr anchor="ctr">
                    <a:solidFill>
                      <a:schemeClr val="bg1"/>
                    </a:solidFill>
                  </a:tcPr>
                </a:tc>
                <a:tc>
                  <a:txBody>
                    <a:bodyPr/>
                    <a:lstStyle/>
                    <a:p>
                      <a:pPr algn="r"/>
                      <a:endParaRPr lang="en-US" sz="100" dirty="0"/>
                    </a:p>
                  </a:txBody>
                  <a:tcPr>
                    <a:solidFill>
                      <a:schemeClr val="bg1"/>
                    </a:solidFill>
                  </a:tcPr>
                </a:tc>
                <a:tc>
                  <a:txBody>
                    <a:bodyPr/>
                    <a:lstStyle/>
                    <a:p>
                      <a:pPr algn="r"/>
                      <a:endParaRPr lang="en-US" sz="100" dirty="0"/>
                    </a:p>
                  </a:txBody>
                  <a:tcPr>
                    <a:solidFill>
                      <a:schemeClr val="bg1"/>
                    </a:solidFill>
                  </a:tcPr>
                </a:tc>
                <a:tc>
                  <a:txBody>
                    <a:bodyPr/>
                    <a:lstStyle/>
                    <a:p>
                      <a:pPr algn="r"/>
                      <a:endParaRPr lang="en-US" sz="100" dirty="0"/>
                    </a:p>
                  </a:txBody>
                  <a:tcPr>
                    <a:solidFill>
                      <a:schemeClr val="bg1"/>
                    </a:solidFill>
                  </a:tcPr>
                </a:tc>
                <a:extLst>
                  <a:ext uri="{0D108BD9-81ED-4DB2-BD59-A6C34878D82A}">
                    <a16:rowId xmlns:a16="http://schemas.microsoft.com/office/drawing/2014/main" val="1588926462"/>
                  </a:ext>
                </a:extLst>
              </a:tr>
              <a:tr h="182880">
                <a:tc>
                  <a:txBody>
                    <a:bodyPr/>
                    <a:lstStyle/>
                    <a:p>
                      <a:r>
                        <a:rPr lang="en-US" dirty="0"/>
                        <a:t>EVC</a:t>
                      </a:r>
                    </a:p>
                  </a:txBody>
                  <a:tcPr anchor="ctr">
                    <a:solidFill>
                      <a:schemeClr val="accent1">
                        <a:lumMod val="75000"/>
                      </a:schemeClr>
                    </a:solidFill>
                  </a:tcPr>
                </a:tc>
                <a:tc>
                  <a:txBody>
                    <a:bodyPr/>
                    <a:lstStyle/>
                    <a:p>
                      <a:pPr algn="r"/>
                      <a:r>
                        <a:rPr lang="en-US" dirty="0"/>
                        <a:t>$550</a:t>
                      </a:r>
                    </a:p>
                  </a:txBody>
                  <a:tcPr>
                    <a:solidFill>
                      <a:schemeClr val="accent1">
                        <a:lumMod val="75000"/>
                      </a:schemeClr>
                    </a:solidFill>
                  </a:tcPr>
                </a:tc>
                <a:tc>
                  <a:txBody>
                    <a:bodyPr/>
                    <a:lstStyle/>
                    <a:p>
                      <a:pPr algn="r"/>
                      <a:r>
                        <a:rPr lang="en-US" dirty="0"/>
                        <a:t>$326</a:t>
                      </a:r>
                    </a:p>
                  </a:txBody>
                  <a:tcPr>
                    <a:solidFill>
                      <a:schemeClr val="accent1">
                        <a:lumMod val="75000"/>
                      </a:schemeClr>
                    </a:solidFill>
                  </a:tcPr>
                </a:tc>
                <a:tc>
                  <a:txBody>
                    <a:bodyPr/>
                    <a:lstStyle/>
                    <a:p>
                      <a:pPr algn="r"/>
                      <a:r>
                        <a:rPr lang="en-US" dirty="0"/>
                        <a:t>$400</a:t>
                      </a:r>
                    </a:p>
                  </a:txBody>
                  <a:tcPr>
                    <a:solidFill>
                      <a:schemeClr val="accent1">
                        <a:lumMod val="75000"/>
                      </a:schemeClr>
                    </a:solidFill>
                  </a:tcPr>
                </a:tc>
                <a:extLst>
                  <a:ext uri="{0D108BD9-81ED-4DB2-BD59-A6C34878D82A}">
                    <a16:rowId xmlns:a16="http://schemas.microsoft.com/office/drawing/2014/main" val="2615505647"/>
                  </a:ext>
                </a:extLst>
              </a:tr>
            </a:tbl>
          </a:graphicData>
        </a:graphic>
      </p:graphicFrame>
    </p:spTree>
    <p:extLst>
      <p:ext uri="{BB962C8B-B14F-4D97-AF65-F5344CB8AC3E}">
        <p14:creationId xmlns:p14="http://schemas.microsoft.com/office/powerpoint/2010/main" val="34041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Olympus Demand</a:t>
            </a:r>
            <a:br>
              <a:rPr lang="en-US" sz="5400" dirty="0"/>
            </a:br>
            <a:r>
              <a:rPr lang="en-US" sz="3200" dirty="0"/>
              <a:t>EVC demand when it launches against incumbents</a:t>
            </a:r>
            <a:endParaRPr lang="en-US" dirty="0"/>
          </a:p>
        </p:txBody>
      </p:sp>
      <p:sp>
        <p:nvSpPr>
          <p:cNvPr id="3" name="Line 3"/>
          <p:cNvSpPr>
            <a:spLocks noChangeShapeType="1"/>
          </p:cNvSpPr>
          <p:nvPr/>
        </p:nvSpPr>
        <p:spPr bwMode="auto">
          <a:xfrm>
            <a:off x="1905000" y="5410200"/>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4" name="Line 4"/>
          <p:cNvSpPr>
            <a:spLocks noChangeShapeType="1"/>
          </p:cNvSpPr>
          <p:nvPr/>
        </p:nvSpPr>
        <p:spPr bwMode="auto">
          <a:xfrm flipV="1">
            <a:off x="1905000" y="2286000"/>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5" name="Text Box 6"/>
          <p:cNvSpPr txBox="1">
            <a:spLocks noChangeArrowheads="1"/>
          </p:cNvSpPr>
          <p:nvPr/>
        </p:nvSpPr>
        <p:spPr bwMode="auto">
          <a:xfrm>
            <a:off x="1066800" y="26670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$550</a:t>
            </a:r>
          </a:p>
        </p:txBody>
      </p:sp>
      <p:sp>
        <p:nvSpPr>
          <p:cNvPr id="6" name="Text Box 7"/>
          <p:cNvSpPr txBox="1">
            <a:spLocks noChangeArrowheads="1"/>
          </p:cNvSpPr>
          <p:nvPr/>
        </p:nvSpPr>
        <p:spPr bwMode="auto">
          <a:xfrm>
            <a:off x="1041781" y="3398761"/>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$400</a:t>
            </a:r>
          </a:p>
        </p:txBody>
      </p:sp>
      <p:sp>
        <p:nvSpPr>
          <p:cNvPr id="7" name="Text Box 8"/>
          <p:cNvSpPr txBox="1">
            <a:spLocks noChangeArrowheads="1"/>
          </p:cNvSpPr>
          <p:nvPr/>
        </p:nvSpPr>
        <p:spPr bwMode="auto">
          <a:xfrm>
            <a:off x="1066800" y="3886200"/>
            <a:ext cx="685800" cy="335989"/>
          </a:xfrm>
          <a:prstGeom prst="rect">
            <a:avLst/>
          </a:prstGeom>
          <a:noFill/>
          <a:ln w="12700">
            <a:noFill/>
            <a:miter lim="800000"/>
            <a:headEnd/>
            <a:tailEnd/>
          </a:ln>
        </p:spPr>
        <p:txBody>
          <a:bodyPr lIns="90488" tIns="44450" rIns="90488" bIns="44450">
            <a:spAutoFit/>
          </a:bodyPr>
          <a:lstStyle/>
          <a:p>
            <a:pPr>
              <a:spcBef>
                <a:spcPct val="50000"/>
              </a:spcBef>
            </a:pPr>
            <a:r>
              <a:rPr lang="en-US" sz="1600" dirty="0"/>
              <a:t>$326</a:t>
            </a:r>
          </a:p>
        </p:txBody>
      </p:sp>
      <p:sp>
        <p:nvSpPr>
          <p:cNvPr id="8" name="Text Box 9"/>
          <p:cNvSpPr txBox="1">
            <a:spLocks noChangeArrowheads="1"/>
          </p:cNvSpPr>
          <p:nvPr/>
        </p:nvSpPr>
        <p:spPr bwMode="auto">
          <a:xfrm>
            <a:off x="4144168" y="5641848"/>
            <a:ext cx="1016625" cy="523220"/>
          </a:xfrm>
          <a:prstGeom prst="rect">
            <a:avLst/>
          </a:prstGeom>
          <a:noFill/>
          <a:ln w="12700">
            <a:noFill/>
            <a:miter lim="800000"/>
            <a:headEnd/>
            <a:tailEnd/>
          </a:ln>
        </p:spPr>
        <p:txBody>
          <a:bodyPr wrap="none">
            <a:spAutoFit/>
          </a:bodyPr>
          <a:lstStyle/>
          <a:p>
            <a:r>
              <a:rPr lang="en-US" sz="1400" b="1" dirty="0"/>
              <a:t>Segment C</a:t>
            </a:r>
          </a:p>
          <a:p>
            <a:pPr algn="ctr"/>
            <a:r>
              <a:rPr lang="en-US" sz="1400" b="1" dirty="0"/>
              <a:t>(40%)</a:t>
            </a:r>
            <a:endParaRPr lang="en-US" b="1" dirty="0"/>
          </a:p>
        </p:txBody>
      </p:sp>
      <p:sp>
        <p:nvSpPr>
          <p:cNvPr id="9" name="Text Box 10"/>
          <p:cNvSpPr txBox="1">
            <a:spLocks noChangeArrowheads="1"/>
          </p:cNvSpPr>
          <p:nvPr/>
        </p:nvSpPr>
        <p:spPr bwMode="auto">
          <a:xfrm>
            <a:off x="5641848" y="5641848"/>
            <a:ext cx="1007007" cy="523220"/>
          </a:xfrm>
          <a:prstGeom prst="rect">
            <a:avLst/>
          </a:prstGeom>
          <a:noFill/>
          <a:ln w="12700">
            <a:noFill/>
            <a:miter lim="800000"/>
            <a:headEnd/>
            <a:tailEnd/>
          </a:ln>
        </p:spPr>
        <p:txBody>
          <a:bodyPr wrap="none">
            <a:spAutoFit/>
          </a:bodyPr>
          <a:lstStyle/>
          <a:p>
            <a:r>
              <a:rPr lang="en-US" sz="1400" b="1" dirty="0"/>
              <a:t>Segment B</a:t>
            </a:r>
          </a:p>
          <a:p>
            <a:pPr algn="ctr"/>
            <a:r>
              <a:rPr lang="en-US" sz="1400" b="1" dirty="0"/>
              <a:t>(20%)</a:t>
            </a:r>
            <a:endParaRPr lang="en-US" b="1" dirty="0"/>
          </a:p>
        </p:txBody>
      </p:sp>
      <p:sp>
        <p:nvSpPr>
          <p:cNvPr id="10" name="Text Box 11"/>
          <p:cNvSpPr txBox="1">
            <a:spLocks noChangeArrowheads="1"/>
          </p:cNvSpPr>
          <p:nvPr/>
        </p:nvSpPr>
        <p:spPr bwMode="auto">
          <a:xfrm>
            <a:off x="2209800" y="5638800"/>
            <a:ext cx="1008063" cy="523220"/>
          </a:xfrm>
          <a:prstGeom prst="rect">
            <a:avLst/>
          </a:prstGeom>
          <a:noFill/>
          <a:ln w="12700">
            <a:noFill/>
            <a:miter lim="800000"/>
            <a:headEnd/>
            <a:tailEnd/>
          </a:ln>
        </p:spPr>
        <p:txBody>
          <a:bodyPr>
            <a:spAutoFit/>
          </a:bodyPr>
          <a:lstStyle/>
          <a:p>
            <a:r>
              <a:rPr lang="en-US" sz="1400" b="1" dirty="0"/>
              <a:t>Segment A</a:t>
            </a:r>
          </a:p>
          <a:p>
            <a:pPr algn="ctr"/>
            <a:r>
              <a:rPr lang="en-US" sz="1400" b="1" dirty="0"/>
              <a:t>(40%)</a:t>
            </a:r>
            <a:endParaRPr lang="en-US" b="1" dirty="0"/>
          </a:p>
        </p:txBody>
      </p:sp>
      <p:cxnSp>
        <p:nvCxnSpPr>
          <p:cNvPr id="12" name="Straight Connector 11"/>
          <p:cNvCxnSpPr/>
          <p:nvPr/>
        </p:nvCxnSpPr>
        <p:spPr>
          <a:xfrm>
            <a:off x="1905000" y="2819400"/>
            <a:ext cx="1847088"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33800" y="3589619"/>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562600" y="4068612"/>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33800" y="2819400"/>
            <a:ext cx="0" cy="786384"/>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549660" y="3589618"/>
            <a:ext cx="0" cy="493776"/>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11332" y="1824335"/>
            <a:ext cx="816249" cy="461665"/>
          </a:xfrm>
          <a:prstGeom prst="rect">
            <a:avLst/>
          </a:prstGeom>
          <a:noFill/>
        </p:spPr>
        <p:txBody>
          <a:bodyPr wrap="none" rtlCol="0">
            <a:spAutoFit/>
          </a:bodyPr>
          <a:lstStyle/>
          <a:p>
            <a:r>
              <a:rPr lang="en-US" dirty="0"/>
              <a:t>Price</a:t>
            </a:r>
          </a:p>
        </p:txBody>
      </p:sp>
      <p:sp>
        <p:nvSpPr>
          <p:cNvPr id="18" name="TextBox 17"/>
          <p:cNvSpPr txBox="1"/>
          <p:nvPr/>
        </p:nvSpPr>
        <p:spPr>
          <a:xfrm>
            <a:off x="7620000" y="5712767"/>
            <a:ext cx="1260281" cy="461665"/>
          </a:xfrm>
          <a:prstGeom prst="rect">
            <a:avLst/>
          </a:prstGeom>
          <a:noFill/>
        </p:spPr>
        <p:txBody>
          <a:bodyPr wrap="none" rtlCol="0">
            <a:spAutoFit/>
          </a:bodyPr>
          <a:lstStyle/>
          <a:p>
            <a:r>
              <a:rPr lang="en-US" dirty="0"/>
              <a:t>Quantity</a:t>
            </a:r>
          </a:p>
        </p:txBody>
      </p:sp>
      <p:sp>
        <p:nvSpPr>
          <p:cNvPr id="23" name="TextBox 22"/>
          <p:cNvSpPr txBox="1"/>
          <p:nvPr/>
        </p:nvSpPr>
        <p:spPr>
          <a:xfrm>
            <a:off x="6648855" y="2559138"/>
            <a:ext cx="2396810" cy="830997"/>
          </a:xfrm>
          <a:prstGeom prst="rect">
            <a:avLst/>
          </a:prstGeom>
          <a:noFill/>
        </p:spPr>
        <p:txBody>
          <a:bodyPr wrap="none" rtlCol="0">
            <a:spAutoFit/>
          </a:bodyPr>
          <a:lstStyle/>
          <a:p>
            <a:r>
              <a:rPr lang="en-US" dirty="0">
                <a:solidFill>
                  <a:srgbClr val="C00000"/>
                </a:solidFill>
              </a:rPr>
              <a:t>What if Olympus </a:t>
            </a:r>
          </a:p>
          <a:p>
            <a:r>
              <a:rPr lang="en-US" dirty="0">
                <a:solidFill>
                  <a:srgbClr val="C00000"/>
                </a:solidFill>
              </a:rPr>
              <a:t>launches at $390?</a:t>
            </a:r>
          </a:p>
        </p:txBody>
      </p:sp>
      <p:sp>
        <p:nvSpPr>
          <p:cNvPr id="26" name="Line 20"/>
          <p:cNvSpPr>
            <a:spLocks noChangeShapeType="1"/>
          </p:cNvSpPr>
          <p:nvPr/>
        </p:nvSpPr>
        <p:spPr bwMode="auto">
          <a:xfrm>
            <a:off x="1905000" y="3693492"/>
            <a:ext cx="5181600" cy="0"/>
          </a:xfrm>
          <a:prstGeom prst="line">
            <a:avLst/>
          </a:prstGeom>
          <a:noFill/>
          <a:ln w="12700">
            <a:solidFill>
              <a:srgbClr val="C00000"/>
            </a:solidFill>
            <a:prstDash val="dash"/>
            <a:round/>
            <a:headEnd/>
            <a:tailEnd/>
          </a:ln>
        </p:spPr>
        <p:txBody>
          <a:bodyPr wrap="none" lIns="90488" tIns="44450" rIns="90488" bIns="44450"/>
          <a:lstStyle/>
          <a:p>
            <a:endParaRPr lang="en-US"/>
          </a:p>
        </p:txBody>
      </p:sp>
      <p:sp>
        <p:nvSpPr>
          <p:cNvPr id="27" name="Text Box 21"/>
          <p:cNvSpPr txBox="1">
            <a:spLocks noChangeArrowheads="1"/>
          </p:cNvSpPr>
          <p:nvPr/>
        </p:nvSpPr>
        <p:spPr bwMode="auto">
          <a:xfrm>
            <a:off x="7086600" y="3541092"/>
            <a:ext cx="835229" cy="307777"/>
          </a:xfrm>
          <a:prstGeom prst="rect">
            <a:avLst/>
          </a:prstGeom>
          <a:noFill/>
          <a:ln w="12700">
            <a:noFill/>
            <a:miter lim="800000"/>
            <a:headEnd/>
            <a:tailEnd/>
          </a:ln>
        </p:spPr>
        <p:txBody>
          <a:bodyPr wrap="none">
            <a:spAutoFit/>
          </a:bodyPr>
          <a:lstStyle/>
          <a:p>
            <a:r>
              <a:rPr lang="en-US" sz="1400" b="1" dirty="0">
                <a:solidFill>
                  <a:srgbClr val="C00000"/>
                </a:solidFill>
              </a:rPr>
              <a:t>P = $390</a:t>
            </a:r>
            <a:endParaRPr lang="en-US" b="1" u="sng" dirty="0">
              <a:solidFill>
                <a:srgbClr val="C00000"/>
              </a:solidFill>
            </a:endParaRPr>
          </a:p>
        </p:txBody>
      </p:sp>
      <p:sp>
        <p:nvSpPr>
          <p:cNvPr id="11" name="Slide Number Placeholder 10"/>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17</a:t>
            </a:fld>
            <a:endParaRPr lang="en-US"/>
          </a:p>
        </p:txBody>
      </p:sp>
      <p:sp>
        <p:nvSpPr>
          <p:cNvPr id="22" name="Text Box 18"/>
          <p:cNvSpPr txBox="1">
            <a:spLocks noChangeArrowheads="1"/>
          </p:cNvSpPr>
          <p:nvPr/>
        </p:nvSpPr>
        <p:spPr bwMode="auto">
          <a:xfrm>
            <a:off x="6578286" y="3914412"/>
            <a:ext cx="1574470" cy="307777"/>
          </a:xfrm>
          <a:prstGeom prst="rect">
            <a:avLst/>
          </a:prstGeom>
          <a:noFill/>
          <a:ln w="12700">
            <a:noFill/>
            <a:miter lim="800000"/>
            <a:headEnd/>
            <a:tailEnd/>
          </a:ln>
        </p:spPr>
        <p:txBody>
          <a:bodyPr wrap="none">
            <a:spAutoFit/>
          </a:bodyPr>
          <a:lstStyle/>
          <a:p>
            <a:r>
              <a:rPr lang="en-US" sz="1400" b="1" dirty="0"/>
              <a:t>Olympus Demand</a:t>
            </a:r>
          </a:p>
        </p:txBody>
      </p:sp>
    </p:spTree>
    <p:extLst>
      <p:ext uri="{BB962C8B-B14F-4D97-AF65-F5344CB8AC3E}">
        <p14:creationId xmlns:p14="http://schemas.microsoft.com/office/powerpoint/2010/main" val="295685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animBg="1"/>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sz="quarter" idx="1"/>
          </p:nvPr>
        </p:nvSpPr>
        <p:spPr>
          <a:xfrm>
            <a:off x="612648" y="1676400"/>
            <a:ext cx="7772400" cy="5029200"/>
          </a:xfrm>
        </p:spPr>
        <p:txBody>
          <a:bodyPr>
            <a:normAutofit lnSpcReduction="10000"/>
          </a:bodyPr>
          <a:lstStyle/>
          <a:p>
            <a:pPr>
              <a:lnSpc>
                <a:spcPct val="90000"/>
              </a:lnSpc>
              <a:spcAft>
                <a:spcPts val="600"/>
              </a:spcAft>
              <a:defRPr/>
            </a:pPr>
            <a:r>
              <a:rPr lang="en-US" sz="2000" dirty="0"/>
              <a:t>First, determine Canon’s new reference product in each segment</a:t>
            </a:r>
          </a:p>
          <a:p>
            <a:pPr>
              <a:lnSpc>
                <a:spcPct val="90000"/>
              </a:lnSpc>
              <a:spcAft>
                <a:spcPts val="600"/>
              </a:spcAft>
              <a:defRPr/>
            </a:pPr>
            <a:r>
              <a:rPr lang="en-US" sz="2000" dirty="0"/>
              <a:t>Can just use the demand curves</a:t>
            </a:r>
          </a:p>
          <a:p>
            <a:pPr>
              <a:lnSpc>
                <a:spcPct val="90000"/>
              </a:lnSpc>
              <a:spcAft>
                <a:spcPts val="600"/>
              </a:spcAft>
              <a:defRPr/>
            </a:pPr>
            <a:r>
              <a:rPr lang="en-US" sz="2000" dirty="0"/>
              <a:t>OR …</a:t>
            </a:r>
          </a:p>
          <a:p>
            <a:pPr lvl="1">
              <a:lnSpc>
                <a:spcPct val="90000"/>
              </a:lnSpc>
              <a:spcAft>
                <a:spcPts val="600"/>
              </a:spcAft>
              <a:defRPr/>
            </a:pPr>
            <a:r>
              <a:rPr lang="en-US" sz="2300" dirty="0">
                <a:latin typeface="+mj-lt"/>
              </a:rPr>
              <a:t>If Canon not offered, will segment pick Sony or Olympus?</a:t>
            </a:r>
          </a:p>
          <a:p>
            <a:pPr lvl="2">
              <a:lnSpc>
                <a:spcPct val="90000"/>
              </a:lnSpc>
              <a:spcAft>
                <a:spcPts val="600"/>
              </a:spcAft>
              <a:defRPr/>
            </a:pPr>
            <a:r>
              <a:rPr lang="en-US" sz="2300" dirty="0">
                <a:latin typeface="+mj-lt"/>
              </a:rPr>
              <a:t>Olympus-Sony Price: $390-$250=$140</a:t>
            </a:r>
          </a:p>
          <a:p>
            <a:pPr lvl="2">
              <a:lnSpc>
                <a:spcPct val="90000"/>
              </a:lnSpc>
              <a:spcAft>
                <a:spcPts val="1200"/>
              </a:spcAft>
              <a:defRPr/>
            </a:pPr>
            <a:r>
              <a:rPr lang="en-US" sz="2300" dirty="0">
                <a:latin typeface="+mj-lt"/>
              </a:rPr>
              <a:t>If the Diff. Value &gt; $140 then buy Olympus</a:t>
            </a:r>
          </a:p>
          <a:p>
            <a:pPr lvl="1">
              <a:lnSpc>
                <a:spcPct val="90000"/>
              </a:lnSpc>
              <a:spcAft>
                <a:spcPts val="600"/>
              </a:spcAft>
              <a:defRPr/>
            </a:pPr>
            <a:r>
              <a:rPr lang="en-US" sz="2300" dirty="0">
                <a:latin typeface="+mj-lt"/>
              </a:rPr>
              <a:t>Diff. Value of Olympus vs. Sony</a:t>
            </a:r>
          </a:p>
          <a:p>
            <a:pPr lvl="2">
              <a:lnSpc>
                <a:spcPct val="90000"/>
              </a:lnSpc>
              <a:spcAft>
                <a:spcPts val="600"/>
              </a:spcAft>
              <a:defRPr/>
            </a:pPr>
            <a:r>
              <a:rPr lang="en-US" sz="2300" dirty="0" err="1">
                <a:latin typeface="+mj-lt"/>
              </a:rPr>
              <a:t>Seg</a:t>
            </a:r>
            <a:r>
              <a:rPr lang="en-US" sz="2300" dirty="0">
                <a:latin typeface="+mj-lt"/>
              </a:rPr>
              <a:t>. A: +$320 &gt; $140 so buy Olympus</a:t>
            </a:r>
          </a:p>
          <a:p>
            <a:pPr lvl="2">
              <a:lnSpc>
                <a:spcPct val="90000"/>
              </a:lnSpc>
              <a:spcAft>
                <a:spcPts val="600"/>
              </a:spcAft>
              <a:defRPr/>
            </a:pPr>
            <a:r>
              <a:rPr lang="en-US" sz="2300" dirty="0" err="1">
                <a:latin typeface="+mj-lt"/>
              </a:rPr>
              <a:t>Seg</a:t>
            </a:r>
            <a:r>
              <a:rPr lang="en-US" sz="2300" dirty="0">
                <a:latin typeface="+mj-lt"/>
              </a:rPr>
              <a:t>. B: +$76 &lt; $140 so buy Sony</a:t>
            </a:r>
          </a:p>
          <a:p>
            <a:pPr lvl="2">
              <a:lnSpc>
                <a:spcPct val="90000"/>
              </a:lnSpc>
              <a:spcAft>
                <a:spcPts val="1200"/>
              </a:spcAft>
              <a:defRPr/>
            </a:pPr>
            <a:r>
              <a:rPr lang="en-US" sz="2300" dirty="0" err="1">
                <a:latin typeface="+mj-lt"/>
              </a:rPr>
              <a:t>Seg</a:t>
            </a:r>
            <a:r>
              <a:rPr lang="en-US" sz="2300" dirty="0">
                <a:latin typeface="+mj-lt"/>
              </a:rPr>
              <a:t>. C: +$187 &gt; $140 so buy Olympus</a:t>
            </a:r>
          </a:p>
          <a:p>
            <a:pPr>
              <a:lnSpc>
                <a:spcPct val="90000"/>
              </a:lnSpc>
              <a:defRPr/>
            </a:pPr>
            <a:r>
              <a:rPr lang="en-US" sz="2300" dirty="0">
                <a:latin typeface="+mj-lt"/>
              </a:rPr>
              <a:t>This gives us the Reference Brand for each segment.</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18</a:t>
            </a:fld>
            <a:endParaRPr lang="en-US"/>
          </a:p>
        </p:txBody>
      </p:sp>
      <p:sp>
        <p:nvSpPr>
          <p:cNvPr id="6" name="Rectangle 2"/>
          <p:cNvSpPr>
            <a:spLocks noGrp="1" noChangeArrowheads="1"/>
          </p:cNvSpPr>
          <p:nvPr>
            <p:ph type="title"/>
          </p:nvPr>
        </p:nvSpPr>
        <p:spPr>
          <a:xfrm>
            <a:off x="612648" y="228600"/>
            <a:ext cx="8302752" cy="990600"/>
          </a:xfrm>
        </p:spPr>
        <p:txBody>
          <a:bodyPr>
            <a:normAutofit fontScale="90000"/>
          </a:bodyPr>
          <a:lstStyle/>
          <a:p>
            <a:r>
              <a:rPr lang="en-US" sz="4400" dirty="0"/>
              <a:t>Assessing </a:t>
            </a:r>
            <a:r>
              <a:rPr lang="en-US" sz="4400" b="1" dirty="0"/>
              <a:t>Canon’s</a:t>
            </a:r>
            <a:r>
              <a:rPr lang="en-US" sz="4400" dirty="0"/>
              <a:t> Competitive Reaction</a:t>
            </a:r>
            <a:br>
              <a:rPr lang="en-US" sz="4400" dirty="0"/>
            </a:br>
            <a:r>
              <a:rPr lang="en-US" sz="3600" dirty="0"/>
              <a:t>Strategy 1: Olympus at $390</a:t>
            </a:r>
          </a:p>
        </p:txBody>
      </p:sp>
      <p:sp>
        <p:nvSpPr>
          <p:cNvPr id="7" name="Rectangle 6"/>
          <p:cNvSpPr/>
          <p:nvPr/>
        </p:nvSpPr>
        <p:spPr>
          <a:xfrm>
            <a:off x="914400" y="2057400"/>
            <a:ext cx="3733800" cy="457200"/>
          </a:xfrm>
          <a:prstGeom prst="rect">
            <a:avLst/>
          </a:prstGeom>
          <a:solidFill>
            <a:srgbClr val="FFFF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ine 3"/>
          <p:cNvSpPr>
            <a:spLocks noChangeShapeType="1"/>
          </p:cNvSpPr>
          <p:nvPr/>
        </p:nvSpPr>
        <p:spPr bwMode="auto">
          <a:xfrm>
            <a:off x="1752600" y="5726413"/>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9" name="Line 4"/>
          <p:cNvSpPr>
            <a:spLocks noChangeShapeType="1"/>
          </p:cNvSpPr>
          <p:nvPr/>
        </p:nvSpPr>
        <p:spPr bwMode="auto">
          <a:xfrm flipV="1">
            <a:off x="1752600" y="2602213"/>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10" name="Text Box 6"/>
          <p:cNvSpPr txBox="1">
            <a:spLocks noChangeArrowheads="1"/>
          </p:cNvSpPr>
          <p:nvPr/>
        </p:nvSpPr>
        <p:spPr bwMode="auto">
          <a:xfrm>
            <a:off x="914400" y="2983213"/>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$550</a:t>
            </a:r>
          </a:p>
        </p:txBody>
      </p:sp>
      <p:sp>
        <p:nvSpPr>
          <p:cNvPr id="11" name="Text Box 7"/>
          <p:cNvSpPr txBox="1">
            <a:spLocks noChangeArrowheads="1"/>
          </p:cNvSpPr>
          <p:nvPr/>
        </p:nvSpPr>
        <p:spPr bwMode="auto">
          <a:xfrm>
            <a:off x="889381" y="3714974"/>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$400</a:t>
            </a:r>
          </a:p>
        </p:txBody>
      </p:sp>
      <p:sp>
        <p:nvSpPr>
          <p:cNvPr id="12" name="Text Box 8"/>
          <p:cNvSpPr txBox="1">
            <a:spLocks noChangeArrowheads="1"/>
          </p:cNvSpPr>
          <p:nvPr/>
        </p:nvSpPr>
        <p:spPr bwMode="auto">
          <a:xfrm>
            <a:off x="914400" y="4202413"/>
            <a:ext cx="685800" cy="335989"/>
          </a:xfrm>
          <a:prstGeom prst="rect">
            <a:avLst/>
          </a:prstGeom>
          <a:noFill/>
          <a:ln w="12700">
            <a:noFill/>
            <a:miter lim="800000"/>
            <a:headEnd/>
            <a:tailEnd/>
          </a:ln>
        </p:spPr>
        <p:txBody>
          <a:bodyPr lIns="90488" tIns="44450" rIns="90488" bIns="44450">
            <a:spAutoFit/>
          </a:bodyPr>
          <a:lstStyle/>
          <a:p>
            <a:pPr>
              <a:spcBef>
                <a:spcPct val="50000"/>
              </a:spcBef>
            </a:pPr>
            <a:r>
              <a:rPr lang="en-US" sz="1600" dirty="0"/>
              <a:t>$326</a:t>
            </a:r>
          </a:p>
        </p:txBody>
      </p:sp>
      <p:sp>
        <p:nvSpPr>
          <p:cNvPr id="13" name="Text Box 9"/>
          <p:cNvSpPr txBox="1">
            <a:spLocks noChangeArrowheads="1"/>
          </p:cNvSpPr>
          <p:nvPr/>
        </p:nvSpPr>
        <p:spPr bwMode="auto">
          <a:xfrm>
            <a:off x="3991768" y="5834036"/>
            <a:ext cx="1016625" cy="523220"/>
          </a:xfrm>
          <a:prstGeom prst="rect">
            <a:avLst/>
          </a:prstGeom>
          <a:noFill/>
          <a:ln w="12700">
            <a:noFill/>
            <a:miter lim="800000"/>
            <a:headEnd/>
            <a:tailEnd/>
          </a:ln>
        </p:spPr>
        <p:txBody>
          <a:bodyPr wrap="none">
            <a:spAutoFit/>
          </a:bodyPr>
          <a:lstStyle/>
          <a:p>
            <a:r>
              <a:rPr lang="en-US" sz="1400" b="1" dirty="0"/>
              <a:t>Segment C</a:t>
            </a:r>
          </a:p>
          <a:p>
            <a:pPr algn="ctr"/>
            <a:r>
              <a:rPr lang="en-US" sz="1400" b="1" dirty="0"/>
              <a:t>(40%)</a:t>
            </a:r>
            <a:endParaRPr lang="en-US" b="1" dirty="0"/>
          </a:p>
        </p:txBody>
      </p:sp>
      <p:sp>
        <p:nvSpPr>
          <p:cNvPr id="14" name="Text Box 10"/>
          <p:cNvSpPr txBox="1">
            <a:spLocks noChangeArrowheads="1"/>
          </p:cNvSpPr>
          <p:nvPr/>
        </p:nvSpPr>
        <p:spPr bwMode="auto">
          <a:xfrm>
            <a:off x="5489448" y="5834036"/>
            <a:ext cx="1007007" cy="523220"/>
          </a:xfrm>
          <a:prstGeom prst="rect">
            <a:avLst/>
          </a:prstGeom>
          <a:noFill/>
          <a:ln w="12700">
            <a:noFill/>
            <a:miter lim="800000"/>
            <a:headEnd/>
            <a:tailEnd/>
          </a:ln>
        </p:spPr>
        <p:txBody>
          <a:bodyPr wrap="none">
            <a:spAutoFit/>
          </a:bodyPr>
          <a:lstStyle/>
          <a:p>
            <a:r>
              <a:rPr lang="en-US" sz="1400" b="1" dirty="0"/>
              <a:t>Segment B</a:t>
            </a:r>
          </a:p>
          <a:p>
            <a:pPr algn="ctr"/>
            <a:r>
              <a:rPr lang="en-US" sz="1400" b="1" dirty="0"/>
              <a:t>(20%)</a:t>
            </a:r>
            <a:endParaRPr lang="en-US" b="1" dirty="0"/>
          </a:p>
        </p:txBody>
      </p:sp>
      <p:sp>
        <p:nvSpPr>
          <p:cNvPr id="15" name="Text Box 11"/>
          <p:cNvSpPr txBox="1">
            <a:spLocks noChangeArrowheads="1"/>
          </p:cNvSpPr>
          <p:nvPr/>
        </p:nvSpPr>
        <p:spPr bwMode="auto">
          <a:xfrm>
            <a:off x="2057400" y="5830988"/>
            <a:ext cx="1008063" cy="523220"/>
          </a:xfrm>
          <a:prstGeom prst="rect">
            <a:avLst/>
          </a:prstGeom>
          <a:noFill/>
          <a:ln w="12700">
            <a:noFill/>
            <a:miter lim="800000"/>
            <a:headEnd/>
            <a:tailEnd/>
          </a:ln>
        </p:spPr>
        <p:txBody>
          <a:bodyPr>
            <a:spAutoFit/>
          </a:bodyPr>
          <a:lstStyle/>
          <a:p>
            <a:r>
              <a:rPr lang="en-US" sz="1400" b="1" dirty="0"/>
              <a:t>Segment A</a:t>
            </a:r>
          </a:p>
          <a:p>
            <a:pPr algn="ctr"/>
            <a:r>
              <a:rPr lang="en-US" sz="1400" b="1" dirty="0"/>
              <a:t>(40%)</a:t>
            </a:r>
            <a:endParaRPr lang="en-US" b="1" dirty="0"/>
          </a:p>
        </p:txBody>
      </p:sp>
      <p:cxnSp>
        <p:nvCxnSpPr>
          <p:cNvPr id="16" name="Straight Connector 15"/>
          <p:cNvCxnSpPr/>
          <p:nvPr/>
        </p:nvCxnSpPr>
        <p:spPr>
          <a:xfrm>
            <a:off x="1752600" y="3135613"/>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581400" y="3905832"/>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410200" y="4384825"/>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81400" y="3135613"/>
            <a:ext cx="0" cy="77724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397260" y="3905831"/>
            <a:ext cx="0" cy="493776"/>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8151" y="3586684"/>
            <a:ext cx="816249" cy="461665"/>
          </a:xfrm>
          <a:prstGeom prst="rect">
            <a:avLst/>
          </a:prstGeom>
          <a:noFill/>
        </p:spPr>
        <p:txBody>
          <a:bodyPr wrap="none" rtlCol="0">
            <a:spAutoFit/>
          </a:bodyPr>
          <a:lstStyle/>
          <a:p>
            <a:r>
              <a:rPr lang="en-US" dirty="0"/>
              <a:t>Price</a:t>
            </a:r>
          </a:p>
        </p:txBody>
      </p:sp>
      <p:sp>
        <p:nvSpPr>
          <p:cNvPr id="22" name="TextBox 21"/>
          <p:cNvSpPr txBox="1"/>
          <p:nvPr/>
        </p:nvSpPr>
        <p:spPr>
          <a:xfrm>
            <a:off x="7467600" y="5805222"/>
            <a:ext cx="1260281" cy="461665"/>
          </a:xfrm>
          <a:prstGeom prst="rect">
            <a:avLst/>
          </a:prstGeom>
          <a:noFill/>
        </p:spPr>
        <p:txBody>
          <a:bodyPr wrap="none" rtlCol="0">
            <a:spAutoFit/>
          </a:bodyPr>
          <a:lstStyle/>
          <a:p>
            <a:r>
              <a:rPr lang="en-US" dirty="0"/>
              <a:t>Quantity</a:t>
            </a:r>
          </a:p>
        </p:txBody>
      </p:sp>
      <p:sp>
        <p:nvSpPr>
          <p:cNvPr id="24" name="Line 20"/>
          <p:cNvSpPr>
            <a:spLocks noChangeShapeType="1"/>
          </p:cNvSpPr>
          <p:nvPr/>
        </p:nvSpPr>
        <p:spPr bwMode="auto">
          <a:xfrm>
            <a:off x="1752600" y="4009705"/>
            <a:ext cx="5181600" cy="0"/>
          </a:xfrm>
          <a:prstGeom prst="line">
            <a:avLst/>
          </a:prstGeom>
          <a:noFill/>
          <a:ln w="12700">
            <a:solidFill>
              <a:srgbClr val="C00000"/>
            </a:solidFill>
            <a:prstDash val="dash"/>
            <a:round/>
            <a:headEnd/>
            <a:tailEnd/>
          </a:ln>
        </p:spPr>
        <p:txBody>
          <a:bodyPr wrap="none" lIns="90488" tIns="44450" rIns="90488" bIns="44450"/>
          <a:lstStyle/>
          <a:p>
            <a:endParaRPr lang="en-US"/>
          </a:p>
        </p:txBody>
      </p:sp>
      <p:sp>
        <p:nvSpPr>
          <p:cNvPr id="25" name="Text Box 21"/>
          <p:cNvSpPr txBox="1">
            <a:spLocks noChangeArrowheads="1"/>
          </p:cNvSpPr>
          <p:nvPr/>
        </p:nvSpPr>
        <p:spPr bwMode="auto">
          <a:xfrm>
            <a:off x="6934200" y="3857305"/>
            <a:ext cx="835229" cy="307777"/>
          </a:xfrm>
          <a:prstGeom prst="rect">
            <a:avLst/>
          </a:prstGeom>
          <a:noFill/>
          <a:ln w="12700">
            <a:noFill/>
            <a:miter lim="800000"/>
            <a:headEnd/>
            <a:tailEnd/>
          </a:ln>
        </p:spPr>
        <p:txBody>
          <a:bodyPr wrap="none">
            <a:spAutoFit/>
          </a:bodyPr>
          <a:lstStyle/>
          <a:p>
            <a:r>
              <a:rPr lang="en-US" sz="1400" b="1" dirty="0">
                <a:solidFill>
                  <a:srgbClr val="C00000"/>
                </a:solidFill>
              </a:rPr>
              <a:t>P = $390</a:t>
            </a:r>
            <a:endParaRPr lang="en-US" b="1" u="sng" dirty="0">
              <a:solidFill>
                <a:srgbClr val="C00000"/>
              </a:solidFill>
            </a:endParaRPr>
          </a:p>
        </p:txBody>
      </p:sp>
      <p:sp>
        <p:nvSpPr>
          <p:cNvPr id="26" name="Text Box 18"/>
          <p:cNvSpPr txBox="1">
            <a:spLocks noChangeArrowheads="1"/>
          </p:cNvSpPr>
          <p:nvPr/>
        </p:nvSpPr>
        <p:spPr bwMode="auto">
          <a:xfrm>
            <a:off x="6603863" y="4249864"/>
            <a:ext cx="1574470" cy="307777"/>
          </a:xfrm>
          <a:prstGeom prst="rect">
            <a:avLst/>
          </a:prstGeom>
          <a:noFill/>
          <a:ln w="12700">
            <a:noFill/>
            <a:miter lim="800000"/>
            <a:headEnd/>
            <a:tailEnd/>
          </a:ln>
        </p:spPr>
        <p:txBody>
          <a:bodyPr wrap="none">
            <a:spAutoFit/>
          </a:bodyPr>
          <a:lstStyle/>
          <a:p>
            <a:r>
              <a:rPr lang="en-US" sz="1400" b="1" dirty="0"/>
              <a:t>Olympus Demand</a:t>
            </a:r>
          </a:p>
        </p:txBody>
      </p:sp>
    </p:spTree>
    <p:extLst>
      <p:ext uri="{BB962C8B-B14F-4D97-AF65-F5344CB8AC3E}">
        <p14:creationId xmlns:p14="http://schemas.microsoft.com/office/powerpoint/2010/main" val="326649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2" grpId="0"/>
      <p:bldP spid="13" grpId="0"/>
      <p:bldP spid="14" grpId="0"/>
      <p:bldP spid="15" grpId="0"/>
      <p:bldP spid="21" grpId="0"/>
      <p:bldP spid="22" grpId="0"/>
      <p:bldP spid="24" grpId="0" animBg="1"/>
      <p:bldP spid="25" grpId="0"/>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sz="4000" dirty="0"/>
              <a:t>Canon Demand</a:t>
            </a:r>
            <a:br>
              <a:rPr lang="en-US" sz="4000" dirty="0"/>
            </a:br>
            <a:r>
              <a:rPr lang="en-US" sz="2800" dirty="0"/>
              <a:t>Sony Base at $250, Olympus 12.2MP DSLR at $390</a:t>
            </a:r>
          </a:p>
        </p:txBody>
      </p:sp>
      <p:sp>
        <p:nvSpPr>
          <p:cNvPr id="6" name="Text Box 4"/>
          <p:cNvSpPr txBox="1">
            <a:spLocks noChangeArrowheads="1"/>
          </p:cNvSpPr>
          <p:nvPr/>
        </p:nvSpPr>
        <p:spPr bwMode="auto">
          <a:xfrm>
            <a:off x="2209800" y="5791200"/>
            <a:ext cx="5188922" cy="828432"/>
          </a:xfrm>
          <a:prstGeom prst="rect">
            <a:avLst/>
          </a:prstGeom>
          <a:noFill/>
          <a:ln w="12700">
            <a:noFill/>
            <a:miter lim="800000"/>
            <a:headEnd/>
            <a:tailEnd/>
          </a:ln>
        </p:spPr>
        <p:txBody>
          <a:bodyPr wrap="none" lIns="90488" tIns="44450" rIns="90488" bIns="44450">
            <a:spAutoFit/>
          </a:bodyPr>
          <a:lstStyle/>
          <a:p>
            <a:r>
              <a:rPr lang="en-US" dirty="0"/>
              <a:t>EVC of every segment is less than $280.</a:t>
            </a:r>
          </a:p>
          <a:p>
            <a:r>
              <a:rPr lang="en-US" dirty="0"/>
              <a:t>Canon has 0% share.</a:t>
            </a:r>
          </a:p>
        </p:txBody>
      </p:sp>
      <p:sp>
        <p:nvSpPr>
          <p:cNvPr id="2" name="Slide Number Placeholder 1"/>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19</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68804757"/>
              </p:ext>
            </p:extLst>
          </p:nvPr>
        </p:nvGraphicFramePr>
        <p:xfrm>
          <a:off x="1846579" y="1828800"/>
          <a:ext cx="5679441" cy="3840480"/>
        </p:xfrm>
        <a:graphic>
          <a:graphicData uri="http://schemas.openxmlformats.org/drawingml/2006/table">
            <a:tbl>
              <a:tblPr firstRow="1" bandRow="1">
                <a:tableStyleId>{5C22544A-7EE6-4342-B048-85BDC9FD1C3A}</a:tableStyleId>
              </a:tblPr>
              <a:tblGrid>
                <a:gridCol w="1339491">
                  <a:extLst>
                    <a:ext uri="{9D8B030D-6E8A-4147-A177-3AD203B41FA5}">
                      <a16:colId xmlns:a16="http://schemas.microsoft.com/office/drawing/2014/main" val="3686849379"/>
                    </a:ext>
                  </a:extLst>
                </a:gridCol>
                <a:gridCol w="1446650">
                  <a:extLst>
                    <a:ext uri="{9D8B030D-6E8A-4147-A177-3AD203B41FA5}">
                      <a16:colId xmlns:a16="http://schemas.microsoft.com/office/drawing/2014/main" val="4233504509"/>
                    </a:ext>
                  </a:extLst>
                </a:gridCol>
                <a:gridCol w="1446650">
                  <a:extLst>
                    <a:ext uri="{9D8B030D-6E8A-4147-A177-3AD203B41FA5}">
                      <a16:colId xmlns:a16="http://schemas.microsoft.com/office/drawing/2014/main" val="107695191"/>
                    </a:ext>
                  </a:extLst>
                </a:gridCol>
                <a:gridCol w="1446650">
                  <a:extLst>
                    <a:ext uri="{9D8B030D-6E8A-4147-A177-3AD203B41FA5}">
                      <a16:colId xmlns:a16="http://schemas.microsoft.com/office/drawing/2014/main" val="3207602153"/>
                    </a:ext>
                  </a:extLst>
                </a:gridCol>
              </a:tblGrid>
              <a:tr h="182880">
                <a:tc gridSpan="4">
                  <a:txBody>
                    <a:bodyPr/>
                    <a:lstStyle/>
                    <a:p>
                      <a:r>
                        <a:rPr lang="en-US" dirty="0">
                          <a:solidFill>
                            <a:schemeClr val="tx1"/>
                          </a:solidFill>
                        </a:rPr>
                        <a:t>Put yourselves</a:t>
                      </a:r>
                      <a:r>
                        <a:rPr lang="en-US" baseline="0" dirty="0">
                          <a:solidFill>
                            <a:schemeClr val="tx1"/>
                          </a:solidFill>
                        </a:rPr>
                        <a:t> in shoes of Canon selling its base model</a:t>
                      </a:r>
                      <a:endParaRPr lang="en-US" dirty="0">
                        <a:solidFill>
                          <a:schemeClr val="tx1"/>
                        </a:solidFill>
                      </a:endParaRP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323413666"/>
                  </a:ext>
                </a:extLst>
              </a:tr>
              <a:tr h="182880">
                <a:tc gridSpan="4">
                  <a:txBody>
                    <a:bodyPr/>
                    <a:lstStyle/>
                    <a:p>
                      <a:endParaRPr lang="en-US" sz="100" dirty="0"/>
                    </a:p>
                  </a:txBody>
                  <a:tcPr>
                    <a:solidFill>
                      <a:schemeClr val="bg1"/>
                    </a:solidFill>
                  </a:tcPr>
                </a:tc>
                <a:tc hMerge="1">
                  <a:txBody>
                    <a:bodyPr/>
                    <a:lstStyle/>
                    <a:p>
                      <a:endParaRPr lang="en-US" dirty="0"/>
                    </a:p>
                  </a:txBody>
                  <a:tcPr>
                    <a:solidFill>
                      <a:schemeClr val="bg1"/>
                    </a:solidFill>
                  </a:tcPr>
                </a:tc>
                <a:tc hMerge="1">
                  <a:txBody>
                    <a:bodyPr/>
                    <a:lstStyle/>
                    <a:p>
                      <a:endParaRPr lang="en-US" sz="300" dirty="0"/>
                    </a:p>
                  </a:txBody>
                  <a:tcPr>
                    <a:solidFill>
                      <a:schemeClr val="bg1"/>
                    </a:solidFill>
                  </a:tcPr>
                </a:tc>
                <a:tc hMerge="1">
                  <a:txBody>
                    <a:bodyPr/>
                    <a:lstStyle/>
                    <a:p>
                      <a:endParaRPr lang="en-US" dirty="0"/>
                    </a:p>
                  </a:txBody>
                  <a:tcPr>
                    <a:solidFill>
                      <a:schemeClr val="bg1"/>
                    </a:solidFill>
                  </a:tcPr>
                </a:tc>
                <a:extLst>
                  <a:ext uri="{0D108BD9-81ED-4DB2-BD59-A6C34878D82A}">
                    <a16:rowId xmlns:a16="http://schemas.microsoft.com/office/drawing/2014/main" val="1511773006"/>
                  </a:ext>
                </a:extLst>
              </a:tr>
              <a:tr h="182880">
                <a:tc>
                  <a:txBody>
                    <a:bodyPr/>
                    <a:lstStyle/>
                    <a:p>
                      <a:endParaRPr lang="en-US" dirty="0"/>
                    </a:p>
                  </a:txBody>
                  <a:tcPr>
                    <a:solidFill>
                      <a:schemeClr val="bg2">
                        <a:lumMod val="50000"/>
                      </a:schemeClr>
                    </a:solidFill>
                  </a:tcPr>
                </a:tc>
                <a:tc>
                  <a:txBody>
                    <a:bodyPr/>
                    <a:lstStyle/>
                    <a:p>
                      <a:pPr algn="ctr"/>
                      <a:r>
                        <a:rPr lang="en-US" dirty="0"/>
                        <a:t>Segment A</a:t>
                      </a:r>
                    </a:p>
                  </a:txBody>
                  <a:tcPr anchor="ctr">
                    <a:solidFill>
                      <a:schemeClr val="bg2">
                        <a:lumMod val="50000"/>
                      </a:schemeClr>
                    </a:solidFill>
                  </a:tcPr>
                </a:tc>
                <a:tc>
                  <a:txBody>
                    <a:bodyPr/>
                    <a:lstStyle/>
                    <a:p>
                      <a:pPr algn="ctr"/>
                      <a:r>
                        <a:rPr lang="en-US" dirty="0"/>
                        <a:t>Segment B</a:t>
                      </a:r>
                    </a:p>
                  </a:txBody>
                  <a:tcPr anchor="ctr">
                    <a:solidFill>
                      <a:schemeClr val="bg2">
                        <a:lumMod val="50000"/>
                      </a:schemeClr>
                    </a:solidFill>
                  </a:tcPr>
                </a:tc>
                <a:tc>
                  <a:txBody>
                    <a:bodyPr/>
                    <a:lstStyle/>
                    <a:p>
                      <a:pPr algn="ctr"/>
                      <a:r>
                        <a:rPr lang="en-US" dirty="0"/>
                        <a:t>Segment</a:t>
                      </a:r>
                      <a:r>
                        <a:rPr lang="en-US" baseline="0" dirty="0"/>
                        <a:t> C</a:t>
                      </a:r>
                      <a:endParaRPr lang="en-US" dirty="0"/>
                    </a:p>
                  </a:txBody>
                  <a:tcPr anchor="ctr">
                    <a:solidFill>
                      <a:schemeClr val="bg2">
                        <a:lumMod val="50000"/>
                      </a:schemeClr>
                    </a:solidFill>
                  </a:tcPr>
                </a:tc>
                <a:extLst>
                  <a:ext uri="{0D108BD9-81ED-4DB2-BD59-A6C34878D82A}">
                    <a16:rowId xmlns:a16="http://schemas.microsoft.com/office/drawing/2014/main" val="2011733741"/>
                  </a:ext>
                </a:extLst>
              </a:tr>
              <a:tr h="182880">
                <a:tc>
                  <a:txBody>
                    <a:bodyPr/>
                    <a:lstStyle/>
                    <a:p>
                      <a:r>
                        <a:rPr lang="en-US" dirty="0"/>
                        <a:t>Ref Brand</a:t>
                      </a:r>
                    </a:p>
                  </a:txBody>
                  <a:tcPr anchor="ctr">
                    <a:solidFill>
                      <a:schemeClr val="accent1">
                        <a:lumMod val="20000"/>
                        <a:lumOff val="80000"/>
                      </a:schemeClr>
                    </a:solidFill>
                  </a:tcPr>
                </a:tc>
                <a:tc>
                  <a:txBody>
                    <a:bodyPr/>
                    <a:lstStyle/>
                    <a:p>
                      <a:pPr algn="ctr"/>
                      <a:r>
                        <a:rPr lang="en-US" dirty="0"/>
                        <a:t>Olympus</a:t>
                      </a:r>
                    </a:p>
                  </a:txBody>
                  <a:tcPr anchor="ctr">
                    <a:solidFill>
                      <a:schemeClr val="accent1">
                        <a:lumMod val="20000"/>
                        <a:lumOff val="80000"/>
                      </a:schemeClr>
                    </a:solidFill>
                  </a:tcPr>
                </a:tc>
                <a:tc>
                  <a:txBody>
                    <a:bodyPr/>
                    <a:lstStyle/>
                    <a:p>
                      <a:pPr algn="ctr"/>
                      <a:r>
                        <a:rPr lang="en-US" dirty="0"/>
                        <a:t>Sony</a:t>
                      </a:r>
                    </a:p>
                  </a:txBody>
                  <a:tcPr anchor="ctr">
                    <a:solidFill>
                      <a:schemeClr val="accent1">
                        <a:lumMod val="20000"/>
                        <a:lumOff val="80000"/>
                      </a:schemeClr>
                    </a:solidFill>
                  </a:tcPr>
                </a:tc>
                <a:tc>
                  <a:txBody>
                    <a:bodyPr/>
                    <a:lstStyle/>
                    <a:p>
                      <a:pPr algn="ctr"/>
                      <a:r>
                        <a:rPr lang="en-US" dirty="0"/>
                        <a:t>Olympus</a:t>
                      </a:r>
                    </a:p>
                  </a:txBody>
                  <a:tcPr anchor="ctr">
                    <a:solidFill>
                      <a:schemeClr val="accent1">
                        <a:lumMod val="20000"/>
                        <a:lumOff val="80000"/>
                      </a:schemeClr>
                    </a:solidFill>
                  </a:tcPr>
                </a:tc>
                <a:extLst>
                  <a:ext uri="{0D108BD9-81ED-4DB2-BD59-A6C34878D82A}">
                    <a16:rowId xmlns:a16="http://schemas.microsoft.com/office/drawing/2014/main" val="295555190"/>
                  </a:ext>
                </a:extLst>
              </a:tr>
              <a:tr h="182880">
                <a:tc>
                  <a:txBody>
                    <a:bodyPr/>
                    <a:lstStyle/>
                    <a:p>
                      <a:r>
                        <a:rPr lang="en-US" dirty="0"/>
                        <a:t>Ref Value</a:t>
                      </a:r>
                    </a:p>
                  </a:txBody>
                  <a:tcPr anchor="ctr">
                    <a:solidFill>
                      <a:schemeClr val="accent1">
                        <a:lumMod val="20000"/>
                        <a:lumOff val="80000"/>
                      </a:schemeClr>
                    </a:solidFill>
                  </a:tcPr>
                </a:tc>
                <a:tc>
                  <a:txBody>
                    <a:bodyPr/>
                    <a:lstStyle/>
                    <a:p>
                      <a:pPr algn="r"/>
                      <a:r>
                        <a:rPr lang="en-US" dirty="0"/>
                        <a:t>$  390</a:t>
                      </a:r>
                    </a:p>
                  </a:txBody>
                  <a:tcP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$ 250</a:t>
                      </a:r>
                    </a:p>
                  </a:txBody>
                  <a:tcP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$390</a:t>
                      </a:r>
                    </a:p>
                  </a:txBody>
                  <a:tcPr>
                    <a:solidFill>
                      <a:schemeClr val="accent1">
                        <a:lumMod val="20000"/>
                        <a:lumOff val="80000"/>
                      </a:schemeClr>
                    </a:solidFill>
                  </a:tcPr>
                </a:tc>
                <a:extLst>
                  <a:ext uri="{0D108BD9-81ED-4DB2-BD59-A6C34878D82A}">
                    <a16:rowId xmlns:a16="http://schemas.microsoft.com/office/drawing/2014/main" val="1431510000"/>
                  </a:ext>
                </a:extLst>
              </a:tr>
              <a:tr h="182880">
                <a:tc>
                  <a:txBody>
                    <a:bodyPr/>
                    <a:lstStyle/>
                    <a:p>
                      <a:endParaRPr lang="en-US" sz="100" dirty="0"/>
                    </a:p>
                  </a:txBody>
                  <a:tcPr anchor="ctr">
                    <a:solidFill>
                      <a:schemeClr val="bg1"/>
                    </a:solidFill>
                  </a:tcPr>
                </a:tc>
                <a:tc>
                  <a:txBody>
                    <a:bodyPr/>
                    <a:lstStyle/>
                    <a:p>
                      <a:endParaRPr lang="en-US" sz="100" dirty="0"/>
                    </a:p>
                  </a:txBody>
                  <a:tcPr>
                    <a:solidFill>
                      <a:schemeClr val="bg1"/>
                    </a:solidFill>
                  </a:tcPr>
                </a:tc>
                <a:tc>
                  <a:txBody>
                    <a:bodyPr/>
                    <a:lstStyle/>
                    <a:p>
                      <a:endParaRPr lang="en-US" sz="100" dirty="0"/>
                    </a:p>
                  </a:txBody>
                  <a:tcPr>
                    <a:solidFill>
                      <a:schemeClr val="bg1"/>
                    </a:solidFill>
                  </a:tcPr>
                </a:tc>
                <a:tc>
                  <a:txBody>
                    <a:bodyPr/>
                    <a:lstStyle/>
                    <a:p>
                      <a:endParaRPr lang="en-US" sz="100" dirty="0"/>
                    </a:p>
                  </a:txBody>
                  <a:tcPr>
                    <a:solidFill>
                      <a:schemeClr val="bg1"/>
                    </a:solidFill>
                  </a:tcPr>
                </a:tc>
                <a:extLst>
                  <a:ext uri="{0D108BD9-81ED-4DB2-BD59-A6C34878D82A}">
                    <a16:rowId xmlns:a16="http://schemas.microsoft.com/office/drawing/2014/main" val="883635369"/>
                  </a:ext>
                </a:extLst>
              </a:tr>
              <a:tr h="182880">
                <a:tc>
                  <a:txBody>
                    <a:bodyPr/>
                    <a:lstStyle/>
                    <a:p>
                      <a:r>
                        <a:rPr lang="en-US" dirty="0"/>
                        <a:t>Diff Value</a:t>
                      </a:r>
                    </a:p>
                  </a:txBody>
                  <a:tcPr anchor="ct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extLst>
                  <a:ext uri="{0D108BD9-81ED-4DB2-BD59-A6C34878D82A}">
                    <a16:rowId xmlns:a16="http://schemas.microsoft.com/office/drawing/2014/main" val="452319697"/>
                  </a:ext>
                </a:extLst>
              </a:tr>
              <a:tr h="182880">
                <a:tc>
                  <a:txBody>
                    <a:bodyPr/>
                    <a:lstStyle/>
                    <a:p>
                      <a:r>
                        <a:rPr lang="en-US" dirty="0"/>
                        <a:t>Meg</a:t>
                      </a:r>
                    </a:p>
                  </a:txBody>
                  <a:tcPr anchor="ctr">
                    <a:solidFill>
                      <a:schemeClr val="accent1">
                        <a:lumMod val="40000"/>
                        <a:lumOff val="60000"/>
                      </a:schemeClr>
                    </a:solidFill>
                  </a:tcPr>
                </a:tc>
                <a:tc>
                  <a:txBody>
                    <a:bodyPr/>
                    <a:lstStyle/>
                    <a:p>
                      <a:pPr algn="r"/>
                      <a:r>
                        <a:rPr lang="en-US" dirty="0"/>
                        <a:t>$(120)</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  (60)</a:t>
                      </a:r>
                    </a:p>
                  </a:txBody>
                  <a:tcPr>
                    <a:solidFill>
                      <a:schemeClr val="accent1">
                        <a:lumMod val="40000"/>
                        <a:lumOff val="60000"/>
                      </a:schemeClr>
                    </a:solidFill>
                  </a:tcPr>
                </a:tc>
                <a:extLst>
                  <a:ext uri="{0D108BD9-81ED-4DB2-BD59-A6C34878D82A}">
                    <a16:rowId xmlns:a16="http://schemas.microsoft.com/office/drawing/2014/main" val="428803167"/>
                  </a:ext>
                </a:extLst>
              </a:tr>
              <a:tr h="182880">
                <a:tc>
                  <a:txBody>
                    <a:bodyPr/>
                    <a:lstStyle/>
                    <a:p>
                      <a:r>
                        <a:rPr lang="en-US" dirty="0"/>
                        <a:t>Brand</a:t>
                      </a:r>
                    </a:p>
                  </a:txBody>
                  <a:tcPr anchor="ctr">
                    <a:solidFill>
                      <a:schemeClr val="accent1">
                        <a:lumMod val="40000"/>
                        <a:lumOff val="60000"/>
                      </a:schemeClr>
                    </a:solidFill>
                  </a:tcPr>
                </a:tc>
                <a:tc>
                  <a:txBody>
                    <a:bodyPr/>
                    <a:lstStyle/>
                    <a:p>
                      <a:pPr algn="r"/>
                      <a:r>
                        <a:rPr lang="en-US" dirty="0"/>
                        <a:t>$(100)</a:t>
                      </a:r>
                    </a:p>
                  </a:txBody>
                  <a:tcPr>
                    <a:solidFill>
                      <a:schemeClr val="accent1">
                        <a:lumMod val="40000"/>
                        <a:lumOff val="60000"/>
                      </a:schemeClr>
                    </a:solidFill>
                  </a:tcPr>
                </a:tc>
                <a:tc>
                  <a:txBody>
                    <a:bodyPr/>
                    <a:lstStyle/>
                    <a:p>
                      <a:pPr algn="r"/>
                      <a:r>
                        <a:rPr lang="en-US" dirty="0"/>
                        <a:t>$ (40)</a:t>
                      </a:r>
                    </a:p>
                  </a:txBody>
                  <a:tcPr>
                    <a:solidFill>
                      <a:schemeClr val="accent1">
                        <a:lumMod val="40000"/>
                        <a:lumOff val="60000"/>
                      </a:schemeClr>
                    </a:solidFill>
                  </a:tcPr>
                </a:tc>
                <a:tc>
                  <a:txBody>
                    <a:bodyPr/>
                    <a:lstStyle/>
                    <a:p>
                      <a:pPr algn="r"/>
                      <a:r>
                        <a:rPr lang="en-US" dirty="0"/>
                        <a:t>$  (33)</a:t>
                      </a:r>
                    </a:p>
                  </a:txBody>
                  <a:tcPr>
                    <a:solidFill>
                      <a:schemeClr val="accent1">
                        <a:lumMod val="40000"/>
                        <a:lumOff val="60000"/>
                      </a:schemeClr>
                    </a:solidFill>
                  </a:tcPr>
                </a:tc>
                <a:extLst>
                  <a:ext uri="{0D108BD9-81ED-4DB2-BD59-A6C34878D82A}">
                    <a16:rowId xmlns:a16="http://schemas.microsoft.com/office/drawing/2014/main" val="913181167"/>
                  </a:ext>
                </a:extLst>
              </a:tr>
              <a:tr h="182880">
                <a:tc>
                  <a:txBody>
                    <a:bodyPr/>
                    <a:lstStyle/>
                    <a:p>
                      <a:r>
                        <a:rPr lang="en-US" dirty="0"/>
                        <a:t>DSLR</a:t>
                      </a:r>
                    </a:p>
                  </a:txBody>
                  <a:tcPr anchor="ctr">
                    <a:solidFill>
                      <a:schemeClr val="accent1">
                        <a:lumMod val="40000"/>
                        <a:lumOff val="60000"/>
                      </a:schemeClr>
                    </a:solidFill>
                  </a:tcPr>
                </a:tc>
                <a:tc>
                  <a:txBody>
                    <a:bodyPr/>
                    <a:lstStyle/>
                    <a:p>
                      <a:pPr algn="r"/>
                      <a:r>
                        <a:rPr lang="en-US" dirty="0"/>
                        <a:t>$  (50)</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a:t>
                      </a:r>
                      <a:r>
                        <a:rPr lang="en-US" baseline="0" dirty="0"/>
                        <a:t>  (27)</a:t>
                      </a:r>
                      <a:endParaRPr lang="en-US" dirty="0"/>
                    </a:p>
                  </a:txBody>
                  <a:tcPr>
                    <a:solidFill>
                      <a:schemeClr val="accent1">
                        <a:lumMod val="40000"/>
                        <a:lumOff val="60000"/>
                      </a:schemeClr>
                    </a:solidFill>
                  </a:tcPr>
                </a:tc>
                <a:extLst>
                  <a:ext uri="{0D108BD9-81ED-4DB2-BD59-A6C34878D82A}">
                    <a16:rowId xmlns:a16="http://schemas.microsoft.com/office/drawing/2014/main" val="1068180452"/>
                  </a:ext>
                </a:extLst>
              </a:tr>
              <a:tr h="182880">
                <a:tc>
                  <a:txBody>
                    <a:bodyPr/>
                    <a:lstStyle/>
                    <a:p>
                      <a:endParaRPr lang="en-US" sz="100" dirty="0"/>
                    </a:p>
                  </a:txBody>
                  <a:tcPr anchor="ctr">
                    <a:solidFill>
                      <a:schemeClr val="bg1"/>
                    </a:solidFill>
                  </a:tcPr>
                </a:tc>
                <a:tc>
                  <a:txBody>
                    <a:bodyPr/>
                    <a:lstStyle/>
                    <a:p>
                      <a:pPr algn="r"/>
                      <a:endParaRPr lang="en-US" sz="100" dirty="0"/>
                    </a:p>
                  </a:txBody>
                  <a:tcPr>
                    <a:solidFill>
                      <a:schemeClr val="bg1"/>
                    </a:solidFill>
                  </a:tcPr>
                </a:tc>
                <a:tc>
                  <a:txBody>
                    <a:bodyPr/>
                    <a:lstStyle/>
                    <a:p>
                      <a:pPr algn="r"/>
                      <a:endParaRPr lang="en-US" sz="100" dirty="0"/>
                    </a:p>
                  </a:txBody>
                  <a:tcPr>
                    <a:solidFill>
                      <a:schemeClr val="bg1"/>
                    </a:solidFill>
                  </a:tcPr>
                </a:tc>
                <a:tc>
                  <a:txBody>
                    <a:bodyPr/>
                    <a:lstStyle/>
                    <a:p>
                      <a:pPr algn="r"/>
                      <a:endParaRPr lang="en-US" sz="100" dirty="0"/>
                    </a:p>
                  </a:txBody>
                  <a:tcPr>
                    <a:solidFill>
                      <a:schemeClr val="bg1"/>
                    </a:solidFill>
                  </a:tcPr>
                </a:tc>
                <a:extLst>
                  <a:ext uri="{0D108BD9-81ED-4DB2-BD59-A6C34878D82A}">
                    <a16:rowId xmlns:a16="http://schemas.microsoft.com/office/drawing/2014/main" val="1588926462"/>
                  </a:ext>
                </a:extLst>
              </a:tr>
              <a:tr h="182880">
                <a:tc>
                  <a:txBody>
                    <a:bodyPr/>
                    <a:lstStyle/>
                    <a:p>
                      <a:r>
                        <a:rPr lang="en-US" dirty="0"/>
                        <a:t>EVC</a:t>
                      </a:r>
                    </a:p>
                  </a:txBody>
                  <a:tcPr anchor="ctr">
                    <a:solidFill>
                      <a:schemeClr val="accent1">
                        <a:lumMod val="75000"/>
                      </a:schemeClr>
                    </a:solidFill>
                  </a:tcPr>
                </a:tc>
                <a:tc>
                  <a:txBody>
                    <a:bodyPr/>
                    <a:lstStyle/>
                    <a:p>
                      <a:pPr algn="r"/>
                      <a:r>
                        <a:rPr lang="en-US" dirty="0"/>
                        <a:t>$  120</a:t>
                      </a:r>
                    </a:p>
                  </a:txBody>
                  <a:tcPr>
                    <a:solidFill>
                      <a:schemeClr val="accent1">
                        <a:lumMod val="75000"/>
                      </a:schemeClr>
                    </a:solidFill>
                  </a:tcPr>
                </a:tc>
                <a:tc>
                  <a:txBody>
                    <a:bodyPr/>
                    <a:lstStyle/>
                    <a:p>
                      <a:pPr algn="r"/>
                      <a:r>
                        <a:rPr lang="en-US" dirty="0"/>
                        <a:t>$ 210</a:t>
                      </a:r>
                    </a:p>
                  </a:txBody>
                  <a:tcPr>
                    <a:solidFill>
                      <a:schemeClr val="accent1">
                        <a:lumMod val="75000"/>
                      </a:schemeClr>
                    </a:solidFill>
                  </a:tcPr>
                </a:tc>
                <a:tc>
                  <a:txBody>
                    <a:bodyPr/>
                    <a:lstStyle/>
                    <a:p>
                      <a:pPr algn="r"/>
                      <a:r>
                        <a:rPr lang="en-US" dirty="0"/>
                        <a:t>$  270</a:t>
                      </a:r>
                    </a:p>
                  </a:txBody>
                  <a:tcPr>
                    <a:solidFill>
                      <a:schemeClr val="accent1">
                        <a:lumMod val="75000"/>
                      </a:schemeClr>
                    </a:solidFill>
                  </a:tcPr>
                </a:tc>
                <a:extLst>
                  <a:ext uri="{0D108BD9-81ED-4DB2-BD59-A6C34878D82A}">
                    <a16:rowId xmlns:a16="http://schemas.microsoft.com/office/drawing/2014/main" val="2615505647"/>
                  </a:ext>
                </a:extLst>
              </a:tr>
            </a:tbl>
          </a:graphicData>
        </a:graphic>
      </p:graphicFrame>
    </p:spTree>
    <p:extLst>
      <p:ext uri="{BB962C8B-B14F-4D97-AF65-F5344CB8AC3E}">
        <p14:creationId xmlns:p14="http://schemas.microsoft.com/office/powerpoint/2010/main" val="615667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4000" dirty="0"/>
              <a:t>Canon Demand</a:t>
            </a:r>
            <a:br>
              <a:rPr lang="en-US" sz="4000" dirty="0"/>
            </a:br>
            <a:r>
              <a:rPr lang="en-US" sz="4000" dirty="0"/>
              <a:t>EVC demand </a:t>
            </a:r>
            <a:r>
              <a:rPr lang="en-US" sz="3200" dirty="0"/>
              <a:t>before &amp; after Olympus ($390)</a:t>
            </a:r>
          </a:p>
        </p:txBody>
      </p:sp>
      <p:sp>
        <p:nvSpPr>
          <p:cNvPr id="23555" name="Line 3"/>
          <p:cNvSpPr>
            <a:spLocks noChangeShapeType="1"/>
          </p:cNvSpPr>
          <p:nvPr/>
        </p:nvSpPr>
        <p:spPr bwMode="auto">
          <a:xfrm>
            <a:off x="1905000" y="5410200"/>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23556" name="Line 4"/>
          <p:cNvSpPr>
            <a:spLocks noChangeShapeType="1"/>
          </p:cNvSpPr>
          <p:nvPr/>
        </p:nvSpPr>
        <p:spPr bwMode="auto">
          <a:xfrm flipV="1">
            <a:off x="1905000" y="2286000"/>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23558" name="Text Box 6"/>
          <p:cNvSpPr txBox="1">
            <a:spLocks noChangeArrowheads="1"/>
          </p:cNvSpPr>
          <p:nvPr/>
        </p:nvSpPr>
        <p:spPr bwMode="auto">
          <a:xfrm>
            <a:off x="1066800" y="26670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$317</a:t>
            </a:r>
          </a:p>
        </p:txBody>
      </p:sp>
      <p:sp>
        <p:nvSpPr>
          <p:cNvPr id="23559" name="Text Box 7"/>
          <p:cNvSpPr txBox="1">
            <a:spLocks noChangeArrowheads="1"/>
          </p:cNvSpPr>
          <p:nvPr/>
        </p:nvSpPr>
        <p:spPr bwMode="auto">
          <a:xfrm>
            <a:off x="1066800" y="28956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$300</a:t>
            </a:r>
          </a:p>
        </p:txBody>
      </p:sp>
      <p:sp>
        <p:nvSpPr>
          <p:cNvPr id="23560" name="Text Box 8"/>
          <p:cNvSpPr txBox="1">
            <a:spLocks noChangeArrowheads="1"/>
          </p:cNvSpPr>
          <p:nvPr/>
        </p:nvSpPr>
        <p:spPr bwMode="auto">
          <a:xfrm>
            <a:off x="1066800" y="38862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$210</a:t>
            </a:r>
          </a:p>
        </p:txBody>
      </p:sp>
      <p:sp>
        <p:nvSpPr>
          <p:cNvPr id="23565" name="Text Box 13"/>
          <p:cNvSpPr txBox="1">
            <a:spLocks noChangeArrowheads="1"/>
          </p:cNvSpPr>
          <p:nvPr/>
        </p:nvSpPr>
        <p:spPr bwMode="auto">
          <a:xfrm>
            <a:off x="1066800" y="35052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$270</a:t>
            </a:r>
          </a:p>
        </p:txBody>
      </p:sp>
      <p:sp>
        <p:nvSpPr>
          <p:cNvPr id="23566" name="Text Box 14"/>
          <p:cNvSpPr txBox="1">
            <a:spLocks noChangeArrowheads="1"/>
          </p:cNvSpPr>
          <p:nvPr/>
        </p:nvSpPr>
        <p:spPr bwMode="auto">
          <a:xfrm>
            <a:off x="1066800" y="47244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$120</a:t>
            </a:r>
          </a:p>
        </p:txBody>
      </p:sp>
      <p:sp>
        <p:nvSpPr>
          <p:cNvPr id="23567" name="Text Box 15"/>
          <p:cNvSpPr txBox="1">
            <a:spLocks noChangeArrowheads="1"/>
          </p:cNvSpPr>
          <p:nvPr/>
        </p:nvSpPr>
        <p:spPr bwMode="auto">
          <a:xfrm>
            <a:off x="5577840" y="6019800"/>
            <a:ext cx="979488" cy="304800"/>
          </a:xfrm>
          <a:prstGeom prst="rect">
            <a:avLst/>
          </a:prstGeom>
          <a:noFill/>
          <a:ln w="12700">
            <a:noFill/>
            <a:miter lim="800000"/>
            <a:headEnd/>
            <a:tailEnd/>
          </a:ln>
        </p:spPr>
        <p:txBody>
          <a:bodyPr wrap="none">
            <a:spAutoFit/>
          </a:bodyPr>
          <a:lstStyle/>
          <a:p>
            <a:r>
              <a:rPr lang="en-US" sz="1400" dirty="0">
                <a:solidFill>
                  <a:srgbClr val="FF0000"/>
                </a:solidFill>
              </a:rPr>
              <a:t>Segment A</a:t>
            </a:r>
            <a:endParaRPr lang="en-US" u="sng" dirty="0">
              <a:solidFill>
                <a:srgbClr val="FF0000"/>
              </a:solidFill>
            </a:endParaRPr>
          </a:p>
        </p:txBody>
      </p:sp>
      <p:sp>
        <p:nvSpPr>
          <p:cNvPr id="23568" name="Text Box 16"/>
          <p:cNvSpPr txBox="1">
            <a:spLocks noChangeArrowheads="1"/>
          </p:cNvSpPr>
          <p:nvPr/>
        </p:nvSpPr>
        <p:spPr bwMode="auto">
          <a:xfrm>
            <a:off x="4142232" y="6019800"/>
            <a:ext cx="969963" cy="304800"/>
          </a:xfrm>
          <a:prstGeom prst="rect">
            <a:avLst/>
          </a:prstGeom>
          <a:noFill/>
          <a:ln w="12700">
            <a:noFill/>
            <a:miter lim="800000"/>
            <a:headEnd/>
            <a:tailEnd/>
          </a:ln>
        </p:spPr>
        <p:txBody>
          <a:bodyPr wrap="none">
            <a:spAutoFit/>
          </a:bodyPr>
          <a:lstStyle/>
          <a:p>
            <a:r>
              <a:rPr lang="en-US" sz="1400" dirty="0">
                <a:solidFill>
                  <a:srgbClr val="FF0000"/>
                </a:solidFill>
              </a:rPr>
              <a:t>Segment B</a:t>
            </a:r>
            <a:endParaRPr lang="en-US" u="sng" dirty="0">
              <a:solidFill>
                <a:srgbClr val="FF0000"/>
              </a:solidFill>
            </a:endParaRPr>
          </a:p>
        </p:txBody>
      </p:sp>
      <p:sp>
        <p:nvSpPr>
          <p:cNvPr id="23569" name="Text Box 17"/>
          <p:cNvSpPr txBox="1">
            <a:spLocks noChangeArrowheads="1"/>
          </p:cNvSpPr>
          <p:nvPr/>
        </p:nvSpPr>
        <p:spPr bwMode="auto">
          <a:xfrm>
            <a:off x="2209800" y="6019800"/>
            <a:ext cx="969963" cy="304800"/>
          </a:xfrm>
          <a:prstGeom prst="rect">
            <a:avLst/>
          </a:prstGeom>
          <a:noFill/>
          <a:ln w="12700">
            <a:noFill/>
            <a:miter lim="800000"/>
            <a:headEnd/>
            <a:tailEnd/>
          </a:ln>
        </p:spPr>
        <p:txBody>
          <a:bodyPr wrap="none">
            <a:spAutoFit/>
          </a:bodyPr>
          <a:lstStyle/>
          <a:p>
            <a:r>
              <a:rPr lang="en-US" sz="1400" dirty="0">
                <a:solidFill>
                  <a:srgbClr val="FF0000"/>
                </a:solidFill>
              </a:rPr>
              <a:t>Segment C</a:t>
            </a:r>
            <a:endParaRPr lang="en-US" u="sng" dirty="0">
              <a:solidFill>
                <a:srgbClr val="FF0000"/>
              </a:solidFill>
            </a:endParaRPr>
          </a:p>
        </p:txBody>
      </p:sp>
      <p:sp>
        <p:nvSpPr>
          <p:cNvPr id="23571" name="Text Box 19"/>
          <p:cNvSpPr txBox="1">
            <a:spLocks noChangeArrowheads="1"/>
          </p:cNvSpPr>
          <p:nvPr/>
        </p:nvSpPr>
        <p:spPr bwMode="auto">
          <a:xfrm>
            <a:off x="6785798" y="4724400"/>
            <a:ext cx="2313454" cy="523220"/>
          </a:xfrm>
          <a:prstGeom prst="rect">
            <a:avLst/>
          </a:prstGeom>
          <a:noFill/>
          <a:ln w="12700">
            <a:noFill/>
            <a:miter lim="800000"/>
            <a:headEnd/>
            <a:tailEnd/>
          </a:ln>
        </p:spPr>
        <p:txBody>
          <a:bodyPr wrap="none">
            <a:spAutoFit/>
          </a:bodyPr>
          <a:lstStyle/>
          <a:p>
            <a:r>
              <a:rPr lang="en-US" sz="1400" dirty="0">
                <a:solidFill>
                  <a:srgbClr val="FF0000"/>
                </a:solidFill>
              </a:rPr>
              <a:t>Canon Demand</a:t>
            </a:r>
          </a:p>
          <a:p>
            <a:r>
              <a:rPr lang="en-US" sz="1400" dirty="0">
                <a:solidFill>
                  <a:srgbClr val="FF0000"/>
                </a:solidFill>
              </a:rPr>
              <a:t>After Olympus launch ($390)</a:t>
            </a:r>
            <a:endParaRPr lang="en-US" u="sng" dirty="0">
              <a:solidFill>
                <a:srgbClr val="FF0000"/>
              </a:solidFill>
            </a:endParaRPr>
          </a:p>
        </p:txBody>
      </p:sp>
      <p:sp>
        <p:nvSpPr>
          <p:cNvPr id="28" name="Text Box 18"/>
          <p:cNvSpPr txBox="1">
            <a:spLocks noChangeArrowheads="1"/>
          </p:cNvSpPr>
          <p:nvPr/>
        </p:nvSpPr>
        <p:spPr bwMode="auto">
          <a:xfrm>
            <a:off x="6755606" y="3886200"/>
            <a:ext cx="1995996" cy="523220"/>
          </a:xfrm>
          <a:prstGeom prst="rect">
            <a:avLst/>
          </a:prstGeom>
          <a:noFill/>
          <a:ln w="12700">
            <a:noFill/>
            <a:miter lim="800000"/>
            <a:headEnd/>
            <a:tailEnd/>
          </a:ln>
        </p:spPr>
        <p:txBody>
          <a:bodyPr wrap="none">
            <a:spAutoFit/>
          </a:bodyPr>
          <a:lstStyle/>
          <a:p>
            <a:r>
              <a:rPr lang="en-US" sz="1400" b="1" dirty="0"/>
              <a:t>Canon Demand</a:t>
            </a:r>
          </a:p>
          <a:p>
            <a:r>
              <a:rPr lang="en-US" sz="1400" b="1" dirty="0"/>
              <a:t>Before Olympus launch</a:t>
            </a:r>
            <a:endParaRPr lang="en-US" b="1" u="sng" dirty="0"/>
          </a:p>
        </p:txBody>
      </p:sp>
      <p:cxnSp>
        <p:nvCxnSpPr>
          <p:cNvPr id="29" name="Straight Connector 28"/>
          <p:cNvCxnSpPr/>
          <p:nvPr/>
        </p:nvCxnSpPr>
        <p:spPr>
          <a:xfrm>
            <a:off x="1905000" y="2819400"/>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3733800" y="3077921"/>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562600" y="4068612"/>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733800" y="2819400"/>
            <a:ext cx="0" cy="258521"/>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5549660" y="3062287"/>
            <a:ext cx="0" cy="1006325"/>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 Box 9"/>
          <p:cNvSpPr txBox="1">
            <a:spLocks noChangeArrowheads="1"/>
          </p:cNvSpPr>
          <p:nvPr/>
        </p:nvSpPr>
        <p:spPr bwMode="auto">
          <a:xfrm>
            <a:off x="4144168" y="5641848"/>
            <a:ext cx="1008063" cy="304800"/>
          </a:xfrm>
          <a:prstGeom prst="rect">
            <a:avLst/>
          </a:prstGeom>
          <a:noFill/>
          <a:ln w="12700">
            <a:noFill/>
            <a:miter lim="800000"/>
            <a:headEnd/>
            <a:tailEnd/>
          </a:ln>
        </p:spPr>
        <p:txBody>
          <a:bodyPr wrap="none">
            <a:spAutoFit/>
          </a:bodyPr>
          <a:lstStyle/>
          <a:p>
            <a:r>
              <a:rPr lang="en-US" sz="1400" b="1" dirty="0"/>
              <a:t>Segment A</a:t>
            </a:r>
            <a:endParaRPr lang="en-US" b="1" u="sng" dirty="0"/>
          </a:p>
        </p:txBody>
      </p:sp>
      <p:sp>
        <p:nvSpPr>
          <p:cNvPr id="39" name="Text Box 10"/>
          <p:cNvSpPr txBox="1">
            <a:spLocks noChangeArrowheads="1"/>
          </p:cNvSpPr>
          <p:nvPr/>
        </p:nvSpPr>
        <p:spPr bwMode="auto">
          <a:xfrm>
            <a:off x="5580541" y="5641848"/>
            <a:ext cx="998538" cy="304800"/>
          </a:xfrm>
          <a:prstGeom prst="rect">
            <a:avLst/>
          </a:prstGeom>
          <a:noFill/>
          <a:ln w="12700">
            <a:noFill/>
            <a:miter lim="800000"/>
            <a:headEnd/>
            <a:tailEnd/>
          </a:ln>
        </p:spPr>
        <p:txBody>
          <a:bodyPr wrap="none">
            <a:spAutoFit/>
          </a:bodyPr>
          <a:lstStyle/>
          <a:p>
            <a:r>
              <a:rPr lang="en-US" sz="1400" b="1" dirty="0"/>
              <a:t>Segment B</a:t>
            </a:r>
            <a:endParaRPr lang="en-US" b="1" u="sng" dirty="0"/>
          </a:p>
        </p:txBody>
      </p:sp>
      <p:sp>
        <p:nvSpPr>
          <p:cNvPr id="40" name="Text Box 11"/>
          <p:cNvSpPr txBox="1">
            <a:spLocks noChangeArrowheads="1"/>
          </p:cNvSpPr>
          <p:nvPr/>
        </p:nvSpPr>
        <p:spPr bwMode="auto">
          <a:xfrm>
            <a:off x="2209800" y="5638800"/>
            <a:ext cx="1008063" cy="304800"/>
          </a:xfrm>
          <a:prstGeom prst="rect">
            <a:avLst/>
          </a:prstGeom>
          <a:noFill/>
          <a:ln w="12700">
            <a:noFill/>
            <a:miter lim="800000"/>
            <a:headEnd/>
            <a:tailEnd/>
          </a:ln>
        </p:spPr>
        <p:txBody>
          <a:bodyPr>
            <a:spAutoFit/>
          </a:bodyPr>
          <a:lstStyle/>
          <a:p>
            <a:r>
              <a:rPr lang="en-US" sz="1400" b="1"/>
              <a:t>Segment C</a:t>
            </a:r>
            <a:endParaRPr lang="en-US" b="1" u="sng"/>
          </a:p>
        </p:txBody>
      </p:sp>
      <p:sp>
        <p:nvSpPr>
          <p:cNvPr id="41" name="TextBox 40"/>
          <p:cNvSpPr txBox="1"/>
          <p:nvPr/>
        </p:nvSpPr>
        <p:spPr>
          <a:xfrm>
            <a:off x="7620000" y="5712767"/>
            <a:ext cx="1260281" cy="461665"/>
          </a:xfrm>
          <a:prstGeom prst="rect">
            <a:avLst/>
          </a:prstGeom>
          <a:noFill/>
        </p:spPr>
        <p:txBody>
          <a:bodyPr wrap="none" rtlCol="0">
            <a:spAutoFit/>
          </a:bodyPr>
          <a:lstStyle/>
          <a:p>
            <a:r>
              <a:rPr lang="en-US" dirty="0"/>
              <a:t>Quantity</a:t>
            </a:r>
          </a:p>
        </p:txBody>
      </p:sp>
      <p:cxnSp>
        <p:nvCxnSpPr>
          <p:cNvPr id="42" name="Straight Connector 41"/>
          <p:cNvCxnSpPr/>
          <p:nvPr/>
        </p:nvCxnSpPr>
        <p:spPr>
          <a:xfrm>
            <a:off x="1893708" y="3657600"/>
            <a:ext cx="18288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617720" y="4992624"/>
            <a:ext cx="18288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3703320" y="4068612"/>
            <a:ext cx="9144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3722508" y="3671887"/>
            <a:ext cx="0" cy="38100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4636908" y="4068612"/>
            <a:ext cx="0" cy="91440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sp>
        <p:nvSpPr>
          <p:cNvPr id="54" name="Line 20"/>
          <p:cNvSpPr>
            <a:spLocks noChangeShapeType="1"/>
          </p:cNvSpPr>
          <p:nvPr/>
        </p:nvSpPr>
        <p:spPr bwMode="auto">
          <a:xfrm>
            <a:off x="1905000" y="3429000"/>
            <a:ext cx="5181600" cy="0"/>
          </a:xfrm>
          <a:prstGeom prst="line">
            <a:avLst/>
          </a:prstGeom>
          <a:noFill/>
          <a:ln w="12700">
            <a:solidFill>
              <a:srgbClr val="00B050"/>
            </a:solidFill>
            <a:prstDash val="dash"/>
            <a:round/>
            <a:headEnd/>
            <a:tailEnd/>
          </a:ln>
        </p:spPr>
        <p:txBody>
          <a:bodyPr wrap="none" lIns="90488" tIns="44450" rIns="90488" bIns="44450"/>
          <a:lstStyle/>
          <a:p>
            <a:endParaRPr lang="en-US"/>
          </a:p>
        </p:txBody>
      </p:sp>
      <p:sp>
        <p:nvSpPr>
          <p:cNvPr id="55" name="Text Box 21"/>
          <p:cNvSpPr txBox="1">
            <a:spLocks noChangeArrowheads="1"/>
          </p:cNvSpPr>
          <p:nvPr/>
        </p:nvSpPr>
        <p:spPr bwMode="auto">
          <a:xfrm>
            <a:off x="7086600" y="3276600"/>
            <a:ext cx="835229" cy="307777"/>
          </a:xfrm>
          <a:prstGeom prst="rect">
            <a:avLst/>
          </a:prstGeom>
          <a:noFill/>
          <a:ln w="12700">
            <a:noFill/>
            <a:miter lim="800000"/>
            <a:headEnd/>
            <a:tailEnd/>
          </a:ln>
        </p:spPr>
        <p:txBody>
          <a:bodyPr wrap="none">
            <a:spAutoFit/>
          </a:bodyPr>
          <a:lstStyle/>
          <a:p>
            <a:r>
              <a:rPr lang="en-US" sz="1400" b="1" dirty="0">
                <a:solidFill>
                  <a:srgbClr val="00B050"/>
                </a:solidFill>
              </a:rPr>
              <a:t>P = $280</a:t>
            </a:r>
            <a:endParaRPr lang="en-US" b="1" u="sng" dirty="0">
              <a:solidFill>
                <a:srgbClr val="00B050"/>
              </a:solidFill>
            </a:endParaRPr>
          </a:p>
        </p:txBody>
      </p:sp>
      <p:sp>
        <p:nvSpPr>
          <p:cNvPr id="57" name="TextBox 56"/>
          <p:cNvSpPr txBox="1"/>
          <p:nvPr/>
        </p:nvSpPr>
        <p:spPr>
          <a:xfrm>
            <a:off x="844783" y="2055167"/>
            <a:ext cx="816249" cy="461665"/>
          </a:xfrm>
          <a:prstGeom prst="rect">
            <a:avLst/>
          </a:prstGeom>
          <a:noFill/>
        </p:spPr>
        <p:txBody>
          <a:bodyPr wrap="none" rtlCol="0">
            <a:spAutoFit/>
          </a:bodyPr>
          <a:lstStyle/>
          <a:p>
            <a:r>
              <a:rPr lang="en-US" dirty="0"/>
              <a:t>Price</a:t>
            </a:r>
          </a:p>
        </p:txBody>
      </p:sp>
      <p:sp>
        <p:nvSpPr>
          <p:cNvPr id="2" name="Slide Number Placeholder 1"/>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20</a:t>
            </a:fld>
            <a:endParaRPr lang="en-US"/>
          </a:p>
        </p:txBody>
      </p:sp>
      <p:sp>
        <p:nvSpPr>
          <p:cNvPr id="3" name="Down Arrow 2"/>
          <p:cNvSpPr/>
          <p:nvPr/>
        </p:nvSpPr>
        <p:spPr>
          <a:xfrm>
            <a:off x="2514600" y="3000375"/>
            <a:ext cx="76200" cy="504825"/>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p:cNvSpPr/>
          <p:nvPr/>
        </p:nvSpPr>
        <p:spPr>
          <a:xfrm>
            <a:off x="4127739" y="3324584"/>
            <a:ext cx="76200" cy="504825"/>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5942449" y="4298013"/>
            <a:ext cx="76200" cy="504825"/>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06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57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5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5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7" grpId="0"/>
      <p:bldP spid="23568" grpId="0"/>
      <p:bldP spid="23569" grpId="0"/>
      <p:bldP spid="23571" grpId="0"/>
      <p:bldP spid="3" grpId="0" animBg="1"/>
      <p:bldP spid="34" grpId="0" animBg="1"/>
      <p:bldP spid="3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Possible Price Reactions by Canon</a:t>
            </a:r>
          </a:p>
        </p:txBody>
      </p:sp>
      <p:sp>
        <p:nvSpPr>
          <p:cNvPr id="68611" name="Rectangle 3"/>
          <p:cNvSpPr>
            <a:spLocks noGrp="1" noChangeArrowheads="1"/>
          </p:cNvSpPr>
          <p:nvPr>
            <p:ph sz="quarter" idx="1"/>
          </p:nvPr>
        </p:nvSpPr>
        <p:spPr/>
        <p:txBody>
          <a:bodyPr/>
          <a:lstStyle/>
          <a:p>
            <a:pPr>
              <a:spcAft>
                <a:spcPts val="1200"/>
              </a:spcAft>
              <a:defRPr/>
            </a:pPr>
            <a:r>
              <a:rPr lang="en-US" sz="2400" dirty="0">
                <a:latin typeface="+mj-lt"/>
              </a:rPr>
              <a:t>$269: attract segment C</a:t>
            </a:r>
          </a:p>
          <a:p>
            <a:pPr>
              <a:spcAft>
                <a:spcPts val="1200"/>
              </a:spcAft>
              <a:defRPr/>
            </a:pPr>
            <a:r>
              <a:rPr lang="en-US" sz="2400" dirty="0">
                <a:latin typeface="+mj-lt"/>
              </a:rPr>
              <a:t>$209: attract segments B and C</a:t>
            </a:r>
          </a:p>
          <a:p>
            <a:pPr>
              <a:spcAft>
                <a:spcPts val="1200"/>
              </a:spcAft>
              <a:defRPr/>
            </a:pPr>
            <a:r>
              <a:rPr lang="en-US" sz="2400" dirty="0">
                <a:latin typeface="+mj-lt"/>
              </a:rPr>
              <a:t>$119: attract segments A, B and C</a:t>
            </a:r>
          </a:p>
          <a:p>
            <a:pPr>
              <a:spcAft>
                <a:spcPts val="1200"/>
              </a:spcAft>
              <a:defRPr/>
            </a:pPr>
            <a:r>
              <a:rPr lang="en-US" sz="2400" dirty="0">
                <a:latin typeface="+mj-lt"/>
              </a:rPr>
              <a:t>At a minimum, we expect to trigger a competitive reaction from Canon</a:t>
            </a:r>
          </a:p>
          <a:p>
            <a:pPr>
              <a:defRPr/>
            </a:pPr>
            <a:r>
              <a:rPr lang="en-US" sz="2400" dirty="0">
                <a:latin typeface="+mj-lt"/>
              </a:rPr>
              <a:t>Price will fall to $269 or lower</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21</a:t>
            </a:fld>
            <a:endParaRPr lang="en-US"/>
          </a:p>
        </p:txBody>
      </p:sp>
    </p:spTree>
    <p:extLst>
      <p:ext uri="{BB962C8B-B14F-4D97-AF65-F5344CB8AC3E}">
        <p14:creationId xmlns:p14="http://schemas.microsoft.com/office/powerpoint/2010/main" val="1899967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Olympus Demand</a:t>
            </a:r>
            <a:br>
              <a:rPr lang="en-US" sz="5400" dirty="0"/>
            </a:br>
            <a:r>
              <a:rPr lang="en-US" sz="3200" dirty="0"/>
              <a:t>What if Olympus Targets Segment A?</a:t>
            </a:r>
            <a:endParaRPr lang="en-US" dirty="0"/>
          </a:p>
        </p:txBody>
      </p:sp>
      <p:sp>
        <p:nvSpPr>
          <p:cNvPr id="3" name="Line 3"/>
          <p:cNvSpPr>
            <a:spLocks noChangeShapeType="1"/>
          </p:cNvSpPr>
          <p:nvPr/>
        </p:nvSpPr>
        <p:spPr bwMode="auto">
          <a:xfrm>
            <a:off x="1905000" y="5410200"/>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4" name="Line 4"/>
          <p:cNvSpPr>
            <a:spLocks noChangeShapeType="1"/>
          </p:cNvSpPr>
          <p:nvPr/>
        </p:nvSpPr>
        <p:spPr bwMode="auto">
          <a:xfrm flipV="1">
            <a:off x="1905000" y="2286000"/>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5" name="Text Box 6"/>
          <p:cNvSpPr txBox="1">
            <a:spLocks noChangeArrowheads="1"/>
          </p:cNvSpPr>
          <p:nvPr/>
        </p:nvSpPr>
        <p:spPr bwMode="auto">
          <a:xfrm>
            <a:off x="1066800" y="26670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$550</a:t>
            </a:r>
          </a:p>
        </p:txBody>
      </p:sp>
      <p:sp>
        <p:nvSpPr>
          <p:cNvPr id="6" name="Text Box 7"/>
          <p:cNvSpPr txBox="1">
            <a:spLocks noChangeArrowheads="1"/>
          </p:cNvSpPr>
          <p:nvPr/>
        </p:nvSpPr>
        <p:spPr bwMode="auto">
          <a:xfrm>
            <a:off x="1041781" y="3398761"/>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$400</a:t>
            </a:r>
          </a:p>
        </p:txBody>
      </p:sp>
      <p:sp>
        <p:nvSpPr>
          <p:cNvPr id="7" name="Text Box 8"/>
          <p:cNvSpPr txBox="1">
            <a:spLocks noChangeArrowheads="1"/>
          </p:cNvSpPr>
          <p:nvPr/>
        </p:nvSpPr>
        <p:spPr bwMode="auto">
          <a:xfrm>
            <a:off x="1066800" y="3886200"/>
            <a:ext cx="685800" cy="335989"/>
          </a:xfrm>
          <a:prstGeom prst="rect">
            <a:avLst/>
          </a:prstGeom>
          <a:noFill/>
          <a:ln w="12700">
            <a:noFill/>
            <a:miter lim="800000"/>
            <a:headEnd/>
            <a:tailEnd/>
          </a:ln>
        </p:spPr>
        <p:txBody>
          <a:bodyPr lIns="90488" tIns="44450" rIns="90488" bIns="44450">
            <a:spAutoFit/>
          </a:bodyPr>
          <a:lstStyle/>
          <a:p>
            <a:pPr>
              <a:spcBef>
                <a:spcPct val="50000"/>
              </a:spcBef>
            </a:pPr>
            <a:r>
              <a:rPr lang="en-US" sz="1600" dirty="0"/>
              <a:t>$326</a:t>
            </a:r>
          </a:p>
        </p:txBody>
      </p:sp>
      <p:sp>
        <p:nvSpPr>
          <p:cNvPr id="8" name="Text Box 9"/>
          <p:cNvSpPr txBox="1">
            <a:spLocks noChangeArrowheads="1"/>
          </p:cNvSpPr>
          <p:nvPr/>
        </p:nvSpPr>
        <p:spPr bwMode="auto">
          <a:xfrm>
            <a:off x="4144168" y="5641848"/>
            <a:ext cx="1016625" cy="523220"/>
          </a:xfrm>
          <a:prstGeom prst="rect">
            <a:avLst/>
          </a:prstGeom>
          <a:noFill/>
          <a:ln w="12700">
            <a:noFill/>
            <a:miter lim="800000"/>
            <a:headEnd/>
            <a:tailEnd/>
          </a:ln>
        </p:spPr>
        <p:txBody>
          <a:bodyPr wrap="none">
            <a:spAutoFit/>
          </a:bodyPr>
          <a:lstStyle/>
          <a:p>
            <a:r>
              <a:rPr lang="en-US" sz="1400" b="1" dirty="0"/>
              <a:t>Segment C</a:t>
            </a:r>
          </a:p>
          <a:p>
            <a:pPr algn="ctr"/>
            <a:r>
              <a:rPr lang="en-US" sz="1400" b="1" dirty="0"/>
              <a:t>(40%)</a:t>
            </a:r>
            <a:endParaRPr lang="en-US" b="1" dirty="0"/>
          </a:p>
        </p:txBody>
      </p:sp>
      <p:sp>
        <p:nvSpPr>
          <p:cNvPr id="9" name="Text Box 10"/>
          <p:cNvSpPr txBox="1">
            <a:spLocks noChangeArrowheads="1"/>
          </p:cNvSpPr>
          <p:nvPr/>
        </p:nvSpPr>
        <p:spPr bwMode="auto">
          <a:xfrm>
            <a:off x="5641848" y="5641848"/>
            <a:ext cx="1007007" cy="523220"/>
          </a:xfrm>
          <a:prstGeom prst="rect">
            <a:avLst/>
          </a:prstGeom>
          <a:noFill/>
          <a:ln w="12700">
            <a:noFill/>
            <a:miter lim="800000"/>
            <a:headEnd/>
            <a:tailEnd/>
          </a:ln>
        </p:spPr>
        <p:txBody>
          <a:bodyPr wrap="none">
            <a:spAutoFit/>
          </a:bodyPr>
          <a:lstStyle/>
          <a:p>
            <a:r>
              <a:rPr lang="en-US" sz="1400" b="1" dirty="0"/>
              <a:t>Segment B</a:t>
            </a:r>
          </a:p>
          <a:p>
            <a:pPr algn="ctr"/>
            <a:r>
              <a:rPr lang="en-US" sz="1400" b="1" dirty="0"/>
              <a:t>(20%)</a:t>
            </a:r>
            <a:endParaRPr lang="en-US" b="1" dirty="0"/>
          </a:p>
        </p:txBody>
      </p:sp>
      <p:sp>
        <p:nvSpPr>
          <p:cNvPr id="10" name="Text Box 11"/>
          <p:cNvSpPr txBox="1">
            <a:spLocks noChangeArrowheads="1"/>
          </p:cNvSpPr>
          <p:nvPr/>
        </p:nvSpPr>
        <p:spPr bwMode="auto">
          <a:xfrm>
            <a:off x="2209800" y="5638800"/>
            <a:ext cx="1008063" cy="523220"/>
          </a:xfrm>
          <a:prstGeom prst="rect">
            <a:avLst/>
          </a:prstGeom>
          <a:noFill/>
          <a:ln w="12700">
            <a:noFill/>
            <a:miter lim="800000"/>
            <a:headEnd/>
            <a:tailEnd/>
          </a:ln>
        </p:spPr>
        <p:txBody>
          <a:bodyPr>
            <a:spAutoFit/>
          </a:bodyPr>
          <a:lstStyle/>
          <a:p>
            <a:r>
              <a:rPr lang="en-US" sz="1400" b="1" dirty="0"/>
              <a:t>Segment A</a:t>
            </a:r>
          </a:p>
          <a:p>
            <a:pPr algn="ctr"/>
            <a:r>
              <a:rPr lang="en-US" sz="1400" b="1" dirty="0"/>
              <a:t>(40%)</a:t>
            </a:r>
            <a:endParaRPr lang="en-US" b="1" dirty="0"/>
          </a:p>
        </p:txBody>
      </p:sp>
      <p:cxnSp>
        <p:nvCxnSpPr>
          <p:cNvPr id="12" name="Straight Connector 11"/>
          <p:cNvCxnSpPr/>
          <p:nvPr/>
        </p:nvCxnSpPr>
        <p:spPr>
          <a:xfrm>
            <a:off x="1905000" y="2819400"/>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33800" y="3589619"/>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562600" y="4068612"/>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33800" y="2819400"/>
            <a:ext cx="0" cy="746048"/>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549660" y="3589619"/>
            <a:ext cx="0" cy="478993"/>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11332" y="1824335"/>
            <a:ext cx="816249" cy="461665"/>
          </a:xfrm>
          <a:prstGeom prst="rect">
            <a:avLst/>
          </a:prstGeom>
          <a:noFill/>
        </p:spPr>
        <p:txBody>
          <a:bodyPr wrap="none" rtlCol="0">
            <a:spAutoFit/>
          </a:bodyPr>
          <a:lstStyle/>
          <a:p>
            <a:r>
              <a:rPr lang="en-US" dirty="0"/>
              <a:t>Price</a:t>
            </a:r>
          </a:p>
        </p:txBody>
      </p:sp>
      <p:sp>
        <p:nvSpPr>
          <p:cNvPr id="18" name="TextBox 17"/>
          <p:cNvSpPr txBox="1"/>
          <p:nvPr/>
        </p:nvSpPr>
        <p:spPr>
          <a:xfrm>
            <a:off x="7620000" y="5712767"/>
            <a:ext cx="1260281" cy="461665"/>
          </a:xfrm>
          <a:prstGeom prst="rect">
            <a:avLst/>
          </a:prstGeom>
          <a:noFill/>
        </p:spPr>
        <p:txBody>
          <a:bodyPr wrap="none" rtlCol="0">
            <a:spAutoFit/>
          </a:bodyPr>
          <a:lstStyle/>
          <a:p>
            <a:r>
              <a:rPr lang="en-US" dirty="0"/>
              <a:t>Quantity</a:t>
            </a:r>
          </a:p>
        </p:txBody>
      </p:sp>
      <p:sp>
        <p:nvSpPr>
          <p:cNvPr id="23" name="TextBox 22"/>
          <p:cNvSpPr txBox="1"/>
          <p:nvPr/>
        </p:nvSpPr>
        <p:spPr>
          <a:xfrm>
            <a:off x="6654606" y="1798355"/>
            <a:ext cx="2396810" cy="830997"/>
          </a:xfrm>
          <a:prstGeom prst="rect">
            <a:avLst/>
          </a:prstGeom>
          <a:noFill/>
        </p:spPr>
        <p:txBody>
          <a:bodyPr wrap="none" rtlCol="0">
            <a:spAutoFit/>
          </a:bodyPr>
          <a:lstStyle/>
          <a:p>
            <a:r>
              <a:rPr lang="en-US" dirty="0">
                <a:solidFill>
                  <a:srgbClr val="C00000"/>
                </a:solidFill>
              </a:rPr>
              <a:t>What if Olympus </a:t>
            </a:r>
          </a:p>
          <a:p>
            <a:r>
              <a:rPr lang="en-US" dirty="0">
                <a:solidFill>
                  <a:srgbClr val="C00000"/>
                </a:solidFill>
              </a:rPr>
              <a:t>launches at $520?</a:t>
            </a:r>
          </a:p>
        </p:txBody>
      </p:sp>
      <p:sp>
        <p:nvSpPr>
          <p:cNvPr id="26" name="Line 20"/>
          <p:cNvSpPr>
            <a:spLocks noChangeShapeType="1"/>
          </p:cNvSpPr>
          <p:nvPr/>
        </p:nvSpPr>
        <p:spPr bwMode="auto">
          <a:xfrm>
            <a:off x="1905000" y="3000375"/>
            <a:ext cx="5181600" cy="0"/>
          </a:xfrm>
          <a:prstGeom prst="line">
            <a:avLst/>
          </a:prstGeom>
          <a:noFill/>
          <a:ln w="12700">
            <a:solidFill>
              <a:srgbClr val="C00000"/>
            </a:solidFill>
            <a:prstDash val="dash"/>
            <a:round/>
            <a:headEnd/>
            <a:tailEnd/>
          </a:ln>
        </p:spPr>
        <p:txBody>
          <a:bodyPr wrap="none" lIns="90488" tIns="44450" rIns="90488" bIns="44450"/>
          <a:lstStyle/>
          <a:p>
            <a:endParaRPr lang="en-US"/>
          </a:p>
        </p:txBody>
      </p:sp>
      <p:sp>
        <p:nvSpPr>
          <p:cNvPr id="27" name="Text Box 21"/>
          <p:cNvSpPr txBox="1">
            <a:spLocks noChangeArrowheads="1"/>
          </p:cNvSpPr>
          <p:nvPr/>
        </p:nvSpPr>
        <p:spPr bwMode="auto">
          <a:xfrm>
            <a:off x="7086599" y="2884647"/>
            <a:ext cx="835229" cy="307777"/>
          </a:xfrm>
          <a:prstGeom prst="rect">
            <a:avLst/>
          </a:prstGeom>
          <a:noFill/>
          <a:ln w="12700">
            <a:solidFill>
              <a:srgbClr val="C00000"/>
            </a:solidFill>
            <a:miter lim="800000"/>
            <a:headEnd/>
            <a:tailEnd/>
          </a:ln>
        </p:spPr>
        <p:txBody>
          <a:bodyPr wrap="none">
            <a:spAutoFit/>
          </a:bodyPr>
          <a:lstStyle/>
          <a:p>
            <a:r>
              <a:rPr lang="en-US" sz="1400" b="1" dirty="0">
                <a:solidFill>
                  <a:srgbClr val="C00000"/>
                </a:solidFill>
              </a:rPr>
              <a:t>P = $520</a:t>
            </a:r>
            <a:endParaRPr lang="en-US" b="1" u="sng" dirty="0">
              <a:solidFill>
                <a:srgbClr val="C00000"/>
              </a:solidFill>
            </a:endParaRPr>
          </a:p>
        </p:txBody>
      </p:sp>
      <p:sp>
        <p:nvSpPr>
          <p:cNvPr id="11" name="Slide Number Placeholder 10"/>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22</a:t>
            </a:fld>
            <a:endParaRPr lang="en-US"/>
          </a:p>
        </p:txBody>
      </p:sp>
      <p:sp>
        <p:nvSpPr>
          <p:cNvPr id="19" name="TextBox 18"/>
          <p:cNvSpPr txBox="1"/>
          <p:nvPr/>
        </p:nvSpPr>
        <p:spPr>
          <a:xfrm>
            <a:off x="6648855" y="3892611"/>
            <a:ext cx="1545616" cy="323165"/>
          </a:xfrm>
          <a:prstGeom prst="rect">
            <a:avLst/>
          </a:prstGeom>
          <a:noFill/>
        </p:spPr>
        <p:txBody>
          <a:bodyPr wrap="none" rtlCol="0">
            <a:spAutoFit/>
          </a:bodyPr>
          <a:lstStyle/>
          <a:p>
            <a:r>
              <a:rPr lang="en-US" sz="1500" dirty="0"/>
              <a:t>Olympus demand</a:t>
            </a:r>
          </a:p>
        </p:txBody>
      </p:sp>
    </p:spTree>
    <p:extLst>
      <p:ext uri="{BB962C8B-B14F-4D97-AF65-F5344CB8AC3E}">
        <p14:creationId xmlns:p14="http://schemas.microsoft.com/office/powerpoint/2010/main" val="76546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animBg="1"/>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Grp="1" noChangeArrowheads="1"/>
          </p:cNvSpPr>
          <p:nvPr>
            <p:ph sz="quarter" idx="1"/>
          </p:nvPr>
        </p:nvSpPr>
        <p:spPr>
          <a:xfrm>
            <a:off x="612648" y="1600200"/>
            <a:ext cx="8153400" cy="4495800"/>
          </a:xfrm>
        </p:spPr>
        <p:txBody>
          <a:bodyPr>
            <a:normAutofit fontScale="92500" lnSpcReduction="20000"/>
          </a:bodyPr>
          <a:lstStyle/>
          <a:p>
            <a:pPr>
              <a:lnSpc>
                <a:spcPct val="90000"/>
              </a:lnSpc>
              <a:spcAft>
                <a:spcPts val="600"/>
              </a:spcAft>
              <a:defRPr/>
            </a:pPr>
            <a:r>
              <a:rPr lang="en-US" sz="2800" dirty="0"/>
              <a:t>First, determine Canon’s new reference product in each segment</a:t>
            </a:r>
          </a:p>
          <a:p>
            <a:pPr>
              <a:lnSpc>
                <a:spcPct val="90000"/>
              </a:lnSpc>
              <a:spcAft>
                <a:spcPts val="600"/>
              </a:spcAft>
              <a:defRPr/>
            </a:pPr>
            <a:r>
              <a:rPr lang="en-US" sz="2800" dirty="0"/>
              <a:t>Can just use the demand curves</a:t>
            </a:r>
          </a:p>
          <a:p>
            <a:pPr>
              <a:lnSpc>
                <a:spcPct val="90000"/>
              </a:lnSpc>
              <a:spcAft>
                <a:spcPts val="600"/>
              </a:spcAft>
              <a:defRPr/>
            </a:pPr>
            <a:r>
              <a:rPr lang="en-US" sz="2800" dirty="0"/>
              <a:t>OR …</a:t>
            </a:r>
          </a:p>
          <a:p>
            <a:pPr lvl="1">
              <a:lnSpc>
                <a:spcPct val="90000"/>
              </a:lnSpc>
              <a:defRPr/>
            </a:pPr>
            <a:r>
              <a:rPr lang="en-US" sz="2800" dirty="0">
                <a:latin typeface="+mj-lt"/>
              </a:rPr>
              <a:t>If Canon not offered, will the segment pick Sony or Olympus?</a:t>
            </a:r>
          </a:p>
          <a:p>
            <a:pPr lvl="2">
              <a:lnSpc>
                <a:spcPct val="90000"/>
              </a:lnSpc>
              <a:defRPr/>
            </a:pPr>
            <a:r>
              <a:rPr lang="en-US" dirty="0">
                <a:latin typeface="+mj-lt"/>
              </a:rPr>
              <a:t>Olympus-Sony Price: $520-$250=$270</a:t>
            </a:r>
          </a:p>
          <a:p>
            <a:pPr lvl="2">
              <a:lnSpc>
                <a:spcPct val="90000"/>
              </a:lnSpc>
              <a:defRPr/>
            </a:pPr>
            <a:r>
              <a:rPr lang="en-US" dirty="0">
                <a:latin typeface="+mj-lt"/>
              </a:rPr>
              <a:t>If the Diff. Value &gt; $270 then buy Olympus</a:t>
            </a:r>
          </a:p>
          <a:p>
            <a:pPr lvl="1">
              <a:lnSpc>
                <a:spcPct val="90000"/>
              </a:lnSpc>
              <a:defRPr/>
            </a:pPr>
            <a:r>
              <a:rPr lang="en-US" sz="2800" dirty="0">
                <a:latin typeface="+mj-lt"/>
              </a:rPr>
              <a:t>Diff. Value of Olympus vs. Sony</a:t>
            </a:r>
          </a:p>
          <a:p>
            <a:pPr lvl="2">
              <a:lnSpc>
                <a:spcPct val="90000"/>
              </a:lnSpc>
              <a:defRPr/>
            </a:pPr>
            <a:r>
              <a:rPr lang="en-US" dirty="0" err="1">
                <a:latin typeface="+mj-lt"/>
              </a:rPr>
              <a:t>Seg</a:t>
            </a:r>
            <a:r>
              <a:rPr lang="en-US" dirty="0">
                <a:latin typeface="+mj-lt"/>
              </a:rPr>
              <a:t>. A: +$320 &gt; $270 so buy Olympus</a:t>
            </a:r>
          </a:p>
          <a:p>
            <a:pPr lvl="2">
              <a:lnSpc>
                <a:spcPct val="90000"/>
              </a:lnSpc>
              <a:defRPr/>
            </a:pPr>
            <a:r>
              <a:rPr lang="en-US" dirty="0" err="1">
                <a:latin typeface="+mj-lt"/>
              </a:rPr>
              <a:t>Seg</a:t>
            </a:r>
            <a:r>
              <a:rPr lang="en-US" dirty="0">
                <a:latin typeface="+mj-lt"/>
              </a:rPr>
              <a:t>. B: +$76 &lt; $270 so buy Sony</a:t>
            </a:r>
          </a:p>
          <a:p>
            <a:pPr lvl="2">
              <a:lnSpc>
                <a:spcPct val="90000"/>
              </a:lnSpc>
              <a:defRPr/>
            </a:pPr>
            <a:r>
              <a:rPr lang="en-US" dirty="0" err="1">
                <a:latin typeface="+mj-lt"/>
              </a:rPr>
              <a:t>Seg</a:t>
            </a:r>
            <a:r>
              <a:rPr lang="en-US" dirty="0">
                <a:latin typeface="+mj-lt"/>
              </a:rPr>
              <a:t>. C: +$187 &lt; $270 so buy Sony</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23</a:t>
            </a:fld>
            <a:endParaRPr lang="en-US"/>
          </a:p>
        </p:txBody>
      </p:sp>
      <p:sp>
        <p:nvSpPr>
          <p:cNvPr id="6" name="Rectangle 2"/>
          <p:cNvSpPr>
            <a:spLocks noGrp="1" noChangeArrowheads="1"/>
          </p:cNvSpPr>
          <p:nvPr>
            <p:ph type="title"/>
          </p:nvPr>
        </p:nvSpPr>
        <p:spPr>
          <a:xfrm>
            <a:off x="612648" y="228600"/>
            <a:ext cx="8302752" cy="990600"/>
          </a:xfrm>
        </p:spPr>
        <p:txBody>
          <a:bodyPr>
            <a:normAutofit fontScale="90000"/>
          </a:bodyPr>
          <a:lstStyle/>
          <a:p>
            <a:r>
              <a:rPr lang="en-US" sz="4400" dirty="0"/>
              <a:t>Assessing </a:t>
            </a:r>
            <a:r>
              <a:rPr lang="en-US" sz="4400" b="1" dirty="0"/>
              <a:t>Canon’s</a:t>
            </a:r>
            <a:r>
              <a:rPr lang="en-US" sz="4400" dirty="0"/>
              <a:t> Competitive Reaction</a:t>
            </a:r>
            <a:br>
              <a:rPr lang="en-US" sz="4400" dirty="0"/>
            </a:br>
            <a:r>
              <a:rPr lang="en-US" sz="3600" dirty="0"/>
              <a:t>Strategy 2: Olympus at $520</a:t>
            </a:r>
          </a:p>
        </p:txBody>
      </p:sp>
      <p:sp>
        <p:nvSpPr>
          <p:cNvPr id="7" name="Rectangle 6"/>
          <p:cNvSpPr/>
          <p:nvPr/>
        </p:nvSpPr>
        <p:spPr>
          <a:xfrm>
            <a:off x="914400" y="2231265"/>
            <a:ext cx="4419600" cy="457200"/>
          </a:xfrm>
          <a:prstGeom prst="rect">
            <a:avLst/>
          </a:prstGeom>
          <a:solidFill>
            <a:srgbClr val="FFFF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ine 3"/>
          <p:cNvSpPr>
            <a:spLocks noChangeShapeType="1"/>
          </p:cNvSpPr>
          <p:nvPr/>
        </p:nvSpPr>
        <p:spPr bwMode="auto">
          <a:xfrm>
            <a:off x="1905000" y="5871865"/>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9" name="Line 4"/>
          <p:cNvSpPr>
            <a:spLocks noChangeShapeType="1"/>
          </p:cNvSpPr>
          <p:nvPr/>
        </p:nvSpPr>
        <p:spPr bwMode="auto">
          <a:xfrm flipV="1">
            <a:off x="1905000" y="2747665"/>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10" name="Text Box 6"/>
          <p:cNvSpPr txBox="1">
            <a:spLocks noChangeArrowheads="1"/>
          </p:cNvSpPr>
          <p:nvPr/>
        </p:nvSpPr>
        <p:spPr bwMode="auto">
          <a:xfrm>
            <a:off x="1066800" y="3128665"/>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$550</a:t>
            </a:r>
          </a:p>
        </p:txBody>
      </p:sp>
      <p:sp>
        <p:nvSpPr>
          <p:cNvPr id="11" name="Text Box 7"/>
          <p:cNvSpPr txBox="1">
            <a:spLocks noChangeArrowheads="1"/>
          </p:cNvSpPr>
          <p:nvPr/>
        </p:nvSpPr>
        <p:spPr bwMode="auto">
          <a:xfrm>
            <a:off x="1041781" y="3860426"/>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$400</a:t>
            </a:r>
          </a:p>
        </p:txBody>
      </p:sp>
      <p:sp>
        <p:nvSpPr>
          <p:cNvPr id="12" name="Text Box 8"/>
          <p:cNvSpPr txBox="1">
            <a:spLocks noChangeArrowheads="1"/>
          </p:cNvSpPr>
          <p:nvPr/>
        </p:nvSpPr>
        <p:spPr bwMode="auto">
          <a:xfrm>
            <a:off x="1066800" y="4347865"/>
            <a:ext cx="685800" cy="335989"/>
          </a:xfrm>
          <a:prstGeom prst="rect">
            <a:avLst/>
          </a:prstGeom>
          <a:noFill/>
          <a:ln w="12700">
            <a:noFill/>
            <a:miter lim="800000"/>
            <a:headEnd/>
            <a:tailEnd/>
          </a:ln>
        </p:spPr>
        <p:txBody>
          <a:bodyPr lIns="90488" tIns="44450" rIns="90488" bIns="44450">
            <a:spAutoFit/>
          </a:bodyPr>
          <a:lstStyle/>
          <a:p>
            <a:pPr>
              <a:spcBef>
                <a:spcPct val="50000"/>
              </a:spcBef>
            </a:pPr>
            <a:r>
              <a:rPr lang="en-US" sz="1600" dirty="0"/>
              <a:t>$326</a:t>
            </a:r>
          </a:p>
        </p:txBody>
      </p:sp>
      <p:sp>
        <p:nvSpPr>
          <p:cNvPr id="13" name="Text Box 9"/>
          <p:cNvSpPr txBox="1">
            <a:spLocks noChangeArrowheads="1"/>
          </p:cNvSpPr>
          <p:nvPr/>
        </p:nvSpPr>
        <p:spPr bwMode="auto">
          <a:xfrm>
            <a:off x="4144168" y="6103513"/>
            <a:ext cx="1016625" cy="523220"/>
          </a:xfrm>
          <a:prstGeom prst="rect">
            <a:avLst/>
          </a:prstGeom>
          <a:noFill/>
          <a:ln w="12700">
            <a:noFill/>
            <a:miter lim="800000"/>
            <a:headEnd/>
            <a:tailEnd/>
          </a:ln>
        </p:spPr>
        <p:txBody>
          <a:bodyPr wrap="none">
            <a:spAutoFit/>
          </a:bodyPr>
          <a:lstStyle/>
          <a:p>
            <a:r>
              <a:rPr lang="en-US" sz="1400" b="1" dirty="0"/>
              <a:t>Segment C</a:t>
            </a:r>
          </a:p>
          <a:p>
            <a:pPr algn="ctr"/>
            <a:r>
              <a:rPr lang="en-US" sz="1400" b="1" dirty="0"/>
              <a:t>(40%)</a:t>
            </a:r>
            <a:endParaRPr lang="en-US" b="1" dirty="0"/>
          </a:p>
        </p:txBody>
      </p:sp>
      <p:sp>
        <p:nvSpPr>
          <p:cNvPr id="14" name="Text Box 10"/>
          <p:cNvSpPr txBox="1">
            <a:spLocks noChangeArrowheads="1"/>
          </p:cNvSpPr>
          <p:nvPr/>
        </p:nvSpPr>
        <p:spPr bwMode="auto">
          <a:xfrm>
            <a:off x="5641848" y="6103513"/>
            <a:ext cx="1007007" cy="523220"/>
          </a:xfrm>
          <a:prstGeom prst="rect">
            <a:avLst/>
          </a:prstGeom>
          <a:noFill/>
          <a:ln w="12700">
            <a:noFill/>
            <a:miter lim="800000"/>
            <a:headEnd/>
            <a:tailEnd/>
          </a:ln>
        </p:spPr>
        <p:txBody>
          <a:bodyPr wrap="none">
            <a:spAutoFit/>
          </a:bodyPr>
          <a:lstStyle/>
          <a:p>
            <a:r>
              <a:rPr lang="en-US" sz="1400" b="1" dirty="0"/>
              <a:t>Segment B</a:t>
            </a:r>
          </a:p>
          <a:p>
            <a:pPr algn="ctr"/>
            <a:r>
              <a:rPr lang="en-US" sz="1400" b="1" dirty="0"/>
              <a:t>(20%)</a:t>
            </a:r>
            <a:endParaRPr lang="en-US" b="1" dirty="0"/>
          </a:p>
        </p:txBody>
      </p:sp>
      <p:sp>
        <p:nvSpPr>
          <p:cNvPr id="15" name="Text Box 11"/>
          <p:cNvSpPr txBox="1">
            <a:spLocks noChangeArrowheads="1"/>
          </p:cNvSpPr>
          <p:nvPr/>
        </p:nvSpPr>
        <p:spPr bwMode="auto">
          <a:xfrm>
            <a:off x="2209800" y="6100465"/>
            <a:ext cx="1008063" cy="523220"/>
          </a:xfrm>
          <a:prstGeom prst="rect">
            <a:avLst/>
          </a:prstGeom>
          <a:noFill/>
          <a:ln w="12700">
            <a:noFill/>
            <a:miter lim="800000"/>
            <a:headEnd/>
            <a:tailEnd/>
          </a:ln>
        </p:spPr>
        <p:txBody>
          <a:bodyPr>
            <a:spAutoFit/>
          </a:bodyPr>
          <a:lstStyle/>
          <a:p>
            <a:r>
              <a:rPr lang="en-US" sz="1400" b="1" dirty="0"/>
              <a:t>Segment A</a:t>
            </a:r>
          </a:p>
          <a:p>
            <a:pPr algn="ctr"/>
            <a:r>
              <a:rPr lang="en-US" sz="1400" b="1" dirty="0"/>
              <a:t>(40%)</a:t>
            </a:r>
            <a:endParaRPr lang="en-US" b="1" dirty="0"/>
          </a:p>
        </p:txBody>
      </p:sp>
      <p:cxnSp>
        <p:nvCxnSpPr>
          <p:cNvPr id="16" name="Straight Connector 15"/>
          <p:cNvCxnSpPr/>
          <p:nvPr/>
        </p:nvCxnSpPr>
        <p:spPr>
          <a:xfrm>
            <a:off x="1905000" y="3281065"/>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733800" y="4051284"/>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562600" y="4530277"/>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733800" y="3281065"/>
            <a:ext cx="0" cy="746048"/>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549660" y="4051284"/>
            <a:ext cx="0" cy="478993"/>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50551" y="4117032"/>
            <a:ext cx="816249" cy="461665"/>
          </a:xfrm>
          <a:prstGeom prst="rect">
            <a:avLst/>
          </a:prstGeom>
          <a:noFill/>
        </p:spPr>
        <p:txBody>
          <a:bodyPr wrap="none" rtlCol="0">
            <a:spAutoFit/>
          </a:bodyPr>
          <a:lstStyle/>
          <a:p>
            <a:r>
              <a:rPr lang="en-US" dirty="0"/>
              <a:t>Price</a:t>
            </a:r>
          </a:p>
        </p:txBody>
      </p:sp>
      <p:sp>
        <p:nvSpPr>
          <p:cNvPr id="22" name="TextBox 21"/>
          <p:cNvSpPr txBox="1"/>
          <p:nvPr/>
        </p:nvSpPr>
        <p:spPr>
          <a:xfrm>
            <a:off x="7620000" y="5903458"/>
            <a:ext cx="1260281" cy="461665"/>
          </a:xfrm>
          <a:prstGeom prst="rect">
            <a:avLst/>
          </a:prstGeom>
          <a:noFill/>
        </p:spPr>
        <p:txBody>
          <a:bodyPr wrap="none" rtlCol="0">
            <a:spAutoFit/>
          </a:bodyPr>
          <a:lstStyle/>
          <a:p>
            <a:r>
              <a:rPr lang="en-US" dirty="0"/>
              <a:t>Quantity</a:t>
            </a:r>
          </a:p>
        </p:txBody>
      </p:sp>
      <p:sp>
        <p:nvSpPr>
          <p:cNvPr id="24" name="Line 20"/>
          <p:cNvSpPr>
            <a:spLocks noChangeShapeType="1"/>
          </p:cNvSpPr>
          <p:nvPr/>
        </p:nvSpPr>
        <p:spPr bwMode="auto">
          <a:xfrm>
            <a:off x="1905000" y="3462040"/>
            <a:ext cx="5181600" cy="0"/>
          </a:xfrm>
          <a:prstGeom prst="line">
            <a:avLst/>
          </a:prstGeom>
          <a:noFill/>
          <a:ln w="12700">
            <a:solidFill>
              <a:srgbClr val="C00000"/>
            </a:solidFill>
            <a:prstDash val="dash"/>
            <a:round/>
            <a:headEnd/>
            <a:tailEnd/>
          </a:ln>
        </p:spPr>
        <p:txBody>
          <a:bodyPr wrap="none" lIns="90488" tIns="44450" rIns="90488" bIns="44450"/>
          <a:lstStyle/>
          <a:p>
            <a:endParaRPr lang="en-US"/>
          </a:p>
        </p:txBody>
      </p:sp>
      <p:sp>
        <p:nvSpPr>
          <p:cNvPr id="25" name="Text Box 21"/>
          <p:cNvSpPr txBox="1">
            <a:spLocks noChangeArrowheads="1"/>
          </p:cNvSpPr>
          <p:nvPr/>
        </p:nvSpPr>
        <p:spPr bwMode="auto">
          <a:xfrm>
            <a:off x="7086599" y="3346312"/>
            <a:ext cx="835229" cy="307777"/>
          </a:xfrm>
          <a:prstGeom prst="rect">
            <a:avLst/>
          </a:prstGeom>
          <a:noFill/>
          <a:ln w="12700">
            <a:solidFill>
              <a:srgbClr val="C00000"/>
            </a:solidFill>
            <a:miter lim="800000"/>
            <a:headEnd/>
            <a:tailEnd/>
          </a:ln>
        </p:spPr>
        <p:txBody>
          <a:bodyPr wrap="none">
            <a:spAutoFit/>
          </a:bodyPr>
          <a:lstStyle/>
          <a:p>
            <a:r>
              <a:rPr lang="en-US" sz="1400" b="1" dirty="0">
                <a:solidFill>
                  <a:srgbClr val="C00000"/>
                </a:solidFill>
              </a:rPr>
              <a:t>P = $520</a:t>
            </a:r>
            <a:endParaRPr lang="en-US" b="1" u="sng" dirty="0">
              <a:solidFill>
                <a:srgbClr val="C00000"/>
              </a:solidFill>
            </a:endParaRPr>
          </a:p>
        </p:txBody>
      </p:sp>
      <p:sp>
        <p:nvSpPr>
          <p:cNvPr id="26" name="Text Box 18"/>
          <p:cNvSpPr txBox="1">
            <a:spLocks noChangeArrowheads="1"/>
          </p:cNvSpPr>
          <p:nvPr/>
        </p:nvSpPr>
        <p:spPr bwMode="auto">
          <a:xfrm>
            <a:off x="6603863" y="4249864"/>
            <a:ext cx="1574470" cy="307777"/>
          </a:xfrm>
          <a:prstGeom prst="rect">
            <a:avLst/>
          </a:prstGeom>
          <a:noFill/>
          <a:ln w="12700">
            <a:noFill/>
            <a:miter lim="800000"/>
            <a:headEnd/>
            <a:tailEnd/>
          </a:ln>
        </p:spPr>
        <p:txBody>
          <a:bodyPr wrap="none">
            <a:spAutoFit/>
          </a:bodyPr>
          <a:lstStyle/>
          <a:p>
            <a:r>
              <a:rPr lang="en-US" sz="1400" b="1" dirty="0"/>
              <a:t>Olympus Demand</a:t>
            </a:r>
          </a:p>
        </p:txBody>
      </p:sp>
    </p:spTree>
    <p:extLst>
      <p:ext uri="{BB962C8B-B14F-4D97-AF65-F5344CB8AC3E}">
        <p14:creationId xmlns:p14="http://schemas.microsoft.com/office/powerpoint/2010/main" val="420512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2" grpId="0"/>
      <p:bldP spid="13" grpId="0"/>
      <p:bldP spid="14" grpId="0"/>
      <p:bldP spid="15" grpId="0"/>
      <p:bldP spid="21" grpId="0"/>
      <p:bldP spid="22" grpId="0"/>
      <p:bldP spid="24" grpId="0" animBg="1"/>
      <p:bldP spid="25" grpId="0" animBg="1"/>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p:txBody>
          <a:bodyPr/>
          <a:lstStyle/>
          <a:p>
            <a:r>
              <a:rPr lang="da-DK" sz="4000" dirty="0"/>
              <a:t>Canon Base Demand</a:t>
            </a:r>
            <a:br>
              <a:rPr lang="da-DK" sz="4000" dirty="0"/>
            </a:br>
            <a:r>
              <a:rPr lang="da-DK" sz="2800" dirty="0"/>
              <a:t>Olympus 12.2MP DSLR at $520, Sony Base at $250</a:t>
            </a:r>
            <a:endParaRPr lang="en-US" sz="2000" dirty="0"/>
          </a:p>
        </p:txBody>
      </p:sp>
      <p:sp>
        <p:nvSpPr>
          <p:cNvPr id="6" name="Text Box 5"/>
          <p:cNvSpPr txBox="1">
            <a:spLocks noChangeArrowheads="1"/>
          </p:cNvSpPr>
          <p:nvPr/>
        </p:nvSpPr>
        <p:spPr bwMode="auto">
          <a:xfrm>
            <a:off x="2667000" y="5458107"/>
            <a:ext cx="3922806" cy="1320874"/>
          </a:xfrm>
          <a:prstGeom prst="rect">
            <a:avLst/>
          </a:prstGeom>
          <a:noFill/>
          <a:ln w="12700">
            <a:noFill/>
            <a:miter lim="800000"/>
            <a:headEnd/>
            <a:tailEnd/>
          </a:ln>
        </p:spPr>
        <p:txBody>
          <a:bodyPr wrap="none" lIns="90488" tIns="44450" rIns="90488" bIns="44450">
            <a:spAutoFit/>
          </a:bodyPr>
          <a:lstStyle/>
          <a:p>
            <a:r>
              <a:rPr lang="en-US" sz="2000" dirty="0"/>
              <a:t>If Canon keeps price at $280</a:t>
            </a:r>
          </a:p>
          <a:p>
            <a:r>
              <a:rPr lang="en-US" sz="2000" dirty="0" err="1"/>
              <a:t>Seg</a:t>
            </a:r>
            <a:r>
              <a:rPr lang="en-US" sz="2000" dirty="0"/>
              <a:t>. A: buy Olympus ($250 &lt; $280)</a:t>
            </a:r>
          </a:p>
          <a:p>
            <a:r>
              <a:rPr lang="en-US" sz="2000" dirty="0" err="1"/>
              <a:t>Seg</a:t>
            </a:r>
            <a:r>
              <a:rPr lang="en-US" sz="2000" dirty="0"/>
              <a:t>. B: buy Sony ($210 &lt; $280)</a:t>
            </a:r>
          </a:p>
          <a:p>
            <a:r>
              <a:rPr lang="en-US" sz="2000" dirty="0" err="1"/>
              <a:t>Seg</a:t>
            </a:r>
            <a:r>
              <a:rPr lang="en-US" sz="2000" dirty="0"/>
              <a:t>. C: buy Canon ($317 &gt; $280)</a:t>
            </a:r>
          </a:p>
        </p:txBody>
      </p:sp>
      <p:sp>
        <p:nvSpPr>
          <p:cNvPr id="2" name="Slide Number Placeholder 1"/>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24</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401767618"/>
              </p:ext>
            </p:extLst>
          </p:nvPr>
        </p:nvGraphicFramePr>
        <p:xfrm>
          <a:off x="1846579" y="1600200"/>
          <a:ext cx="5679441" cy="3840480"/>
        </p:xfrm>
        <a:graphic>
          <a:graphicData uri="http://schemas.openxmlformats.org/drawingml/2006/table">
            <a:tbl>
              <a:tblPr firstRow="1" bandRow="1">
                <a:tableStyleId>{5C22544A-7EE6-4342-B048-85BDC9FD1C3A}</a:tableStyleId>
              </a:tblPr>
              <a:tblGrid>
                <a:gridCol w="1339491">
                  <a:extLst>
                    <a:ext uri="{9D8B030D-6E8A-4147-A177-3AD203B41FA5}">
                      <a16:colId xmlns:a16="http://schemas.microsoft.com/office/drawing/2014/main" val="3686849379"/>
                    </a:ext>
                  </a:extLst>
                </a:gridCol>
                <a:gridCol w="1446650">
                  <a:extLst>
                    <a:ext uri="{9D8B030D-6E8A-4147-A177-3AD203B41FA5}">
                      <a16:colId xmlns:a16="http://schemas.microsoft.com/office/drawing/2014/main" val="4233504509"/>
                    </a:ext>
                  </a:extLst>
                </a:gridCol>
                <a:gridCol w="1446650">
                  <a:extLst>
                    <a:ext uri="{9D8B030D-6E8A-4147-A177-3AD203B41FA5}">
                      <a16:colId xmlns:a16="http://schemas.microsoft.com/office/drawing/2014/main" val="107695191"/>
                    </a:ext>
                  </a:extLst>
                </a:gridCol>
                <a:gridCol w="1446650">
                  <a:extLst>
                    <a:ext uri="{9D8B030D-6E8A-4147-A177-3AD203B41FA5}">
                      <a16:colId xmlns:a16="http://schemas.microsoft.com/office/drawing/2014/main" val="3207602153"/>
                    </a:ext>
                  </a:extLst>
                </a:gridCol>
              </a:tblGrid>
              <a:tr h="182880">
                <a:tc gridSpan="4">
                  <a:txBody>
                    <a:bodyPr/>
                    <a:lstStyle/>
                    <a:p>
                      <a:r>
                        <a:rPr lang="en-US" dirty="0">
                          <a:solidFill>
                            <a:schemeClr val="tx1"/>
                          </a:solidFill>
                        </a:rPr>
                        <a:t>Put yourselves</a:t>
                      </a:r>
                      <a:r>
                        <a:rPr lang="en-US" baseline="0" dirty="0">
                          <a:solidFill>
                            <a:schemeClr val="tx1"/>
                          </a:solidFill>
                        </a:rPr>
                        <a:t> in shoes of Canon selling its base model</a:t>
                      </a:r>
                      <a:endParaRPr lang="en-US" dirty="0">
                        <a:solidFill>
                          <a:schemeClr val="tx1"/>
                        </a:solidFill>
                      </a:endParaRP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323413666"/>
                  </a:ext>
                </a:extLst>
              </a:tr>
              <a:tr h="182880">
                <a:tc gridSpan="4">
                  <a:txBody>
                    <a:bodyPr/>
                    <a:lstStyle/>
                    <a:p>
                      <a:endParaRPr lang="en-US" sz="100" dirty="0"/>
                    </a:p>
                  </a:txBody>
                  <a:tcPr>
                    <a:solidFill>
                      <a:schemeClr val="bg1"/>
                    </a:solidFill>
                  </a:tcPr>
                </a:tc>
                <a:tc hMerge="1">
                  <a:txBody>
                    <a:bodyPr/>
                    <a:lstStyle/>
                    <a:p>
                      <a:endParaRPr lang="en-US" dirty="0"/>
                    </a:p>
                  </a:txBody>
                  <a:tcPr>
                    <a:solidFill>
                      <a:schemeClr val="bg1"/>
                    </a:solidFill>
                  </a:tcPr>
                </a:tc>
                <a:tc hMerge="1">
                  <a:txBody>
                    <a:bodyPr/>
                    <a:lstStyle/>
                    <a:p>
                      <a:endParaRPr lang="en-US" sz="300" dirty="0"/>
                    </a:p>
                  </a:txBody>
                  <a:tcPr>
                    <a:solidFill>
                      <a:schemeClr val="bg1"/>
                    </a:solidFill>
                  </a:tcPr>
                </a:tc>
                <a:tc hMerge="1">
                  <a:txBody>
                    <a:bodyPr/>
                    <a:lstStyle/>
                    <a:p>
                      <a:endParaRPr lang="en-US" dirty="0"/>
                    </a:p>
                  </a:txBody>
                  <a:tcPr>
                    <a:solidFill>
                      <a:schemeClr val="bg1"/>
                    </a:solidFill>
                  </a:tcPr>
                </a:tc>
                <a:extLst>
                  <a:ext uri="{0D108BD9-81ED-4DB2-BD59-A6C34878D82A}">
                    <a16:rowId xmlns:a16="http://schemas.microsoft.com/office/drawing/2014/main" val="1511773006"/>
                  </a:ext>
                </a:extLst>
              </a:tr>
              <a:tr h="182880">
                <a:tc>
                  <a:txBody>
                    <a:bodyPr/>
                    <a:lstStyle/>
                    <a:p>
                      <a:endParaRPr lang="en-US" dirty="0"/>
                    </a:p>
                  </a:txBody>
                  <a:tcPr>
                    <a:solidFill>
                      <a:schemeClr val="bg2">
                        <a:lumMod val="50000"/>
                      </a:schemeClr>
                    </a:solidFill>
                  </a:tcPr>
                </a:tc>
                <a:tc>
                  <a:txBody>
                    <a:bodyPr/>
                    <a:lstStyle/>
                    <a:p>
                      <a:pPr algn="ctr"/>
                      <a:r>
                        <a:rPr lang="en-US" dirty="0"/>
                        <a:t>Segment A</a:t>
                      </a:r>
                    </a:p>
                  </a:txBody>
                  <a:tcPr anchor="ctr">
                    <a:solidFill>
                      <a:schemeClr val="bg2">
                        <a:lumMod val="50000"/>
                      </a:schemeClr>
                    </a:solidFill>
                  </a:tcPr>
                </a:tc>
                <a:tc>
                  <a:txBody>
                    <a:bodyPr/>
                    <a:lstStyle/>
                    <a:p>
                      <a:pPr algn="ctr"/>
                      <a:r>
                        <a:rPr lang="en-US" dirty="0"/>
                        <a:t>Segment B</a:t>
                      </a:r>
                    </a:p>
                  </a:txBody>
                  <a:tcPr anchor="ctr">
                    <a:solidFill>
                      <a:schemeClr val="bg2">
                        <a:lumMod val="50000"/>
                      </a:schemeClr>
                    </a:solidFill>
                  </a:tcPr>
                </a:tc>
                <a:tc>
                  <a:txBody>
                    <a:bodyPr/>
                    <a:lstStyle/>
                    <a:p>
                      <a:pPr algn="ctr"/>
                      <a:r>
                        <a:rPr lang="en-US" dirty="0"/>
                        <a:t>Segment</a:t>
                      </a:r>
                      <a:r>
                        <a:rPr lang="en-US" baseline="0" dirty="0"/>
                        <a:t> C</a:t>
                      </a:r>
                      <a:endParaRPr lang="en-US" dirty="0"/>
                    </a:p>
                  </a:txBody>
                  <a:tcPr anchor="ctr">
                    <a:solidFill>
                      <a:schemeClr val="bg2">
                        <a:lumMod val="50000"/>
                      </a:schemeClr>
                    </a:solidFill>
                  </a:tcPr>
                </a:tc>
                <a:extLst>
                  <a:ext uri="{0D108BD9-81ED-4DB2-BD59-A6C34878D82A}">
                    <a16:rowId xmlns:a16="http://schemas.microsoft.com/office/drawing/2014/main" val="2011733741"/>
                  </a:ext>
                </a:extLst>
              </a:tr>
              <a:tr h="182880">
                <a:tc>
                  <a:txBody>
                    <a:bodyPr/>
                    <a:lstStyle/>
                    <a:p>
                      <a:r>
                        <a:rPr lang="en-US" dirty="0"/>
                        <a:t>Ref Brand</a:t>
                      </a:r>
                    </a:p>
                  </a:txBody>
                  <a:tcPr anchor="ctr">
                    <a:solidFill>
                      <a:schemeClr val="accent1">
                        <a:lumMod val="20000"/>
                        <a:lumOff val="80000"/>
                      </a:schemeClr>
                    </a:solidFill>
                  </a:tcPr>
                </a:tc>
                <a:tc>
                  <a:txBody>
                    <a:bodyPr/>
                    <a:lstStyle/>
                    <a:p>
                      <a:pPr algn="ctr"/>
                      <a:r>
                        <a:rPr lang="en-US" dirty="0"/>
                        <a:t>Olympus</a:t>
                      </a:r>
                    </a:p>
                  </a:txBody>
                  <a:tcPr anchor="ctr">
                    <a:solidFill>
                      <a:schemeClr val="accent1">
                        <a:lumMod val="20000"/>
                        <a:lumOff val="80000"/>
                      </a:schemeClr>
                    </a:solidFill>
                  </a:tcPr>
                </a:tc>
                <a:tc>
                  <a:txBody>
                    <a:bodyPr/>
                    <a:lstStyle/>
                    <a:p>
                      <a:pPr algn="ctr"/>
                      <a:r>
                        <a:rPr lang="en-US" dirty="0"/>
                        <a:t>Sony</a:t>
                      </a:r>
                    </a:p>
                  </a:txBody>
                  <a:tcPr anchor="ctr">
                    <a:solidFill>
                      <a:schemeClr val="accent1">
                        <a:lumMod val="20000"/>
                        <a:lumOff val="80000"/>
                      </a:schemeClr>
                    </a:solidFill>
                  </a:tcPr>
                </a:tc>
                <a:tc>
                  <a:txBody>
                    <a:bodyPr/>
                    <a:lstStyle/>
                    <a:p>
                      <a:pPr algn="ctr"/>
                      <a:r>
                        <a:rPr lang="en-US" dirty="0"/>
                        <a:t>Sony</a:t>
                      </a:r>
                    </a:p>
                  </a:txBody>
                  <a:tcPr anchor="ctr">
                    <a:solidFill>
                      <a:schemeClr val="accent1">
                        <a:lumMod val="20000"/>
                        <a:lumOff val="80000"/>
                      </a:schemeClr>
                    </a:solidFill>
                  </a:tcPr>
                </a:tc>
                <a:extLst>
                  <a:ext uri="{0D108BD9-81ED-4DB2-BD59-A6C34878D82A}">
                    <a16:rowId xmlns:a16="http://schemas.microsoft.com/office/drawing/2014/main" val="295555190"/>
                  </a:ext>
                </a:extLst>
              </a:tr>
              <a:tr h="182880">
                <a:tc>
                  <a:txBody>
                    <a:bodyPr/>
                    <a:lstStyle/>
                    <a:p>
                      <a:r>
                        <a:rPr lang="en-US"/>
                        <a:t>Ref Value</a:t>
                      </a:r>
                      <a:endParaRPr lang="en-US" dirty="0"/>
                    </a:p>
                  </a:txBody>
                  <a:tcPr anchor="ctr">
                    <a:solidFill>
                      <a:schemeClr val="accent1">
                        <a:lumMod val="20000"/>
                        <a:lumOff val="80000"/>
                      </a:schemeClr>
                    </a:solidFill>
                  </a:tcPr>
                </a:tc>
                <a:tc>
                  <a:txBody>
                    <a:bodyPr/>
                    <a:lstStyle/>
                    <a:p>
                      <a:pPr algn="r"/>
                      <a:r>
                        <a:rPr lang="en-US" dirty="0"/>
                        <a:t>$  520</a:t>
                      </a:r>
                    </a:p>
                  </a:txBody>
                  <a:tcP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$ 250</a:t>
                      </a:r>
                    </a:p>
                  </a:txBody>
                  <a:tcPr>
                    <a:solidFill>
                      <a:schemeClr val="accent1">
                        <a:lumMod val="20000"/>
                        <a:lumOff val="8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  250</a:t>
                      </a:r>
                    </a:p>
                  </a:txBody>
                  <a:tcPr>
                    <a:solidFill>
                      <a:schemeClr val="accent1">
                        <a:lumMod val="20000"/>
                        <a:lumOff val="80000"/>
                      </a:schemeClr>
                    </a:solidFill>
                  </a:tcPr>
                </a:tc>
                <a:extLst>
                  <a:ext uri="{0D108BD9-81ED-4DB2-BD59-A6C34878D82A}">
                    <a16:rowId xmlns:a16="http://schemas.microsoft.com/office/drawing/2014/main" val="1431510000"/>
                  </a:ext>
                </a:extLst>
              </a:tr>
              <a:tr h="182880">
                <a:tc>
                  <a:txBody>
                    <a:bodyPr/>
                    <a:lstStyle/>
                    <a:p>
                      <a:endParaRPr lang="en-US" sz="100" dirty="0"/>
                    </a:p>
                  </a:txBody>
                  <a:tcPr anchor="ctr">
                    <a:solidFill>
                      <a:schemeClr val="bg1"/>
                    </a:solidFill>
                  </a:tcPr>
                </a:tc>
                <a:tc>
                  <a:txBody>
                    <a:bodyPr/>
                    <a:lstStyle/>
                    <a:p>
                      <a:endParaRPr lang="en-US" sz="100" dirty="0"/>
                    </a:p>
                  </a:txBody>
                  <a:tcPr>
                    <a:solidFill>
                      <a:schemeClr val="bg1"/>
                    </a:solidFill>
                  </a:tcPr>
                </a:tc>
                <a:tc>
                  <a:txBody>
                    <a:bodyPr/>
                    <a:lstStyle/>
                    <a:p>
                      <a:endParaRPr lang="en-US" sz="100" dirty="0"/>
                    </a:p>
                  </a:txBody>
                  <a:tcPr>
                    <a:solidFill>
                      <a:schemeClr val="bg1"/>
                    </a:solidFill>
                  </a:tcPr>
                </a:tc>
                <a:tc>
                  <a:txBody>
                    <a:bodyPr/>
                    <a:lstStyle/>
                    <a:p>
                      <a:endParaRPr lang="en-US" sz="100" dirty="0"/>
                    </a:p>
                  </a:txBody>
                  <a:tcPr>
                    <a:solidFill>
                      <a:schemeClr val="bg1"/>
                    </a:solidFill>
                  </a:tcPr>
                </a:tc>
                <a:extLst>
                  <a:ext uri="{0D108BD9-81ED-4DB2-BD59-A6C34878D82A}">
                    <a16:rowId xmlns:a16="http://schemas.microsoft.com/office/drawing/2014/main" val="883635369"/>
                  </a:ext>
                </a:extLst>
              </a:tr>
              <a:tr h="182880">
                <a:tc>
                  <a:txBody>
                    <a:bodyPr/>
                    <a:lstStyle/>
                    <a:p>
                      <a:r>
                        <a:rPr lang="en-US" dirty="0"/>
                        <a:t>Diff Value</a:t>
                      </a:r>
                    </a:p>
                  </a:txBody>
                  <a:tcPr anchor="ct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tc>
                  <a:txBody>
                    <a:bodyPr/>
                    <a:lstStyle/>
                    <a:p>
                      <a:endParaRPr lang="en-US" dirty="0"/>
                    </a:p>
                  </a:txBody>
                  <a:tcPr>
                    <a:solidFill>
                      <a:schemeClr val="accent1">
                        <a:lumMod val="40000"/>
                        <a:lumOff val="60000"/>
                      </a:schemeClr>
                    </a:solidFill>
                  </a:tcPr>
                </a:tc>
                <a:extLst>
                  <a:ext uri="{0D108BD9-81ED-4DB2-BD59-A6C34878D82A}">
                    <a16:rowId xmlns:a16="http://schemas.microsoft.com/office/drawing/2014/main" val="452319697"/>
                  </a:ext>
                </a:extLst>
              </a:tr>
              <a:tr h="182880">
                <a:tc>
                  <a:txBody>
                    <a:bodyPr/>
                    <a:lstStyle/>
                    <a:p>
                      <a:r>
                        <a:rPr lang="en-US" dirty="0"/>
                        <a:t>Meg</a:t>
                      </a:r>
                    </a:p>
                  </a:txBody>
                  <a:tcPr anchor="ctr">
                    <a:solidFill>
                      <a:schemeClr val="accent1">
                        <a:lumMod val="40000"/>
                        <a:lumOff val="60000"/>
                      </a:schemeClr>
                    </a:solidFill>
                  </a:tcPr>
                </a:tc>
                <a:tc>
                  <a:txBody>
                    <a:bodyPr/>
                    <a:lstStyle/>
                    <a:p>
                      <a:pPr algn="r"/>
                      <a:r>
                        <a:rPr lang="en-US" dirty="0"/>
                        <a:t>$(120)</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extLst>
                  <a:ext uri="{0D108BD9-81ED-4DB2-BD59-A6C34878D82A}">
                    <a16:rowId xmlns:a16="http://schemas.microsoft.com/office/drawing/2014/main" val="428803167"/>
                  </a:ext>
                </a:extLst>
              </a:tr>
              <a:tr h="182880">
                <a:tc>
                  <a:txBody>
                    <a:bodyPr/>
                    <a:lstStyle/>
                    <a:p>
                      <a:r>
                        <a:rPr lang="en-US" dirty="0"/>
                        <a:t>Brand</a:t>
                      </a:r>
                    </a:p>
                  </a:txBody>
                  <a:tcPr anchor="ctr">
                    <a:solidFill>
                      <a:schemeClr val="accent1">
                        <a:lumMod val="40000"/>
                        <a:lumOff val="60000"/>
                      </a:schemeClr>
                    </a:solidFill>
                  </a:tcPr>
                </a:tc>
                <a:tc>
                  <a:txBody>
                    <a:bodyPr/>
                    <a:lstStyle/>
                    <a:p>
                      <a:pPr algn="r"/>
                      <a:r>
                        <a:rPr lang="en-US" dirty="0"/>
                        <a:t>$(100)</a:t>
                      </a:r>
                    </a:p>
                  </a:txBody>
                  <a:tcPr>
                    <a:solidFill>
                      <a:schemeClr val="accent1">
                        <a:lumMod val="40000"/>
                        <a:lumOff val="60000"/>
                      </a:schemeClr>
                    </a:solidFill>
                  </a:tcPr>
                </a:tc>
                <a:tc>
                  <a:txBody>
                    <a:bodyPr/>
                    <a:lstStyle/>
                    <a:p>
                      <a:pPr algn="r"/>
                      <a:r>
                        <a:rPr lang="en-US" dirty="0"/>
                        <a:t>$ (40)</a:t>
                      </a:r>
                    </a:p>
                  </a:txBody>
                  <a:tcPr>
                    <a:solidFill>
                      <a:schemeClr val="accent1">
                        <a:lumMod val="40000"/>
                        <a:lumOff val="60000"/>
                      </a:schemeClr>
                    </a:solidFill>
                  </a:tcPr>
                </a:tc>
                <a:tc>
                  <a:txBody>
                    <a:bodyPr/>
                    <a:lstStyle/>
                    <a:p>
                      <a:pPr algn="r"/>
                      <a:r>
                        <a:rPr lang="en-US" dirty="0"/>
                        <a:t>$  67</a:t>
                      </a:r>
                    </a:p>
                  </a:txBody>
                  <a:tcPr>
                    <a:solidFill>
                      <a:schemeClr val="accent1">
                        <a:lumMod val="40000"/>
                        <a:lumOff val="60000"/>
                      </a:schemeClr>
                    </a:solidFill>
                  </a:tcPr>
                </a:tc>
                <a:extLst>
                  <a:ext uri="{0D108BD9-81ED-4DB2-BD59-A6C34878D82A}">
                    <a16:rowId xmlns:a16="http://schemas.microsoft.com/office/drawing/2014/main" val="913181167"/>
                  </a:ext>
                </a:extLst>
              </a:tr>
              <a:tr h="182880">
                <a:tc>
                  <a:txBody>
                    <a:bodyPr/>
                    <a:lstStyle/>
                    <a:p>
                      <a:r>
                        <a:rPr lang="en-US" dirty="0"/>
                        <a:t>DSLR</a:t>
                      </a:r>
                    </a:p>
                  </a:txBody>
                  <a:tcPr anchor="ctr">
                    <a:solidFill>
                      <a:schemeClr val="accent1">
                        <a:lumMod val="40000"/>
                        <a:lumOff val="60000"/>
                      </a:schemeClr>
                    </a:solidFill>
                  </a:tcPr>
                </a:tc>
                <a:tc>
                  <a:txBody>
                    <a:bodyPr/>
                    <a:lstStyle/>
                    <a:p>
                      <a:pPr algn="r"/>
                      <a:r>
                        <a:rPr lang="en-US" dirty="0"/>
                        <a:t>$  (50)</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tc>
                  <a:txBody>
                    <a:bodyPr/>
                    <a:lstStyle/>
                    <a:p>
                      <a:pPr algn="r"/>
                      <a:r>
                        <a:rPr lang="en-US" dirty="0"/>
                        <a:t>-</a:t>
                      </a:r>
                    </a:p>
                  </a:txBody>
                  <a:tcPr>
                    <a:solidFill>
                      <a:schemeClr val="accent1">
                        <a:lumMod val="40000"/>
                        <a:lumOff val="60000"/>
                      </a:schemeClr>
                    </a:solidFill>
                  </a:tcPr>
                </a:tc>
                <a:extLst>
                  <a:ext uri="{0D108BD9-81ED-4DB2-BD59-A6C34878D82A}">
                    <a16:rowId xmlns:a16="http://schemas.microsoft.com/office/drawing/2014/main" val="1068180452"/>
                  </a:ext>
                </a:extLst>
              </a:tr>
              <a:tr h="182880">
                <a:tc>
                  <a:txBody>
                    <a:bodyPr/>
                    <a:lstStyle/>
                    <a:p>
                      <a:endParaRPr lang="en-US" sz="100" dirty="0"/>
                    </a:p>
                  </a:txBody>
                  <a:tcPr anchor="ctr">
                    <a:solidFill>
                      <a:schemeClr val="bg1"/>
                    </a:solidFill>
                  </a:tcPr>
                </a:tc>
                <a:tc>
                  <a:txBody>
                    <a:bodyPr/>
                    <a:lstStyle/>
                    <a:p>
                      <a:pPr algn="r"/>
                      <a:endParaRPr lang="en-US" sz="100" dirty="0"/>
                    </a:p>
                  </a:txBody>
                  <a:tcPr>
                    <a:solidFill>
                      <a:schemeClr val="bg1"/>
                    </a:solidFill>
                  </a:tcPr>
                </a:tc>
                <a:tc>
                  <a:txBody>
                    <a:bodyPr/>
                    <a:lstStyle/>
                    <a:p>
                      <a:pPr algn="r"/>
                      <a:endParaRPr lang="en-US" sz="100" dirty="0"/>
                    </a:p>
                  </a:txBody>
                  <a:tcPr>
                    <a:solidFill>
                      <a:schemeClr val="bg1"/>
                    </a:solidFill>
                  </a:tcPr>
                </a:tc>
                <a:tc>
                  <a:txBody>
                    <a:bodyPr/>
                    <a:lstStyle/>
                    <a:p>
                      <a:pPr algn="r"/>
                      <a:endParaRPr lang="en-US" sz="100" dirty="0"/>
                    </a:p>
                  </a:txBody>
                  <a:tcPr>
                    <a:solidFill>
                      <a:schemeClr val="bg1"/>
                    </a:solidFill>
                  </a:tcPr>
                </a:tc>
                <a:extLst>
                  <a:ext uri="{0D108BD9-81ED-4DB2-BD59-A6C34878D82A}">
                    <a16:rowId xmlns:a16="http://schemas.microsoft.com/office/drawing/2014/main" val="1588926462"/>
                  </a:ext>
                </a:extLst>
              </a:tr>
              <a:tr h="182880">
                <a:tc>
                  <a:txBody>
                    <a:bodyPr/>
                    <a:lstStyle/>
                    <a:p>
                      <a:r>
                        <a:rPr lang="en-US" dirty="0"/>
                        <a:t>EVC</a:t>
                      </a:r>
                    </a:p>
                  </a:txBody>
                  <a:tcPr anchor="ctr">
                    <a:solidFill>
                      <a:schemeClr val="accent1">
                        <a:lumMod val="75000"/>
                      </a:schemeClr>
                    </a:solidFill>
                  </a:tcPr>
                </a:tc>
                <a:tc>
                  <a:txBody>
                    <a:bodyPr/>
                    <a:lstStyle/>
                    <a:p>
                      <a:pPr algn="r"/>
                      <a:r>
                        <a:rPr lang="en-US" dirty="0"/>
                        <a:t>$  250</a:t>
                      </a:r>
                    </a:p>
                  </a:txBody>
                  <a:tcPr>
                    <a:solidFill>
                      <a:schemeClr val="accent1">
                        <a:lumMod val="75000"/>
                      </a:schemeClr>
                    </a:solidFill>
                  </a:tcPr>
                </a:tc>
                <a:tc>
                  <a:txBody>
                    <a:bodyPr/>
                    <a:lstStyle/>
                    <a:p>
                      <a:pPr algn="r"/>
                      <a:r>
                        <a:rPr lang="en-US" dirty="0"/>
                        <a:t>$ 210</a:t>
                      </a:r>
                    </a:p>
                  </a:txBody>
                  <a:tcPr>
                    <a:solidFill>
                      <a:schemeClr val="accent1">
                        <a:lumMod val="75000"/>
                      </a:schemeClr>
                    </a:solidFill>
                  </a:tcPr>
                </a:tc>
                <a:tc>
                  <a:txBody>
                    <a:bodyPr/>
                    <a:lstStyle/>
                    <a:p>
                      <a:pPr algn="r"/>
                      <a:r>
                        <a:rPr lang="en-US" dirty="0"/>
                        <a:t>$  317</a:t>
                      </a:r>
                    </a:p>
                  </a:txBody>
                  <a:tcPr>
                    <a:solidFill>
                      <a:schemeClr val="accent1">
                        <a:lumMod val="75000"/>
                      </a:schemeClr>
                    </a:solidFill>
                  </a:tcPr>
                </a:tc>
                <a:extLst>
                  <a:ext uri="{0D108BD9-81ED-4DB2-BD59-A6C34878D82A}">
                    <a16:rowId xmlns:a16="http://schemas.microsoft.com/office/drawing/2014/main" val="2615505647"/>
                  </a:ext>
                </a:extLst>
              </a:tr>
            </a:tbl>
          </a:graphicData>
        </a:graphic>
      </p:graphicFrame>
    </p:spTree>
    <p:extLst>
      <p:ext uri="{BB962C8B-B14F-4D97-AF65-F5344CB8AC3E}">
        <p14:creationId xmlns:p14="http://schemas.microsoft.com/office/powerpoint/2010/main" val="1286238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sz="4000" dirty="0"/>
              <a:t>Canon Demand</a:t>
            </a:r>
            <a:br>
              <a:rPr lang="en-US" sz="4000" dirty="0"/>
            </a:br>
            <a:r>
              <a:rPr lang="en-US" sz="3200" dirty="0"/>
              <a:t>EVC demand before and after Olympus ($520)</a:t>
            </a:r>
          </a:p>
        </p:txBody>
      </p:sp>
      <p:sp>
        <p:nvSpPr>
          <p:cNvPr id="26627" name="Line 3"/>
          <p:cNvSpPr>
            <a:spLocks noChangeShapeType="1"/>
          </p:cNvSpPr>
          <p:nvPr/>
        </p:nvSpPr>
        <p:spPr bwMode="auto">
          <a:xfrm>
            <a:off x="1905000" y="5410200"/>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26628" name="Line 4"/>
          <p:cNvSpPr>
            <a:spLocks noChangeShapeType="1"/>
          </p:cNvSpPr>
          <p:nvPr/>
        </p:nvSpPr>
        <p:spPr bwMode="auto">
          <a:xfrm flipV="1">
            <a:off x="1905000" y="2286000"/>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26630" name="Text Box 6"/>
          <p:cNvSpPr txBox="1">
            <a:spLocks noChangeArrowheads="1"/>
          </p:cNvSpPr>
          <p:nvPr/>
        </p:nvSpPr>
        <p:spPr bwMode="auto">
          <a:xfrm>
            <a:off x="1066800" y="26670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$317</a:t>
            </a:r>
          </a:p>
        </p:txBody>
      </p:sp>
      <p:sp>
        <p:nvSpPr>
          <p:cNvPr id="26631" name="Text Box 7"/>
          <p:cNvSpPr txBox="1">
            <a:spLocks noChangeArrowheads="1"/>
          </p:cNvSpPr>
          <p:nvPr/>
        </p:nvSpPr>
        <p:spPr bwMode="auto">
          <a:xfrm>
            <a:off x="1066800" y="28956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dirty="0"/>
              <a:t>$300</a:t>
            </a:r>
          </a:p>
        </p:txBody>
      </p:sp>
      <p:sp>
        <p:nvSpPr>
          <p:cNvPr id="26632" name="Text Box 8"/>
          <p:cNvSpPr txBox="1">
            <a:spLocks noChangeArrowheads="1"/>
          </p:cNvSpPr>
          <p:nvPr/>
        </p:nvSpPr>
        <p:spPr bwMode="auto">
          <a:xfrm>
            <a:off x="1066800" y="38862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$210</a:t>
            </a:r>
          </a:p>
        </p:txBody>
      </p:sp>
      <p:sp>
        <p:nvSpPr>
          <p:cNvPr id="26637" name="Text Box 13"/>
          <p:cNvSpPr txBox="1">
            <a:spLocks noChangeArrowheads="1"/>
          </p:cNvSpPr>
          <p:nvPr/>
        </p:nvSpPr>
        <p:spPr bwMode="auto">
          <a:xfrm>
            <a:off x="1066800" y="3657600"/>
            <a:ext cx="685800" cy="333375"/>
          </a:xfrm>
          <a:prstGeom prst="rect">
            <a:avLst/>
          </a:prstGeom>
          <a:noFill/>
          <a:ln w="12700">
            <a:noFill/>
            <a:miter lim="800000"/>
            <a:headEnd/>
            <a:tailEnd/>
          </a:ln>
        </p:spPr>
        <p:txBody>
          <a:bodyPr lIns="90488" tIns="44450" rIns="90488" bIns="44450">
            <a:spAutoFit/>
          </a:bodyPr>
          <a:lstStyle/>
          <a:p>
            <a:pPr>
              <a:spcBef>
                <a:spcPct val="50000"/>
              </a:spcBef>
            </a:pPr>
            <a:r>
              <a:rPr lang="en-US" sz="1600"/>
              <a:t>$250</a:t>
            </a:r>
          </a:p>
        </p:txBody>
      </p:sp>
      <p:sp>
        <p:nvSpPr>
          <p:cNvPr id="44" name="Line 3"/>
          <p:cNvSpPr>
            <a:spLocks noChangeShapeType="1"/>
          </p:cNvSpPr>
          <p:nvPr/>
        </p:nvSpPr>
        <p:spPr bwMode="auto">
          <a:xfrm>
            <a:off x="1905000" y="5410200"/>
            <a:ext cx="5562600" cy="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45" name="Line 4"/>
          <p:cNvSpPr>
            <a:spLocks noChangeShapeType="1"/>
          </p:cNvSpPr>
          <p:nvPr/>
        </p:nvSpPr>
        <p:spPr bwMode="auto">
          <a:xfrm flipV="1">
            <a:off x="1905000" y="2286000"/>
            <a:ext cx="0" cy="3124200"/>
          </a:xfrm>
          <a:prstGeom prst="line">
            <a:avLst/>
          </a:prstGeom>
          <a:noFill/>
          <a:ln w="12700">
            <a:solidFill>
              <a:schemeClr val="tx1"/>
            </a:solidFill>
            <a:round/>
            <a:headEnd/>
            <a:tailEnd type="triangle" w="med" len="med"/>
          </a:ln>
        </p:spPr>
        <p:txBody>
          <a:bodyPr wrap="none" lIns="90488" tIns="44450" rIns="90488" bIns="44450"/>
          <a:lstStyle/>
          <a:p>
            <a:endParaRPr lang="en-US"/>
          </a:p>
        </p:txBody>
      </p:sp>
      <p:sp>
        <p:nvSpPr>
          <p:cNvPr id="46" name="Text Box 15"/>
          <p:cNvSpPr txBox="1">
            <a:spLocks noChangeArrowheads="1"/>
          </p:cNvSpPr>
          <p:nvPr/>
        </p:nvSpPr>
        <p:spPr bwMode="auto">
          <a:xfrm>
            <a:off x="5577840" y="6019800"/>
            <a:ext cx="979488" cy="304800"/>
          </a:xfrm>
          <a:prstGeom prst="rect">
            <a:avLst/>
          </a:prstGeom>
          <a:noFill/>
          <a:ln w="12700">
            <a:noFill/>
            <a:miter lim="800000"/>
            <a:headEnd/>
            <a:tailEnd/>
          </a:ln>
        </p:spPr>
        <p:txBody>
          <a:bodyPr wrap="none">
            <a:spAutoFit/>
          </a:bodyPr>
          <a:lstStyle/>
          <a:p>
            <a:r>
              <a:rPr lang="en-US" sz="1400" dirty="0">
                <a:solidFill>
                  <a:srgbClr val="FF0000"/>
                </a:solidFill>
              </a:rPr>
              <a:t>Segment B</a:t>
            </a:r>
            <a:endParaRPr lang="en-US" u="sng" dirty="0">
              <a:solidFill>
                <a:srgbClr val="FF0000"/>
              </a:solidFill>
            </a:endParaRPr>
          </a:p>
        </p:txBody>
      </p:sp>
      <p:sp>
        <p:nvSpPr>
          <p:cNvPr id="47" name="Text Box 16"/>
          <p:cNvSpPr txBox="1">
            <a:spLocks noChangeArrowheads="1"/>
          </p:cNvSpPr>
          <p:nvPr/>
        </p:nvSpPr>
        <p:spPr bwMode="auto">
          <a:xfrm>
            <a:off x="4142232" y="6019800"/>
            <a:ext cx="969963" cy="304800"/>
          </a:xfrm>
          <a:prstGeom prst="rect">
            <a:avLst/>
          </a:prstGeom>
          <a:noFill/>
          <a:ln w="12700">
            <a:noFill/>
            <a:miter lim="800000"/>
            <a:headEnd/>
            <a:tailEnd/>
          </a:ln>
        </p:spPr>
        <p:txBody>
          <a:bodyPr wrap="none">
            <a:spAutoFit/>
          </a:bodyPr>
          <a:lstStyle/>
          <a:p>
            <a:r>
              <a:rPr lang="en-US" sz="1400" dirty="0">
                <a:solidFill>
                  <a:srgbClr val="FF0000"/>
                </a:solidFill>
              </a:rPr>
              <a:t>Segment A</a:t>
            </a:r>
            <a:endParaRPr lang="en-US" u="sng" dirty="0">
              <a:solidFill>
                <a:srgbClr val="FF0000"/>
              </a:solidFill>
            </a:endParaRPr>
          </a:p>
        </p:txBody>
      </p:sp>
      <p:sp>
        <p:nvSpPr>
          <p:cNvPr id="48" name="Text Box 17"/>
          <p:cNvSpPr txBox="1">
            <a:spLocks noChangeArrowheads="1"/>
          </p:cNvSpPr>
          <p:nvPr/>
        </p:nvSpPr>
        <p:spPr bwMode="auto">
          <a:xfrm>
            <a:off x="2209800" y="6019800"/>
            <a:ext cx="969963" cy="304800"/>
          </a:xfrm>
          <a:prstGeom prst="rect">
            <a:avLst/>
          </a:prstGeom>
          <a:noFill/>
          <a:ln w="12700">
            <a:noFill/>
            <a:miter lim="800000"/>
            <a:headEnd/>
            <a:tailEnd/>
          </a:ln>
        </p:spPr>
        <p:txBody>
          <a:bodyPr wrap="none">
            <a:spAutoFit/>
          </a:bodyPr>
          <a:lstStyle/>
          <a:p>
            <a:r>
              <a:rPr lang="en-US" sz="1400" dirty="0">
                <a:solidFill>
                  <a:srgbClr val="FF0000"/>
                </a:solidFill>
              </a:rPr>
              <a:t>Segment C</a:t>
            </a:r>
            <a:endParaRPr lang="en-US" u="sng" dirty="0">
              <a:solidFill>
                <a:srgbClr val="FF0000"/>
              </a:solidFill>
            </a:endParaRPr>
          </a:p>
        </p:txBody>
      </p:sp>
      <p:sp>
        <p:nvSpPr>
          <p:cNvPr id="49" name="Text Box 19"/>
          <p:cNvSpPr txBox="1">
            <a:spLocks noChangeArrowheads="1"/>
          </p:cNvSpPr>
          <p:nvPr/>
        </p:nvSpPr>
        <p:spPr bwMode="auto">
          <a:xfrm>
            <a:off x="6755606" y="4276263"/>
            <a:ext cx="2268570" cy="523220"/>
          </a:xfrm>
          <a:prstGeom prst="rect">
            <a:avLst/>
          </a:prstGeom>
          <a:noFill/>
          <a:ln w="12700">
            <a:noFill/>
            <a:miter lim="800000"/>
            <a:headEnd/>
            <a:tailEnd/>
          </a:ln>
        </p:spPr>
        <p:txBody>
          <a:bodyPr wrap="none">
            <a:spAutoFit/>
          </a:bodyPr>
          <a:lstStyle/>
          <a:p>
            <a:r>
              <a:rPr lang="en-US" sz="1400" dirty="0">
                <a:solidFill>
                  <a:srgbClr val="FF0000"/>
                </a:solidFill>
              </a:rPr>
              <a:t>Canon Demand</a:t>
            </a:r>
          </a:p>
          <a:p>
            <a:r>
              <a:rPr lang="en-US" sz="1400" dirty="0">
                <a:solidFill>
                  <a:srgbClr val="FF0000"/>
                </a:solidFill>
              </a:rPr>
              <a:t>After Olympus launch($520)</a:t>
            </a:r>
            <a:endParaRPr lang="en-US" u="sng" dirty="0">
              <a:solidFill>
                <a:srgbClr val="FF0000"/>
              </a:solidFill>
            </a:endParaRPr>
          </a:p>
        </p:txBody>
      </p:sp>
      <p:sp>
        <p:nvSpPr>
          <p:cNvPr id="50" name="Text Box 18"/>
          <p:cNvSpPr txBox="1">
            <a:spLocks noChangeArrowheads="1"/>
          </p:cNvSpPr>
          <p:nvPr/>
        </p:nvSpPr>
        <p:spPr bwMode="auto">
          <a:xfrm>
            <a:off x="6755606" y="3886200"/>
            <a:ext cx="1995996" cy="523220"/>
          </a:xfrm>
          <a:prstGeom prst="rect">
            <a:avLst/>
          </a:prstGeom>
          <a:noFill/>
          <a:ln w="12700">
            <a:noFill/>
            <a:miter lim="800000"/>
            <a:headEnd/>
            <a:tailEnd/>
          </a:ln>
        </p:spPr>
        <p:txBody>
          <a:bodyPr wrap="none">
            <a:spAutoFit/>
          </a:bodyPr>
          <a:lstStyle/>
          <a:p>
            <a:r>
              <a:rPr lang="en-US" sz="1400" b="1" dirty="0"/>
              <a:t>Canon Demand</a:t>
            </a:r>
          </a:p>
          <a:p>
            <a:r>
              <a:rPr lang="en-US" sz="1400" b="1" dirty="0"/>
              <a:t>Before Olympus launch</a:t>
            </a:r>
            <a:endParaRPr lang="en-US" b="1" u="sng" dirty="0"/>
          </a:p>
        </p:txBody>
      </p:sp>
      <p:cxnSp>
        <p:nvCxnSpPr>
          <p:cNvPr id="51" name="Straight Connector 50"/>
          <p:cNvCxnSpPr/>
          <p:nvPr/>
        </p:nvCxnSpPr>
        <p:spPr>
          <a:xfrm>
            <a:off x="1905000" y="2819400"/>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733800" y="3077921"/>
            <a:ext cx="18288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562600" y="4068612"/>
            <a:ext cx="914400" cy="0"/>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3733800" y="2819400"/>
            <a:ext cx="0" cy="258521"/>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5549660" y="3062287"/>
            <a:ext cx="0" cy="1006325"/>
          </a:xfrm>
          <a:prstGeom prst="line">
            <a:avLst/>
          </a:prstGeom>
          <a:ln w="53975">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 Box 9"/>
          <p:cNvSpPr txBox="1">
            <a:spLocks noChangeArrowheads="1"/>
          </p:cNvSpPr>
          <p:nvPr/>
        </p:nvSpPr>
        <p:spPr bwMode="auto">
          <a:xfrm>
            <a:off x="4144168" y="5641848"/>
            <a:ext cx="1008063" cy="304800"/>
          </a:xfrm>
          <a:prstGeom prst="rect">
            <a:avLst/>
          </a:prstGeom>
          <a:noFill/>
          <a:ln w="12700">
            <a:noFill/>
            <a:miter lim="800000"/>
            <a:headEnd/>
            <a:tailEnd/>
          </a:ln>
        </p:spPr>
        <p:txBody>
          <a:bodyPr wrap="none">
            <a:spAutoFit/>
          </a:bodyPr>
          <a:lstStyle/>
          <a:p>
            <a:r>
              <a:rPr lang="en-US" sz="1400" b="1" dirty="0"/>
              <a:t>Segment A</a:t>
            </a:r>
            <a:endParaRPr lang="en-US" b="1" u="sng" dirty="0"/>
          </a:p>
        </p:txBody>
      </p:sp>
      <p:sp>
        <p:nvSpPr>
          <p:cNvPr id="57" name="Text Box 10"/>
          <p:cNvSpPr txBox="1">
            <a:spLocks noChangeArrowheads="1"/>
          </p:cNvSpPr>
          <p:nvPr/>
        </p:nvSpPr>
        <p:spPr bwMode="auto">
          <a:xfrm>
            <a:off x="5580541" y="5641848"/>
            <a:ext cx="998538" cy="304800"/>
          </a:xfrm>
          <a:prstGeom prst="rect">
            <a:avLst/>
          </a:prstGeom>
          <a:noFill/>
          <a:ln w="12700">
            <a:noFill/>
            <a:miter lim="800000"/>
            <a:headEnd/>
            <a:tailEnd/>
          </a:ln>
        </p:spPr>
        <p:txBody>
          <a:bodyPr wrap="none">
            <a:spAutoFit/>
          </a:bodyPr>
          <a:lstStyle/>
          <a:p>
            <a:r>
              <a:rPr lang="en-US" sz="1400" b="1" dirty="0"/>
              <a:t>Segment B</a:t>
            </a:r>
            <a:endParaRPr lang="en-US" b="1" u="sng" dirty="0"/>
          </a:p>
        </p:txBody>
      </p:sp>
      <p:sp>
        <p:nvSpPr>
          <p:cNvPr id="58" name="Text Box 11"/>
          <p:cNvSpPr txBox="1">
            <a:spLocks noChangeArrowheads="1"/>
          </p:cNvSpPr>
          <p:nvPr/>
        </p:nvSpPr>
        <p:spPr bwMode="auto">
          <a:xfrm>
            <a:off x="2209800" y="5638800"/>
            <a:ext cx="1008063" cy="304800"/>
          </a:xfrm>
          <a:prstGeom prst="rect">
            <a:avLst/>
          </a:prstGeom>
          <a:noFill/>
          <a:ln w="12700">
            <a:noFill/>
            <a:miter lim="800000"/>
            <a:headEnd/>
            <a:tailEnd/>
          </a:ln>
        </p:spPr>
        <p:txBody>
          <a:bodyPr>
            <a:spAutoFit/>
          </a:bodyPr>
          <a:lstStyle/>
          <a:p>
            <a:r>
              <a:rPr lang="en-US" sz="1400" b="1"/>
              <a:t>Segment C</a:t>
            </a:r>
            <a:endParaRPr lang="en-US" b="1" u="sng"/>
          </a:p>
        </p:txBody>
      </p:sp>
      <p:sp>
        <p:nvSpPr>
          <p:cNvPr id="59" name="TextBox 58"/>
          <p:cNvSpPr txBox="1"/>
          <p:nvPr/>
        </p:nvSpPr>
        <p:spPr>
          <a:xfrm>
            <a:off x="7620000" y="5712767"/>
            <a:ext cx="1260281" cy="461665"/>
          </a:xfrm>
          <a:prstGeom prst="rect">
            <a:avLst/>
          </a:prstGeom>
          <a:noFill/>
        </p:spPr>
        <p:txBody>
          <a:bodyPr wrap="none" rtlCol="0">
            <a:spAutoFit/>
          </a:bodyPr>
          <a:lstStyle/>
          <a:p>
            <a:r>
              <a:rPr lang="en-US" dirty="0"/>
              <a:t>Quantity</a:t>
            </a:r>
          </a:p>
        </p:txBody>
      </p:sp>
      <p:cxnSp>
        <p:nvCxnSpPr>
          <p:cNvPr id="60" name="Straight Connector 59"/>
          <p:cNvCxnSpPr/>
          <p:nvPr/>
        </p:nvCxnSpPr>
        <p:spPr>
          <a:xfrm>
            <a:off x="1893708" y="2868193"/>
            <a:ext cx="18288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669792" y="3805596"/>
            <a:ext cx="1892808"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5522976" y="4068612"/>
            <a:ext cx="914400" cy="0"/>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3694176" y="2868193"/>
            <a:ext cx="0" cy="937403"/>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5549660" y="3805596"/>
            <a:ext cx="0" cy="263016"/>
          </a:xfrm>
          <a:prstGeom prst="line">
            <a:avLst/>
          </a:prstGeom>
          <a:ln w="53975">
            <a:solidFill>
              <a:srgbClr val="FF0000"/>
            </a:solidFill>
          </a:ln>
        </p:spPr>
        <p:style>
          <a:lnRef idx="1">
            <a:schemeClr val="accent1"/>
          </a:lnRef>
          <a:fillRef idx="0">
            <a:schemeClr val="accent1"/>
          </a:fillRef>
          <a:effectRef idx="0">
            <a:schemeClr val="accent1"/>
          </a:effectRef>
          <a:fontRef idx="minor">
            <a:schemeClr val="tx1"/>
          </a:fontRef>
        </p:style>
      </p:cxnSp>
      <p:sp>
        <p:nvSpPr>
          <p:cNvPr id="65" name="Line 20"/>
          <p:cNvSpPr>
            <a:spLocks noChangeShapeType="1"/>
          </p:cNvSpPr>
          <p:nvPr/>
        </p:nvSpPr>
        <p:spPr bwMode="auto">
          <a:xfrm>
            <a:off x="1905000" y="3429000"/>
            <a:ext cx="5181600" cy="0"/>
          </a:xfrm>
          <a:prstGeom prst="line">
            <a:avLst/>
          </a:prstGeom>
          <a:noFill/>
          <a:ln w="12700">
            <a:solidFill>
              <a:srgbClr val="00B050"/>
            </a:solidFill>
            <a:prstDash val="dash"/>
            <a:round/>
            <a:headEnd/>
            <a:tailEnd/>
          </a:ln>
        </p:spPr>
        <p:txBody>
          <a:bodyPr wrap="none" lIns="90488" tIns="44450" rIns="90488" bIns="44450"/>
          <a:lstStyle/>
          <a:p>
            <a:endParaRPr lang="en-US"/>
          </a:p>
        </p:txBody>
      </p:sp>
      <p:sp>
        <p:nvSpPr>
          <p:cNvPr id="66" name="Text Box 21"/>
          <p:cNvSpPr txBox="1">
            <a:spLocks noChangeArrowheads="1"/>
          </p:cNvSpPr>
          <p:nvPr/>
        </p:nvSpPr>
        <p:spPr bwMode="auto">
          <a:xfrm>
            <a:off x="7086600" y="3276600"/>
            <a:ext cx="835229" cy="307777"/>
          </a:xfrm>
          <a:prstGeom prst="rect">
            <a:avLst/>
          </a:prstGeom>
          <a:noFill/>
          <a:ln w="12700">
            <a:noFill/>
            <a:miter lim="800000"/>
            <a:headEnd/>
            <a:tailEnd/>
          </a:ln>
        </p:spPr>
        <p:txBody>
          <a:bodyPr wrap="none">
            <a:spAutoFit/>
          </a:bodyPr>
          <a:lstStyle/>
          <a:p>
            <a:r>
              <a:rPr lang="en-US" sz="1400" b="1" dirty="0">
                <a:solidFill>
                  <a:srgbClr val="00B050"/>
                </a:solidFill>
              </a:rPr>
              <a:t>P = $280</a:t>
            </a:r>
            <a:endParaRPr lang="en-US" b="1" u="sng" dirty="0">
              <a:solidFill>
                <a:srgbClr val="00B050"/>
              </a:solidFill>
            </a:endParaRPr>
          </a:p>
        </p:txBody>
      </p:sp>
      <p:sp>
        <p:nvSpPr>
          <p:cNvPr id="2" name="Slide Number Placeholder 1"/>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25</a:t>
            </a:fld>
            <a:endParaRPr lang="en-US"/>
          </a:p>
        </p:txBody>
      </p:sp>
      <p:sp>
        <p:nvSpPr>
          <p:cNvPr id="33" name="Down Arrow 32"/>
          <p:cNvSpPr/>
          <p:nvPr/>
        </p:nvSpPr>
        <p:spPr>
          <a:xfrm>
            <a:off x="4533526" y="3202104"/>
            <a:ext cx="76200" cy="504825"/>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2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3581400"/>
            <a:ext cx="8156448"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Rectangle 2"/>
          <p:cNvSpPr>
            <a:spLocks noGrp="1" noChangeArrowheads="1"/>
          </p:cNvSpPr>
          <p:nvPr>
            <p:ph type="title"/>
          </p:nvPr>
        </p:nvSpPr>
        <p:spPr/>
        <p:txBody>
          <a:bodyPr/>
          <a:lstStyle/>
          <a:p>
            <a:r>
              <a:rPr lang="en-US" dirty="0"/>
              <a:t>Canon Strategy</a:t>
            </a:r>
          </a:p>
        </p:txBody>
      </p:sp>
      <p:sp>
        <p:nvSpPr>
          <p:cNvPr id="72707" name="Rectangle 3"/>
          <p:cNvSpPr>
            <a:spLocks noGrp="1" noChangeArrowheads="1"/>
          </p:cNvSpPr>
          <p:nvPr>
            <p:ph sz="quarter" idx="1"/>
          </p:nvPr>
        </p:nvSpPr>
        <p:spPr>
          <a:xfrm>
            <a:off x="612648" y="1600200"/>
            <a:ext cx="8153400" cy="4953000"/>
          </a:xfrm>
        </p:spPr>
        <p:txBody>
          <a:bodyPr>
            <a:normAutofit/>
          </a:bodyPr>
          <a:lstStyle/>
          <a:p>
            <a:pPr>
              <a:spcAft>
                <a:spcPts val="600"/>
              </a:spcAft>
              <a:defRPr/>
            </a:pPr>
            <a:r>
              <a:rPr lang="en-US" sz="2400" dirty="0">
                <a:latin typeface="+mj-lt"/>
              </a:rPr>
              <a:t>How large a price cut is needed to regain lost customers (i.e. segment A)?</a:t>
            </a:r>
          </a:p>
          <a:p>
            <a:pPr lvl="1">
              <a:spcAft>
                <a:spcPts val="600"/>
              </a:spcAft>
              <a:defRPr/>
            </a:pPr>
            <a:r>
              <a:rPr lang="en-US" sz="2400" dirty="0">
                <a:latin typeface="+mj-lt"/>
              </a:rPr>
              <a:t>$31 price cut attracts segment A from Olympus.</a:t>
            </a:r>
          </a:p>
          <a:p>
            <a:pPr lvl="1">
              <a:spcAft>
                <a:spcPts val="600"/>
              </a:spcAft>
              <a:defRPr/>
            </a:pPr>
            <a:r>
              <a:rPr lang="en-US" sz="2400" dirty="0">
                <a:latin typeface="+mj-lt"/>
              </a:rPr>
              <a:t>However, price cut may trigger reaction from Olympus</a:t>
            </a:r>
          </a:p>
          <a:p>
            <a:pPr>
              <a:spcAft>
                <a:spcPts val="600"/>
              </a:spcAft>
              <a:defRPr/>
            </a:pPr>
            <a:r>
              <a:rPr lang="en-US" sz="2400" dirty="0">
                <a:latin typeface="+mj-lt"/>
              </a:rPr>
              <a:t>Raising Prices</a:t>
            </a:r>
          </a:p>
          <a:p>
            <a:pPr lvl="1">
              <a:spcAft>
                <a:spcPts val="600"/>
              </a:spcAft>
              <a:defRPr/>
            </a:pPr>
            <a:r>
              <a:rPr lang="en-US" sz="2400" dirty="0">
                <a:latin typeface="+mj-lt"/>
              </a:rPr>
              <a:t>$37 of surplus on the table for Segment C.</a:t>
            </a:r>
          </a:p>
          <a:p>
            <a:pPr lvl="1">
              <a:defRPr/>
            </a:pPr>
            <a:r>
              <a:rPr lang="en-US" sz="2400" dirty="0">
                <a:latin typeface="+mj-lt"/>
              </a:rPr>
              <a:t>Which firm is likely to react if Canon raises price from $280 to $310?</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26</a:t>
            </a:fld>
            <a:endParaRPr lang="en-US"/>
          </a:p>
        </p:txBody>
      </p:sp>
    </p:spTree>
    <p:extLst>
      <p:ext uri="{BB962C8B-B14F-4D97-AF65-F5344CB8AC3E}">
        <p14:creationId xmlns:p14="http://schemas.microsoft.com/office/powerpoint/2010/main" val="332780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Can competition </a:t>
            </a:r>
            <a:r>
              <a:rPr lang="en-US" sz="4400" dirty="0">
                <a:effectLst>
                  <a:outerShdw blurRad="38100" dist="38100" dir="2700000" algn="tl">
                    <a:srgbClr val="000000">
                      <a:alpha val="43137"/>
                    </a:srgbClr>
                  </a:outerShdw>
                </a:effectLst>
              </a:rPr>
              <a:t>increase</a:t>
            </a:r>
            <a:r>
              <a:rPr lang="en-US" sz="4400" dirty="0"/>
              <a:t> prices?</a:t>
            </a:r>
            <a:br>
              <a:rPr lang="en-US" sz="4400" dirty="0"/>
            </a:br>
            <a:r>
              <a:rPr lang="en-US" sz="3600" dirty="0"/>
              <a:t>Examples from academic research</a:t>
            </a:r>
          </a:p>
        </p:txBody>
      </p:sp>
      <p:sp>
        <p:nvSpPr>
          <p:cNvPr id="3" name="Content Placeholder 2"/>
          <p:cNvSpPr>
            <a:spLocks noGrp="1"/>
          </p:cNvSpPr>
          <p:nvPr>
            <p:ph sz="quarter" idx="1"/>
          </p:nvPr>
        </p:nvSpPr>
        <p:spPr/>
        <p:txBody>
          <a:bodyPr>
            <a:normAutofit fontScale="85000" lnSpcReduction="20000"/>
          </a:bodyPr>
          <a:lstStyle/>
          <a:p>
            <a:r>
              <a:rPr lang="en-US" dirty="0">
                <a:hlinkClick r:id="rId2"/>
              </a:rPr>
              <a:t>Chen and Riordan (2008)</a:t>
            </a:r>
            <a:r>
              <a:rPr lang="en-US" dirty="0"/>
              <a:t>: </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The analysis provides precise conditions for price-increasing competition and reveals that it is unexceptional from a </a:t>
            </a:r>
            <a:r>
              <a:rPr lang="en-US" sz="2000" i="1" u="sng" dirty="0">
                <a:latin typeface="Times New Roman" panose="02020603050405020304" pitchFamily="18" charset="0"/>
                <a:cs typeface="Times New Roman" panose="02020603050405020304" pitchFamily="18" charset="0"/>
              </a:rPr>
              <a:t>theoretical</a:t>
            </a:r>
            <a:r>
              <a:rPr lang="en-US" sz="2000" i="1" dirty="0">
                <a:latin typeface="Times New Roman" panose="02020603050405020304" pitchFamily="18" charset="0"/>
                <a:cs typeface="Times New Roman" panose="02020603050405020304" pitchFamily="18" charset="0"/>
              </a:rPr>
              <a:t> perspective.</a:t>
            </a:r>
            <a:r>
              <a:rPr lang="en-US" sz="20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p>
          <a:p>
            <a:r>
              <a:rPr lang="en-US" dirty="0">
                <a:hlinkClick r:id="rId3"/>
              </a:rPr>
              <a:t>Ward et al (2002)</a:t>
            </a:r>
            <a:r>
              <a:rPr lang="en-US" dirty="0"/>
              <a:t>: </a:t>
            </a:r>
            <a:r>
              <a:rPr lang="en-US" sz="2000" dirty="0"/>
              <a:t>“</a:t>
            </a:r>
            <a:r>
              <a:rPr lang="en-US" sz="2000" i="1" dirty="0">
                <a:latin typeface="Times New Roman" panose="02020603050405020304" pitchFamily="18" charset="0"/>
                <a:cs typeface="Times New Roman" panose="02020603050405020304" pitchFamily="18" charset="0"/>
              </a:rPr>
              <a:t>The conventional industry wisdom is that </a:t>
            </a:r>
            <a:r>
              <a:rPr lang="en-US" sz="2000" i="1" dirty="0" err="1">
                <a:latin typeface="Times New Roman" panose="02020603050405020304" pitchFamily="18" charset="0"/>
                <a:cs typeface="Times New Roman" panose="02020603050405020304" pitchFamily="18" charset="0"/>
              </a:rPr>
              <a:t>namebrand</a:t>
            </a:r>
            <a:r>
              <a:rPr lang="en-US" sz="2000" i="1" dirty="0">
                <a:latin typeface="Times New Roman" panose="02020603050405020304" pitchFamily="18" charset="0"/>
                <a:cs typeface="Times New Roman" panose="02020603050405020304" pitchFamily="18" charset="0"/>
              </a:rPr>
              <a:t> firms defended their brands against the </a:t>
            </a:r>
            <a:r>
              <a:rPr lang="en-US" sz="2000" i="1" u="sng" dirty="0">
                <a:latin typeface="Times New Roman" panose="02020603050405020304" pitchFamily="18" charset="0"/>
                <a:cs typeface="Times New Roman" panose="02020603050405020304" pitchFamily="18" charset="0"/>
              </a:rPr>
              <a:t>private-label invasion </a:t>
            </a:r>
            <a:r>
              <a:rPr lang="en-US" sz="2000" i="1" dirty="0">
                <a:latin typeface="Times New Roman" panose="02020603050405020304" pitchFamily="18" charset="0"/>
                <a:cs typeface="Times New Roman" panose="02020603050405020304" pitchFamily="18" charset="0"/>
              </a:rPr>
              <a:t>by lowering their prices, engaging in additional promotional activities, and increasingly differentiating their products. Our empirical evidence is inconsistent with these beliefs. Increases in the share of private-label goods are correlated with a </a:t>
            </a:r>
            <a:r>
              <a:rPr lang="en-US" sz="2000" i="1" u="sng" dirty="0">
                <a:latin typeface="Times New Roman" panose="02020603050405020304" pitchFamily="18" charset="0"/>
                <a:cs typeface="Times New Roman" panose="02020603050405020304" pitchFamily="18" charset="0"/>
              </a:rPr>
              <a:t>rise in the price of </a:t>
            </a:r>
            <a:r>
              <a:rPr lang="en-US" sz="2000" i="1" u="sng" dirty="0" err="1">
                <a:latin typeface="Times New Roman" panose="02020603050405020304" pitchFamily="18" charset="0"/>
                <a:cs typeface="Times New Roman" panose="02020603050405020304" pitchFamily="18" charset="0"/>
              </a:rPr>
              <a:t>namebrand</a:t>
            </a:r>
            <a:r>
              <a:rPr lang="en-US" sz="2000" i="1" u="sng" dirty="0">
                <a:latin typeface="Times New Roman" panose="02020603050405020304" pitchFamily="18" charset="0"/>
                <a:cs typeface="Times New Roman" panose="02020603050405020304" pitchFamily="18" charset="0"/>
              </a:rPr>
              <a:t> goods</a:t>
            </a:r>
            <a:r>
              <a:rPr lang="en-US" sz="2000" i="1" dirty="0">
                <a:latin typeface="Times New Roman" panose="02020603050405020304" pitchFamily="18" charset="0"/>
                <a:cs typeface="Times New Roman" panose="02020603050405020304" pitchFamily="18" charset="0"/>
              </a:rPr>
              <a:t>.</a:t>
            </a:r>
            <a:r>
              <a:rPr lang="en-US" sz="2000" dirty="0"/>
              <a:t>”</a:t>
            </a:r>
          </a:p>
          <a:p>
            <a:endParaRPr lang="en-US" sz="2000" dirty="0"/>
          </a:p>
          <a:p>
            <a:r>
              <a:rPr lang="en-US" dirty="0">
                <a:hlinkClick r:id="rId4"/>
              </a:rPr>
              <a:t>Grabowski and Vernon (1992)</a:t>
            </a:r>
            <a:r>
              <a:rPr lang="en-US" dirty="0"/>
              <a:t>:</a:t>
            </a:r>
            <a:r>
              <a:rPr lang="en-US" sz="2000" dirty="0"/>
              <a:t> </a:t>
            </a:r>
            <a:r>
              <a:rPr lang="en-US" i="1" dirty="0">
                <a:latin typeface="Times New Roman" panose="02020603050405020304" pitchFamily="18" charset="0"/>
                <a:cs typeface="Times New Roman" panose="02020603050405020304" pitchFamily="18" charset="0"/>
              </a:rPr>
              <a:t>“</a:t>
            </a:r>
            <a:r>
              <a:rPr lang="en-US" sz="2100" i="1" dirty="0">
                <a:latin typeface="Times New Roman" panose="02020603050405020304" pitchFamily="18" charset="0"/>
                <a:cs typeface="Times New Roman" panose="02020603050405020304" pitchFamily="18" charset="0"/>
              </a:rPr>
              <a:t>We performed an analysis of eighteen </a:t>
            </a:r>
            <a:r>
              <a:rPr lang="en-US" sz="2100" i="1" u="sng" dirty="0">
                <a:latin typeface="Times New Roman" panose="02020603050405020304" pitchFamily="18" charset="0"/>
                <a:cs typeface="Times New Roman" panose="02020603050405020304" pitchFamily="18" charset="0"/>
              </a:rPr>
              <a:t>drugs </a:t>
            </a:r>
            <a:r>
              <a:rPr lang="en-US" sz="2100" i="1" dirty="0">
                <a:latin typeface="Times New Roman" panose="02020603050405020304" pitchFamily="18" charset="0"/>
                <a:cs typeface="Times New Roman" panose="02020603050405020304" pitchFamily="18" charset="0"/>
              </a:rPr>
              <a:t>first experiencing generic competition after 1983. These products have been subject to a wave of generic competition leading to a significant loss in market share to generics that sell at much lower unit prices…The pioneering firms did not attempt to deter entry through their pricing strategies. Rather, in most cases, the firms </a:t>
            </a:r>
            <a:r>
              <a:rPr lang="en-US" sz="2100" i="1" u="sng" dirty="0">
                <a:latin typeface="Times New Roman" panose="02020603050405020304" pitchFamily="18" charset="0"/>
                <a:cs typeface="Times New Roman" panose="02020603050405020304" pitchFamily="18" charset="0"/>
              </a:rPr>
              <a:t>continued to increase their prices at the same rate as prior to entry</a:t>
            </a:r>
            <a:r>
              <a:rPr lang="en-US" sz="2100" i="1"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27</a:t>
            </a:fld>
            <a:endParaRPr lang="en-US" dirty="0"/>
          </a:p>
        </p:txBody>
      </p:sp>
    </p:spTree>
    <p:extLst>
      <p:ext uri="{BB962C8B-B14F-4D97-AF65-F5344CB8AC3E}">
        <p14:creationId xmlns:p14="http://schemas.microsoft.com/office/powerpoint/2010/main" val="94247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Can competition </a:t>
            </a:r>
            <a:r>
              <a:rPr lang="en-US" sz="4400" dirty="0">
                <a:effectLst>
                  <a:outerShdw blurRad="38100" dist="38100" dir="2700000" algn="tl">
                    <a:srgbClr val="000000">
                      <a:alpha val="43137"/>
                    </a:srgbClr>
                  </a:outerShdw>
                </a:effectLst>
              </a:rPr>
              <a:t>increase</a:t>
            </a:r>
            <a:r>
              <a:rPr lang="en-US" sz="4400" dirty="0"/>
              <a:t> prices?</a:t>
            </a:r>
            <a:br>
              <a:rPr lang="en-US" sz="4400" dirty="0"/>
            </a:br>
            <a:r>
              <a:rPr lang="en-US" sz="3600" dirty="0"/>
              <a:t>Example: Public Pharmacies in Chile</a:t>
            </a:r>
          </a:p>
        </p:txBody>
      </p:sp>
      <p:sp>
        <p:nvSpPr>
          <p:cNvPr id="3" name="Content Placeholder 2"/>
          <p:cNvSpPr>
            <a:spLocks noGrp="1"/>
          </p:cNvSpPr>
          <p:nvPr>
            <p:ph sz="quarter" idx="1"/>
          </p:nvPr>
        </p:nvSpPr>
        <p:spPr/>
        <p:txBody>
          <a:bodyPr>
            <a:normAutofit/>
          </a:bodyPr>
          <a:lstStyle/>
          <a:p>
            <a:r>
              <a:rPr lang="en-US" dirty="0"/>
              <a:t>Public pharmacies entered 147 of 345 counties in Chile between 2015 and 2018</a:t>
            </a:r>
          </a:p>
          <a:p>
            <a:pPr lvl="1"/>
            <a:r>
              <a:rPr lang="en-US" dirty="0"/>
              <a:t>Lower costs (due to public buying platform)</a:t>
            </a:r>
          </a:p>
          <a:p>
            <a:pPr lvl="1"/>
            <a:r>
              <a:rPr lang="en-US" dirty="0"/>
              <a:t>Prices = 34% of prices charged by private pharmacies!</a:t>
            </a:r>
          </a:p>
          <a:p>
            <a:pPr lvl="1"/>
            <a:r>
              <a:rPr lang="en-US" dirty="0"/>
              <a:t>But Lower Quality: less variety and limited hours open</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28</a:t>
            </a:fld>
            <a:endParaRPr lang="en-US" dirty="0"/>
          </a:p>
        </p:txBody>
      </p:sp>
      <p:sp>
        <p:nvSpPr>
          <p:cNvPr id="5" name="TextBox 4"/>
          <p:cNvSpPr txBox="1"/>
          <p:nvPr/>
        </p:nvSpPr>
        <p:spPr>
          <a:xfrm>
            <a:off x="381000" y="6477000"/>
            <a:ext cx="3209084" cy="276999"/>
          </a:xfrm>
          <a:prstGeom prst="rect">
            <a:avLst/>
          </a:prstGeom>
          <a:noFill/>
        </p:spPr>
        <p:txBody>
          <a:bodyPr wrap="none" rtlCol="0">
            <a:spAutoFit/>
          </a:bodyPr>
          <a:lstStyle/>
          <a:p>
            <a:r>
              <a:rPr lang="en-US" sz="1200" dirty="0"/>
              <a:t>Source: </a:t>
            </a:r>
            <a:r>
              <a:rPr lang="en-US" sz="1200" dirty="0">
                <a:hlinkClick r:id="rId2"/>
              </a:rPr>
              <a:t>Atal, Cuesta, Gonzalez and Otero (2022)</a:t>
            </a:r>
            <a:endParaRPr lang="en-US" sz="1200" dirty="0"/>
          </a:p>
        </p:txBody>
      </p:sp>
      <p:pic>
        <p:nvPicPr>
          <p:cNvPr id="6" name="Picture 5"/>
          <p:cNvPicPr>
            <a:picLocks noChangeAspect="1"/>
          </p:cNvPicPr>
          <p:nvPr/>
        </p:nvPicPr>
        <p:blipFill>
          <a:blip r:embed="rId3"/>
          <a:stretch>
            <a:fillRect/>
          </a:stretch>
        </p:blipFill>
        <p:spPr>
          <a:xfrm>
            <a:off x="177240" y="4405048"/>
            <a:ext cx="4073141" cy="1472837"/>
          </a:xfrm>
          <a:prstGeom prst="rect">
            <a:avLst/>
          </a:prstGeom>
        </p:spPr>
      </p:pic>
      <p:pic>
        <p:nvPicPr>
          <p:cNvPr id="7" name="Picture 6"/>
          <p:cNvPicPr>
            <a:picLocks noChangeAspect="1"/>
          </p:cNvPicPr>
          <p:nvPr/>
        </p:nvPicPr>
        <p:blipFill>
          <a:blip r:embed="rId4"/>
          <a:stretch>
            <a:fillRect/>
          </a:stretch>
        </p:blipFill>
        <p:spPr>
          <a:xfrm>
            <a:off x="4495800" y="3657600"/>
            <a:ext cx="4497538" cy="2692472"/>
          </a:xfrm>
          <a:prstGeom prst="rect">
            <a:avLst/>
          </a:prstGeom>
        </p:spPr>
      </p:pic>
      <p:sp>
        <p:nvSpPr>
          <p:cNvPr id="8" name="TextBox 7"/>
          <p:cNvSpPr txBox="1"/>
          <p:nvPr/>
        </p:nvSpPr>
        <p:spPr>
          <a:xfrm>
            <a:off x="1317730" y="4061278"/>
            <a:ext cx="1819729" cy="369332"/>
          </a:xfrm>
          <a:prstGeom prst="rect">
            <a:avLst/>
          </a:prstGeom>
          <a:noFill/>
        </p:spPr>
        <p:txBody>
          <a:bodyPr wrap="none" rtlCol="0">
            <a:spAutoFit/>
          </a:bodyPr>
          <a:lstStyle/>
          <a:p>
            <a:r>
              <a:rPr lang="en-US" sz="1800" dirty="0">
                <a:solidFill>
                  <a:srgbClr val="0070C0"/>
                </a:solidFill>
              </a:rPr>
              <a:t>Private Pharmacy</a:t>
            </a:r>
          </a:p>
        </p:txBody>
      </p:sp>
      <p:sp>
        <p:nvSpPr>
          <p:cNvPr id="9" name="TextBox 8"/>
          <p:cNvSpPr txBox="1"/>
          <p:nvPr/>
        </p:nvSpPr>
        <p:spPr>
          <a:xfrm>
            <a:off x="6553200" y="4191000"/>
            <a:ext cx="1755609" cy="369332"/>
          </a:xfrm>
          <a:prstGeom prst="rect">
            <a:avLst/>
          </a:prstGeom>
          <a:noFill/>
        </p:spPr>
        <p:txBody>
          <a:bodyPr wrap="none" rtlCol="0">
            <a:spAutoFit/>
          </a:bodyPr>
          <a:lstStyle/>
          <a:p>
            <a:r>
              <a:rPr lang="en-US" sz="1800" dirty="0">
                <a:solidFill>
                  <a:srgbClr val="0070C0"/>
                </a:solidFill>
              </a:rPr>
              <a:t>Public Pharmacy</a:t>
            </a:r>
          </a:p>
        </p:txBody>
      </p:sp>
    </p:spTree>
    <p:extLst>
      <p:ext uri="{BB962C8B-B14F-4D97-AF65-F5344CB8AC3E}">
        <p14:creationId xmlns:p14="http://schemas.microsoft.com/office/powerpoint/2010/main" val="3906534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Can competition </a:t>
            </a:r>
            <a:r>
              <a:rPr lang="en-US" sz="4400" dirty="0">
                <a:effectLst>
                  <a:outerShdw blurRad="38100" dist="38100" dir="2700000" algn="tl">
                    <a:srgbClr val="000000">
                      <a:alpha val="43137"/>
                    </a:srgbClr>
                  </a:outerShdw>
                </a:effectLst>
              </a:rPr>
              <a:t>increase</a:t>
            </a:r>
            <a:r>
              <a:rPr lang="en-US" sz="4400" dirty="0"/>
              <a:t> prices?</a:t>
            </a:r>
            <a:br>
              <a:rPr lang="en-US" sz="4400" dirty="0"/>
            </a:br>
            <a:r>
              <a:rPr lang="en-US" sz="3600" dirty="0"/>
              <a:t>Example: Public Pharmacies in Chile</a:t>
            </a:r>
          </a:p>
        </p:txBody>
      </p:sp>
      <p:sp>
        <p:nvSpPr>
          <p:cNvPr id="3" name="Content Placeholder 2"/>
          <p:cNvSpPr>
            <a:spLocks noGrp="1"/>
          </p:cNvSpPr>
          <p:nvPr>
            <p:ph sz="quarter" idx="1"/>
          </p:nvPr>
        </p:nvSpPr>
        <p:spPr/>
        <p:txBody>
          <a:bodyPr>
            <a:normAutofit/>
          </a:bodyPr>
          <a:lstStyle/>
          <a:p>
            <a:r>
              <a:rPr lang="en-US" dirty="0"/>
              <a:t>Public pharmacies diverted 4% of market share away from private pharmacies</a:t>
            </a:r>
          </a:p>
          <a:p>
            <a:r>
              <a:rPr lang="en-US" dirty="0"/>
              <a:t>But…</a:t>
            </a:r>
          </a:p>
          <a:p>
            <a:pPr marL="366713" lvl="1" indent="0">
              <a:buNone/>
            </a:pPr>
            <a:endParaRPr lang="en-US" dirty="0"/>
          </a:p>
          <a:p>
            <a:pPr marL="366713" lvl="1" indent="0">
              <a:buNone/>
            </a:pPr>
            <a:r>
              <a:rPr lang="en-US" dirty="0">
                <a:effectLst>
                  <a:outerShdw blurRad="38100" dist="38100" dir="2700000" algn="tl">
                    <a:srgbClr val="000000">
                      <a:alpha val="43137"/>
                    </a:srgbClr>
                  </a:outerShdw>
                </a:effectLst>
              </a:rPr>
              <a:t>Private pharmacies responded by </a:t>
            </a:r>
            <a:r>
              <a:rPr lang="en-US" u="sng" dirty="0">
                <a:effectLst>
                  <a:outerShdw blurRad="38100" dist="38100" dir="2700000" algn="tl">
                    <a:srgbClr val="000000">
                      <a:alpha val="43137"/>
                    </a:srgbClr>
                  </a:outerShdw>
                </a:effectLst>
              </a:rPr>
              <a:t>increasing</a:t>
            </a:r>
            <a:r>
              <a:rPr lang="en-US" dirty="0">
                <a:effectLst>
                  <a:outerShdw blurRad="38100" dist="38100" dir="2700000" algn="tl">
                    <a:srgbClr val="000000">
                      <a:alpha val="43137"/>
                    </a:srgbClr>
                  </a:outerShdw>
                </a:effectLst>
              </a:rPr>
              <a:t> prices 1.1%</a:t>
            </a:r>
          </a:p>
          <a:p>
            <a:pPr marL="366713" lvl="1" indent="0">
              <a:buNone/>
            </a:pPr>
            <a:endParaRPr lang="en-US" dirty="0"/>
          </a:p>
          <a:p>
            <a:r>
              <a:rPr lang="en-US" dirty="0"/>
              <a:t>Most price-elastic consumers switched to public, leaving an overall less elastic residual demand for private!</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29</a:t>
            </a:fld>
            <a:endParaRPr lang="en-US" dirty="0"/>
          </a:p>
        </p:txBody>
      </p:sp>
      <p:sp>
        <p:nvSpPr>
          <p:cNvPr id="5" name="TextBox 4"/>
          <p:cNvSpPr txBox="1"/>
          <p:nvPr/>
        </p:nvSpPr>
        <p:spPr>
          <a:xfrm>
            <a:off x="381000" y="6477000"/>
            <a:ext cx="3209084" cy="276999"/>
          </a:xfrm>
          <a:prstGeom prst="rect">
            <a:avLst/>
          </a:prstGeom>
          <a:noFill/>
        </p:spPr>
        <p:txBody>
          <a:bodyPr wrap="none" rtlCol="0">
            <a:spAutoFit/>
          </a:bodyPr>
          <a:lstStyle/>
          <a:p>
            <a:r>
              <a:rPr lang="en-US" sz="1200" dirty="0"/>
              <a:t>Source: </a:t>
            </a:r>
            <a:r>
              <a:rPr lang="en-US" sz="1200" dirty="0">
                <a:hlinkClick r:id="rId2"/>
              </a:rPr>
              <a:t>Atal, Cuesta, Gonzalez and Otero (2022)</a:t>
            </a:r>
            <a:endParaRPr lang="en-US" sz="1200" dirty="0"/>
          </a:p>
        </p:txBody>
      </p:sp>
    </p:spTree>
    <p:extLst>
      <p:ext uri="{BB962C8B-B14F-4D97-AF65-F5344CB8AC3E}">
        <p14:creationId xmlns:p14="http://schemas.microsoft.com/office/powerpoint/2010/main" val="3027109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a:t>Competition, Game Theory &amp; Equilibrium Prices</a:t>
            </a:r>
          </a:p>
        </p:txBody>
      </p:sp>
      <p:sp>
        <p:nvSpPr>
          <p:cNvPr id="4" name="Slide Number Placeholder 3"/>
          <p:cNvSpPr>
            <a:spLocks noGrp="1"/>
          </p:cNvSpPr>
          <p:nvPr>
            <p:ph type="sldNum" sz="quarter" idx="11"/>
          </p:nvPr>
        </p:nvSpPr>
        <p:spPr/>
        <p:txBody>
          <a:bodyPr/>
          <a:lstStyle/>
          <a:p>
            <a:pPr>
              <a:defRPr/>
            </a:pPr>
            <a:fld id="{933868AA-CDF1-43EF-A2C4-0B669FC33D03}" type="slidenum">
              <a:rPr lang="en-US" smtClean="0"/>
              <a:pPr>
                <a:defRPr/>
              </a:pPr>
              <a:t>30</a:t>
            </a:fld>
            <a:endParaRPr lang="en-US"/>
          </a:p>
        </p:txBody>
      </p:sp>
      <p:pic>
        <p:nvPicPr>
          <p:cNvPr id="24578" name="Picture 2" descr="Oligopoly Pricing: A Game Theory Overview | Chess game, Chess, How to play  ch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743200"/>
            <a:ext cx="517629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6894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fontScale="90000"/>
          </a:bodyPr>
          <a:lstStyle/>
          <a:p>
            <a:r>
              <a:rPr lang="en-US" sz="4400" dirty="0"/>
              <a:t>The Strategic Pricing Game</a:t>
            </a:r>
            <a:br>
              <a:rPr lang="en-US" sz="4400" dirty="0"/>
            </a:br>
            <a:r>
              <a:rPr lang="en-US" sz="3600" dirty="0"/>
              <a:t>Beauregard Textiles</a:t>
            </a:r>
          </a:p>
        </p:txBody>
      </p:sp>
      <p:sp>
        <p:nvSpPr>
          <p:cNvPr id="80899" name="Rectangle 3"/>
          <p:cNvSpPr>
            <a:spLocks noGrp="1" noChangeArrowheads="1"/>
          </p:cNvSpPr>
          <p:nvPr>
            <p:ph sz="quarter" idx="1"/>
          </p:nvPr>
        </p:nvSpPr>
        <p:spPr/>
        <p:txBody>
          <a:bodyPr/>
          <a:lstStyle/>
          <a:p>
            <a:pPr>
              <a:spcAft>
                <a:spcPts val="1200"/>
              </a:spcAft>
              <a:defRPr/>
            </a:pPr>
            <a:endParaRPr lang="en-US" sz="2400" dirty="0">
              <a:latin typeface="+mj-lt"/>
            </a:endParaRPr>
          </a:p>
          <a:p>
            <a:pPr>
              <a:spcAft>
                <a:spcPts val="1200"/>
              </a:spcAft>
              <a:defRPr/>
            </a:pPr>
            <a:endParaRPr lang="en-US" sz="2400" dirty="0">
              <a:latin typeface="+mj-lt"/>
            </a:endParaRPr>
          </a:p>
          <a:p>
            <a:pPr>
              <a:spcAft>
                <a:spcPts val="1200"/>
              </a:spcAft>
              <a:defRPr/>
            </a:pPr>
            <a:r>
              <a:rPr lang="en-US" sz="2400" dirty="0">
                <a:latin typeface="+mj-lt"/>
              </a:rPr>
              <a:t>Elasticity</a:t>
            </a:r>
          </a:p>
          <a:p>
            <a:pPr>
              <a:spcAft>
                <a:spcPts val="1200"/>
              </a:spcAft>
              <a:defRPr/>
            </a:pPr>
            <a:r>
              <a:rPr lang="en-US" sz="2400" dirty="0">
                <a:latin typeface="+mj-lt"/>
              </a:rPr>
              <a:t>Profits: Revenues, Costs</a:t>
            </a:r>
          </a:p>
          <a:p>
            <a:pPr>
              <a:defRPr/>
            </a:pPr>
            <a:r>
              <a:rPr lang="en-US" sz="2400" dirty="0">
                <a:latin typeface="+mj-lt"/>
              </a:rPr>
              <a:t>Payoffs</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31</a:t>
            </a:fld>
            <a:endParaRPr lang="en-US"/>
          </a:p>
        </p:txBody>
      </p:sp>
      <p:pic>
        <p:nvPicPr>
          <p:cNvPr id="15362" name="Picture 2" descr="Image result for textiles mil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2133600"/>
            <a:ext cx="4343400" cy="2443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5891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6"/>
          <p:cNvSpPr>
            <a:spLocks noGrp="1" noChangeArrowheads="1"/>
          </p:cNvSpPr>
          <p:nvPr>
            <p:ph type="title"/>
          </p:nvPr>
        </p:nvSpPr>
        <p:spPr/>
        <p:txBody>
          <a:bodyPr/>
          <a:lstStyle/>
          <a:p>
            <a:r>
              <a:rPr lang="en-US" sz="4000" dirty="0"/>
              <a:t>Payoff Matrix</a:t>
            </a:r>
          </a:p>
        </p:txBody>
      </p:sp>
      <p:sp>
        <p:nvSpPr>
          <p:cNvPr id="33795" name="Line 4"/>
          <p:cNvSpPr>
            <a:spLocks noChangeShapeType="1"/>
          </p:cNvSpPr>
          <p:nvPr/>
        </p:nvSpPr>
        <p:spPr bwMode="auto">
          <a:xfrm>
            <a:off x="2265780" y="2065389"/>
            <a:ext cx="5486400" cy="0"/>
          </a:xfrm>
          <a:prstGeom prst="line">
            <a:avLst/>
          </a:prstGeom>
          <a:noFill/>
          <a:ln w="38100" cmpd="dbl">
            <a:solidFill>
              <a:schemeClr val="tx1"/>
            </a:solidFill>
            <a:round/>
            <a:headEnd type="none" w="sm" len="sm"/>
            <a:tailEnd type="none" w="sm" len="sm"/>
          </a:ln>
        </p:spPr>
        <p:txBody>
          <a:bodyPr wrap="none" anchor="ctr"/>
          <a:lstStyle/>
          <a:p>
            <a:endParaRPr lang="en-US"/>
          </a:p>
        </p:txBody>
      </p:sp>
      <p:sp>
        <p:nvSpPr>
          <p:cNvPr id="33796" name="Line 5"/>
          <p:cNvSpPr>
            <a:spLocks noChangeShapeType="1"/>
          </p:cNvSpPr>
          <p:nvPr/>
        </p:nvSpPr>
        <p:spPr bwMode="auto">
          <a:xfrm>
            <a:off x="1351380" y="2827389"/>
            <a:ext cx="6400800" cy="0"/>
          </a:xfrm>
          <a:prstGeom prst="line">
            <a:avLst/>
          </a:prstGeom>
          <a:noFill/>
          <a:ln w="38100" cmpd="dbl">
            <a:solidFill>
              <a:schemeClr val="tx1"/>
            </a:solidFill>
            <a:round/>
            <a:headEnd type="none" w="sm" len="sm"/>
            <a:tailEnd type="none" w="sm" len="sm"/>
          </a:ln>
        </p:spPr>
        <p:txBody>
          <a:bodyPr wrap="none" anchor="ctr"/>
          <a:lstStyle/>
          <a:p>
            <a:endParaRPr lang="en-US"/>
          </a:p>
        </p:txBody>
      </p:sp>
      <p:sp>
        <p:nvSpPr>
          <p:cNvPr id="33797" name="Line 6"/>
          <p:cNvSpPr>
            <a:spLocks noChangeShapeType="1"/>
          </p:cNvSpPr>
          <p:nvPr/>
        </p:nvSpPr>
        <p:spPr bwMode="auto">
          <a:xfrm>
            <a:off x="7752180" y="2065389"/>
            <a:ext cx="0" cy="3276600"/>
          </a:xfrm>
          <a:prstGeom prst="line">
            <a:avLst/>
          </a:prstGeom>
          <a:noFill/>
          <a:ln w="38100" cmpd="dbl">
            <a:solidFill>
              <a:schemeClr val="tx1"/>
            </a:solidFill>
            <a:round/>
            <a:headEnd type="none" w="sm" len="sm"/>
            <a:tailEnd type="none" w="sm" len="sm"/>
          </a:ln>
        </p:spPr>
        <p:txBody>
          <a:bodyPr wrap="none" anchor="ctr"/>
          <a:lstStyle/>
          <a:p>
            <a:endParaRPr lang="en-US"/>
          </a:p>
        </p:txBody>
      </p:sp>
      <p:sp>
        <p:nvSpPr>
          <p:cNvPr id="33798" name="Line 7"/>
          <p:cNvSpPr>
            <a:spLocks noChangeShapeType="1"/>
          </p:cNvSpPr>
          <p:nvPr/>
        </p:nvSpPr>
        <p:spPr bwMode="auto">
          <a:xfrm>
            <a:off x="2265780" y="2065389"/>
            <a:ext cx="0" cy="3276600"/>
          </a:xfrm>
          <a:prstGeom prst="line">
            <a:avLst/>
          </a:prstGeom>
          <a:noFill/>
          <a:ln w="38100" cmpd="dbl">
            <a:solidFill>
              <a:schemeClr val="tx1"/>
            </a:solidFill>
            <a:round/>
            <a:headEnd type="none" w="sm" len="sm"/>
            <a:tailEnd type="none" w="sm" len="sm"/>
          </a:ln>
        </p:spPr>
        <p:txBody>
          <a:bodyPr wrap="none" anchor="ctr"/>
          <a:lstStyle/>
          <a:p>
            <a:endParaRPr lang="en-US"/>
          </a:p>
        </p:txBody>
      </p:sp>
      <p:sp>
        <p:nvSpPr>
          <p:cNvPr id="33799" name="Line 8"/>
          <p:cNvSpPr>
            <a:spLocks noChangeShapeType="1"/>
          </p:cNvSpPr>
          <p:nvPr/>
        </p:nvSpPr>
        <p:spPr bwMode="auto">
          <a:xfrm>
            <a:off x="1351380" y="5341989"/>
            <a:ext cx="6400800" cy="0"/>
          </a:xfrm>
          <a:prstGeom prst="line">
            <a:avLst/>
          </a:prstGeom>
          <a:noFill/>
          <a:ln w="38100" cmpd="dbl">
            <a:solidFill>
              <a:schemeClr val="tx1"/>
            </a:solidFill>
            <a:round/>
            <a:headEnd type="none" w="sm" len="sm"/>
            <a:tailEnd type="none" w="sm" len="sm"/>
          </a:ln>
        </p:spPr>
        <p:txBody>
          <a:bodyPr wrap="none" anchor="ctr"/>
          <a:lstStyle/>
          <a:p>
            <a:endParaRPr lang="en-US"/>
          </a:p>
        </p:txBody>
      </p:sp>
      <p:sp>
        <p:nvSpPr>
          <p:cNvPr id="33800" name="Line 9"/>
          <p:cNvSpPr>
            <a:spLocks noChangeShapeType="1"/>
          </p:cNvSpPr>
          <p:nvPr/>
        </p:nvSpPr>
        <p:spPr bwMode="auto">
          <a:xfrm>
            <a:off x="1351380" y="2827389"/>
            <a:ext cx="0" cy="2514600"/>
          </a:xfrm>
          <a:prstGeom prst="line">
            <a:avLst/>
          </a:prstGeom>
          <a:noFill/>
          <a:ln w="38100" cmpd="dbl">
            <a:solidFill>
              <a:schemeClr val="tx1"/>
            </a:solidFill>
            <a:round/>
            <a:headEnd type="none" w="sm" len="sm"/>
            <a:tailEnd type="none" w="sm" len="sm"/>
          </a:ln>
        </p:spPr>
        <p:txBody>
          <a:bodyPr wrap="none" anchor="ctr"/>
          <a:lstStyle/>
          <a:p>
            <a:endParaRPr lang="en-US"/>
          </a:p>
        </p:txBody>
      </p:sp>
      <p:sp>
        <p:nvSpPr>
          <p:cNvPr id="33801" name="Rectangle 10"/>
          <p:cNvSpPr>
            <a:spLocks noChangeArrowheads="1"/>
          </p:cNvSpPr>
          <p:nvPr/>
        </p:nvSpPr>
        <p:spPr bwMode="auto">
          <a:xfrm>
            <a:off x="573505" y="3883076"/>
            <a:ext cx="776288" cy="457200"/>
          </a:xfrm>
          <a:prstGeom prst="rect">
            <a:avLst/>
          </a:prstGeom>
          <a:noFill/>
          <a:ln w="9525">
            <a:noFill/>
            <a:miter lim="800000"/>
            <a:headEnd/>
            <a:tailEnd/>
          </a:ln>
        </p:spPr>
        <p:txBody>
          <a:bodyPr wrap="none" lIns="92075" tIns="46038" rIns="92075" bIns="46038">
            <a:spAutoFit/>
          </a:bodyPr>
          <a:lstStyle/>
          <a:p>
            <a:r>
              <a:rPr lang="en-US"/>
              <a:t>BTC</a:t>
            </a:r>
          </a:p>
        </p:txBody>
      </p:sp>
      <p:sp>
        <p:nvSpPr>
          <p:cNvPr id="33802" name="Line 11"/>
          <p:cNvSpPr>
            <a:spLocks noChangeShapeType="1"/>
          </p:cNvSpPr>
          <p:nvPr/>
        </p:nvSpPr>
        <p:spPr bwMode="auto">
          <a:xfrm>
            <a:off x="4780380" y="2065389"/>
            <a:ext cx="0" cy="3276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3803" name="Line 12"/>
          <p:cNvSpPr>
            <a:spLocks noChangeShapeType="1"/>
          </p:cNvSpPr>
          <p:nvPr/>
        </p:nvSpPr>
        <p:spPr bwMode="auto">
          <a:xfrm>
            <a:off x="1351380" y="4122789"/>
            <a:ext cx="6400800"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3804" name="Rectangle 13"/>
          <p:cNvSpPr>
            <a:spLocks noChangeArrowheads="1"/>
          </p:cNvSpPr>
          <p:nvPr/>
        </p:nvSpPr>
        <p:spPr bwMode="auto">
          <a:xfrm>
            <a:off x="1487905" y="3344914"/>
            <a:ext cx="565150" cy="457200"/>
          </a:xfrm>
          <a:prstGeom prst="rect">
            <a:avLst/>
          </a:prstGeom>
          <a:noFill/>
          <a:ln w="9525">
            <a:noFill/>
            <a:miter lim="800000"/>
            <a:headEnd/>
            <a:tailEnd/>
          </a:ln>
        </p:spPr>
        <p:txBody>
          <a:bodyPr wrap="none" lIns="92075" tIns="46038" rIns="92075" bIns="46038">
            <a:spAutoFit/>
          </a:bodyPr>
          <a:lstStyle/>
          <a:p>
            <a:r>
              <a:rPr lang="en-US"/>
              <a:t>$ 3</a:t>
            </a:r>
          </a:p>
        </p:txBody>
      </p:sp>
      <p:sp>
        <p:nvSpPr>
          <p:cNvPr id="33805" name="Rectangle 14"/>
          <p:cNvSpPr>
            <a:spLocks noChangeArrowheads="1"/>
          </p:cNvSpPr>
          <p:nvPr/>
        </p:nvSpPr>
        <p:spPr bwMode="auto">
          <a:xfrm>
            <a:off x="1564105" y="4487914"/>
            <a:ext cx="565150" cy="457200"/>
          </a:xfrm>
          <a:prstGeom prst="rect">
            <a:avLst/>
          </a:prstGeom>
          <a:noFill/>
          <a:ln w="9525">
            <a:noFill/>
            <a:miter lim="800000"/>
            <a:headEnd/>
            <a:tailEnd/>
          </a:ln>
        </p:spPr>
        <p:txBody>
          <a:bodyPr wrap="none" lIns="92075" tIns="46038" rIns="92075" bIns="46038">
            <a:spAutoFit/>
          </a:bodyPr>
          <a:lstStyle/>
          <a:p>
            <a:r>
              <a:rPr lang="en-US"/>
              <a:t>$ 4</a:t>
            </a:r>
          </a:p>
        </p:txBody>
      </p:sp>
      <p:sp>
        <p:nvSpPr>
          <p:cNvPr id="33806" name="Rectangle 15"/>
          <p:cNvSpPr>
            <a:spLocks noChangeArrowheads="1"/>
          </p:cNvSpPr>
          <p:nvPr/>
        </p:nvSpPr>
        <p:spPr bwMode="auto">
          <a:xfrm>
            <a:off x="2935705" y="2201914"/>
            <a:ext cx="565150" cy="457200"/>
          </a:xfrm>
          <a:prstGeom prst="rect">
            <a:avLst/>
          </a:prstGeom>
          <a:noFill/>
          <a:ln w="9525">
            <a:noFill/>
            <a:miter lim="800000"/>
            <a:headEnd/>
            <a:tailEnd/>
          </a:ln>
        </p:spPr>
        <p:txBody>
          <a:bodyPr wrap="none" lIns="92075" tIns="46038" rIns="92075" bIns="46038">
            <a:spAutoFit/>
          </a:bodyPr>
          <a:lstStyle/>
          <a:p>
            <a:r>
              <a:rPr lang="en-US"/>
              <a:t>$ 3</a:t>
            </a:r>
          </a:p>
        </p:txBody>
      </p:sp>
      <p:sp>
        <p:nvSpPr>
          <p:cNvPr id="33807" name="Rectangle 16"/>
          <p:cNvSpPr>
            <a:spLocks noChangeArrowheads="1"/>
          </p:cNvSpPr>
          <p:nvPr/>
        </p:nvSpPr>
        <p:spPr bwMode="auto">
          <a:xfrm>
            <a:off x="5450305" y="2201914"/>
            <a:ext cx="565150" cy="457200"/>
          </a:xfrm>
          <a:prstGeom prst="rect">
            <a:avLst/>
          </a:prstGeom>
          <a:noFill/>
          <a:ln w="9525">
            <a:noFill/>
            <a:miter lim="800000"/>
            <a:headEnd/>
            <a:tailEnd/>
          </a:ln>
        </p:spPr>
        <p:txBody>
          <a:bodyPr wrap="none" lIns="92075" tIns="46038" rIns="92075" bIns="46038">
            <a:spAutoFit/>
          </a:bodyPr>
          <a:lstStyle/>
          <a:p>
            <a:r>
              <a:rPr lang="en-US"/>
              <a:t>$ 4</a:t>
            </a:r>
          </a:p>
        </p:txBody>
      </p:sp>
      <p:sp>
        <p:nvSpPr>
          <p:cNvPr id="33808" name="Rectangle 17"/>
          <p:cNvSpPr>
            <a:spLocks noChangeArrowheads="1"/>
          </p:cNvSpPr>
          <p:nvPr/>
        </p:nvSpPr>
        <p:spPr bwMode="auto">
          <a:xfrm>
            <a:off x="2326105" y="3502076"/>
            <a:ext cx="1200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BTC: </a:t>
            </a:r>
          </a:p>
          <a:p>
            <a:pPr>
              <a:lnSpc>
                <a:spcPct val="85000"/>
              </a:lnSpc>
            </a:pPr>
            <a:r>
              <a:rPr lang="en-US" sz="2000"/>
              <a:t>$ 212,550</a:t>
            </a:r>
          </a:p>
        </p:txBody>
      </p:sp>
      <p:sp>
        <p:nvSpPr>
          <p:cNvPr id="33809" name="Rectangle 18"/>
          <p:cNvSpPr>
            <a:spLocks noChangeArrowheads="1"/>
          </p:cNvSpPr>
          <p:nvPr/>
        </p:nvSpPr>
        <p:spPr bwMode="auto">
          <a:xfrm>
            <a:off x="2326105" y="4721276"/>
            <a:ext cx="1200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BTC: </a:t>
            </a:r>
          </a:p>
          <a:p>
            <a:pPr>
              <a:lnSpc>
                <a:spcPct val="85000"/>
              </a:lnSpc>
            </a:pPr>
            <a:r>
              <a:rPr lang="en-US" sz="2000"/>
              <a:t>$ 198,000</a:t>
            </a:r>
          </a:p>
        </p:txBody>
      </p:sp>
      <p:sp>
        <p:nvSpPr>
          <p:cNvPr id="33810" name="Rectangle 19"/>
          <p:cNvSpPr>
            <a:spLocks noChangeArrowheads="1"/>
          </p:cNvSpPr>
          <p:nvPr/>
        </p:nvSpPr>
        <p:spPr bwMode="auto">
          <a:xfrm>
            <a:off x="4840705" y="3502076"/>
            <a:ext cx="1200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BTC: </a:t>
            </a:r>
          </a:p>
          <a:p>
            <a:pPr>
              <a:lnSpc>
                <a:spcPct val="85000"/>
              </a:lnSpc>
            </a:pPr>
            <a:r>
              <a:rPr lang="en-US" sz="2000"/>
              <a:t>$ 332,000</a:t>
            </a:r>
          </a:p>
        </p:txBody>
      </p:sp>
      <p:sp>
        <p:nvSpPr>
          <p:cNvPr id="33811" name="Rectangle 20"/>
          <p:cNvSpPr>
            <a:spLocks noChangeArrowheads="1"/>
          </p:cNvSpPr>
          <p:nvPr/>
        </p:nvSpPr>
        <p:spPr bwMode="auto">
          <a:xfrm>
            <a:off x="4840705" y="4721276"/>
            <a:ext cx="1200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BTC: </a:t>
            </a:r>
          </a:p>
          <a:p>
            <a:pPr>
              <a:lnSpc>
                <a:spcPct val="85000"/>
              </a:lnSpc>
            </a:pPr>
            <a:r>
              <a:rPr lang="en-US" sz="2000"/>
              <a:t>$ 266,800</a:t>
            </a:r>
          </a:p>
        </p:txBody>
      </p:sp>
      <p:sp>
        <p:nvSpPr>
          <p:cNvPr id="33812" name="Rectangle 21"/>
          <p:cNvSpPr>
            <a:spLocks noChangeArrowheads="1"/>
          </p:cNvSpPr>
          <p:nvPr/>
        </p:nvSpPr>
        <p:spPr bwMode="auto">
          <a:xfrm>
            <a:off x="3545305" y="2892476"/>
            <a:ext cx="1200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C&amp;P: </a:t>
            </a:r>
          </a:p>
          <a:p>
            <a:pPr>
              <a:lnSpc>
                <a:spcPct val="85000"/>
              </a:lnSpc>
            </a:pPr>
            <a:r>
              <a:rPr lang="en-US" sz="2000"/>
              <a:t>$ 166,800</a:t>
            </a:r>
          </a:p>
        </p:txBody>
      </p:sp>
      <p:sp>
        <p:nvSpPr>
          <p:cNvPr id="33813" name="Rectangle 22"/>
          <p:cNvSpPr>
            <a:spLocks noChangeArrowheads="1"/>
          </p:cNvSpPr>
          <p:nvPr/>
        </p:nvSpPr>
        <p:spPr bwMode="auto">
          <a:xfrm>
            <a:off x="6440905" y="2892476"/>
            <a:ext cx="1073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C&amp;P: </a:t>
            </a:r>
          </a:p>
          <a:p>
            <a:pPr>
              <a:lnSpc>
                <a:spcPct val="85000"/>
              </a:lnSpc>
            </a:pPr>
            <a:r>
              <a:rPr lang="en-US" sz="2000"/>
              <a:t>$ 62,500</a:t>
            </a:r>
          </a:p>
        </p:txBody>
      </p:sp>
      <p:sp>
        <p:nvSpPr>
          <p:cNvPr id="33814" name="Rectangle 23"/>
          <p:cNvSpPr>
            <a:spLocks noChangeArrowheads="1"/>
          </p:cNvSpPr>
          <p:nvPr/>
        </p:nvSpPr>
        <p:spPr bwMode="auto">
          <a:xfrm>
            <a:off x="3621505" y="4187876"/>
            <a:ext cx="1200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C&amp;P: </a:t>
            </a:r>
          </a:p>
          <a:p>
            <a:pPr>
              <a:lnSpc>
                <a:spcPct val="85000"/>
              </a:lnSpc>
            </a:pPr>
            <a:r>
              <a:rPr lang="en-US" sz="2000"/>
              <a:t>$ 258,300</a:t>
            </a:r>
          </a:p>
        </p:txBody>
      </p:sp>
      <p:sp>
        <p:nvSpPr>
          <p:cNvPr id="33815" name="Rectangle 24"/>
          <p:cNvSpPr>
            <a:spLocks noChangeArrowheads="1"/>
          </p:cNvSpPr>
          <p:nvPr/>
        </p:nvSpPr>
        <p:spPr bwMode="auto">
          <a:xfrm>
            <a:off x="6517105" y="4187876"/>
            <a:ext cx="1200150" cy="609600"/>
          </a:xfrm>
          <a:prstGeom prst="rect">
            <a:avLst/>
          </a:prstGeom>
          <a:noFill/>
          <a:ln w="9525">
            <a:noFill/>
            <a:miter lim="800000"/>
            <a:headEnd/>
            <a:tailEnd/>
          </a:ln>
        </p:spPr>
        <p:txBody>
          <a:bodyPr wrap="none" lIns="92075" tIns="46038" rIns="92075" bIns="46038">
            <a:spAutoFit/>
          </a:bodyPr>
          <a:lstStyle/>
          <a:p>
            <a:pPr>
              <a:lnSpc>
                <a:spcPct val="85000"/>
              </a:lnSpc>
            </a:pPr>
            <a:r>
              <a:rPr lang="en-US" sz="2000"/>
              <a:t>C&amp;P: </a:t>
            </a:r>
          </a:p>
          <a:p>
            <a:pPr>
              <a:lnSpc>
                <a:spcPct val="85000"/>
              </a:lnSpc>
            </a:pPr>
            <a:r>
              <a:rPr lang="en-US" sz="2000"/>
              <a:t>$ 211,200</a:t>
            </a:r>
          </a:p>
        </p:txBody>
      </p:sp>
      <p:sp>
        <p:nvSpPr>
          <p:cNvPr id="33816" name="Rectangle 27"/>
          <p:cNvSpPr>
            <a:spLocks noChangeArrowheads="1"/>
          </p:cNvSpPr>
          <p:nvPr/>
        </p:nvSpPr>
        <p:spPr bwMode="auto">
          <a:xfrm>
            <a:off x="4383505" y="1520876"/>
            <a:ext cx="793750" cy="457200"/>
          </a:xfrm>
          <a:prstGeom prst="rect">
            <a:avLst/>
          </a:prstGeom>
          <a:noFill/>
          <a:ln w="9525">
            <a:noFill/>
            <a:miter lim="800000"/>
            <a:headEnd/>
            <a:tailEnd/>
          </a:ln>
        </p:spPr>
        <p:txBody>
          <a:bodyPr wrap="none" lIns="92075" tIns="46038" rIns="92075" bIns="46038">
            <a:spAutoFit/>
          </a:bodyPr>
          <a:lstStyle/>
          <a:p>
            <a:r>
              <a:rPr lang="en-US"/>
              <a:t>C&amp;P</a:t>
            </a:r>
          </a:p>
        </p:txBody>
      </p:sp>
      <p:sp>
        <p:nvSpPr>
          <p:cNvPr id="33817" name="Text Box 28"/>
          <p:cNvSpPr txBox="1">
            <a:spLocks noChangeArrowheads="1"/>
          </p:cNvSpPr>
          <p:nvPr/>
        </p:nvSpPr>
        <p:spPr bwMode="auto">
          <a:xfrm>
            <a:off x="1143000" y="5867400"/>
            <a:ext cx="3222037" cy="459100"/>
          </a:xfrm>
          <a:prstGeom prst="rect">
            <a:avLst/>
          </a:prstGeom>
          <a:noFill/>
          <a:ln w="12700">
            <a:noFill/>
            <a:miter lim="800000"/>
            <a:headEnd/>
            <a:tailEnd/>
          </a:ln>
        </p:spPr>
        <p:txBody>
          <a:bodyPr wrap="none" lIns="90488" tIns="44450" rIns="90488" bIns="44450">
            <a:spAutoFit/>
          </a:bodyPr>
          <a:lstStyle/>
          <a:p>
            <a:r>
              <a:rPr lang="en-US" dirty="0"/>
              <a:t>See appendix for details.</a:t>
            </a:r>
          </a:p>
        </p:txBody>
      </p:sp>
      <p:sp>
        <p:nvSpPr>
          <p:cNvPr id="2" name="Slide Number Placeholder 1"/>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32</a:t>
            </a:fld>
            <a:endParaRPr lang="en-US"/>
          </a:p>
        </p:txBody>
      </p:sp>
    </p:spTree>
    <p:extLst>
      <p:ext uri="{BB962C8B-B14F-4D97-AF65-F5344CB8AC3E}">
        <p14:creationId xmlns:p14="http://schemas.microsoft.com/office/powerpoint/2010/main" val="20475442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43"/>
          <p:cNvSpPr>
            <a:spLocks noGrp="1" noChangeArrowheads="1"/>
          </p:cNvSpPr>
          <p:nvPr>
            <p:ph type="title"/>
          </p:nvPr>
        </p:nvSpPr>
        <p:spPr/>
        <p:txBody>
          <a:bodyPr/>
          <a:lstStyle/>
          <a:p>
            <a:r>
              <a:rPr lang="en-US" sz="4000" dirty="0"/>
              <a:t>Reaction Functions</a:t>
            </a:r>
          </a:p>
        </p:txBody>
      </p:sp>
      <p:sp>
        <p:nvSpPr>
          <p:cNvPr id="34819" name="Rectangle 1028"/>
          <p:cNvSpPr>
            <a:spLocks noChangeArrowheads="1"/>
          </p:cNvSpPr>
          <p:nvPr/>
        </p:nvSpPr>
        <p:spPr bwMode="auto">
          <a:xfrm>
            <a:off x="3810000" y="6400800"/>
            <a:ext cx="742950" cy="457200"/>
          </a:xfrm>
          <a:prstGeom prst="rect">
            <a:avLst/>
          </a:prstGeom>
          <a:noFill/>
          <a:ln w="9525">
            <a:noFill/>
            <a:miter lim="800000"/>
            <a:headEnd/>
            <a:tailEnd/>
          </a:ln>
        </p:spPr>
        <p:txBody>
          <a:bodyPr wrap="none" lIns="92075" tIns="46038" rIns="92075" bIns="46038">
            <a:spAutoFit/>
          </a:bodyPr>
          <a:lstStyle/>
          <a:p>
            <a:r>
              <a:rPr lang="en-US" i="1"/>
              <a:t>BTC</a:t>
            </a:r>
          </a:p>
        </p:txBody>
      </p:sp>
      <p:sp>
        <p:nvSpPr>
          <p:cNvPr id="34820" name="Line 1029"/>
          <p:cNvSpPr>
            <a:spLocks noChangeShapeType="1"/>
          </p:cNvSpPr>
          <p:nvPr/>
        </p:nvSpPr>
        <p:spPr bwMode="auto">
          <a:xfrm>
            <a:off x="2225675" y="2759075"/>
            <a:ext cx="0" cy="3392488"/>
          </a:xfrm>
          <a:prstGeom prst="line">
            <a:avLst/>
          </a:prstGeom>
          <a:noFill/>
          <a:ln w="12700">
            <a:solidFill>
              <a:schemeClr val="tx1"/>
            </a:solidFill>
            <a:round/>
            <a:headEnd type="stealth" w="med" len="lg"/>
            <a:tailEnd type="none" w="sm" len="sm"/>
          </a:ln>
        </p:spPr>
        <p:txBody>
          <a:bodyPr wrap="none" anchor="ctr"/>
          <a:lstStyle/>
          <a:p>
            <a:endParaRPr lang="en-US"/>
          </a:p>
        </p:txBody>
      </p:sp>
      <p:sp>
        <p:nvSpPr>
          <p:cNvPr id="34821" name="Line 1030"/>
          <p:cNvSpPr>
            <a:spLocks noChangeShapeType="1"/>
          </p:cNvSpPr>
          <p:nvPr/>
        </p:nvSpPr>
        <p:spPr bwMode="auto">
          <a:xfrm>
            <a:off x="2225675" y="6151563"/>
            <a:ext cx="4648200" cy="0"/>
          </a:xfrm>
          <a:prstGeom prst="line">
            <a:avLst/>
          </a:prstGeom>
          <a:noFill/>
          <a:ln w="12700">
            <a:solidFill>
              <a:schemeClr val="tx1"/>
            </a:solidFill>
            <a:round/>
            <a:headEnd type="none" w="sm" len="sm"/>
            <a:tailEnd type="stealth" w="med" len="lg"/>
          </a:ln>
        </p:spPr>
        <p:txBody>
          <a:bodyPr wrap="none" anchor="ctr"/>
          <a:lstStyle/>
          <a:p>
            <a:endParaRPr lang="en-US"/>
          </a:p>
        </p:txBody>
      </p:sp>
      <p:sp>
        <p:nvSpPr>
          <p:cNvPr id="34822" name="Rectangle 1031"/>
          <p:cNvSpPr>
            <a:spLocks noChangeArrowheads="1"/>
          </p:cNvSpPr>
          <p:nvPr/>
        </p:nvSpPr>
        <p:spPr bwMode="auto">
          <a:xfrm>
            <a:off x="2819400" y="6221413"/>
            <a:ext cx="565150" cy="457200"/>
          </a:xfrm>
          <a:prstGeom prst="rect">
            <a:avLst/>
          </a:prstGeom>
          <a:noFill/>
          <a:ln w="9525">
            <a:noFill/>
            <a:miter lim="800000"/>
            <a:headEnd/>
            <a:tailEnd/>
          </a:ln>
        </p:spPr>
        <p:txBody>
          <a:bodyPr wrap="none" lIns="92075" tIns="46038" rIns="92075" bIns="46038">
            <a:spAutoFit/>
          </a:bodyPr>
          <a:lstStyle/>
          <a:p>
            <a:r>
              <a:rPr lang="en-US"/>
              <a:t>$ 3</a:t>
            </a:r>
          </a:p>
        </p:txBody>
      </p:sp>
      <p:sp>
        <p:nvSpPr>
          <p:cNvPr id="34823" name="Rectangle 1032"/>
          <p:cNvSpPr>
            <a:spLocks noChangeArrowheads="1"/>
          </p:cNvSpPr>
          <p:nvPr/>
        </p:nvSpPr>
        <p:spPr bwMode="auto">
          <a:xfrm>
            <a:off x="5029200" y="6248400"/>
            <a:ext cx="565150" cy="457200"/>
          </a:xfrm>
          <a:prstGeom prst="rect">
            <a:avLst/>
          </a:prstGeom>
          <a:noFill/>
          <a:ln w="9525">
            <a:noFill/>
            <a:miter lim="800000"/>
            <a:headEnd/>
            <a:tailEnd/>
          </a:ln>
        </p:spPr>
        <p:txBody>
          <a:bodyPr wrap="none" lIns="92075" tIns="46038" rIns="92075" bIns="46038">
            <a:spAutoFit/>
          </a:bodyPr>
          <a:lstStyle/>
          <a:p>
            <a:r>
              <a:rPr lang="en-US"/>
              <a:t>$ 4</a:t>
            </a:r>
          </a:p>
        </p:txBody>
      </p:sp>
      <p:sp>
        <p:nvSpPr>
          <p:cNvPr id="34824" name="Rectangle 1033"/>
          <p:cNvSpPr>
            <a:spLocks noChangeArrowheads="1"/>
          </p:cNvSpPr>
          <p:nvPr/>
        </p:nvSpPr>
        <p:spPr bwMode="auto">
          <a:xfrm>
            <a:off x="1371600" y="3200400"/>
            <a:ext cx="565150" cy="457200"/>
          </a:xfrm>
          <a:prstGeom prst="rect">
            <a:avLst/>
          </a:prstGeom>
          <a:noFill/>
          <a:ln w="9525">
            <a:noFill/>
            <a:miter lim="800000"/>
            <a:headEnd/>
            <a:tailEnd/>
          </a:ln>
        </p:spPr>
        <p:txBody>
          <a:bodyPr wrap="none" lIns="92075" tIns="46038" rIns="92075" bIns="46038">
            <a:spAutoFit/>
          </a:bodyPr>
          <a:lstStyle/>
          <a:p>
            <a:r>
              <a:rPr lang="en-US"/>
              <a:t>$ 4</a:t>
            </a:r>
          </a:p>
        </p:txBody>
      </p:sp>
      <p:sp>
        <p:nvSpPr>
          <p:cNvPr id="34825" name="Rectangle 1034"/>
          <p:cNvSpPr>
            <a:spLocks noChangeArrowheads="1"/>
          </p:cNvSpPr>
          <p:nvPr/>
        </p:nvSpPr>
        <p:spPr bwMode="auto">
          <a:xfrm>
            <a:off x="1447800" y="4876800"/>
            <a:ext cx="565150" cy="457200"/>
          </a:xfrm>
          <a:prstGeom prst="rect">
            <a:avLst/>
          </a:prstGeom>
          <a:noFill/>
          <a:ln w="9525">
            <a:noFill/>
            <a:miter lim="800000"/>
            <a:headEnd/>
            <a:tailEnd/>
          </a:ln>
        </p:spPr>
        <p:txBody>
          <a:bodyPr wrap="none" lIns="92075" tIns="46038" rIns="92075" bIns="46038">
            <a:spAutoFit/>
          </a:bodyPr>
          <a:lstStyle/>
          <a:p>
            <a:r>
              <a:rPr lang="en-US"/>
              <a:t>$ 3</a:t>
            </a:r>
          </a:p>
        </p:txBody>
      </p:sp>
      <p:sp>
        <p:nvSpPr>
          <p:cNvPr id="34826" name="Rectangle 1035"/>
          <p:cNvSpPr>
            <a:spLocks noChangeArrowheads="1"/>
          </p:cNvSpPr>
          <p:nvPr/>
        </p:nvSpPr>
        <p:spPr bwMode="auto">
          <a:xfrm>
            <a:off x="838200" y="4191000"/>
            <a:ext cx="963613" cy="457200"/>
          </a:xfrm>
          <a:prstGeom prst="rect">
            <a:avLst/>
          </a:prstGeom>
          <a:noFill/>
          <a:ln w="9525">
            <a:noFill/>
            <a:miter lim="800000"/>
            <a:headEnd/>
            <a:tailEnd/>
          </a:ln>
        </p:spPr>
        <p:txBody>
          <a:bodyPr wrap="none" lIns="92075" tIns="46038" rIns="92075" bIns="46038">
            <a:spAutoFit/>
          </a:bodyPr>
          <a:lstStyle/>
          <a:p>
            <a:r>
              <a:rPr lang="en-US" i="1"/>
              <a:t>C &amp; P</a:t>
            </a:r>
          </a:p>
        </p:txBody>
      </p:sp>
      <p:sp>
        <p:nvSpPr>
          <p:cNvPr id="34827" name="Line 1036"/>
          <p:cNvSpPr>
            <a:spLocks noChangeShapeType="1"/>
          </p:cNvSpPr>
          <p:nvPr/>
        </p:nvSpPr>
        <p:spPr bwMode="auto">
          <a:xfrm>
            <a:off x="2225675" y="5045075"/>
            <a:ext cx="4191000"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4828" name="Line 1037"/>
          <p:cNvSpPr>
            <a:spLocks noChangeShapeType="1"/>
          </p:cNvSpPr>
          <p:nvPr/>
        </p:nvSpPr>
        <p:spPr bwMode="auto">
          <a:xfrm flipV="1">
            <a:off x="3140075" y="2835275"/>
            <a:ext cx="0" cy="32766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34829" name="Line 1038"/>
          <p:cNvSpPr>
            <a:spLocks noChangeShapeType="1"/>
          </p:cNvSpPr>
          <p:nvPr/>
        </p:nvSpPr>
        <p:spPr bwMode="auto">
          <a:xfrm flipV="1">
            <a:off x="4816475" y="4359275"/>
            <a:ext cx="304800" cy="685800"/>
          </a:xfrm>
          <a:prstGeom prst="line">
            <a:avLst/>
          </a:prstGeom>
          <a:noFill/>
          <a:ln w="12700">
            <a:solidFill>
              <a:schemeClr val="tx1"/>
            </a:solidFill>
            <a:round/>
            <a:headEnd type="stealth" w="med" len="med"/>
            <a:tailEnd type="none" w="sm" len="sm"/>
          </a:ln>
        </p:spPr>
        <p:txBody>
          <a:bodyPr wrap="none" anchor="ctr"/>
          <a:lstStyle/>
          <a:p>
            <a:endParaRPr lang="en-US"/>
          </a:p>
        </p:txBody>
      </p:sp>
      <p:sp>
        <p:nvSpPr>
          <p:cNvPr id="34830" name="Rectangle 1039"/>
          <p:cNvSpPr>
            <a:spLocks noChangeArrowheads="1"/>
          </p:cNvSpPr>
          <p:nvPr/>
        </p:nvSpPr>
        <p:spPr bwMode="auto">
          <a:xfrm>
            <a:off x="4800600" y="3886200"/>
            <a:ext cx="3514725" cy="457200"/>
          </a:xfrm>
          <a:prstGeom prst="rect">
            <a:avLst/>
          </a:prstGeom>
          <a:noFill/>
          <a:ln w="9525">
            <a:noFill/>
            <a:miter lim="800000"/>
            <a:headEnd/>
            <a:tailEnd/>
          </a:ln>
        </p:spPr>
        <p:txBody>
          <a:bodyPr wrap="none" lIns="92075" tIns="46038" rIns="92075" bIns="46038">
            <a:spAutoFit/>
          </a:bodyPr>
          <a:lstStyle/>
          <a:p>
            <a:r>
              <a:rPr lang="en-US" i="1"/>
              <a:t>C &amp; P’s Reaction Function</a:t>
            </a:r>
          </a:p>
        </p:txBody>
      </p:sp>
      <p:sp>
        <p:nvSpPr>
          <p:cNvPr id="34831" name="Rectangle 1040"/>
          <p:cNvSpPr>
            <a:spLocks noChangeArrowheads="1"/>
          </p:cNvSpPr>
          <p:nvPr/>
        </p:nvSpPr>
        <p:spPr bwMode="auto">
          <a:xfrm>
            <a:off x="3886200" y="2743200"/>
            <a:ext cx="3295650" cy="457200"/>
          </a:xfrm>
          <a:prstGeom prst="rect">
            <a:avLst/>
          </a:prstGeom>
          <a:noFill/>
          <a:ln w="9525">
            <a:noFill/>
            <a:miter lim="800000"/>
            <a:headEnd/>
            <a:tailEnd/>
          </a:ln>
        </p:spPr>
        <p:txBody>
          <a:bodyPr wrap="none" lIns="92075" tIns="46038" rIns="92075" bIns="46038">
            <a:spAutoFit/>
          </a:bodyPr>
          <a:lstStyle/>
          <a:p>
            <a:r>
              <a:rPr lang="en-US" i="1"/>
              <a:t>BTC’s Reaction Function</a:t>
            </a:r>
          </a:p>
        </p:txBody>
      </p:sp>
      <p:sp>
        <p:nvSpPr>
          <p:cNvPr id="34832" name="Line 1041"/>
          <p:cNvSpPr>
            <a:spLocks noChangeShapeType="1"/>
          </p:cNvSpPr>
          <p:nvPr/>
        </p:nvSpPr>
        <p:spPr bwMode="auto">
          <a:xfrm flipV="1">
            <a:off x="3216275" y="3140075"/>
            <a:ext cx="762000" cy="381000"/>
          </a:xfrm>
          <a:prstGeom prst="line">
            <a:avLst/>
          </a:prstGeom>
          <a:noFill/>
          <a:ln w="12700">
            <a:solidFill>
              <a:schemeClr val="tx1"/>
            </a:solidFill>
            <a:round/>
            <a:headEnd type="stealth" w="med" len="med"/>
            <a:tailEnd type="none" w="sm" len="sm"/>
          </a:ln>
        </p:spPr>
        <p:txBody>
          <a:bodyPr wrap="none" anchor="ctr"/>
          <a:lstStyle/>
          <a:p>
            <a:endParaRPr lang="en-US"/>
          </a:p>
        </p:txBody>
      </p:sp>
      <p:sp>
        <p:nvSpPr>
          <p:cNvPr id="34833" name="Text Box 1044"/>
          <p:cNvSpPr txBox="1">
            <a:spLocks noChangeArrowheads="1"/>
          </p:cNvSpPr>
          <p:nvPr/>
        </p:nvSpPr>
        <p:spPr bwMode="auto">
          <a:xfrm>
            <a:off x="1066800" y="1600200"/>
            <a:ext cx="7664450" cy="819150"/>
          </a:xfrm>
          <a:prstGeom prst="rect">
            <a:avLst/>
          </a:prstGeom>
          <a:noFill/>
          <a:ln w="12700">
            <a:noFill/>
            <a:miter lim="800000"/>
            <a:headEnd/>
            <a:tailEnd/>
          </a:ln>
        </p:spPr>
        <p:txBody>
          <a:bodyPr wrap="none" lIns="90488" tIns="44450" rIns="90488" bIns="44450">
            <a:spAutoFit/>
          </a:bodyPr>
          <a:lstStyle/>
          <a:p>
            <a:pPr>
              <a:buFontTx/>
              <a:buChar char="•"/>
            </a:pPr>
            <a:r>
              <a:rPr lang="en-US"/>
              <a:t> For every possible price by BTC, what is C&amp;P’s best price?</a:t>
            </a:r>
          </a:p>
          <a:p>
            <a:pPr>
              <a:buFontTx/>
              <a:buChar char="•"/>
            </a:pPr>
            <a:r>
              <a:rPr lang="en-US"/>
              <a:t> For every possible price by C&amp;P, what is BTC’s best price?</a:t>
            </a:r>
          </a:p>
        </p:txBody>
      </p:sp>
      <p:sp>
        <p:nvSpPr>
          <p:cNvPr id="2" name="Slide Number Placeholder 1"/>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33</a:t>
            </a:fld>
            <a:endParaRPr lang="en-US"/>
          </a:p>
        </p:txBody>
      </p:sp>
    </p:spTree>
    <p:extLst>
      <p:ext uri="{BB962C8B-B14F-4D97-AF65-F5344CB8AC3E}">
        <p14:creationId xmlns:p14="http://schemas.microsoft.com/office/powerpoint/2010/main" val="1540385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9"/>
          <p:cNvSpPr>
            <a:spLocks noGrp="1" noChangeArrowheads="1"/>
          </p:cNvSpPr>
          <p:nvPr>
            <p:ph type="title"/>
          </p:nvPr>
        </p:nvSpPr>
        <p:spPr/>
        <p:txBody>
          <a:bodyPr/>
          <a:lstStyle/>
          <a:p>
            <a:r>
              <a:rPr lang="en-US" dirty="0"/>
              <a:t>Equilibrium </a:t>
            </a:r>
          </a:p>
        </p:txBody>
      </p:sp>
      <p:sp>
        <p:nvSpPr>
          <p:cNvPr id="40966" name="Rectangle 1030"/>
          <p:cNvSpPr>
            <a:spLocks noGrp="1" noChangeArrowheads="1"/>
          </p:cNvSpPr>
          <p:nvPr>
            <p:ph sz="quarter" idx="1"/>
          </p:nvPr>
        </p:nvSpPr>
        <p:spPr/>
        <p:txBody>
          <a:bodyPr/>
          <a:lstStyle/>
          <a:p>
            <a:pPr>
              <a:lnSpc>
                <a:spcPct val="90000"/>
              </a:lnSpc>
              <a:spcAft>
                <a:spcPts val="600"/>
              </a:spcAft>
              <a:defRPr/>
            </a:pPr>
            <a:endParaRPr lang="en-US" sz="2400" dirty="0">
              <a:latin typeface="+mj-lt"/>
            </a:endParaRPr>
          </a:p>
          <a:p>
            <a:pPr>
              <a:lnSpc>
                <a:spcPct val="90000"/>
              </a:lnSpc>
              <a:spcAft>
                <a:spcPts val="600"/>
              </a:spcAft>
              <a:defRPr/>
            </a:pPr>
            <a:endParaRPr lang="en-US" dirty="0"/>
          </a:p>
          <a:p>
            <a:pPr>
              <a:lnSpc>
                <a:spcPct val="90000"/>
              </a:lnSpc>
              <a:spcAft>
                <a:spcPts val="600"/>
              </a:spcAft>
              <a:defRPr/>
            </a:pPr>
            <a:r>
              <a:rPr lang="en-US" sz="2400" dirty="0">
                <a:latin typeface="+mj-lt"/>
              </a:rPr>
              <a:t>For both BTC and C&amp;P, choosing $ 3 is the optimal strategy, irrespective of the competitor’s price</a:t>
            </a:r>
          </a:p>
          <a:p>
            <a:pPr lvl="1">
              <a:lnSpc>
                <a:spcPct val="90000"/>
              </a:lnSpc>
              <a:spcAft>
                <a:spcPts val="1800"/>
              </a:spcAft>
              <a:defRPr/>
            </a:pPr>
            <a:r>
              <a:rPr lang="en-US" sz="2400" dirty="0">
                <a:latin typeface="+mj-lt"/>
              </a:rPr>
              <a:t> $ 3 is a </a:t>
            </a:r>
            <a:r>
              <a:rPr lang="en-US" sz="2400" i="1" dirty="0">
                <a:latin typeface="+mj-lt"/>
              </a:rPr>
              <a:t>dominant strategy</a:t>
            </a:r>
            <a:r>
              <a:rPr lang="en-US" sz="2400" dirty="0">
                <a:latin typeface="+mj-lt"/>
              </a:rPr>
              <a:t> for both BTC and C&amp;P</a:t>
            </a:r>
          </a:p>
          <a:p>
            <a:pPr>
              <a:lnSpc>
                <a:spcPct val="90000"/>
              </a:lnSpc>
              <a:spcBef>
                <a:spcPts val="1800"/>
              </a:spcBef>
              <a:spcAft>
                <a:spcPts val="1200"/>
              </a:spcAft>
              <a:defRPr/>
            </a:pPr>
            <a:r>
              <a:rPr lang="en-US" sz="2400" dirty="0">
                <a:latin typeface="+mj-lt"/>
              </a:rPr>
              <a:t>Nash equilibrium: (BTC: $3, C&amp;P: $3) -- neither BTC nor C&amp;P will deviate from $3 pricing strategy</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34</a:t>
            </a:fld>
            <a:endParaRPr lang="en-US"/>
          </a:p>
        </p:txBody>
      </p:sp>
    </p:spTree>
    <p:extLst>
      <p:ext uri="{BB962C8B-B14F-4D97-AF65-F5344CB8AC3E}">
        <p14:creationId xmlns:p14="http://schemas.microsoft.com/office/powerpoint/2010/main" val="1260758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8"/>
          <p:cNvSpPr>
            <a:spLocks noGrp="1" noChangeArrowheads="1"/>
          </p:cNvSpPr>
          <p:nvPr>
            <p:ph type="title"/>
          </p:nvPr>
        </p:nvSpPr>
        <p:spPr/>
        <p:txBody>
          <a:bodyPr/>
          <a:lstStyle/>
          <a:p>
            <a:r>
              <a:rPr lang="en-US" dirty="0"/>
              <a:t>Raising Industry Prices</a:t>
            </a:r>
          </a:p>
        </p:txBody>
      </p:sp>
      <p:sp>
        <p:nvSpPr>
          <p:cNvPr id="41989" name="Rectangle 1029"/>
          <p:cNvSpPr>
            <a:spLocks noGrp="1" noChangeArrowheads="1"/>
          </p:cNvSpPr>
          <p:nvPr>
            <p:ph sz="quarter" idx="1"/>
          </p:nvPr>
        </p:nvSpPr>
        <p:spPr>
          <a:xfrm>
            <a:off x="612648" y="1600200"/>
            <a:ext cx="8153400" cy="4800600"/>
          </a:xfrm>
        </p:spPr>
        <p:txBody>
          <a:bodyPr/>
          <a:lstStyle/>
          <a:p>
            <a:pPr>
              <a:lnSpc>
                <a:spcPct val="90000"/>
              </a:lnSpc>
              <a:spcAft>
                <a:spcPts val="600"/>
              </a:spcAft>
              <a:defRPr/>
            </a:pPr>
            <a:endParaRPr lang="en-US" sz="2400" dirty="0">
              <a:latin typeface="+mj-lt"/>
            </a:endParaRPr>
          </a:p>
          <a:p>
            <a:pPr>
              <a:lnSpc>
                <a:spcPct val="90000"/>
              </a:lnSpc>
              <a:spcAft>
                <a:spcPts val="600"/>
              </a:spcAft>
              <a:defRPr/>
            </a:pPr>
            <a:r>
              <a:rPr lang="en-US" sz="2400" dirty="0">
                <a:latin typeface="+mj-lt"/>
              </a:rPr>
              <a:t>In the Nash equilibrium, pay-offs of BTC and C&amp;P are:</a:t>
            </a:r>
          </a:p>
          <a:p>
            <a:pPr lvl="1">
              <a:lnSpc>
                <a:spcPct val="90000"/>
              </a:lnSpc>
              <a:spcAft>
                <a:spcPts val="600"/>
              </a:spcAft>
              <a:defRPr/>
            </a:pPr>
            <a:r>
              <a:rPr lang="en-US" sz="2400" dirty="0">
                <a:latin typeface="+mj-lt"/>
              </a:rPr>
              <a:t> 	BTC: $ 212,550             C&amp;P: $ 166,800</a:t>
            </a:r>
          </a:p>
          <a:p>
            <a:pPr lvl="1">
              <a:lnSpc>
                <a:spcPct val="90000"/>
              </a:lnSpc>
              <a:spcAft>
                <a:spcPts val="1800"/>
              </a:spcAft>
              <a:defRPr/>
            </a:pPr>
            <a:r>
              <a:rPr lang="en-US" sz="2400" dirty="0">
                <a:latin typeface="+mj-lt"/>
              </a:rPr>
              <a:t> 	Total Industry Profit: $ 379,550</a:t>
            </a:r>
          </a:p>
          <a:p>
            <a:pPr>
              <a:lnSpc>
                <a:spcPct val="90000"/>
              </a:lnSpc>
              <a:spcBef>
                <a:spcPts val="1800"/>
              </a:spcBef>
              <a:spcAft>
                <a:spcPts val="600"/>
              </a:spcAft>
              <a:defRPr/>
            </a:pPr>
            <a:r>
              <a:rPr lang="en-US" sz="2400" dirty="0">
                <a:latin typeface="+mj-lt"/>
              </a:rPr>
              <a:t>If both BTC and C&amp;P could commit to price at $4, pay-offs of BTC and C&amp;P are:</a:t>
            </a:r>
          </a:p>
          <a:p>
            <a:pPr lvl="1">
              <a:lnSpc>
                <a:spcPct val="90000"/>
              </a:lnSpc>
              <a:spcAft>
                <a:spcPts val="600"/>
              </a:spcAft>
              <a:defRPr/>
            </a:pPr>
            <a:r>
              <a:rPr lang="en-US" sz="2400" dirty="0">
                <a:latin typeface="+mj-lt"/>
              </a:rPr>
              <a:t>	BTC: $ 266,800             C&amp;P: $ 211,200</a:t>
            </a:r>
          </a:p>
          <a:p>
            <a:pPr lvl="1">
              <a:lnSpc>
                <a:spcPct val="90000"/>
              </a:lnSpc>
              <a:spcAft>
                <a:spcPts val="1800"/>
              </a:spcAft>
              <a:defRPr/>
            </a:pPr>
            <a:r>
              <a:rPr lang="en-US" sz="2400" dirty="0">
                <a:latin typeface="+mj-lt"/>
              </a:rPr>
              <a:t> 	Total Industry Profit: $ 478,000</a:t>
            </a:r>
          </a:p>
          <a:p>
            <a:pPr lvl="1">
              <a:lnSpc>
                <a:spcPct val="90000"/>
              </a:lnSpc>
              <a:buFontTx/>
              <a:buNone/>
              <a:defRPr/>
            </a:pPr>
            <a:r>
              <a:rPr lang="en-US" sz="3200" dirty="0">
                <a:solidFill>
                  <a:srgbClr val="FF0000"/>
                </a:solidFill>
                <a:latin typeface="+mj-lt"/>
                <a:sym typeface="Wingdings" pitchFamily="2" charset="2"/>
              </a:rPr>
              <a:t></a:t>
            </a:r>
            <a:r>
              <a:rPr lang="en-US" sz="3200" dirty="0">
                <a:solidFill>
                  <a:srgbClr val="FF0000"/>
                </a:solidFill>
                <a:latin typeface="+mj-lt"/>
              </a:rPr>
              <a:t>Prisoner’s Dilemma</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35</a:t>
            </a:fld>
            <a:endParaRPr lang="en-US" dirty="0"/>
          </a:p>
        </p:txBody>
      </p:sp>
      <p:pic>
        <p:nvPicPr>
          <p:cNvPr id="12294" name="Picture 6" descr="Image result for prisoner carto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800" y="5562600"/>
            <a:ext cx="1188720" cy="97109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28600" y="6533693"/>
            <a:ext cx="4663456" cy="276999"/>
          </a:xfrm>
          <a:prstGeom prst="rect">
            <a:avLst/>
          </a:prstGeom>
          <a:noFill/>
        </p:spPr>
        <p:txBody>
          <a:bodyPr wrap="none" rtlCol="0">
            <a:spAutoFit/>
          </a:bodyPr>
          <a:lstStyle/>
          <a:p>
            <a:r>
              <a:rPr lang="en-US" sz="1200" dirty="0"/>
              <a:t>See Appendix for Black Friday Sales as example of a prisoner’s dilemma</a:t>
            </a:r>
          </a:p>
        </p:txBody>
      </p:sp>
    </p:spTree>
    <p:extLst>
      <p:ext uri="{BB962C8B-B14F-4D97-AF65-F5344CB8AC3E}">
        <p14:creationId xmlns:p14="http://schemas.microsoft.com/office/powerpoint/2010/main" val="61895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9">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normAutofit fontScale="90000"/>
          </a:bodyPr>
          <a:lstStyle/>
          <a:p>
            <a:r>
              <a:rPr lang="en-US" dirty="0"/>
              <a:t>Ethical concerns with Price Wars as a prisoner’s dilemma: Cartels</a:t>
            </a:r>
          </a:p>
        </p:txBody>
      </p:sp>
      <p:sp>
        <p:nvSpPr>
          <p:cNvPr id="88067" name="Rectangle 3"/>
          <p:cNvSpPr>
            <a:spLocks noGrp="1" noChangeArrowheads="1"/>
          </p:cNvSpPr>
          <p:nvPr>
            <p:ph sz="quarter" idx="1"/>
          </p:nvPr>
        </p:nvSpPr>
        <p:spPr>
          <a:xfrm>
            <a:off x="612648" y="1600200"/>
            <a:ext cx="8153400" cy="5181600"/>
          </a:xfrm>
        </p:spPr>
        <p:txBody>
          <a:bodyPr>
            <a:normAutofit/>
          </a:bodyPr>
          <a:lstStyle/>
          <a:p>
            <a:pPr>
              <a:defRPr/>
            </a:pPr>
            <a:r>
              <a:rPr lang="en-US" sz="2400" dirty="0">
                <a:latin typeface="+mj-lt"/>
              </a:rPr>
              <a:t>Price Fixing is Illegal (see </a:t>
            </a:r>
            <a:r>
              <a:rPr lang="en-US" sz="2400" dirty="0">
                <a:latin typeface="+mj-lt"/>
                <a:hlinkClick r:id="rId2"/>
              </a:rPr>
              <a:t>FTC</a:t>
            </a:r>
            <a:r>
              <a:rPr lang="en-US" sz="2400" dirty="0">
                <a:latin typeface="+mj-lt"/>
              </a:rPr>
              <a:t>)</a:t>
            </a:r>
          </a:p>
          <a:p>
            <a:pPr lvl="1">
              <a:spcAft>
                <a:spcPts val="1200"/>
              </a:spcAft>
              <a:defRPr/>
            </a:pPr>
            <a:r>
              <a:rPr lang="en-US" sz="2400" dirty="0">
                <a:latin typeface="+mj-lt"/>
              </a:rPr>
              <a:t>You will get fined and/or go to jail</a:t>
            </a:r>
          </a:p>
          <a:p>
            <a:pPr lvl="1">
              <a:spcAft>
                <a:spcPts val="1200"/>
              </a:spcAft>
              <a:defRPr/>
            </a:pPr>
            <a:r>
              <a:rPr lang="en-US" dirty="0"/>
              <a:t>But some firms will nevertheless try to coordinate </a:t>
            </a:r>
            <a:r>
              <a:rPr lang="en-US" i="1" u="sng" dirty="0"/>
              <a:t>illegally</a:t>
            </a:r>
          </a:p>
          <a:p>
            <a:pPr>
              <a:spcAft>
                <a:spcPts val="600"/>
              </a:spcAft>
              <a:defRPr/>
            </a:pPr>
            <a:endParaRPr lang="en-US" sz="2400" dirty="0">
              <a:latin typeface="+mj-lt"/>
            </a:endParaRPr>
          </a:p>
          <a:p>
            <a:pPr>
              <a:spcAft>
                <a:spcPts val="600"/>
              </a:spcAft>
              <a:defRPr/>
            </a:pPr>
            <a:endParaRPr lang="en-US" dirty="0"/>
          </a:p>
          <a:p>
            <a:pPr>
              <a:spcAft>
                <a:spcPts val="600"/>
              </a:spcAft>
              <a:defRPr/>
            </a:pPr>
            <a:endParaRPr lang="en-US" sz="2400" dirty="0">
              <a:latin typeface="+mj-lt"/>
            </a:endParaRPr>
          </a:p>
          <a:p>
            <a:pPr>
              <a:spcAft>
                <a:spcPts val="600"/>
              </a:spcAft>
              <a:defRPr/>
            </a:pPr>
            <a:endParaRPr lang="en-US" dirty="0"/>
          </a:p>
          <a:p>
            <a:pPr>
              <a:spcAft>
                <a:spcPts val="600"/>
              </a:spcAft>
              <a:defRPr/>
            </a:pPr>
            <a:endParaRPr lang="en-US" sz="2400" dirty="0">
              <a:latin typeface="+mj-lt"/>
            </a:endParaRPr>
          </a:p>
          <a:p>
            <a:pPr>
              <a:spcAft>
                <a:spcPts val="600"/>
              </a:spcAft>
              <a:defRPr/>
            </a:pPr>
            <a:r>
              <a:rPr lang="en-US" sz="2400" dirty="0">
                <a:latin typeface="+mj-lt"/>
              </a:rPr>
              <a:t>But even if it were legal…</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36</a:t>
            </a:fld>
            <a:endParaRPr lang="en-US"/>
          </a:p>
        </p:txBody>
      </p:sp>
      <p:sp>
        <p:nvSpPr>
          <p:cNvPr id="6" name="Rounded Rectangle 5"/>
          <p:cNvSpPr/>
          <p:nvPr/>
        </p:nvSpPr>
        <p:spPr>
          <a:xfrm>
            <a:off x="228600" y="3124200"/>
            <a:ext cx="8763000" cy="2667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800" b="1" dirty="0"/>
              <a:t>“</a:t>
            </a:r>
            <a:r>
              <a:rPr lang="en-US" sz="2000" b="1" dirty="0"/>
              <a:t>Pilgrim's Pride pleads guilty to chicken price-fixing charge, to pay $107.9 </a:t>
            </a:r>
            <a:r>
              <a:rPr lang="en-US" sz="2000" b="1" dirty="0" err="1"/>
              <a:t>mln</a:t>
            </a:r>
            <a:r>
              <a:rPr lang="en-US" sz="2000" b="1" dirty="0"/>
              <a:t> fine</a:t>
            </a:r>
            <a:r>
              <a:rPr lang="en-US" sz="1800" b="1" dirty="0"/>
              <a:t>”</a:t>
            </a:r>
          </a:p>
          <a:p>
            <a:pPr marL="366713" lvl="1" indent="0" algn="r">
              <a:spcAft>
                <a:spcPts val="1200"/>
              </a:spcAft>
              <a:buNone/>
              <a:defRPr/>
            </a:pPr>
            <a:r>
              <a:rPr lang="en-US" sz="1100" dirty="0"/>
              <a:t>Jonathan </a:t>
            </a:r>
            <a:r>
              <a:rPr lang="en-US" sz="1100" dirty="0" err="1"/>
              <a:t>Stempel</a:t>
            </a:r>
            <a:r>
              <a:rPr lang="en-US" sz="1100" dirty="0"/>
              <a:t>, </a:t>
            </a:r>
            <a:r>
              <a:rPr lang="en-US" sz="1100" i="1" dirty="0"/>
              <a:t>Reuters, </a:t>
            </a:r>
            <a:r>
              <a:rPr lang="en-US" sz="1100" dirty="0"/>
              <a:t>2-23-2021</a:t>
            </a:r>
          </a:p>
          <a:p>
            <a:pPr marL="366713" lvl="1" indent="0" algn="ctr">
              <a:spcAft>
                <a:spcPts val="0"/>
              </a:spcAft>
              <a:buNone/>
              <a:defRPr/>
            </a:pPr>
            <a:r>
              <a:rPr lang="en-US" sz="1800" dirty="0"/>
              <a:t>“</a:t>
            </a:r>
            <a:r>
              <a:rPr lang="en-US" sz="1800" b="1" dirty="0"/>
              <a:t>U.S. grand jury indicts former Pilgrim's Pride executives for chicken price fixing</a:t>
            </a:r>
            <a:r>
              <a:rPr lang="en-US" sz="1800" dirty="0"/>
              <a:t>”</a:t>
            </a:r>
          </a:p>
          <a:p>
            <a:pPr marL="366713" lvl="1" indent="0" algn="r">
              <a:spcAft>
                <a:spcPts val="1200"/>
              </a:spcAft>
              <a:buNone/>
              <a:defRPr/>
            </a:pPr>
            <a:r>
              <a:rPr lang="en-US" sz="1100" dirty="0"/>
              <a:t>Reuters, 7-30-2021</a:t>
            </a:r>
          </a:p>
          <a:p>
            <a:pPr marL="1281113" lvl="3">
              <a:spcAft>
                <a:spcPts val="0"/>
              </a:spcAft>
              <a:defRPr/>
            </a:pPr>
            <a:r>
              <a:rPr lang="en-US" sz="1700" b="1" dirty="0"/>
              <a:t>“Pilgrim’s Pride in $100 million settlement over chicken farmers' pay”</a:t>
            </a:r>
          </a:p>
          <a:p>
            <a:pPr marL="1281113" lvl="3" algn="r">
              <a:spcAft>
                <a:spcPts val="0"/>
              </a:spcAft>
              <a:defRPr/>
            </a:pPr>
            <a:r>
              <a:rPr lang="en-US" sz="1100" b="1" dirty="0"/>
              <a:t>Reuters, August 19, 2024</a:t>
            </a:r>
          </a:p>
          <a:p>
            <a:pPr marL="1281113" lvl="3">
              <a:spcAft>
                <a:spcPts val="0"/>
              </a:spcAft>
              <a:defRPr/>
            </a:pPr>
            <a:r>
              <a:rPr lang="en-US" b="1" dirty="0"/>
              <a:t>“</a:t>
            </a:r>
            <a:r>
              <a:rPr lang="en-US" sz="1700" b="1" dirty="0"/>
              <a:t>Pilgrim’s Pride agrees to pay $41 </a:t>
            </a:r>
            <a:r>
              <a:rPr lang="en-US" sz="1700" b="1" dirty="0" err="1"/>
              <a:t>mln</a:t>
            </a:r>
            <a:r>
              <a:rPr lang="en-US" sz="1700" b="1" dirty="0"/>
              <a:t> to settle investors' lawsuit”</a:t>
            </a:r>
            <a:endParaRPr lang="en-US" sz="3200" dirty="0"/>
          </a:p>
          <a:p>
            <a:pPr marL="366713" lvl="1" indent="0" algn="r">
              <a:spcAft>
                <a:spcPts val="1200"/>
              </a:spcAft>
              <a:buNone/>
              <a:defRPr/>
            </a:pPr>
            <a:r>
              <a:rPr lang="en-US" sz="1100" dirty="0"/>
              <a:t>Reuters, 1-27-2025</a:t>
            </a:r>
            <a:endParaRPr lang="en-US" sz="1800" dirty="0"/>
          </a:p>
        </p:txBody>
      </p:sp>
      <p:sp>
        <p:nvSpPr>
          <p:cNvPr id="3" name="Arrow: Right 2">
            <a:extLst>
              <a:ext uri="{FF2B5EF4-FFF2-40B4-BE49-F238E27FC236}">
                <a16:creationId xmlns:a16="http://schemas.microsoft.com/office/drawing/2014/main" id="{7439D213-70FE-4B27-A969-0DB11D841C1F}"/>
              </a:ext>
            </a:extLst>
          </p:cNvPr>
          <p:cNvSpPr/>
          <p:nvPr/>
        </p:nvSpPr>
        <p:spPr>
          <a:xfrm>
            <a:off x="1219200" y="4724400"/>
            <a:ext cx="304800" cy="3048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34F47A40-FF3D-4F23-A80A-F90767E7165F}"/>
              </a:ext>
            </a:extLst>
          </p:cNvPr>
          <p:cNvSpPr/>
          <p:nvPr/>
        </p:nvSpPr>
        <p:spPr>
          <a:xfrm>
            <a:off x="1219200" y="5217850"/>
            <a:ext cx="304800" cy="30480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889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80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sz="4000" dirty="0"/>
              <a:t>Threat of Punishing in Beauregard case</a:t>
            </a:r>
          </a:p>
        </p:txBody>
      </p:sp>
      <p:graphicFrame>
        <p:nvGraphicFramePr>
          <p:cNvPr id="8194" name="Object 5"/>
          <p:cNvGraphicFramePr>
            <a:graphicFrameLocks noChangeAspect="1"/>
          </p:cNvGraphicFramePr>
          <p:nvPr/>
        </p:nvGraphicFramePr>
        <p:xfrm>
          <a:off x="1905000" y="2057400"/>
          <a:ext cx="4919663" cy="3063875"/>
        </p:xfrm>
        <a:graphic>
          <a:graphicData uri="http://schemas.openxmlformats.org/presentationml/2006/ole">
            <mc:AlternateContent xmlns:mc="http://schemas.openxmlformats.org/markup-compatibility/2006">
              <mc:Choice xmlns:v="urn:schemas-microsoft-com:vml" Requires="v">
                <p:oleObj name="Worksheet" r:id="rId2" imgW="3161160" imgH="1968840" progId="Excel.Sheet.8">
                  <p:embed/>
                </p:oleObj>
              </mc:Choice>
              <mc:Fallback>
                <p:oleObj name="Worksheet" r:id="rId2" imgW="3161160" imgH="1968840" progId="Excel.Sheet.8">
                  <p:embed/>
                  <p:pic>
                    <p:nvPicPr>
                      <p:cNvPr id="8194"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057400"/>
                        <a:ext cx="4919663" cy="306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609600" y="5410200"/>
            <a:ext cx="8382000" cy="1277273"/>
          </a:xfrm>
          <a:prstGeom prst="rect">
            <a:avLst/>
          </a:prstGeom>
          <a:noFill/>
        </p:spPr>
        <p:txBody>
          <a:bodyPr wrap="square" rtlCol="0">
            <a:spAutoFit/>
          </a:bodyPr>
          <a:lstStyle/>
          <a:p>
            <a:r>
              <a:rPr lang="en-US" dirty="0"/>
              <a:t>Even if BTC &amp; C&amp;P coordinated, gains from defection exceed incentives to cooperate.  </a:t>
            </a:r>
          </a:p>
          <a:p>
            <a:pPr>
              <a:spcBef>
                <a:spcPts val="600"/>
              </a:spcBef>
            </a:pPr>
            <a:r>
              <a:rPr lang="en-US" dirty="0"/>
              <a:t>	Coordination difficult to sustain.</a:t>
            </a:r>
          </a:p>
        </p:txBody>
      </p:sp>
      <p:sp>
        <p:nvSpPr>
          <p:cNvPr id="3" name="Slide Number Placeholder 2"/>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37</a:t>
            </a:fld>
            <a:endParaRPr lang="en-US"/>
          </a:p>
        </p:txBody>
      </p:sp>
      <p:sp>
        <p:nvSpPr>
          <p:cNvPr id="4" name="Right Arrow 3"/>
          <p:cNvSpPr/>
          <p:nvPr/>
        </p:nvSpPr>
        <p:spPr>
          <a:xfrm>
            <a:off x="838200" y="6241197"/>
            <a:ext cx="685800" cy="464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33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Cartel Instability</a:t>
            </a:r>
            <a:br>
              <a:rPr lang="en-US" sz="4400" dirty="0"/>
            </a:br>
            <a:r>
              <a:rPr lang="en-US" sz="3600" dirty="0"/>
              <a:t>Example: The French Laundry Detergent Market</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38</a:t>
            </a:fld>
            <a:endParaRPr lang="en-US"/>
          </a:p>
        </p:txBody>
      </p:sp>
      <p:pic>
        <p:nvPicPr>
          <p:cNvPr id="15364" name="Picture 4" descr="Image result for france cartel unileve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2057400" y="3657216"/>
            <a:ext cx="4559300" cy="3035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47751" y="2392137"/>
            <a:ext cx="8610600" cy="1107996"/>
          </a:xfrm>
          <a:prstGeom prst="rect">
            <a:avLst/>
          </a:prstGeom>
        </p:spPr>
        <p:txBody>
          <a:bodyPr wrap="square">
            <a:spAutoFit/>
          </a:bodyPr>
          <a:lstStyle/>
          <a:p>
            <a:r>
              <a:rPr lang="en-US" sz="2200" dirty="0"/>
              <a:t>“For nearly a decade, executives from consumer goods giants including Proctor &amp; Gamble Co. secretly met in discreet restaurants around Paris, allegedly to fix the price of laundry detergent in France.”</a:t>
            </a:r>
          </a:p>
        </p:txBody>
      </p:sp>
      <p:sp>
        <p:nvSpPr>
          <p:cNvPr id="6" name="Rectangle 5"/>
          <p:cNvSpPr/>
          <p:nvPr/>
        </p:nvSpPr>
        <p:spPr>
          <a:xfrm>
            <a:off x="526551" y="1516063"/>
            <a:ext cx="7543800" cy="938719"/>
          </a:xfrm>
          <a:prstGeom prst="rect">
            <a:avLst/>
          </a:prstGeom>
        </p:spPr>
        <p:txBody>
          <a:bodyPr wrap="square">
            <a:spAutoFit/>
          </a:bodyPr>
          <a:lstStyle/>
          <a:p>
            <a:pPr marL="366713" lvl="1" indent="0">
              <a:buNone/>
            </a:pPr>
            <a:r>
              <a:rPr lang="en-US" b="1" dirty="0"/>
              <a:t>“Dirty Secrets in Soap Prices”</a:t>
            </a:r>
          </a:p>
          <a:p>
            <a:pPr marL="366713" lvl="1" indent="0">
              <a:buNone/>
            </a:pPr>
            <a:r>
              <a:rPr lang="en-US" sz="1700" dirty="0"/>
              <a:t>			</a:t>
            </a:r>
            <a:r>
              <a:rPr lang="en-US" sz="1400" dirty="0"/>
              <a:t>Max Colchester and Christina </a:t>
            </a:r>
            <a:r>
              <a:rPr lang="en-US" sz="1400" dirty="0" err="1"/>
              <a:t>Passariello</a:t>
            </a:r>
            <a:endParaRPr lang="en-US" sz="1400" dirty="0"/>
          </a:p>
          <a:p>
            <a:pPr marL="366713" lvl="1" indent="0">
              <a:buNone/>
            </a:pPr>
            <a:r>
              <a:rPr lang="en-US" sz="1400" dirty="0"/>
              <a:t>			</a:t>
            </a:r>
            <a:r>
              <a:rPr lang="en-US" sz="1400" i="1" dirty="0"/>
              <a:t>Wall Street Journal</a:t>
            </a:r>
            <a:r>
              <a:rPr lang="en-US" sz="1400" dirty="0"/>
              <a:t>, 12-9-2011</a:t>
            </a:r>
          </a:p>
        </p:txBody>
      </p:sp>
    </p:spTree>
    <p:extLst>
      <p:ext uri="{BB962C8B-B14F-4D97-AF65-F5344CB8AC3E}">
        <p14:creationId xmlns:p14="http://schemas.microsoft.com/office/powerpoint/2010/main" val="36003751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Cartel Instability</a:t>
            </a:r>
            <a:br>
              <a:rPr lang="en-US" sz="4400" dirty="0"/>
            </a:br>
            <a:r>
              <a:rPr lang="en-US" sz="3600" dirty="0"/>
              <a:t>Example: The French Laundry Detergent Market</a:t>
            </a:r>
            <a:endParaRPr lang="en-US" dirty="0"/>
          </a:p>
        </p:txBody>
      </p:sp>
      <p:sp>
        <p:nvSpPr>
          <p:cNvPr id="3" name="Content Placeholder 2"/>
          <p:cNvSpPr>
            <a:spLocks noGrp="1"/>
          </p:cNvSpPr>
          <p:nvPr>
            <p:ph sz="quarter" idx="1"/>
          </p:nvPr>
        </p:nvSpPr>
        <p:spPr/>
        <p:txBody>
          <a:bodyPr>
            <a:normAutofit/>
          </a:bodyPr>
          <a:lstStyle/>
          <a:p>
            <a:r>
              <a:rPr lang="en-US" dirty="0"/>
              <a:t>In 1996, four brand managers met to ensure they all charged pre-agreed prices and would alert one-another to deals.</a:t>
            </a:r>
          </a:p>
          <a:p>
            <a:pPr marL="0" indent="0">
              <a:buNone/>
            </a:pPr>
            <a:endParaRPr lang="en-US" dirty="0"/>
          </a:p>
          <a:p>
            <a:pPr marL="0" indent="0">
              <a:buNone/>
            </a:pPr>
            <a:endParaRPr lang="en-US" dirty="0"/>
          </a:p>
          <a:p>
            <a:pPr marL="0" indent="0">
              <a:buNone/>
            </a:pPr>
            <a:endParaRPr lang="en-US" dirty="0"/>
          </a:p>
        </p:txBody>
      </p:sp>
      <p:sp>
        <p:nvSpPr>
          <p:cNvPr id="5" name="Slide Number Placeholder 4"/>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39</a:t>
            </a:fld>
            <a:endParaRPr lang="en-US" dirty="0"/>
          </a:p>
        </p:txBody>
      </p:sp>
      <p:pic>
        <p:nvPicPr>
          <p:cNvPr id="6" name="Picture 2" descr="Image result for france cartel unile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098" y="2438400"/>
            <a:ext cx="70485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81000" y="6396335"/>
            <a:ext cx="5776902" cy="461665"/>
          </a:xfrm>
          <a:prstGeom prst="rect">
            <a:avLst/>
          </a:prstGeom>
          <a:noFill/>
        </p:spPr>
        <p:txBody>
          <a:bodyPr wrap="none" rtlCol="0">
            <a:spAutoFit/>
          </a:bodyPr>
          <a:lstStyle/>
          <a:p>
            <a:r>
              <a:rPr lang="en-US" dirty="0"/>
              <a:t>Cartel referred to self as “Team” or “Friends”</a:t>
            </a:r>
          </a:p>
        </p:txBody>
      </p:sp>
    </p:spTree>
    <p:extLst>
      <p:ext uri="{BB962C8B-B14F-4D97-AF65-F5344CB8AC3E}">
        <p14:creationId xmlns:p14="http://schemas.microsoft.com/office/powerpoint/2010/main" val="35962668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Cartel Instability</a:t>
            </a:r>
            <a:br>
              <a:rPr lang="en-US" sz="4400" dirty="0"/>
            </a:br>
            <a:r>
              <a:rPr lang="en-US" sz="3600" dirty="0"/>
              <a:t>Example: The French Laundry Detergent Market</a:t>
            </a:r>
          </a:p>
        </p:txBody>
      </p:sp>
      <p:sp>
        <p:nvSpPr>
          <p:cNvPr id="3" name="Content Placeholder 2"/>
          <p:cNvSpPr>
            <a:spLocks noGrp="1"/>
          </p:cNvSpPr>
          <p:nvPr>
            <p:ph sz="quarter" idx="1"/>
          </p:nvPr>
        </p:nvSpPr>
        <p:spPr>
          <a:xfrm>
            <a:off x="612648" y="3276600"/>
            <a:ext cx="3197352" cy="2819400"/>
          </a:xfrm>
        </p:spPr>
        <p:txBody>
          <a:bodyPr>
            <a:normAutofit/>
          </a:bodyPr>
          <a:lstStyle/>
          <a:p>
            <a:r>
              <a:rPr lang="en-US" sz="2000" dirty="0"/>
              <a:t>“Team” caught colluding at Paris Brasserie “Le Royal </a:t>
            </a:r>
            <a:r>
              <a:rPr lang="en-US" sz="2000" dirty="0" err="1"/>
              <a:t>Villier</a:t>
            </a:r>
            <a:r>
              <a:rPr lang="en-US" sz="2000" dirty="0"/>
              <a:t>” during a 2006 raid</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40</a:t>
            </a:fld>
            <a:endParaRPr lang="en-US" dirty="0"/>
          </a:p>
        </p:txBody>
      </p:sp>
      <p:pic>
        <p:nvPicPr>
          <p:cNvPr id="5" name="Picture 4"/>
          <p:cNvPicPr>
            <a:picLocks noChangeAspect="1"/>
          </p:cNvPicPr>
          <p:nvPr/>
        </p:nvPicPr>
        <p:blipFill>
          <a:blip r:embed="rId2"/>
          <a:stretch>
            <a:fillRect/>
          </a:stretch>
        </p:blipFill>
        <p:spPr>
          <a:xfrm>
            <a:off x="4038600" y="2438400"/>
            <a:ext cx="4495800" cy="3122581"/>
          </a:xfrm>
          <a:prstGeom prst="rect">
            <a:avLst/>
          </a:prstGeom>
        </p:spPr>
      </p:pic>
      <p:sp>
        <p:nvSpPr>
          <p:cNvPr id="7" name="TextBox 6">
            <a:extLst>
              <a:ext uri="{FF2B5EF4-FFF2-40B4-BE49-F238E27FC236}">
                <a16:creationId xmlns:a16="http://schemas.microsoft.com/office/drawing/2014/main" id="{A668E6C3-DE43-47CD-902B-5F8F6C082505}"/>
              </a:ext>
            </a:extLst>
          </p:cNvPr>
          <p:cNvSpPr txBox="1"/>
          <p:nvPr/>
        </p:nvSpPr>
        <p:spPr>
          <a:xfrm rot="20743841">
            <a:off x="2196344" y="1820150"/>
            <a:ext cx="2571455" cy="830997"/>
          </a:xfrm>
          <a:prstGeom prst="rect">
            <a:avLst/>
          </a:prstGeom>
          <a:noFill/>
        </p:spPr>
        <p:txBody>
          <a:bodyPr wrap="square">
            <a:spAutoFit/>
          </a:bodyPr>
          <a:lstStyle/>
          <a:p>
            <a:pPr algn="ctr"/>
            <a:r>
              <a:rPr lang="en-US" sz="2400" dirty="0">
                <a:latin typeface="Algerian" panose="04020705040A02060702" pitchFamily="82" charset="0"/>
              </a:rPr>
              <a:t>in flagrante delicto</a:t>
            </a:r>
            <a:endParaRPr lang="en-US" dirty="0">
              <a:latin typeface="Algerian" panose="04020705040A02060702" pitchFamily="82" charset="0"/>
            </a:endParaRPr>
          </a:p>
        </p:txBody>
      </p:sp>
    </p:spTree>
    <p:extLst>
      <p:ext uri="{BB962C8B-B14F-4D97-AF65-F5344CB8AC3E}">
        <p14:creationId xmlns:p14="http://schemas.microsoft.com/office/powerpoint/2010/main" val="223008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Cartel Instability</a:t>
            </a:r>
            <a:br>
              <a:rPr lang="en-US" sz="4400" dirty="0"/>
            </a:br>
            <a:r>
              <a:rPr lang="en-US" sz="3600" dirty="0"/>
              <a:t>Example: The French Laundry Detergent Market</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41</a:t>
            </a:fld>
            <a:endParaRPr lang="en-US"/>
          </a:p>
        </p:txBody>
      </p:sp>
      <p:sp>
        <p:nvSpPr>
          <p:cNvPr id="5" name="Content Placeholder 4"/>
          <p:cNvSpPr>
            <a:spLocks noGrp="1"/>
          </p:cNvSpPr>
          <p:nvPr>
            <p:ph sz="quarter" idx="1"/>
          </p:nvPr>
        </p:nvSpPr>
        <p:spPr/>
        <p:txBody>
          <a:bodyPr/>
          <a:lstStyle/>
          <a:p>
            <a:r>
              <a:rPr lang="en-US" dirty="0"/>
              <a:t>Disagreements broke down the arrangement in 2004:</a:t>
            </a:r>
          </a:p>
          <a:p>
            <a:pPr lvl="1"/>
            <a:r>
              <a:rPr lang="en-US" dirty="0"/>
              <a:t>Unilever cut price 10%</a:t>
            </a:r>
          </a:p>
          <a:p>
            <a:pPr lvl="1"/>
            <a:r>
              <a:rPr lang="en-US" dirty="0"/>
              <a:t>P&amp;G responded with 25% price cut </a:t>
            </a:r>
          </a:p>
          <a:p>
            <a:pPr lvl="1"/>
            <a:r>
              <a:rPr lang="en-US" dirty="0"/>
              <a:t>Henkel finally responded with 40% price cut.</a:t>
            </a:r>
          </a:p>
          <a:p>
            <a:pPr marL="366713" lvl="1" indent="0">
              <a:buNone/>
            </a:pPr>
            <a:endParaRPr lang="en-US" sz="1700" dirty="0"/>
          </a:p>
          <a:p>
            <a:r>
              <a:rPr lang="en-US" sz="2800" b="1" dirty="0"/>
              <a:t>Epilogue</a:t>
            </a:r>
            <a:r>
              <a:rPr lang="en-US" dirty="0"/>
              <a:t>: France fines 13 consumer goods firms €951m for price-fixing </a:t>
            </a:r>
            <a:r>
              <a:rPr lang="en-US" sz="1400" dirty="0"/>
              <a:t>(Betsy Reed, </a:t>
            </a:r>
            <a:r>
              <a:rPr lang="en-US" sz="1400" dirty="0">
                <a:hlinkClick r:id="rId2"/>
              </a:rPr>
              <a:t>The Guardian</a:t>
            </a:r>
            <a:r>
              <a:rPr lang="en-US" sz="1400" dirty="0"/>
              <a:t>, Dec. 18, 2014)</a:t>
            </a:r>
            <a:endParaRPr lang="en-US" dirty="0"/>
          </a:p>
          <a:p>
            <a:pPr lvl="1"/>
            <a:r>
              <a:rPr lang="en-US" dirty="0"/>
              <a:t>Henkel granted leniency for testimony</a:t>
            </a:r>
          </a:p>
          <a:p>
            <a:pPr marL="366713" lvl="1" indent="0">
              <a:buNone/>
            </a:pPr>
            <a:endParaRPr lang="en-US" sz="1700" dirty="0"/>
          </a:p>
          <a:p>
            <a:endParaRPr lang="en-US" dirty="0"/>
          </a:p>
        </p:txBody>
      </p:sp>
      <p:pic>
        <p:nvPicPr>
          <p:cNvPr id="12292" name="Picture 4" descr="Image result for f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4166" y="5181600"/>
            <a:ext cx="1450364" cy="1448535"/>
          </a:xfrm>
          <a:prstGeom prst="rect">
            <a:avLst/>
          </a:prstGeom>
          <a:noFill/>
          <a:extLst>
            <a:ext uri="{909E8E84-426E-40DD-AFC4-6F175D3DCCD1}">
              <a14:hiddenFill xmlns:a14="http://schemas.microsoft.com/office/drawing/2010/main">
                <a:solidFill>
                  <a:srgbClr val="FFFFFF"/>
                </a:solidFill>
              </a14:hiddenFill>
            </a:ext>
          </a:extLst>
        </p:spPr>
      </p:pic>
      <p:pic>
        <p:nvPicPr>
          <p:cNvPr id="24578" name="Picture 2" descr="The Science of Why Children Are Such Snitch-y Little Tattletales | Fatherl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0" y="4508292"/>
            <a:ext cx="1244599" cy="673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21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algorithmic pricing …</a:t>
            </a:r>
          </a:p>
        </p:txBody>
      </p:sp>
      <p:sp>
        <p:nvSpPr>
          <p:cNvPr id="3" name="Content Placeholder 2"/>
          <p:cNvSpPr>
            <a:spLocks noGrp="1"/>
          </p:cNvSpPr>
          <p:nvPr>
            <p:ph sz="quarter" idx="1"/>
          </p:nvPr>
        </p:nvSpPr>
        <p:spPr>
          <a:xfrm>
            <a:off x="612648" y="1600200"/>
            <a:ext cx="8378952" cy="4495800"/>
          </a:xfrm>
        </p:spPr>
        <p:txBody>
          <a:bodyPr/>
          <a:lstStyle/>
          <a:p>
            <a:pPr>
              <a:spcAft>
                <a:spcPts val="1200"/>
              </a:spcAft>
            </a:pPr>
            <a:r>
              <a:rPr lang="en-US" sz="2000" dirty="0"/>
              <a:t>Use of </a:t>
            </a:r>
            <a:r>
              <a:rPr lang="en-US" sz="2000" b="1" dirty="0">
                <a:effectLst>
                  <a:outerShdw blurRad="38100" dist="38100" dir="2700000" algn="tl">
                    <a:srgbClr val="000000">
                      <a:alpha val="43137"/>
                    </a:srgbClr>
                  </a:outerShdw>
                </a:effectLst>
              </a:rPr>
              <a:t>algorithms</a:t>
            </a:r>
            <a:r>
              <a:rPr lang="en-US" sz="2000" dirty="0"/>
              <a:t> implicitly </a:t>
            </a:r>
            <a:r>
              <a:rPr lang="en-US" sz="2000" u="sng" dirty="0"/>
              <a:t>commits</a:t>
            </a:r>
            <a:r>
              <a:rPr lang="en-US" sz="2000" dirty="0"/>
              <a:t> to irrational pricing “out of equilibrium” (i.e., instant punishments)</a:t>
            </a:r>
          </a:p>
          <a:p>
            <a:pPr marL="0" indent="0" algn="ctr">
              <a:spcBef>
                <a:spcPts val="1200"/>
              </a:spcBef>
              <a:buNone/>
            </a:pPr>
            <a:r>
              <a:rPr lang="en-US" sz="2000" b="1" dirty="0">
                <a:effectLst>
                  <a:outerShdw blurRad="38100" dist="38100" dir="2700000" algn="tl">
                    <a:srgbClr val="000000">
                      <a:alpha val="43137"/>
                    </a:srgbClr>
                  </a:outerShdw>
                </a:effectLst>
              </a:rPr>
              <a:t>Collusive</a:t>
            </a:r>
            <a:r>
              <a:rPr lang="en-US" sz="2000" dirty="0"/>
              <a:t> pricing outcomes without any actual collusion</a:t>
            </a:r>
          </a:p>
          <a:p>
            <a:pPr marL="0" indent="0">
              <a:buNone/>
            </a:pPr>
            <a:endParaRPr lang="en-US" sz="2000" dirty="0"/>
          </a:p>
          <a:p>
            <a:r>
              <a:rPr lang="en-US" sz="2000" dirty="0"/>
              <a:t>But if a manager over-rides algorithm because they know something algorithm cannot predict, prices become competitive again</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42</a:t>
            </a:fld>
            <a:endParaRPr lang="en-US" dirty="0"/>
          </a:p>
        </p:txBody>
      </p:sp>
      <p:pic>
        <p:nvPicPr>
          <p:cNvPr id="25602" name="Picture 2" descr="AI-Powered Dynamic Pricing Is Everywhere — Ivan Zho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6785" y="3962400"/>
            <a:ext cx="4945126" cy="2757488"/>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a:xfrm>
            <a:off x="1447800" y="2438400"/>
            <a:ext cx="460248"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81000" y="6477000"/>
            <a:ext cx="1641796" cy="276999"/>
          </a:xfrm>
          <a:prstGeom prst="rect">
            <a:avLst/>
          </a:prstGeom>
          <a:noFill/>
        </p:spPr>
        <p:txBody>
          <a:bodyPr wrap="none" rtlCol="0">
            <a:spAutoFit/>
          </a:bodyPr>
          <a:lstStyle/>
          <a:p>
            <a:r>
              <a:rPr lang="en-US" sz="1200" dirty="0"/>
              <a:t>Source: </a:t>
            </a:r>
            <a:r>
              <a:rPr lang="en-US" sz="1200" dirty="0" err="1">
                <a:hlinkClick r:id="rId3"/>
              </a:rPr>
              <a:t>Leisten</a:t>
            </a:r>
            <a:r>
              <a:rPr lang="en-US" sz="1200" dirty="0">
                <a:hlinkClick r:id="rId3"/>
              </a:rPr>
              <a:t> (2024)</a:t>
            </a:r>
            <a:endParaRPr lang="en-US" sz="1200" dirty="0"/>
          </a:p>
        </p:txBody>
      </p:sp>
    </p:spTree>
    <p:extLst>
      <p:ext uri="{BB962C8B-B14F-4D97-AF65-F5344CB8AC3E}">
        <p14:creationId xmlns:p14="http://schemas.microsoft.com/office/powerpoint/2010/main" val="12832229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CF2F-92E5-4DED-B5BB-8DECF872C562}"/>
              </a:ext>
            </a:extLst>
          </p:cNvPr>
          <p:cNvSpPr>
            <a:spLocks noGrp="1"/>
          </p:cNvSpPr>
          <p:nvPr>
            <p:ph type="title"/>
          </p:nvPr>
        </p:nvSpPr>
        <p:spPr/>
        <p:txBody>
          <a:bodyPr>
            <a:normAutofit fontScale="90000"/>
          </a:bodyPr>
          <a:lstStyle/>
          <a:p>
            <a:r>
              <a:rPr lang="en-US" dirty="0"/>
              <a:t>The 2025 Algorithmic French Fry Cartel</a:t>
            </a:r>
          </a:p>
        </p:txBody>
      </p:sp>
      <p:sp>
        <p:nvSpPr>
          <p:cNvPr id="4" name="Slide Number Placeholder 3">
            <a:extLst>
              <a:ext uri="{FF2B5EF4-FFF2-40B4-BE49-F238E27FC236}">
                <a16:creationId xmlns:a16="http://schemas.microsoft.com/office/drawing/2014/main" id="{9B0F5CB8-2D3F-4C87-B192-E8132DEA4D6E}"/>
              </a:ext>
            </a:extLst>
          </p:cNvPr>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43</a:t>
            </a:fld>
            <a:endParaRPr lang="en-US" dirty="0"/>
          </a:p>
        </p:txBody>
      </p:sp>
      <p:pic>
        <p:nvPicPr>
          <p:cNvPr id="6" name="Picture 5">
            <a:hlinkClick r:id="rId2"/>
            <a:extLst>
              <a:ext uri="{FF2B5EF4-FFF2-40B4-BE49-F238E27FC236}">
                <a16:creationId xmlns:a16="http://schemas.microsoft.com/office/drawing/2014/main" id="{A5D175F8-459E-40BE-861D-E0543B7BC538}"/>
              </a:ext>
            </a:extLst>
          </p:cNvPr>
          <p:cNvPicPr>
            <a:picLocks noChangeAspect="1"/>
          </p:cNvPicPr>
          <p:nvPr/>
        </p:nvPicPr>
        <p:blipFill>
          <a:blip r:embed="rId3"/>
          <a:stretch>
            <a:fillRect/>
          </a:stretch>
        </p:blipFill>
        <p:spPr>
          <a:xfrm>
            <a:off x="457200" y="1828800"/>
            <a:ext cx="4218849" cy="3591511"/>
          </a:xfrm>
          <a:prstGeom prst="rect">
            <a:avLst/>
          </a:prstGeom>
        </p:spPr>
      </p:pic>
      <p:sp>
        <p:nvSpPr>
          <p:cNvPr id="7" name="Speech Bubble: Rectangle 6">
            <a:extLst>
              <a:ext uri="{FF2B5EF4-FFF2-40B4-BE49-F238E27FC236}">
                <a16:creationId xmlns:a16="http://schemas.microsoft.com/office/drawing/2014/main" id="{59874278-84C6-4777-867A-9D2A260A59BE}"/>
              </a:ext>
            </a:extLst>
          </p:cNvPr>
          <p:cNvSpPr/>
          <p:nvPr/>
        </p:nvSpPr>
        <p:spPr>
          <a:xfrm>
            <a:off x="4800600" y="2133600"/>
            <a:ext cx="4218849" cy="1600200"/>
          </a:xfrm>
          <a:prstGeom prst="wedgeRectCallout">
            <a:avLst>
              <a:gd name="adj1" fmla="val -48533"/>
              <a:gd name="adj2" fmla="val 1187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0" i="1" dirty="0">
                <a:solidFill>
                  <a:srgbClr val="131313"/>
                </a:solidFill>
                <a:effectLst/>
                <a:latin typeface="__harriet_cfe5a1"/>
              </a:rPr>
              <a:t>Plaintiffs have alleged in a </a:t>
            </a:r>
            <a:r>
              <a:rPr lang="en-US" sz="1200" b="0" i="1" dirty="0">
                <a:effectLst/>
                <a:latin typeface="__harriet_cfe5a1"/>
                <a:hlinkClick r:id="rId4"/>
              </a:rPr>
              <a:t>set of lawsuits</a:t>
            </a:r>
            <a:r>
              <a:rPr lang="en-US" sz="1200" b="0" i="1" dirty="0">
                <a:solidFill>
                  <a:srgbClr val="131313"/>
                </a:solidFill>
                <a:effectLst/>
                <a:latin typeface="__harriet_cfe5a1"/>
              </a:rPr>
              <a:t> that the largest potato product manufacturers in the country — the four that have cornered nearly the entire frozen potato market — all put their sensitive market data into </a:t>
            </a:r>
            <a:r>
              <a:rPr lang="en-US" sz="1200" b="1" i="1" u="sng" dirty="0">
                <a:solidFill>
                  <a:srgbClr val="131313"/>
                </a:solidFill>
                <a:effectLst/>
                <a:latin typeface="__harriet_cfe5a1"/>
              </a:rPr>
              <a:t>the same third-party software</a:t>
            </a:r>
            <a:r>
              <a:rPr lang="en-US" sz="1200" b="0" i="1" dirty="0">
                <a:solidFill>
                  <a:srgbClr val="131313"/>
                </a:solidFill>
                <a:effectLst/>
                <a:latin typeface="__harriet_cfe5a1"/>
              </a:rPr>
              <a:t>, which uses that aggregate data to spit out recommendations about how they should price their products. And that software has essentially been giving each company the same recommendations.</a:t>
            </a:r>
            <a:endParaRPr lang="en-US" sz="1200" dirty="0"/>
          </a:p>
        </p:txBody>
      </p:sp>
    </p:spTree>
    <p:extLst>
      <p:ext uri="{BB962C8B-B14F-4D97-AF65-F5344CB8AC3E}">
        <p14:creationId xmlns:p14="http://schemas.microsoft.com/office/powerpoint/2010/main" val="436332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p:txBody>
          <a:bodyPr/>
          <a:lstStyle/>
          <a:p>
            <a:r>
              <a:rPr lang="en-US"/>
              <a:t>Take Away</a:t>
            </a:r>
          </a:p>
        </p:txBody>
      </p:sp>
      <p:sp>
        <p:nvSpPr>
          <p:cNvPr id="20485" name="Rectangle 5"/>
          <p:cNvSpPr>
            <a:spLocks noGrp="1" noChangeArrowheads="1"/>
          </p:cNvSpPr>
          <p:nvPr>
            <p:ph sz="quarter" idx="1"/>
          </p:nvPr>
        </p:nvSpPr>
        <p:spPr/>
        <p:txBody>
          <a:bodyPr>
            <a:noAutofit/>
          </a:bodyPr>
          <a:lstStyle/>
          <a:p>
            <a:pPr>
              <a:lnSpc>
                <a:spcPct val="90000"/>
              </a:lnSpc>
              <a:spcBef>
                <a:spcPts val="1200"/>
              </a:spcBef>
              <a:spcAft>
                <a:spcPts val="600"/>
              </a:spcAft>
              <a:defRPr/>
            </a:pPr>
            <a:r>
              <a:rPr lang="en-US" dirty="0"/>
              <a:t>Using EVC to assess reaction</a:t>
            </a:r>
          </a:p>
          <a:p>
            <a:pPr lvl="1">
              <a:lnSpc>
                <a:spcPct val="90000"/>
              </a:lnSpc>
              <a:spcBef>
                <a:spcPts val="600"/>
              </a:spcBef>
              <a:spcAft>
                <a:spcPts val="600"/>
              </a:spcAft>
              <a:defRPr/>
            </a:pPr>
            <a:r>
              <a:rPr lang="en-US" b="1" dirty="0"/>
              <a:t>Think like your competitor</a:t>
            </a:r>
          </a:p>
          <a:p>
            <a:pPr lvl="1">
              <a:lnSpc>
                <a:spcPct val="90000"/>
              </a:lnSpc>
              <a:spcBef>
                <a:spcPts val="600"/>
              </a:spcBef>
              <a:spcAft>
                <a:spcPts val="1200"/>
              </a:spcAft>
              <a:defRPr/>
            </a:pPr>
            <a:r>
              <a:rPr lang="en-US" dirty="0"/>
              <a:t>Your pricing may change competitor’s pricing incentives!</a:t>
            </a:r>
            <a:endParaRPr lang="en-US" b="1" dirty="0"/>
          </a:p>
          <a:p>
            <a:pPr>
              <a:lnSpc>
                <a:spcPct val="90000"/>
              </a:lnSpc>
              <a:spcBef>
                <a:spcPts val="1200"/>
              </a:spcBef>
              <a:spcAft>
                <a:spcPts val="600"/>
              </a:spcAft>
              <a:defRPr/>
            </a:pPr>
            <a:r>
              <a:rPr lang="en-US" dirty="0"/>
              <a:t>Need equilibrium definition to make price predictions with strategic interactions (see competitive strategy course)</a:t>
            </a:r>
          </a:p>
          <a:p>
            <a:pPr lvl="1">
              <a:lnSpc>
                <a:spcPct val="90000"/>
              </a:lnSpc>
              <a:spcBef>
                <a:spcPts val="600"/>
              </a:spcBef>
              <a:spcAft>
                <a:spcPts val="600"/>
              </a:spcAft>
              <a:defRPr/>
            </a:pPr>
            <a:r>
              <a:rPr lang="en-US" dirty="0"/>
              <a:t>Competition can sometimes lead to higher prices</a:t>
            </a:r>
          </a:p>
          <a:p>
            <a:pPr lvl="1">
              <a:lnSpc>
                <a:spcPct val="90000"/>
              </a:lnSpc>
              <a:spcBef>
                <a:spcPts val="600"/>
              </a:spcBef>
              <a:spcAft>
                <a:spcPts val="600"/>
              </a:spcAft>
              <a:defRPr/>
            </a:pPr>
            <a:r>
              <a:rPr lang="en-US" dirty="0"/>
              <a:t>Algorithms can also soften price competition</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44</a:t>
            </a:fld>
            <a:endParaRPr lang="en-US" dirty="0"/>
          </a:p>
        </p:txBody>
      </p:sp>
      <p:sp>
        <p:nvSpPr>
          <p:cNvPr id="3" name="Rounded Rectangle 2"/>
          <p:cNvSpPr/>
          <p:nvPr/>
        </p:nvSpPr>
        <p:spPr>
          <a:xfrm>
            <a:off x="190500" y="5029200"/>
            <a:ext cx="87630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spcBef>
                <a:spcPts val="1200"/>
              </a:spcBef>
              <a:spcAft>
                <a:spcPts val="1200"/>
              </a:spcAft>
              <a:defRPr/>
            </a:pPr>
            <a:r>
              <a:rPr lang="en-US" dirty="0"/>
              <a:t>See </a:t>
            </a:r>
            <a:r>
              <a:rPr lang="en-US" b="1" u="sng" dirty="0"/>
              <a:t>optional</a:t>
            </a:r>
            <a:r>
              <a:rPr lang="en-US" dirty="0"/>
              <a:t> Appendix for how to conduct a numerical market simulation for two competing firms when demand has been estimated and the Nash equilibrium can be </a:t>
            </a:r>
            <a:r>
              <a:rPr lang="en-US" b="1" dirty="0">
                <a:solidFill>
                  <a:srgbClr val="FFFF00"/>
                </a:solidFill>
              </a:rPr>
              <a:t>computed</a:t>
            </a:r>
            <a:r>
              <a:rPr lang="en-US" dirty="0"/>
              <a:t>.</a:t>
            </a:r>
          </a:p>
        </p:txBody>
      </p:sp>
    </p:spTree>
    <p:extLst>
      <p:ext uri="{BB962C8B-B14F-4D97-AF65-F5344CB8AC3E}">
        <p14:creationId xmlns:p14="http://schemas.microsoft.com/office/powerpoint/2010/main" val="3618681468"/>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Details on payoff matrix for Beauregard Textiles</a:t>
            </a:r>
          </a:p>
        </p:txBody>
      </p:sp>
      <p:sp>
        <p:nvSpPr>
          <p:cNvPr id="3" name="Title 2"/>
          <p:cNvSpPr>
            <a:spLocks noGrp="1"/>
          </p:cNvSpPr>
          <p:nvPr>
            <p:ph type="title"/>
          </p:nvPr>
        </p:nvSpPr>
        <p:spPr/>
        <p:txBody>
          <a:bodyPr/>
          <a:lstStyle/>
          <a:p>
            <a:r>
              <a:rPr lang="en-US" dirty="0"/>
              <a:t>Appendix</a:t>
            </a:r>
          </a:p>
        </p:txBody>
      </p:sp>
      <p:sp>
        <p:nvSpPr>
          <p:cNvPr id="4" name="Slide Number Placeholder 3"/>
          <p:cNvSpPr>
            <a:spLocks noGrp="1"/>
          </p:cNvSpPr>
          <p:nvPr>
            <p:ph type="sldNum" sz="quarter" idx="11"/>
          </p:nvPr>
        </p:nvSpPr>
        <p:spPr/>
        <p:txBody>
          <a:bodyPr/>
          <a:lstStyle/>
          <a:p>
            <a:pPr>
              <a:defRPr/>
            </a:pPr>
            <a:fld id="{933868AA-CDF1-43EF-A2C4-0B669FC33D03}" type="slidenum">
              <a:rPr lang="en-US" smtClean="0"/>
              <a:pPr>
                <a:defRPr/>
              </a:pPr>
              <a:t>45</a:t>
            </a:fld>
            <a:endParaRPr lang="en-US"/>
          </a:p>
        </p:txBody>
      </p:sp>
    </p:spTree>
    <p:extLst>
      <p:ext uri="{BB962C8B-B14F-4D97-AF65-F5344CB8AC3E}">
        <p14:creationId xmlns:p14="http://schemas.microsoft.com/office/powerpoint/2010/main" val="31999813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dirty="0"/>
              <a:t>Own Elasticity</a:t>
            </a:r>
          </a:p>
        </p:txBody>
      </p:sp>
      <p:sp>
        <p:nvSpPr>
          <p:cNvPr id="6148" name="Text Box 4"/>
          <p:cNvSpPr txBox="1">
            <a:spLocks noChangeArrowheads="1"/>
          </p:cNvSpPr>
          <p:nvPr/>
        </p:nvSpPr>
        <p:spPr bwMode="auto">
          <a:xfrm>
            <a:off x="2743200" y="5029200"/>
            <a:ext cx="4522788" cy="1184275"/>
          </a:xfrm>
          <a:prstGeom prst="rect">
            <a:avLst/>
          </a:prstGeom>
          <a:noFill/>
          <a:ln w="12700">
            <a:noFill/>
            <a:miter lim="800000"/>
            <a:headEnd/>
            <a:tailEnd/>
          </a:ln>
        </p:spPr>
        <p:txBody>
          <a:bodyPr wrap="none" lIns="90488" tIns="44450" rIns="90488" bIns="44450">
            <a:spAutoFit/>
          </a:bodyPr>
          <a:lstStyle/>
          <a:p>
            <a:r>
              <a:rPr lang="en-US"/>
              <a:t>Notice: C&amp;P Price Constant</a:t>
            </a:r>
          </a:p>
          <a:p>
            <a:endParaRPr lang="en-US"/>
          </a:p>
          <a:p>
            <a:r>
              <a:rPr lang="en-US"/>
              <a:t>Regression: Own Elasticity = –1.75</a:t>
            </a:r>
          </a:p>
        </p:txBody>
      </p:sp>
      <p:graphicFrame>
        <p:nvGraphicFramePr>
          <p:cNvPr id="6146" name="Object 5"/>
          <p:cNvGraphicFramePr>
            <a:graphicFrameLocks noChangeAspect="1"/>
          </p:cNvGraphicFramePr>
          <p:nvPr/>
        </p:nvGraphicFramePr>
        <p:xfrm>
          <a:off x="2362200" y="1981200"/>
          <a:ext cx="4614863" cy="2733675"/>
        </p:xfrm>
        <a:graphic>
          <a:graphicData uri="http://schemas.openxmlformats.org/presentationml/2006/ole">
            <mc:AlternateContent xmlns:mc="http://schemas.openxmlformats.org/markup-compatibility/2006">
              <mc:Choice xmlns:v="urn:schemas-microsoft-com:vml" Requires="v">
                <p:oleObj name="Worksheet" r:id="rId2" imgW="2621160" imgH="1552680" progId="Excel.Sheet.8">
                  <p:embed/>
                </p:oleObj>
              </mc:Choice>
              <mc:Fallback>
                <p:oleObj name="Worksheet" r:id="rId2" imgW="2621160" imgH="1552680" progId="Excel.Sheet.8">
                  <p:embed/>
                  <p:pic>
                    <p:nvPicPr>
                      <p:cNvPr id="614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981200"/>
                        <a:ext cx="4614863" cy="273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46</a:t>
            </a:fld>
            <a:endParaRPr lang="en-US"/>
          </a:p>
        </p:txBody>
      </p:sp>
    </p:spTree>
    <p:extLst>
      <p:ext uri="{BB962C8B-B14F-4D97-AF65-F5344CB8AC3E}">
        <p14:creationId xmlns:p14="http://schemas.microsoft.com/office/powerpoint/2010/main" val="38610744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dirty="0"/>
              <a:t>Cross Elasticity</a:t>
            </a:r>
          </a:p>
        </p:txBody>
      </p:sp>
      <p:graphicFrame>
        <p:nvGraphicFramePr>
          <p:cNvPr id="7170" name="Object 4"/>
          <p:cNvGraphicFramePr>
            <a:graphicFrameLocks noChangeAspect="1"/>
          </p:cNvGraphicFramePr>
          <p:nvPr/>
        </p:nvGraphicFramePr>
        <p:xfrm>
          <a:off x="2438400" y="1752600"/>
          <a:ext cx="4876800" cy="2889250"/>
        </p:xfrm>
        <a:graphic>
          <a:graphicData uri="http://schemas.openxmlformats.org/presentationml/2006/ole">
            <mc:AlternateContent xmlns:mc="http://schemas.openxmlformats.org/markup-compatibility/2006">
              <mc:Choice xmlns:v="urn:schemas-microsoft-com:vml" Requires="v">
                <p:oleObj name="Worksheet" r:id="rId2" imgW="2621160" imgH="1552680" progId="Excel.Sheet.8">
                  <p:embed/>
                </p:oleObj>
              </mc:Choice>
              <mc:Fallback>
                <p:oleObj name="Worksheet" r:id="rId2" imgW="2621160" imgH="1552680" progId="Excel.Sheet.8">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752600"/>
                        <a:ext cx="4876800" cy="288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2" name="Text Box 5"/>
          <p:cNvSpPr txBox="1">
            <a:spLocks noChangeArrowheads="1"/>
          </p:cNvSpPr>
          <p:nvPr/>
        </p:nvSpPr>
        <p:spPr bwMode="auto">
          <a:xfrm>
            <a:off x="2514600" y="5029200"/>
            <a:ext cx="4643438" cy="1184275"/>
          </a:xfrm>
          <a:prstGeom prst="rect">
            <a:avLst/>
          </a:prstGeom>
          <a:noFill/>
          <a:ln w="12700">
            <a:noFill/>
            <a:miter lim="800000"/>
            <a:headEnd/>
            <a:tailEnd/>
          </a:ln>
        </p:spPr>
        <p:txBody>
          <a:bodyPr wrap="none" lIns="90488" tIns="44450" rIns="90488" bIns="44450">
            <a:spAutoFit/>
          </a:bodyPr>
          <a:lstStyle/>
          <a:p>
            <a:r>
              <a:rPr lang="en-US"/>
              <a:t>Notice: Beauregard Price Constant</a:t>
            </a:r>
          </a:p>
          <a:p>
            <a:endParaRPr lang="en-US"/>
          </a:p>
          <a:p>
            <a:r>
              <a:rPr lang="en-US"/>
              <a:t>Regression: Cross Elasticity = +1.59</a:t>
            </a:r>
          </a:p>
        </p:txBody>
      </p:sp>
      <p:sp>
        <p:nvSpPr>
          <p:cNvPr id="2" name="Slide Number Placeholder 1"/>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47</a:t>
            </a:fld>
            <a:endParaRPr lang="en-US"/>
          </a:p>
        </p:txBody>
      </p:sp>
    </p:spTree>
    <p:extLst>
      <p:ext uri="{BB962C8B-B14F-4D97-AF65-F5344CB8AC3E}">
        <p14:creationId xmlns:p14="http://schemas.microsoft.com/office/powerpoint/2010/main" val="28692619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sz="4000" dirty="0"/>
              <a:t>Profits</a:t>
            </a:r>
          </a:p>
        </p:txBody>
      </p:sp>
      <p:sp>
        <p:nvSpPr>
          <p:cNvPr id="32771" name="Rectangle 4"/>
          <p:cNvSpPr>
            <a:spLocks noChangeArrowheads="1"/>
          </p:cNvSpPr>
          <p:nvPr/>
        </p:nvSpPr>
        <p:spPr bwMode="auto">
          <a:xfrm>
            <a:off x="1295400" y="1219200"/>
            <a:ext cx="5410200" cy="2565400"/>
          </a:xfrm>
          <a:prstGeom prst="rect">
            <a:avLst/>
          </a:prstGeom>
          <a:noFill/>
          <a:ln w="12700">
            <a:noFill/>
            <a:miter lim="800000"/>
            <a:headEnd/>
            <a:tailEnd/>
          </a:ln>
        </p:spPr>
        <p:txBody>
          <a:bodyPr lIns="0" tIns="0" rIns="0" bIns="0">
            <a:spAutoFit/>
          </a:bodyPr>
          <a:lstStyle/>
          <a:p>
            <a:pPr eaLnBrk="1" hangingPunct="1">
              <a:tabLst>
                <a:tab pos="2743200" algn="l"/>
                <a:tab pos="3657600" algn="l"/>
                <a:tab pos="4572000" algn="l"/>
              </a:tabLst>
            </a:pPr>
            <a:endParaRPr lang="en-US" sz="2800" b="1" u="sng">
              <a:cs typeface="Times New Roman" pitchFamily="18" charset="0"/>
            </a:endParaRPr>
          </a:p>
          <a:p>
            <a:pPr eaLnBrk="1" hangingPunct="1">
              <a:tabLst>
                <a:tab pos="2743200" algn="l"/>
                <a:tab pos="3657600" algn="l"/>
                <a:tab pos="4572000" algn="l"/>
              </a:tabLst>
            </a:pPr>
            <a:r>
              <a:rPr lang="en-US" sz="2800" b="1" u="sng">
                <a:cs typeface="Times New Roman" pitchFamily="18" charset="0"/>
              </a:rPr>
              <a:t>BTC</a:t>
            </a:r>
          </a:p>
          <a:p>
            <a:pPr>
              <a:tabLst>
                <a:tab pos="2743200" algn="l"/>
                <a:tab pos="3657600" algn="l"/>
                <a:tab pos="4572000" algn="l"/>
              </a:tabLst>
            </a:pPr>
            <a:r>
              <a:rPr lang="en-US" sz="1600">
                <a:cs typeface="Times New Roman" pitchFamily="18" charset="0"/>
              </a:rPr>
              <a:t>Price	$4.00</a:t>
            </a:r>
          </a:p>
          <a:p>
            <a:pPr>
              <a:tabLst>
                <a:tab pos="2743200" algn="l"/>
                <a:tab pos="3657600" algn="l"/>
                <a:tab pos="4572000" algn="l"/>
              </a:tabLst>
            </a:pPr>
            <a:r>
              <a:rPr lang="en-US" sz="1600">
                <a:cs typeface="Times New Roman" pitchFamily="18" charset="0"/>
              </a:rPr>
              <a:t>Direct Labor	0.80</a:t>
            </a:r>
          </a:p>
          <a:p>
            <a:pPr>
              <a:tabLst>
                <a:tab pos="2743200" algn="l"/>
                <a:tab pos="3657600" algn="l"/>
                <a:tab pos="4572000" algn="l"/>
              </a:tabLst>
            </a:pPr>
            <a:r>
              <a:rPr lang="en-US" sz="1600">
                <a:cs typeface="Times New Roman" pitchFamily="18" charset="0"/>
              </a:rPr>
              <a:t>Material	0.40</a:t>
            </a:r>
          </a:p>
          <a:p>
            <a:pPr>
              <a:tabLst>
                <a:tab pos="2743200" algn="l"/>
                <a:tab pos="3657600" algn="l"/>
                <a:tab pos="4572000" algn="l"/>
              </a:tabLst>
            </a:pPr>
            <a:r>
              <a:rPr lang="en-US" sz="1600">
                <a:cs typeface="Times New Roman" pitchFamily="18" charset="0"/>
              </a:rPr>
              <a:t>Mat’l Spoilage	0.04</a:t>
            </a:r>
          </a:p>
          <a:p>
            <a:pPr>
              <a:tabLst>
                <a:tab pos="2743200" algn="l"/>
                <a:tab pos="3657600" algn="l"/>
                <a:tab pos="4572000" algn="l"/>
              </a:tabLst>
            </a:pPr>
            <a:r>
              <a:rPr lang="en-US" sz="1600">
                <a:cs typeface="Times New Roman" pitchFamily="18" charset="0"/>
              </a:rPr>
              <a:t>Dir Dept Exp	0.12</a:t>
            </a:r>
          </a:p>
          <a:p>
            <a:pPr>
              <a:tabLst>
                <a:tab pos="2743200" algn="l"/>
                <a:tab pos="3657600" algn="l"/>
                <a:tab pos="4572000" algn="l"/>
              </a:tabLst>
            </a:pPr>
            <a:r>
              <a:rPr lang="en-US" sz="1600">
                <a:cs typeface="Times New Roman" pitchFamily="18" charset="0"/>
              </a:rPr>
              <a:t>Total Relevant Costs		$1.36</a:t>
            </a:r>
          </a:p>
          <a:p>
            <a:pPr>
              <a:tabLst>
                <a:tab pos="2743200" algn="l"/>
                <a:tab pos="3657600" algn="l"/>
                <a:tab pos="4572000" algn="l"/>
              </a:tabLst>
            </a:pPr>
            <a:r>
              <a:rPr lang="en-US" sz="1600">
                <a:cs typeface="Times New Roman" pitchFamily="18" charset="0"/>
              </a:rPr>
              <a:t>Total Contribution at 75,000 yds			$198,000</a:t>
            </a:r>
            <a:endParaRPr lang="en-US" sz="3200"/>
          </a:p>
        </p:txBody>
      </p:sp>
      <p:sp>
        <p:nvSpPr>
          <p:cNvPr id="32772" name="Rectangle 5"/>
          <p:cNvSpPr>
            <a:spLocks noChangeArrowheads="1"/>
          </p:cNvSpPr>
          <p:nvPr/>
        </p:nvSpPr>
        <p:spPr bwMode="auto">
          <a:xfrm>
            <a:off x="1295400" y="3886200"/>
            <a:ext cx="5715000" cy="2565400"/>
          </a:xfrm>
          <a:prstGeom prst="rect">
            <a:avLst/>
          </a:prstGeom>
          <a:noFill/>
          <a:ln w="12700">
            <a:noFill/>
            <a:miter lim="800000"/>
            <a:headEnd/>
            <a:tailEnd/>
          </a:ln>
        </p:spPr>
        <p:txBody>
          <a:bodyPr lIns="0" tIns="0" rIns="0" bIns="0">
            <a:spAutoFit/>
          </a:bodyPr>
          <a:lstStyle/>
          <a:p>
            <a:pPr eaLnBrk="1" hangingPunct="1">
              <a:tabLst>
                <a:tab pos="2743200" algn="l"/>
                <a:tab pos="3657600" algn="l"/>
                <a:tab pos="4572000" algn="l"/>
              </a:tabLst>
            </a:pPr>
            <a:endParaRPr lang="en-US" sz="2800" b="1" u="sng">
              <a:cs typeface="Times New Roman" pitchFamily="18" charset="0"/>
            </a:endParaRPr>
          </a:p>
          <a:p>
            <a:pPr eaLnBrk="1" hangingPunct="1">
              <a:tabLst>
                <a:tab pos="2743200" algn="l"/>
                <a:tab pos="3657600" algn="l"/>
                <a:tab pos="4572000" algn="l"/>
              </a:tabLst>
            </a:pPr>
            <a:r>
              <a:rPr lang="en-US" sz="2800" b="1" u="sng">
                <a:cs typeface="Times New Roman" pitchFamily="18" charset="0"/>
              </a:rPr>
              <a:t>C&amp;P</a:t>
            </a:r>
          </a:p>
          <a:p>
            <a:pPr>
              <a:tabLst>
                <a:tab pos="2743200" algn="l"/>
                <a:tab pos="3657600" algn="l"/>
                <a:tab pos="4572000" algn="l"/>
              </a:tabLst>
            </a:pPr>
            <a:r>
              <a:rPr lang="en-US" sz="1600">
                <a:cs typeface="Times New Roman" pitchFamily="18" charset="0"/>
              </a:rPr>
              <a:t>Price	$3.00</a:t>
            </a:r>
          </a:p>
          <a:p>
            <a:pPr>
              <a:tabLst>
                <a:tab pos="2743200" algn="l"/>
                <a:tab pos="3657600" algn="l"/>
                <a:tab pos="4572000" algn="l"/>
              </a:tabLst>
            </a:pPr>
            <a:r>
              <a:rPr lang="en-US" sz="1600">
                <a:cs typeface="Times New Roman" pitchFamily="18" charset="0"/>
              </a:rPr>
              <a:t>Direct Labor	0.740</a:t>
            </a:r>
          </a:p>
          <a:p>
            <a:pPr>
              <a:tabLst>
                <a:tab pos="2743200" algn="l"/>
                <a:tab pos="3657600" algn="l"/>
                <a:tab pos="4572000" algn="l"/>
              </a:tabLst>
            </a:pPr>
            <a:r>
              <a:rPr lang="en-US" sz="1600">
                <a:cs typeface="Times New Roman" pitchFamily="18" charset="0"/>
              </a:rPr>
              <a:t>Material	0.400</a:t>
            </a:r>
          </a:p>
          <a:p>
            <a:pPr>
              <a:tabLst>
                <a:tab pos="2743200" algn="l"/>
                <a:tab pos="3657600" algn="l"/>
                <a:tab pos="4572000" algn="l"/>
              </a:tabLst>
            </a:pPr>
            <a:r>
              <a:rPr lang="en-US" sz="1600">
                <a:cs typeface="Times New Roman" pitchFamily="18" charset="0"/>
              </a:rPr>
              <a:t>Mat’l Spoilage	0.038</a:t>
            </a:r>
          </a:p>
          <a:p>
            <a:pPr>
              <a:tabLst>
                <a:tab pos="2743200" algn="l"/>
                <a:tab pos="3657600" algn="l"/>
                <a:tab pos="4572000" algn="l"/>
              </a:tabLst>
            </a:pPr>
            <a:r>
              <a:rPr lang="en-US" sz="1600">
                <a:cs typeface="Times New Roman" pitchFamily="18" charset="0"/>
              </a:rPr>
              <a:t>Dir Dept Exp	0.100</a:t>
            </a:r>
          </a:p>
          <a:p>
            <a:pPr>
              <a:tabLst>
                <a:tab pos="2743200" algn="l"/>
                <a:tab pos="3657600" algn="l"/>
                <a:tab pos="4572000" algn="l"/>
              </a:tabLst>
            </a:pPr>
            <a:r>
              <a:rPr lang="en-US" sz="1600">
                <a:cs typeface="Times New Roman" pitchFamily="18" charset="0"/>
              </a:rPr>
              <a:t>Total Relevant Costs		$1.278</a:t>
            </a:r>
          </a:p>
          <a:p>
            <a:pPr>
              <a:tabLst>
                <a:tab pos="2743200" algn="l"/>
                <a:tab pos="3657600" algn="l"/>
                <a:tab pos="4572000" algn="l"/>
              </a:tabLst>
            </a:pPr>
            <a:r>
              <a:rPr lang="en-US" sz="1600">
                <a:cs typeface="Times New Roman" pitchFamily="18" charset="0"/>
              </a:rPr>
              <a:t>Total Contribution at 150,000 yds		$258,300</a:t>
            </a:r>
            <a:endParaRPr lang="en-US" sz="3200"/>
          </a:p>
        </p:txBody>
      </p:sp>
      <p:sp>
        <p:nvSpPr>
          <p:cNvPr id="2" name="Slide Number Placeholder 1"/>
          <p:cNvSpPr>
            <a:spLocks noGrp="1"/>
          </p:cNvSpPr>
          <p:nvPr>
            <p:ph type="sldNum" sz="quarter" idx="12"/>
          </p:nvPr>
        </p:nvSpPr>
        <p:spPr/>
        <p:txBody>
          <a:bodyPr>
            <a:normAutofit fontScale="85000" lnSpcReduction="20000"/>
          </a:bodyPr>
          <a:lstStyle/>
          <a:p>
            <a:pPr>
              <a:defRPr/>
            </a:pPr>
            <a:fld id="{3A761A1B-CB74-456B-BE08-D13284643064}" type="slidenum">
              <a:rPr lang="en-US" smtClean="0"/>
              <a:pPr>
                <a:defRPr/>
              </a:pPr>
              <a:t>48</a:t>
            </a:fld>
            <a:endParaRPr lang="en-US"/>
          </a:p>
        </p:txBody>
      </p:sp>
    </p:spTree>
    <p:extLst>
      <p:ext uri="{BB962C8B-B14F-4D97-AF65-F5344CB8AC3E}">
        <p14:creationId xmlns:p14="http://schemas.microsoft.com/office/powerpoint/2010/main" val="2604495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Payoffs</a:t>
            </a:r>
          </a:p>
        </p:txBody>
      </p:sp>
      <p:sp>
        <p:nvSpPr>
          <p:cNvPr id="3" name="Content Placeholder 2"/>
          <p:cNvSpPr>
            <a:spLocks noGrp="1"/>
          </p:cNvSpPr>
          <p:nvPr>
            <p:ph sz="quarter" idx="1"/>
          </p:nvPr>
        </p:nvSpPr>
        <p:spPr/>
        <p:txBody>
          <a:bodyPr/>
          <a:lstStyle/>
          <a:p>
            <a:pPr>
              <a:spcBef>
                <a:spcPts val="1200"/>
              </a:spcBef>
              <a:spcAft>
                <a:spcPts val="1200"/>
              </a:spcAft>
            </a:pPr>
            <a:r>
              <a:rPr lang="en-US" dirty="0"/>
              <a:t>The cells in the payoff matrix are computed by using the cost data and predicted sales</a:t>
            </a:r>
          </a:p>
          <a:p>
            <a:pPr>
              <a:spcBef>
                <a:spcPts val="1200"/>
              </a:spcBef>
              <a:spcAft>
                <a:spcPts val="1200"/>
              </a:spcAft>
            </a:pPr>
            <a:r>
              <a:rPr lang="en-US" dirty="0"/>
              <a:t>Use elasticities to predict sales</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49</a:t>
            </a:fld>
            <a:endParaRPr lang="en-US"/>
          </a:p>
        </p:txBody>
      </p:sp>
    </p:spTree>
    <p:extLst>
      <p:ext uri="{BB962C8B-B14F-4D97-AF65-F5344CB8AC3E}">
        <p14:creationId xmlns:p14="http://schemas.microsoft.com/office/powerpoint/2010/main" val="590349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Black Friday as a Prisoner’s Dilemma</a:t>
            </a:r>
          </a:p>
        </p:txBody>
      </p:sp>
      <p:sp>
        <p:nvSpPr>
          <p:cNvPr id="3" name="Title 2"/>
          <p:cNvSpPr>
            <a:spLocks noGrp="1"/>
          </p:cNvSpPr>
          <p:nvPr>
            <p:ph type="title"/>
          </p:nvPr>
        </p:nvSpPr>
        <p:spPr/>
        <p:txBody>
          <a:bodyPr/>
          <a:lstStyle/>
          <a:p>
            <a:r>
              <a:rPr lang="en-US" dirty="0"/>
              <a:t>Appendix</a:t>
            </a:r>
          </a:p>
        </p:txBody>
      </p:sp>
      <p:sp>
        <p:nvSpPr>
          <p:cNvPr id="4" name="Slide Number Placeholder 3"/>
          <p:cNvSpPr>
            <a:spLocks noGrp="1"/>
          </p:cNvSpPr>
          <p:nvPr>
            <p:ph type="sldNum" sz="quarter" idx="11"/>
          </p:nvPr>
        </p:nvSpPr>
        <p:spPr/>
        <p:txBody>
          <a:bodyPr/>
          <a:lstStyle/>
          <a:p>
            <a:pPr>
              <a:defRPr/>
            </a:pPr>
            <a:fld id="{933868AA-CDF1-43EF-A2C4-0B669FC33D03}" type="slidenum">
              <a:rPr lang="en-US" smtClean="0"/>
              <a:pPr>
                <a:defRPr/>
              </a:pPr>
              <a:t>50</a:t>
            </a:fld>
            <a:endParaRPr lang="en-US"/>
          </a:p>
        </p:txBody>
      </p:sp>
    </p:spTree>
    <p:extLst>
      <p:ext uri="{BB962C8B-B14F-4D97-AF65-F5344CB8AC3E}">
        <p14:creationId xmlns:p14="http://schemas.microsoft.com/office/powerpoint/2010/main" val="27441804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Prisoners’ Dilemmas in Pricing</a:t>
            </a:r>
            <a:br>
              <a:rPr lang="en-US" sz="4400" dirty="0"/>
            </a:br>
            <a:r>
              <a:rPr lang="en-US" sz="3600" dirty="0"/>
              <a:t>FIRST to offer discounts to holiday shoppers</a:t>
            </a:r>
            <a:endParaRPr lang="en-US" dirty="0"/>
          </a:p>
        </p:txBody>
      </p:sp>
      <p:sp>
        <p:nvSpPr>
          <p:cNvPr id="3" name="Content Placeholder 2"/>
          <p:cNvSpPr>
            <a:spLocks noGrp="1"/>
          </p:cNvSpPr>
          <p:nvPr>
            <p:ph sz="quarter" idx="1"/>
          </p:nvPr>
        </p:nvSpPr>
        <p:spPr>
          <a:xfrm>
            <a:off x="612648" y="1600200"/>
            <a:ext cx="8153400" cy="5181600"/>
          </a:xfrm>
        </p:spPr>
        <p:txBody>
          <a:bodyPr>
            <a:normAutofit fontScale="47500" lnSpcReduction="20000"/>
          </a:bodyPr>
          <a:lstStyle/>
          <a:p>
            <a:r>
              <a:rPr lang="en-US" sz="3800" dirty="0">
                <a:latin typeface="Times New Roman" panose="02020603050405020304" pitchFamily="18" charset="0"/>
                <a:cs typeface="Times New Roman" panose="02020603050405020304" pitchFamily="18" charset="0"/>
                <a:hlinkClick r:id="rId2"/>
              </a:rPr>
              <a:t>Retailers Face “Prisoners' Dilemma" by Opening on Thanksgiving</a:t>
            </a:r>
          </a:p>
          <a:p>
            <a:pPr marL="0" indent="0" algn="r">
              <a:buNone/>
            </a:pPr>
            <a:endParaRPr lang="en-US" sz="1400" dirty="0">
              <a:latin typeface="Times New Roman" panose="02020603050405020304" pitchFamily="18" charset="0"/>
              <a:cs typeface="Times New Roman" panose="02020603050405020304" pitchFamily="18" charset="0"/>
            </a:endParaRPr>
          </a:p>
          <a:p>
            <a:r>
              <a:rPr lang="en-US" sz="3800" b="1" dirty="0">
                <a:hlinkClick r:id="rId3"/>
              </a:rPr>
              <a:t>Black Friday Deals…What’s all the fuss?</a:t>
            </a:r>
            <a:endParaRPr lang="en-US" sz="3800" b="1" dirty="0"/>
          </a:p>
          <a:p>
            <a:pPr marL="0" indent="0" algn="r">
              <a:buNone/>
            </a:pPr>
            <a:r>
              <a:rPr lang="en-US" sz="2500" dirty="0"/>
              <a:t>Jean-Pierre </a:t>
            </a:r>
            <a:r>
              <a:rPr lang="en-US" sz="2500" dirty="0" err="1"/>
              <a:t>Dubé</a:t>
            </a:r>
            <a:r>
              <a:rPr lang="en-US" sz="2500" dirty="0"/>
              <a:t>,  Sigmund E. </a:t>
            </a:r>
            <a:r>
              <a:rPr lang="en-US" sz="2500" dirty="0" err="1"/>
              <a:t>Edelstone</a:t>
            </a:r>
            <a:r>
              <a:rPr lang="en-US" sz="2500" dirty="0"/>
              <a:t> Professor of Marketing at the University of Chicago Booth School of Business joins Hannah and Dane to talk about how Black Friday deals are slowly losing their allure.</a:t>
            </a:r>
          </a:p>
          <a:p>
            <a:pPr marL="0" indent="0" algn="r">
              <a:buNone/>
            </a:pPr>
            <a:r>
              <a:rPr lang="en-US" sz="2300" cap="all" dirty="0"/>
              <a:t>WGN, 11-27-2015</a:t>
            </a:r>
          </a:p>
          <a:p>
            <a:endParaRPr lang="en-US" dirty="0"/>
          </a:p>
          <a:p>
            <a:r>
              <a:rPr lang="en-US" sz="3300" dirty="0"/>
              <a:t>Evolution of the “opening early on Thanksgiving” game</a:t>
            </a:r>
          </a:p>
          <a:p>
            <a:pPr lvl="1"/>
            <a:r>
              <a:rPr lang="en-US" sz="3300" dirty="0"/>
              <a:t>2011: Toys ‘R Us opened at 9pm</a:t>
            </a:r>
          </a:p>
          <a:p>
            <a:pPr lvl="1"/>
            <a:r>
              <a:rPr lang="en-US" sz="3300" dirty="0"/>
              <a:t>2012: Target and Lord &amp; Taylor</a:t>
            </a:r>
          </a:p>
          <a:p>
            <a:pPr lvl="1"/>
            <a:r>
              <a:rPr lang="en-US" sz="3300" dirty="0"/>
              <a:t>2013: Macy’s announced would open at 8pm</a:t>
            </a:r>
          </a:p>
          <a:p>
            <a:pPr lvl="2">
              <a:buFont typeface="Wingdings" panose="05000000000000000000" pitchFamily="2" charset="2"/>
              <a:buChar char="Ø"/>
            </a:pPr>
            <a:r>
              <a:rPr lang="en-US" sz="3300" dirty="0"/>
              <a:t>Target opened at 8pm</a:t>
            </a:r>
          </a:p>
          <a:p>
            <a:pPr lvl="2">
              <a:buFont typeface="Wingdings" panose="05000000000000000000" pitchFamily="2" charset="2"/>
              <a:buChar char="Ø"/>
            </a:pPr>
            <a:r>
              <a:rPr lang="en-US" sz="3300" dirty="0"/>
              <a:t>Walmart and Best Buy opened at 6pm</a:t>
            </a:r>
          </a:p>
          <a:p>
            <a:pPr lvl="2">
              <a:spcAft>
                <a:spcPts val="1200"/>
              </a:spcAft>
              <a:buFont typeface="Wingdings" panose="05000000000000000000" pitchFamily="2" charset="2"/>
              <a:buChar char="Ø"/>
            </a:pPr>
            <a:r>
              <a:rPr lang="en-US" sz="3300" dirty="0"/>
              <a:t>Toys ‘R Us opened at 5pm</a:t>
            </a:r>
          </a:p>
          <a:p>
            <a:pPr lvl="1"/>
            <a:r>
              <a:rPr lang="en-US" sz="3300" dirty="0">
                <a:solidFill>
                  <a:srgbClr val="FF0000"/>
                </a:solidFill>
              </a:rPr>
              <a:t>2014: Kmart opened at 6am!!!!</a:t>
            </a:r>
          </a:p>
          <a:p>
            <a:pPr lvl="1"/>
            <a:r>
              <a:rPr lang="en-US" sz="3300" dirty="0">
                <a:solidFill>
                  <a:srgbClr val="FF0000"/>
                </a:solidFill>
              </a:rPr>
              <a:t>2019 Store opening times: </a:t>
            </a:r>
            <a:r>
              <a:rPr lang="en-US" sz="3600" dirty="0">
                <a:hlinkClick r:id="rId4"/>
              </a:rPr>
              <a:t>https://www.retailmenot.com/blog/black-friday-store-hours.html</a:t>
            </a:r>
            <a:endParaRPr lang="en-US" sz="3300" dirty="0">
              <a:solidFill>
                <a:srgbClr val="FF0000"/>
              </a:solidFill>
            </a:endParaRPr>
          </a:p>
          <a:p>
            <a:endParaRPr lang="en-US" sz="3300" dirty="0"/>
          </a:p>
          <a:p>
            <a:r>
              <a:rPr lang="en-US" sz="3300" dirty="0"/>
              <a:t>Net benefit?  …   Costs?</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51</a:t>
            </a:fld>
            <a:endParaRPr lang="en-US"/>
          </a:p>
        </p:txBody>
      </p:sp>
    </p:spTree>
    <p:extLst>
      <p:ext uri="{BB962C8B-B14F-4D97-AF65-F5344CB8AC3E}">
        <p14:creationId xmlns:p14="http://schemas.microsoft.com/office/powerpoint/2010/main" val="187718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3" end="1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US"/>
          </a:p>
        </p:txBody>
      </p:sp>
      <p:sp>
        <p:nvSpPr>
          <p:cNvPr id="3" name="Title 2"/>
          <p:cNvSpPr>
            <a:spLocks noGrp="1"/>
          </p:cNvSpPr>
          <p:nvPr>
            <p:ph type="title"/>
          </p:nvPr>
        </p:nvSpPr>
        <p:spPr/>
        <p:txBody>
          <a:bodyPr/>
          <a:lstStyle/>
          <a:p>
            <a:r>
              <a:rPr lang="en-US" dirty="0"/>
              <a:t>Using R to find Nash equilibrium</a:t>
            </a:r>
          </a:p>
        </p:txBody>
      </p:sp>
      <p:sp>
        <p:nvSpPr>
          <p:cNvPr id="4" name="Slide Number Placeholder 3"/>
          <p:cNvSpPr>
            <a:spLocks noGrp="1"/>
          </p:cNvSpPr>
          <p:nvPr>
            <p:ph type="sldNum" sz="quarter" idx="11"/>
          </p:nvPr>
        </p:nvSpPr>
        <p:spPr/>
        <p:txBody>
          <a:bodyPr/>
          <a:lstStyle/>
          <a:p>
            <a:pPr>
              <a:defRPr/>
            </a:pPr>
            <a:fld id="{933868AA-CDF1-43EF-A2C4-0B669FC33D03}" type="slidenum">
              <a:rPr lang="en-US" smtClean="0"/>
              <a:pPr>
                <a:defRPr/>
              </a:pPr>
              <a:t>52</a:t>
            </a:fld>
            <a:endParaRPr lang="en-US"/>
          </a:p>
        </p:txBody>
      </p:sp>
    </p:spTree>
    <p:extLst>
      <p:ext uri="{BB962C8B-B14F-4D97-AF65-F5344CB8AC3E}">
        <p14:creationId xmlns:p14="http://schemas.microsoft.com/office/powerpoint/2010/main" val="39985804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455152" cy="990600"/>
          </a:xfrm>
        </p:spPr>
        <p:txBody>
          <a:bodyPr>
            <a:normAutofit fontScale="90000"/>
          </a:bodyPr>
          <a:lstStyle/>
          <a:p>
            <a:r>
              <a:rPr lang="en-US" sz="4400" dirty="0"/>
              <a:t>Case Study</a:t>
            </a:r>
            <a:br>
              <a:rPr lang="en-US" sz="4400" dirty="0"/>
            </a:br>
            <a:r>
              <a:rPr lang="en-US" dirty="0"/>
              <a:t>A hypothetical new competitor to </a:t>
            </a:r>
            <a:r>
              <a:rPr lang="en-US" dirty="0" err="1"/>
              <a:t>Ziprecruiter</a:t>
            </a:r>
            <a:endParaRPr lang="en-US" dirty="0"/>
          </a:p>
        </p:txBody>
      </p:sp>
      <p:sp>
        <p:nvSpPr>
          <p:cNvPr id="3" name="Content Placeholder 2"/>
          <p:cNvSpPr>
            <a:spLocks noGrp="1"/>
          </p:cNvSpPr>
          <p:nvPr>
            <p:ph sz="quarter" idx="1"/>
          </p:nvPr>
        </p:nvSpPr>
        <p:spPr/>
        <p:txBody>
          <a:bodyPr>
            <a:normAutofit/>
          </a:bodyPr>
          <a:lstStyle/>
          <a:p>
            <a:pPr>
              <a:spcBef>
                <a:spcPts val="1200"/>
              </a:spcBef>
              <a:spcAft>
                <a:spcPts val="1200"/>
              </a:spcAft>
            </a:pPr>
            <a:r>
              <a:rPr lang="en-US" dirty="0"/>
              <a:t>You have been hired by </a:t>
            </a:r>
            <a:r>
              <a:rPr lang="en-US" dirty="0" err="1"/>
              <a:t>Ziprecruiter</a:t>
            </a:r>
            <a:r>
              <a:rPr lang="en-US" dirty="0"/>
              <a:t> to analyze how its pricing power has changed after entry by a new competitor.</a:t>
            </a:r>
          </a:p>
          <a:p>
            <a:pPr>
              <a:spcBef>
                <a:spcPts val="1200"/>
              </a:spcBef>
              <a:spcAft>
                <a:spcPts val="1200"/>
              </a:spcAft>
            </a:pPr>
            <a:r>
              <a:rPr lang="en-US" dirty="0"/>
              <a:t>The new competitor has less visibility but also has a reasonably competitive platform.</a:t>
            </a:r>
          </a:p>
          <a:p>
            <a:pPr>
              <a:spcBef>
                <a:spcPts val="1200"/>
              </a:spcBef>
              <a:spcAft>
                <a:spcPts val="1200"/>
              </a:spcAft>
            </a:pPr>
            <a:r>
              <a:rPr lang="en-US" dirty="0"/>
              <a:t>Using web-browser data, you have already conducted an empirical analysis to determine demand for </a:t>
            </a:r>
            <a:r>
              <a:rPr lang="en-US" dirty="0" err="1"/>
              <a:t>Ziprecruiter</a:t>
            </a:r>
            <a:r>
              <a:rPr lang="en-US" dirty="0"/>
              <a:t> and demand for its new competitor.</a:t>
            </a:r>
          </a:p>
          <a:p>
            <a:pPr>
              <a:spcBef>
                <a:spcPts val="1200"/>
              </a:spcBef>
              <a:spcAft>
                <a:spcPts val="1200"/>
              </a:spcAft>
            </a:pPr>
            <a:r>
              <a:rPr lang="en-US" dirty="0"/>
              <a:t>Now, you want to analyze the Nash equilibrium in prices using numerical tools in R</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53</a:t>
            </a:fld>
            <a:endParaRPr lang="en-US" dirty="0"/>
          </a:p>
        </p:txBody>
      </p:sp>
    </p:spTree>
    <p:extLst>
      <p:ext uri="{BB962C8B-B14F-4D97-AF65-F5344CB8AC3E}">
        <p14:creationId xmlns:p14="http://schemas.microsoft.com/office/powerpoint/2010/main" val="21349725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Empirical Analysis of Demand</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153400" cy="4953000"/>
              </a:xfrm>
            </p:spPr>
            <p:txBody>
              <a:bodyPr>
                <a:normAutofit/>
              </a:bodyPr>
              <a:lstStyle/>
              <a:p>
                <a:pPr>
                  <a:spcBef>
                    <a:spcPts val="1200"/>
                  </a:spcBef>
                  <a:spcAft>
                    <a:spcPts val="1200"/>
                  </a:spcAft>
                </a:pPr>
                <a:r>
                  <a:rPr lang="en-US" dirty="0"/>
                  <a:t>As in module 2 appendix, use logistic model of demand. Now demand is trinomial (not binomial) since prospective customers can choose (1) Zip, (2) competitor, or (3) not purchase.</a:t>
                </a:r>
              </a:p>
              <a:p>
                <a:pPr>
                  <a:spcBef>
                    <a:spcPts val="1200"/>
                  </a:spcBef>
                  <a:spcAft>
                    <a:spcPts val="0"/>
                  </a:spcAft>
                </a:pPr>
                <a:r>
                  <a:rPr lang="en-US" dirty="0"/>
                  <a:t>Logit shares: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𝑍</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𝑍</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𝐶</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exp</m:t>
                          </m:r>
                          <m:d>
                            <m:dPr>
                              <m:ctrlPr>
                                <a:rPr lang="en-US" b="0" i="1" smtClean="0">
                                  <a:latin typeface="Cambria Math" panose="02040503050406030204" pitchFamily="18" charset="0"/>
                                </a:rPr>
                              </m:ctrlPr>
                            </m:dPr>
                            <m:e>
                              <m:r>
                                <a:rPr lang="en-US" b="0" i="1" smtClean="0">
                                  <a:latin typeface="Cambria Math" panose="02040503050406030204" pitchFamily="18" charset="0"/>
                                </a:rPr>
                                <m:t>−.6−.004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𝑍</m:t>
                                  </m:r>
                                </m:sub>
                              </m:sSub>
                            </m:e>
                          </m:d>
                        </m:num>
                        <m:den>
                          <m:r>
                            <a:rPr lang="en-US" b="0" i="1" smtClean="0">
                              <a:latin typeface="Cambria Math" panose="02040503050406030204" pitchFamily="18" charset="0"/>
                            </a:rPr>
                            <m:t>1+</m:t>
                          </m:r>
                          <m:r>
                            <m:rPr>
                              <m:sty m:val="p"/>
                            </m:rPr>
                            <a:rPr lang="en-US">
                              <a:latin typeface="Cambria Math" panose="02040503050406030204" pitchFamily="18" charset="0"/>
                            </a:rPr>
                            <m:t>exp</m:t>
                          </m:r>
                          <m:d>
                            <m:dPr>
                              <m:ctrlPr>
                                <a:rPr lang="en-US" i="1">
                                  <a:latin typeface="Cambria Math" panose="02040503050406030204" pitchFamily="18" charset="0"/>
                                </a:rPr>
                              </m:ctrlPr>
                            </m:dPr>
                            <m:e>
                              <m:r>
                                <a:rPr lang="en-US" b="0" i="1" smtClean="0">
                                  <a:latin typeface="Cambria Math" panose="02040503050406030204" pitchFamily="18" charset="0"/>
                                </a:rPr>
                                <m:t>−.6</m:t>
                              </m:r>
                              <m:r>
                                <a:rPr lang="en-US" i="1">
                                  <a:latin typeface="Cambria Math" panose="02040503050406030204" pitchFamily="18" charset="0"/>
                                </a:rPr>
                                <m:t>−.</m:t>
                              </m:r>
                              <m:r>
                                <a:rPr lang="en-US" b="0" i="1" smtClean="0">
                                  <a:latin typeface="Cambria Math" panose="02040503050406030204" pitchFamily="18" charset="0"/>
                                </a:rPr>
                                <m:t>004</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𝑍</m:t>
                                  </m:r>
                                </m:sub>
                              </m:sSub>
                            </m:e>
                          </m:d>
                          <m:r>
                            <a:rPr lang="en-US" b="0" i="1" smtClean="0">
                              <a:latin typeface="Cambria Math" panose="02040503050406030204" pitchFamily="18" charset="0"/>
                            </a:rPr>
                            <m:t>+</m:t>
                          </m:r>
                          <m:r>
                            <m:rPr>
                              <m:sty m:val="p"/>
                            </m:rPr>
                            <a:rPr lang="en-US">
                              <a:latin typeface="Cambria Math" panose="02040503050406030204" pitchFamily="18" charset="0"/>
                            </a:rPr>
                            <m:t>exp</m:t>
                          </m:r>
                          <m:d>
                            <m:dPr>
                              <m:ctrlPr>
                                <a:rPr lang="en-US" i="1">
                                  <a:latin typeface="Cambria Math" panose="02040503050406030204" pitchFamily="18" charset="0"/>
                                </a:rPr>
                              </m:ctrlPr>
                            </m:dPr>
                            <m:e>
                              <m:r>
                                <a:rPr lang="en-US" b="0" i="1" smtClean="0">
                                  <a:latin typeface="Cambria Math" panose="02040503050406030204" pitchFamily="18" charset="0"/>
                                </a:rPr>
                                <m:t>−.3</m:t>
                              </m:r>
                              <m:r>
                                <a:rPr lang="en-US" i="1">
                                  <a:latin typeface="Cambria Math" panose="02040503050406030204" pitchFamily="18" charset="0"/>
                                </a:rPr>
                                <m:t>−.</m:t>
                              </m:r>
                              <m:r>
                                <a:rPr lang="en-US" b="0" i="1" smtClean="0">
                                  <a:latin typeface="Cambria Math" panose="02040503050406030204" pitchFamily="18" charset="0"/>
                                </a:rPr>
                                <m:t>004</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𝐶</m:t>
                                  </m:r>
                                </m:sub>
                              </m:sSub>
                            </m:e>
                          </m:d>
                        </m:den>
                      </m:f>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𝐶</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exp</m:t>
                          </m:r>
                          <m:d>
                            <m:dPr>
                              <m:ctrlPr>
                                <a:rPr lang="en-US" i="1">
                                  <a:latin typeface="Cambria Math" panose="02040503050406030204" pitchFamily="18" charset="0"/>
                                </a:rPr>
                              </m:ctrlPr>
                            </m:dPr>
                            <m:e>
                              <m:r>
                                <a:rPr lang="en-US" b="0" i="1" smtClean="0">
                                  <a:latin typeface="Cambria Math" panose="02040503050406030204" pitchFamily="18" charset="0"/>
                                </a:rPr>
                                <m:t>−2</m:t>
                              </m:r>
                              <m:r>
                                <a:rPr lang="en-US" i="1">
                                  <a:latin typeface="Cambria Math" panose="02040503050406030204" pitchFamily="18" charset="0"/>
                                </a:rPr>
                                <m:t>−.</m:t>
                              </m:r>
                              <m:r>
                                <a:rPr lang="en-US" b="0" i="1" smtClean="0">
                                  <a:latin typeface="Cambria Math" panose="02040503050406030204" pitchFamily="18" charset="0"/>
                                </a:rPr>
                                <m:t>004</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𝐶</m:t>
                                  </m:r>
                                </m:sub>
                              </m:sSub>
                            </m:e>
                          </m:d>
                        </m:num>
                        <m:den>
                          <m:r>
                            <a:rPr lang="en-US" i="1">
                              <a:latin typeface="Cambria Math" panose="02040503050406030204" pitchFamily="18" charset="0"/>
                            </a:rPr>
                            <m:t>1+</m:t>
                          </m:r>
                          <m:r>
                            <m:rPr>
                              <m:sty m:val="p"/>
                            </m:rPr>
                            <a:rPr lang="en-US">
                              <a:latin typeface="Cambria Math" panose="02040503050406030204" pitchFamily="18" charset="0"/>
                            </a:rPr>
                            <m:t>exp</m:t>
                          </m:r>
                          <m:d>
                            <m:dPr>
                              <m:ctrlPr>
                                <a:rPr lang="en-US" i="1">
                                  <a:latin typeface="Cambria Math" panose="02040503050406030204" pitchFamily="18" charset="0"/>
                                </a:rPr>
                              </m:ctrlPr>
                            </m:dPr>
                            <m:e>
                              <m:r>
                                <a:rPr lang="en-US" i="1">
                                  <a:latin typeface="Cambria Math" panose="02040503050406030204" pitchFamily="18" charset="0"/>
                                </a:rPr>
                                <m:t>−.6−.004</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e>
                          </m:d>
                          <m:r>
                            <a:rPr lang="en-US" i="1">
                              <a:latin typeface="Cambria Math" panose="02040503050406030204" pitchFamily="18" charset="0"/>
                            </a:rPr>
                            <m:t>+</m:t>
                          </m:r>
                          <m:r>
                            <m:rPr>
                              <m:sty m:val="p"/>
                            </m:rPr>
                            <a:rPr lang="en-US">
                              <a:latin typeface="Cambria Math" panose="02040503050406030204" pitchFamily="18" charset="0"/>
                            </a:rPr>
                            <m:t>exp</m:t>
                          </m:r>
                          <m:d>
                            <m:dPr>
                              <m:ctrlPr>
                                <a:rPr lang="en-US" i="1">
                                  <a:latin typeface="Cambria Math" panose="02040503050406030204" pitchFamily="18" charset="0"/>
                                </a:rPr>
                              </m:ctrlPr>
                            </m:dPr>
                            <m:e>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−.004</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den>
                      </m:f>
                    </m:oMath>
                  </m:oMathPara>
                </a14:m>
                <a:endParaRPr lang="en-US" dirty="0"/>
              </a:p>
              <a:p>
                <a:pPr marL="0" indent="0">
                  <a:buNone/>
                </a:pPr>
                <a:endParaRPr lang="en-US" dirty="0"/>
              </a:p>
              <a:p>
                <a:pPr marL="0" indent="0">
                  <a:buNone/>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𝑍</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𝐶</m:t>
                        </m:r>
                      </m:sub>
                    </m:sSub>
                  </m:oMath>
                </a14:m>
                <a:r>
                  <a:rPr lang="en-US" dirty="0"/>
                  <a:t> are the prices for </a:t>
                </a:r>
                <a:r>
                  <a:rPr lang="en-US" dirty="0" err="1"/>
                  <a:t>Ziprecruiter</a:t>
                </a:r>
                <a:r>
                  <a:rPr lang="en-US" dirty="0"/>
                  <a:t> and competitor</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153400" cy="4953000"/>
              </a:xfrm>
              <a:blipFill>
                <a:blip r:embed="rId2"/>
                <a:stretch>
                  <a:fillRect l="-1197" t="-98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54</a:t>
            </a:fld>
            <a:endParaRPr lang="en-US" dirty="0"/>
          </a:p>
        </p:txBody>
      </p:sp>
    </p:spTree>
    <p:extLst>
      <p:ext uri="{BB962C8B-B14F-4D97-AF65-F5344CB8AC3E}">
        <p14:creationId xmlns:p14="http://schemas.microsoft.com/office/powerpoint/2010/main" val="30122674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Nash Equilibrium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153400" cy="4953000"/>
              </a:xfrm>
            </p:spPr>
            <p:txBody>
              <a:bodyPr>
                <a:normAutofit fontScale="92500"/>
              </a:bodyPr>
              <a:lstStyle/>
              <a:p>
                <a:r>
                  <a:rPr lang="en-US" dirty="0"/>
                  <a:t>The definition of Nash equilibrium in this case implies that both firms are simultaneously setting a price that </a:t>
                </a:r>
                <a:r>
                  <a:rPr lang="en-US" i="1" dirty="0"/>
                  <a:t>maximizes its profits.</a:t>
                </a:r>
              </a:p>
              <a:p>
                <a:r>
                  <a:rPr lang="en-US" dirty="0"/>
                  <a:t>In other words, each firm is setting a price that satisfies its inverse-elasticity rule: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𝑍</m:t>
                          </m:r>
                        </m:sub>
                      </m:sSub>
                      <m:r>
                        <a:rPr lang="en-US" i="1">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elas</m:t>
                              </m:r>
                            </m:e>
                            <m:sub>
                              <m:r>
                                <a:rPr lang="en-US" b="0" i="1" smtClean="0">
                                  <a:latin typeface="Cambria Math" panose="02040503050406030204" pitchFamily="18" charset="0"/>
                                </a:rPr>
                                <m:t>𝑍</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num>
                        <m:den>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m:rPr>
                                  <m:sty m:val="p"/>
                                </m:rPr>
                                <a:rPr lang="en-US">
                                  <a:latin typeface="Cambria Math" panose="02040503050406030204" pitchFamily="18" charset="0"/>
                                </a:rPr>
                                <m:t>elas</m:t>
                              </m:r>
                            </m:e>
                            <m:sub>
                              <m:r>
                                <a:rPr lang="en-US" b="0" i="0" smtClean="0">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den>
                      </m:f>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𝑍</m:t>
                          </m:r>
                        </m:sub>
                      </m:sSub>
                    </m:oMath>
                  </m:oMathPara>
                </a14:m>
                <a:endParaRPr lang="en-US" dirty="0"/>
              </a:p>
              <a:p>
                <a:pPr marL="0" indent="0">
                  <a:buNone/>
                </a:pPr>
                <a:endParaRPr lang="en-US" sz="1300"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𝐶</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a:latin typeface="Cambria Math" panose="02040503050406030204" pitchFamily="18" charset="0"/>
                                </a:rPr>
                                <m:t>elas</m:t>
                              </m:r>
                            </m:e>
                            <m:sub>
                              <m:r>
                                <a:rPr lang="en-US" b="0" i="1" smtClean="0">
                                  <a:latin typeface="Cambria Math" panose="02040503050406030204" pitchFamily="18" charset="0"/>
                                </a:rPr>
                                <m:t>𝐶</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num>
                        <m:den>
                          <m:r>
                            <a:rPr lang="en-US" i="1">
                              <a:latin typeface="Cambria Math" panose="02040503050406030204" pitchFamily="18" charset="0"/>
                            </a:rPr>
                            <m:t>1+</m:t>
                          </m:r>
                          <m:sSub>
                            <m:sSubPr>
                              <m:ctrlPr>
                                <a:rPr lang="en-US" b="0" i="1" smtClean="0">
                                  <a:latin typeface="Cambria Math" panose="02040503050406030204" pitchFamily="18" charset="0"/>
                                </a:rPr>
                              </m:ctrlPr>
                            </m:sSubPr>
                            <m:e>
                              <m:r>
                                <m:rPr>
                                  <m:sty m:val="p"/>
                                </m:rPr>
                                <a:rPr lang="en-US">
                                  <a:latin typeface="Cambria Math" panose="02040503050406030204" pitchFamily="18" charset="0"/>
                                </a:rPr>
                                <m:t>elas</m:t>
                              </m:r>
                            </m:e>
                            <m:sub>
                              <m:r>
                                <m:rPr>
                                  <m:sty m:val="p"/>
                                </m:rPr>
                                <a:rPr lang="en-US" b="0" i="0" smtClean="0">
                                  <a:latin typeface="Cambria Math" panose="02040503050406030204" pitchFamily="18" charset="0"/>
                                </a:rPr>
                                <m:t>C</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den>
                      </m:f>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𝐶</m:t>
                          </m:r>
                        </m:sub>
                      </m:sSub>
                    </m:oMath>
                  </m:oMathPara>
                </a14:m>
                <a:endParaRPr lang="en-US" dirty="0"/>
              </a:p>
              <a:p>
                <a:pPr marL="0" indent="0">
                  <a:buNone/>
                </a:pPr>
                <a:endParaRPr lang="en-US" dirty="0"/>
              </a:p>
              <a:p>
                <a:pPr marL="0" indent="0">
                  <a:buNone/>
                </a:pPr>
                <a:r>
                  <a:rPr lang="en-US" dirty="0"/>
                  <a:t>where unlike our log-log demand models, the own-price elasticity is now a function (as opposed to a constant number). Also, </a:t>
                </a:r>
                <a14:m>
                  <m:oMath xmlns:m="http://schemas.openxmlformats.org/officeDocument/2006/math">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𝑍</m:t>
                        </m:r>
                      </m:sub>
                    </m:sSub>
                  </m:oMath>
                </a14:m>
                <a:r>
                  <a:rPr lang="en-US" dirty="0"/>
                  <a:t> and </a:t>
                </a:r>
                <a14:m>
                  <m:oMath xmlns:m="http://schemas.openxmlformats.org/officeDocument/2006/math">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𝐶</m:t>
                        </m:r>
                      </m:sub>
                    </m:sSub>
                  </m:oMath>
                </a14:m>
                <a:r>
                  <a:rPr lang="en-US" dirty="0"/>
                  <a:t> are Zip’s and competitor’s marginal costs.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153400" cy="4953000"/>
              </a:xfrm>
              <a:blipFill>
                <a:blip r:embed="rId2"/>
                <a:stretch>
                  <a:fillRect l="-972" t="-862" r="-44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55</a:t>
            </a:fld>
            <a:endParaRPr lang="en-US" dirty="0"/>
          </a:p>
        </p:txBody>
      </p:sp>
    </p:spTree>
    <p:extLst>
      <p:ext uri="{BB962C8B-B14F-4D97-AF65-F5344CB8AC3E}">
        <p14:creationId xmlns:p14="http://schemas.microsoft.com/office/powerpoint/2010/main" val="5978047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Nash Equilibrium</a:t>
            </a:r>
            <a:br>
              <a:rPr lang="en-US" sz="4400" dirty="0"/>
            </a:br>
            <a:r>
              <a:rPr lang="en-US" sz="3600" dirty="0"/>
              <a:t>Information Goods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153400" cy="4953000"/>
              </a:xfrm>
            </p:spPr>
            <p:txBody>
              <a:bodyPr>
                <a:normAutofit/>
              </a:bodyPr>
              <a:lstStyle/>
              <a:p>
                <a:r>
                  <a:rPr lang="en-US" dirty="0"/>
                  <a:t>Zip and competitor face zero marginal costs because their service is digitized: </a:t>
                </a:r>
                <a14:m>
                  <m:oMath xmlns:m="http://schemas.openxmlformats.org/officeDocument/2006/math">
                    <m:r>
                      <a:rPr lang="en-US" i="1">
                        <a:latin typeface="Cambria Math" panose="02040503050406030204" pitchFamily="18" charset="0"/>
                      </a:rPr>
                      <m:t>𝑚</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𝑍</m:t>
                        </m:r>
                      </m:sub>
                    </m:sSub>
                    <m:r>
                      <a:rPr lang="en-US" b="0" i="1" smtClean="0">
                        <a:latin typeface="Cambria Math" panose="02040503050406030204" pitchFamily="18" charset="0"/>
                      </a:rPr>
                      <m:t>=</m:t>
                    </m:r>
                    <m:r>
                      <a:rPr lang="en-US" b="0" i="1" smtClean="0">
                        <a:latin typeface="Cambria Math" panose="02040503050406030204" pitchFamily="18" charset="0"/>
                      </a:rPr>
                      <m:t>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𝐶</m:t>
                        </m:r>
                      </m:sub>
                    </m:sSub>
                    <m:r>
                      <a:rPr lang="en-US" b="0" i="1" smtClean="0">
                        <a:latin typeface="Cambria Math" panose="02040503050406030204" pitchFamily="18" charset="0"/>
                      </a:rPr>
                      <m:t>=0</m:t>
                    </m:r>
                  </m:oMath>
                </a14:m>
                <a:endParaRPr lang="en-US" i="1" dirty="0"/>
              </a:p>
              <a:p>
                <a:r>
                  <a:rPr lang="en-US" dirty="0"/>
                  <a:t>From module 2 appendix, we know we can simplify the pricing rules to:</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elas</m:t>
                          </m:r>
                        </m:e>
                        <m:sub>
                          <m:r>
                            <a:rPr lang="en-US" i="1">
                              <a:latin typeface="Cambria Math" panose="02040503050406030204" pitchFamily="18" charset="0"/>
                            </a:rPr>
                            <m:t>𝑍</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elas</m:t>
                          </m:r>
                        </m:e>
                        <m:sub>
                          <m:r>
                            <a:rPr lang="en-US" i="1">
                              <a:latin typeface="Cambria Math" panose="02040503050406030204" pitchFamily="18" charset="0"/>
                            </a:rPr>
                            <m:t>𝐶</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r>
                        <a:rPr lang="en-US" b="0" i="1" smtClean="0">
                          <a:latin typeface="Cambria Math" panose="02040503050406030204" pitchFamily="18" charset="0"/>
                        </a:rPr>
                        <m:t>=−1</m:t>
                      </m:r>
                    </m:oMath>
                  </m:oMathPara>
                </a14:m>
                <a:endParaRPr lang="en-US" dirty="0"/>
              </a:p>
              <a:p>
                <a:pPr marL="0" indent="0">
                  <a:buNone/>
                </a:pPr>
                <a:endParaRPr lang="en-US" dirty="0"/>
              </a:p>
              <a:p>
                <a:pPr marL="0" indent="0">
                  <a:buNone/>
                </a:pPr>
                <a:r>
                  <a:rPr lang="en-US" dirty="0"/>
                  <a:t>i.e., a Nash equilibrium for these two </a:t>
                </a:r>
                <a:r>
                  <a:rPr lang="en-US" i="1" dirty="0"/>
                  <a:t>information-goods services </a:t>
                </a:r>
                <a:r>
                  <a:rPr lang="en-US" dirty="0"/>
                  <a:t>will be a pair of prices where both firms are pricing on the inelastic region of demand.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153400" cy="4953000"/>
              </a:xfrm>
              <a:blipFill>
                <a:blip r:embed="rId2"/>
                <a:stretch>
                  <a:fillRect l="-1197" t="-985" r="-104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56</a:t>
            </a:fld>
            <a:endParaRPr lang="en-US" dirty="0"/>
          </a:p>
        </p:txBody>
      </p:sp>
    </p:spTree>
    <p:extLst>
      <p:ext uri="{BB962C8B-B14F-4D97-AF65-F5344CB8AC3E}">
        <p14:creationId xmlns:p14="http://schemas.microsoft.com/office/powerpoint/2010/main" val="15882434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Own Price Elasticity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612648" y="1600200"/>
                <a:ext cx="8378952" cy="4953000"/>
              </a:xfrm>
            </p:spPr>
            <p:txBody>
              <a:bodyPr>
                <a:normAutofit lnSpcReduction="10000"/>
              </a:bodyPr>
              <a:lstStyle/>
              <a:p>
                <a:r>
                  <a:rPr lang="en-US" dirty="0"/>
                  <a:t>To compute an own-price elasticity, use the formula:</a:t>
                </a: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elas</m:t>
                          </m:r>
                        </m:e>
                        <m:sub>
                          <m:r>
                            <a:rPr lang="en-US" b="0" i="1" smtClean="0">
                              <a:latin typeface="Cambria Math" panose="02040503050406030204" pitchFamily="18" charset="0"/>
                            </a:rPr>
                            <m:t>𝑍</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𝑍</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𝐶</m:t>
                                  </m:r>
                                </m:sub>
                              </m:sSub>
                            </m:e>
                          </m:d>
                        </m:num>
                        <m:den>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𝑍</m:t>
                              </m:r>
                            </m:sub>
                          </m:sSub>
                        </m:den>
                      </m:f>
                      <m:f>
                        <m:fPr>
                          <m:ctrlPr>
                            <a:rPr lang="en-US" i="1">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𝑍</m:t>
                              </m:r>
                            </m:sub>
                          </m:sSub>
                        </m:num>
                        <m:den>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𝑍</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𝐶</m:t>
                                  </m:r>
                                </m:sub>
                              </m:sSub>
                            </m:e>
                          </m:d>
                        </m:den>
                      </m:f>
                    </m:oMath>
                  </m:oMathPara>
                </a14:m>
                <a:endParaRPr lang="en-US" dirty="0"/>
              </a:p>
              <a:p>
                <a:pPr marL="0" indent="0">
                  <a:spcBef>
                    <a:spcPts val="0"/>
                  </a:spcBef>
                  <a:buNone/>
                </a:pPr>
                <a:endParaRPr lang="en-US" sz="12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i="1">
                          <a:latin typeface="Cambria Math" panose="02040503050406030204" pitchFamily="18" charset="0"/>
                        </a:rPr>
                        <m:t>=</m:t>
                      </m:r>
                      <m:r>
                        <a:rPr lang="en-US" b="0" i="1" smtClean="0">
                          <a:latin typeface="Cambria Math" panose="02040503050406030204" pitchFamily="18" charset="0"/>
                        </a:rPr>
                        <m:t>−0.004</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2</m:t>
                                  </m:r>
                                </m:sub>
                              </m:sSub>
                            </m:e>
                          </m:d>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m:oMathPara>
                </a14:m>
                <a:endParaRPr lang="en-US" dirty="0"/>
              </a:p>
              <a:p>
                <a:pPr marL="0" indent="0">
                  <a:buNone/>
                </a:pPr>
                <a:endParaRPr lang="en-US" dirty="0"/>
              </a:p>
              <a:p>
                <a:pPr marL="0" indent="0">
                  <a:buNone/>
                </a:pPr>
                <a:r>
                  <a:rPr lang="en-US" dirty="0"/>
                  <a:t>See if you can derive this result using calculus and a pen &amp; paper.</a:t>
                </a:r>
              </a:p>
              <a:p>
                <a:pPr marL="0" indent="0">
                  <a:buNone/>
                </a:pPr>
                <a:endParaRPr lang="en-US" dirty="0"/>
              </a:p>
              <a:p>
                <a:pPr marL="0" indent="0">
                  <a:buNone/>
                </a:pPr>
                <a:r>
                  <a:rPr lang="en-US" dirty="0"/>
                  <a:t>Similarly, the elasticity for competitor is: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elas</m:t>
                          </m:r>
                        </m:e>
                        <m:sub>
                          <m:r>
                            <m:rPr>
                              <m:sty m:val="p"/>
                            </m:rPr>
                            <a:rPr lang="en-US" b="0" i="0" smtClean="0">
                              <a:latin typeface="Cambria Math" panose="02040503050406030204" pitchFamily="18" charset="0"/>
                            </a:rPr>
                            <m:t>C</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r>
                        <a:rPr lang="en-US" i="1">
                          <a:latin typeface="Cambria Math" panose="02040503050406030204" pitchFamily="18" charset="0"/>
                        </a:rPr>
                        <m:t>=−0.</m:t>
                      </m:r>
                      <m:r>
                        <a:rPr lang="en-US" b="0" i="1" smtClean="0">
                          <a:latin typeface="Cambria Math" panose="02040503050406030204" pitchFamily="18" charset="0"/>
                        </a:rPr>
                        <m:t>004</m:t>
                      </m:r>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𝐶</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𝑍</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𝐶</m:t>
                                  </m:r>
                                </m:sub>
                              </m:sSub>
                            </m:e>
                          </m:d>
                        </m:e>
                      </m:d>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1</m:t>
                          </m:r>
                        </m:sub>
                      </m:sSub>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612648" y="1600200"/>
                <a:ext cx="8378952" cy="4953000"/>
              </a:xfrm>
              <a:blipFill>
                <a:blip r:embed="rId2"/>
                <a:stretch>
                  <a:fillRect l="-1164" t="-172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57</a:t>
            </a:fld>
            <a:endParaRPr lang="en-US" dirty="0"/>
          </a:p>
        </p:txBody>
      </p:sp>
    </p:spTree>
    <p:extLst>
      <p:ext uri="{BB962C8B-B14F-4D97-AF65-F5344CB8AC3E}">
        <p14:creationId xmlns:p14="http://schemas.microsoft.com/office/powerpoint/2010/main" val="41129738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the Nash Equilibrium</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pPr marL="0" indent="0">
                  <a:buNone/>
                </a:pPr>
                <a:r>
                  <a:rPr lang="en-US" dirty="0"/>
                  <a:t>To solve for the Nash equilibrium, we want to find prices </a:t>
                </a: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𝑝</m:t>
                        </m:r>
                      </m:e>
                      <m:sub>
                        <m:r>
                          <a:rPr lang="en-US" b="0" i="1" smtClean="0">
                            <a:latin typeface="Cambria Math" panose="02040503050406030204" pitchFamily="18" charset="0"/>
                          </a:rPr>
                          <m:t>𝑍</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r>
                      <m:rPr>
                        <m:sty m:val="p"/>
                      </m:rPr>
                      <a:rPr lang="en-US" b="0" i="0" smtClean="0">
                        <a:latin typeface="Cambria Math" panose="02040503050406030204" pitchFamily="18" charset="0"/>
                      </a:rPr>
                      <m:t>and</m:t>
                    </m:r>
                    <m:r>
                      <a:rPr lang="en-US" b="0" i="0"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i="1">
                            <a:latin typeface="Cambria Math" panose="02040503050406030204" pitchFamily="18" charset="0"/>
                          </a:rPr>
                          <m:t>𝑝</m:t>
                        </m:r>
                      </m:e>
                      <m:sub>
                        <m:r>
                          <a:rPr lang="en-US" b="0" i="1" smtClean="0">
                            <a:latin typeface="Cambria Math" panose="02040503050406030204" pitchFamily="18" charset="0"/>
                          </a:rPr>
                          <m:t>𝐶</m:t>
                        </m:r>
                      </m:sub>
                      <m:sup>
                        <m:r>
                          <a:rPr lang="en-US" b="0" i="1" smtClean="0">
                            <a:latin typeface="Cambria Math" panose="02040503050406030204" pitchFamily="18" charset="0"/>
                          </a:rPr>
                          <m:t>∗</m:t>
                        </m:r>
                      </m:sup>
                    </m:sSubSup>
                  </m:oMath>
                </a14:m>
                <a:r>
                  <a:rPr lang="en-US" dirty="0"/>
                  <a:t> such that</a:t>
                </a:r>
              </a:p>
              <a:p>
                <a:pPr marL="0" indent="0">
                  <a:buNone/>
                </a:pPr>
                <a:r>
                  <a:rPr lang="en-US" dirty="0"/>
                  <a:t> </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elas</m:t>
                          </m:r>
                        </m:e>
                        <m:sub>
                          <m:r>
                            <a:rPr lang="en-US" i="1">
                              <a:latin typeface="Cambria Math" panose="02040503050406030204" pitchFamily="18" charset="0"/>
                            </a:rPr>
                            <m:t>𝑍</m:t>
                          </m:r>
                        </m:sub>
                      </m:sSub>
                      <m:d>
                        <m:dPr>
                          <m:ctrlPr>
                            <a:rPr lang="en-US" i="1">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𝑍</m:t>
                              </m:r>
                            </m:sub>
                            <m:sup>
                              <m:r>
                                <a:rPr lang="en-US" b="0" i="1" smtClean="0">
                                  <a:latin typeface="Cambria Math" panose="02040503050406030204" pitchFamily="18" charset="0"/>
                                </a:rPr>
                                <m:t>∗</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𝐶</m:t>
                              </m:r>
                            </m:sub>
                            <m:sup>
                              <m:r>
                                <a:rPr lang="en-US" b="0" i="1" smtClean="0">
                                  <a:latin typeface="Cambria Math" panose="02040503050406030204" pitchFamily="18" charset="0"/>
                                </a:rPr>
                                <m:t>∗</m:t>
                              </m:r>
                            </m:sup>
                          </m:sSubSup>
                        </m:e>
                      </m:d>
                      <m:r>
                        <a:rPr lang="en-US" i="1">
                          <a:latin typeface="Cambria Math" panose="02040503050406030204" pitchFamily="18" charset="0"/>
                        </a:rPr>
                        <m:t>=</m:t>
                      </m:r>
                      <m:sSub>
                        <m:sSubPr>
                          <m:ctrlPr>
                            <a:rPr lang="en-US" i="1">
                              <a:latin typeface="Cambria Math" panose="02040503050406030204" pitchFamily="18" charset="0"/>
                            </a:rPr>
                          </m:ctrlPr>
                        </m:sSubPr>
                        <m:e>
                          <m:r>
                            <m:rPr>
                              <m:sty m:val="p"/>
                            </m:rPr>
                            <a:rPr lang="en-US">
                              <a:latin typeface="Cambria Math" panose="02040503050406030204" pitchFamily="18" charset="0"/>
                            </a:rPr>
                            <m:t>elas</m:t>
                          </m:r>
                        </m:e>
                        <m:sub>
                          <m:r>
                            <a:rPr lang="en-US" i="1">
                              <a:latin typeface="Cambria Math" panose="02040503050406030204" pitchFamily="18" charset="0"/>
                            </a:rPr>
                            <m:t>𝐶</m:t>
                          </m:r>
                        </m:sub>
                      </m:sSub>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𝑍</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𝐶</m:t>
                              </m:r>
                            </m:sub>
                            <m:sup>
                              <m:r>
                                <a:rPr lang="en-US" i="1">
                                  <a:latin typeface="Cambria Math" panose="02040503050406030204" pitchFamily="18" charset="0"/>
                                </a:rPr>
                                <m:t>∗</m:t>
                              </m:r>
                            </m:sup>
                          </m:sSubSup>
                        </m:e>
                      </m:d>
                      <m:r>
                        <a:rPr lang="en-US" i="1">
                          <a:latin typeface="Cambria Math" panose="02040503050406030204" pitchFamily="18" charset="0"/>
                        </a:rPr>
                        <m:t>=−1</m:t>
                      </m:r>
                    </m:oMath>
                  </m:oMathPara>
                </a14:m>
                <a:endParaRPr lang="en-US" dirty="0"/>
              </a:p>
              <a:p>
                <a:pPr marL="0" indent="0">
                  <a:buNone/>
                </a:pPr>
                <a:endParaRPr lang="en-US" dirty="0"/>
              </a:p>
              <a:p>
                <a:pPr marL="0" indent="0">
                  <a:buNone/>
                </a:pPr>
                <a:r>
                  <a:rPr lang="en-US" dirty="0"/>
                  <a:t>Don’t get intimidated … this isn’t as hard as it may seem…</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1197" t="-108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58</a:t>
            </a:fld>
            <a:endParaRPr lang="en-US" dirty="0"/>
          </a:p>
        </p:txBody>
      </p:sp>
    </p:spTree>
    <p:extLst>
      <p:ext uri="{BB962C8B-B14F-4D97-AF65-F5344CB8AC3E}">
        <p14:creationId xmlns:p14="http://schemas.microsoft.com/office/powerpoint/2010/main" val="639668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 code to compute the Nash equilibrium</a:t>
            </a:r>
          </a:p>
        </p:txBody>
      </p:sp>
      <p:sp>
        <p:nvSpPr>
          <p:cNvPr id="3" name="Content Placeholder 2"/>
          <p:cNvSpPr>
            <a:spLocks noGrp="1"/>
          </p:cNvSpPr>
          <p:nvPr>
            <p:ph sz="quarter" idx="1"/>
          </p:nvPr>
        </p:nvSpPr>
        <p:spPr>
          <a:xfrm>
            <a:off x="612648" y="1600200"/>
            <a:ext cx="8153400" cy="4953000"/>
          </a:xfrm>
        </p:spPr>
        <p:txBody>
          <a:bodyPr>
            <a:normAutofit fontScale="92500" lnSpcReduction="20000"/>
          </a:bodyPr>
          <a:lstStyle/>
          <a:p>
            <a:r>
              <a:rPr lang="en-US" dirty="0"/>
              <a:t>Function to measure difference in each elasticity and “-1”:</a:t>
            </a:r>
          </a:p>
          <a:p>
            <a:pPr lvl="1">
              <a:buFont typeface="Wingdings" panose="05000000000000000000" pitchFamily="2" charset="2"/>
              <a:buChar char="Ø"/>
            </a:pPr>
            <a:r>
              <a:rPr lang="en-US" sz="2000" dirty="0" err="1">
                <a:solidFill>
                  <a:schemeClr val="bg1">
                    <a:lumMod val="50000"/>
                  </a:schemeClr>
                </a:solidFill>
              </a:rPr>
              <a:t>ElasRuleComp</a:t>
            </a:r>
            <a:r>
              <a:rPr lang="en-US" sz="2000" dirty="0">
                <a:solidFill>
                  <a:schemeClr val="bg1">
                    <a:lumMod val="50000"/>
                  </a:schemeClr>
                </a:solidFill>
              </a:rPr>
              <a:t> = function(x) {</a:t>
            </a:r>
          </a:p>
          <a:p>
            <a:pPr lvl="1">
              <a:buFont typeface="Wingdings" panose="05000000000000000000" pitchFamily="2" charset="2"/>
              <a:buChar char="Ø"/>
            </a:pPr>
            <a:r>
              <a:rPr lang="en-US" sz="2000" dirty="0">
                <a:solidFill>
                  <a:schemeClr val="bg1">
                    <a:lumMod val="50000"/>
                  </a:schemeClr>
                </a:solidFill>
              </a:rPr>
              <a:t>	</a:t>
            </a:r>
            <a:r>
              <a:rPr lang="en-US" sz="2000" dirty="0" err="1">
                <a:solidFill>
                  <a:schemeClr val="bg1">
                    <a:lumMod val="50000"/>
                  </a:schemeClr>
                </a:solidFill>
              </a:rPr>
              <a:t>denom</a:t>
            </a:r>
            <a:r>
              <a:rPr lang="en-US" sz="2000" dirty="0">
                <a:solidFill>
                  <a:schemeClr val="bg1">
                    <a:lumMod val="50000"/>
                  </a:schemeClr>
                </a:solidFill>
              </a:rPr>
              <a:t> = 1+exp(-.6−.004∗x[1])+</a:t>
            </a:r>
            <a:r>
              <a:rPr lang="en-US" sz="2000" dirty="0" err="1">
                <a:solidFill>
                  <a:schemeClr val="bg1">
                    <a:lumMod val="50000"/>
                  </a:schemeClr>
                </a:solidFill>
              </a:rPr>
              <a:t>exp</a:t>
            </a:r>
            <a:r>
              <a:rPr lang="en-US" sz="2000" dirty="0">
                <a:solidFill>
                  <a:schemeClr val="bg1">
                    <a:lumMod val="50000"/>
                  </a:schemeClr>
                </a:solidFill>
              </a:rPr>
              <a:t>(-2-.004*x[2])</a:t>
            </a:r>
          </a:p>
          <a:p>
            <a:pPr lvl="1">
              <a:buFont typeface="Wingdings" panose="05000000000000000000" pitchFamily="2" charset="2"/>
              <a:buChar char="Ø"/>
            </a:pPr>
            <a:r>
              <a:rPr lang="en-US" sz="2000" dirty="0">
                <a:solidFill>
                  <a:schemeClr val="bg1">
                    <a:lumMod val="50000"/>
                  </a:schemeClr>
                </a:solidFill>
              </a:rPr>
              <a:t> 	</a:t>
            </a:r>
            <a:r>
              <a:rPr lang="en-US" sz="2000" dirty="0" err="1">
                <a:solidFill>
                  <a:schemeClr val="bg1">
                    <a:lumMod val="50000"/>
                  </a:schemeClr>
                </a:solidFill>
              </a:rPr>
              <a:t>Sz</a:t>
            </a:r>
            <a:r>
              <a:rPr lang="en-US" sz="2000" dirty="0">
                <a:solidFill>
                  <a:schemeClr val="bg1">
                    <a:lumMod val="50000"/>
                  </a:schemeClr>
                </a:solidFill>
              </a:rPr>
              <a:t> = </a:t>
            </a:r>
            <a:r>
              <a:rPr lang="en-US" sz="2000" dirty="0" err="1">
                <a:solidFill>
                  <a:schemeClr val="bg1">
                    <a:lumMod val="50000"/>
                  </a:schemeClr>
                </a:solidFill>
              </a:rPr>
              <a:t>exp</a:t>
            </a:r>
            <a:r>
              <a:rPr lang="en-US" sz="2000" dirty="0">
                <a:solidFill>
                  <a:schemeClr val="bg1">
                    <a:lumMod val="50000"/>
                  </a:schemeClr>
                </a:solidFill>
              </a:rPr>
              <a:t>(-.6−.004∗x[1])/</a:t>
            </a:r>
            <a:r>
              <a:rPr lang="en-US" sz="2000" dirty="0" err="1">
                <a:solidFill>
                  <a:schemeClr val="bg1">
                    <a:lumMod val="50000"/>
                  </a:schemeClr>
                </a:solidFill>
              </a:rPr>
              <a:t>denom</a:t>
            </a:r>
            <a:endParaRPr lang="en-US" sz="2000" dirty="0">
              <a:solidFill>
                <a:schemeClr val="bg1">
                  <a:lumMod val="50000"/>
                </a:schemeClr>
              </a:solidFill>
            </a:endParaRPr>
          </a:p>
          <a:p>
            <a:pPr lvl="1">
              <a:buFont typeface="Wingdings" panose="05000000000000000000" pitchFamily="2" charset="2"/>
              <a:buChar char="Ø"/>
            </a:pPr>
            <a:r>
              <a:rPr lang="en-US" sz="2000" dirty="0">
                <a:solidFill>
                  <a:schemeClr val="bg1">
                    <a:lumMod val="50000"/>
                  </a:schemeClr>
                </a:solidFill>
              </a:rPr>
              <a:t> 	</a:t>
            </a:r>
            <a:r>
              <a:rPr lang="en-US" sz="2000" dirty="0" err="1">
                <a:solidFill>
                  <a:schemeClr val="bg1">
                    <a:lumMod val="50000"/>
                  </a:schemeClr>
                </a:solidFill>
              </a:rPr>
              <a:t>Sc</a:t>
            </a:r>
            <a:r>
              <a:rPr lang="en-US" sz="2000" dirty="0">
                <a:solidFill>
                  <a:schemeClr val="bg1">
                    <a:lumMod val="50000"/>
                  </a:schemeClr>
                </a:solidFill>
              </a:rPr>
              <a:t> = </a:t>
            </a:r>
            <a:r>
              <a:rPr lang="en-US" sz="2000" dirty="0" err="1">
                <a:solidFill>
                  <a:schemeClr val="bg1">
                    <a:lumMod val="50000"/>
                  </a:schemeClr>
                </a:solidFill>
              </a:rPr>
              <a:t>exp</a:t>
            </a:r>
            <a:r>
              <a:rPr lang="en-US" sz="2000" dirty="0">
                <a:solidFill>
                  <a:schemeClr val="bg1">
                    <a:lumMod val="50000"/>
                  </a:schemeClr>
                </a:solidFill>
              </a:rPr>
              <a:t>(-2−.004∗x[1])/</a:t>
            </a:r>
            <a:r>
              <a:rPr lang="en-US" sz="2000" dirty="0" err="1">
                <a:solidFill>
                  <a:schemeClr val="bg1">
                    <a:lumMod val="50000"/>
                  </a:schemeClr>
                </a:solidFill>
              </a:rPr>
              <a:t>denom</a:t>
            </a:r>
            <a:endParaRPr lang="en-US" sz="2000" dirty="0">
              <a:solidFill>
                <a:schemeClr val="bg1">
                  <a:lumMod val="50000"/>
                </a:schemeClr>
              </a:solidFill>
            </a:endParaRPr>
          </a:p>
          <a:p>
            <a:pPr lvl="1">
              <a:buFont typeface="Wingdings" panose="05000000000000000000" pitchFamily="2" charset="2"/>
              <a:buChar char="Ø"/>
            </a:pPr>
            <a:r>
              <a:rPr lang="en-US" sz="2000" dirty="0">
                <a:solidFill>
                  <a:schemeClr val="bg1">
                    <a:lumMod val="50000"/>
                  </a:schemeClr>
                </a:solidFill>
              </a:rPr>
              <a:t> 	</a:t>
            </a:r>
            <a:r>
              <a:rPr lang="en-US" sz="2000" dirty="0" err="1">
                <a:solidFill>
                  <a:schemeClr val="bg1">
                    <a:lumMod val="50000"/>
                  </a:schemeClr>
                </a:solidFill>
              </a:rPr>
              <a:t>DElasZ</a:t>
            </a:r>
            <a:r>
              <a:rPr lang="en-US" sz="2000" dirty="0">
                <a:solidFill>
                  <a:schemeClr val="bg1">
                    <a:lumMod val="50000"/>
                  </a:schemeClr>
                </a:solidFill>
              </a:rPr>
              <a:t> = -0.004 * (1-Sz)∗x[1]+1</a:t>
            </a:r>
          </a:p>
          <a:p>
            <a:pPr lvl="1">
              <a:buFont typeface="Wingdings" panose="05000000000000000000" pitchFamily="2" charset="2"/>
              <a:buChar char="Ø"/>
            </a:pPr>
            <a:r>
              <a:rPr lang="en-US" sz="2000" dirty="0">
                <a:solidFill>
                  <a:schemeClr val="bg1">
                    <a:lumMod val="50000"/>
                  </a:schemeClr>
                </a:solidFill>
              </a:rPr>
              <a:t> 	</a:t>
            </a:r>
            <a:r>
              <a:rPr lang="en-US" sz="2000" dirty="0" err="1">
                <a:solidFill>
                  <a:schemeClr val="bg1">
                    <a:lumMod val="50000"/>
                  </a:schemeClr>
                </a:solidFill>
              </a:rPr>
              <a:t>DElasC</a:t>
            </a:r>
            <a:r>
              <a:rPr lang="en-US" sz="2000" dirty="0">
                <a:solidFill>
                  <a:schemeClr val="bg1">
                    <a:lumMod val="50000"/>
                  </a:schemeClr>
                </a:solidFill>
              </a:rPr>
              <a:t> = -0.004 * (1-Sc)∗x[2]+1</a:t>
            </a:r>
          </a:p>
          <a:p>
            <a:pPr lvl="1">
              <a:buFont typeface="Wingdings" panose="05000000000000000000" pitchFamily="2" charset="2"/>
              <a:buChar char="Ø"/>
            </a:pPr>
            <a:r>
              <a:rPr lang="en-US" sz="2000" dirty="0">
                <a:solidFill>
                  <a:schemeClr val="bg1">
                    <a:lumMod val="50000"/>
                  </a:schemeClr>
                </a:solidFill>
              </a:rPr>
              <a:t>}</a:t>
            </a:r>
            <a:endParaRPr lang="en-US" sz="2000" dirty="0"/>
          </a:p>
          <a:p>
            <a:pPr>
              <a:spcBef>
                <a:spcPts val="1800"/>
              </a:spcBef>
            </a:pPr>
            <a:r>
              <a:rPr lang="en-US" dirty="0"/>
              <a:t>Load the </a:t>
            </a:r>
            <a:r>
              <a:rPr lang="en-US" i="1" dirty="0"/>
              <a:t>solver</a:t>
            </a:r>
            <a:r>
              <a:rPr lang="en-US" dirty="0"/>
              <a:t> function in R “</a:t>
            </a:r>
            <a:r>
              <a:rPr lang="en-US" dirty="0" err="1"/>
              <a:t>nleqslv</a:t>
            </a:r>
            <a:r>
              <a:rPr lang="en-US" dirty="0"/>
              <a:t>”</a:t>
            </a:r>
          </a:p>
          <a:p>
            <a:pPr lvl="1">
              <a:spcBef>
                <a:spcPts val="1200"/>
              </a:spcBef>
              <a:buFont typeface="Wingdings" panose="05000000000000000000" pitchFamily="2" charset="2"/>
              <a:buChar char="Ø"/>
            </a:pPr>
            <a:r>
              <a:rPr lang="en-US" sz="2000" dirty="0">
                <a:solidFill>
                  <a:schemeClr val="bg1">
                    <a:lumMod val="50000"/>
                  </a:schemeClr>
                </a:solidFill>
              </a:rPr>
              <a:t>Library(</a:t>
            </a:r>
            <a:r>
              <a:rPr lang="en-US" sz="2000" dirty="0" err="1">
                <a:solidFill>
                  <a:schemeClr val="bg1">
                    <a:lumMod val="50000"/>
                  </a:schemeClr>
                </a:solidFill>
              </a:rPr>
              <a:t>nleqslv</a:t>
            </a:r>
            <a:r>
              <a:rPr lang="en-US" sz="2000" dirty="0">
                <a:solidFill>
                  <a:schemeClr val="bg1">
                    <a:lumMod val="50000"/>
                  </a:schemeClr>
                </a:solidFill>
              </a:rPr>
              <a:t>)</a:t>
            </a:r>
          </a:p>
          <a:p>
            <a:r>
              <a:rPr lang="en-US" dirty="0"/>
              <a:t>Now use R solver function “</a:t>
            </a:r>
            <a:r>
              <a:rPr lang="en-US" dirty="0" err="1"/>
              <a:t>nleqsv</a:t>
            </a:r>
            <a:r>
              <a:rPr lang="en-US" dirty="0"/>
              <a:t>” to solve for (</a:t>
            </a:r>
            <a:r>
              <a:rPr lang="en-US" dirty="0" err="1"/>
              <a:t>pz</a:t>
            </a:r>
            <a:r>
              <a:rPr lang="en-US" dirty="0"/>
              <a:t>*,pc*):</a:t>
            </a:r>
          </a:p>
          <a:p>
            <a:pPr>
              <a:buFont typeface="Wingdings" panose="05000000000000000000" pitchFamily="2" charset="2"/>
              <a:buChar char="Ø"/>
            </a:pPr>
            <a:r>
              <a:rPr lang="en-US" sz="2200" dirty="0">
                <a:solidFill>
                  <a:schemeClr val="bg1">
                    <a:lumMod val="50000"/>
                  </a:schemeClr>
                </a:solidFill>
              </a:rPr>
              <a:t>out=</a:t>
            </a:r>
            <a:r>
              <a:rPr lang="en-US" sz="2200" dirty="0" err="1">
                <a:solidFill>
                  <a:schemeClr val="bg1">
                    <a:lumMod val="50000"/>
                  </a:schemeClr>
                </a:solidFill>
              </a:rPr>
              <a:t>nleqslv</a:t>
            </a:r>
            <a:r>
              <a:rPr lang="en-US" sz="2200" dirty="0">
                <a:solidFill>
                  <a:schemeClr val="bg1">
                    <a:lumMod val="50000"/>
                  </a:schemeClr>
                </a:solidFill>
              </a:rPr>
              <a:t>(x=c(0,0),</a:t>
            </a:r>
            <a:r>
              <a:rPr lang="en-US" sz="2200" dirty="0" err="1">
                <a:solidFill>
                  <a:schemeClr val="bg1">
                    <a:lumMod val="50000"/>
                  </a:schemeClr>
                </a:solidFill>
              </a:rPr>
              <a:t>fn</a:t>
            </a:r>
            <a:r>
              <a:rPr lang="en-US" sz="2200" dirty="0">
                <a:solidFill>
                  <a:schemeClr val="bg1">
                    <a:lumMod val="50000"/>
                  </a:schemeClr>
                </a:solidFill>
              </a:rPr>
              <a:t>=</a:t>
            </a:r>
            <a:r>
              <a:rPr lang="en-US" sz="2200" dirty="0" err="1">
                <a:solidFill>
                  <a:schemeClr val="bg1">
                    <a:lumMod val="50000"/>
                  </a:schemeClr>
                </a:solidFill>
              </a:rPr>
              <a:t>ElasRuleComp</a:t>
            </a:r>
            <a:r>
              <a:rPr lang="en-US" sz="2200" dirty="0">
                <a:solidFill>
                  <a:schemeClr val="bg1">
                    <a:lumMod val="50000"/>
                  </a:schemeClr>
                </a:solidFill>
              </a:rPr>
              <a:t>)</a:t>
            </a:r>
          </a:p>
          <a:p>
            <a:pPr>
              <a:spcBef>
                <a:spcPts val="1800"/>
              </a:spcBef>
              <a:buFont typeface="Wingdings" panose="05000000000000000000" pitchFamily="2" charset="2"/>
              <a:buChar char="q"/>
            </a:pPr>
            <a:r>
              <a:rPr lang="en-US" dirty="0"/>
              <a:t>Extract optimal price:</a:t>
            </a:r>
          </a:p>
          <a:p>
            <a:pPr lvl="1">
              <a:buFont typeface="Wingdings" panose="05000000000000000000" pitchFamily="2" charset="2"/>
              <a:buChar char="Ø"/>
            </a:pPr>
            <a:r>
              <a:rPr lang="en-US" sz="2000" dirty="0" err="1">
                <a:solidFill>
                  <a:schemeClr val="bg1">
                    <a:lumMod val="50000"/>
                  </a:schemeClr>
                </a:solidFill>
              </a:rPr>
              <a:t>p.star.equilib</a:t>
            </a:r>
            <a:r>
              <a:rPr lang="en-US" sz="2000" dirty="0">
                <a:solidFill>
                  <a:schemeClr val="bg1">
                    <a:lumMod val="50000"/>
                  </a:schemeClr>
                </a:solidFill>
              </a:rPr>
              <a:t> = </a:t>
            </a:r>
            <a:r>
              <a:rPr lang="en-US" sz="2000" dirty="0" err="1">
                <a:solidFill>
                  <a:schemeClr val="bg1">
                    <a:lumMod val="50000"/>
                  </a:schemeClr>
                </a:solidFill>
              </a:rPr>
              <a:t>out$x</a:t>
            </a:r>
            <a:endParaRPr lang="en-US" sz="2200" dirty="0">
              <a:solidFill>
                <a:schemeClr val="bg1">
                  <a:lumMod val="50000"/>
                </a:schemeClr>
              </a:solidFill>
            </a:endParaRP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59</a:t>
            </a:fld>
            <a:endParaRPr lang="en-US" dirty="0"/>
          </a:p>
        </p:txBody>
      </p:sp>
    </p:spTree>
    <p:extLst>
      <p:ext uri="{BB962C8B-B14F-4D97-AF65-F5344CB8AC3E}">
        <p14:creationId xmlns:p14="http://schemas.microsoft.com/office/powerpoint/2010/main" val="2287057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Explore</a:t>
            </a:r>
          </a:p>
        </p:txBody>
      </p:sp>
      <p:sp>
        <p:nvSpPr>
          <p:cNvPr id="3" name="Content Placeholder 2"/>
          <p:cNvSpPr>
            <a:spLocks noGrp="1"/>
          </p:cNvSpPr>
          <p:nvPr>
            <p:ph sz="quarter" idx="1"/>
          </p:nvPr>
        </p:nvSpPr>
        <p:spPr/>
        <p:txBody>
          <a:bodyPr/>
          <a:lstStyle/>
          <a:p>
            <a:pPr>
              <a:spcBef>
                <a:spcPts val="1200"/>
              </a:spcBef>
              <a:spcAft>
                <a:spcPts val="1200"/>
              </a:spcAft>
            </a:pPr>
            <a:r>
              <a:rPr lang="en-US" dirty="0"/>
              <a:t>As you raise and lower the intercept for the competitor, you accordingly raise and lower how viable a competitor it is.  </a:t>
            </a:r>
          </a:p>
          <a:p>
            <a:pPr>
              <a:spcBef>
                <a:spcPts val="1200"/>
              </a:spcBef>
              <a:spcAft>
                <a:spcPts val="1200"/>
              </a:spcAft>
            </a:pPr>
            <a:r>
              <a:rPr lang="en-US" dirty="0"/>
              <a:t>Why not check to see if your pricing results change much as you “tweak” the parameters.  As you “tweak” them, consider what that means substantively (i.e., you are changing the implied customer preferences)</a:t>
            </a:r>
          </a:p>
        </p:txBody>
      </p:sp>
      <p:sp>
        <p:nvSpPr>
          <p:cNvPr id="4" name="Slide Number Placeholder 3"/>
          <p:cNvSpPr>
            <a:spLocks noGrp="1"/>
          </p:cNvSpPr>
          <p:nvPr>
            <p:ph type="sldNum" sz="quarter" idx="12"/>
          </p:nvPr>
        </p:nvSpPr>
        <p:spPr/>
        <p:txBody>
          <a:bodyPr>
            <a:normAutofit fontScale="85000" lnSpcReduction="20000"/>
          </a:bodyPr>
          <a:lstStyle/>
          <a:p>
            <a:pPr>
              <a:defRPr/>
            </a:pPr>
            <a:fld id="{0772933E-39C1-4424-B52B-5CD391ABE165}" type="slidenum">
              <a:rPr lang="en-US" smtClean="0"/>
              <a:pPr>
                <a:defRPr/>
              </a:pPr>
              <a:t>60</a:t>
            </a:fld>
            <a:endParaRPr lang="en-US" dirty="0"/>
          </a:p>
        </p:txBody>
      </p:sp>
    </p:spTree>
    <p:extLst>
      <p:ext uri="{BB962C8B-B14F-4D97-AF65-F5344CB8AC3E}">
        <p14:creationId xmlns:p14="http://schemas.microsoft.com/office/powerpoint/2010/main" val="108022876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emp">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temp</Template>
  <TotalTime>12952</TotalTime>
  <Words>4042</Words>
  <Application>Microsoft Macintosh PowerPoint</Application>
  <PresentationFormat>On-screen Show (4:3)</PresentationFormat>
  <Paragraphs>780</Paragraphs>
  <Slides>60</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71" baseType="lpstr">
      <vt:lpstr>__harriet_cfe5a1</vt:lpstr>
      <vt:lpstr>Aharoni</vt:lpstr>
      <vt:lpstr>Algerian</vt:lpstr>
      <vt:lpstr>Arial</vt:lpstr>
      <vt:lpstr>Cambria Math</vt:lpstr>
      <vt:lpstr>Times New Roman</vt:lpstr>
      <vt:lpstr>Tw Cen MT</vt:lpstr>
      <vt:lpstr>Wingdings</vt:lpstr>
      <vt:lpstr>Wingdings 2</vt:lpstr>
      <vt:lpstr>temp</vt:lpstr>
      <vt:lpstr>Worksheet</vt:lpstr>
      <vt:lpstr>Competitive Pricing</vt:lpstr>
      <vt:lpstr>Overview</vt:lpstr>
      <vt:lpstr>The emergence of algorithmic pricing example: Amazon Repricer</vt:lpstr>
      <vt:lpstr>Overview Pricing A.I. at German gas stations</vt:lpstr>
      <vt:lpstr>Overview</vt:lpstr>
      <vt:lpstr>Competitive Price Changes and EVC</vt:lpstr>
      <vt:lpstr>EVC to Assess Price Reactions</vt:lpstr>
      <vt:lpstr>Olympus Objectives</vt:lpstr>
      <vt:lpstr>Market Analysis: Pre Olympus Launch    Assess Incumbent Market</vt:lpstr>
      <vt:lpstr>Market Analysis: Pre Olympus Launch    Assess Incumbent Market</vt:lpstr>
      <vt:lpstr>Market Analysis: Pre Olympus Launch    Assess Incumbent Market</vt:lpstr>
      <vt:lpstr>Canon Demand Sony at $250, Olympus not offered</vt:lpstr>
      <vt:lpstr>Canon Demand EVC demand before Olympus launches</vt:lpstr>
      <vt:lpstr>Market Analysis: Olympus Launch    Assess Olympus launch price incentives</vt:lpstr>
      <vt:lpstr>Demand for Olympus 12.2 MP DSLR</vt:lpstr>
      <vt:lpstr>Demand for Olympus 12.2 MP DSLR Canon Base $280, Sony Base $250</vt:lpstr>
      <vt:lpstr>Olympus Demand EVC demand when it launches against incumbents</vt:lpstr>
      <vt:lpstr>Assessing Canon’s Competitive Reaction Strategy 1: Olympus at $390</vt:lpstr>
      <vt:lpstr>Canon Demand Sony Base at $250, Olympus 12.2MP DSLR at $390</vt:lpstr>
      <vt:lpstr>Canon Demand EVC demand before &amp; after Olympus ($390)</vt:lpstr>
      <vt:lpstr>Possible Price Reactions by Canon</vt:lpstr>
      <vt:lpstr>Olympus Demand What if Olympus Targets Segment A?</vt:lpstr>
      <vt:lpstr>Assessing Canon’s Competitive Reaction Strategy 2: Olympus at $520</vt:lpstr>
      <vt:lpstr>Canon Base Demand Olympus 12.2MP DSLR at $520, Sony Base at $250</vt:lpstr>
      <vt:lpstr>Canon Demand EVC demand before and after Olympus ($520)</vt:lpstr>
      <vt:lpstr>Canon Strategy</vt:lpstr>
      <vt:lpstr>Can competition increase prices? Examples from academic research</vt:lpstr>
      <vt:lpstr>Can competition increase prices? Example: Public Pharmacies in Chile</vt:lpstr>
      <vt:lpstr>Can competition increase prices? Example: Public Pharmacies in Chile</vt:lpstr>
      <vt:lpstr>Competition, Game Theory &amp; Equilibrium Prices</vt:lpstr>
      <vt:lpstr>The Strategic Pricing Game Beauregard Textiles</vt:lpstr>
      <vt:lpstr>Payoff Matrix</vt:lpstr>
      <vt:lpstr>Reaction Functions</vt:lpstr>
      <vt:lpstr>Equilibrium </vt:lpstr>
      <vt:lpstr>Raising Industry Prices</vt:lpstr>
      <vt:lpstr>Ethical concerns with Price Wars as a prisoner’s dilemma: Cartels</vt:lpstr>
      <vt:lpstr>Threat of Punishing in Beauregard case</vt:lpstr>
      <vt:lpstr>Cartel Instability Example: The French Laundry Detergent Market</vt:lpstr>
      <vt:lpstr>Cartel Instability Example: The French Laundry Detergent Market</vt:lpstr>
      <vt:lpstr>Cartel Instability Example: The French Laundry Detergent Market</vt:lpstr>
      <vt:lpstr>Cartel Instability Example: The French Laundry Detergent Market</vt:lpstr>
      <vt:lpstr>Back to algorithmic pricing …</vt:lpstr>
      <vt:lpstr>The 2025 Algorithmic French Fry Cartel</vt:lpstr>
      <vt:lpstr>Take Away</vt:lpstr>
      <vt:lpstr>Appendix</vt:lpstr>
      <vt:lpstr>Own Elasticity</vt:lpstr>
      <vt:lpstr>Cross Elasticity</vt:lpstr>
      <vt:lpstr>Profits</vt:lpstr>
      <vt:lpstr>Payoffs</vt:lpstr>
      <vt:lpstr>Appendix</vt:lpstr>
      <vt:lpstr>Prisoners’ Dilemmas in Pricing FIRST to offer discounts to holiday shoppers</vt:lpstr>
      <vt:lpstr>Using R to find Nash equilibrium</vt:lpstr>
      <vt:lpstr>Case Study A hypothetical new competitor to Ziprecruiter</vt:lpstr>
      <vt:lpstr>Empirical Analysis of Demand</vt:lpstr>
      <vt:lpstr>Nash Equilibrium</vt:lpstr>
      <vt:lpstr>Nash Equilibrium Information Goods</vt:lpstr>
      <vt:lpstr>Own Price Elasticity</vt:lpstr>
      <vt:lpstr>Computing the Nash Equilibrium</vt:lpstr>
      <vt:lpstr>R code to compute the Nash equilibrium</vt:lpstr>
      <vt:lpstr>Explore</vt:lpstr>
    </vt:vector>
  </TitlesOfParts>
  <Company>University of Chicago /GSB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Competitive Pricing</dc:title>
  <dc:creator>JP Dube</dc:creator>
  <cp:lastModifiedBy>Derrick Teo</cp:lastModifiedBy>
  <cp:revision>456</cp:revision>
  <dcterms:created xsi:type="dcterms:W3CDTF">2000-04-18T19:21:51Z</dcterms:created>
  <dcterms:modified xsi:type="dcterms:W3CDTF">2025-07-10T02:54:57Z</dcterms:modified>
</cp:coreProperties>
</file>