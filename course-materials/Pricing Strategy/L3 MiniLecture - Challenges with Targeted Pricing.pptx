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63" r:id="rId9"/>
    <p:sldId id="264" r:id="rId10"/>
    <p:sldId id="271" r:id="rId11"/>
    <p:sldId id="272" r:id="rId12"/>
    <p:sldId id="265" r:id="rId13"/>
    <p:sldId id="273" r:id="rId14"/>
    <p:sldId id="274" r:id="rId15"/>
    <p:sldId id="275" r:id="rId16"/>
  </p:sldIdLst>
  <p:sldSz cx="9144000" cy="6858000" type="letter"/>
  <p:notesSz cx="6946900" cy="92329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9" autoAdjust="0"/>
    <p:restoredTop sz="91558" autoAdjust="0"/>
  </p:normalViewPr>
  <p:slideViewPr>
    <p:cSldViewPr>
      <p:cViewPr varScale="1">
        <p:scale>
          <a:sx n="152" d="100"/>
          <a:sy n="152" d="100"/>
        </p:scale>
        <p:origin x="2104" y="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2058" y="-90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2081CC8D-D644-4A42-9F45-8538A972A82F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053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4384675"/>
            <a:ext cx="5092700" cy="4156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50" tIns="44922" rIns="91450" bIns="449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5" name="Rectangle 102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690563"/>
            <a:ext cx="4621212" cy="34655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1028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5DB8396E-0D91-4043-AE21-41A1A1E608F2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972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41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1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BE6A02B-3F15-4458-9854-C13C1366E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 txBox="1">
            <a:spLocks/>
          </p:cNvSpPr>
          <p:nvPr userDrawn="1"/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chemeClr val="tx2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3CB9FA4-DCE7-4C29-A735-68EBB7EC8F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EB37798-023A-49F0-9BC3-F68CA65885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219F0-079B-4BB5-93F8-F9359FBE5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D30C76-4925-4F0C-BF28-DFE5D5779F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28B15-6C7A-4120-B3E6-ED36BE32AC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F4B3B3D1-430D-45A7-BFB6-30E4BE0F0B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8BDD8-4502-4F9D-89B8-C9B27F9802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5FD77-B976-4FEE-AE63-C0949754F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49501C7-4CDA-4F6D-8841-5C0E3B4E83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gress.gov/bill/114th-congress/house-bill/204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heatlantic.com/business/archive/2014/10/battle-of-the-prices-is-it-ever-fair-to-charge-one-sex-more/381546/" TargetMode="External"/><Relationship Id="rId4" Type="http://schemas.openxmlformats.org/officeDocument/2006/relationships/hyperlink" Target="http://www.leagle.com/decision/19961503923FSupp580_11407/KATZMAN%20v.%20VICTORIA'S%20SECRET%20CATALOGU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sumerreports.org/consumer-protection/tinder-is-phasing-out-higher-prices-for-users-ages-29-plus-a3881901881/#:~:text=An%20international%20study%20indicates%20that,and%20is%20ending%20it%20worldwide.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mozilla.org/en/blog/new-research-tinders-opaque-unfair-pricing-algorithm-can-charge-users-up-to-five-times-more-for-same-service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nsumerreports.org/consumer-protection/tinder-is-phasing-out-higher-prices-for-users-ages-29-plus-a3881901881/#:~:text=An%20international%20study%20indicates%20that,and%20is%20ending%20it%20worldwide.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icma.org/documents/rethinking-revenue-segmented-pricing-fines-and-fees" TargetMode="External"/><Relationship Id="rId3" Type="http://schemas.openxmlformats.org/officeDocument/2006/relationships/hyperlink" Target="https://academic.oup.com/qje/article/134/4/2011/5523148?login=true" TargetMode="External"/><Relationship Id="rId7" Type="http://schemas.openxmlformats.org/officeDocument/2006/relationships/hyperlink" Target="https://www.chicagobooth.edu/review/lower-fines-could-lead-higher-revenues" TargetMode="External"/><Relationship Id="rId2" Type="http://schemas.openxmlformats.org/officeDocument/2006/relationships/hyperlink" Target="https://datasmart.ash.harvard.edu/rethinking-fines-and-fees-jean-pierre-dub%C3%A9-bryan-glenn-and-shayne-kavanag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icagobooth.edu/review/fair-price-same-price-all" TargetMode="External"/><Relationship Id="rId5" Type="http://schemas.openxmlformats.org/officeDocument/2006/relationships/hyperlink" Target="https://academic.oup.com/qje/article/134/4/1793/5492274?login=true" TargetMode="External"/><Relationship Id="rId4" Type="http://schemas.openxmlformats.org/officeDocument/2006/relationships/hyperlink" Target="https://www.jp-dube.com/research/papers/pricing%20and%20welfare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forum.org/agenda/2021/07/ai-machine-learning-bias-discrimination/" TargetMode="External"/><Relationship Id="rId2" Type="http://schemas.openxmlformats.org/officeDocument/2006/relationships/hyperlink" Target="https://www.newscientist.com/article/2246202-uber-and-lyft-pricing-algorithms-charge-more-in-non-white-area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wsweek.com/tinder-working-end-age-based-pricing-premium-dating-content-167728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 lIns="90488" tIns="44450" rIns="90488" bIns="44450"/>
          <a:lstStyle/>
          <a:p>
            <a:r>
              <a:rPr lang="en-US" dirty="0" smtClean="0"/>
              <a:t>Challenges with targeted pricing</a:t>
            </a:r>
            <a:endParaRPr lang="en-US" i="1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362200" y="6050037"/>
            <a:ext cx="6705600" cy="6858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</a:t>
            </a:r>
            <a:r>
              <a:rPr lang="en-US" sz="900" b="1" dirty="0" smtClean="0">
                <a:latin typeface="Arial" pitchFamily="34" charset="0"/>
              </a:rPr>
              <a:t>2021</a:t>
            </a:r>
            <a:endParaRPr lang="en-US" sz="900" b="1" dirty="0"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Pricing Strategies</a:t>
            </a:r>
          </a:p>
          <a:p>
            <a:r>
              <a:rPr lang="en-US" sz="1400" dirty="0" smtClean="0"/>
              <a:t>2022</a:t>
            </a:r>
            <a:endParaRPr 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Targeting in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54984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Targeting is implementable, why isn’t it ubiquitous?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Well in fact it is … in B2B this is one of the things sales reps handle … negotiated prices?!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But in consumer goods markets: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987215" y="4918890"/>
            <a:ext cx="403384" cy="403384"/>
          </a:xfrm>
          <a:prstGeom prst="ellipse">
            <a:avLst/>
          </a:prstGeom>
          <a:solidFill>
            <a:srgbClr val="009BC8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987215" y="4127997"/>
            <a:ext cx="403384" cy="403384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987215" y="3337104"/>
            <a:ext cx="403384" cy="403384"/>
          </a:xfrm>
          <a:prstGeom prst="ellipse">
            <a:avLst/>
          </a:prstGeom>
          <a:solidFill>
            <a:srgbClr val="CD9A33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30878" y="3384805"/>
            <a:ext cx="5083969" cy="30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Company Resources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: Data &amp; analytics human capital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530879" y="4175698"/>
            <a:ext cx="5083969" cy="30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Arbitrage</a:t>
            </a:r>
            <a:endParaRPr 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530877" y="4966591"/>
            <a:ext cx="5083969" cy="30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Legality</a:t>
            </a:r>
            <a:endParaRPr 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87215" y="5709783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30876" y="5757484"/>
            <a:ext cx="5083969" cy="30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403" tIns="38201" rIns="76403" bIns="38201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Fairness</a:t>
            </a:r>
            <a:endParaRPr 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3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Arbitrage</a:t>
            </a:r>
          </a:p>
        </p:txBody>
      </p:sp>
      <p:sp>
        <p:nvSpPr>
          <p:cNvPr id="133123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612647" y="1600200"/>
            <a:ext cx="8297717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 smtClean="0"/>
              <a:t>Is </a:t>
            </a:r>
            <a:r>
              <a:rPr lang="en-US" dirty="0"/>
              <a:t>it possible to maintain “fences” between segments?</a:t>
            </a:r>
          </a:p>
          <a:p>
            <a:r>
              <a:rPr lang="en-US" dirty="0" smtClean="0"/>
              <a:t>Customers </a:t>
            </a:r>
            <a:r>
              <a:rPr lang="en-US" dirty="0"/>
              <a:t>may try to unwind these fences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Consumers might visit distant locations to get mobile discounts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 err="1" smtClean="0"/>
              <a:t>Ziprecruiter</a:t>
            </a:r>
            <a:r>
              <a:rPr lang="en-US" dirty="0" smtClean="0"/>
              <a:t> customers might lie during registration stage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E.g., consumers play strategic game against firm: firm’s ability to “segment” becomes an equilibrium outcome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108060" y="868204"/>
            <a:ext cx="403384" cy="403384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844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36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Arbitrage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138277" y="4108189"/>
            <a:ext cx="4416552" cy="342900"/>
          </a:xfrm>
          <a:prstGeom prst="rect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  <a:ln w="12700" cap="flat" cmpd="sng" algn="ctr">
            <a:solidFill>
              <a:schemeClr val="bg2">
                <a:lumMod val="20000"/>
                <a:lumOff val="80000"/>
                <a:alpha val="9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Freeform 22"/>
          <p:cNvSpPr>
            <a:spLocks/>
          </p:cNvSpPr>
          <p:nvPr/>
        </p:nvSpPr>
        <p:spPr bwMode="auto">
          <a:xfrm>
            <a:off x="2136690" y="2584189"/>
            <a:ext cx="4419600" cy="1524000"/>
          </a:xfrm>
          <a:custGeom>
            <a:avLst/>
            <a:gdLst>
              <a:gd name="T0" fmla="*/ 0 w 2784"/>
              <a:gd name="T1" fmla="*/ 0 h 624"/>
              <a:gd name="T2" fmla="*/ 2147483647 w 2784"/>
              <a:gd name="T3" fmla="*/ 0 h 624"/>
              <a:gd name="T4" fmla="*/ 2147483647 w 2784"/>
              <a:gd name="T5" fmla="*/ 2147483647 h 624"/>
              <a:gd name="T6" fmla="*/ 2147483647 w 2784"/>
              <a:gd name="T7" fmla="*/ 2147483647 h 624"/>
              <a:gd name="T8" fmla="*/ 2147483647 w 2784"/>
              <a:gd name="T9" fmla="*/ 2147483647 h 624"/>
              <a:gd name="T10" fmla="*/ 2147483647 w 2784"/>
              <a:gd name="T11" fmla="*/ 2147483647 h 6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84"/>
              <a:gd name="T19" fmla="*/ 0 h 624"/>
              <a:gd name="T20" fmla="*/ 2784 w 2784"/>
              <a:gd name="T21" fmla="*/ 624 h 6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84" h="624">
                <a:moveTo>
                  <a:pt x="0" y="0"/>
                </a:moveTo>
                <a:lnTo>
                  <a:pt x="960" y="0"/>
                </a:lnTo>
                <a:lnTo>
                  <a:pt x="960" y="288"/>
                </a:lnTo>
                <a:lnTo>
                  <a:pt x="1968" y="288"/>
                </a:lnTo>
                <a:lnTo>
                  <a:pt x="1968" y="624"/>
                </a:lnTo>
                <a:lnTo>
                  <a:pt x="2784" y="62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17"/>
          <p:cNvSpPr>
            <a:spLocks noChangeShapeType="1"/>
          </p:cNvSpPr>
          <p:nvPr/>
        </p:nvSpPr>
        <p:spPr bwMode="auto">
          <a:xfrm>
            <a:off x="2136690" y="4946389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6784890" y="5098789"/>
            <a:ext cx="8636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Quantity</a:t>
            </a:r>
            <a:endParaRPr lang="en-US" b="1" u="sng"/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1469615" y="2048643"/>
            <a:ext cx="5794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dirty="0"/>
              <a:t>Price</a:t>
            </a:r>
            <a:endParaRPr lang="en-US" b="1" u="sng" dirty="0">
              <a:latin typeface="Arial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1594704" y="2385639"/>
            <a:ext cx="45434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P</a:t>
            </a:r>
            <a:r>
              <a:rPr lang="en-US" baseline="30000" dirty="0" smtClean="0"/>
              <a:t>A</a:t>
            </a:r>
            <a:endParaRPr lang="en-US" sz="1400" dirty="0">
              <a:latin typeface="Arial" charset="0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2212890" y="4946389"/>
            <a:ext cx="10080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Segment A</a:t>
            </a:r>
            <a:endParaRPr lang="en-US" b="1" u="sng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1594704" y="3036924"/>
            <a:ext cx="53069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P</a:t>
            </a:r>
            <a:r>
              <a:rPr lang="en-US" baseline="30000" dirty="0" smtClean="0"/>
              <a:t>B</a:t>
            </a:r>
            <a:endParaRPr lang="en-US" sz="1400" dirty="0">
              <a:latin typeface="Arial" charset="0"/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1592685" y="3879589"/>
            <a:ext cx="57451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smtClean="0"/>
              <a:t>P</a:t>
            </a:r>
            <a:r>
              <a:rPr lang="en-US" baseline="30000" dirty="0" smtClean="0"/>
              <a:t>C</a:t>
            </a:r>
            <a:endParaRPr lang="en-US" sz="1400" dirty="0">
              <a:latin typeface="Arial" charset="0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3889290" y="4946389"/>
            <a:ext cx="9985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Segment B</a:t>
            </a:r>
            <a:endParaRPr lang="en-US" b="1" u="sng"/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5489490" y="4946389"/>
            <a:ext cx="1008062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/>
              <a:t>Segment C</a:t>
            </a:r>
            <a:endParaRPr lang="en-US" b="1" u="sng"/>
          </a:p>
        </p:txBody>
      </p:sp>
      <p:sp>
        <p:nvSpPr>
          <p:cNvPr id="16" name="TextBox 15"/>
          <p:cNvSpPr txBox="1"/>
          <p:nvPr/>
        </p:nvSpPr>
        <p:spPr>
          <a:xfrm>
            <a:off x="7548477" y="4260589"/>
            <a:ext cx="6992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Marginal</a:t>
            </a:r>
          </a:p>
          <a:p>
            <a:r>
              <a:rPr lang="en-US" sz="1100" dirty="0" smtClean="0"/>
              <a:t>cost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6767104" y="3971269"/>
            <a:ext cx="17860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Targeted Price to segment C</a:t>
            </a:r>
            <a:endParaRPr lang="en-US" sz="1100" dirty="0">
              <a:solidFill>
                <a:srgbClr val="7030A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2138277" y="4451089"/>
            <a:ext cx="5334000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36690" y="2279389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2160468" y="4110421"/>
            <a:ext cx="4530436" cy="223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10" idx="1"/>
            <a:endCxn id="13" idx="1"/>
          </p:cNvCxnSpPr>
          <p:nvPr/>
        </p:nvCxnSpPr>
        <p:spPr>
          <a:xfrm rot="10800000" flipV="1">
            <a:off x="1592686" y="2616472"/>
            <a:ext cx="2019" cy="1493950"/>
          </a:xfrm>
          <a:prstGeom prst="curvedConnector3">
            <a:avLst>
              <a:gd name="adj1" fmla="val 11422437"/>
            </a:avLst>
          </a:prstGeom>
          <a:ln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/>
          <p:nvPr/>
        </p:nvCxnSpPr>
        <p:spPr>
          <a:xfrm rot="10800000" flipV="1">
            <a:off x="1707174" y="3235130"/>
            <a:ext cx="2019" cy="822960"/>
          </a:xfrm>
          <a:prstGeom prst="curvedConnector3">
            <a:avLst>
              <a:gd name="adj1" fmla="val 10050074"/>
            </a:avLst>
          </a:prstGeom>
          <a:ln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010" y="5403589"/>
            <a:ext cx="730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Suppose segments A and B can both gain access to P</a:t>
            </a:r>
            <a:r>
              <a:rPr lang="en-US" baseline="30000" dirty="0" smtClean="0"/>
              <a:t>C</a:t>
            </a:r>
            <a:r>
              <a:rPr lang="en-US" sz="2000" dirty="0" smtClean="0">
                <a:latin typeface="Arial" charset="0"/>
              </a:rPr>
              <a:t>.</a:t>
            </a:r>
            <a:r>
              <a:rPr lang="en-US" dirty="0" smtClean="0"/>
              <a:t> </a:t>
            </a:r>
            <a:endParaRPr lang="en-US" dirty="0"/>
          </a:p>
        </p:txBody>
      </p:sp>
      <p:sp useBgFill="1">
        <p:nvSpPr>
          <p:cNvPr id="27" name="TextBox 26"/>
          <p:cNvSpPr txBox="1"/>
          <p:nvPr/>
        </p:nvSpPr>
        <p:spPr>
          <a:xfrm>
            <a:off x="6776239" y="3126371"/>
            <a:ext cx="1786066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Targeted Price to segment B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05672" y="2442804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Targeted Price to segment A</a:t>
            </a:r>
            <a:endParaRPr lang="en-US" sz="1100" dirty="0">
              <a:solidFill>
                <a:srgbClr val="7030A0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2159059" y="2581956"/>
            <a:ext cx="4530436" cy="223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2174044" y="3265523"/>
            <a:ext cx="4530436" cy="223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5010" y="5957661"/>
            <a:ext cx="6389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Can you see why the firm is actually </a:t>
            </a:r>
            <a:r>
              <a:rPr lang="en-US" b="1" dirty="0" smtClean="0">
                <a:solidFill>
                  <a:srgbClr val="FF0000"/>
                </a:solidFill>
              </a:rPr>
              <a:t>worse off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81691" y="4029756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Profits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2159059" y="4102074"/>
            <a:ext cx="4395769" cy="373958"/>
          </a:xfrm>
          <a:prstGeom prst="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2"/>
          <p:cNvSpPr txBox="1">
            <a:spLocks/>
          </p:cNvSpPr>
          <p:nvPr/>
        </p:nvSpPr>
        <p:spPr>
          <a:xfrm>
            <a:off x="1108060" y="868204"/>
            <a:ext cx="403384" cy="403384"/>
          </a:xfrm>
          <a:prstGeom prst="ellipse">
            <a:avLst/>
          </a:prstGeom>
          <a:solidFill>
            <a:srgbClr val="92D050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9752" y="1577725"/>
            <a:ext cx="667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Recall earlier example with optimal uniform price </a:t>
            </a:r>
            <a:r>
              <a:rPr lang="en-US" dirty="0"/>
              <a:t>P</a:t>
            </a:r>
            <a:r>
              <a:rPr lang="en-US" baseline="30000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3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28" grpId="0"/>
      <p:bldP spid="31" grpId="0"/>
      <p:bldP spid="4" grpId="0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 smtClean="0"/>
              <a:t>Is targeted pricing </a:t>
            </a:r>
            <a:r>
              <a:rPr lang="en-US" sz="3200" dirty="0" smtClean="0">
                <a:solidFill>
                  <a:srgbClr val="FF0000"/>
                </a:solidFill>
              </a:rPr>
              <a:t>legal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Legality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106424" y="868204"/>
            <a:ext cx="403384" cy="403384"/>
          </a:xfrm>
          <a:prstGeom prst="ellipse">
            <a:avLst/>
          </a:prstGeom>
          <a:solidFill>
            <a:srgbClr val="009BC8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1026" name="Picture 2" descr="Personalized Pricing and the Law — Leaf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7620000"/>
            <a:ext cx="6350000" cy="423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ersonalized Pricing and the Law — Leafl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354" y="3235435"/>
            <a:ext cx="4466529" cy="298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89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Legality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153400" cy="5118827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sz="6400" dirty="0" smtClean="0"/>
              <a:t>U.S</a:t>
            </a:r>
            <a:r>
              <a:rPr lang="en-US" sz="6400" dirty="0"/>
              <a:t>. </a:t>
            </a:r>
            <a:r>
              <a:rPr lang="en-US" sz="6400" dirty="0" smtClean="0"/>
              <a:t>law (E.U. is </a:t>
            </a:r>
            <a:r>
              <a:rPr lang="en-US" sz="6400" u="sng" dirty="0" smtClean="0"/>
              <a:t>stricter</a:t>
            </a:r>
            <a:r>
              <a:rPr lang="en-US" sz="6400" dirty="0" smtClean="0"/>
              <a:t> on race, nationality &amp; geography):</a:t>
            </a:r>
            <a:endParaRPr lang="en-US" sz="6400" dirty="0"/>
          </a:p>
          <a:p>
            <a:pPr lvl="1">
              <a:spcBef>
                <a:spcPts val="1800"/>
              </a:spcBef>
              <a:spcAft>
                <a:spcPts val="1200"/>
              </a:spcAft>
            </a:pPr>
            <a:r>
              <a:rPr lang="en-US" sz="6400" dirty="0"/>
              <a:t>Pricing cannot be “injurious to the proper functioning of normal competition”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6400" dirty="0"/>
              <a:t>Price discrimination (</a:t>
            </a:r>
            <a:r>
              <a:rPr lang="en-US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disparate treatment</a:t>
            </a:r>
            <a:r>
              <a:rPr lang="en-US" sz="6400" dirty="0"/>
              <a:t>) prohibited in housing, credit, employment, public accommodations,  &amp; voting based on </a:t>
            </a:r>
            <a:r>
              <a:rPr lang="en-US" sz="6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classes</a:t>
            </a: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sz="6400" dirty="0"/>
              <a:t>sex, race/color, religion/creed, nationality, sexual orientation/gender identity, disability status, familial status, veteran status, genetic info</a:t>
            </a:r>
            <a:endParaRPr lang="en-US" sz="64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6400" dirty="0" smtClean="0"/>
              <a:t>Emerging data laws restrict data-based targeted price practices … (GDPR Appendix)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6400" b="1" u="sng" dirty="0"/>
              <a:t>Pending in congress</a:t>
            </a:r>
            <a:r>
              <a:rPr lang="en-US" sz="6400" dirty="0"/>
              <a:t>: </a:t>
            </a:r>
            <a:r>
              <a:rPr lang="en-US" sz="6400" dirty="0">
                <a:hlinkClick r:id="rId3"/>
              </a:rPr>
              <a:t>The Pink Tax Repeal Act (HR 2048)</a:t>
            </a:r>
            <a:r>
              <a:rPr lang="en-US" sz="6400" dirty="0"/>
              <a:t>: prohibits product manufacturers or service providers from selling substantially similar products at different prices based on gender… If, for example, only difference between 2 products is color, they are substantially similar</a:t>
            </a:r>
            <a:r>
              <a:rPr lang="en-US" sz="6400" dirty="0" smtClean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6400" dirty="0" smtClean="0"/>
              <a:t>See also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6400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fr-FR" sz="6400" dirty="0" err="1">
                <a:hlinkClick r:id="rId4"/>
              </a:rPr>
              <a:t>Katzman</a:t>
            </a:r>
            <a:r>
              <a:rPr lang="fr-FR" sz="6400" dirty="0">
                <a:hlinkClick r:id="rId4"/>
              </a:rPr>
              <a:t> V. </a:t>
            </a:r>
            <a:r>
              <a:rPr lang="fr-FR" sz="6400" dirty="0" err="1">
                <a:hlinkClick r:id="rId4"/>
              </a:rPr>
              <a:t>Victoria's</a:t>
            </a:r>
            <a:r>
              <a:rPr lang="fr-FR" sz="6400" dirty="0">
                <a:hlinkClick r:id="rId4"/>
              </a:rPr>
              <a:t> Secret Catalogue 923 F. </a:t>
            </a:r>
            <a:r>
              <a:rPr lang="fr-FR" sz="6400" dirty="0" err="1">
                <a:hlinkClick r:id="rId4"/>
              </a:rPr>
              <a:t>Supp</a:t>
            </a:r>
            <a:r>
              <a:rPr lang="fr-FR" sz="6400" dirty="0">
                <a:hlinkClick r:id="rId4"/>
              </a:rPr>
              <a:t>. 580 (1996)</a:t>
            </a:r>
            <a:endParaRPr lang="en-US" sz="6400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sz="6400" dirty="0" smtClean="0">
                <a:hlinkClick r:id="rId5"/>
              </a:rPr>
              <a:t>“</a:t>
            </a:r>
            <a:r>
              <a:rPr lang="en-US" sz="6400" dirty="0">
                <a:hlinkClick r:id="rId5"/>
              </a:rPr>
              <a:t>Battle of the Prices: Is It Ever Fair to Charge One Sex More?” </a:t>
            </a:r>
            <a:r>
              <a:rPr lang="en-US" sz="6400" i="1" dirty="0">
                <a:hlinkClick r:id="rId5"/>
              </a:rPr>
              <a:t>The Atlantic, </a:t>
            </a:r>
            <a:r>
              <a:rPr lang="en-US" sz="6400" i="1" dirty="0" smtClean="0">
                <a:hlinkClick r:id="rId5"/>
              </a:rPr>
              <a:t>2014</a:t>
            </a:r>
            <a:r>
              <a:rPr lang="en-US" sz="1600" i="1" dirty="0" smtClean="0">
                <a:hlinkClick r:id="rId5"/>
              </a:rPr>
              <a:t>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106424" y="868204"/>
            <a:ext cx="403384" cy="403384"/>
          </a:xfrm>
          <a:prstGeom prst="ellipse">
            <a:avLst/>
          </a:prstGeom>
          <a:solidFill>
            <a:srgbClr val="009BC8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794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3200" dirty="0" smtClean="0"/>
              <a:t>Is targeted pricing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2050" name="Picture 2" descr="10 Reasons Strategic Fairness is Worth Your Effort | Simply Understanding  by Giana Consul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553" y="3612407"/>
            <a:ext cx="2811728" cy="281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6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034912" y="4247974"/>
            <a:ext cx="7010350" cy="645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dirty="0" smtClean="0"/>
              <a:t>Firms may avoid targeting for PR reasons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Prices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 </a:t>
            </a:r>
            <a:r>
              <a:rPr lang="en-US" sz="3600" dirty="0" smtClean="0"/>
              <a:t>&amp;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Public Relations Concerns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3792" y="1529201"/>
            <a:ext cx="8153400" cy="288164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smtClean="0"/>
              <a:t>Price transparency can create customer backlash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6521" y="4808531"/>
            <a:ext cx="4054397" cy="13542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 dirty="0" smtClean="0">
                <a:solidFill>
                  <a:srgbClr val="545454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"</a:t>
            </a:r>
            <a:r>
              <a:rPr lang="en-US" sz="1800" dirty="0" smtClean="0">
                <a:solidFill>
                  <a:srgbClr val="545454"/>
                </a:solidFill>
                <a:latin typeface="Roboto" panose="02000000000000000000" pitchFamily="2" charset="0"/>
              </a:rPr>
              <a:t>We've </a:t>
            </a:r>
            <a:r>
              <a:rPr lang="en-US" sz="1800" dirty="0">
                <a:solidFill>
                  <a:srgbClr val="545454"/>
                </a:solidFill>
                <a:latin typeface="Roboto" panose="02000000000000000000" pitchFamily="2" charset="0"/>
              </a:rPr>
              <a:t>never tested and we never </a:t>
            </a:r>
            <a:r>
              <a:rPr lang="en-US" sz="1800" dirty="0" smtClean="0">
                <a:solidFill>
                  <a:srgbClr val="545454"/>
                </a:solidFill>
                <a:latin typeface="Roboto" panose="02000000000000000000" pitchFamily="2" charset="0"/>
              </a:rPr>
              <a:t>will test </a:t>
            </a:r>
            <a:r>
              <a:rPr lang="en-US" sz="1800" b="1" dirty="0" smtClean="0">
                <a:solidFill>
                  <a:srgbClr val="6A6A6A"/>
                </a:solidFill>
                <a:latin typeface="Roboto" panose="02000000000000000000" pitchFamily="2" charset="0"/>
              </a:rPr>
              <a:t>prices </a:t>
            </a:r>
            <a:r>
              <a:rPr lang="en-US" sz="1800" dirty="0" smtClean="0">
                <a:solidFill>
                  <a:srgbClr val="545454"/>
                </a:solidFill>
                <a:latin typeface="Roboto" panose="02000000000000000000" pitchFamily="2" charset="0"/>
              </a:rPr>
              <a:t>based on customer demographics</a:t>
            </a:r>
            <a:r>
              <a:rPr lang="en-US" sz="1800" dirty="0" smtClean="0">
                <a:solidFill>
                  <a:srgbClr val="545454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”</a:t>
            </a:r>
          </a:p>
          <a:p>
            <a:r>
              <a:rPr lang="en-US" sz="1800" dirty="0" smtClean="0">
                <a:solidFill>
                  <a:srgbClr val="545454"/>
                </a:solidFill>
                <a:latin typeface="Roboto" panose="02000000000000000000" pitchFamily="2" charset="0"/>
              </a:rPr>
              <a:t>- </a:t>
            </a:r>
            <a:r>
              <a:rPr lang="en-US" sz="1600" dirty="0" smtClean="0">
                <a:solidFill>
                  <a:srgbClr val="545454"/>
                </a:solidFill>
                <a:latin typeface="Roboto" panose="02000000000000000000" pitchFamily="2" charset="0"/>
              </a:rPr>
              <a:t>Jeff Bezos, CEO, Amazon</a:t>
            </a:r>
            <a:endParaRPr lang="en-US" sz="1600" dirty="0"/>
          </a:p>
        </p:txBody>
      </p:sp>
      <p:pic>
        <p:nvPicPr>
          <p:cNvPr id="2052" name="Picture 4" descr="Image result for bezos differential pricing quot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6" t="12877" r="27690"/>
          <a:stretch/>
        </p:blipFill>
        <p:spPr bwMode="auto">
          <a:xfrm>
            <a:off x="3704463" y="4649901"/>
            <a:ext cx="1252058" cy="167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1067" t="16680" r="12226" b="11923"/>
          <a:stretch/>
        </p:blipFill>
        <p:spPr>
          <a:xfrm>
            <a:off x="612648" y="1945409"/>
            <a:ext cx="4208444" cy="2203374"/>
          </a:xfrm>
          <a:prstGeom prst="rect">
            <a:avLst/>
          </a:prstGeom>
        </p:spPr>
      </p:pic>
      <p:sp>
        <p:nvSpPr>
          <p:cNvPr id="10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101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782754"/>
            <a:ext cx="8153400" cy="1787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“</a:t>
            </a:r>
            <a:r>
              <a:rPr lang="en-US" sz="1800" dirty="0"/>
              <a:t>Last week, an anonymous </a:t>
            </a:r>
            <a:r>
              <a:rPr lang="en-US" sz="1800" dirty="0" smtClean="0"/>
              <a:t>user uploaded </a:t>
            </a:r>
            <a:r>
              <a:rPr lang="en-US" sz="1800" dirty="0"/>
              <a:t>an internal memo from Village Cinemas describing concession stand </a:t>
            </a:r>
            <a:r>
              <a:rPr lang="en-US" sz="1800" dirty="0" smtClean="0"/>
              <a:t>increases during </a:t>
            </a:r>
            <a:r>
              <a:rPr lang="en-US" sz="1800" dirty="0"/>
              <a:t>busy periods. After images of the memo circulated online, Village </a:t>
            </a:r>
            <a:r>
              <a:rPr lang="en-US" sz="1800" dirty="0" smtClean="0"/>
              <a:t>Cinemas announced </a:t>
            </a:r>
            <a:r>
              <a:rPr lang="en-US" sz="1800" dirty="0"/>
              <a:t>that all pricing trials had been stopped—weeks before the scheduled end of </a:t>
            </a:r>
            <a:r>
              <a:rPr lang="en-US" sz="1800" dirty="0" smtClean="0"/>
              <a:t>the test </a:t>
            </a:r>
            <a:r>
              <a:rPr lang="en-US" sz="1800" dirty="0"/>
              <a:t>period</a:t>
            </a:r>
            <a:r>
              <a:rPr lang="en-US" sz="1800" dirty="0" smtClean="0"/>
              <a:t>.”</a:t>
            </a:r>
          </a:p>
          <a:p>
            <a:pPr marL="0" indent="0" algn="r">
              <a:buNone/>
            </a:pPr>
            <a:r>
              <a:rPr lang="en-US" sz="1200" dirty="0" smtClean="0"/>
              <a:t>Sidney </a:t>
            </a:r>
            <a:r>
              <a:rPr lang="en-US" sz="1200" dirty="0" err="1" smtClean="0"/>
              <a:t>Fussell</a:t>
            </a:r>
            <a:r>
              <a:rPr lang="en-US" sz="1200" dirty="0" smtClean="0"/>
              <a:t>, </a:t>
            </a:r>
            <a:r>
              <a:rPr lang="en-US" sz="1200" i="1" dirty="0" smtClean="0"/>
              <a:t>gizmodo.com</a:t>
            </a:r>
            <a:r>
              <a:rPr lang="en-US" sz="1200" dirty="0" smtClean="0"/>
              <a:t>, 1/4/2018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 </a:t>
            </a:r>
            <a:r>
              <a:rPr lang="en-US" sz="3600" dirty="0"/>
              <a:t>&amp;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Public Relations Concerns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49833"/>
          <a:stretch/>
        </p:blipFill>
        <p:spPr>
          <a:xfrm>
            <a:off x="1387010" y="1549685"/>
            <a:ext cx="5938463" cy="1058444"/>
          </a:xfrm>
          <a:prstGeom prst="rect">
            <a:avLst/>
          </a:prstGeom>
        </p:spPr>
      </p:pic>
      <p:sp>
        <p:nvSpPr>
          <p:cNvPr id="7" name="Oval Callout 6"/>
          <p:cNvSpPr/>
          <p:nvPr/>
        </p:nvSpPr>
        <p:spPr>
          <a:xfrm>
            <a:off x="205484" y="4900773"/>
            <a:ext cx="3770615" cy="1085259"/>
          </a:xfrm>
          <a:prstGeom prst="wedgeEllipseCallout">
            <a:avLst>
              <a:gd name="adj1" fmla="val -23378"/>
              <a:gd name="adj2" fmla="val 80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“</a:t>
            </a:r>
            <a:r>
              <a:rPr lang="en-US" sz="1200" dirty="0" smtClean="0"/>
              <a:t>Your business </a:t>
            </a:r>
            <a:r>
              <a:rPr lang="en-US" sz="1200" dirty="0"/>
              <a:t>is facing challenges from disruptive technology everywhere, so your solution is to</a:t>
            </a:r>
          </a:p>
          <a:p>
            <a:r>
              <a:rPr lang="en-US" sz="1200" dirty="0"/>
              <a:t>put UP prices.....WOW</a:t>
            </a:r>
            <a:r>
              <a:rPr lang="en-US" sz="1200" dirty="0" smtClean="0"/>
              <a:t>.”</a:t>
            </a:r>
            <a:endParaRPr lang="en-US" sz="1200" dirty="0"/>
          </a:p>
        </p:txBody>
      </p:sp>
      <p:sp>
        <p:nvSpPr>
          <p:cNvPr id="8" name="Oval Callout 7"/>
          <p:cNvSpPr/>
          <p:nvPr/>
        </p:nvSpPr>
        <p:spPr>
          <a:xfrm>
            <a:off x="4572000" y="4578850"/>
            <a:ext cx="4037744" cy="1085259"/>
          </a:xfrm>
          <a:prstGeom prst="wedgeEllipseCallout">
            <a:avLst>
              <a:gd name="adj1" fmla="val -23378"/>
              <a:gd name="adj2" fmla="val 8048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“</a:t>
            </a:r>
            <a:r>
              <a:rPr lang="en-US" sz="1200" dirty="0"/>
              <a:t>I don’t think this is even ‘surge pricing,’ it’s just </a:t>
            </a:r>
            <a:r>
              <a:rPr lang="en-US" sz="1200" dirty="0" smtClean="0"/>
              <a:t>a predetermined </a:t>
            </a:r>
            <a:r>
              <a:rPr lang="en-US" sz="1200" dirty="0"/>
              <a:t>uplift in prices and not driven by demand. What if it’s a </a:t>
            </a:r>
            <a:r>
              <a:rPr lang="en-US" sz="1200" dirty="0" smtClean="0"/>
              <a:t>quiet night</a:t>
            </a:r>
            <a:r>
              <a:rPr lang="en-US" sz="1200" dirty="0"/>
              <a:t>? It’s </a:t>
            </a:r>
            <a:r>
              <a:rPr lang="en-US" sz="1200" dirty="0" smtClean="0"/>
              <a:t>a bit </a:t>
            </a:r>
            <a:r>
              <a:rPr lang="en-US" sz="1200" dirty="0"/>
              <a:t>cheeky to call this dynamic</a:t>
            </a:r>
            <a:r>
              <a:rPr lang="en-US" sz="1200" dirty="0" smtClean="0"/>
              <a:t>.”</a:t>
            </a:r>
            <a:endParaRPr lang="en-US" sz="1200" dirty="0"/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3154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3807270"/>
            <a:ext cx="8153400" cy="7526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“When </a:t>
            </a:r>
            <a:r>
              <a:rPr lang="en-US" dirty="0"/>
              <a:t>Tinder Plus launched, age discrimination for the subscription wasn’t a secret. In the U.S., </a:t>
            </a:r>
            <a:r>
              <a:rPr lang="en-US" dirty="0" err="1"/>
              <a:t>swipers</a:t>
            </a:r>
            <a:r>
              <a:rPr lang="en-US" dirty="0"/>
              <a:t> older than 30 paid $19.99, while younger users paid $9.99</a:t>
            </a:r>
            <a:r>
              <a:rPr lang="en-US" dirty="0" smtClean="0"/>
              <a:t>.”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 </a:t>
            </a:r>
            <a:r>
              <a:rPr lang="en-US" sz="3600" dirty="0"/>
              <a:t>&amp;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Public Relations Concerns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21" name="Picture 2" descr="Tinder | Privacy &amp; security guide | Mozilla Found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1" t="34690" r="3053" b="37370"/>
          <a:stretch/>
        </p:blipFill>
        <p:spPr bwMode="auto">
          <a:xfrm>
            <a:off x="612648" y="1995934"/>
            <a:ext cx="3184016" cy="9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3"/>
          <a:srcRect l="31498" t="25241" r="43575" b="50350"/>
          <a:stretch/>
        </p:blipFill>
        <p:spPr>
          <a:xfrm>
            <a:off x="4548653" y="1631060"/>
            <a:ext cx="2735144" cy="1506545"/>
          </a:xfrm>
          <a:prstGeom prst="rect">
            <a:avLst/>
          </a:prstGeom>
        </p:spPr>
      </p:pic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612648" y="5042180"/>
            <a:ext cx="8153400" cy="75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800" dirty="0" smtClean="0">
                <a:latin typeface="Arial Black" panose="020B0A04020102020204" pitchFamily="34" charset="0"/>
                <a:hlinkClick r:id="rId4"/>
              </a:rPr>
              <a:t>Tinder Is Phasing Out Higher Prices for Users Ages 29-Plus</a:t>
            </a:r>
            <a:endParaRPr lang="en-US" sz="1800" dirty="0" smtClean="0">
              <a:latin typeface="Arial Black" panose="020B0A04020102020204" pitchFamily="34" charset="0"/>
            </a:endParaRPr>
          </a:p>
          <a:p>
            <a:pPr marL="0" indent="0" algn="r">
              <a:buFont typeface="Wingdings" pitchFamily="2" charset="2"/>
              <a:buNone/>
            </a:pPr>
            <a:r>
              <a:rPr lang="en-US" sz="1200" dirty="0" smtClean="0"/>
              <a:t>Thomas </a:t>
            </a:r>
            <a:r>
              <a:rPr lang="en-US" sz="1200" dirty="0" err="1" smtClean="0"/>
              <a:t>Germain</a:t>
            </a:r>
            <a:r>
              <a:rPr lang="en-US" sz="1200" dirty="0" smtClean="0"/>
              <a:t>, </a:t>
            </a:r>
            <a:r>
              <a:rPr lang="en-US" sz="1200" i="1" dirty="0" smtClean="0"/>
              <a:t>Consumer Reports</a:t>
            </a:r>
            <a:r>
              <a:rPr lang="en-US" sz="1200" dirty="0" smtClean="0"/>
              <a:t>, 2/8/2022</a:t>
            </a:r>
          </a:p>
        </p:txBody>
      </p:sp>
    </p:spTree>
    <p:extLst>
      <p:ext uri="{BB962C8B-B14F-4D97-AF65-F5344CB8AC3E}">
        <p14:creationId xmlns:p14="http://schemas.microsoft.com/office/powerpoint/2010/main" val="45177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Challenges with </a:t>
            </a:r>
            <a:r>
              <a:rPr lang="en-US" sz="4400" dirty="0" smtClean="0"/>
              <a:t>Targeted Pricing</a:t>
            </a:r>
            <a:br>
              <a:rPr lang="en-US" sz="4400" dirty="0" smtClean="0"/>
            </a:br>
            <a:r>
              <a:rPr lang="en-US" sz="3600" dirty="0" smtClean="0"/>
              <a:t>	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 </a:t>
            </a:r>
            <a:r>
              <a:rPr lang="en-US" sz="3600" dirty="0"/>
              <a:t>&amp;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Public Relations Concerns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370639" y="4137381"/>
            <a:ext cx="3770615" cy="1085259"/>
          </a:xfrm>
          <a:prstGeom prst="wedgeEllipseCallout">
            <a:avLst>
              <a:gd name="adj1" fmla="val -23378"/>
              <a:gd name="adj2" fmla="val 80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“…is </a:t>
            </a:r>
            <a:r>
              <a:rPr lang="en-US" sz="1200" dirty="0"/>
              <a:t>likely achieved through an algorithm, using a combination of data points to determine what price to offer to each individual </a:t>
            </a:r>
            <a:r>
              <a:rPr lang="en-US" sz="1200" dirty="0" smtClean="0"/>
              <a:t>consumer</a:t>
            </a:r>
            <a:r>
              <a:rPr lang="en-US" sz="1200" dirty="0"/>
              <a:t>.</a:t>
            </a:r>
            <a:r>
              <a:rPr lang="en-US" sz="1200" dirty="0" smtClean="0"/>
              <a:t>”</a:t>
            </a:r>
            <a:endParaRPr lang="en-US" sz="1200" dirty="0"/>
          </a:p>
        </p:txBody>
      </p:sp>
      <p:sp>
        <p:nvSpPr>
          <p:cNvPr id="8" name="Oval Callout 7"/>
          <p:cNvSpPr/>
          <p:nvPr/>
        </p:nvSpPr>
        <p:spPr>
          <a:xfrm>
            <a:off x="4896543" y="4154292"/>
            <a:ext cx="4037744" cy="1085259"/>
          </a:xfrm>
          <a:prstGeom prst="wedgeEllipseCallout">
            <a:avLst>
              <a:gd name="adj1" fmla="val 19320"/>
              <a:gd name="adj2" fmla="val 89024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/>
              <a:t>“</a:t>
            </a:r>
            <a:r>
              <a:rPr lang="en-US" sz="1200" b="1" dirty="0" smtClean="0">
                <a:solidFill>
                  <a:srgbClr val="FF0000"/>
                </a:solidFill>
              </a:rPr>
              <a:t>They’re </a:t>
            </a:r>
            <a:r>
              <a:rPr lang="en-US" sz="1200" b="1" dirty="0">
                <a:solidFill>
                  <a:srgbClr val="FF0000"/>
                </a:solidFill>
              </a:rPr>
              <a:t>playing the game by rules </a:t>
            </a:r>
            <a:r>
              <a:rPr lang="en-US" sz="1200" dirty="0"/>
              <a:t>that you don’t know about and have not agreed to because they’re doing it without your knowledge</a:t>
            </a:r>
            <a:r>
              <a:rPr lang="en-US" sz="1200" dirty="0" smtClean="0"/>
              <a:t>.”</a:t>
            </a:r>
            <a:endParaRPr lang="en-US" sz="1200" dirty="0"/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026" name="Picture 2" descr="Tinder | Privacy &amp; security guide | Mozilla Found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1" t="34690" r="3053" b="37370"/>
          <a:stretch/>
        </p:blipFill>
        <p:spPr bwMode="auto">
          <a:xfrm>
            <a:off x="612648" y="1995934"/>
            <a:ext cx="3184016" cy="9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84593" y="5585021"/>
            <a:ext cx="32319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hlinkClick r:id="rId3"/>
              </a:rPr>
              <a:t>Consumers </a:t>
            </a:r>
            <a:r>
              <a:rPr lang="en-US" sz="1050" dirty="0" smtClean="0">
                <a:hlinkClick r:id="rId3"/>
              </a:rPr>
              <a:t>International and Mozilla Foundation Report</a:t>
            </a:r>
            <a:endParaRPr lang="en-US" sz="1050" dirty="0"/>
          </a:p>
        </p:txBody>
      </p:sp>
      <p:sp>
        <p:nvSpPr>
          <p:cNvPr id="14" name="Oval Callout 13"/>
          <p:cNvSpPr/>
          <p:nvPr/>
        </p:nvSpPr>
        <p:spPr>
          <a:xfrm>
            <a:off x="3246053" y="5385895"/>
            <a:ext cx="4037744" cy="1085259"/>
          </a:xfrm>
          <a:prstGeom prst="wedgeEllipseCallout">
            <a:avLst>
              <a:gd name="adj1" fmla="val -32057"/>
              <a:gd name="adj2" fmla="val 7195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“Typically it’s been found to be illegal when price discrimination is based on things like race, gender, age, religion, marital status, national origin, or disability”</a:t>
            </a:r>
          </a:p>
        </p:txBody>
      </p:sp>
      <p:sp>
        <p:nvSpPr>
          <p:cNvPr id="13" name="Multiply 12"/>
          <p:cNvSpPr/>
          <p:nvPr/>
        </p:nvSpPr>
        <p:spPr>
          <a:xfrm>
            <a:off x="3629403" y="5072775"/>
            <a:ext cx="3133936" cy="171149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Wrong! Only for certain </a:t>
            </a:r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ndustries!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612648" y="3398677"/>
            <a:ext cx="8153400" cy="75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200" dirty="0" smtClean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533400" y="3280589"/>
            <a:ext cx="8153400" cy="75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  <a:hlinkClick r:id="rId4"/>
              </a:rPr>
              <a:t>New Research: Tinder’s Opaque, Unfair Pricing Algorithm Can Charge Users Up to Five-Times More For Same </a:t>
            </a:r>
            <a:r>
              <a:rPr lang="en-US" sz="1800" dirty="0" smtClean="0">
                <a:latin typeface="Arial Black" panose="020B0A04020102020204" pitchFamily="34" charset="0"/>
                <a:hlinkClick r:id="rId4"/>
              </a:rPr>
              <a:t>Service</a:t>
            </a:r>
            <a:endParaRPr lang="en-US" sz="1800" dirty="0" smtClean="0">
              <a:latin typeface="Arial Black" panose="020B0A04020102020204" pitchFamily="34" charset="0"/>
            </a:endParaRPr>
          </a:p>
          <a:p>
            <a:pPr marL="0" indent="0" algn="r">
              <a:buNone/>
            </a:pPr>
            <a:r>
              <a:rPr lang="en-US" sz="1200" dirty="0" smtClean="0"/>
              <a:t>Mozilla, 2/8/2022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4968379" y="1572555"/>
            <a:ext cx="4037744" cy="1085259"/>
          </a:xfrm>
          <a:prstGeom prst="wedgeEllipseCallout">
            <a:avLst>
              <a:gd name="adj1" fmla="val -27669"/>
              <a:gd name="adj2" fmla="val 104242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</a:rPr>
              <a:t>“</a:t>
            </a:r>
            <a:r>
              <a:rPr lang="en-US" sz="1200" b="1" dirty="0">
                <a:solidFill>
                  <a:schemeClr val="bg1"/>
                </a:solidFill>
              </a:rPr>
              <a:t>Tinder Plus can offer up to 31 unique prices in a single country, and that older users are often charged more</a:t>
            </a:r>
            <a:r>
              <a:rPr lang="en-US" sz="1200" dirty="0" smtClean="0"/>
              <a:t>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2961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4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/>
              <a:t>Challenges with targeted </a:t>
            </a:r>
            <a:r>
              <a:rPr lang="en-US" sz="4400" dirty="0"/>
              <a:t>p</a:t>
            </a:r>
            <a:r>
              <a:rPr lang="en-US" sz="4400" dirty="0" smtClean="0"/>
              <a:t>ricing</a:t>
            </a:r>
            <a:br>
              <a:rPr lang="en-US" sz="4400" dirty="0" smtClean="0"/>
            </a:br>
            <a:r>
              <a:rPr lang="en-US" sz="44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</a:t>
            </a:r>
            <a:r>
              <a:rPr lang="en-US" sz="3600" dirty="0" smtClean="0"/>
              <a:t> &amp; 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4952999"/>
            <a:ext cx="8153400" cy="14437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“...the combination of differential pricing and big data raises concerns that some consumers can be made worse off, and have very little knowledge why</a:t>
            </a:r>
            <a:r>
              <a:rPr lang="en-US" dirty="0" smtClean="0"/>
              <a:t>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“…[differential pricing] transfers </a:t>
            </a:r>
            <a:r>
              <a:rPr lang="en-US" dirty="0"/>
              <a:t>value from consumers to shareholders, which generally leads to an increase in inequality and can therefore be inefficient from a utilitarian standpoint</a:t>
            </a:r>
            <a:r>
              <a:rPr lang="en-US" dirty="0" smtClean="0"/>
              <a:t>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111" y="1873306"/>
            <a:ext cx="2408918" cy="2671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13111" y="1873306"/>
            <a:ext cx="2408918" cy="267144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809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should we define</a:t>
            </a:r>
            <a:r>
              <a:rPr lang="en-US" i="1" dirty="0" smtClean="0"/>
              <a:t>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Fairness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199"/>
            <a:ext cx="8483014" cy="503020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 smtClean="0"/>
              <a:t>	Uniform offers versus uniform access/affordability?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u="sng" dirty="0" smtClean="0"/>
              <a:t>Personalized Pricing at </a:t>
            </a:r>
            <a:r>
              <a:rPr lang="en-US" u="sng" dirty="0" err="1" smtClean="0"/>
              <a:t>Ziprecruiter</a:t>
            </a:r>
            <a:r>
              <a:rPr lang="en-US" dirty="0" smtClean="0"/>
              <a:t>: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	</a:t>
            </a:r>
            <a:r>
              <a:rPr lang="en-US" sz="1800" dirty="0" smtClean="0"/>
              <a:t>Over 60% customers pay less under personalized pricing (small firms)!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u="sng" dirty="0" smtClean="0"/>
              <a:t>Uniform pricing in US grocery/drug/convenience</a:t>
            </a:r>
            <a:r>
              <a:rPr lang="en-US" dirty="0" smtClean="0"/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	</a:t>
            </a:r>
            <a:r>
              <a:rPr lang="en-US" sz="1800" dirty="0" smtClean="0"/>
              <a:t>Prices in poor neighborhoods 8% higher than if targeted geographically.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u="sng" dirty="0" smtClean="0"/>
              <a:t>Personalized Pricing and Nutrition</a:t>
            </a:r>
            <a:r>
              <a:rPr lang="en-US" dirty="0" smtClean="0"/>
              <a:t>:</a:t>
            </a:r>
          </a:p>
          <a:p>
            <a:pPr marL="3667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/>
              <a:t>	Low-income consumers have lower WTP for nutritious foods.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u="sng" dirty="0">
                <a:hlinkClick r:id="rId2"/>
              </a:rPr>
              <a:t>Personalized </a:t>
            </a:r>
            <a:r>
              <a:rPr lang="en-US" u="sng" dirty="0" smtClean="0">
                <a:hlinkClick r:id="rId2"/>
              </a:rPr>
              <a:t>Municipal fines/fees</a:t>
            </a:r>
            <a:r>
              <a:rPr lang="en-US" dirty="0" smtClean="0"/>
              <a:t>:</a:t>
            </a:r>
            <a:endParaRPr lang="en-US" dirty="0"/>
          </a:p>
          <a:p>
            <a:pPr marL="3667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	</a:t>
            </a:r>
            <a:r>
              <a:rPr lang="en-US" sz="1800" dirty="0" smtClean="0"/>
              <a:t>Escalating fines/fees increase bankruptcies &amp; evictions in minority neighborhoods.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34904" y="4010491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3"/>
              </a:rPr>
              <a:t>DellaVigna and </a:t>
            </a:r>
            <a:r>
              <a:rPr lang="en-US" sz="1000" dirty="0" err="1">
                <a:hlinkClick r:id="rId3"/>
              </a:rPr>
              <a:t>Gentzkow</a:t>
            </a:r>
            <a:r>
              <a:rPr lang="en-US" sz="1000" dirty="0">
                <a:hlinkClick r:id="rId3"/>
              </a:rPr>
              <a:t> (2017)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934904" y="2957117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smtClean="0">
                <a:hlinkClick r:id="rId4"/>
              </a:rPr>
              <a:t>Dubé and Misra (2022)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934904" y="5054336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smtClean="0">
                <a:hlinkClick r:id="rId5"/>
              </a:rPr>
              <a:t>Allcott et al (2019)</a:t>
            </a:r>
            <a:r>
              <a:rPr lang="en-US" sz="1000" dirty="0" smtClean="0"/>
              <a:t>, </a:t>
            </a:r>
            <a:r>
              <a:rPr lang="en-US" sz="1000" dirty="0" smtClean="0">
                <a:hlinkClick r:id="rId6"/>
              </a:rPr>
              <a:t>Dubé (2020)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934904" y="6354772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smtClean="0">
                <a:hlinkClick r:id="rId7"/>
              </a:rPr>
              <a:t>Dubé (2021)</a:t>
            </a:r>
            <a:r>
              <a:rPr lang="en-US" sz="1000" dirty="0" smtClean="0"/>
              <a:t>, </a:t>
            </a:r>
            <a:r>
              <a:rPr lang="en-US" sz="1000" dirty="0" smtClean="0">
                <a:hlinkClick r:id="rId8"/>
              </a:rPr>
              <a:t>Glenn et al. (2022)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049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/>
              <a:t>Algorithmic Bias</a:t>
            </a:r>
            <a:br>
              <a:rPr lang="en-US" sz="4400" dirty="0" smtClean="0"/>
            </a:br>
            <a:r>
              <a:rPr lang="en-US" sz="44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</a:t>
            </a:r>
            <a:r>
              <a:rPr lang="en-US" sz="3600" dirty="0" smtClean="0"/>
              <a:t> </a:t>
            </a:r>
            <a:r>
              <a:rPr lang="en-US" sz="3600" dirty="0"/>
              <a:t>&amp;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/>
              <a:t>Even if we exclude protected class status data, can our algorithms still discriminate unfairly/unethically?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/>
              <a:t>Many other variables correlate with protected class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i="1" dirty="0" smtClean="0">
                <a:hlinkClick r:id="rId2"/>
              </a:rPr>
              <a:t>“</a:t>
            </a:r>
            <a:r>
              <a:rPr lang="en-US" sz="2200" i="1" dirty="0">
                <a:hlinkClick r:id="rId2"/>
              </a:rPr>
              <a:t>Uber and Lyft pricing algorithms charge more in non-white </a:t>
            </a:r>
            <a:r>
              <a:rPr lang="en-US" sz="2200" i="1" dirty="0" smtClean="0">
                <a:hlinkClick r:id="rId2"/>
              </a:rPr>
              <a:t>areas,”</a:t>
            </a:r>
            <a:r>
              <a:rPr lang="en-US" sz="2200" dirty="0" smtClean="0"/>
              <a:t> </a:t>
            </a:r>
          </a:p>
          <a:p>
            <a:pPr marL="366713" lvl="1" indent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 smtClean="0"/>
              <a:t>Donna Lu, </a:t>
            </a:r>
            <a:r>
              <a:rPr lang="en-US" sz="1400" i="1" dirty="0" err="1" smtClean="0"/>
              <a:t>NewScientist</a:t>
            </a:r>
            <a:r>
              <a:rPr lang="en-US" sz="1400" dirty="0" smtClean="0"/>
              <a:t>, June 18, 2020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/>
              <a:t>Training data for algorithm may reflect discriminatory human behaviors 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/>
              <a:t>e.g., past differential treatment on gender/race that create illusion of differential profitability (availability of nearby drivers)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/>
              <a:t>E.g., lack of competition (absence of substitute taxi services)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“</a:t>
            </a:r>
            <a:r>
              <a:rPr lang="en-US" sz="2200" dirty="0">
                <a:hlinkClick r:id="rId3"/>
              </a:rPr>
              <a:t>Research shows AI is often biased. Here's how to make algorithms work for all of </a:t>
            </a:r>
            <a:r>
              <a:rPr lang="en-US" sz="2200" dirty="0" smtClean="0">
                <a:hlinkClick r:id="rId3"/>
              </a:rPr>
              <a:t>us</a:t>
            </a:r>
            <a:r>
              <a:rPr lang="en-US" sz="2200" dirty="0" smtClean="0"/>
              <a:t>”</a:t>
            </a:r>
          </a:p>
          <a:p>
            <a:pPr marL="366713" lvl="1" indent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 err="1" smtClean="0"/>
              <a:t>Agbolade</a:t>
            </a:r>
            <a:r>
              <a:rPr lang="en-US" sz="1400" dirty="0" smtClean="0"/>
              <a:t> </a:t>
            </a:r>
            <a:r>
              <a:rPr lang="en-US" sz="1400" dirty="0" err="1" smtClean="0"/>
              <a:t>Omowole</a:t>
            </a:r>
            <a:r>
              <a:rPr lang="en-US" sz="1400" dirty="0" smtClean="0"/>
              <a:t>, </a:t>
            </a:r>
            <a:r>
              <a:rPr lang="en-US" sz="1400" i="1" dirty="0" smtClean="0"/>
              <a:t>World Economic Forum, July 19, 2021</a:t>
            </a:r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96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78624"/>
            <a:ext cx="8153400" cy="4495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2" descr="Tinder | Privacy &amp; security guide | Mozilla Founda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1" t="34690" r="3053" b="37370"/>
          <a:stretch/>
        </p:blipFill>
        <p:spPr bwMode="auto">
          <a:xfrm>
            <a:off x="266700" y="1719716"/>
            <a:ext cx="3184016" cy="9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1498" t="25241" r="43575" b="50350"/>
          <a:stretch/>
        </p:blipFill>
        <p:spPr>
          <a:xfrm>
            <a:off x="4502527" y="1546970"/>
            <a:ext cx="2735144" cy="150654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Algorithmic Bias</a:t>
            </a:r>
            <a:br>
              <a:rPr lang="en-US" sz="4400" dirty="0" smtClean="0"/>
            </a:br>
            <a:r>
              <a:rPr lang="en-US" sz="4400" dirty="0" smtClean="0"/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Fairness</a:t>
            </a:r>
            <a:r>
              <a:rPr lang="en-US" sz="3600" dirty="0" smtClean="0"/>
              <a:t> </a:t>
            </a:r>
            <a:r>
              <a:rPr lang="en-US" sz="3600" dirty="0"/>
              <a:t>&amp;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  <a:endParaRPr lang="en-US" dirty="0"/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106424" y="868680"/>
            <a:ext cx="403384" cy="403384"/>
          </a:xfrm>
          <a:prstGeom prst="ellipse">
            <a:avLst/>
          </a:prstGeom>
          <a:solidFill>
            <a:srgbClr val="D9D3CC"/>
          </a:solidFill>
        </p:spPr>
        <p:txBody>
          <a:bodyPr anchor="ctr" anchorCtr="1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533400" y="3178244"/>
            <a:ext cx="3874554" cy="1496561"/>
          </a:xfrm>
          <a:prstGeom prst="wedgeEllipseCallout">
            <a:avLst>
              <a:gd name="adj1" fmla="val -23378"/>
              <a:gd name="adj2" fmla="val 80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“Tinder has never factored in sexual orientation, gender identity, or any other demographic characteristic to our pricing. Any reporting or inference that we do this is patently false and outrageous.”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714" y="5108403"/>
            <a:ext cx="1472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hlinkClick r:id="rId4"/>
              </a:rPr>
              <a:t>Tinder Press Release</a:t>
            </a:r>
            <a:endParaRPr lang="en-US" sz="1200" dirty="0"/>
          </a:p>
        </p:txBody>
      </p:sp>
      <p:sp>
        <p:nvSpPr>
          <p:cNvPr id="11" name="Oval Callout 10"/>
          <p:cNvSpPr/>
          <p:nvPr/>
        </p:nvSpPr>
        <p:spPr>
          <a:xfrm>
            <a:off x="4753902" y="3336569"/>
            <a:ext cx="4253139" cy="1771834"/>
          </a:xfrm>
          <a:prstGeom prst="wedgeEllipseCallout">
            <a:avLst>
              <a:gd name="adj1" fmla="val -17710"/>
              <a:gd name="adj2" fmla="val 87771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“</a:t>
            </a:r>
            <a:r>
              <a:rPr lang="en-US" sz="1200" b="1" dirty="0">
                <a:solidFill>
                  <a:schemeClr val="bg1"/>
                </a:solidFill>
              </a:rPr>
              <a:t>​​Even assuming gender or sexual </a:t>
            </a:r>
            <a:r>
              <a:rPr lang="en-US" sz="1200" b="1" dirty="0" smtClean="0">
                <a:solidFill>
                  <a:schemeClr val="bg1"/>
                </a:solidFill>
              </a:rPr>
              <a:t>preference </a:t>
            </a:r>
            <a:r>
              <a:rPr lang="en-US" sz="1200" b="1" dirty="0">
                <a:solidFill>
                  <a:schemeClr val="bg1"/>
                </a:solidFill>
              </a:rPr>
              <a:t>are not deliberately factored into Tinder’s pricing algorithm, there is potential for unintentional discrimination if specific demographics are consistently being charged more than their counterparts.”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63550" y="5820523"/>
            <a:ext cx="12907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r">
              <a:buNone/>
            </a:pPr>
            <a:r>
              <a:rPr lang="en-US" sz="1200" dirty="0"/>
              <a:t>Mozilla, 2/8/2022</a:t>
            </a:r>
          </a:p>
        </p:txBody>
      </p:sp>
    </p:spTree>
    <p:extLst>
      <p:ext uri="{BB962C8B-B14F-4D97-AF65-F5344CB8AC3E}">
        <p14:creationId xmlns:p14="http://schemas.microsoft.com/office/powerpoint/2010/main" val="263651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1083954638</TotalTime>
  <Pages>26</Pages>
  <Words>1211</Words>
  <Application>Microsoft Office PowerPoint</Application>
  <PresentationFormat>Letter Paper (8.5x11 in)</PresentationFormat>
  <Paragraphs>145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ＭＳ Ｐゴシック</vt:lpstr>
      <vt:lpstr>Arial</vt:lpstr>
      <vt:lpstr>Arial Black</vt:lpstr>
      <vt:lpstr>Roboto</vt:lpstr>
      <vt:lpstr>Symbol</vt:lpstr>
      <vt:lpstr>Times</vt:lpstr>
      <vt:lpstr>Times New Roman</vt:lpstr>
      <vt:lpstr>Tw Cen MT</vt:lpstr>
      <vt:lpstr>Wingdings</vt:lpstr>
      <vt:lpstr>Wingdings 2</vt:lpstr>
      <vt:lpstr>temp</vt:lpstr>
      <vt:lpstr>Challenges with targeted pricing</vt:lpstr>
      <vt:lpstr>Targeting in Practice</vt:lpstr>
      <vt:lpstr>Challenges with Targeted Pricing  Arbitrage</vt:lpstr>
      <vt:lpstr>Challenges with Targeted Pricing  Arbitrage</vt:lpstr>
      <vt:lpstr>Challenges with Targeted Pricing  Legality</vt:lpstr>
      <vt:lpstr>Challenges with Targeted Pricing  Legality</vt:lpstr>
      <vt:lpstr>Challenges with Targeted Pricing  Fairness</vt:lpstr>
      <vt:lpstr>Challenges with Targeted Prices  Fairness &amp; Public Relations Concerns</vt:lpstr>
      <vt:lpstr>Challenges with Targeted Pricing  Fairness &amp; Public Relations Concerns</vt:lpstr>
      <vt:lpstr>Challenges with Targeted Pricing  Fairness &amp; Public Relations Concerns</vt:lpstr>
      <vt:lpstr>Challenges with Targeted Pricing  Fairness &amp; Public Relations Concerns</vt:lpstr>
      <vt:lpstr>Challenges with targeted pricing  Fairness &amp; Marketing for Good</vt:lpstr>
      <vt:lpstr>How should we define Price Fairness?</vt:lpstr>
      <vt:lpstr>Algorithmic Bias  Fairness &amp; Marketing for Good</vt:lpstr>
      <vt:lpstr>Algorithmic Bias  Fairness &amp; Marketing for Good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Demand:  Economic and Behavioral Perspectives</dc:title>
  <dc:creator>JP Dube</dc:creator>
  <cp:lastModifiedBy>Dube, Jean-Pierre</cp:lastModifiedBy>
  <cp:revision>624</cp:revision>
  <cp:lastPrinted>1999-01-08T14:01:46Z</cp:lastPrinted>
  <dcterms:created xsi:type="dcterms:W3CDTF">1996-09-12T19:06:02Z</dcterms:created>
  <dcterms:modified xsi:type="dcterms:W3CDTF">2022-05-20T13:30:43Z</dcterms:modified>
</cp:coreProperties>
</file>