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00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58" r:id="rId4"/>
    <p:sldId id="282" r:id="rId5"/>
    <p:sldId id="260" r:id="rId6"/>
    <p:sldId id="261" r:id="rId7"/>
    <p:sldId id="283" r:id="rId8"/>
    <p:sldId id="263" r:id="rId9"/>
    <p:sldId id="264" r:id="rId10"/>
    <p:sldId id="279" r:id="rId11"/>
    <p:sldId id="300" r:id="rId12"/>
    <p:sldId id="284" r:id="rId13"/>
    <p:sldId id="267" r:id="rId14"/>
    <p:sldId id="268" r:id="rId15"/>
    <p:sldId id="285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6858000" type="letter"/>
  <p:notesSz cx="6877050" cy="916305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0929"/>
  </p:normalViewPr>
  <p:slideViewPr>
    <p:cSldViewPr snapToGrid="0" snapToObjects="1">
      <p:cViewPr varScale="1">
        <p:scale>
          <a:sx n="76" d="100"/>
          <a:sy n="76" d="100"/>
        </p:scale>
        <p:origin x="102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6408738" y="8767763"/>
            <a:ext cx="398462" cy="3032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686" tIns="44547" rIns="90686" bIns="44547" anchor="ctr">
            <a:spAutoFit/>
          </a:bodyPr>
          <a:lstStyle/>
          <a:p>
            <a:pPr algn="r" defTabSz="915988">
              <a:defRPr/>
            </a:pPr>
            <a:fld id="{5E65A69E-9D7D-47C3-8158-84B0171176E7}" type="slidenum">
              <a:rPr lang="en-US" sz="1400">
                <a:latin typeface="Arial" pitchFamily="34" charset="0"/>
              </a:rPr>
              <a:pPr algn="r" defTabSz="915988">
                <a:defRPr/>
              </a:pPr>
              <a:t>‹#›</a:t>
            </a:fld>
            <a:endParaRPr lang="en-US" sz="140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476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352925"/>
            <a:ext cx="5041900" cy="41227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686" tIns="44547" rIns="90686" bIns="445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17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6175" y="685800"/>
            <a:ext cx="4584700" cy="34385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6408738" y="8767763"/>
            <a:ext cx="398462" cy="3032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686" tIns="44547" rIns="90686" bIns="44547" anchor="ctr">
            <a:spAutoFit/>
          </a:bodyPr>
          <a:lstStyle/>
          <a:p>
            <a:pPr algn="r" defTabSz="915988">
              <a:defRPr/>
            </a:pPr>
            <a:fld id="{1456CC27-6947-4E11-97C1-40A7F32B645B}" type="slidenum">
              <a:rPr lang="en-US" sz="1400">
                <a:latin typeface="Arial" pitchFamily="34" charset="0"/>
              </a:rPr>
              <a:pPr algn="r" defTabSz="915988">
                <a:defRPr/>
              </a:pPr>
              <a:t>‹#›</a:t>
            </a:fld>
            <a:endParaRPr lang="en-US" sz="140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6960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  <p:sp>
        <p:nvSpPr>
          <p:cNvPr id="819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1541361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Starbucks</a:t>
            </a:r>
            <a:r>
              <a:rPr lang="en-US" baseline="0" dirty="0"/>
              <a:t> launched espresso maker in 2012, but re-signed a long-term contract with GMCR in May 2013.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078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 = $299.99</a:t>
            </a:r>
          </a:p>
        </p:txBody>
      </p:sp>
    </p:spTree>
    <p:extLst>
      <p:ext uri="{BB962C8B-B14F-4D97-AF65-F5344CB8AC3E}">
        <p14:creationId xmlns:p14="http://schemas.microsoft.com/office/powerpoint/2010/main" val="1782961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 = $299.99</a:t>
            </a:r>
          </a:p>
        </p:txBody>
      </p:sp>
    </p:spTree>
    <p:extLst>
      <p:ext uri="{BB962C8B-B14F-4D97-AF65-F5344CB8AC3E}">
        <p14:creationId xmlns:p14="http://schemas.microsoft.com/office/powerpoint/2010/main" val="535870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g-Ghosted-Shield-offset_red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7E7CF4D2-22D1-48E5-82E4-BFA1B224084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9" name="Picture 18" descr="Logo-for-gray-bg-ppt-whitemaroon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429166" y="6194310"/>
            <a:ext cx="1591121" cy="43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078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>
            <a:lvl1pPr>
              <a:defRPr sz="4000" baseline="0">
                <a:latin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>
            <a:normAutofit/>
          </a:bodyPr>
          <a:lstStyle>
            <a:lvl1pPr>
              <a:defRPr sz="2400" baseline="0">
                <a:latin typeface="Times New Roman" pitchFamily="18" charset="0"/>
              </a:defRPr>
            </a:lvl1pPr>
            <a:lvl2pPr>
              <a:defRPr sz="2400" baseline="0">
                <a:latin typeface="Times New Roman" pitchFamily="18" charset="0"/>
              </a:defRPr>
            </a:lvl2pPr>
            <a:lvl3pPr>
              <a:defRPr sz="2400" baseline="0">
                <a:latin typeface="Times New Roman" pitchFamily="18" charset="0"/>
              </a:defRPr>
            </a:lvl3pPr>
            <a:lvl4pPr>
              <a:defRPr sz="2400" baseline="0">
                <a:latin typeface="Times New Roman" pitchFamily="18" charset="0"/>
              </a:defRPr>
            </a:lvl4pPr>
            <a:lvl5pPr>
              <a:defRPr sz="2400" baseline="0">
                <a:latin typeface="Times New Roman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B3A08E-FED7-4DD5-8AB7-9D303FFA77B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29" descr="LOGOs_430+202_just_110508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8513" y="6324600"/>
            <a:ext cx="16906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07788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3BA10F8-413E-4622-896A-EC4F805FB8B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69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66473F2E-BEA2-494C-B7A3-5271A5EF618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40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0F49B318-7C82-4442-ABFD-5DA8165F02D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45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51D522-44B5-4264-8BF7-C0755ACF9F1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66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16C60D8-4DE1-460B-8728-3530C75993E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41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48BC37-6FE0-4B9F-86F5-E22F34BCF73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37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533573A4-3AE0-4322-8460-2E656397A5D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72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97CEC4-CDC8-4465-821D-667560FABB9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19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9E47E2-3F9B-4F78-85DE-D2115561387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978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6A6A2CA-DCF6-4F65-B3F0-7271F26C998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eaLnBrk="1" fontAlgn="base" hangingPunct="1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1" fontAlgn="base" hangingPunct="1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fontAlgn="base" hangingPunct="1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fontAlgn="base" hangingPunct="1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fontAlgn="base" hangingPunct="1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intelligentblends.com/the-growth-of-k-cup-usage-during-covid-19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://finance.yahoo.com/news/here-s-what-the-new-coke-keurig-soda-machine-will-cost-you-225303377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rker.medium.com/why-keurigs-300-cocktail-machine-failed-c0eda1a6f19c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sj.com/articles/keurig-dr-pepper-said-its-k-cups-could-be-recycled-not-so-says-sec-3766e992?mod=Searchresults_pos6&amp;page=1" TargetMode="External"/><Relationship Id="rId3" Type="http://schemas.openxmlformats.org/officeDocument/2006/relationships/hyperlink" Target="https://news.vice.com/article/consumers-are-dumping-keurigs-single-serve-coffee-and-thats-great-news-for-the-environment" TargetMode="External"/><Relationship Id="rId7" Type="http://schemas.openxmlformats.org/officeDocument/2006/relationships/image" Target="../media/image18.png"/><Relationship Id="rId2" Type="http://schemas.openxmlformats.org/officeDocument/2006/relationships/hyperlink" Target="http://www.dailytech.com/Sour+Brew+How+Keurig+Cofounder+Came+to+Hate+His+Invention+The+KCup/article37219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hyperlink" Target="https://topclassactions.com/lawsuit-settlements/consumer-products/food/keurig-class-action-settled-for-10m-ending-recyclability-claims/" TargetMode="External"/><Relationship Id="rId4" Type="http://schemas.openxmlformats.org/officeDocument/2006/relationships/hyperlink" Target="https://www.bloomberglaw.com/document/X6CJG3BO000000?bna_news_filter=product-liability-and-toxics-law&amp;jcsearch=BNA%25200000016bad97d039afefbff776ae0002#jcite" TargetMode="External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homenewshere.com/daily_times_chronicle/news/burlington/article_3c8c4faa-eac6-11ee-b727-a37c5ca1f201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  <a:noFill/>
        </p:spPr>
        <p:txBody>
          <a:bodyPr lIns="90488" tIns="44450" rIns="90488" bIns="44450"/>
          <a:lstStyle/>
          <a:p>
            <a:r>
              <a:rPr lang="en-US" dirty="0"/>
              <a:t>Keurig </a:t>
            </a:r>
            <a:r>
              <a:rPr lang="en-US"/>
              <a:t>and Wrap-up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362200" y="6050037"/>
            <a:ext cx="6705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800" dirty="0"/>
              <a:t>Jean-Pierre </a:t>
            </a:r>
            <a:r>
              <a:rPr lang="en-US" sz="2800" dirty="0" err="1"/>
              <a:t>Dubé</a:t>
            </a:r>
            <a:endParaRPr lang="en-US" sz="2800" dirty="0"/>
          </a:p>
          <a:p>
            <a:pPr marL="0" indent="0">
              <a:buFont typeface="Wingdings" pitchFamily="2" charset="2"/>
              <a:buNone/>
            </a:pPr>
            <a:r>
              <a:rPr lang="en-US" sz="900" b="1" dirty="0">
                <a:latin typeface="Arial" pitchFamily="34" charset="0"/>
                <a:sym typeface="Symbol" pitchFamily="18" charset="2"/>
              </a:rPr>
              <a:t></a:t>
            </a:r>
            <a:r>
              <a:rPr lang="en-US" sz="900" b="1" dirty="0">
                <a:latin typeface="Arial" pitchFamily="34" charset="0"/>
              </a:rPr>
              <a:t> Copyright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137369"/>
            <a:ext cx="1455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Pricing Strategies</a:t>
            </a:r>
          </a:p>
          <a:p>
            <a:r>
              <a:rPr lang="en-US" sz="1400" dirty="0"/>
              <a:t>2024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Keurig since the case</a:t>
            </a:r>
            <a:br>
              <a:rPr lang="en-US" sz="4400" dirty="0"/>
            </a:br>
            <a:r>
              <a:rPr lang="en-US" sz="3600" dirty="0"/>
              <a:t>GMCR’s rise &amp;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199"/>
            <a:ext cx="8153400" cy="4860421"/>
          </a:xfrm>
        </p:spPr>
        <p:txBody>
          <a:bodyPr>
            <a:normAutofit/>
          </a:bodyPr>
          <a:lstStyle/>
          <a:p>
            <a:r>
              <a:rPr lang="en-US" dirty="0"/>
              <a:t>acquisitions</a:t>
            </a:r>
          </a:p>
          <a:p>
            <a:pPr lvl="1"/>
            <a:r>
              <a:rPr lang="en-US" dirty="0"/>
              <a:t>Keurig (2006)</a:t>
            </a:r>
          </a:p>
          <a:p>
            <a:pPr lvl="1">
              <a:spcAft>
                <a:spcPts val="0"/>
              </a:spcAft>
            </a:pPr>
            <a:r>
              <a:rPr lang="en-US" dirty="0"/>
              <a:t>Van </a:t>
            </a:r>
            <a:r>
              <a:rPr lang="en-US" dirty="0" err="1"/>
              <a:t>Houtte</a:t>
            </a:r>
            <a:r>
              <a:rPr lang="en-US" dirty="0"/>
              <a:t> (2010)</a:t>
            </a:r>
          </a:p>
          <a:p>
            <a:pPr lvl="1">
              <a:spcAft>
                <a:spcPts val="1200"/>
              </a:spcAft>
            </a:pPr>
            <a:r>
              <a:rPr lang="en-US" dirty="0" err="1"/>
              <a:t>Diedrich</a:t>
            </a:r>
            <a:r>
              <a:rPr lang="en-US" dirty="0"/>
              <a:t> (2009)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2010: GMCR sold 2.9 billion Keurig-cups (75% CAGR)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May 2013: GMCR Q2 profits up 42%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March 2014: changed name to Keurig Green Mountain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D6B3A08E-FED7-4DD5-8AB7-9D303FFA77B7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pic>
        <p:nvPicPr>
          <p:cNvPr id="2050" name="Picture 2" descr="Image result for green mountain roaste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7080" y="2144993"/>
            <a:ext cx="2372763" cy="1402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keurig green mountai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8410" y="5631638"/>
            <a:ext cx="2071433" cy="615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3855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Partnerships to secure dominance</a:t>
            </a:r>
          </a:p>
        </p:txBody>
      </p:sp>
      <p:pic>
        <p:nvPicPr>
          <p:cNvPr id="1026" name="Picture 2" descr="Keurig licensees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371" y="1600200"/>
            <a:ext cx="7940207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D6B3A08E-FED7-4DD5-8AB7-9D303FFA77B7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412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Keurig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199"/>
            <a:ext cx="8153400" cy="5110701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According to the National Coffee Association (2016):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28% penetration of US households (</a:t>
            </a:r>
            <a:r>
              <a:rPr lang="en-US" dirty="0">
                <a:hlinkClick r:id="rId2"/>
              </a:rPr>
              <a:t>42% as of 2021</a:t>
            </a:r>
            <a:r>
              <a:rPr lang="en-US" dirty="0"/>
              <a:t>)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32.09% of US sales of ground &amp; whole bean coffee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2020 net sales $4.43 billion  </a:t>
            </a:r>
            <a:r>
              <a:rPr lang="en-US" dirty="0">
                <a:sym typeface="Wingdings" panose="05000000000000000000" pitchFamily="2" charset="2"/>
              </a:rPr>
              <a:t> $3.6 bill from pods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dirty="0">
                <a:sym typeface="Wingdings" panose="05000000000000000000" pitchFamily="2" charset="2"/>
              </a:rPr>
              <a:t>23% of coffee-pod business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endParaRPr lang="en-US" dirty="0">
              <a:sym typeface="Wingdings" panose="05000000000000000000" pitchFamily="2" charset="2"/>
            </a:endParaRPr>
          </a:p>
          <a:p>
            <a:pPr marL="366713" lvl="1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(</a:t>
            </a:r>
            <a:r>
              <a:rPr lang="en-US" i="1" dirty="0">
                <a:solidFill>
                  <a:srgbClr val="FF0000"/>
                </a:solidFill>
                <a:sym typeface="Wingdings" panose="05000000000000000000" pitchFamily="2" charset="2"/>
              </a:rPr>
              <a:t>recall case sized market at $3 billion in 2002)</a:t>
            </a:r>
            <a:endParaRPr lang="en-US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sym typeface="Wingdings" panose="05000000000000000000" pitchFamily="2" charset="2"/>
              </a:rPr>
              <a:t>Challenges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sym typeface="Wingdings" panose="05000000000000000000" pitchFamily="2" charset="2"/>
              </a:rPr>
              <a:t>Company predominantly selling k-cups now</a:t>
            </a:r>
          </a:p>
        </p:txBody>
      </p:sp>
      <p:sp>
        <p:nvSpPr>
          <p:cNvPr id="4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271588"/>
            <a:ext cx="533400" cy="244475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fld id="{CC57B294-D8A8-4633-9FAF-B6BBC6B61EA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355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Challenges</a:t>
            </a:r>
            <a:br>
              <a:rPr lang="en-US" sz="4400" dirty="0"/>
            </a:br>
            <a:r>
              <a:rPr lang="en-US" sz="3600" dirty="0"/>
              <a:t>Diversification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199"/>
            <a:ext cx="8153400" cy="4991519"/>
          </a:xfrm>
        </p:spPr>
        <p:txBody>
          <a:bodyPr numCol="2">
            <a:normAutofit fontScale="85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/>
              <a:t>Maker of Coffee Pods Adds New Flavor: Soup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i="1" dirty="0"/>
              <a:t>Green Mountain, Campbell to Introduce Packets for Broth</a:t>
            </a:r>
          </a:p>
          <a:p>
            <a:pPr marL="0" indent="0" algn="r">
              <a:buNone/>
            </a:pPr>
            <a:r>
              <a:rPr lang="en-US" sz="1600" i="1" dirty="0"/>
              <a:t>WSJ, 9-4-2013</a:t>
            </a:r>
          </a:p>
          <a:p>
            <a:pPr marL="0" indent="0" algn="r">
              <a:buNone/>
            </a:pPr>
            <a:endParaRPr lang="en-US" sz="1600" i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Coca-Cola takes on Soda Stream in home soda machine war</a:t>
            </a:r>
          </a:p>
          <a:p>
            <a:pPr marL="0" indent="0" algn="r">
              <a:buNone/>
            </a:pPr>
            <a:r>
              <a:rPr lang="en-US" sz="1900" i="1" dirty="0"/>
              <a:t>LA Times, </a:t>
            </a:r>
            <a:r>
              <a:rPr lang="en-US" sz="1900" dirty="0"/>
              <a:t>2-6-2014	</a:t>
            </a:r>
          </a:p>
          <a:p>
            <a:pPr marL="0" indent="0">
              <a:spcBef>
                <a:spcPts val="1200"/>
              </a:spcBef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spcBef>
                <a:spcPts val="2400"/>
              </a:spcBef>
              <a:buNone/>
            </a:pPr>
            <a:r>
              <a:rPr lang="en-US" dirty="0"/>
              <a:t>How Coke's new </a:t>
            </a:r>
            <a:r>
              <a:rPr lang="en-US" dirty="0" err="1"/>
              <a:t>Keurig</a:t>
            </a:r>
            <a:r>
              <a:rPr lang="en-US" dirty="0"/>
              <a:t> machine stacks up to </a:t>
            </a:r>
            <a:r>
              <a:rPr lang="en-US" dirty="0" err="1"/>
              <a:t>Sodastream</a:t>
            </a:r>
            <a:r>
              <a:rPr lang="en-US" dirty="0"/>
              <a:t>: </a:t>
            </a:r>
            <a:r>
              <a:rPr lang="en-US" sz="1400" dirty="0">
                <a:hlinkClick r:id="rId2"/>
              </a:rPr>
              <a:t>http://finance.yahoo.com/news/here-s-what-the-new-coke-keurig-soda-machine-will-cost-you-225303377.html</a:t>
            </a:r>
            <a:endParaRPr lang="en-US" sz="1400" dirty="0"/>
          </a:p>
          <a:p>
            <a:pPr marL="0" indent="0">
              <a:spcBef>
                <a:spcPts val="1200"/>
              </a:spcBef>
              <a:buNone/>
            </a:pPr>
            <a:r>
              <a:rPr lang="en-US" dirty="0"/>
              <a:t>Coke Closes On $1.25 Billion Green Mountain Stake [10% stake]</a:t>
            </a:r>
          </a:p>
          <a:p>
            <a:pPr marL="0" indent="0" algn="r">
              <a:spcBef>
                <a:spcPts val="0"/>
              </a:spcBef>
              <a:buNone/>
            </a:pPr>
            <a:r>
              <a:rPr lang="en-US" sz="1600" i="1" dirty="0"/>
              <a:t>Vending Times</a:t>
            </a:r>
            <a:r>
              <a:rPr lang="en-US" sz="1600" dirty="0"/>
              <a:t>, 3-3-2014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dirty="0"/>
              <a:t>Coke Plans to Increase </a:t>
            </a:r>
            <a:r>
              <a:rPr lang="en-US" dirty="0" err="1"/>
              <a:t>Keurig</a:t>
            </a:r>
            <a:r>
              <a:rPr lang="en-US" dirty="0"/>
              <a:t> Stake to 16% [another $billion]</a:t>
            </a:r>
            <a:endParaRPr lang="en-US" sz="1800" dirty="0"/>
          </a:p>
          <a:p>
            <a:pPr marL="0" indent="0" algn="r">
              <a:spcBef>
                <a:spcPts val="0"/>
              </a:spcBef>
              <a:buNone/>
            </a:pPr>
            <a:r>
              <a:rPr lang="en-US" sz="1600" i="1" dirty="0"/>
              <a:t>WSJ</a:t>
            </a:r>
            <a:r>
              <a:rPr lang="en-US" sz="1600" dirty="0"/>
              <a:t>, 5-14-2014</a:t>
            </a:r>
            <a:endParaRPr lang="en-US" sz="2000" dirty="0"/>
          </a:p>
        </p:txBody>
      </p:sp>
      <p:pic>
        <p:nvPicPr>
          <p:cNvPr id="1028" name="Picture 4" descr="http://images.freshnessmag.com/wp-content/uploads/2013/09/keuring-campbell-soup-kcups-sm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87"/>
          <a:stretch/>
        </p:blipFill>
        <p:spPr bwMode="auto">
          <a:xfrm>
            <a:off x="4983680" y="1497205"/>
            <a:ext cx="2401857" cy="1758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keurig-model-coca-col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70" y="4415483"/>
            <a:ext cx="1894289" cy="2363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271588"/>
            <a:ext cx="533400" cy="244475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fld id="{CC57B294-D8A8-4633-9FAF-B6BBC6B61EA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251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://static4.businessinsider.com/image/55c4dbd72acae7c23f8bba5e-1190-625/reviews-of-keurigs-next-big-thing-are-brutal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300" y="2005012"/>
            <a:ext cx="7372350" cy="3686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63893" y="5691187"/>
            <a:ext cx="74831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adley Hand ITC" panose="03070402050302030203" pitchFamily="66" charset="0"/>
              </a:rPr>
              <a:t>“The Keurig </a:t>
            </a:r>
            <a:r>
              <a:rPr lang="en-US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adley Hand ITC" panose="03070402050302030203" pitchFamily="66" charset="0"/>
              </a:rPr>
              <a:t>Kold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adley Hand ITC" panose="03070402050302030203" pitchFamily="66" charset="0"/>
              </a:rPr>
              <a:t>: You could just buy a mini-fridge instead”</a:t>
            </a:r>
          </a:p>
          <a:p>
            <a:pPr algn="r"/>
            <a:r>
              <a:rPr lang="en-US" sz="1600" dirty="0">
                <a:solidFill>
                  <a:srgbClr val="FF0000"/>
                </a:solidFill>
              </a:rPr>
              <a:t>Kris </a:t>
            </a:r>
            <a:r>
              <a:rPr lang="en-US" sz="1600" dirty="0" err="1">
                <a:solidFill>
                  <a:srgbClr val="FF0000"/>
                </a:solidFill>
              </a:rPr>
              <a:t>Naudus</a:t>
            </a:r>
            <a:r>
              <a:rPr lang="en-US" sz="1600" dirty="0">
                <a:solidFill>
                  <a:srgbClr val="FF0000"/>
                </a:solidFill>
              </a:rPr>
              <a:t>, </a:t>
            </a:r>
            <a:r>
              <a:rPr lang="en-US" sz="1600" i="1" dirty="0" err="1">
                <a:solidFill>
                  <a:srgbClr val="FF0000"/>
                </a:solidFill>
              </a:rPr>
              <a:t>engadget</a:t>
            </a:r>
            <a:r>
              <a:rPr lang="en-US" sz="1600" dirty="0">
                <a:solidFill>
                  <a:srgbClr val="FF0000"/>
                </a:solidFill>
              </a:rPr>
              <a:t>, 11-07-2015	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Challenges</a:t>
            </a:r>
            <a:br>
              <a:rPr lang="en-US" sz="4400" dirty="0"/>
            </a:br>
            <a:r>
              <a:rPr lang="en-US" sz="3600" dirty="0"/>
              <a:t>Diversification</a:t>
            </a:r>
          </a:p>
        </p:txBody>
      </p:sp>
      <p:sp>
        <p:nvSpPr>
          <p:cNvPr id="10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271588"/>
            <a:ext cx="533400" cy="244475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fld id="{CC57B294-D8A8-4633-9FAF-B6BBC6B61EA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486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Challenges</a:t>
            </a:r>
            <a:br>
              <a:rPr lang="en-US" sz="4400" dirty="0"/>
            </a:br>
            <a:r>
              <a:rPr lang="en-US" sz="3600" dirty="0"/>
              <a:t>Diversification (growth desperation?)</a:t>
            </a:r>
          </a:p>
        </p:txBody>
      </p:sp>
      <p:sp>
        <p:nvSpPr>
          <p:cNvPr id="10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271588"/>
            <a:ext cx="533400" cy="244475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fld id="{CC57B294-D8A8-4633-9FAF-B6BBC6B61EAB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1026" name="Picture 2" descr="A Drinkworks machine sits on counter next to various drinks including a Sangria, a Moscow Mule, and a beer.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509" y="2825886"/>
            <a:ext cx="4780862" cy="3187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49591" y="1490008"/>
            <a:ext cx="87795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22222"/>
                </a:solidFill>
                <a:cs typeface="Times New Roman" panose="02020603050405020304" pitchFamily="18" charset="0"/>
              </a:rPr>
              <a:t>Keurig’s New </a:t>
            </a:r>
            <a:r>
              <a:rPr lang="en-US" sz="2000" b="1" dirty="0" err="1">
                <a:solidFill>
                  <a:srgbClr val="222222"/>
                </a:solidFill>
                <a:cs typeface="Times New Roman" panose="02020603050405020304" pitchFamily="18" charset="0"/>
              </a:rPr>
              <a:t>Drinkworks</a:t>
            </a:r>
            <a:r>
              <a:rPr lang="en-US" sz="2000" b="1" dirty="0">
                <a:solidFill>
                  <a:srgbClr val="222222"/>
                </a:solidFill>
                <a:cs typeface="Times New Roman" panose="02020603050405020304" pitchFamily="18" charset="0"/>
              </a:rPr>
              <a:t> Home Bar Is Perfect for the G&amp;T Lover Who Can’t Be Bothered to Mix Gin With Tonic</a:t>
            </a:r>
          </a:p>
          <a:p>
            <a:pPr algn="r"/>
            <a:r>
              <a:rPr lang="en-US" sz="1400" b="1" i="0" dirty="0">
                <a:solidFill>
                  <a:srgbClr val="222222"/>
                </a:solidFill>
                <a:effectLst/>
                <a:cs typeface="Times New Roman" panose="02020603050405020304" pitchFamily="18" charset="0"/>
              </a:rPr>
              <a:t>Rache</a:t>
            </a:r>
            <a:r>
              <a:rPr lang="en-US" sz="1400" b="1" dirty="0">
                <a:solidFill>
                  <a:srgbClr val="222222"/>
                </a:solidFill>
                <a:cs typeface="Times New Roman" panose="02020603050405020304" pitchFamily="18" charset="0"/>
              </a:rPr>
              <a:t>lle Hampton, </a:t>
            </a:r>
            <a:r>
              <a:rPr lang="en-US" sz="1400" b="1" i="1" dirty="0">
                <a:solidFill>
                  <a:srgbClr val="222222"/>
                </a:solidFill>
                <a:cs typeface="Times New Roman" panose="02020603050405020304" pitchFamily="18" charset="0"/>
              </a:rPr>
              <a:t>Slate.com</a:t>
            </a:r>
            <a:r>
              <a:rPr lang="en-US" sz="1400" b="1" dirty="0">
                <a:solidFill>
                  <a:srgbClr val="222222"/>
                </a:solidFill>
                <a:cs typeface="Times New Roman" panose="02020603050405020304" pitchFamily="18" charset="0"/>
              </a:rPr>
              <a:t>, Nov 15 2018</a:t>
            </a:r>
            <a:endParaRPr lang="en-US" sz="1400" b="1" i="0" dirty="0">
              <a:solidFill>
                <a:srgbClr val="222222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6183783"/>
            <a:ext cx="529045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666666"/>
                </a:solidFill>
                <a:latin typeface="Retina"/>
              </a:rPr>
              <a:t>For the low price of $299, you can make exotic drinks like a Gin and Tonic or a Vodka Soda at home!</a:t>
            </a:r>
            <a:endParaRPr lang="en-US" sz="900" dirty="0"/>
          </a:p>
        </p:txBody>
      </p:sp>
      <p:sp>
        <p:nvSpPr>
          <p:cNvPr id="7" name="TextBox 6"/>
          <p:cNvSpPr txBox="1"/>
          <p:nvPr/>
        </p:nvSpPr>
        <p:spPr>
          <a:xfrm>
            <a:off x="5482538" y="3535399"/>
            <a:ext cx="35266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Released broadly in Jan 2020 for $299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Pods: $2.50-$3.50 each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Mixes liquid in pod with water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26 </a:t>
            </a:r>
            <a:r>
              <a:rPr lang="en-US" sz="1600" dirty="0" err="1"/>
              <a:t>mins</a:t>
            </a:r>
            <a:r>
              <a:rPr lang="en-US" sz="1600" dirty="0"/>
              <a:t> to chill water</a:t>
            </a:r>
          </a:p>
        </p:txBody>
      </p:sp>
      <p:sp>
        <p:nvSpPr>
          <p:cNvPr id="3" name="Explosion 1 2"/>
          <p:cNvSpPr/>
          <p:nvPr/>
        </p:nvSpPr>
        <p:spPr>
          <a:xfrm rot="19874378">
            <a:off x="1016983" y="2315964"/>
            <a:ext cx="4994100" cy="3128945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hlinkClick r:id="rId4"/>
              </a:rPr>
              <a:t>Why Keurig’s $300 Cocktail Machine Failed</a:t>
            </a:r>
            <a:endParaRPr lang="en-US"/>
          </a:p>
          <a:p>
            <a:pPr algn="r"/>
            <a:r>
              <a:rPr lang="en-US" sz="1600"/>
              <a:t>Feb 7, 2022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94693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JAB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7" y="1600199"/>
            <a:ext cx="8448225" cy="522454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“Keurig to Go Private in $13.9 Billion Buyout Led by JAB”</a:t>
            </a:r>
          </a:p>
          <a:p>
            <a:pPr marL="0" indent="0" algn="r">
              <a:buNone/>
            </a:pPr>
            <a:r>
              <a:rPr lang="en-US" sz="1600" dirty="0"/>
              <a:t>By Jennifer Kaplan, </a:t>
            </a:r>
            <a:r>
              <a:rPr lang="en-US" sz="1600" i="1" dirty="0"/>
              <a:t>Bloomberg,</a:t>
            </a:r>
            <a:r>
              <a:rPr lang="en-US" sz="1600" dirty="0"/>
              <a:t>12-7-2015</a:t>
            </a:r>
          </a:p>
          <a:p>
            <a:endParaRPr lang="en-US" b="1" dirty="0"/>
          </a:p>
          <a:p>
            <a:r>
              <a:rPr lang="en-US" dirty="0"/>
              <a:t>JAB: German holding company in foods including coffee:</a:t>
            </a:r>
          </a:p>
          <a:p>
            <a:pPr marL="4023360" lvl="2">
              <a:spcBef>
                <a:spcPts val="1200"/>
              </a:spcBef>
            </a:pPr>
            <a:r>
              <a:rPr lang="en-US" sz="1800" dirty="0"/>
              <a:t>Jacobs </a:t>
            </a:r>
            <a:r>
              <a:rPr lang="en-US" sz="1800" dirty="0" err="1"/>
              <a:t>Douwe</a:t>
            </a:r>
            <a:r>
              <a:rPr lang="en-US" sz="1800" dirty="0"/>
              <a:t> Egberts (largest pure-play CPG coffee)</a:t>
            </a:r>
          </a:p>
          <a:p>
            <a:pPr marL="4023360" lvl="2">
              <a:spcBef>
                <a:spcPts val="1200"/>
              </a:spcBef>
            </a:pPr>
            <a:r>
              <a:rPr lang="en-US" sz="1800" dirty="0"/>
              <a:t>Pete’s Coffee</a:t>
            </a:r>
          </a:p>
          <a:p>
            <a:pPr marL="4023360" lvl="2">
              <a:spcBef>
                <a:spcPts val="1200"/>
              </a:spcBef>
            </a:pPr>
            <a:r>
              <a:rPr lang="en-US" sz="1800" dirty="0"/>
              <a:t>Caribou Coffee</a:t>
            </a:r>
          </a:p>
          <a:p>
            <a:pPr marL="4023360" lvl="2">
              <a:spcBef>
                <a:spcPts val="1200"/>
              </a:spcBef>
            </a:pPr>
            <a:r>
              <a:rPr lang="en-US" sz="1800" dirty="0"/>
              <a:t>Espresso House (largest chain in Scandinavia)</a:t>
            </a:r>
          </a:p>
          <a:p>
            <a:pPr marL="4023360" lvl="2">
              <a:spcBef>
                <a:spcPts val="1200"/>
              </a:spcBef>
            </a:pPr>
            <a:r>
              <a:rPr lang="en-US" sz="1800" dirty="0" err="1"/>
              <a:t>Baresso</a:t>
            </a:r>
            <a:r>
              <a:rPr lang="en-US" sz="1800" dirty="0"/>
              <a:t> Coffee (largest chain in Denmark)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271588"/>
            <a:ext cx="533400" cy="244475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/>
              <a:t>9</a:t>
            </a:r>
          </a:p>
        </p:txBody>
      </p:sp>
      <p:pic>
        <p:nvPicPr>
          <p:cNvPr id="1026" name="Picture 2" descr="https://s.yimg.com/ny/api/res/1.2/np75melZQGmRTY9aQAKaYw--/YXBwaWQ9aGlnaGxhbmRlcjtzbT0xO3c9ODAwO2g9NDUw/http:/media.zenfs.com/en/homerun/feed_manager_auto_publish_494/7ad3e585c44a3542c182088f449f879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36" y="3429000"/>
            <a:ext cx="4117975" cy="2316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880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Keurig Acquires Dr. Pepper-Snapple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199"/>
            <a:ext cx="8153400" cy="4983481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/>
              <a:t>“Keurig to Acquire Dr Pepper Snapple in Largest Soft-Drink Deal Ever”</a:t>
            </a:r>
          </a:p>
          <a:p>
            <a:pPr marL="0" indent="0" algn="r">
              <a:buNone/>
            </a:pPr>
            <a:r>
              <a:rPr lang="en-US" sz="1400" i="1" dirty="0"/>
              <a:t>WSJ,</a:t>
            </a:r>
            <a:r>
              <a:rPr lang="en-US" sz="1400" dirty="0"/>
              <a:t>1-29-2018</a:t>
            </a:r>
            <a:endParaRPr lang="en-US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$19 billion deal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“</a:t>
            </a:r>
            <a:r>
              <a:rPr lang="en-US" b="1" dirty="0"/>
              <a:t>Keurig coffee systems gain 3 million new users</a:t>
            </a:r>
            <a:r>
              <a:rPr lang="en-US" dirty="0"/>
              <a:t>”</a:t>
            </a:r>
          </a:p>
          <a:p>
            <a:pPr marL="0" indent="0" algn="r">
              <a:buNone/>
            </a:pPr>
            <a:r>
              <a:rPr lang="en-US" sz="1400" i="1" dirty="0" err="1"/>
              <a:t>FoodBusinessNews</a:t>
            </a:r>
            <a:r>
              <a:rPr lang="en-US" sz="1400" dirty="0"/>
              <a:t>, 3-1-2021</a:t>
            </a:r>
            <a:endParaRPr lang="en-US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Installed base grew from 21 mill to 33 mill since merger!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Record number of </a:t>
            </a:r>
            <a:r>
              <a:rPr lang="en-US" i="1" u="sng" dirty="0"/>
              <a:t>upgrades</a:t>
            </a:r>
          </a:p>
          <a:p>
            <a:pPr marL="366713" lvl="1" indent="0">
              <a:spcBef>
                <a:spcPts val="600"/>
              </a:spcBef>
              <a:spcAft>
                <a:spcPts val="600"/>
              </a:spcAft>
              <a:buNone/>
            </a:pPr>
            <a:endParaRPr lang="en-US" i="1" dirty="0"/>
          </a:p>
          <a:p>
            <a:pPr marL="366713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i="1" dirty="0"/>
              <a:t>(recall case sized market at 20 million in 2002)</a:t>
            </a:r>
            <a:endParaRPr lang="en-US" b="1" dirty="0"/>
          </a:p>
        </p:txBody>
      </p:sp>
      <p:sp>
        <p:nvSpPr>
          <p:cNvPr id="4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271588"/>
            <a:ext cx="533400" cy="244475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fld id="{CC57B294-D8A8-4633-9FAF-B6BBC6B61EAB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1026" name="Picture 2" descr="Keurig Dr Pepper.sv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449" y="2489385"/>
            <a:ext cx="3320158" cy="99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559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78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b="1" dirty="0"/>
              <a:t>“Consumer Storm Brewing Over Keurig 2.0”</a:t>
            </a:r>
          </a:p>
          <a:p>
            <a:pPr marL="0" indent="0" algn="r">
              <a:spcBef>
                <a:spcPts val="0"/>
              </a:spcBef>
              <a:buNone/>
            </a:pPr>
            <a:r>
              <a:rPr lang="en-US" sz="1200" b="1" i="1" dirty="0"/>
              <a:t>The Ledger</a:t>
            </a:r>
            <a:r>
              <a:rPr lang="en-US" sz="1200" b="1" dirty="0"/>
              <a:t>, 5-1- 2015</a:t>
            </a:r>
          </a:p>
          <a:p>
            <a:pPr lvl="1"/>
            <a:r>
              <a:rPr lang="en-US" sz="2200" dirty="0">
                <a:latin typeface="+mj-lt"/>
              </a:rPr>
              <a:t>Message if insert reusable coffee pod in Keurig 2.0:</a:t>
            </a:r>
          </a:p>
          <a:p>
            <a:pPr marL="0" indent="0" algn="ctr">
              <a:buNone/>
            </a:pPr>
            <a:r>
              <a:rPr lang="en-US" sz="1800" b="1" dirty="0">
                <a:cs typeface="Times New Roman" panose="02020603050405020304" pitchFamily="18" charset="0"/>
              </a:rPr>
              <a:t>	‘‘Oops! This pack wasn't designed for this brewer. Please try one of the hundreds of packs with the Keurig logo.”</a:t>
            </a:r>
          </a:p>
          <a:p>
            <a:pPr lvl="1">
              <a:spcBef>
                <a:spcPts val="1200"/>
              </a:spcBef>
            </a:pPr>
            <a:r>
              <a:rPr lang="en-US" sz="2200" dirty="0">
                <a:latin typeface="+mj-lt"/>
              </a:rPr>
              <a:t>Keurig’s explanation:</a:t>
            </a:r>
          </a:p>
          <a:p>
            <a:pPr marL="0" indent="0" algn="ctr">
              <a:buNone/>
            </a:pPr>
            <a:r>
              <a:rPr lang="en-US" sz="1800" b="1" dirty="0">
                <a:latin typeface="+mj-lt"/>
              </a:rPr>
              <a:t>	Authentic K-cup so brewer would </a:t>
            </a:r>
            <a:r>
              <a:rPr lang="en-US" sz="1800" b="1" dirty="0">
                <a:cs typeface="Times New Roman" panose="02020603050405020304" pitchFamily="18" charset="0"/>
              </a:rPr>
              <a:t>“know the optimal settings for the inserted Keurig pack, for a perfect beverage every time.”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+mj-lt"/>
              </a:rPr>
              <a:t>“Keurig K-Cup Class Action Settlement”</a:t>
            </a:r>
          </a:p>
          <a:p>
            <a:pPr marL="0" indent="0" algn="r">
              <a:spcBef>
                <a:spcPts val="0"/>
              </a:spcBef>
              <a:buNone/>
            </a:pPr>
            <a:r>
              <a:rPr lang="en-US" sz="1200" i="1" dirty="0">
                <a:solidFill>
                  <a:srgbClr val="FF0000"/>
                </a:solidFill>
                <a:latin typeface="+mj-lt"/>
              </a:rPr>
              <a:t>Top Class Actions</a:t>
            </a:r>
            <a:r>
              <a:rPr lang="en-US" sz="1200" dirty="0">
                <a:solidFill>
                  <a:srgbClr val="FF0000"/>
                </a:solidFill>
                <a:latin typeface="+mj-lt"/>
              </a:rPr>
              <a:t>, 1-14-2021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Challenges:</a:t>
            </a:r>
            <a:r>
              <a:rPr lang="en-US" sz="4400" i="1" dirty="0"/>
              <a:t> Marketing For Good?</a:t>
            </a:r>
            <a:br>
              <a:rPr lang="en-US" sz="4400" dirty="0"/>
            </a:br>
            <a:r>
              <a:rPr lang="en-US" sz="3600" dirty="0"/>
              <a:t>Patent Expiration in 2012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271588"/>
            <a:ext cx="533400" cy="244475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fld id="{CC57B294-D8A8-4633-9FAF-B6BBC6B61EAB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10" name="Picture 2" descr="https://upload.wikimedia.org/wikipedia/commons/thumb/2/2a/George_Santayana.jpg/220px-George_Santayan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4352" y="5675022"/>
            <a:ext cx="726553" cy="885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ounded Rectangular Callout 10"/>
          <p:cNvSpPr/>
          <p:nvPr/>
        </p:nvSpPr>
        <p:spPr>
          <a:xfrm>
            <a:off x="4193909" y="5756579"/>
            <a:ext cx="1827461" cy="473676"/>
          </a:xfrm>
          <a:prstGeom prst="wedgeRoundRectCallout">
            <a:avLst>
              <a:gd name="adj1" fmla="val 60644"/>
              <a:gd name="adj2" fmla="val 6836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i="1" dirty="0"/>
              <a:t>Those who cannot remember the past are condemned to repeat it.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4352" y="6519446"/>
            <a:ext cx="72076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000000"/>
                </a:solidFill>
                <a:latin typeface="Linux Libertine"/>
              </a:rPr>
              <a:t>George Santayana</a:t>
            </a:r>
            <a:endParaRPr lang="en-US" sz="800" b="0" i="0" dirty="0">
              <a:solidFill>
                <a:srgbClr val="000000"/>
              </a:solidFill>
              <a:effectLst/>
              <a:latin typeface="Linux Libertine"/>
            </a:endParaRPr>
          </a:p>
        </p:txBody>
      </p:sp>
      <p:pic>
        <p:nvPicPr>
          <p:cNvPr id="13" name="Picture 4" descr="Image result for doh hom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490" y="5577941"/>
            <a:ext cx="926485" cy="694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xplosion 1 1"/>
          <p:cNvSpPr/>
          <p:nvPr/>
        </p:nvSpPr>
        <p:spPr>
          <a:xfrm>
            <a:off x="441789" y="5311739"/>
            <a:ext cx="3369923" cy="1448657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6713" lvl="1" indent="0">
              <a:spcBef>
                <a:spcPts val="600"/>
              </a:spcBef>
              <a:buNone/>
            </a:pPr>
            <a:r>
              <a:rPr lang="en-US" sz="2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$31 million settlement</a:t>
            </a:r>
            <a:endParaRPr lang="en-US" sz="2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30966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7" y="1600200"/>
            <a:ext cx="8531353" cy="51840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hlinkClick r:id="rId2"/>
              </a:rPr>
              <a:t>Sour Brew: How Keurig Cofounder Came to Hate His Invention, The K-Cup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r">
              <a:buNone/>
            </a:pPr>
            <a:r>
              <a:rPr lang="en-US" sz="12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Daily Tech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3-5-2015</a:t>
            </a:r>
            <a:endParaRPr lang="en-US" sz="1200" dirty="0"/>
          </a:p>
          <a:p>
            <a:pPr lvl="4">
              <a:spcBef>
                <a:spcPts val="1200"/>
              </a:spcBef>
              <a:spcAft>
                <a:spcPts val="1200"/>
              </a:spcAft>
            </a:pPr>
            <a:r>
              <a:rPr lang="en-US" sz="2000" dirty="0"/>
              <a:t>What do you do with all the discarded K-cups?</a:t>
            </a:r>
          </a:p>
          <a:p>
            <a:pPr lvl="4">
              <a:spcBef>
                <a:spcPts val="1200"/>
              </a:spcBef>
              <a:spcAft>
                <a:spcPts val="1200"/>
              </a:spcAft>
            </a:pPr>
            <a:r>
              <a:rPr lang="en-US" sz="2000" dirty="0"/>
              <a:t>According to </a:t>
            </a:r>
            <a:r>
              <a:rPr lang="en-US" sz="2000" b="1" dirty="0"/>
              <a:t>Vice</a:t>
            </a:r>
            <a:r>
              <a:rPr lang="en-US" sz="2000" dirty="0"/>
              <a:t>:</a:t>
            </a:r>
          </a:p>
          <a:p>
            <a:pPr lvl="5"/>
            <a:r>
              <a:rPr lang="en-US" sz="1400" dirty="0"/>
              <a:t>“Keurig brewer generates 10 times the solid waste … from a standard drip brewer.”</a:t>
            </a:r>
          </a:p>
          <a:p>
            <a:pPr lvl="5"/>
            <a:r>
              <a:rPr lang="en-US" sz="1400" dirty="0"/>
              <a:t>“In 2014, …there were enough discarded K-Cups to circle the earth 10.5 times.”</a:t>
            </a:r>
            <a:endParaRPr lang="en-US" sz="1000" dirty="0"/>
          </a:p>
          <a:p>
            <a:pPr marL="0" indent="0" algn="r">
              <a:buNone/>
            </a:pPr>
            <a:r>
              <a:rPr lang="en-US" sz="1200" i="1" dirty="0">
                <a:hlinkClick r:id="rId3"/>
              </a:rPr>
              <a:t>vice.com</a:t>
            </a:r>
            <a:r>
              <a:rPr lang="en-US" sz="1200" i="1" dirty="0"/>
              <a:t>, </a:t>
            </a:r>
            <a:r>
              <a:rPr lang="en-US" sz="1200" dirty="0"/>
              <a:t>2-13-2016</a:t>
            </a:r>
          </a:p>
          <a:p>
            <a:pPr marL="0" indent="0">
              <a:buNone/>
            </a:pPr>
            <a:endParaRPr lang="en-US" sz="2000" b="1" dirty="0">
              <a:hlinkClick r:id="rId4"/>
            </a:endParaRPr>
          </a:p>
          <a:p>
            <a:pPr marL="0" indent="0">
              <a:buNone/>
            </a:pPr>
            <a:r>
              <a:rPr lang="en-US" sz="2000" dirty="0">
                <a:hlinkClick r:id="rId5" tooltip="Keurig Class Action Settled For $10M, Ending Recyclability Claims"/>
              </a:rPr>
              <a:t>Keurig Class Action Settled For $10M, Ending Recyclability Claims</a:t>
            </a:r>
            <a:endParaRPr lang="en-US" sz="2000" b="1" dirty="0"/>
          </a:p>
          <a:p>
            <a:pPr marL="0" indent="0" algn="r">
              <a:buNone/>
            </a:pPr>
            <a:r>
              <a:rPr lang="en-US" sz="1200" i="1" dirty="0"/>
              <a:t>TopClassActions.com</a:t>
            </a:r>
            <a:r>
              <a:rPr lang="en-US" sz="1200" dirty="0"/>
              <a:t>, 3-3-2022</a:t>
            </a:r>
          </a:p>
          <a:p>
            <a:pPr marL="0" indent="0">
              <a:buNone/>
            </a:pPr>
            <a:r>
              <a:rPr lang="en-US" sz="1200" dirty="0"/>
              <a:t>(Smith v. Keurig Green Mountain Inc., Case No. 4:18-cv-06690, in the U.S. District Court for the Northern District of California.)</a:t>
            </a:r>
          </a:p>
          <a:p>
            <a:r>
              <a:rPr lang="en-US" sz="1800" dirty="0"/>
              <a:t>Also requires disclaimer that pods are not recyclable</a:t>
            </a:r>
          </a:p>
          <a:p>
            <a:pPr lvl="1">
              <a:buFont typeface="+mj-lt"/>
              <a:buAutoNum type="arabicPeriod"/>
            </a:pPr>
            <a:r>
              <a:rPr lang="en-US" sz="1800" dirty="0"/>
              <a:t>On labels</a:t>
            </a:r>
          </a:p>
          <a:p>
            <a:pPr lvl="1">
              <a:buFont typeface="+mj-lt"/>
              <a:buAutoNum type="arabicPeriod"/>
            </a:pPr>
            <a:r>
              <a:rPr lang="en-US" sz="1800" dirty="0"/>
              <a:t>On website</a:t>
            </a:r>
            <a:endParaRPr lang="en-US" sz="1200" dirty="0"/>
          </a:p>
          <a:p>
            <a:pPr lvl="1">
              <a:buFont typeface="+mj-lt"/>
              <a:buAutoNum type="arabicPeriod"/>
            </a:pPr>
            <a:endParaRPr lang="en-US" sz="12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Challenges:</a:t>
            </a:r>
            <a:r>
              <a:rPr lang="en-US" sz="4400" i="1" dirty="0"/>
              <a:t> Marketing For Good</a:t>
            </a:r>
            <a:br>
              <a:rPr lang="en-US" sz="4400" dirty="0"/>
            </a:br>
            <a:r>
              <a:rPr lang="en-US" sz="3600" dirty="0"/>
              <a:t>Corporate Social Responsibility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271588"/>
            <a:ext cx="533400" cy="244475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fld id="{CC57B294-D8A8-4633-9FAF-B6BBC6B61EAB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5122" name="Picture 2" descr="Image result for keurig ecological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54" r="8078"/>
          <a:stretch/>
        </p:blipFill>
        <p:spPr bwMode="auto">
          <a:xfrm>
            <a:off x="33710" y="2636526"/>
            <a:ext cx="2262823" cy="1547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124975">
            <a:off x="4096769" y="4085956"/>
            <a:ext cx="4301457" cy="1033118"/>
          </a:xfrm>
          <a:prstGeom prst="rect">
            <a:avLst/>
          </a:prstGeom>
        </p:spPr>
      </p:pic>
      <p:pic>
        <p:nvPicPr>
          <p:cNvPr id="7" name="Picture 6">
            <a:hlinkClick r:id="rId8"/>
            <a:extLst>
              <a:ext uri="{FF2B5EF4-FFF2-40B4-BE49-F238E27FC236}">
                <a16:creationId xmlns:a16="http://schemas.microsoft.com/office/drawing/2014/main" id="{6418EB02-2C6F-4F25-899B-662DD777E7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0197360">
            <a:off x="1425223" y="3414484"/>
            <a:ext cx="4301323" cy="153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838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Challenges:</a:t>
            </a:r>
            <a:r>
              <a:rPr lang="en-US" sz="4400" i="1" dirty="0"/>
              <a:t> Marketing For Good</a:t>
            </a:r>
            <a:br>
              <a:rPr lang="en-US" sz="4400" dirty="0"/>
            </a:br>
            <a:r>
              <a:rPr lang="en-US" sz="3600" dirty="0"/>
              <a:t>Corporate Social Responsibility</a:t>
            </a:r>
          </a:p>
        </p:txBody>
      </p:sp>
      <p:pic>
        <p:nvPicPr>
          <p:cNvPr id="5" name="Picture 4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600200"/>
            <a:ext cx="6674408" cy="428211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74072" y="2406094"/>
            <a:ext cx="2098485" cy="37882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271588"/>
            <a:ext cx="533400" cy="244475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fld id="{CC57B294-D8A8-4633-9FAF-B6BBC6B61EAB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5796501" y="3045350"/>
            <a:ext cx="2878372" cy="18367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"expertly roasted coffee beans that are ground, pressed and wrapped in a proprietary, protective plant-based coating preserving the coffee's flavor and aroma, eliminating the need for plastic or aluminum.”</a:t>
            </a:r>
          </a:p>
        </p:txBody>
      </p:sp>
    </p:spTree>
    <p:extLst>
      <p:ext uri="{BB962C8B-B14F-4D97-AF65-F5344CB8AC3E}">
        <p14:creationId xmlns:p14="http://schemas.microsoft.com/office/powerpoint/2010/main" val="3817577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Wrap-up</a:t>
            </a:r>
          </a:p>
        </p:txBody>
      </p:sp>
      <p:pic>
        <p:nvPicPr>
          <p:cNvPr id="4" name="Picture 2" descr="Image result for wrap up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" t="11478" r="2696" b="1945"/>
          <a:stretch/>
        </p:blipFill>
        <p:spPr bwMode="auto">
          <a:xfrm>
            <a:off x="0" y="2617359"/>
            <a:ext cx="9144000" cy="4284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425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Peer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Each of you will receive an individual e-mail from TA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Group number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Password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Link to online peer </a:t>
            </a:r>
            <a:r>
              <a:rPr lang="en-US" dirty="0" err="1"/>
              <a:t>eval</a:t>
            </a:r>
            <a:r>
              <a:rPr lang="en-US" dirty="0"/>
              <a:t> survey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0AB17850-4258-417C-BFA2-7F4C49EDBD6D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602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76800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dirty="0"/>
              <a:t>Available on Canvas: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Based on lecture/HW material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dirty="0"/>
              <a:t>Due online </a:t>
            </a:r>
            <a:r>
              <a:rPr lang="en-US" u="sng" dirty="0"/>
              <a:t>no later than</a:t>
            </a:r>
          </a:p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endParaRPr lang="en-US" dirty="0"/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Electronic submission (see assignment for instructions)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86840" y="2247900"/>
            <a:ext cx="709676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6713" lvl="1" indent="0" algn="ctr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b="1" dirty="0"/>
              <a:t>After class today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0AB17850-4258-417C-BFA2-7F4C49EDBD6D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45218" y="4021584"/>
            <a:ext cx="7338381" cy="16157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6713" lvl="1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b="1" dirty="0"/>
              <a:t>AXP: 11:59pm (Central Time) Sunday, Jul 27, 2025</a:t>
            </a:r>
          </a:p>
          <a:p>
            <a:pPr marL="366713" lvl="1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b="1" dirty="0"/>
              <a:t>XP:    11:59pm (Central Time) Sunday, Aug 3, 2025</a:t>
            </a:r>
          </a:p>
        </p:txBody>
      </p:sp>
    </p:spTree>
    <p:extLst>
      <p:ext uri="{BB962C8B-B14F-4D97-AF65-F5344CB8AC3E}">
        <p14:creationId xmlns:p14="http://schemas.microsoft.com/office/powerpoint/2010/main" val="1584818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2647" y="6265520"/>
            <a:ext cx="5276572" cy="422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7" y="1600200"/>
            <a:ext cx="8438885" cy="4495800"/>
          </a:xfrm>
        </p:spPr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sz="2200" b="1" i="1" dirty="0">
                <a:latin typeface="+mn-lt"/>
                <a:ea typeface="Adobe Song Std L" pitchFamily="18" charset="-128"/>
              </a:rPr>
              <a:t>Customers don’t purchase based price, but on value in exchange for price</a:t>
            </a:r>
          </a:p>
          <a:p>
            <a:pPr>
              <a:spcAft>
                <a:spcPts val="1200"/>
              </a:spcAft>
            </a:pPr>
            <a:r>
              <a:rPr lang="en-US" sz="2200" dirty="0">
                <a:latin typeface="+mn-lt"/>
              </a:rPr>
              <a:t>Optimal pricing balances </a:t>
            </a:r>
            <a:r>
              <a:rPr lang="en-US" sz="2200" b="1" dirty="0">
                <a:latin typeface="+mn-lt"/>
              </a:rPr>
              <a:t>value</a:t>
            </a:r>
            <a:r>
              <a:rPr lang="en-US" sz="2200" dirty="0">
                <a:latin typeface="+mn-lt"/>
              </a:rPr>
              <a:t>, </a:t>
            </a:r>
            <a:r>
              <a:rPr lang="en-US" sz="2200" b="1" dirty="0">
                <a:latin typeface="+mn-lt"/>
              </a:rPr>
              <a:t>costs</a:t>
            </a:r>
            <a:r>
              <a:rPr lang="en-US" sz="2200" dirty="0">
                <a:latin typeface="+mn-lt"/>
              </a:rPr>
              <a:t> and </a:t>
            </a:r>
            <a:r>
              <a:rPr lang="en-US" sz="2200" b="1" dirty="0">
                <a:latin typeface="+mn-lt"/>
              </a:rPr>
              <a:t>competition</a:t>
            </a:r>
            <a:endParaRPr lang="en-US" sz="2200" dirty="0">
              <a:latin typeface="+mn-lt"/>
            </a:endParaRPr>
          </a:p>
          <a:p>
            <a:r>
              <a:rPr lang="en-US" sz="2200" dirty="0">
                <a:latin typeface="+mn-lt"/>
              </a:rPr>
              <a:t>Need the </a:t>
            </a:r>
            <a:r>
              <a:rPr lang="en-US" sz="2200" b="1" dirty="0">
                <a:latin typeface="+mn-lt"/>
              </a:rPr>
              <a:t>right data</a:t>
            </a:r>
            <a:r>
              <a:rPr lang="en-US" sz="2200" dirty="0">
                <a:latin typeface="+mn-lt"/>
              </a:rPr>
              <a:t> and systems in place</a:t>
            </a:r>
          </a:p>
          <a:p>
            <a:pPr lvl="1"/>
            <a:r>
              <a:rPr lang="en-US" sz="2200" dirty="0">
                <a:latin typeface="+mn-lt"/>
              </a:rPr>
              <a:t>Demand measurement is often an obstacle</a:t>
            </a:r>
          </a:p>
          <a:p>
            <a:pPr lvl="1">
              <a:spcAft>
                <a:spcPts val="1200"/>
              </a:spcAft>
            </a:pPr>
            <a:r>
              <a:rPr lang="en-US" sz="2200" dirty="0">
                <a:latin typeface="+mn-lt"/>
              </a:rPr>
              <a:t>Only use relevant (incremental) costs for pricing</a:t>
            </a:r>
          </a:p>
          <a:p>
            <a:r>
              <a:rPr lang="en-US" sz="2200" dirty="0">
                <a:latin typeface="+mn-lt"/>
              </a:rPr>
              <a:t>Managing pricing for a product line requires </a:t>
            </a:r>
            <a:r>
              <a:rPr lang="en-US" sz="2200" b="1" dirty="0">
                <a:latin typeface="+mn-lt"/>
              </a:rPr>
              <a:t>coordination</a:t>
            </a:r>
          </a:p>
          <a:p>
            <a:pPr lvl="1"/>
            <a:r>
              <a:rPr lang="en-US" sz="2200" b="1" dirty="0">
                <a:latin typeface="+mn-lt"/>
              </a:rPr>
              <a:t>Substitutes:</a:t>
            </a:r>
            <a:r>
              <a:rPr lang="en-US" sz="2200" dirty="0">
                <a:latin typeface="+mn-lt"/>
              </a:rPr>
              <a:t> manage cannibalization (“trading down”)</a:t>
            </a:r>
          </a:p>
          <a:p>
            <a:pPr lvl="1"/>
            <a:r>
              <a:rPr lang="en-US" sz="2200" b="1" dirty="0">
                <a:latin typeface="+mn-lt"/>
              </a:rPr>
              <a:t>Complements: </a:t>
            </a:r>
            <a:r>
              <a:rPr lang="en-US" sz="2200" dirty="0">
                <a:latin typeface="+mn-lt"/>
              </a:rPr>
              <a:t>loss-leading as an investment</a:t>
            </a:r>
          </a:p>
          <a:p>
            <a:pPr>
              <a:spcBef>
                <a:spcPts val="1200"/>
              </a:spcBef>
            </a:pPr>
            <a:r>
              <a:rPr lang="en-US" sz="2200">
                <a:latin typeface="+mn-lt"/>
              </a:rPr>
              <a:t>Unprofitable </a:t>
            </a:r>
            <a:r>
              <a:rPr lang="en-US" sz="2200" dirty="0">
                <a:latin typeface="+mn-lt"/>
              </a:rPr>
              <a:t>discounts today can be investments in 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CLV</a:t>
            </a:r>
          </a:p>
          <a:p>
            <a:pPr marL="0" indent="0">
              <a:spcBef>
                <a:spcPts val="1200"/>
              </a:spcBef>
              <a:buNone/>
            </a:pPr>
            <a:endParaRPr lang="en-US" sz="1000" dirty="0">
              <a:latin typeface="+mn-lt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sz="2200" i="1" dirty="0">
                <a:latin typeface="+mn-lt"/>
              </a:rPr>
              <a:t>See Course Summary Appendix at end of deck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1271588"/>
            <a:ext cx="533400" cy="244475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fld id="{0AB17850-4258-417C-BFA2-7F4C49EDBD6D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127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luck!!!!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With Finals …</a:t>
            </a:r>
          </a:p>
          <a:p>
            <a:endParaRPr lang="en-US" dirty="0"/>
          </a:p>
          <a:p>
            <a:r>
              <a:rPr lang="en-US" dirty="0"/>
              <a:t>With applying pricing tools in your </a:t>
            </a:r>
            <a:r>
              <a:rPr lang="en-US"/>
              <a:t>new jobs 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0AB17850-4258-417C-BFA2-7F4C49EDBD6D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1026" name="Picture 2" descr="Image result for pricing expe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4191000"/>
            <a:ext cx="3223966" cy="1617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analytic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276600"/>
            <a:ext cx="2174874" cy="1672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0782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Appendix: Course Summary</a:t>
            </a:r>
          </a:p>
        </p:txBody>
      </p:sp>
    </p:spTree>
    <p:extLst>
      <p:ext uri="{BB962C8B-B14F-4D97-AF65-F5344CB8AC3E}">
        <p14:creationId xmlns:p14="http://schemas.microsoft.com/office/powerpoint/2010/main" val="4042905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Heuristic pricing leaves money on the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A0841F23-D189-41D9-9747-E01DB953E15A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pic>
        <p:nvPicPr>
          <p:cNvPr id="32772" name="Picture 4" descr="Are You Leaving Money On The Table? - Space Coast Business Magaz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869" y="3810000"/>
            <a:ext cx="560070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76" name="Picture 8" descr="Off Target Images, Stock Photos &amp; Vectors | Shutterstock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08"/>
          <a:stretch/>
        </p:blipFill>
        <p:spPr bwMode="auto">
          <a:xfrm>
            <a:off x="3657600" y="1828800"/>
            <a:ext cx="1963511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953000" y="1656784"/>
            <a:ext cx="873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Cost-plus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8051" y="2036776"/>
            <a:ext cx="1467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Match competitor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8051" y="2522175"/>
            <a:ext cx="26420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Uncoordinated product line prices</a:t>
            </a:r>
          </a:p>
        </p:txBody>
      </p:sp>
      <p:pic>
        <p:nvPicPr>
          <p:cNvPr id="32778" name="Picture 10" descr="Net clipart, Net Transparent FREE for download on WebStockReview 202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429000"/>
            <a:ext cx="2171700" cy="1662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 rot="19501242">
            <a:off x="178073" y="4572000"/>
            <a:ext cx="1143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Monetization</a:t>
            </a:r>
          </a:p>
        </p:txBody>
      </p:sp>
      <p:pic>
        <p:nvPicPr>
          <p:cNvPr id="12" name="Picture 8" descr="Off Target Images, Stock Photos &amp; Vectors | Shutterstock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94" t="4367" r="23537" b="56199"/>
          <a:stretch/>
        </p:blipFill>
        <p:spPr bwMode="auto">
          <a:xfrm rot="13068006">
            <a:off x="3141991" y="2398117"/>
            <a:ext cx="523666" cy="555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661579" y="2189174"/>
            <a:ext cx="16805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Complex pricing as a “</a:t>
            </a:r>
            <a:r>
              <a:rPr lang="en-US" sz="1400" i="1" dirty="0">
                <a:solidFill>
                  <a:srgbClr val="0070C0"/>
                </a:solidFill>
              </a:rPr>
              <a:t>me-too</a:t>
            </a:r>
            <a:r>
              <a:rPr lang="en-US" sz="1400" dirty="0">
                <a:solidFill>
                  <a:srgbClr val="0070C0"/>
                </a:solidFill>
              </a:rPr>
              <a:t>”</a:t>
            </a:r>
            <a:r>
              <a:rPr lang="en-US" sz="1400" i="1" dirty="0">
                <a:solidFill>
                  <a:srgbClr val="0070C0"/>
                </a:solidFill>
              </a:rPr>
              <a:t> </a:t>
            </a:r>
            <a:r>
              <a:rPr lang="en-US" sz="1400" dirty="0">
                <a:solidFill>
                  <a:srgbClr val="0070C0"/>
                </a:solidFill>
              </a:rPr>
              <a:t>gimmick</a:t>
            </a:r>
          </a:p>
        </p:txBody>
      </p:sp>
    </p:spTree>
    <p:extLst>
      <p:ext uri="{BB962C8B-B14F-4D97-AF65-F5344CB8AC3E}">
        <p14:creationId xmlns:p14="http://schemas.microsoft.com/office/powerpoint/2010/main" val="1940009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Monetization Framework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br>
              <a:rPr lang="en-US" sz="4400" dirty="0"/>
            </a:br>
            <a:r>
              <a:rPr lang="en-US" sz="3600" dirty="0"/>
              <a:t>Optimization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A0841F23-D189-41D9-9747-E01DB953E15A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4577588"/>
            <a:ext cx="8153400" cy="1899412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2200" u="sng" dirty="0"/>
              <a:t>Comments</a:t>
            </a:r>
            <a:endParaRPr lang="en-US" sz="2200" dirty="0"/>
          </a:p>
          <a:p>
            <a:pPr lvl="1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200" dirty="0"/>
              <a:t>Determine your </a:t>
            </a:r>
            <a:r>
              <a:rPr lang="en-US" sz="2200" b="1" dirty="0"/>
              <a:t>objective</a:t>
            </a:r>
            <a:r>
              <a:rPr lang="en-US" sz="2200" dirty="0"/>
              <a:t> and optimize it</a:t>
            </a:r>
          </a:p>
          <a:p>
            <a:pPr marL="366713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e.g.,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sz="2200" dirty="0"/>
              <a:t>P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rofit</a:t>
            </a:r>
            <a:r>
              <a:rPr lang="en-US" sz="2200" dirty="0"/>
              <a:t> objective - measurements of demand &amp; marginal cost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NPV of profits</a:t>
            </a:r>
            <a:r>
              <a:rPr lang="en-US" sz="2200" dirty="0"/>
              <a:t> objective -- also trial &amp; repeat demand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1981200" y="2133600"/>
                <a:ext cx="4495800" cy="685800"/>
              </a:xfrm>
              <a:prstGeom prst="round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𝑃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𝑃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𝑃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𝑃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2133600"/>
                <a:ext cx="4495800" cy="6858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Left Brace 6"/>
          <p:cNvSpPr/>
          <p:nvPr/>
        </p:nvSpPr>
        <p:spPr>
          <a:xfrm rot="16200000">
            <a:off x="5219701" y="2324098"/>
            <a:ext cx="76200" cy="609601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4378237" y="2743201"/>
            <a:ext cx="860943" cy="127856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5334000" y="2743201"/>
            <a:ext cx="762000" cy="1125599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1600200" y="2705100"/>
            <a:ext cx="3124200" cy="876300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Left Brace 16"/>
          <p:cNvSpPr/>
          <p:nvPr/>
        </p:nvSpPr>
        <p:spPr>
          <a:xfrm rot="16200000">
            <a:off x="4711772" y="2540070"/>
            <a:ext cx="63359" cy="190500"/>
          </a:xfrm>
          <a:prstGeom prst="leftBrac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991780" y="2281537"/>
            <a:ext cx="19367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B050"/>
                </a:solidFill>
                <a:cs typeface="Times New Roman" panose="02020603050405020304" pitchFamily="18" charset="0"/>
              </a:rPr>
              <a:t>(Modules 1-5)</a:t>
            </a:r>
            <a:endParaRPr lang="en-US" i="1" dirty="0">
              <a:solidFill>
                <a:srgbClr val="00B05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3336882"/>
            <a:ext cx="349815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Costs</a:t>
            </a:r>
            <a:endParaRPr lang="en-US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18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Incremental/marginal costs</a:t>
            </a:r>
            <a:endParaRPr lang="en-US" sz="1800" dirty="0"/>
          </a:p>
        </p:txBody>
      </p:sp>
      <p:sp>
        <p:nvSpPr>
          <p:cNvPr id="5" name="Rectangle 4"/>
          <p:cNvSpPr/>
          <p:nvPr/>
        </p:nvSpPr>
        <p:spPr>
          <a:xfrm>
            <a:off x="5771757" y="3868800"/>
            <a:ext cx="29718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Competition</a:t>
            </a:r>
            <a:endParaRPr lang="en-US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Demand &amp; Reference Product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596524" y="3968664"/>
            <a:ext cx="1745029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Demand &amp; WTP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6096000" y="2705100"/>
            <a:ext cx="275421" cy="274556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304334" y="2903457"/>
            <a:ext cx="29718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Costs</a:t>
            </a:r>
            <a:endParaRPr lang="en-US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Typically unavoidable and irrelevant to pricing decisions</a:t>
            </a:r>
          </a:p>
        </p:txBody>
      </p:sp>
      <p:sp>
        <p:nvSpPr>
          <p:cNvPr id="20" name="Left Brace 19"/>
          <p:cNvSpPr/>
          <p:nvPr/>
        </p:nvSpPr>
        <p:spPr>
          <a:xfrm rot="16200000">
            <a:off x="5980000" y="2514930"/>
            <a:ext cx="78199" cy="229935"/>
          </a:xfrm>
          <a:prstGeom prst="leftBrac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686822" y="5941368"/>
            <a:ext cx="15600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rgbClr val="00B050"/>
                </a:solidFill>
                <a:cs typeface="Times New Roman" panose="02020603050405020304" pitchFamily="18" charset="0"/>
              </a:rPr>
              <a:t>(Module 9)</a:t>
            </a:r>
            <a:endParaRPr lang="en-US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65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7" grpId="0" animBg="1"/>
      <p:bldP spid="4" grpId="0"/>
      <p:bldP spid="5" grpId="0"/>
      <p:bldP spid="8" grpId="0"/>
      <p:bldP spid="16" grpId="0"/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Monetization Framework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br>
              <a:rPr lang="en-US" sz="4400" dirty="0"/>
            </a:br>
            <a:r>
              <a:rPr lang="en-US" sz="3600" dirty="0"/>
              <a:t>Optimization Toolkit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A0841F23-D189-41D9-9747-E01DB953E15A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752600"/>
            <a:ext cx="8153400" cy="4724400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b="1" dirty="0"/>
              <a:t>Demand measurement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Qualitative (e.g., focus groups, customer journey maps)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EVC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Randomized Price Experiments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Regression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Conjoint Analysis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LTV analysis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b="1" dirty="0"/>
              <a:t>Costing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Marginal cost &amp; contribution (not fixed/average cost &amp; gross)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b="1" dirty="0"/>
              <a:t>Competition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Anticipate potential competitive reactions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Strategic thinking (game theory)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20907" y="3339375"/>
            <a:ext cx="1798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B050"/>
                </a:solidFill>
                <a:cs typeface="Times New Roman" panose="02020603050405020304" pitchFamily="18" charset="0"/>
              </a:rPr>
              <a:t>(extra slides)</a:t>
            </a:r>
            <a:endParaRPr lang="en-US" i="1" dirty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20907" y="2377218"/>
            <a:ext cx="1526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B050"/>
                </a:solidFill>
                <a:cs typeface="Times New Roman" panose="02020603050405020304" pitchFamily="18" charset="0"/>
              </a:rPr>
              <a:t>(module 1)</a:t>
            </a:r>
            <a:endParaRPr lang="en-US" i="1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20907" y="2805975"/>
            <a:ext cx="1526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B050"/>
                </a:solidFill>
                <a:cs typeface="Times New Roman" panose="02020603050405020304" pitchFamily="18" charset="0"/>
              </a:rPr>
              <a:t>(module 2)</a:t>
            </a:r>
            <a:endParaRPr lang="en-US" i="1" dirty="0">
              <a:solidFill>
                <a:srgbClr val="00B05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72175" y="3921234"/>
            <a:ext cx="1526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B050"/>
                </a:solidFill>
                <a:cs typeface="Times New Roman" panose="02020603050405020304" pitchFamily="18" charset="0"/>
              </a:rPr>
              <a:t>(module 9)</a:t>
            </a:r>
            <a:endParaRPr lang="en-US" i="1" dirty="0">
              <a:solidFill>
                <a:srgbClr val="00B05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72175" y="4731101"/>
            <a:ext cx="1526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B050"/>
                </a:solidFill>
                <a:cs typeface="Times New Roman" panose="02020603050405020304" pitchFamily="18" charset="0"/>
              </a:rPr>
              <a:t>(module 4)</a:t>
            </a:r>
            <a:endParaRPr lang="en-US" i="1" dirty="0">
              <a:solidFill>
                <a:srgbClr val="00B05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72175" y="5674536"/>
            <a:ext cx="1526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B050"/>
                </a:solidFill>
                <a:cs typeface="Times New Roman" panose="02020603050405020304" pitchFamily="18" charset="0"/>
              </a:rPr>
              <a:t>(module 5)</a:t>
            </a:r>
            <a:endParaRPr lang="en-US" i="1" dirty="0">
              <a:solidFill>
                <a:srgbClr val="00B050"/>
              </a:solidFill>
            </a:endParaRPr>
          </a:p>
        </p:txBody>
      </p:sp>
      <p:sp>
        <p:nvSpPr>
          <p:cNvPr id="4" name="Left Brace 3"/>
          <p:cNvSpPr/>
          <p:nvPr/>
        </p:nvSpPr>
        <p:spPr>
          <a:xfrm rot="10800000">
            <a:off x="6413441" y="3339375"/>
            <a:ext cx="493018" cy="58185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eft Brace 17"/>
          <p:cNvSpPr/>
          <p:nvPr/>
        </p:nvSpPr>
        <p:spPr>
          <a:xfrm rot="10800000">
            <a:off x="6413441" y="5674536"/>
            <a:ext cx="493018" cy="58185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7320907" y="1996108"/>
            <a:ext cx="182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B050"/>
                </a:solidFill>
                <a:cs typeface="Times New Roman" panose="02020603050405020304" pitchFamily="18" charset="0"/>
              </a:rPr>
              <a:t>(not covered)</a:t>
            </a:r>
            <a:endParaRPr lang="en-US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9725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Monetization Framework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br>
              <a:rPr lang="en-US" sz="4400" dirty="0"/>
            </a:br>
            <a:r>
              <a:rPr lang="en-US" sz="3600" dirty="0"/>
              <a:t>Pricing Structures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A0841F23-D189-41D9-9747-E01DB953E15A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3516203"/>
            <a:ext cx="8153400" cy="3352800"/>
          </a:xfrm>
        </p:spPr>
        <p:txBody>
          <a:bodyPr>
            <a:normAutofit fontScale="77500" lnSpcReduction="20000"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 u="sng" dirty="0"/>
              <a:t>Comments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2200" dirty="0"/>
              <a:t>Use </a:t>
            </a:r>
            <a:r>
              <a:rPr lang="en-US" sz="2200" b="1" dirty="0"/>
              <a:t>microeconomics</a:t>
            </a:r>
            <a:r>
              <a:rPr lang="en-US" sz="2200" dirty="0"/>
              <a:t> to design pricing structures that capture customer value (Price Discriminate)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dirty="0"/>
              <a:t>Examples:</a:t>
            </a:r>
          </a:p>
          <a:p>
            <a:pPr>
              <a:spcBef>
                <a:spcPts val="600"/>
              </a:spcBef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Targeted pricing</a:t>
            </a:r>
            <a:r>
              <a:rPr lang="en-US" sz="2200" dirty="0"/>
              <a:t> (fences)</a:t>
            </a:r>
          </a:p>
          <a:p>
            <a:pPr>
              <a:spcBef>
                <a:spcPts val="600"/>
              </a:spcBef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Versioning</a:t>
            </a:r>
            <a:r>
              <a:rPr lang="en-US" sz="2200" i="1" dirty="0"/>
              <a:t> (quality fences)</a:t>
            </a:r>
            <a:endParaRPr lang="en-US" sz="2200" dirty="0"/>
          </a:p>
          <a:p>
            <a:pPr>
              <a:spcBef>
                <a:spcPts val="600"/>
              </a:spcBef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Nonlinear pricing</a:t>
            </a:r>
            <a:r>
              <a:rPr lang="en-US" sz="2200" dirty="0"/>
              <a:t> (quantity fences)</a:t>
            </a:r>
          </a:p>
          <a:p>
            <a:pPr>
              <a:spcBef>
                <a:spcPts val="600"/>
              </a:spcBef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Mixed Bundling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/>
              <a:t>(system vs components)</a:t>
            </a:r>
          </a:p>
          <a:p>
            <a:pPr>
              <a:spcBef>
                <a:spcPts val="600"/>
              </a:spcBef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Razors &amp; Blades/Metering </a:t>
            </a:r>
            <a:r>
              <a:rPr lang="en-US" sz="2200" dirty="0"/>
              <a:t>(complementary goods)</a:t>
            </a:r>
            <a:endParaRPr lang="en-US" sz="2200" i="1" dirty="0"/>
          </a:p>
        </p:txBody>
      </p:sp>
      <p:sp>
        <p:nvSpPr>
          <p:cNvPr id="12" name="TextBox 11"/>
          <p:cNvSpPr txBox="1"/>
          <p:nvPr/>
        </p:nvSpPr>
        <p:spPr>
          <a:xfrm>
            <a:off x="6978453" y="5452059"/>
            <a:ext cx="19030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B050"/>
                </a:solidFill>
                <a:cs typeface="Times New Roman" panose="02020603050405020304" pitchFamily="18" charset="0"/>
              </a:rPr>
              <a:t>(modules 6-8)</a:t>
            </a:r>
            <a:endParaRPr lang="en-US" i="1" dirty="0">
              <a:solidFill>
                <a:srgbClr val="00B050"/>
              </a:solidFill>
            </a:endParaRPr>
          </a:p>
        </p:txBody>
      </p:sp>
      <p:pic>
        <p:nvPicPr>
          <p:cNvPr id="6" name="Picture 2" descr="http://www.accessiblecomputing.com/images/image-charlotte-internet-online-marketin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857" y="1512380"/>
            <a:ext cx="1428750" cy="107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106836" y="2936487"/>
            <a:ext cx="73770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Price</a:t>
            </a:r>
          </a:p>
          <a:p>
            <a:pPr algn="ctr"/>
            <a:r>
              <a:rPr lang="en-US" sz="1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(medium)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9524" y="2042101"/>
            <a:ext cx="4892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rgbClr val="CC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Price</a:t>
            </a:r>
          </a:p>
          <a:p>
            <a:pPr algn="ctr"/>
            <a:r>
              <a:rPr lang="en-US" sz="1100" dirty="0">
                <a:solidFill>
                  <a:srgbClr val="CC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(low)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7998" y="2802206"/>
            <a:ext cx="5277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Price</a:t>
            </a:r>
          </a:p>
          <a:p>
            <a:pPr algn="ctr"/>
            <a:r>
              <a:rPr lang="en-US" sz="11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(high)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1690768" y="2048161"/>
            <a:ext cx="366134" cy="99758"/>
          </a:xfrm>
          <a:prstGeom prst="straightConnector1">
            <a:avLst/>
          </a:prstGeom>
          <a:ln>
            <a:solidFill>
              <a:srgbClr val="CC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2429453" y="2482694"/>
            <a:ext cx="92468" cy="5333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3216231" y="2175697"/>
            <a:ext cx="165376" cy="67552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 descr="http://www.accessiblecomputing.com/images/image-charlotte-internet-online-marketin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8193" y="1501412"/>
            <a:ext cx="1428750" cy="107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loud 14"/>
          <p:cNvSpPr/>
          <p:nvPr/>
        </p:nvSpPr>
        <p:spPr>
          <a:xfrm>
            <a:off x="4290458" y="2874906"/>
            <a:ext cx="1215190" cy="401694"/>
          </a:xfrm>
          <a:prstGeom prst="cloud">
            <a:avLst/>
          </a:prstGeom>
          <a:solidFill>
            <a:srgbClr val="CC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Product 1</a:t>
            </a:r>
          </a:p>
          <a:p>
            <a:pPr algn="ctr"/>
            <a:r>
              <a:rPr lang="en-US" sz="1100" i="1" dirty="0">
                <a:solidFill>
                  <a:schemeClr val="tx1"/>
                </a:solidFill>
              </a:rPr>
              <a:t>Good</a:t>
            </a:r>
          </a:p>
        </p:txBody>
      </p:sp>
      <p:sp>
        <p:nvSpPr>
          <p:cNvPr id="16" name="Cloud 15"/>
          <p:cNvSpPr/>
          <p:nvPr/>
        </p:nvSpPr>
        <p:spPr>
          <a:xfrm>
            <a:off x="5640596" y="2783120"/>
            <a:ext cx="1335507" cy="439903"/>
          </a:xfrm>
          <a:prstGeom prst="cloud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Product 2</a:t>
            </a:r>
          </a:p>
          <a:p>
            <a:pPr algn="ctr"/>
            <a:r>
              <a:rPr lang="en-US" sz="1100" i="1" dirty="0">
                <a:solidFill>
                  <a:schemeClr val="tx1"/>
                </a:solidFill>
              </a:rPr>
              <a:t>Better</a:t>
            </a:r>
          </a:p>
        </p:txBody>
      </p:sp>
      <p:sp>
        <p:nvSpPr>
          <p:cNvPr id="17" name="Cloud 16"/>
          <p:cNvSpPr/>
          <p:nvPr/>
        </p:nvSpPr>
        <p:spPr>
          <a:xfrm>
            <a:off x="7350183" y="2543621"/>
            <a:ext cx="1415719" cy="454193"/>
          </a:xfrm>
          <a:prstGeom prst="cloud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Product 3</a:t>
            </a:r>
          </a:p>
          <a:p>
            <a:pPr algn="ctr"/>
            <a:r>
              <a:rPr lang="en-US" sz="1100" i="1" dirty="0">
                <a:solidFill>
                  <a:schemeClr val="tx1"/>
                </a:solidFill>
              </a:rPr>
              <a:t>Best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5005527" y="2071412"/>
            <a:ext cx="586375" cy="677649"/>
          </a:xfrm>
          <a:prstGeom prst="straightConnector1">
            <a:avLst/>
          </a:prstGeom>
          <a:ln>
            <a:solidFill>
              <a:srgbClr val="CC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6127794" y="2499859"/>
            <a:ext cx="13954" cy="2969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6868680" y="2127779"/>
            <a:ext cx="578202" cy="46887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6321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5" grpId="0" animBg="1"/>
      <p:bldP spid="16" grpId="0" animBg="1"/>
      <p:bldP spid="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Monetization Framework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br>
              <a:rPr lang="en-US" sz="4400" dirty="0"/>
            </a:br>
            <a:r>
              <a:rPr lang="en-US" sz="3600" dirty="0"/>
              <a:t>Pricing Structure Toolkit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A0841F23-D189-41D9-9747-E01DB953E15A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981200"/>
            <a:ext cx="8153400" cy="44958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200" dirty="0"/>
              <a:t>Sustainability of the fences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sz="2200" b="1" dirty="0"/>
              <a:t>Perceptions of fairness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sz="2200" b="1" dirty="0"/>
              <a:t>Preventing Arbitrage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sz="2200" b="1" dirty="0"/>
              <a:t>Managing Cannibalization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53845" y="3276600"/>
            <a:ext cx="19030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B050"/>
                </a:solidFill>
                <a:cs typeface="Times New Roman" panose="02020603050405020304" pitchFamily="18" charset="0"/>
              </a:rPr>
              <a:t>(modules 6-8)</a:t>
            </a:r>
            <a:endParaRPr lang="en-US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2784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Coordination of 4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</a:rPr>
              <a:t>P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</a:rPr>
              <a:t>P</a:t>
            </a:r>
            <a:r>
              <a:rPr lang="en-US" dirty="0"/>
              <a:t>rice and perceived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</a:rPr>
              <a:t>P</a:t>
            </a:r>
            <a:r>
              <a:rPr lang="en-US" dirty="0"/>
              <a:t>roduct value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</a:rPr>
              <a:t>P</a:t>
            </a:r>
            <a:r>
              <a:rPr lang="en-US" dirty="0"/>
              <a:t>romoting a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</a:rPr>
              <a:t>P</a:t>
            </a:r>
            <a:r>
              <a:rPr lang="en-US" dirty="0"/>
              <a:t>rice premium (you need to </a:t>
            </a:r>
            <a:r>
              <a:rPr lang="en-US" i="1" dirty="0"/>
              <a:t>market</a:t>
            </a:r>
            <a:r>
              <a:rPr lang="en-US" dirty="0"/>
              <a:t> the price)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</a:rPr>
              <a:t>P</a:t>
            </a:r>
            <a:r>
              <a:rPr lang="en-US" dirty="0"/>
              <a:t>roduct Line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</a:rPr>
              <a:t>P</a:t>
            </a:r>
            <a:r>
              <a:rPr lang="en-US" dirty="0"/>
              <a:t>rices</a:t>
            </a:r>
          </a:p>
          <a:p>
            <a:pPr lvl="1">
              <a:spcAft>
                <a:spcPts val="1200"/>
              </a:spcAft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</a:rPr>
              <a:t>P</a:t>
            </a:r>
            <a:r>
              <a:rPr lang="en-US" dirty="0"/>
              <a:t>rice and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</a:rPr>
              <a:t>P</a:t>
            </a:r>
            <a:r>
              <a:rPr lang="en-US" dirty="0"/>
              <a:t>lace (downstream firm in channel)</a:t>
            </a:r>
          </a:p>
          <a:p>
            <a:pPr>
              <a:spcBef>
                <a:spcPts val="1200"/>
              </a:spcBef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Coordination within the firm</a:t>
            </a:r>
          </a:p>
          <a:p>
            <a:pPr lvl="1"/>
            <a:r>
              <a:rPr lang="en-US" dirty="0"/>
              <a:t>Contribution margins vs Gross Margins (</a:t>
            </a:r>
            <a:r>
              <a:rPr lang="en-US" b="1" dirty="0"/>
              <a:t>finance</a:t>
            </a:r>
            <a:r>
              <a:rPr lang="en-US" dirty="0"/>
              <a:t> &amp;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</a:rPr>
              <a:t>P</a:t>
            </a:r>
            <a:r>
              <a:rPr lang="en-US" dirty="0"/>
              <a:t>ricing)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</a:rPr>
              <a:t>P</a:t>
            </a:r>
            <a:r>
              <a:rPr lang="en-US" dirty="0"/>
              <a:t>roduct Line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</a:rPr>
              <a:t>P</a:t>
            </a:r>
            <a:r>
              <a:rPr lang="en-US" dirty="0"/>
              <a:t>rices across brand management teams (</a:t>
            </a:r>
            <a:r>
              <a:rPr lang="en-US" b="1" dirty="0"/>
              <a:t>HR</a:t>
            </a:r>
            <a:r>
              <a:rPr lang="en-US" dirty="0"/>
              <a:t> and incentives)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A0841F23-D189-41D9-9747-E01DB953E15A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320907" y="3196105"/>
            <a:ext cx="1798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B050"/>
                </a:solidFill>
                <a:cs typeface="Times New Roman" panose="02020603050405020304" pitchFamily="18" charset="0"/>
              </a:rPr>
              <a:t>(extra slides)</a:t>
            </a:r>
            <a:endParaRPr lang="en-US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97318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mp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edian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temp</Template>
  <TotalTime>1083300815</TotalTime>
  <Pages>29</Pages>
  <Words>1349</Words>
  <Application>Microsoft Office PowerPoint</Application>
  <PresentationFormat>Letter Paper (8.5x11 in)</PresentationFormat>
  <Paragraphs>258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Arial</vt:lpstr>
      <vt:lpstr>Bradley Hand ITC</vt:lpstr>
      <vt:lpstr>Cambria Math</vt:lpstr>
      <vt:lpstr>Linux Libertine</vt:lpstr>
      <vt:lpstr>Retina</vt:lpstr>
      <vt:lpstr>Showcard Gothic</vt:lpstr>
      <vt:lpstr>Times New Roman</vt:lpstr>
      <vt:lpstr>Tw Cen MT</vt:lpstr>
      <vt:lpstr>Wingdings</vt:lpstr>
      <vt:lpstr>Wingdings 2</vt:lpstr>
      <vt:lpstr>temp</vt:lpstr>
      <vt:lpstr>Keurig and Wrap-up</vt:lpstr>
      <vt:lpstr>Keurig since the case GMCR’s rise &amp; transformation</vt:lpstr>
      <vt:lpstr>Partnerships to secure dominance</vt:lpstr>
      <vt:lpstr>Keurig Today</vt:lpstr>
      <vt:lpstr>Challenges Diversification</vt:lpstr>
      <vt:lpstr>Challenges Diversification</vt:lpstr>
      <vt:lpstr>Challenges Diversification (growth desperation?)</vt:lpstr>
      <vt:lpstr>JAB Acquisition</vt:lpstr>
      <vt:lpstr>Keurig Acquires Dr. Pepper-Snapple</vt:lpstr>
      <vt:lpstr>Challenges: Marketing For Good? Patent Expiration in 2012</vt:lpstr>
      <vt:lpstr>Challenges: Marketing For Good Corporate Social Responsibility</vt:lpstr>
      <vt:lpstr>Challenges: Marketing For Good Corporate Social Responsibility</vt:lpstr>
      <vt:lpstr>Course Wrap-up</vt:lpstr>
      <vt:lpstr>Peer Evaluation</vt:lpstr>
      <vt:lpstr>Final Project</vt:lpstr>
      <vt:lpstr>Pricing Summary</vt:lpstr>
      <vt:lpstr>Good luck!!!!</vt:lpstr>
      <vt:lpstr>Appendix: Course Summary</vt:lpstr>
      <vt:lpstr>Heuristic pricing leaves money on the table</vt:lpstr>
      <vt:lpstr>Monetization Framework I Optimization</vt:lpstr>
      <vt:lpstr>Monetization Framework I Optimization Toolkit</vt:lpstr>
      <vt:lpstr>Monetization Framework II Pricing Structures</vt:lpstr>
      <vt:lpstr>Monetization Framework II Pricing Structure Toolkit</vt:lpstr>
      <vt:lpstr>Price Management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Price Discrimination I</dc:title>
  <dc:creator>JP Dube</dc:creator>
  <cp:lastModifiedBy>Dube, Jean-Pierre</cp:lastModifiedBy>
  <cp:revision>369</cp:revision>
  <cp:lastPrinted>1996-10-15T16:19:12Z</cp:lastPrinted>
  <dcterms:created xsi:type="dcterms:W3CDTF">1996-09-15T18:44:58Z</dcterms:created>
  <dcterms:modified xsi:type="dcterms:W3CDTF">2025-05-22T22:47:42Z</dcterms:modified>
</cp:coreProperties>
</file>