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70" r:id="rId1"/>
  </p:sldMasterIdLst>
  <p:notesMasterIdLst>
    <p:notesMasterId r:id="rId52"/>
  </p:notesMasterIdLst>
  <p:handoutMasterIdLst>
    <p:handoutMasterId r:id="rId53"/>
  </p:handoutMasterIdLst>
  <p:sldIdLst>
    <p:sldId id="256" r:id="rId2"/>
    <p:sldId id="257" r:id="rId3"/>
    <p:sldId id="292" r:id="rId4"/>
    <p:sldId id="305" r:id="rId5"/>
    <p:sldId id="357" r:id="rId6"/>
    <p:sldId id="358" r:id="rId7"/>
    <p:sldId id="359" r:id="rId8"/>
    <p:sldId id="421" r:id="rId9"/>
    <p:sldId id="361" r:id="rId10"/>
    <p:sldId id="362" r:id="rId11"/>
    <p:sldId id="363" r:id="rId12"/>
    <p:sldId id="364" r:id="rId13"/>
    <p:sldId id="373" r:id="rId14"/>
    <p:sldId id="374" r:id="rId15"/>
    <p:sldId id="378" r:id="rId16"/>
    <p:sldId id="375" r:id="rId17"/>
    <p:sldId id="423" r:id="rId18"/>
    <p:sldId id="380" r:id="rId19"/>
    <p:sldId id="379" r:id="rId20"/>
    <p:sldId id="348" r:id="rId21"/>
    <p:sldId id="328" r:id="rId22"/>
    <p:sldId id="365" r:id="rId23"/>
    <p:sldId id="376" r:id="rId24"/>
    <p:sldId id="321" r:id="rId25"/>
    <p:sldId id="322" r:id="rId26"/>
    <p:sldId id="367" r:id="rId27"/>
    <p:sldId id="326" r:id="rId28"/>
    <p:sldId id="332" r:id="rId29"/>
    <p:sldId id="368" r:id="rId30"/>
    <p:sldId id="369" r:id="rId31"/>
    <p:sldId id="391" r:id="rId32"/>
    <p:sldId id="371" r:id="rId33"/>
    <p:sldId id="377" r:id="rId34"/>
    <p:sldId id="349" r:id="rId35"/>
    <p:sldId id="278" r:id="rId36"/>
    <p:sldId id="334" r:id="rId37"/>
    <p:sldId id="335" r:id="rId38"/>
    <p:sldId id="353" r:id="rId39"/>
    <p:sldId id="356" r:id="rId40"/>
    <p:sldId id="355" r:id="rId41"/>
    <p:sldId id="350" r:id="rId42"/>
    <p:sldId id="351" r:id="rId43"/>
    <p:sldId id="343" r:id="rId44"/>
    <p:sldId id="336" r:id="rId45"/>
    <p:sldId id="337" r:id="rId46"/>
    <p:sldId id="344" r:id="rId47"/>
    <p:sldId id="346" r:id="rId48"/>
    <p:sldId id="345" r:id="rId49"/>
    <p:sldId id="338" r:id="rId50"/>
    <p:sldId id="339" r:id="rId51"/>
  </p:sldIdLst>
  <p:sldSz cx="9144000" cy="6858000" type="letter"/>
  <p:notesSz cx="6877050" cy="916305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1120" y="6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slide" Target="slides/slide20.xml"/><Relationship Id="rId1" Type="http://schemas.openxmlformats.org/officeDocument/2006/relationships/slide" Target="slides/slide1.xml"/><Relationship Id="rId5" Type="http://schemas.openxmlformats.org/officeDocument/2006/relationships/slide" Target="slides/slide35.xml"/><Relationship Id="rId4"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408738" y="8767763"/>
            <a:ext cx="398462" cy="303212"/>
          </a:xfrm>
          <a:prstGeom prst="rect">
            <a:avLst/>
          </a:prstGeom>
          <a:noFill/>
          <a:ln w="12700">
            <a:noFill/>
            <a:miter lim="800000"/>
            <a:headEnd/>
            <a:tailEnd/>
          </a:ln>
          <a:effectLst/>
        </p:spPr>
        <p:txBody>
          <a:bodyPr wrap="none" lIns="90688" tIns="44548" rIns="90688" bIns="44548" anchor="ctr">
            <a:spAutoFit/>
          </a:bodyPr>
          <a:lstStyle/>
          <a:p>
            <a:pPr algn="r" defTabSz="915988">
              <a:defRPr/>
            </a:pPr>
            <a:fld id="{36DA8294-256F-4FFF-94BA-D9984BB7018E}" type="slidenum">
              <a:rPr lang="en-US" sz="1400">
                <a:latin typeface="Arial" pitchFamily="34" charset="0"/>
              </a:rPr>
              <a:pPr algn="r" defTabSz="915988">
                <a:defRPr/>
              </a:pPr>
              <a:t>‹#›</a:t>
            </a:fld>
            <a:endParaRPr lang="en-US" sz="1400">
              <a:latin typeface="Arial" pitchFamily="34" charset="0"/>
            </a:endParaRPr>
          </a:p>
        </p:txBody>
      </p:sp>
    </p:spTree>
    <p:extLst>
      <p:ext uri="{BB962C8B-B14F-4D97-AF65-F5344CB8AC3E}">
        <p14:creationId xmlns:p14="http://schemas.microsoft.com/office/powerpoint/2010/main" val="3264706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7575" y="4352925"/>
            <a:ext cx="5041900" cy="4122738"/>
          </a:xfrm>
          <a:prstGeom prst="rect">
            <a:avLst/>
          </a:prstGeom>
          <a:noFill/>
          <a:ln w="12700">
            <a:noFill/>
            <a:miter lim="800000"/>
            <a:headEnd/>
            <a:tailEnd/>
          </a:ln>
          <a:effectLst/>
        </p:spPr>
        <p:txBody>
          <a:bodyPr vert="horz" wrap="square" lIns="90688" tIns="44548" rIns="90688" bIns="4454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795" name="Rectangle 3"/>
          <p:cNvSpPr>
            <a:spLocks noGrp="1" noRot="1" noChangeAspect="1" noChangeArrowheads="1" noTextEdit="1"/>
          </p:cNvSpPr>
          <p:nvPr>
            <p:ph type="sldImg" idx="2"/>
          </p:nvPr>
        </p:nvSpPr>
        <p:spPr bwMode="auto">
          <a:xfrm>
            <a:off x="1146175" y="685800"/>
            <a:ext cx="4584700" cy="3438525"/>
          </a:xfrm>
          <a:prstGeom prst="rect">
            <a:avLst/>
          </a:prstGeom>
          <a:noFill/>
          <a:ln w="12700">
            <a:solidFill>
              <a:schemeClr val="tx1"/>
            </a:solidFill>
            <a:miter lim="800000"/>
            <a:headEnd/>
            <a:tailEnd/>
          </a:ln>
        </p:spPr>
      </p:sp>
      <p:sp>
        <p:nvSpPr>
          <p:cNvPr id="2052" name="Rectangle 4"/>
          <p:cNvSpPr>
            <a:spLocks noChangeArrowheads="1"/>
          </p:cNvSpPr>
          <p:nvPr/>
        </p:nvSpPr>
        <p:spPr bwMode="auto">
          <a:xfrm>
            <a:off x="6408738" y="8767763"/>
            <a:ext cx="398462" cy="303212"/>
          </a:xfrm>
          <a:prstGeom prst="rect">
            <a:avLst/>
          </a:prstGeom>
          <a:noFill/>
          <a:ln w="12700">
            <a:noFill/>
            <a:miter lim="800000"/>
            <a:headEnd/>
            <a:tailEnd/>
          </a:ln>
          <a:effectLst/>
        </p:spPr>
        <p:txBody>
          <a:bodyPr wrap="none" lIns="90688" tIns="44548" rIns="90688" bIns="44548" anchor="ctr">
            <a:spAutoFit/>
          </a:bodyPr>
          <a:lstStyle/>
          <a:p>
            <a:pPr algn="r" defTabSz="915988">
              <a:defRPr/>
            </a:pPr>
            <a:fld id="{D9B99CC7-3899-4886-B776-6B0D3CD64C30}" type="slidenum">
              <a:rPr lang="en-US" sz="1400">
                <a:latin typeface="Arial" pitchFamily="34" charset="0"/>
              </a:rPr>
              <a:pPr algn="r" defTabSz="915988">
                <a:defRPr/>
              </a:pPr>
              <a:t>‹#›</a:t>
            </a:fld>
            <a:endParaRPr lang="en-US" sz="1400">
              <a:latin typeface="Arial" pitchFamily="34" charset="0"/>
            </a:endParaRPr>
          </a:p>
        </p:txBody>
      </p:sp>
    </p:spTree>
    <p:extLst>
      <p:ext uri="{BB962C8B-B14F-4D97-AF65-F5344CB8AC3E}">
        <p14:creationId xmlns:p14="http://schemas.microsoft.com/office/powerpoint/2010/main" val="112331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noFill/>
          <a:ln w="9525"/>
        </p:spPr>
        <p:txBody>
          <a:bodyPr/>
          <a:lstStyle/>
          <a:p>
            <a:endParaRPr lang="en-US"/>
          </a:p>
        </p:txBody>
      </p:sp>
      <p:sp>
        <p:nvSpPr>
          <p:cNvPr id="3481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484056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1785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Combination</a:t>
            </a:r>
            <a:r>
              <a:rPr lang="en-US" baseline="0" dirty="0"/>
              <a:t> of analytics and managerial reasoning</a:t>
            </a:r>
            <a:endParaRPr lang="en-US" dirty="0"/>
          </a:p>
        </p:txBody>
      </p:sp>
      <p:sp>
        <p:nvSpPr>
          <p:cNvPr id="4" name="Slide Number Placeholder 3"/>
          <p:cNvSpPr>
            <a:spLocks noGrp="1"/>
          </p:cNvSpPr>
          <p:nvPr>
            <p:ph type="sldNum" sz="quarter" idx="10"/>
          </p:nvPr>
        </p:nvSpPr>
        <p:spPr>
          <a:xfrm>
            <a:off x="4145619" y="9120476"/>
            <a:ext cx="3169582" cy="480725"/>
          </a:xfrm>
          <a:prstGeom prst="rect">
            <a:avLst/>
          </a:prstGeom>
        </p:spPr>
        <p:txBody>
          <a:bodyPr/>
          <a:lstStyle/>
          <a:p>
            <a:pPr>
              <a:defRPr/>
            </a:pPr>
            <a:fld id="{58F2F41B-CA40-4461-AE75-589972F5BC1C}" type="slidenum">
              <a:rPr lang="en-US" smtClean="0"/>
              <a:pPr>
                <a:defRPr/>
              </a:pPr>
              <a:t>9</a:t>
            </a:fld>
            <a:endParaRPr lang="en-US"/>
          </a:p>
        </p:txBody>
      </p:sp>
    </p:spTree>
    <p:extLst>
      <p:ext uri="{BB962C8B-B14F-4D97-AF65-F5344CB8AC3E}">
        <p14:creationId xmlns:p14="http://schemas.microsoft.com/office/powerpoint/2010/main" val="410107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69358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92597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1011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2588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DM&amp;M = Dollar Menu</a:t>
            </a:r>
            <a:r>
              <a:rPr lang="en-US" baseline="0" dirty="0"/>
              <a:t> and More</a:t>
            </a:r>
            <a:endParaRPr lang="en-US" dirty="0"/>
          </a:p>
        </p:txBody>
      </p:sp>
    </p:spTree>
    <p:extLst>
      <p:ext uri="{BB962C8B-B14F-4D97-AF65-F5344CB8AC3E}">
        <p14:creationId xmlns:p14="http://schemas.microsoft.com/office/powerpoint/2010/main" val="6833494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pic>
        <p:nvPicPr>
          <p:cNvPr id="12" name="Picture 11" descr="Lg-Ghosted-Shield-offset_red.jpg"/>
          <p:cNvPicPr>
            <a:picLocks noChangeAspect="1"/>
          </p:cNvPicPr>
          <p:nvPr userDrawn="1"/>
        </p:nvPicPr>
        <p:blipFill>
          <a:blip r:embed="rId3"/>
          <a:stretch>
            <a:fillRect/>
          </a:stretch>
        </p:blipFill>
        <p:spPr>
          <a:xfrm>
            <a:off x="0" y="0"/>
            <a:ext cx="9144000" cy="6858000"/>
          </a:xfrm>
          <a:prstGeom prst="rect">
            <a:avLst/>
          </a:prstGeom>
        </p:spPr>
      </p:pic>
      <p:sp>
        <p:nvSpPr>
          <p:cNvPr id="13" name="Rectangle 12"/>
          <p:cNvSpPr/>
          <p:nvPr userDrawn="1"/>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userDrawn="1"/>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userDrawn="1"/>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17"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8"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7E7CF4D2-22D1-48E5-82E4-BFA1B2240848}" type="slidenum">
              <a:rPr lang="en-US" smtClean="0"/>
              <a:pPr>
                <a:defRPr/>
              </a:pPr>
              <a:t>‹#›</a:t>
            </a:fld>
            <a:endParaRPr lang="en-US"/>
          </a:p>
        </p:txBody>
      </p:sp>
      <p:pic>
        <p:nvPicPr>
          <p:cNvPr id="19" name="Picture 18" descr="Logo-for-gray-bg-ppt-whitemaroon.png"/>
          <p:cNvPicPr>
            <a:picLocks noChangeAspect="1"/>
          </p:cNvPicPr>
          <p:nvPr userDrawn="1"/>
        </p:nvPicPr>
        <p:blipFill>
          <a:blip r:embed="rId4"/>
          <a:stretch>
            <a:fillRect/>
          </a:stretch>
        </p:blipFill>
        <p:spPr>
          <a:xfrm>
            <a:off x="7429166" y="6194310"/>
            <a:ext cx="1591121" cy="439967"/>
          </a:xfrm>
          <a:prstGeom prst="rect">
            <a:avLst/>
          </a:prstGeom>
        </p:spPr>
      </p:pic>
    </p:spTree>
    <p:extLst>
      <p:ext uri="{BB962C8B-B14F-4D97-AF65-F5344CB8AC3E}">
        <p14:creationId xmlns:p14="http://schemas.microsoft.com/office/powerpoint/2010/main" val="16285078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normAutofit/>
          </a:bodyPr>
          <a:lstStyle>
            <a:lvl1pPr>
              <a:defRPr sz="4000" baseline="0">
                <a:latin typeface="+mj-lt"/>
              </a:defRPr>
            </a:lvl1pPr>
          </a:lstStyle>
          <a:p>
            <a:r>
              <a:rPr lang="en-US" dirty="0"/>
              <a:t>Click to edit Master title style</a:t>
            </a:r>
          </a:p>
        </p:txBody>
      </p:sp>
      <p:sp>
        <p:nvSpPr>
          <p:cNvPr id="8" name="Content Placeholder 7"/>
          <p:cNvSpPr>
            <a:spLocks noGrp="1"/>
          </p:cNvSpPr>
          <p:nvPr>
            <p:ph sz="quarter" idx="1"/>
          </p:nvPr>
        </p:nvSpPr>
        <p:spPr>
          <a:xfrm>
            <a:off x="612648" y="1600200"/>
            <a:ext cx="8153400" cy="4495800"/>
          </a:xfrm>
        </p:spPr>
        <p:txBody>
          <a:bodyPr>
            <a:normAutofit/>
          </a:bodyPr>
          <a:lstStyle>
            <a:lvl1pPr>
              <a:defRPr sz="2400" baseline="0">
                <a:latin typeface="+mj-lt"/>
              </a:defRPr>
            </a:lvl1pPr>
            <a:lvl2pPr>
              <a:defRPr sz="2400" baseline="0">
                <a:latin typeface="+mj-lt"/>
              </a:defRPr>
            </a:lvl2pPr>
            <a:lvl3pPr>
              <a:defRPr sz="2400" baseline="0">
                <a:latin typeface="+mj-lt"/>
              </a:defRPr>
            </a:lvl3pPr>
            <a:lvl4pPr>
              <a:defRPr sz="2400" baseline="0">
                <a:latin typeface="+mj-lt"/>
              </a:defRPr>
            </a:lvl4pPr>
            <a:lvl5pPr>
              <a:defRPr sz="2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4C167419-3E17-4805-8141-C5724BC9AF66}" type="slidenum">
              <a:rPr lang="en-US"/>
              <a:pPr>
                <a:defRPr/>
              </a:pPr>
              <a:t>‹#›</a:t>
            </a:fld>
            <a:endParaRPr lang="en-US"/>
          </a:p>
        </p:txBody>
      </p:sp>
      <p:pic>
        <p:nvPicPr>
          <p:cNvPr id="7"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Tree>
    <p:extLst>
      <p:ext uri="{BB962C8B-B14F-4D97-AF65-F5344CB8AC3E}">
        <p14:creationId xmlns:p14="http://schemas.microsoft.com/office/powerpoint/2010/main" val="1407788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7D68BE0E-0D81-44E9-8917-C7FB25F92556}" type="slidenum">
              <a:rPr lang="en-US" smtClean="0"/>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5316989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F9083024-8B09-448A-8102-127552531C1A}" type="slidenum">
              <a:rPr lang="en-US" smtClean="0"/>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16284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47E8B7B6-2338-46BB-AE82-F838E96FC10E}" type="slidenum">
              <a:rPr lang="en-US" smtClean="0"/>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99145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C0CA544B-FF39-4FB2-AA04-2B4830CB538E}" type="slidenum">
              <a:rPr lang="en-US" smtClean="0"/>
              <a:pPr>
                <a:defRPr/>
              </a:pPr>
              <a:t>‹#›</a:t>
            </a:fld>
            <a:endParaRPr lang="en-US"/>
          </a:p>
        </p:txBody>
      </p:sp>
    </p:spTree>
    <p:extLst>
      <p:ext uri="{BB962C8B-B14F-4D97-AF65-F5344CB8AC3E}">
        <p14:creationId xmlns:p14="http://schemas.microsoft.com/office/powerpoint/2010/main" val="1723866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97D82507-F16B-4CFD-9ADB-2D87AE2F5551}" type="slidenum">
              <a:rPr lang="en-US" smtClean="0"/>
              <a:pPr>
                <a:defRPr/>
              </a:pPr>
              <a:t>‹#›</a:t>
            </a:fld>
            <a:endParaRPr lang="en-US"/>
          </a:p>
        </p:txBody>
      </p:sp>
    </p:spTree>
    <p:extLst>
      <p:ext uri="{BB962C8B-B14F-4D97-AF65-F5344CB8AC3E}">
        <p14:creationId xmlns:p14="http://schemas.microsoft.com/office/powerpoint/2010/main" val="1799341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C29E9B59-84E3-4159-BCF3-45A6B5C16EC7}" type="slidenum">
              <a:rPr lang="en-US" smtClean="0"/>
              <a:pPr>
                <a:defRPr/>
              </a:pPr>
              <a:t>‹#›</a:t>
            </a:fld>
            <a:endParaRPr lang="en-US"/>
          </a:p>
        </p:txBody>
      </p:sp>
    </p:spTree>
    <p:extLst>
      <p:ext uri="{BB962C8B-B14F-4D97-AF65-F5344CB8AC3E}">
        <p14:creationId xmlns:p14="http://schemas.microsoft.com/office/powerpoint/2010/main" val="646837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5B8DA855-52FB-4C2A-B256-3B29FA9E8036}" type="slidenum">
              <a:rPr lang="en-US" smtClean="0"/>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val="31145720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3C6A2FBA-B1D7-4E8F-B53E-62BFB9B3B3FB}" type="slidenum">
              <a:rPr lang="en-US" smtClean="0"/>
              <a:pPr>
                <a:defRPr/>
              </a:pPr>
              <a:t>‹#›</a:t>
            </a:fld>
            <a:endParaRPr lang="en-US"/>
          </a:p>
        </p:txBody>
      </p:sp>
    </p:spTree>
    <p:extLst>
      <p:ext uri="{BB962C8B-B14F-4D97-AF65-F5344CB8AC3E}">
        <p14:creationId xmlns:p14="http://schemas.microsoft.com/office/powerpoint/2010/main" val="31821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C979336C-FA32-41E6-B811-ACB67AB92D68}" type="slidenum">
              <a:rPr lang="en-US" smtClean="0"/>
              <a:pPr>
                <a:defRPr/>
              </a:pPr>
              <a:t>‹#›</a:t>
            </a:fld>
            <a:endParaRPr lang="en-US"/>
          </a:p>
        </p:txBody>
      </p:sp>
    </p:spTree>
    <p:extLst>
      <p:ext uri="{BB962C8B-B14F-4D97-AF65-F5344CB8AC3E}">
        <p14:creationId xmlns:p14="http://schemas.microsoft.com/office/powerpoint/2010/main" val="32046978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2A7DDBDC-3414-4923-B6DD-6A1CE20F43F7}"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hf hdr="0" ft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p:titleStyle>
    <p:body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https://www.journals.uchicago.edu/doi/epdf/10.1086/72079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journals.uchicago.edu/doi/epdf/10.1086/720793" TargetMode="External"/><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journals.uchicago.edu/doi/epdf/10.1086/720793"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journals.uchicago.edu/doi/epdf/10.1086/720793"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journals.uchicago.edu/doi/epdf/10.1086/720793"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journals.uchicago.edu/doi/epdf/10.1086/720793"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ftc.gov/system/files/attachments/us-submissions-oecd-2010-present-other-international-competition-fora/personalized_pricing_note_by_the_united_states.pd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theatlantic.com/business/archive/2014/10/battle-of-the-prices-is-it-ever-fair-to-charge-one-sex-more/381546/" TargetMode="External"/><Relationship Id="rId5" Type="http://schemas.openxmlformats.org/officeDocument/2006/relationships/hyperlink" Target="http://www.leagle.com/decision/19961503923FSupp580_11407/KATZMAN%20v.%20VICTORIA'S%20SECRET%20CATALOGUE" TargetMode="External"/><Relationship Id="rId4" Type="http://schemas.openxmlformats.org/officeDocument/2006/relationships/hyperlink" Target="https://www.congress.gov/bill/114th-congress/house-bill/2048"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gov.cn/banshi/2005-09/12/content_69757.ht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sf.sz.gov.cn/fggzywyb/content/post_11216296.html#:~:text=Any%20organization%20or%20individual%20shall,6."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www.yahoo.com/tech/welcome-personalised-pricing-where-better-080000279.html" TargetMode="External"/><Relationship Id="rId7"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hyperlink" Target="https://www.eff.org/deeplinks/2024/08/fight-surveillance-pricing-we-need-privacy-first"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s://www.nber.org/papers/w32606"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nytimes.com/2024/04/06/business/economy/wendys-company-price-discrimination.html" TargetMode="External"/><Relationship Id="rId7" Type="http://schemas.openxmlformats.org/officeDocument/2006/relationships/image" Target="../media/image26.pn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claris.com/pricing/connect.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mcdonalds.com/us/en/food/product_nutrition.sandwiches.465.mcdouble.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27.xml.rels><?xml version="1.0" encoding="UTF-8" standalone="yes"?>
<Relationships xmlns="http://schemas.openxmlformats.org/package/2006/relationships"><Relationship Id="rId3" Type="http://schemas.openxmlformats.org/officeDocument/2006/relationships/hyperlink" Target="https://www.theguardian.com/technology/shortcuts/2017/sep/11/tesla-hurricane-irma-battery-capacity" TargetMode="External"/><Relationship Id="rId2" Type="http://schemas.openxmlformats.org/officeDocument/2006/relationships/hyperlink" Target="https://www.1843magazine.com/ideas/the-daily/why-companies-make-their-products-wors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hyperlink" Target="https://www.amazon.com/Microeconomics-Austan-Goolsbee/dp/1464187029"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icma.org/documents/rethinking-revenue-segmented-pricing-fines-and-fees" TargetMode="External"/><Relationship Id="rId3" Type="http://schemas.openxmlformats.org/officeDocument/2006/relationships/hyperlink" Target="https://academic.oup.com/qje/article/134/4/2011/5523148?login=true" TargetMode="External"/><Relationship Id="rId7" Type="http://schemas.openxmlformats.org/officeDocument/2006/relationships/hyperlink" Target="https://www.chicagobooth.edu/review/lower-fines-could-lead-higher-revenues" TargetMode="External"/><Relationship Id="rId2" Type="http://schemas.openxmlformats.org/officeDocument/2006/relationships/hyperlink" Target="https://datasmart.ash.harvard.edu/rethinking-fines-and-fees-jean-pierre-dub%C3%A9-bryan-glenn-and-shayne-kavanagh" TargetMode="External"/><Relationship Id="rId1" Type="http://schemas.openxmlformats.org/officeDocument/2006/relationships/slideLayout" Target="../slideLayouts/slideLayout2.xml"/><Relationship Id="rId6" Type="http://schemas.openxmlformats.org/officeDocument/2006/relationships/hyperlink" Target="https://www.chicagobooth.edu/review/fair-price-same-price-all" TargetMode="External"/><Relationship Id="rId5" Type="http://schemas.openxmlformats.org/officeDocument/2006/relationships/hyperlink" Target="https://academic.oup.com/qje/article/134/4/1793/5492274?login=true" TargetMode="External"/><Relationship Id="rId4" Type="http://schemas.openxmlformats.org/officeDocument/2006/relationships/hyperlink" Target="https://www.jp-dube.com/research/papers/pricing%20and%20welfare.pdf" TargetMode="External"/><Relationship Id="rId9" Type="http://schemas.openxmlformats.org/officeDocument/2006/relationships/hyperlink" Target="https://www.wsj.com/articles/pfizer-to-sell-vaccines-drugs-at-low-prices-to-poorer-countries-11653462180?mod=Searchresults_pos1&amp;page=1"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business2community.com/food-recipes/mcdonalds-is-ditching-a-bunch-of-menu-items-to-better-its-customer-experience-01136195#btg37XTzOiLmFDF0.97"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www-2.rotman.utoronto.ca/facbios/file/overchoice-mktsci.pdf"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2362200" y="4038600"/>
            <a:ext cx="6477000" cy="1828800"/>
          </a:xfrm>
          <a:noFill/>
        </p:spPr>
        <p:txBody>
          <a:bodyPr lIns="90488" tIns="44450" rIns="90488" bIns="44450"/>
          <a:lstStyle/>
          <a:p>
            <a:r>
              <a:rPr lang="en-US" dirty="0"/>
              <a:t>Segmented Pricing</a:t>
            </a:r>
          </a:p>
        </p:txBody>
      </p:sp>
      <p:sp>
        <p:nvSpPr>
          <p:cNvPr id="6" name="Rectangle 3"/>
          <p:cNvSpPr txBox="1">
            <a:spLocks noChangeArrowheads="1"/>
          </p:cNvSpPr>
          <p:nvPr/>
        </p:nvSpPr>
        <p:spPr bwMode="auto">
          <a:xfrm>
            <a:off x="2362200" y="6050037"/>
            <a:ext cx="6705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r>
              <a:rPr lang="en-US" sz="2800" dirty="0"/>
              <a:t>Jean-Pierre </a:t>
            </a:r>
            <a:r>
              <a:rPr lang="en-US" sz="2800" dirty="0" err="1"/>
              <a:t>Dubé</a:t>
            </a:r>
            <a:endParaRPr lang="en-US" sz="2800" dirty="0"/>
          </a:p>
          <a:p>
            <a:pPr marL="0" indent="0">
              <a:buFont typeface="Wingdings" pitchFamily="2" charset="2"/>
              <a:buNone/>
            </a:pPr>
            <a:r>
              <a:rPr lang="en-US" sz="900" b="1" dirty="0">
                <a:latin typeface="Arial" pitchFamily="34" charset="0"/>
                <a:sym typeface="Symbol" pitchFamily="18" charset="2"/>
              </a:rPr>
              <a:t></a:t>
            </a:r>
            <a:r>
              <a:rPr lang="en-US" sz="900" b="1" dirty="0">
                <a:latin typeface="Arial" pitchFamily="34" charset="0"/>
              </a:rPr>
              <a:t> Copyright 2025</a:t>
            </a:r>
          </a:p>
        </p:txBody>
      </p:sp>
      <p:sp>
        <p:nvSpPr>
          <p:cNvPr id="7" name="TextBox 6"/>
          <p:cNvSpPr txBox="1"/>
          <p:nvPr/>
        </p:nvSpPr>
        <p:spPr>
          <a:xfrm>
            <a:off x="152400" y="6137369"/>
            <a:ext cx="1455848" cy="523220"/>
          </a:xfrm>
          <a:prstGeom prst="rect">
            <a:avLst/>
          </a:prstGeom>
          <a:noFill/>
        </p:spPr>
        <p:txBody>
          <a:bodyPr wrap="none" rtlCol="0">
            <a:spAutoFit/>
          </a:bodyPr>
          <a:lstStyle/>
          <a:p>
            <a:r>
              <a:rPr lang="en-US" sz="1400" dirty="0"/>
              <a:t>Pricing Strategies</a:t>
            </a:r>
          </a:p>
          <a:p>
            <a:r>
              <a:rPr lang="en-US" sz="1400" dirty="0"/>
              <a:t>2025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Overview of segmented pricing</a:t>
            </a:r>
          </a:p>
        </p:txBody>
      </p:sp>
      <p:sp>
        <p:nvSpPr>
          <p:cNvPr id="164867" name="Rectangle 3"/>
          <p:cNvSpPr>
            <a:spLocks noGrp="1" noChangeArrowheads="1"/>
          </p:cNvSpPr>
          <p:nvPr>
            <p:ph sz="quarter" idx="1"/>
          </p:nvPr>
        </p:nvSpPr>
        <p:spPr/>
        <p:txBody>
          <a:bodyPr>
            <a:normAutofit/>
          </a:bodyPr>
          <a:lstStyle/>
          <a:p>
            <a:pPr marL="0" indent="0" algn="ctr">
              <a:spcBef>
                <a:spcPts val="1200"/>
              </a:spcBef>
              <a:spcAft>
                <a:spcPts val="1200"/>
              </a:spcAft>
              <a:buNone/>
              <a:defRPr/>
            </a:pPr>
            <a:r>
              <a:rPr lang="en-US" dirty="0"/>
              <a:t>Pricing structures that raise profits by segmenting on price to capture value from customers with different tastes</a:t>
            </a:r>
          </a:p>
          <a:p>
            <a:pPr>
              <a:spcBef>
                <a:spcPts val="1200"/>
              </a:spcBef>
              <a:spcAft>
                <a:spcPts val="1200"/>
              </a:spcAft>
              <a:defRPr/>
            </a:pPr>
            <a:r>
              <a:rPr lang="en-US" dirty="0"/>
              <a:t>We will look at </a:t>
            </a:r>
            <a:r>
              <a:rPr lang="en-US" i="1" dirty="0"/>
              <a:t>theory</a:t>
            </a:r>
            <a:r>
              <a:rPr lang="en-US" dirty="0"/>
              <a:t> and examples</a:t>
            </a:r>
          </a:p>
          <a:p>
            <a:pPr>
              <a:spcBef>
                <a:spcPts val="1200"/>
              </a:spcBef>
              <a:spcAft>
                <a:spcPts val="1200"/>
              </a:spcAft>
              <a:defRPr/>
            </a:pPr>
            <a:r>
              <a:rPr lang="en-US" b="1" dirty="0">
                <a:solidFill>
                  <a:srgbClr val="FF0000"/>
                </a:solidFill>
                <a:effectLst>
                  <a:outerShdw blurRad="38100" dist="38100" dir="2700000" algn="tl">
                    <a:srgbClr val="000000">
                      <a:alpha val="43137"/>
                    </a:srgbClr>
                  </a:outerShdw>
                </a:effectLst>
              </a:rPr>
              <a:t>Targeted</a:t>
            </a:r>
            <a:r>
              <a:rPr lang="en-US" b="1" dirty="0">
                <a:effectLst>
                  <a:outerShdw blurRad="38100" dist="38100" dir="2700000" algn="tl">
                    <a:srgbClr val="000000">
                      <a:alpha val="43137"/>
                    </a:srgbClr>
                  </a:outerShdw>
                </a:effectLst>
              </a:rPr>
              <a:t> </a:t>
            </a:r>
            <a:r>
              <a:rPr lang="en-US" dirty="0"/>
              <a:t>(</a:t>
            </a:r>
            <a:r>
              <a:rPr lang="en-US" b="1" i="1" dirty="0">
                <a:solidFill>
                  <a:srgbClr val="7030A0"/>
                </a:solidFill>
                <a:effectLst>
                  <a:outerShdw blurRad="38100" dist="38100" dir="2700000" algn="tl">
                    <a:srgbClr val="000000">
                      <a:alpha val="43137"/>
                    </a:srgbClr>
                  </a:outerShdw>
                </a:effectLst>
                <a:latin typeface="Times" panose="02020603050405020304" pitchFamily="18" charset="0"/>
                <a:cs typeface="Times" panose="02020603050405020304" pitchFamily="18" charset="0"/>
              </a:rPr>
              <a:t>Personalized</a:t>
            </a:r>
            <a:r>
              <a:rPr lang="en-US" dirty="0"/>
              <a:t>)</a:t>
            </a:r>
            <a:r>
              <a:rPr lang="en-US" b="1"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Pricing</a:t>
            </a:r>
          </a:p>
          <a:p>
            <a:pPr>
              <a:spcBef>
                <a:spcPts val="1200"/>
              </a:spcBef>
              <a:spcAft>
                <a:spcPts val="1200"/>
              </a:spcAft>
              <a:defRPr/>
            </a:pPr>
            <a:r>
              <a:rPr lang="en-US" b="1" dirty="0">
                <a:solidFill>
                  <a:srgbClr val="FF0000"/>
                </a:solidFill>
                <a:effectLst>
                  <a:outerShdw blurRad="38100" dist="38100" dir="2700000" algn="tl">
                    <a:srgbClr val="000000">
                      <a:alpha val="43137"/>
                    </a:srgbClr>
                  </a:outerShdw>
                </a:effectLst>
              </a:rPr>
              <a:t>Product Line Pricing Strategy </a:t>
            </a:r>
            <a:r>
              <a:rPr lang="en-US" dirty="0"/>
              <a:t>as</a:t>
            </a:r>
            <a:r>
              <a:rPr lang="en-US" b="1" dirty="0">
                <a:effectLst>
                  <a:outerShdw blurRad="38100" dist="38100" dir="2700000" algn="tl">
                    <a:srgbClr val="000000">
                      <a:alpha val="43137"/>
                    </a:srgbClr>
                  </a:outerShdw>
                </a:effectLst>
              </a:rPr>
              <a:t> </a:t>
            </a:r>
            <a:r>
              <a:rPr lang="en-US" dirty="0"/>
              <a:t>indirect segmented pricing</a:t>
            </a:r>
          </a:p>
          <a:p>
            <a:pPr>
              <a:spcBef>
                <a:spcPts val="1200"/>
              </a:spcBef>
              <a:spcAft>
                <a:spcPts val="1200"/>
              </a:spcAft>
              <a:defRPr/>
            </a:pPr>
            <a:r>
              <a:rPr lang="en-US" dirty="0"/>
              <a:t>Product Line Pricing tactics &amp; </a:t>
            </a:r>
            <a:r>
              <a:rPr lang="en-US" b="1" dirty="0">
                <a:solidFill>
                  <a:srgbClr val="FF0000"/>
                </a:solidFill>
                <a:effectLst>
                  <a:outerShdw blurRad="38100" dist="38100" dir="2700000" algn="tl">
                    <a:srgbClr val="000000">
                      <a:alpha val="43137"/>
                    </a:srgbClr>
                  </a:outerShdw>
                </a:effectLst>
              </a:rPr>
              <a:t>cannibalization</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a:t>
            </a:fld>
            <a:endParaRPr lang="en-US"/>
          </a:p>
        </p:txBody>
      </p:sp>
    </p:spTree>
    <p:extLst>
      <p:ext uri="{BB962C8B-B14F-4D97-AF65-F5344CB8AC3E}">
        <p14:creationId xmlns:p14="http://schemas.microsoft.com/office/powerpoint/2010/main" val="206570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Recall: Optimal Uniform Price</a:t>
            </a:r>
            <a:br>
              <a:rPr lang="en-US" sz="4400" dirty="0"/>
            </a:br>
            <a:r>
              <a:rPr lang="en-US" sz="3600" dirty="0"/>
              <a:t>Charge customers same price for same product</a:t>
            </a:r>
            <a:endParaRPr lang="en-US" sz="3100" dirty="0"/>
          </a:p>
        </p:txBody>
      </p:sp>
      <p:sp>
        <p:nvSpPr>
          <p:cNvPr id="5" name="Freeform 22"/>
          <p:cNvSpPr>
            <a:spLocks/>
          </p:cNvSpPr>
          <p:nvPr/>
        </p:nvSpPr>
        <p:spPr bwMode="auto">
          <a:xfrm>
            <a:off x="2436813" y="2362200"/>
            <a:ext cx="4419600" cy="1524000"/>
          </a:xfrm>
          <a:custGeom>
            <a:avLst/>
            <a:gdLst>
              <a:gd name="T0" fmla="*/ 0 w 2784"/>
              <a:gd name="T1" fmla="*/ 0 h 624"/>
              <a:gd name="T2" fmla="*/ 2147483647 w 2784"/>
              <a:gd name="T3" fmla="*/ 0 h 624"/>
              <a:gd name="T4" fmla="*/ 2147483647 w 2784"/>
              <a:gd name="T5" fmla="*/ 2147483647 h 624"/>
              <a:gd name="T6" fmla="*/ 2147483647 w 2784"/>
              <a:gd name="T7" fmla="*/ 2147483647 h 624"/>
              <a:gd name="T8" fmla="*/ 2147483647 w 2784"/>
              <a:gd name="T9" fmla="*/ 2147483647 h 624"/>
              <a:gd name="T10" fmla="*/ 2147483647 w 2784"/>
              <a:gd name="T11" fmla="*/ 2147483647 h 624"/>
              <a:gd name="T12" fmla="*/ 0 60000 65536"/>
              <a:gd name="T13" fmla="*/ 0 60000 65536"/>
              <a:gd name="T14" fmla="*/ 0 60000 65536"/>
              <a:gd name="T15" fmla="*/ 0 60000 65536"/>
              <a:gd name="T16" fmla="*/ 0 60000 65536"/>
              <a:gd name="T17" fmla="*/ 0 60000 65536"/>
              <a:gd name="T18" fmla="*/ 0 w 2784"/>
              <a:gd name="T19" fmla="*/ 0 h 624"/>
              <a:gd name="T20" fmla="*/ 2784 w 2784"/>
              <a:gd name="T21" fmla="*/ 624 h 624"/>
            </a:gdLst>
            <a:ahLst/>
            <a:cxnLst>
              <a:cxn ang="T12">
                <a:pos x="T0" y="T1"/>
              </a:cxn>
              <a:cxn ang="T13">
                <a:pos x="T2" y="T3"/>
              </a:cxn>
              <a:cxn ang="T14">
                <a:pos x="T4" y="T5"/>
              </a:cxn>
              <a:cxn ang="T15">
                <a:pos x="T6" y="T7"/>
              </a:cxn>
              <a:cxn ang="T16">
                <a:pos x="T8" y="T9"/>
              </a:cxn>
              <a:cxn ang="T17">
                <a:pos x="T10" y="T11"/>
              </a:cxn>
            </a:cxnLst>
            <a:rect l="T18" t="T19" r="T20" b="T21"/>
            <a:pathLst>
              <a:path w="2784" h="624">
                <a:moveTo>
                  <a:pt x="0" y="0"/>
                </a:moveTo>
                <a:lnTo>
                  <a:pt x="960" y="0"/>
                </a:lnTo>
                <a:lnTo>
                  <a:pt x="960" y="288"/>
                </a:lnTo>
                <a:lnTo>
                  <a:pt x="1968" y="288"/>
                </a:lnTo>
                <a:lnTo>
                  <a:pt x="1968" y="624"/>
                </a:lnTo>
                <a:lnTo>
                  <a:pt x="2784" y="624"/>
                </a:lnTo>
              </a:path>
            </a:pathLst>
          </a:custGeom>
          <a:noFill/>
          <a:ln w="12700">
            <a:solidFill>
              <a:schemeClr val="tx1"/>
            </a:solidFill>
            <a:round/>
            <a:headEnd/>
            <a:tailEnd/>
          </a:ln>
        </p:spPr>
        <p:txBody>
          <a:bodyPr/>
          <a:lstStyle/>
          <a:p>
            <a:endParaRPr lang="en-US"/>
          </a:p>
        </p:txBody>
      </p:sp>
      <p:sp>
        <p:nvSpPr>
          <p:cNvPr id="7" name="Line 17"/>
          <p:cNvSpPr>
            <a:spLocks noChangeShapeType="1"/>
          </p:cNvSpPr>
          <p:nvPr/>
        </p:nvSpPr>
        <p:spPr bwMode="auto">
          <a:xfrm>
            <a:off x="2436813" y="4724400"/>
            <a:ext cx="5181600" cy="0"/>
          </a:xfrm>
          <a:prstGeom prst="line">
            <a:avLst/>
          </a:prstGeom>
          <a:noFill/>
          <a:ln w="12700">
            <a:solidFill>
              <a:schemeClr val="tx1"/>
            </a:solidFill>
            <a:round/>
            <a:headEnd/>
            <a:tailEnd type="triangle" w="med" len="med"/>
          </a:ln>
        </p:spPr>
        <p:txBody>
          <a:bodyPr wrap="none" anchor="ctr"/>
          <a:lstStyle/>
          <a:p>
            <a:endParaRPr lang="en-US"/>
          </a:p>
        </p:txBody>
      </p:sp>
      <p:sp>
        <p:nvSpPr>
          <p:cNvPr id="8" name="Text Box 18"/>
          <p:cNvSpPr txBox="1">
            <a:spLocks noChangeArrowheads="1"/>
          </p:cNvSpPr>
          <p:nvPr/>
        </p:nvSpPr>
        <p:spPr bwMode="auto">
          <a:xfrm>
            <a:off x="7085013" y="4876800"/>
            <a:ext cx="863600" cy="304800"/>
          </a:xfrm>
          <a:prstGeom prst="rect">
            <a:avLst/>
          </a:prstGeom>
          <a:noFill/>
          <a:ln w="12700">
            <a:noFill/>
            <a:miter lim="800000"/>
            <a:headEnd/>
            <a:tailEnd/>
          </a:ln>
        </p:spPr>
        <p:txBody>
          <a:bodyPr wrap="none">
            <a:spAutoFit/>
          </a:bodyPr>
          <a:lstStyle/>
          <a:p>
            <a:r>
              <a:rPr lang="en-US" sz="1400" b="1"/>
              <a:t>Quantity</a:t>
            </a:r>
            <a:endParaRPr lang="en-US" b="1" u="sng"/>
          </a:p>
        </p:txBody>
      </p:sp>
      <p:sp>
        <p:nvSpPr>
          <p:cNvPr id="9" name="Text Box 19"/>
          <p:cNvSpPr txBox="1">
            <a:spLocks noChangeArrowheads="1"/>
          </p:cNvSpPr>
          <p:nvPr/>
        </p:nvSpPr>
        <p:spPr bwMode="auto">
          <a:xfrm>
            <a:off x="1769738" y="1826654"/>
            <a:ext cx="579437" cy="304800"/>
          </a:xfrm>
          <a:prstGeom prst="rect">
            <a:avLst/>
          </a:prstGeom>
          <a:noFill/>
          <a:ln w="12700">
            <a:noFill/>
            <a:miter lim="800000"/>
            <a:headEnd/>
            <a:tailEnd/>
          </a:ln>
        </p:spPr>
        <p:txBody>
          <a:bodyPr wrap="none">
            <a:spAutoFit/>
          </a:bodyPr>
          <a:lstStyle/>
          <a:p>
            <a:r>
              <a:rPr lang="en-US" sz="1400" b="1" dirty="0"/>
              <a:t>Price</a:t>
            </a:r>
            <a:endParaRPr lang="en-US" b="1" u="sng" dirty="0">
              <a:latin typeface="Arial" charset="0"/>
            </a:endParaRPr>
          </a:p>
        </p:txBody>
      </p:sp>
      <p:sp>
        <p:nvSpPr>
          <p:cNvPr id="10" name="Text Box 20"/>
          <p:cNvSpPr txBox="1">
            <a:spLocks noChangeArrowheads="1"/>
          </p:cNvSpPr>
          <p:nvPr/>
        </p:nvSpPr>
        <p:spPr bwMode="auto">
          <a:xfrm>
            <a:off x="1894827" y="2163650"/>
            <a:ext cx="454348" cy="461665"/>
          </a:xfrm>
          <a:prstGeom prst="rect">
            <a:avLst/>
          </a:prstGeom>
          <a:noFill/>
          <a:ln w="12700">
            <a:noFill/>
            <a:miter lim="800000"/>
            <a:headEnd/>
            <a:tailEnd/>
          </a:ln>
        </p:spPr>
        <p:txBody>
          <a:bodyPr wrap="square">
            <a:spAutoFit/>
          </a:bodyPr>
          <a:lstStyle/>
          <a:p>
            <a:r>
              <a:rPr lang="en-US" sz="1600" dirty="0"/>
              <a:t>P</a:t>
            </a:r>
            <a:r>
              <a:rPr lang="en-US" baseline="30000" dirty="0"/>
              <a:t>A</a:t>
            </a:r>
            <a:endParaRPr lang="en-US" sz="1400" dirty="0">
              <a:latin typeface="Arial" charset="0"/>
            </a:endParaRPr>
          </a:p>
        </p:txBody>
      </p:sp>
      <p:sp>
        <p:nvSpPr>
          <p:cNvPr id="11" name="Text Box 21"/>
          <p:cNvSpPr txBox="1">
            <a:spLocks noChangeArrowheads="1"/>
          </p:cNvSpPr>
          <p:nvPr/>
        </p:nvSpPr>
        <p:spPr bwMode="auto">
          <a:xfrm>
            <a:off x="2513013" y="4724400"/>
            <a:ext cx="1008062" cy="304800"/>
          </a:xfrm>
          <a:prstGeom prst="rect">
            <a:avLst/>
          </a:prstGeom>
          <a:noFill/>
          <a:ln w="12700">
            <a:noFill/>
            <a:miter lim="800000"/>
            <a:headEnd/>
            <a:tailEnd/>
          </a:ln>
        </p:spPr>
        <p:txBody>
          <a:bodyPr wrap="none">
            <a:spAutoFit/>
          </a:bodyPr>
          <a:lstStyle/>
          <a:p>
            <a:r>
              <a:rPr lang="en-US" sz="1400" b="1"/>
              <a:t>Segment A</a:t>
            </a:r>
            <a:endParaRPr lang="en-US" b="1" u="sng"/>
          </a:p>
        </p:txBody>
      </p:sp>
      <p:sp>
        <p:nvSpPr>
          <p:cNvPr id="12" name="Text Box 23"/>
          <p:cNvSpPr txBox="1">
            <a:spLocks noChangeArrowheads="1"/>
          </p:cNvSpPr>
          <p:nvPr/>
        </p:nvSpPr>
        <p:spPr bwMode="auto">
          <a:xfrm>
            <a:off x="1894827" y="2814935"/>
            <a:ext cx="530694" cy="461665"/>
          </a:xfrm>
          <a:prstGeom prst="rect">
            <a:avLst/>
          </a:prstGeom>
          <a:noFill/>
          <a:ln w="12700">
            <a:noFill/>
            <a:miter lim="800000"/>
            <a:headEnd/>
            <a:tailEnd/>
          </a:ln>
        </p:spPr>
        <p:txBody>
          <a:bodyPr wrap="square">
            <a:spAutoFit/>
          </a:bodyPr>
          <a:lstStyle/>
          <a:p>
            <a:r>
              <a:rPr lang="en-US" sz="1600" dirty="0"/>
              <a:t>P</a:t>
            </a:r>
            <a:r>
              <a:rPr lang="en-US" baseline="30000" dirty="0"/>
              <a:t>B</a:t>
            </a:r>
            <a:endParaRPr lang="en-US" sz="1400" dirty="0">
              <a:latin typeface="Arial" charset="0"/>
            </a:endParaRPr>
          </a:p>
        </p:txBody>
      </p:sp>
      <p:sp>
        <p:nvSpPr>
          <p:cNvPr id="13" name="Text Box 24"/>
          <p:cNvSpPr txBox="1">
            <a:spLocks noChangeArrowheads="1"/>
          </p:cNvSpPr>
          <p:nvPr/>
        </p:nvSpPr>
        <p:spPr bwMode="auto">
          <a:xfrm>
            <a:off x="1892808" y="3657600"/>
            <a:ext cx="574513" cy="461665"/>
          </a:xfrm>
          <a:prstGeom prst="rect">
            <a:avLst/>
          </a:prstGeom>
          <a:noFill/>
          <a:ln w="12700">
            <a:noFill/>
            <a:miter lim="800000"/>
            <a:headEnd/>
            <a:tailEnd/>
          </a:ln>
        </p:spPr>
        <p:txBody>
          <a:bodyPr wrap="square">
            <a:spAutoFit/>
          </a:bodyPr>
          <a:lstStyle/>
          <a:p>
            <a:r>
              <a:rPr lang="en-US" sz="1600" dirty="0"/>
              <a:t>P</a:t>
            </a:r>
            <a:r>
              <a:rPr lang="en-US" baseline="30000" dirty="0"/>
              <a:t>C</a:t>
            </a:r>
            <a:endParaRPr lang="en-US" sz="1400" dirty="0">
              <a:latin typeface="Arial" charset="0"/>
            </a:endParaRPr>
          </a:p>
        </p:txBody>
      </p:sp>
      <p:sp>
        <p:nvSpPr>
          <p:cNvPr id="14" name="Text Box 25"/>
          <p:cNvSpPr txBox="1">
            <a:spLocks noChangeArrowheads="1"/>
          </p:cNvSpPr>
          <p:nvPr/>
        </p:nvSpPr>
        <p:spPr bwMode="auto">
          <a:xfrm>
            <a:off x="4189413" y="4724400"/>
            <a:ext cx="998537" cy="304800"/>
          </a:xfrm>
          <a:prstGeom prst="rect">
            <a:avLst/>
          </a:prstGeom>
          <a:noFill/>
          <a:ln w="12700">
            <a:noFill/>
            <a:miter lim="800000"/>
            <a:headEnd/>
            <a:tailEnd/>
          </a:ln>
        </p:spPr>
        <p:txBody>
          <a:bodyPr wrap="none">
            <a:spAutoFit/>
          </a:bodyPr>
          <a:lstStyle/>
          <a:p>
            <a:r>
              <a:rPr lang="en-US" sz="1400" b="1"/>
              <a:t>Segment B</a:t>
            </a:r>
            <a:endParaRPr lang="en-US" b="1" u="sng"/>
          </a:p>
        </p:txBody>
      </p:sp>
      <p:sp>
        <p:nvSpPr>
          <p:cNvPr id="15" name="Text Box 26"/>
          <p:cNvSpPr txBox="1">
            <a:spLocks noChangeArrowheads="1"/>
          </p:cNvSpPr>
          <p:nvPr/>
        </p:nvSpPr>
        <p:spPr bwMode="auto">
          <a:xfrm>
            <a:off x="5789613" y="4724400"/>
            <a:ext cx="1008062" cy="304800"/>
          </a:xfrm>
          <a:prstGeom prst="rect">
            <a:avLst/>
          </a:prstGeom>
          <a:noFill/>
          <a:ln w="12700">
            <a:noFill/>
            <a:miter lim="800000"/>
            <a:headEnd/>
            <a:tailEnd/>
          </a:ln>
        </p:spPr>
        <p:txBody>
          <a:bodyPr wrap="none">
            <a:spAutoFit/>
          </a:bodyPr>
          <a:lstStyle/>
          <a:p>
            <a:r>
              <a:rPr lang="en-US" sz="1400" b="1"/>
              <a:t>Segment C</a:t>
            </a:r>
            <a:endParaRPr lang="en-US" b="1" u="sng"/>
          </a:p>
        </p:txBody>
      </p:sp>
      <p:sp>
        <p:nvSpPr>
          <p:cNvPr id="17" name="TextBox 16"/>
          <p:cNvSpPr txBox="1"/>
          <p:nvPr/>
        </p:nvSpPr>
        <p:spPr>
          <a:xfrm>
            <a:off x="7848600" y="4038600"/>
            <a:ext cx="699230" cy="430887"/>
          </a:xfrm>
          <a:prstGeom prst="rect">
            <a:avLst/>
          </a:prstGeom>
          <a:noFill/>
        </p:spPr>
        <p:txBody>
          <a:bodyPr wrap="none" rtlCol="0">
            <a:spAutoFit/>
          </a:bodyPr>
          <a:lstStyle/>
          <a:p>
            <a:r>
              <a:rPr lang="en-US" sz="1100" dirty="0"/>
              <a:t>Marginal</a:t>
            </a:r>
          </a:p>
          <a:p>
            <a:r>
              <a:rPr lang="en-US" sz="1100" dirty="0"/>
              <a:t>cost</a:t>
            </a:r>
          </a:p>
        </p:txBody>
      </p:sp>
      <p:sp>
        <p:nvSpPr>
          <p:cNvPr id="20" name="Rectangle 19"/>
          <p:cNvSpPr/>
          <p:nvPr/>
        </p:nvSpPr>
        <p:spPr bwMode="auto">
          <a:xfrm>
            <a:off x="2438400" y="3086100"/>
            <a:ext cx="3108960" cy="1143000"/>
          </a:xfrm>
          <a:prstGeom prst="rect">
            <a:avLst/>
          </a:prstGeom>
          <a:pattFill prst="pct5">
            <a:fgClr>
              <a:srgbClr val="FF0000"/>
            </a:fgClr>
            <a:bgClr>
              <a:schemeClr val="bg1"/>
            </a:bgClr>
          </a:pattFill>
          <a:ln w="12700" cap="flat" cmpd="sng" algn="ctr">
            <a:solidFill>
              <a:schemeClr val="bg2">
                <a:lumMod val="20000"/>
                <a:lumOff val="80000"/>
                <a:alpha val="9000"/>
              </a:scheme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algn="ctr"/>
            <a:endParaRPr lang="en-US" dirty="0">
              <a:solidFill>
                <a:srgbClr val="FF0000"/>
              </a:solidFill>
            </a:endParaRPr>
          </a:p>
          <a:p>
            <a:pPr algn="ctr"/>
            <a:r>
              <a:rPr lang="en-US" b="1" dirty="0">
                <a:solidFill>
                  <a:srgbClr val="FF0000"/>
                </a:solidFill>
              </a:rPr>
              <a:t>Profits</a:t>
            </a:r>
            <a:endParaRPr kumimoji="0" lang="en-US" sz="2400" b="1" i="0" u="none" strike="noStrike" cap="none" normalizeH="0" baseline="0" dirty="0">
              <a:ln>
                <a:noFill/>
              </a:ln>
              <a:solidFill>
                <a:schemeClr val="tx1"/>
              </a:solidFill>
              <a:effectLst/>
            </a:endParaRPr>
          </a:p>
        </p:txBody>
      </p:sp>
      <p:cxnSp>
        <p:nvCxnSpPr>
          <p:cNvPr id="27" name="Straight Connector 26"/>
          <p:cNvCxnSpPr/>
          <p:nvPr/>
        </p:nvCxnSpPr>
        <p:spPr>
          <a:xfrm flipV="1">
            <a:off x="2438400" y="3045767"/>
            <a:ext cx="4530436" cy="223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085013" y="2906615"/>
            <a:ext cx="1447832" cy="261610"/>
          </a:xfrm>
          <a:prstGeom prst="rect">
            <a:avLst/>
          </a:prstGeom>
          <a:noFill/>
        </p:spPr>
        <p:txBody>
          <a:bodyPr wrap="none" rtlCol="0">
            <a:spAutoFit/>
          </a:bodyPr>
          <a:lstStyle/>
          <a:p>
            <a:r>
              <a:rPr lang="en-US" sz="1100" dirty="0">
                <a:solidFill>
                  <a:srgbClr val="FF0000"/>
                </a:solidFill>
              </a:rPr>
              <a:t>Optimal uniform price</a:t>
            </a:r>
          </a:p>
        </p:txBody>
      </p:sp>
      <p:cxnSp>
        <p:nvCxnSpPr>
          <p:cNvPr id="16" name="Straight Connector 15"/>
          <p:cNvCxnSpPr/>
          <p:nvPr/>
        </p:nvCxnSpPr>
        <p:spPr bwMode="auto">
          <a:xfrm>
            <a:off x="2438400" y="4229100"/>
            <a:ext cx="5334000" cy="0"/>
          </a:xfrm>
          <a:prstGeom prst="line">
            <a:avLst/>
          </a:prstGeom>
          <a:ln>
            <a:solidFill>
              <a:srgbClr val="00B05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6" name="Line 16"/>
          <p:cNvSpPr>
            <a:spLocks noChangeShapeType="1"/>
          </p:cNvSpPr>
          <p:nvPr/>
        </p:nvSpPr>
        <p:spPr bwMode="auto">
          <a:xfrm>
            <a:off x="2436813" y="2057400"/>
            <a:ext cx="0" cy="2667000"/>
          </a:xfrm>
          <a:prstGeom prst="line">
            <a:avLst/>
          </a:prstGeom>
          <a:noFill/>
          <a:ln w="12700">
            <a:solidFill>
              <a:schemeClr val="tx1"/>
            </a:solidFill>
            <a:round/>
            <a:headEnd type="triangle" w="med" len="med"/>
            <a:tailEnd/>
          </a:ln>
        </p:spPr>
        <p:txBody>
          <a:bodyPr wrap="none" anchor="ctr"/>
          <a:lstStyle/>
          <a:p>
            <a:endParaRPr lang="en-US"/>
          </a:p>
        </p:txBody>
      </p:sp>
      <p:sp>
        <p:nvSpPr>
          <p:cNvPr id="3" name="Slide Number Placeholder 2"/>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3</a:t>
            </a:fld>
            <a:endParaRPr lang="en-US"/>
          </a:p>
        </p:txBody>
      </p:sp>
      <p:cxnSp>
        <p:nvCxnSpPr>
          <p:cNvPr id="18" name="Straight Arrow Connector 17"/>
          <p:cNvCxnSpPr/>
          <p:nvPr/>
        </p:nvCxnSpPr>
        <p:spPr>
          <a:xfrm>
            <a:off x="1371600" y="2625315"/>
            <a:ext cx="1371600" cy="0"/>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436813" y="2362200"/>
            <a:ext cx="1525587" cy="675220"/>
          </a:xfrm>
          <a:prstGeom prst="rect">
            <a:avLst/>
          </a:prstGeom>
          <a:solidFill>
            <a:srgbClr val="7030A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52400" y="2329534"/>
            <a:ext cx="1378904" cy="707886"/>
          </a:xfrm>
          <a:prstGeom prst="rect">
            <a:avLst/>
          </a:prstGeom>
          <a:noFill/>
        </p:spPr>
        <p:txBody>
          <a:bodyPr wrap="none" rtlCol="0">
            <a:spAutoFit/>
          </a:bodyPr>
          <a:lstStyle/>
          <a:p>
            <a:r>
              <a:rPr lang="en-US" sz="2000" dirty="0">
                <a:solidFill>
                  <a:srgbClr val="7030A0"/>
                </a:solidFill>
              </a:rPr>
              <a:t>Money left </a:t>
            </a:r>
          </a:p>
          <a:p>
            <a:r>
              <a:rPr lang="en-US" sz="2000" dirty="0">
                <a:solidFill>
                  <a:srgbClr val="7030A0"/>
                </a:solidFill>
              </a:rPr>
              <a:t>on table</a:t>
            </a:r>
          </a:p>
        </p:txBody>
      </p:sp>
      <p:cxnSp>
        <p:nvCxnSpPr>
          <p:cNvPr id="29" name="Straight Arrow Connector 28"/>
          <p:cNvCxnSpPr/>
          <p:nvPr/>
        </p:nvCxnSpPr>
        <p:spPr>
          <a:xfrm flipV="1">
            <a:off x="2895600" y="4119265"/>
            <a:ext cx="3200400" cy="1519536"/>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562600" y="3891491"/>
            <a:ext cx="1293813" cy="337610"/>
          </a:xfrm>
          <a:prstGeom prst="rect">
            <a:avLst/>
          </a:prstGeom>
          <a:solidFill>
            <a:srgbClr val="7030A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1928852" y="5640280"/>
            <a:ext cx="2084225" cy="400110"/>
          </a:xfrm>
          <a:prstGeom prst="rect">
            <a:avLst/>
          </a:prstGeom>
          <a:noFill/>
        </p:spPr>
        <p:txBody>
          <a:bodyPr wrap="none" rtlCol="0">
            <a:spAutoFit/>
          </a:bodyPr>
          <a:lstStyle/>
          <a:p>
            <a:r>
              <a:rPr lang="en-US" sz="2000" dirty="0">
                <a:solidFill>
                  <a:srgbClr val="7030A0"/>
                </a:solidFill>
              </a:rPr>
              <a:t>Unserved segment</a:t>
            </a:r>
          </a:p>
        </p:txBody>
      </p:sp>
    </p:spTree>
    <p:extLst>
      <p:ext uri="{BB962C8B-B14F-4D97-AF65-F5344CB8AC3E}">
        <p14:creationId xmlns:p14="http://schemas.microsoft.com/office/powerpoint/2010/main" val="257423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8" grpId="0"/>
      <p:bldP spid="19" grpId="0" animBg="1"/>
      <p:bldP spid="21" grpId="0"/>
      <p:bldP spid="30" grpId="0" animBg="1"/>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53"/>
          <p:cNvCxnSpPr/>
          <p:nvPr/>
        </p:nvCxnSpPr>
        <p:spPr>
          <a:xfrm flipV="1">
            <a:off x="2460591" y="3877852"/>
            <a:ext cx="4530436" cy="223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bwMode="auto">
          <a:xfrm>
            <a:off x="2467320" y="3888432"/>
            <a:ext cx="4387631" cy="302568"/>
          </a:xfrm>
          <a:prstGeom prst="rect">
            <a:avLst/>
          </a:prstGeom>
          <a:pattFill prst="pct5">
            <a:fgClr>
              <a:srgbClr val="7030A0"/>
            </a:fgClr>
            <a:bgClr>
              <a:schemeClr val="bg1"/>
            </a:bgClr>
          </a:pattFill>
          <a:ln w="12700" cap="flat" cmpd="sng" algn="ctr">
            <a:solidFill>
              <a:schemeClr val="bg2">
                <a:lumMod val="20000"/>
                <a:lumOff val="80000"/>
                <a:alpha val="9000"/>
              </a:scheme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46" name="Rectangle 45"/>
          <p:cNvSpPr/>
          <p:nvPr/>
        </p:nvSpPr>
        <p:spPr bwMode="auto">
          <a:xfrm>
            <a:off x="2467320" y="3037420"/>
            <a:ext cx="3095280" cy="1143000"/>
          </a:xfrm>
          <a:prstGeom prst="rect">
            <a:avLst/>
          </a:prstGeom>
          <a:pattFill prst="pct5">
            <a:fgClr>
              <a:srgbClr val="7030A0"/>
            </a:fgClr>
            <a:bgClr>
              <a:schemeClr val="bg1"/>
            </a:bgClr>
          </a:pattFill>
          <a:ln w="12700" cap="flat" cmpd="sng" algn="ctr">
            <a:solidFill>
              <a:schemeClr val="bg2">
                <a:lumMod val="20000"/>
                <a:lumOff val="80000"/>
                <a:alpha val="9000"/>
              </a:scheme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
        <p:nvSpPr>
          <p:cNvPr id="2" name="Title 1"/>
          <p:cNvSpPr>
            <a:spLocks noGrp="1"/>
          </p:cNvSpPr>
          <p:nvPr>
            <p:ph type="title"/>
          </p:nvPr>
        </p:nvSpPr>
        <p:spPr/>
        <p:txBody>
          <a:bodyPr>
            <a:normAutofit fontScale="90000"/>
          </a:bodyPr>
          <a:lstStyle/>
          <a:p>
            <a:r>
              <a:rPr lang="en-US" sz="4400" i="1" dirty="0"/>
              <a:t>Targeted Pricing</a:t>
            </a:r>
            <a:br>
              <a:rPr lang="en-US" sz="4400" i="1" dirty="0"/>
            </a:br>
            <a:r>
              <a:rPr lang="en-US" sz="3600" dirty="0"/>
              <a:t>Suppose we could identify customers/segments</a:t>
            </a:r>
          </a:p>
        </p:txBody>
      </p:sp>
      <p:sp useBgFill="1">
        <p:nvSpPr>
          <p:cNvPr id="29" name="TextBox 28"/>
          <p:cNvSpPr txBox="1"/>
          <p:nvPr/>
        </p:nvSpPr>
        <p:spPr>
          <a:xfrm>
            <a:off x="7055580" y="2906615"/>
            <a:ext cx="1786066" cy="261610"/>
          </a:xfrm>
          <a:prstGeom prst="rect">
            <a:avLst/>
          </a:prstGeom>
        </p:spPr>
        <p:txBody>
          <a:bodyPr wrap="none" rtlCol="0">
            <a:spAutoFit/>
          </a:bodyPr>
          <a:lstStyle/>
          <a:p>
            <a:r>
              <a:rPr lang="en-US" sz="1100" dirty="0">
                <a:solidFill>
                  <a:srgbClr val="7030A0"/>
                </a:solidFill>
              </a:rPr>
              <a:t>Targeted Price to segment B</a:t>
            </a:r>
          </a:p>
        </p:txBody>
      </p:sp>
      <p:sp>
        <p:nvSpPr>
          <p:cNvPr id="35" name="Freeform 22"/>
          <p:cNvSpPr>
            <a:spLocks/>
          </p:cNvSpPr>
          <p:nvPr/>
        </p:nvSpPr>
        <p:spPr bwMode="auto">
          <a:xfrm>
            <a:off x="2436813" y="2362200"/>
            <a:ext cx="4419600" cy="1524000"/>
          </a:xfrm>
          <a:custGeom>
            <a:avLst/>
            <a:gdLst>
              <a:gd name="T0" fmla="*/ 0 w 2784"/>
              <a:gd name="T1" fmla="*/ 0 h 624"/>
              <a:gd name="T2" fmla="*/ 2147483647 w 2784"/>
              <a:gd name="T3" fmla="*/ 0 h 624"/>
              <a:gd name="T4" fmla="*/ 2147483647 w 2784"/>
              <a:gd name="T5" fmla="*/ 2147483647 h 624"/>
              <a:gd name="T6" fmla="*/ 2147483647 w 2784"/>
              <a:gd name="T7" fmla="*/ 2147483647 h 624"/>
              <a:gd name="T8" fmla="*/ 2147483647 w 2784"/>
              <a:gd name="T9" fmla="*/ 2147483647 h 624"/>
              <a:gd name="T10" fmla="*/ 2147483647 w 2784"/>
              <a:gd name="T11" fmla="*/ 2147483647 h 624"/>
              <a:gd name="T12" fmla="*/ 0 60000 65536"/>
              <a:gd name="T13" fmla="*/ 0 60000 65536"/>
              <a:gd name="T14" fmla="*/ 0 60000 65536"/>
              <a:gd name="T15" fmla="*/ 0 60000 65536"/>
              <a:gd name="T16" fmla="*/ 0 60000 65536"/>
              <a:gd name="T17" fmla="*/ 0 60000 65536"/>
              <a:gd name="T18" fmla="*/ 0 w 2784"/>
              <a:gd name="T19" fmla="*/ 0 h 624"/>
              <a:gd name="T20" fmla="*/ 2784 w 2784"/>
              <a:gd name="T21" fmla="*/ 624 h 624"/>
            </a:gdLst>
            <a:ahLst/>
            <a:cxnLst>
              <a:cxn ang="T12">
                <a:pos x="T0" y="T1"/>
              </a:cxn>
              <a:cxn ang="T13">
                <a:pos x="T2" y="T3"/>
              </a:cxn>
              <a:cxn ang="T14">
                <a:pos x="T4" y="T5"/>
              </a:cxn>
              <a:cxn ang="T15">
                <a:pos x="T6" y="T7"/>
              </a:cxn>
              <a:cxn ang="T16">
                <a:pos x="T8" y="T9"/>
              </a:cxn>
              <a:cxn ang="T17">
                <a:pos x="T10" y="T11"/>
              </a:cxn>
            </a:cxnLst>
            <a:rect l="T18" t="T19" r="T20" b="T21"/>
            <a:pathLst>
              <a:path w="2784" h="624">
                <a:moveTo>
                  <a:pt x="0" y="0"/>
                </a:moveTo>
                <a:lnTo>
                  <a:pt x="960" y="0"/>
                </a:lnTo>
                <a:lnTo>
                  <a:pt x="960" y="288"/>
                </a:lnTo>
                <a:lnTo>
                  <a:pt x="1968" y="288"/>
                </a:lnTo>
                <a:lnTo>
                  <a:pt x="1968" y="624"/>
                </a:lnTo>
                <a:lnTo>
                  <a:pt x="2784" y="624"/>
                </a:lnTo>
              </a:path>
            </a:pathLst>
          </a:custGeom>
          <a:noFill/>
          <a:ln w="12700">
            <a:solidFill>
              <a:schemeClr val="tx1"/>
            </a:solidFill>
            <a:round/>
            <a:headEnd/>
            <a:tailEnd/>
          </a:ln>
        </p:spPr>
        <p:txBody>
          <a:bodyPr/>
          <a:lstStyle/>
          <a:p>
            <a:endParaRPr lang="en-US"/>
          </a:p>
        </p:txBody>
      </p:sp>
      <p:sp>
        <p:nvSpPr>
          <p:cNvPr id="36" name="Line 17"/>
          <p:cNvSpPr>
            <a:spLocks noChangeShapeType="1"/>
          </p:cNvSpPr>
          <p:nvPr/>
        </p:nvSpPr>
        <p:spPr bwMode="auto">
          <a:xfrm>
            <a:off x="2436813" y="4724400"/>
            <a:ext cx="5181600" cy="0"/>
          </a:xfrm>
          <a:prstGeom prst="line">
            <a:avLst/>
          </a:prstGeom>
          <a:noFill/>
          <a:ln w="12700">
            <a:solidFill>
              <a:schemeClr val="tx1"/>
            </a:solidFill>
            <a:round/>
            <a:headEnd/>
            <a:tailEnd type="triangle" w="med" len="med"/>
          </a:ln>
        </p:spPr>
        <p:txBody>
          <a:bodyPr wrap="none" anchor="ctr"/>
          <a:lstStyle/>
          <a:p>
            <a:endParaRPr lang="en-US"/>
          </a:p>
        </p:txBody>
      </p:sp>
      <p:sp>
        <p:nvSpPr>
          <p:cNvPr id="37" name="Text Box 18"/>
          <p:cNvSpPr txBox="1">
            <a:spLocks noChangeArrowheads="1"/>
          </p:cNvSpPr>
          <p:nvPr/>
        </p:nvSpPr>
        <p:spPr bwMode="auto">
          <a:xfrm>
            <a:off x="7085013" y="4876800"/>
            <a:ext cx="863600" cy="304800"/>
          </a:xfrm>
          <a:prstGeom prst="rect">
            <a:avLst/>
          </a:prstGeom>
          <a:noFill/>
          <a:ln w="12700">
            <a:noFill/>
            <a:miter lim="800000"/>
            <a:headEnd/>
            <a:tailEnd/>
          </a:ln>
        </p:spPr>
        <p:txBody>
          <a:bodyPr wrap="none">
            <a:spAutoFit/>
          </a:bodyPr>
          <a:lstStyle/>
          <a:p>
            <a:r>
              <a:rPr lang="en-US" sz="1400" b="1"/>
              <a:t>Quantity</a:t>
            </a:r>
            <a:endParaRPr lang="en-US" b="1" u="sng"/>
          </a:p>
        </p:txBody>
      </p:sp>
      <p:sp>
        <p:nvSpPr>
          <p:cNvPr id="38" name="Text Box 19"/>
          <p:cNvSpPr txBox="1">
            <a:spLocks noChangeArrowheads="1"/>
          </p:cNvSpPr>
          <p:nvPr/>
        </p:nvSpPr>
        <p:spPr bwMode="auto">
          <a:xfrm>
            <a:off x="1769738" y="1826654"/>
            <a:ext cx="579437" cy="304800"/>
          </a:xfrm>
          <a:prstGeom prst="rect">
            <a:avLst/>
          </a:prstGeom>
          <a:noFill/>
          <a:ln w="12700">
            <a:noFill/>
            <a:miter lim="800000"/>
            <a:headEnd/>
            <a:tailEnd/>
          </a:ln>
        </p:spPr>
        <p:txBody>
          <a:bodyPr wrap="none">
            <a:spAutoFit/>
          </a:bodyPr>
          <a:lstStyle/>
          <a:p>
            <a:r>
              <a:rPr lang="en-US" sz="1400" b="1" dirty="0"/>
              <a:t>Price</a:t>
            </a:r>
            <a:endParaRPr lang="en-US" b="1" u="sng" dirty="0">
              <a:latin typeface="Arial" charset="0"/>
            </a:endParaRPr>
          </a:p>
        </p:txBody>
      </p:sp>
      <p:sp>
        <p:nvSpPr>
          <p:cNvPr id="39" name="Text Box 20"/>
          <p:cNvSpPr txBox="1">
            <a:spLocks noChangeArrowheads="1"/>
          </p:cNvSpPr>
          <p:nvPr/>
        </p:nvSpPr>
        <p:spPr bwMode="auto">
          <a:xfrm>
            <a:off x="1894827" y="2163650"/>
            <a:ext cx="454348" cy="461665"/>
          </a:xfrm>
          <a:prstGeom prst="rect">
            <a:avLst/>
          </a:prstGeom>
          <a:noFill/>
          <a:ln w="12700">
            <a:noFill/>
            <a:miter lim="800000"/>
            <a:headEnd/>
            <a:tailEnd/>
          </a:ln>
        </p:spPr>
        <p:txBody>
          <a:bodyPr wrap="square">
            <a:spAutoFit/>
          </a:bodyPr>
          <a:lstStyle/>
          <a:p>
            <a:r>
              <a:rPr lang="en-US" sz="1600" dirty="0"/>
              <a:t>P</a:t>
            </a:r>
            <a:r>
              <a:rPr lang="en-US" baseline="30000" dirty="0"/>
              <a:t>A</a:t>
            </a:r>
            <a:endParaRPr lang="en-US" sz="1400" dirty="0">
              <a:latin typeface="Arial" charset="0"/>
            </a:endParaRPr>
          </a:p>
        </p:txBody>
      </p:sp>
      <p:sp>
        <p:nvSpPr>
          <p:cNvPr id="40" name="Text Box 21"/>
          <p:cNvSpPr txBox="1">
            <a:spLocks noChangeArrowheads="1"/>
          </p:cNvSpPr>
          <p:nvPr/>
        </p:nvSpPr>
        <p:spPr bwMode="auto">
          <a:xfrm>
            <a:off x="2513013" y="4724400"/>
            <a:ext cx="1008062" cy="304800"/>
          </a:xfrm>
          <a:prstGeom prst="rect">
            <a:avLst/>
          </a:prstGeom>
          <a:noFill/>
          <a:ln w="12700">
            <a:noFill/>
            <a:miter lim="800000"/>
            <a:headEnd/>
            <a:tailEnd/>
          </a:ln>
        </p:spPr>
        <p:txBody>
          <a:bodyPr wrap="none">
            <a:spAutoFit/>
          </a:bodyPr>
          <a:lstStyle/>
          <a:p>
            <a:r>
              <a:rPr lang="en-US" sz="1400" b="1"/>
              <a:t>Segment A</a:t>
            </a:r>
            <a:endParaRPr lang="en-US" b="1" u="sng"/>
          </a:p>
        </p:txBody>
      </p:sp>
      <p:sp>
        <p:nvSpPr>
          <p:cNvPr id="41" name="Text Box 23"/>
          <p:cNvSpPr txBox="1">
            <a:spLocks noChangeArrowheads="1"/>
          </p:cNvSpPr>
          <p:nvPr/>
        </p:nvSpPr>
        <p:spPr bwMode="auto">
          <a:xfrm>
            <a:off x="1894827" y="2814935"/>
            <a:ext cx="530694" cy="461665"/>
          </a:xfrm>
          <a:prstGeom prst="rect">
            <a:avLst/>
          </a:prstGeom>
          <a:noFill/>
          <a:ln w="12700">
            <a:noFill/>
            <a:miter lim="800000"/>
            <a:headEnd/>
            <a:tailEnd/>
          </a:ln>
        </p:spPr>
        <p:txBody>
          <a:bodyPr wrap="square">
            <a:spAutoFit/>
          </a:bodyPr>
          <a:lstStyle/>
          <a:p>
            <a:r>
              <a:rPr lang="en-US" sz="1600" dirty="0"/>
              <a:t>P</a:t>
            </a:r>
            <a:r>
              <a:rPr lang="en-US" baseline="30000" dirty="0"/>
              <a:t>B</a:t>
            </a:r>
            <a:endParaRPr lang="en-US" sz="1400" dirty="0">
              <a:latin typeface="Arial" charset="0"/>
            </a:endParaRPr>
          </a:p>
        </p:txBody>
      </p:sp>
      <p:sp>
        <p:nvSpPr>
          <p:cNvPr id="42" name="Text Box 24"/>
          <p:cNvSpPr txBox="1">
            <a:spLocks noChangeArrowheads="1"/>
          </p:cNvSpPr>
          <p:nvPr/>
        </p:nvSpPr>
        <p:spPr bwMode="auto">
          <a:xfrm>
            <a:off x="1892808" y="3657600"/>
            <a:ext cx="574513" cy="461665"/>
          </a:xfrm>
          <a:prstGeom prst="rect">
            <a:avLst/>
          </a:prstGeom>
          <a:noFill/>
          <a:ln w="12700">
            <a:noFill/>
            <a:miter lim="800000"/>
            <a:headEnd/>
            <a:tailEnd/>
          </a:ln>
        </p:spPr>
        <p:txBody>
          <a:bodyPr wrap="square">
            <a:spAutoFit/>
          </a:bodyPr>
          <a:lstStyle/>
          <a:p>
            <a:r>
              <a:rPr lang="en-US" sz="1600" dirty="0"/>
              <a:t>P</a:t>
            </a:r>
            <a:r>
              <a:rPr lang="en-US" baseline="30000" dirty="0"/>
              <a:t>C</a:t>
            </a:r>
            <a:endParaRPr lang="en-US" sz="1400" dirty="0">
              <a:latin typeface="Arial" charset="0"/>
            </a:endParaRPr>
          </a:p>
        </p:txBody>
      </p:sp>
      <p:sp>
        <p:nvSpPr>
          <p:cNvPr id="43" name="Text Box 25"/>
          <p:cNvSpPr txBox="1">
            <a:spLocks noChangeArrowheads="1"/>
          </p:cNvSpPr>
          <p:nvPr/>
        </p:nvSpPr>
        <p:spPr bwMode="auto">
          <a:xfrm>
            <a:off x="4189413" y="4724400"/>
            <a:ext cx="998537" cy="304800"/>
          </a:xfrm>
          <a:prstGeom prst="rect">
            <a:avLst/>
          </a:prstGeom>
          <a:noFill/>
          <a:ln w="12700">
            <a:noFill/>
            <a:miter lim="800000"/>
            <a:headEnd/>
            <a:tailEnd/>
          </a:ln>
        </p:spPr>
        <p:txBody>
          <a:bodyPr wrap="none">
            <a:spAutoFit/>
          </a:bodyPr>
          <a:lstStyle/>
          <a:p>
            <a:r>
              <a:rPr lang="en-US" sz="1400" b="1"/>
              <a:t>Segment B</a:t>
            </a:r>
            <a:endParaRPr lang="en-US" b="1" u="sng"/>
          </a:p>
        </p:txBody>
      </p:sp>
      <p:sp>
        <p:nvSpPr>
          <p:cNvPr id="44" name="Text Box 26"/>
          <p:cNvSpPr txBox="1">
            <a:spLocks noChangeArrowheads="1"/>
          </p:cNvSpPr>
          <p:nvPr/>
        </p:nvSpPr>
        <p:spPr bwMode="auto">
          <a:xfrm>
            <a:off x="5789613" y="4724400"/>
            <a:ext cx="1008062" cy="304800"/>
          </a:xfrm>
          <a:prstGeom prst="rect">
            <a:avLst/>
          </a:prstGeom>
          <a:noFill/>
          <a:ln w="12700">
            <a:noFill/>
            <a:miter lim="800000"/>
            <a:headEnd/>
            <a:tailEnd/>
          </a:ln>
        </p:spPr>
        <p:txBody>
          <a:bodyPr wrap="none">
            <a:spAutoFit/>
          </a:bodyPr>
          <a:lstStyle/>
          <a:p>
            <a:r>
              <a:rPr lang="en-US" sz="1400" b="1"/>
              <a:t>Segment C</a:t>
            </a:r>
            <a:endParaRPr lang="en-US" b="1" u="sng"/>
          </a:p>
        </p:txBody>
      </p:sp>
      <p:sp>
        <p:nvSpPr>
          <p:cNvPr id="45" name="TextBox 44"/>
          <p:cNvSpPr txBox="1"/>
          <p:nvPr/>
        </p:nvSpPr>
        <p:spPr>
          <a:xfrm>
            <a:off x="7848600" y="4038600"/>
            <a:ext cx="699230" cy="430887"/>
          </a:xfrm>
          <a:prstGeom prst="rect">
            <a:avLst/>
          </a:prstGeom>
          <a:noFill/>
        </p:spPr>
        <p:txBody>
          <a:bodyPr wrap="none" rtlCol="0">
            <a:spAutoFit/>
          </a:bodyPr>
          <a:lstStyle/>
          <a:p>
            <a:r>
              <a:rPr lang="en-US" sz="1100" dirty="0"/>
              <a:t>Marginal</a:t>
            </a:r>
          </a:p>
          <a:p>
            <a:r>
              <a:rPr lang="en-US" sz="1100" dirty="0"/>
              <a:t>cost</a:t>
            </a:r>
          </a:p>
        </p:txBody>
      </p:sp>
      <p:sp>
        <p:nvSpPr>
          <p:cNvPr id="47" name="TextBox 46"/>
          <p:cNvSpPr txBox="1"/>
          <p:nvPr/>
        </p:nvSpPr>
        <p:spPr>
          <a:xfrm>
            <a:off x="7085013" y="2223048"/>
            <a:ext cx="1794081" cy="261610"/>
          </a:xfrm>
          <a:prstGeom prst="rect">
            <a:avLst/>
          </a:prstGeom>
          <a:noFill/>
        </p:spPr>
        <p:txBody>
          <a:bodyPr wrap="none" rtlCol="0">
            <a:spAutoFit/>
          </a:bodyPr>
          <a:lstStyle/>
          <a:p>
            <a:r>
              <a:rPr lang="en-US" sz="1100" dirty="0">
                <a:solidFill>
                  <a:srgbClr val="7030A0"/>
                </a:solidFill>
              </a:rPr>
              <a:t>Targeted Price to segment A</a:t>
            </a:r>
          </a:p>
        </p:txBody>
      </p:sp>
      <p:sp>
        <p:nvSpPr>
          <p:cNvPr id="48" name="TextBox 47"/>
          <p:cNvSpPr txBox="1"/>
          <p:nvPr/>
        </p:nvSpPr>
        <p:spPr>
          <a:xfrm>
            <a:off x="7067227" y="3749280"/>
            <a:ext cx="1786066" cy="261610"/>
          </a:xfrm>
          <a:prstGeom prst="rect">
            <a:avLst/>
          </a:prstGeom>
          <a:noFill/>
        </p:spPr>
        <p:txBody>
          <a:bodyPr wrap="none" rtlCol="0">
            <a:spAutoFit/>
          </a:bodyPr>
          <a:lstStyle/>
          <a:p>
            <a:r>
              <a:rPr lang="en-US" sz="1100" dirty="0">
                <a:solidFill>
                  <a:srgbClr val="7030A0"/>
                </a:solidFill>
              </a:rPr>
              <a:t>Targeted Price to segment C</a:t>
            </a:r>
          </a:p>
        </p:txBody>
      </p:sp>
      <p:cxnSp>
        <p:nvCxnSpPr>
          <p:cNvPr id="50" name="Straight Connector 49"/>
          <p:cNvCxnSpPr/>
          <p:nvPr/>
        </p:nvCxnSpPr>
        <p:spPr>
          <a:xfrm flipV="1">
            <a:off x="2438400" y="2362200"/>
            <a:ext cx="4530436" cy="223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auto">
          <a:xfrm>
            <a:off x="2438400" y="4229100"/>
            <a:ext cx="5334000" cy="0"/>
          </a:xfrm>
          <a:prstGeom prst="line">
            <a:avLst/>
          </a:prstGeom>
          <a:ln>
            <a:solidFill>
              <a:srgbClr val="00B05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52" name="Line 16"/>
          <p:cNvSpPr>
            <a:spLocks noChangeShapeType="1"/>
          </p:cNvSpPr>
          <p:nvPr/>
        </p:nvSpPr>
        <p:spPr bwMode="auto">
          <a:xfrm>
            <a:off x="2436813" y="2057400"/>
            <a:ext cx="0" cy="2667000"/>
          </a:xfrm>
          <a:prstGeom prst="line">
            <a:avLst/>
          </a:prstGeom>
          <a:noFill/>
          <a:ln w="12700">
            <a:solidFill>
              <a:schemeClr val="tx1"/>
            </a:solidFill>
            <a:round/>
            <a:headEnd type="triangle" w="med" len="med"/>
            <a:tailEnd/>
          </a:ln>
        </p:spPr>
        <p:txBody>
          <a:bodyPr wrap="none" anchor="ctr"/>
          <a:lstStyle/>
          <a:p>
            <a:endParaRPr lang="en-US"/>
          </a:p>
        </p:txBody>
      </p:sp>
      <p:cxnSp>
        <p:nvCxnSpPr>
          <p:cNvPr id="53" name="Straight Connector 52"/>
          <p:cNvCxnSpPr/>
          <p:nvPr/>
        </p:nvCxnSpPr>
        <p:spPr>
          <a:xfrm flipV="1">
            <a:off x="2453385" y="3045767"/>
            <a:ext cx="4530436" cy="223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a:t>
            </a:fld>
            <a:endParaRPr lang="en-US"/>
          </a:p>
        </p:txBody>
      </p:sp>
      <p:cxnSp>
        <p:nvCxnSpPr>
          <p:cNvPr id="5" name="Straight Connector 4"/>
          <p:cNvCxnSpPr/>
          <p:nvPr/>
        </p:nvCxnSpPr>
        <p:spPr>
          <a:xfrm flipH="1">
            <a:off x="2436813" y="2364433"/>
            <a:ext cx="16572" cy="1864667"/>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2436813" y="2353853"/>
            <a:ext cx="1529280"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966093" y="2420737"/>
            <a:ext cx="0" cy="61668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6871524" y="3888432"/>
            <a:ext cx="0" cy="340668"/>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2425521" y="4229100"/>
            <a:ext cx="4446003"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949521" y="3056470"/>
            <a:ext cx="1613079"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bwMode="auto">
          <a:xfrm>
            <a:off x="2453385" y="2420736"/>
            <a:ext cx="1496136" cy="1770263"/>
          </a:xfrm>
          <a:prstGeom prst="rect">
            <a:avLst/>
          </a:prstGeom>
          <a:pattFill prst="pct5">
            <a:fgClr>
              <a:srgbClr val="7030A0"/>
            </a:fgClr>
            <a:bgClr>
              <a:schemeClr val="bg1"/>
            </a:bgClr>
          </a:pattFill>
          <a:ln w="12700"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cxnSp>
        <p:nvCxnSpPr>
          <p:cNvPr id="66" name="Straight Connector 65"/>
          <p:cNvCxnSpPr/>
          <p:nvPr/>
        </p:nvCxnSpPr>
        <p:spPr>
          <a:xfrm>
            <a:off x="5562600" y="3048000"/>
            <a:ext cx="0" cy="808835"/>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5562600" y="3877852"/>
            <a:ext cx="1308924"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521075" y="3319412"/>
            <a:ext cx="1067152" cy="461665"/>
          </a:xfrm>
          <a:prstGeom prst="rect">
            <a:avLst/>
          </a:prstGeom>
          <a:noFill/>
        </p:spPr>
        <p:txBody>
          <a:bodyPr wrap="none" rtlCol="0">
            <a:spAutoFit/>
          </a:bodyPr>
          <a:lstStyle/>
          <a:p>
            <a:r>
              <a:rPr lang="en-US" b="1" dirty="0">
                <a:solidFill>
                  <a:srgbClr val="7030A0"/>
                </a:solidFill>
              </a:rPr>
              <a:t>Profits</a:t>
            </a:r>
          </a:p>
        </p:txBody>
      </p:sp>
      <p:cxnSp>
        <p:nvCxnSpPr>
          <p:cNvPr id="72" name="Straight Arrow Connector 71"/>
          <p:cNvCxnSpPr/>
          <p:nvPr/>
        </p:nvCxnSpPr>
        <p:spPr>
          <a:xfrm flipV="1">
            <a:off x="1508760" y="2625315"/>
            <a:ext cx="1234440" cy="2653159"/>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436813" y="2362200"/>
            <a:ext cx="1525587" cy="675220"/>
          </a:xfrm>
          <a:prstGeom prst="rect">
            <a:avLst/>
          </a:prstGeom>
          <a:solidFill>
            <a:srgbClr val="7030A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403725" y="5278474"/>
            <a:ext cx="1771767" cy="1323439"/>
          </a:xfrm>
          <a:prstGeom prst="rect">
            <a:avLst/>
          </a:prstGeom>
          <a:noFill/>
        </p:spPr>
        <p:txBody>
          <a:bodyPr wrap="none" rtlCol="0">
            <a:spAutoFit/>
          </a:bodyPr>
          <a:lstStyle/>
          <a:p>
            <a:r>
              <a:rPr lang="en-US" sz="2000" dirty="0">
                <a:solidFill>
                  <a:srgbClr val="7030A0"/>
                </a:solidFill>
              </a:rPr>
              <a:t>Incremental</a:t>
            </a:r>
          </a:p>
          <a:p>
            <a:r>
              <a:rPr lang="en-US" sz="2000" dirty="0">
                <a:solidFill>
                  <a:srgbClr val="7030A0"/>
                </a:solidFill>
              </a:rPr>
              <a:t>Profits</a:t>
            </a:r>
          </a:p>
          <a:p>
            <a:r>
              <a:rPr lang="en-US" sz="2000" dirty="0">
                <a:solidFill>
                  <a:srgbClr val="7030A0"/>
                </a:solidFill>
              </a:rPr>
              <a:t>From Targeting</a:t>
            </a:r>
          </a:p>
          <a:p>
            <a:r>
              <a:rPr lang="en-US" sz="2000" dirty="0">
                <a:solidFill>
                  <a:srgbClr val="7030A0"/>
                </a:solidFill>
              </a:rPr>
              <a:t>(</a:t>
            </a:r>
            <a:r>
              <a:rPr lang="en-US" sz="2000" b="1" dirty="0">
                <a:solidFill>
                  <a:srgbClr val="FF0000"/>
                </a:solidFill>
                <a:effectLst>
                  <a:outerShdw blurRad="38100" dist="38100" dir="2700000" algn="tl">
                    <a:srgbClr val="000000">
                      <a:alpha val="43137"/>
                    </a:srgbClr>
                  </a:outerShdw>
                </a:effectLst>
              </a:rPr>
              <a:t>Growth</a:t>
            </a:r>
            <a:r>
              <a:rPr lang="en-US" sz="2000" dirty="0">
                <a:solidFill>
                  <a:srgbClr val="7030A0"/>
                </a:solidFill>
              </a:rPr>
              <a:t>!!!)</a:t>
            </a:r>
          </a:p>
        </p:txBody>
      </p:sp>
      <p:sp>
        <p:nvSpPr>
          <p:cNvPr id="75" name="Rectangle 74"/>
          <p:cNvSpPr/>
          <p:nvPr/>
        </p:nvSpPr>
        <p:spPr>
          <a:xfrm>
            <a:off x="5562600" y="3891491"/>
            <a:ext cx="1293813" cy="337610"/>
          </a:xfrm>
          <a:prstGeom prst="rect">
            <a:avLst/>
          </a:prstGeom>
          <a:solidFill>
            <a:srgbClr val="7030A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p:cNvCxnSpPr/>
          <p:nvPr/>
        </p:nvCxnSpPr>
        <p:spPr>
          <a:xfrm flipV="1">
            <a:off x="1769738" y="4119265"/>
            <a:ext cx="4326262" cy="1519536"/>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05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6" grpId="0" animBg="1"/>
      <p:bldP spid="29" grpId="0" animBg="1"/>
      <p:bldP spid="47" grpId="0"/>
      <p:bldP spid="48" grpId="0"/>
      <p:bldP spid="49" grpId="0" animBg="1"/>
      <p:bldP spid="22" grpId="0"/>
      <p:bldP spid="73" grpId="0" animBg="1"/>
      <p:bldP spid="74" grpId="0"/>
      <p:bldP spid="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enhanced.jpeg"/>
          <p:cNvPicPr/>
          <p:nvPr/>
        </p:nvPicPr>
        <p:blipFill>
          <a:blip r:embed="rId2"/>
          <a:srcRect l="5431" r="5431"/>
          <a:stretch>
            <a:fillRect/>
          </a:stretch>
        </p:blipFill>
        <p:spPr>
          <a:xfrm>
            <a:off x="-7074" y="0"/>
            <a:ext cx="9158146" cy="6858000"/>
          </a:xfrm>
          <a:prstGeom prst="rect">
            <a:avLst/>
          </a:prstGeom>
          <a:ln w="12700">
            <a:miter lim="400000"/>
          </a:ln>
        </p:spPr>
      </p:pic>
      <p:sp>
        <p:nvSpPr>
          <p:cNvPr id="6" name="Shape 25"/>
          <p:cNvSpPr/>
          <p:nvPr/>
        </p:nvSpPr>
        <p:spPr>
          <a:xfrm>
            <a:off x="-7145" y="5245101"/>
            <a:ext cx="9158293" cy="629744"/>
          </a:xfrm>
          <a:prstGeom prst="rect">
            <a:avLst/>
          </a:prstGeom>
          <a:solidFill>
            <a:srgbClr val="83B10A">
              <a:alpha val="90000"/>
            </a:srgbClr>
          </a:solidFill>
          <a:ln w="12700">
            <a:miter lim="400000"/>
          </a:ln>
        </p:spPr>
        <p:txBody>
          <a:bodyPr lIns="0" tIns="0" rIns="0" bIns="0" anchor="ctr"/>
          <a:lstStyle/>
          <a:p>
            <a:pPr lvl="0" algn="ctr">
              <a:lnSpc>
                <a:spcPct val="100000"/>
              </a:lnSpc>
              <a:defRPr sz="2400">
                <a:solidFill>
                  <a:srgbClr val="83B10A"/>
                </a:solidFill>
                <a:latin typeface="Arial"/>
                <a:ea typeface="Arial"/>
                <a:cs typeface="Arial"/>
                <a:sym typeface="Arial"/>
              </a:defRPr>
            </a:pPr>
            <a:endParaRPr/>
          </a:p>
        </p:txBody>
      </p:sp>
      <p:pic>
        <p:nvPicPr>
          <p:cNvPr id="7" name="image2.png"/>
          <p:cNvPicPr/>
          <p:nvPr/>
        </p:nvPicPr>
        <p:blipFill>
          <a:blip r:embed="rId3"/>
          <a:stretch>
            <a:fillRect/>
          </a:stretch>
        </p:blipFill>
        <p:spPr>
          <a:xfrm>
            <a:off x="241299" y="5387688"/>
            <a:ext cx="2348352" cy="325582"/>
          </a:xfrm>
          <a:prstGeom prst="rect">
            <a:avLst/>
          </a:prstGeom>
          <a:ln w="12700">
            <a:miter lim="400000"/>
          </a:ln>
        </p:spPr>
      </p:pic>
      <p:sp>
        <p:nvSpPr>
          <p:cNvPr id="2" name="Title 1"/>
          <p:cNvSpPr>
            <a:spLocks noGrp="1"/>
          </p:cNvSpPr>
          <p:nvPr>
            <p:ph type="title"/>
          </p:nvPr>
        </p:nvSpPr>
        <p:spPr/>
        <p:txBody>
          <a:bodyPr>
            <a:normAutofit fontScale="90000"/>
          </a:bodyPr>
          <a:lstStyle/>
          <a:p>
            <a:r>
              <a:rPr lang="en-US" dirty="0">
                <a:solidFill>
                  <a:schemeClr val="bg1"/>
                </a:solidFill>
              </a:rPr>
              <a:t>Scalable online price targeting</a:t>
            </a:r>
            <a:br>
              <a:rPr lang="en-US" dirty="0">
                <a:solidFill>
                  <a:schemeClr val="bg1"/>
                </a:solidFill>
              </a:rPr>
            </a:br>
            <a:r>
              <a:rPr lang="en-US" sz="3600" dirty="0">
                <a:solidFill>
                  <a:schemeClr val="bg1"/>
                </a:solidFill>
              </a:rPr>
              <a:t>Example: Ziprecruiter.com</a:t>
            </a:r>
            <a:endParaRPr lang="en-US" dirty="0">
              <a:solidFill>
                <a:schemeClr val="bg1"/>
              </a:solidFill>
            </a:endParaRPr>
          </a:p>
        </p:txBody>
      </p:sp>
      <p:sp>
        <p:nvSpPr>
          <p:cNvPr id="3" name="Content Placeholder 2"/>
          <p:cNvSpPr>
            <a:spLocks noGrp="1"/>
          </p:cNvSpPr>
          <p:nvPr>
            <p:ph sz="quarter" idx="1"/>
          </p:nvPr>
        </p:nvSpPr>
        <p:spPr/>
        <p:txBody>
          <a:bodyPr/>
          <a:lstStyle/>
          <a:p>
            <a:pPr>
              <a:spcBef>
                <a:spcPts val="1200"/>
              </a:spcBef>
              <a:spcAft>
                <a:spcPts val="600"/>
              </a:spcAft>
            </a:pPr>
            <a:r>
              <a:rPr lang="en-US" dirty="0">
                <a:solidFill>
                  <a:schemeClr val="bg1"/>
                </a:solidFill>
              </a:rPr>
              <a:t>Recall our online recruiting B2B pricing experiment</a:t>
            </a:r>
          </a:p>
          <a:p>
            <a:pPr>
              <a:spcBef>
                <a:spcPts val="1200"/>
              </a:spcBef>
              <a:spcAft>
                <a:spcPts val="600"/>
              </a:spcAft>
            </a:pPr>
            <a:r>
              <a:rPr lang="en-US" dirty="0">
                <a:solidFill>
                  <a:schemeClr val="bg1"/>
                </a:solidFill>
              </a:rPr>
              <a:t>Originally charging $99 per month</a:t>
            </a:r>
          </a:p>
          <a:p>
            <a:pPr>
              <a:spcBef>
                <a:spcPts val="1200"/>
              </a:spcBef>
              <a:spcAft>
                <a:spcPts val="600"/>
              </a:spcAft>
            </a:pPr>
            <a:r>
              <a:rPr lang="en-US" dirty="0">
                <a:solidFill>
                  <a:schemeClr val="bg1"/>
                </a:solidFill>
              </a:rPr>
              <a:t>In August 2015, we tested 10 price levels in an experiment</a:t>
            </a:r>
          </a:p>
          <a:p>
            <a:pPr>
              <a:spcBef>
                <a:spcPts val="1200"/>
              </a:spcBef>
              <a:spcAft>
                <a:spcPts val="600"/>
              </a:spcAft>
            </a:pPr>
            <a:r>
              <a:rPr lang="en-US" dirty="0">
                <a:solidFill>
                  <a:schemeClr val="bg1"/>
                </a:solidFill>
              </a:rPr>
              <a:t>We determined that $249 would be much more profitable</a:t>
            </a:r>
          </a:p>
          <a:p>
            <a:pPr>
              <a:spcBef>
                <a:spcPts val="1200"/>
              </a:spcBef>
              <a:spcAft>
                <a:spcPts val="600"/>
              </a:spcAft>
            </a:pPr>
            <a:r>
              <a:rPr lang="en-US" sz="3600" dirty="0">
                <a:solidFill>
                  <a:schemeClr val="bg1"/>
                </a:solidFill>
              </a:rPr>
              <a:t>In November 2015, we also tested a </a:t>
            </a:r>
            <a:r>
              <a:rPr lang="en-US" sz="3600" b="1" i="1" dirty="0">
                <a:solidFill>
                  <a:schemeClr val="bg1"/>
                </a:solidFill>
              </a:rPr>
              <a:t>personalized pricing</a:t>
            </a:r>
            <a:r>
              <a:rPr lang="en-US" sz="3600" dirty="0">
                <a:solidFill>
                  <a:schemeClr val="bg1"/>
                </a:solidFill>
              </a:rPr>
              <a:t> strategy using AI</a:t>
            </a:r>
          </a:p>
        </p:txBody>
      </p:sp>
      <p:sp>
        <p:nvSpPr>
          <p:cNvPr id="11" name="Rectangle 10"/>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Rectangle 11"/>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Slide Number Placeholder 22"/>
          <p:cNvSpPr txBox="1">
            <a:spLocks/>
          </p:cNvSpPr>
          <p:nvPr/>
        </p:nvSpPr>
        <p:spPr>
          <a:xfrm>
            <a:off x="0" y="1271588"/>
            <a:ext cx="533400" cy="244475"/>
          </a:xfrm>
          <a:prstGeom prst="rect">
            <a:avLst/>
          </a:prstGeom>
        </p:spPr>
        <p:txBody>
          <a:bodyPr vert="horz" anchor="ctr" anchorCtr="0">
            <a:normAutofit fontScale="85000" lnSpcReduction="20000"/>
          </a:bodyPr>
          <a:lstStyle>
            <a:defPPr>
              <a:defRPr lang="en-US"/>
            </a:defPPr>
            <a:lvl1pPr algn="ctr" rtl="0" eaLnBrk="1" fontAlgn="base" latinLnBrk="0" hangingPunct="1">
              <a:spcBef>
                <a:spcPct val="0"/>
              </a:spcBef>
              <a:spcAft>
                <a:spcPct val="0"/>
              </a:spcAft>
              <a:defRPr kumimoji="0" sz="1400" b="1" kern="1200">
                <a:solidFill>
                  <a:srgbClr val="FFFFFF"/>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fld id="{03344F6F-13B5-4D25-905C-51D49F0CCD0B}" type="slidenum">
              <a:rPr lang="en-US" smtClean="0"/>
              <a:pPr>
                <a:defRPr/>
              </a:pPr>
              <a:t>5</a:t>
            </a:fld>
            <a:endParaRPr lang="en-US" dirty="0"/>
          </a:p>
        </p:txBody>
      </p:sp>
      <p:sp>
        <p:nvSpPr>
          <p:cNvPr id="16" name="TextBox 15"/>
          <p:cNvSpPr txBox="1"/>
          <p:nvPr/>
        </p:nvSpPr>
        <p:spPr>
          <a:xfrm>
            <a:off x="228600" y="6477000"/>
            <a:ext cx="1967205" cy="261610"/>
          </a:xfrm>
          <a:prstGeom prst="rect">
            <a:avLst/>
          </a:prstGeom>
          <a:noFill/>
        </p:spPr>
        <p:txBody>
          <a:bodyPr wrap="none" rtlCol="0">
            <a:spAutoFit/>
          </a:bodyPr>
          <a:lstStyle/>
          <a:p>
            <a:r>
              <a:rPr lang="en-US" sz="1100" dirty="0">
                <a:solidFill>
                  <a:schemeClr val="bg1"/>
                </a:solidFill>
              </a:rPr>
              <a:t>Source:</a:t>
            </a:r>
            <a:r>
              <a:rPr lang="en-US" sz="1100" dirty="0"/>
              <a:t> </a:t>
            </a:r>
            <a:r>
              <a:rPr lang="en-US" sz="1100" dirty="0">
                <a:hlinkClick r:id="rId4"/>
              </a:rPr>
              <a:t>Dubé and Misra (2023)</a:t>
            </a:r>
            <a:endParaRPr lang="en-US" sz="1100" dirty="0"/>
          </a:p>
        </p:txBody>
      </p:sp>
    </p:spTree>
    <p:extLst>
      <p:ext uri="{BB962C8B-B14F-4D97-AF65-F5344CB8AC3E}">
        <p14:creationId xmlns:p14="http://schemas.microsoft.com/office/powerpoint/2010/main" val="4100603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Ziprecruiter</a:t>
            </a:r>
            <a:r>
              <a:rPr lang="en-US" dirty="0"/>
              <a:t> Demand</a:t>
            </a:r>
          </a:p>
        </p:txBody>
      </p:sp>
      <p:pic>
        <p:nvPicPr>
          <p:cNvPr id="5" name="Content Placeholder 4"/>
          <p:cNvPicPr>
            <a:picLocks noGrp="1" noChangeAspect="1"/>
          </p:cNvPicPr>
          <p:nvPr>
            <p:ph sz="quarter" idx="1"/>
          </p:nvPr>
        </p:nvPicPr>
        <p:blipFill>
          <a:blip r:embed="rId2"/>
          <a:stretch>
            <a:fillRect/>
          </a:stretch>
        </p:blipFill>
        <p:spPr>
          <a:xfrm>
            <a:off x="2438225" y="1600200"/>
            <a:ext cx="4502500" cy="4495800"/>
          </a:xfrm>
          <a:prstGeom prst="rect">
            <a:avLst/>
          </a:prstGeom>
        </p:spPr>
      </p:pic>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6</a:t>
            </a:fld>
            <a:endParaRPr lang="en-US"/>
          </a:p>
        </p:txBody>
      </p:sp>
      <p:cxnSp>
        <p:nvCxnSpPr>
          <p:cNvPr id="7" name="Straight Arrow Connector 6"/>
          <p:cNvCxnSpPr/>
          <p:nvPr/>
        </p:nvCxnSpPr>
        <p:spPr>
          <a:xfrm flipH="1">
            <a:off x="3701716" y="2618326"/>
            <a:ext cx="262027" cy="638221"/>
          </a:xfrm>
          <a:prstGeom prst="straightConnector1">
            <a:avLst/>
          </a:prstGeom>
          <a:ln>
            <a:solidFill>
              <a:srgbClr val="D29AF8"/>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427621" y="3133935"/>
            <a:ext cx="96041" cy="603875"/>
          </a:xfrm>
          <a:prstGeom prst="straightConnector1">
            <a:avLst/>
          </a:prstGeom>
          <a:ln>
            <a:solidFill>
              <a:srgbClr val="D29AF8"/>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301103" y="3199201"/>
            <a:ext cx="68992" cy="1007841"/>
          </a:xfrm>
          <a:prstGeom prst="straightConnector1">
            <a:avLst/>
          </a:prstGeom>
          <a:ln>
            <a:solidFill>
              <a:srgbClr val="D29AF8"/>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058404" y="3798587"/>
            <a:ext cx="165155" cy="692849"/>
          </a:xfrm>
          <a:prstGeom prst="straightConnector1">
            <a:avLst/>
          </a:prstGeom>
          <a:ln>
            <a:solidFill>
              <a:srgbClr val="D29AF8"/>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6700" y="3199201"/>
            <a:ext cx="2053389" cy="1169551"/>
          </a:xfrm>
          <a:prstGeom prst="rect">
            <a:avLst/>
          </a:prstGeom>
          <a:noFill/>
        </p:spPr>
        <p:txBody>
          <a:bodyPr wrap="square" rtlCol="0">
            <a:spAutoFit/>
          </a:bodyPr>
          <a:lstStyle/>
          <a:p>
            <a:pPr algn="ctr"/>
            <a:r>
              <a:rPr lang="en-US" sz="1400" dirty="0">
                <a:solidFill>
                  <a:srgbClr val="D29AF8"/>
                </a:solidFill>
              </a:rPr>
              <a:t>Are there </a:t>
            </a:r>
            <a:r>
              <a:rPr lang="en-US" sz="1400" i="1" dirty="0">
                <a:solidFill>
                  <a:srgbClr val="D29AF8"/>
                </a:solidFill>
              </a:rPr>
              <a:t>feature </a:t>
            </a:r>
            <a:r>
              <a:rPr lang="en-US" sz="1400" dirty="0">
                <a:solidFill>
                  <a:srgbClr val="D29AF8"/>
                </a:solidFill>
              </a:rPr>
              <a:t>variables, </a:t>
            </a:r>
            <a:r>
              <a:rPr lang="en-US" sz="1400" b="1" dirty="0">
                <a:solidFill>
                  <a:srgbClr val="D29AF8"/>
                </a:solidFill>
              </a:rPr>
              <a:t>X</a:t>
            </a:r>
            <a:r>
              <a:rPr lang="en-US" sz="1400" dirty="0">
                <a:solidFill>
                  <a:srgbClr val="D29AF8"/>
                </a:solidFill>
              </a:rPr>
              <a:t>, that predict an individual customer’s demand </a:t>
            </a:r>
            <a:r>
              <a:rPr lang="en-US" sz="1400" u="sng" dirty="0">
                <a:solidFill>
                  <a:srgbClr val="D29AF8"/>
                </a:solidFill>
              </a:rPr>
              <a:t>before she hits the paywall</a:t>
            </a:r>
            <a:r>
              <a:rPr lang="en-US" sz="1400" dirty="0">
                <a:solidFill>
                  <a:srgbClr val="D29AF8"/>
                </a:solidFill>
              </a:rPr>
              <a:t>?</a:t>
            </a:r>
          </a:p>
        </p:txBody>
      </p:sp>
      <mc:AlternateContent xmlns:mc="http://schemas.openxmlformats.org/markup-compatibility/2006" xmlns:a14="http://schemas.microsoft.com/office/drawing/2010/main">
        <mc:Choice Requires="a14">
          <p:sp>
            <p:nvSpPr>
              <p:cNvPr id="13" name="TextBox 12"/>
              <p:cNvSpPr txBox="1"/>
              <p:nvPr/>
            </p:nvSpPr>
            <p:spPr>
              <a:xfrm>
                <a:off x="3543684" y="2364551"/>
                <a:ext cx="920508" cy="261610"/>
              </a:xfrm>
              <a:prstGeom prst="rect">
                <a:avLst/>
              </a:prstGeom>
              <a:noFill/>
            </p:spPr>
            <p:txBody>
              <a:bodyPr wrap="none" rtlCol="0">
                <a:spAutoFit/>
              </a:bodyPr>
              <a:lstStyle/>
              <a:p>
                <a:r>
                  <a:rPr lang="en-US" sz="1050" dirty="0">
                    <a:solidFill>
                      <a:srgbClr val="CC66FF"/>
                    </a:solidFill>
                  </a:rPr>
                  <a:t>Customer </a:t>
                </a:r>
                <a14:m>
                  <m:oMath xmlns:m="http://schemas.openxmlformats.org/officeDocument/2006/math">
                    <m:sSub>
                      <m:sSubPr>
                        <m:ctrlPr>
                          <a:rPr lang="en-US" sz="1050" b="0" i="1" smtClean="0">
                            <a:solidFill>
                              <a:srgbClr val="CC66FF"/>
                            </a:solidFill>
                            <a:latin typeface="Cambria Math" panose="02040503050406030204" pitchFamily="18" charset="0"/>
                          </a:rPr>
                        </m:ctrlPr>
                      </m:sSubPr>
                      <m:e>
                        <m:r>
                          <a:rPr lang="en-US" sz="1050" b="1" i="0" smtClean="0">
                            <a:solidFill>
                              <a:srgbClr val="CC66FF"/>
                            </a:solidFill>
                            <a:latin typeface="Cambria Math" panose="02040503050406030204" pitchFamily="18" charset="0"/>
                          </a:rPr>
                          <m:t>𝐗</m:t>
                        </m:r>
                      </m:e>
                      <m:sub>
                        <m:r>
                          <a:rPr lang="en-US" sz="1050" b="0" i="1" smtClean="0">
                            <a:solidFill>
                              <a:srgbClr val="CC66FF"/>
                            </a:solidFill>
                            <a:latin typeface="Cambria Math" panose="02040503050406030204" pitchFamily="18" charset="0"/>
                          </a:rPr>
                          <m:t>𝐴</m:t>
                        </m:r>
                      </m:sub>
                    </m:sSub>
                  </m:oMath>
                </a14:m>
                <a:endParaRPr lang="en-US" sz="1050" dirty="0">
                  <a:solidFill>
                    <a:srgbClr val="CC66FF"/>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3543684" y="2364551"/>
                <a:ext cx="920508" cy="261610"/>
              </a:xfrm>
              <a:prstGeom prst="rect">
                <a:avLst/>
              </a:prstGeom>
              <a:blipFill>
                <a:blip r:embed="rId3"/>
                <a:stretch>
                  <a:fillRect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021004" y="2937436"/>
                <a:ext cx="920508" cy="261610"/>
              </a:xfrm>
              <a:prstGeom prst="rect">
                <a:avLst/>
              </a:prstGeom>
              <a:noFill/>
            </p:spPr>
            <p:txBody>
              <a:bodyPr wrap="none" rtlCol="0">
                <a:spAutoFit/>
              </a:bodyPr>
              <a:lstStyle/>
              <a:p>
                <a:r>
                  <a:rPr lang="en-US" sz="1050" dirty="0">
                    <a:solidFill>
                      <a:srgbClr val="CC66FF"/>
                    </a:solidFill>
                  </a:rPr>
                  <a:t>Customer </a:t>
                </a:r>
                <a14:m>
                  <m:oMath xmlns:m="http://schemas.openxmlformats.org/officeDocument/2006/math">
                    <m:sSub>
                      <m:sSubPr>
                        <m:ctrlPr>
                          <a:rPr lang="en-US" sz="1050" b="0" i="1" smtClean="0">
                            <a:solidFill>
                              <a:srgbClr val="CC66FF"/>
                            </a:solidFill>
                            <a:latin typeface="Cambria Math" panose="02040503050406030204" pitchFamily="18" charset="0"/>
                          </a:rPr>
                        </m:ctrlPr>
                      </m:sSubPr>
                      <m:e>
                        <m:r>
                          <a:rPr lang="en-US" sz="1050" b="1" i="0" smtClean="0">
                            <a:solidFill>
                              <a:srgbClr val="CC66FF"/>
                            </a:solidFill>
                            <a:latin typeface="Cambria Math" panose="02040503050406030204" pitchFamily="18" charset="0"/>
                          </a:rPr>
                          <m:t>𝐗</m:t>
                        </m:r>
                      </m:e>
                      <m:sub>
                        <m:r>
                          <a:rPr lang="en-US" sz="1050" b="0" i="1" smtClean="0">
                            <a:solidFill>
                              <a:srgbClr val="CC66FF"/>
                            </a:solidFill>
                            <a:latin typeface="Cambria Math" panose="02040503050406030204" pitchFamily="18" charset="0"/>
                          </a:rPr>
                          <m:t>𝐵</m:t>
                        </m:r>
                      </m:sub>
                    </m:sSub>
                  </m:oMath>
                </a14:m>
                <a:endParaRPr lang="en-US" sz="1050" dirty="0">
                  <a:solidFill>
                    <a:srgbClr val="CC66FF"/>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4021004" y="2937436"/>
                <a:ext cx="920508" cy="261610"/>
              </a:xfrm>
              <a:prstGeom prst="rect">
                <a:avLst/>
              </a:prstGeom>
              <a:blipFill>
                <a:blip r:embed="rId4"/>
                <a:stretch>
                  <a:fillRect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930279" y="3003130"/>
                <a:ext cx="920508" cy="261610"/>
              </a:xfrm>
              <a:prstGeom prst="rect">
                <a:avLst/>
              </a:prstGeom>
              <a:noFill/>
            </p:spPr>
            <p:txBody>
              <a:bodyPr wrap="none" rtlCol="0">
                <a:spAutoFit/>
              </a:bodyPr>
              <a:lstStyle/>
              <a:p>
                <a:r>
                  <a:rPr lang="en-US" sz="1050" dirty="0">
                    <a:solidFill>
                      <a:srgbClr val="CC66FF"/>
                    </a:solidFill>
                  </a:rPr>
                  <a:t>Customer </a:t>
                </a:r>
                <a14:m>
                  <m:oMath xmlns:m="http://schemas.openxmlformats.org/officeDocument/2006/math">
                    <m:sSub>
                      <m:sSubPr>
                        <m:ctrlPr>
                          <a:rPr lang="en-US" sz="1050" b="0" i="1" smtClean="0">
                            <a:solidFill>
                              <a:srgbClr val="CC66FF"/>
                            </a:solidFill>
                            <a:latin typeface="Cambria Math" panose="02040503050406030204" pitchFamily="18" charset="0"/>
                          </a:rPr>
                        </m:ctrlPr>
                      </m:sSubPr>
                      <m:e>
                        <m:r>
                          <a:rPr lang="en-US" sz="1050" b="1" i="0" smtClean="0">
                            <a:solidFill>
                              <a:srgbClr val="CC66FF"/>
                            </a:solidFill>
                            <a:latin typeface="Cambria Math" panose="02040503050406030204" pitchFamily="18" charset="0"/>
                          </a:rPr>
                          <m:t>𝐗</m:t>
                        </m:r>
                      </m:e>
                      <m:sub>
                        <m:r>
                          <a:rPr lang="en-US" sz="1050" b="0" i="1" smtClean="0">
                            <a:solidFill>
                              <a:srgbClr val="CC66FF"/>
                            </a:solidFill>
                            <a:latin typeface="Cambria Math" panose="02040503050406030204" pitchFamily="18" charset="0"/>
                          </a:rPr>
                          <m:t>𝐶</m:t>
                        </m:r>
                      </m:sub>
                    </m:sSub>
                  </m:oMath>
                </a14:m>
                <a:endParaRPr lang="en-US" sz="1050" dirty="0">
                  <a:solidFill>
                    <a:srgbClr val="CC66FF"/>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4930279" y="3003130"/>
                <a:ext cx="920508" cy="261610"/>
              </a:xfrm>
              <a:prstGeom prst="rect">
                <a:avLst/>
              </a:prstGeom>
              <a:blipFill>
                <a:blip r:embed="rId5"/>
                <a:stretch>
                  <a:fillRect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636080" y="3572316"/>
                <a:ext cx="920508" cy="261610"/>
              </a:xfrm>
              <a:prstGeom prst="rect">
                <a:avLst/>
              </a:prstGeom>
              <a:noFill/>
            </p:spPr>
            <p:txBody>
              <a:bodyPr wrap="none" rtlCol="0">
                <a:spAutoFit/>
              </a:bodyPr>
              <a:lstStyle/>
              <a:p>
                <a:r>
                  <a:rPr lang="en-US" sz="1050" dirty="0">
                    <a:solidFill>
                      <a:srgbClr val="CC66FF"/>
                    </a:solidFill>
                  </a:rPr>
                  <a:t>Customer </a:t>
                </a:r>
                <a14:m>
                  <m:oMath xmlns:m="http://schemas.openxmlformats.org/officeDocument/2006/math">
                    <m:sSub>
                      <m:sSubPr>
                        <m:ctrlPr>
                          <a:rPr lang="en-US" sz="1050" b="0" i="1" smtClean="0">
                            <a:solidFill>
                              <a:srgbClr val="CC66FF"/>
                            </a:solidFill>
                            <a:latin typeface="Cambria Math" panose="02040503050406030204" pitchFamily="18" charset="0"/>
                          </a:rPr>
                        </m:ctrlPr>
                      </m:sSubPr>
                      <m:e>
                        <m:r>
                          <a:rPr lang="en-US" sz="1050" b="1" i="0" smtClean="0">
                            <a:solidFill>
                              <a:srgbClr val="CC66FF"/>
                            </a:solidFill>
                            <a:latin typeface="Cambria Math" panose="02040503050406030204" pitchFamily="18" charset="0"/>
                          </a:rPr>
                          <m:t>𝐗</m:t>
                        </m:r>
                      </m:e>
                      <m:sub>
                        <m:r>
                          <a:rPr lang="en-US" sz="1050" b="0" i="1" smtClean="0">
                            <a:solidFill>
                              <a:srgbClr val="CC66FF"/>
                            </a:solidFill>
                            <a:latin typeface="Cambria Math" panose="02040503050406030204" pitchFamily="18" charset="0"/>
                          </a:rPr>
                          <m:t>𝐷</m:t>
                        </m:r>
                      </m:sub>
                    </m:sSub>
                  </m:oMath>
                </a14:m>
                <a:endParaRPr lang="en-US" sz="1050" dirty="0">
                  <a:solidFill>
                    <a:srgbClr val="CC66FF"/>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5636080" y="3572316"/>
                <a:ext cx="920508" cy="261610"/>
              </a:xfrm>
              <a:prstGeom prst="rect">
                <a:avLst/>
              </a:prstGeom>
              <a:blipFill>
                <a:blip r:embed="rId6"/>
                <a:stretch>
                  <a:fillRect b="-9302"/>
                </a:stretch>
              </a:blipFill>
            </p:spPr>
            <p:txBody>
              <a:bodyPr/>
              <a:lstStyle/>
              <a:p>
                <a:r>
                  <a:rPr lang="en-US">
                    <a:noFill/>
                  </a:rPr>
                  <a:t> </a:t>
                </a:r>
              </a:p>
            </p:txBody>
          </p:sp>
        </mc:Fallback>
      </mc:AlternateContent>
    </p:spTree>
    <p:extLst>
      <p:ext uri="{BB962C8B-B14F-4D97-AF65-F5344CB8AC3E}">
        <p14:creationId xmlns:p14="http://schemas.microsoft.com/office/powerpoint/2010/main" val="36736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3" grpId="0"/>
      <p:bldP spid="16" grpId="0"/>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Monetizing Customer Data</a:t>
            </a:r>
          </a:p>
        </p:txBody>
      </p:sp>
      <p:sp>
        <p:nvSpPr>
          <p:cNvPr id="3" name="Content Placeholder 2"/>
          <p:cNvSpPr>
            <a:spLocks noGrp="1"/>
          </p:cNvSpPr>
          <p:nvPr>
            <p:ph sz="quarter" idx="1"/>
          </p:nvPr>
        </p:nvSpPr>
        <p:spPr/>
        <p:txBody>
          <a:bodyPr/>
          <a:lstStyle/>
          <a:p>
            <a:pPr marL="0" indent="0" algn="ctr">
              <a:buNone/>
            </a:pPr>
            <a:r>
              <a:rPr lang="en-US" dirty="0"/>
              <a:t>Customer data </a:t>
            </a:r>
            <a:r>
              <a:rPr lang="en-US" dirty="0" err="1"/>
              <a:t>Ziprecruiter</a:t>
            </a:r>
            <a:r>
              <a:rPr lang="en-US" dirty="0"/>
              <a:t> observes at registration stage</a:t>
            </a:r>
          </a:p>
        </p:txBody>
      </p:sp>
      <p:sp>
        <p:nvSpPr>
          <p:cNvPr id="4" name="Slide Number Placeholder 3"/>
          <p:cNvSpPr>
            <a:spLocks noGrp="1"/>
          </p:cNvSpPr>
          <p:nvPr>
            <p:ph type="sldNum" sz="quarter" idx="4294967295"/>
          </p:nvPr>
        </p:nvSpPr>
        <p:spPr/>
        <p:txBody>
          <a:bodyPr>
            <a:normAutofit fontScale="85000" lnSpcReduction="20000"/>
          </a:bodyPr>
          <a:lstStyle/>
          <a:p>
            <a:pPr>
              <a:defRPr/>
            </a:pPr>
            <a:fld id="{03344F6F-13B5-4D25-905C-51D49F0CCD0B}" type="slidenum">
              <a:rPr lang="en-US" smtClean="0"/>
              <a:pPr>
                <a:defRPr/>
              </a:pPr>
              <a:t>7</a:t>
            </a:fld>
            <a:endParaRPr lang="en-US" dirty="0"/>
          </a:p>
        </p:txBody>
      </p:sp>
      <p:graphicFrame>
        <p:nvGraphicFramePr>
          <p:cNvPr id="6" name="Table 5"/>
          <p:cNvGraphicFramePr>
            <a:graphicFrameLocks noGrp="1"/>
          </p:cNvGraphicFramePr>
          <p:nvPr/>
        </p:nvGraphicFramePr>
        <p:xfrm>
          <a:off x="2438400" y="2133600"/>
          <a:ext cx="3200400" cy="3688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tblGrid>
              <a:tr h="328259">
                <a:tc>
                  <a:txBody>
                    <a:bodyPr/>
                    <a:lstStyle/>
                    <a:p>
                      <a:pPr algn="ctr"/>
                      <a:r>
                        <a:rPr lang="en-US" sz="1600" dirty="0"/>
                        <a:t>Company/Job</a:t>
                      </a:r>
                      <a:r>
                        <a:rPr lang="en-US" sz="1600" baseline="0" dirty="0"/>
                        <a:t> </a:t>
                      </a:r>
                      <a:r>
                        <a:rPr lang="en-US" sz="1600" dirty="0"/>
                        <a:t>Variable Names</a:t>
                      </a:r>
                    </a:p>
                  </a:txBody>
                  <a:tcPr/>
                </a:tc>
                <a:extLst>
                  <a:ext uri="{0D108BD9-81ED-4DB2-BD59-A6C34878D82A}">
                    <a16:rowId xmlns:a16="http://schemas.microsoft.com/office/drawing/2014/main" val="10000"/>
                  </a:ext>
                </a:extLst>
              </a:tr>
              <a:tr h="298418">
                <a:tc>
                  <a:txBody>
                    <a:bodyPr/>
                    <a:lstStyle/>
                    <a:p>
                      <a:pPr algn="ctr"/>
                      <a:r>
                        <a:rPr lang="en-US" sz="1400" dirty="0"/>
                        <a:t>Job state</a:t>
                      </a:r>
                    </a:p>
                  </a:txBody>
                  <a:tcPr/>
                </a:tc>
                <a:extLst>
                  <a:ext uri="{0D108BD9-81ED-4DB2-BD59-A6C34878D82A}">
                    <a16:rowId xmlns:a16="http://schemas.microsoft.com/office/drawing/2014/main" val="10001"/>
                  </a:ext>
                </a:extLst>
              </a:tr>
              <a:tr h="298418">
                <a:tc>
                  <a:txBody>
                    <a:bodyPr/>
                    <a:lstStyle/>
                    <a:p>
                      <a:pPr algn="ctr"/>
                      <a:r>
                        <a:rPr lang="en-US" sz="1400" dirty="0"/>
                        <a:t>Company type</a:t>
                      </a:r>
                    </a:p>
                  </a:txBody>
                  <a:tcPr/>
                </a:tc>
                <a:extLst>
                  <a:ext uri="{0D108BD9-81ED-4DB2-BD59-A6C34878D82A}">
                    <a16:rowId xmlns:a16="http://schemas.microsoft.com/office/drawing/2014/main" val="10002"/>
                  </a:ext>
                </a:extLst>
              </a:tr>
              <a:tr h="298418">
                <a:tc>
                  <a:txBody>
                    <a:bodyPr/>
                    <a:lstStyle/>
                    <a:p>
                      <a:pPr algn="ctr"/>
                      <a:r>
                        <a:rPr lang="en-US" sz="1400" dirty="0"/>
                        <a:t>Has</a:t>
                      </a:r>
                      <a:r>
                        <a:rPr lang="en-US" sz="1400" baseline="0" dirty="0"/>
                        <a:t> commissions</a:t>
                      </a:r>
                      <a:endParaRPr lang="en-US" sz="1400" dirty="0"/>
                    </a:p>
                  </a:txBody>
                  <a:tcPr/>
                </a:tc>
                <a:extLst>
                  <a:ext uri="{0D108BD9-81ED-4DB2-BD59-A6C34878D82A}">
                    <a16:rowId xmlns:a16="http://schemas.microsoft.com/office/drawing/2014/main" val="10003"/>
                  </a:ext>
                </a:extLst>
              </a:tr>
              <a:tr h="298418">
                <a:tc>
                  <a:txBody>
                    <a:bodyPr/>
                    <a:lstStyle/>
                    <a:p>
                      <a:pPr algn="ctr"/>
                      <a:r>
                        <a:rPr lang="en-US" sz="1400" dirty="0"/>
                        <a:t>Company declared job slots</a:t>
                      </a:r>
                      <a:r>
                        <a:rPr lang="en-US" sz="1400" baseline="0" dirty="0"/>
                        <a:t> needed</a:t>
                      </a:r>
                      <a:endParaRPr lang="en-US" sz="1400" dirty="0"/>
                    </a:p>
                  </a:txBody>
                  <a:tcPr/>
                </a:tc>
                <a:extLst>
                  <a:ext uri="{0D108BD9-81ED-4DB2-BD59-A6C34878D82A}">
                    <a16:rowId xmlns:a16="http://schemas.microsoft.com/office/drawing/2014/main" val="10004"/>
                  </a:ext>
                </a:extLst>
              </a:tr>
              <a:tr h="298418">
                <a:tc>
                  <a:txBody>
                    <a:bodyPr/>
                    <a:lstStyle/>
                    <a:p>
                      <a:pPr algn="ctr"/>
                      <a:r>
                        <a:rPr lang="en-US" sz="1400" dirty="0"/>
                        <a:t>Job total benefits</a:t>
                      </a:r>
                    </a:p>
                  </a:txBody>
                  <a:tcPr/>
                </a:tc>
                <a:extLst>
                  <a:ext uri="{0D108BD9-81ED-4DB2-BD59-A6C34878D82A}">
                    <a16:rowId xmlns:a16="http://schemas.microsoft.com/office/drawing/2014/main" val="10005"/>
                  </a:ext>
                </a:extLst>
              </a:tr>
              <a:tr h="298418">
                <a:tc>
                  <a:txBody>
                    <a:bodyPr/>
                    <a:lstStyle/>
                    <a:p>
                      <a:pPr algn="ctr"/>
                      <a:r>
                        <a:rPr lang="en-US" sz="1400" dirty="0"/>
                        <a:t>Employment type</a:t>
                      </a:r>
                    </a:p>
                  </a:txBody>
                  <a:tcPr/>
                </a:tc>
                <a:extLst>
                  <a:ext uri="{0D108BD9-81ED-4DB2-BD59-A6C34878D82A}">
                    <a16:rowId xmlns:a16="http://schemas.microsoft.com/office/drawing/2014/main" val="10006"/>
                  </a:ext>
                </a:extLst>
              </a:tr>
              <a:tr h="298418">
                <a:tc>
                  <a:txBody>
                    <a:bodyPr/>
                    <a:lstStyle/>
                    <a:p>
                      <a:pPr algn="ctr"/>
                      <a:r>
                        <a:rPr lang="en-US" sz="1400" dirty="0"/>
                        <a:t>Resume required</a:t>
                      </a:r>
                    </a:p>
                  </a:txBody>
                  <a:tcPr/>
                </a:tc>
                <a:extLst>
                  <a:ext uri="{0D108BD9-81ED-4DB2-BD59-A6C34878D82A}">
                    <a16:rowId xmlns:a16="http://schemas.microsoft.com/office/drawing/2014/main" val="10007"/>
                  </a:ext>
                </a:extLst>
              </a:tr>
              <a:tr h="298418">
                <a:tc>
                  <a:txBody>
                    <a:bodyPr/>
                    <a:lstStyle/>
                    <a:p>
                      <a:pPr algn="ctr"/>
                      <a:r>
                        <a:rPr lang="en-US" sz="1400" dirty="0"/>
                        <a:t>Job medical benefit</a:t>
                      </a:r>
                    </a:p>
                  </a:txBody>
                  <a:tcPr/>
                </a:tc>
                <a:extLst>
                  <a:ext uri="{0D108BD9-81ED-4DB2-BD59-A6C34878D82A}">
                    <a16:rowId xmlns:a16="http://schemas.microsoft.com/office/drawing/2014/main" val="10008"/>
                  </a:ext>
                </a:extLst>
              </a:tr>
              <a:tr h="298418">
                <a:tc>
                  <a:txBody>
                    <a:bodyPr/>
                    <a:lstStyle/>
                    <a:p>
                      <a:pPr algn="ctr"/>
                      <a:r>
                        <a:rPr lang="en-US" sz="1400" dirty="0"/>
                        <a:t>Job</a:t>
                      </a:r>
                      <a:r>
                        <a:rPr lang="en-US" sz="1400" baseline="0" dirty="0"/>
                        <a:t> vision benefit</a:t>
                      </a:r>
                      <a:endParaRPr lang="en-US" sz="1400" dirty="0"/>
                    </a:p>
                  </a:txBody>
                  <a:tcPr/>
                </a:tc>
                <a:extLst>
                  <a:ext uri="{0D108BD9-81ED-4DB2-BD59-A6C34878D82A}">
                    <a16:rowId xmlns:a16="http://schemas.microsoft.com/office/drawing/2014/main" val="10009"/>
                  </a:ext>
                </a:extLst>
              </a:tr>
              <a:tr h="298418">
                <a:tc>
                  <a:txBody>
                    <a:bodyPr/>
                    <a:lstStyle/>
                    <a:p>
                      <a:pPr algn="ctr"/>
                      <a:r>
                        <a:rPr lang="en-US" sz="1400" dirty="0"/>
                        <a:t>Job life insurance benefit</a:t>
                      </a:r>
                    </a:p>
                  </a:txBody>
                  <a:tcPr/>
                </a:tc>
                <a:extLst>
                  <a:ext uri="{0D108BD9-81ED-4DB2-BD59-A6C34878D82A}">
                    <a16:rowId xmlns:a16="http://schemas.microsoft.com/office/drawing/2014/main" val="10010"/>
                  </a:ext>
                </a:extLst>
              </a:tr>
              <a:tr h="298418">
                <a:tc>
                  <a:txBody>
                    <a:bodyPr/>
                    <a:lstStyle/>
                    <a:p>
                      <a:pPr algn="ctr"/>
                      <a:r>
                        <a:rPr lang="en-US" sz="1400" dirty="0"/>
                        <a:t>Job category</a:t>
                      </a:r>
                    </a:p>
                  </a:txBody>
                  <a:tcPr/>
                </a:tc>
                <a:extLst>
                  <a:ext uri="{0D108BD9-81ED-4DB2-BD59-A6C34878D82A}">
                    <a16:rowId xmlns:a16="http://schemas.microsoft.com/office/drawing/2014/main" val="10011"/>
                  </a:ext>
                </a:extLst>
              </a:tr>
            </a:tbl>
          </a:graphicData>
        </a:graphic>
      </p:graphicFrame>
      <p:sp>
        <p:nvSpPr>
          <p:cNvPr id="7" name="Rectangle 6"/>
          <p:cNvSpPr/>
          <p:nvPr/>
        </p:nvSpPr>
        <p:spPr>
          <a:xfrm>
            <a:off x="914400" y="6124247"/>
            <a:ext cx="6362700" cy="461665"/>
          </a:xfrm>
          <a:prstGeom prst="rect">
            <a:avLst/>
          </a:prstGeom>
        </p:spPr>
        <p:txBody>
          <a:bodyPr wrap="square">
            <a:spAutoFit/>
          </a:bodyPr>
          <a:lstStyle/>
          <a:p>
            <a:pPr marL="0" indent="0" algn="ctr">
              <a:buNone/>
            </a:pPr>
            <a:r>
              <a:rPr lang="en-US" dirty="0"/>
              <a:t>Can </a:t>
            </a:r>
            <a:r>
              <a:rPr lang="en-US" dirty="0" err="1"/>
              <a:t>Ziprecruiter</a:t>
            </a:r>
            <a:r>
              <a:rPr lang="en-US" dirty="0"/>
              <a:t> </a:t>
            </a:r>
            <a:r>
              <a:rPr lang="en-US" dirty="0">
                <a:solidFill>
                  <a:srgbClr val="00B0F0"/>
                </a:solidFill>
                <a:effectLst>
                  <a:outerShdw blurRad="38100" dist="38100" dir="2700000" algn="tl">
                    <a:srgbClr val="000000">
                      <a:alpha val="43137"/>
                    </a:srgbClr>
                  </a:outerShdw>
                </a:effectLst>
              </a:rPr>
              <a:t>monetize</a:t>
            </a:r>
            <a:r>
              <a:rPr lang="en-US" dirty="0"/>
              <a:t> these data?</a:t>
            </a:r>
          </a:p>
        </p:txBody>
      </p:sp>
    </p:spTree>
    <p:extLst>
      <p:ext uri="{BB962C8B-B14F-4D97-AF65-F5344CB8AC3E}">
        <p14:creationId xmlns:p14="http://schemas.microsoft.com/office/powerpoint/2010/main" val="204785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sz="quarter" idx="1"/>
              </p:nvPr>
            </p:nvSpPr>
            <p:spPr/>
            <p:txBody>
              <a:bodyPr>
                <a:normAutofit lnSpcReduction="10000"/>
              </a:bodyPr>
              <a:lstStyle/>
              <a:p>
                <a:pPr>
                  <a:spcBef>
                    <a:spcPts val="0"/>
                  </a:spcBef>
                  <a:spcAft>
                    <a:spcPts val="1200"/>
                  </a:spcAft>
                </a:pPr>
                <a:r>
                  <a:rPr lang="en-US" u="sng" dirty="0"/>
                  <a:t>Thousands</a:t>
                </a:r>
                <a:r>
                  <a:rPr lang="en-US" dirty="0"/>
                  <a:t> of potentially targetable </a:t>
                </a:r>
                <a:r>
                  <a:rPr lang="en-US" i="1" dirty="0"/>
                  <a:t>features</a:t>
                </a:r>
              </a:p>
              <a:p>
                <a:pPr lvl="1">
                  <a:spcBef>
                    <a:spcPts val="0"/>
                  </a:spcBef>
                  <a:spcAft>
                    <a:spcPts val="1200"/>
                  </a:spcAft>
                </a:pPr>
                <a:r>
                  <a:rPr lang="en-US" dirty="0"/>
                  <a:t>As many features as observations!</a:t>
                </a:r>
              </a:p>
              <a:p>
                <a:pPr>
                  <a:spcBef>
                    <a:spcPts val="2400"/>
                  </a:spcBef>
                  <a:spcAft>
                    <a:spcPts val="1200"/>
                  </a:spcAft>
                </a:pPr>
                <a:r>
                  <a:rPr lang="en-US" dirty="0"/>
                  <a:t>Run </a:t>
                </a:r>
                <a:r>
                  <a:rPr lang="en-US" i="1" dirty="0">
                    <a:solidFill>
                      <a:srgbClr val="FF0000"/>
                    </a:solidFill>
                    <a:effectLst>
                      <a:outerShdw blurRad="38100" dist="38100" dir="2700000" algn="tl">
                        <a:srgbClr val="000000">
                          <a:alpha val="43137"/>
                        </a:srgbClr>
                      </a:outerShdw>
                    </a:effectLst>
                  </a:rPr>
                  <a:t>Deep Learning Algorithm</a:t>
                </a:r>
                <a:endParaRPr lang="en-US" dirty="0">
                  <a:solidFill>
                    <a:srgbClr val="FF0000"/>
                  </a:solidFill>
                  <a:effectLst>
                    <a:outerShdw blurRad="38100" dist="38100" dir="2700000" algn="tl">
                      <a:srgbClr val="000000">
                        <a:alpha val="43137"/>
                      </a:srgbClr>
                    </a:outerShdw>
                  </a:effectLst>
                </a:endParaRPr>
              </a:p>
              <a:p>
                <a:pPr lvl="1">
                  <a:spcBef>
                    <a:spcPts val="600"/>
                  </a:spcBef>
                  <a:spcAft>
                    <a:spcPts val="600"/>
                  </a:spcAft>
                </a:pPr>
                <a:r>
                  <a:rPr lang="en-US" dirty="0"/>
                  <a:t>Combine statistics and machine learning</a:t>
                </a:r>
              </a:p>
              <a:p>
                <a:pPr lvl="1">
                  <a:spcBef>
                    <a:spcPts val="600"/>
                  </a:spcBef>
                  <a:spcAft>
                    <a:spcPts val="1200"/>
                  </a:spcAft>
                </a:pPr>
                <a:r>
                  <a:rPr lang="en-US" dirty="0"/>
                  <a:t>Link WTP to features</a:t>
                </a:r>
              </a:p>
              <a:p>
                <a:pPr>
                  <a:spcBef>
                    <a:spcPts val="1200"/>
                  </a:spcBef>
                  <a:spcAft>
                    <a:spcPts val="600"/>
                  </a:spcAft>
                </a:pPr>
                <a:r>
                  <a:rPr lang="en-US" dirty="0"/>
                  <a:t>Can it work?</a:t>
                </a:r>
              </a:p>
              <a:p>
                <a:pPr lvl="1">
                  <a:spcBef>
                    <a:spcPts val="600"/>
                  </a:spcBef>
                  <a:spcAft>
                    <a:spcPts val="1200"/>
                  </a:spcAft>
                </a:pPr>
                <a:r>
                  <a:rPr lang="en-US" dirty="0"/>
                  <a:t>Suppose 30 “relevant” dummy variables:</a:t>
                </a:r>
              </a:p>
              <a:p>
                <a:pPr marL="366713" lvl="1" indent="0" algn="ctr">
                  <a:spcBef>
                    <a:spcPts val="1200"/>
                  </a:spcBef>
                  <a:spcAft>
                    <a:spcPts val="1200"/>
                  </a:spcAft>
                  <a:buNone/>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30</m:t>
                        </m:r>
                      </m:sup>
                    </m:sSup>
                    <m:r>
                      <a:rPr lang="en-US" b="0" i="1" smtClean="0">
                        <a:latin typeface="Cambria Math" panose="02040503050406030204" pitchFamily="18" charset="0"/>
                      </a:rPr>
                      <m:t>=</m:t>
                    </m:r>
                    <m:r>
                      <m:rPr>
                        <m:nor/>
                      </m:rPr>
                      <a:rPr lang="en-US"/>
                      <m:t>1,073,741,824</m:t>
                    </m:r>
                  </m:oMath>
                </a14:m>
                <a:r>
                  <a:rPr lang="en-US" dirty="0"/>
                  <a:t> segments!</a:t>
                </a:r>
              </a:p>
            </p:txBody>
          </p:sp>
        </mc:Choice>
        <mc:Fallback xmlns="">
          <p:sp>
            <p:nvSpPr>
              <p:cNvPr id="2" name="Content Placeholder 1"/>
              <p:cNvSpPr>
                <a:spLocks noGrp="1" noRot="1" noChangeAspect="1" noMove="1" noResize="1" noEditPoints="1" noAdjustHandles="1" noChangeArrowheads="1" noChangeShapeType="1" noTextEdit="1"/>
              </p:cNvSpPr>
              <p:nvPr>
                <p:ph sz="quarter" idx="1"/>
              </p:nvPr>
            </p:nvSpPr>
            <p:spPr>
              <a:blipFill>
                <a:blip r:embed="rId2"/>
                <a:stretch>
                  <a:fillRect l="-150" t="-1900" b="-271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8</a:t>
            </a:fld>
            <a:endParaRPr lang="en-US"/>
          </a:p>
        </p:txBody>
      </p:sp>
      <p:sp>
        <p:nvSpPr>
          <p:cNvPr id="8" name="Title 1"/>
          <p:cNvSpPr>
            <a:spLocks noGrp="1"/>
          </p:cNvSpPr>
          <p:nvPr>
            <p:ph type="title"/>
          </p:nvPr>
        </p:nvSpPr>
        <p:spPr/>
        <p:txBody>
          <a:bodyPr>
            <a:normAutofit fontScale="90000"/>
          </a:bodyPr>
          <a:lstStyle/>
          <a:p>
            <a:r>
              <a:rPr lang="en-US" sz="4400" dirty="0"/>
              <a:t>Scalable </a:t>
            </a:r>
            <a:r>
              <a:rPr lang="en-US" sz="4400" b="1" dirty="0">
                <a:effectLst>
                  <a:outerShdw blurRad="38100" dist="38100" dir="2700000" algn="tl">
                    <a:srgbClr val="000000">
                      <a:alpha val="43137"/>
                    </a:srgbClr>
                  </a:outerShdw>
                </a:effectLst>
              </a:rPr>
              <a:t>Personalized</a:t>
            </a:r>
            <a:r>
              <a:rPr lang="en-US" sz="4400" dirty="0"/>
              <a:t> Pricing</a:t>
            </a:r>
            <a:br>
              <a:rPr lang="en-US" dirty="0"/>
            </a:br>
            <a:r>
              <a:rPr lang="en-US" sz="3600" dirty="0"/>
              <a:t>Targeting as a </a:t>
            </a:r>
            <a:r>
              <a:rPr lang="en-US" sz="3600" b="1" dirty="0">
                <a:solidFill>
                  <a:srgbClr val="FF0000"/>
                </a:solidFill>
              </a:rPr>
              <a:t>Big Data</a:t>
            </a:r>
            <a:r>
              <a:rPr lang="en-US" sz="3600" dirty="0"/>
              <a:t> problem</a:t>
            </a:r>
            <a:endParaRPr lang="en-US" dirty="0"/>
          </a:p>
        </p:txBody>
      </p:sp>
      <p:sp>
        <p:nvSpPr>
          <p:cNvPr id="3" name="Explosion 1 2"/>
          <p:cNvSpPr/>
          <p:nvPr/>
        </p:nvSpPr>
        <p:spPr>
          <a:xfrm rot="19660936">
            <a:off x="19146" y="3099416"/>
            <a:ext cx="1053089" cy="9144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effectLst>
                  <a:outerShdw blurRad="38100" dist="38100" dir="2700000" algn="tl">
                    <a:srgbClr val="000000">
                      <a:alpha val="43137"/>
                    </a:srgbClr>
                  </a:outerShdw>
                </a:effectLst>
              </a:rPr>
              <a:t>A.I.</a:t>
            </a:r>
          </a:p>
        </p:txBody>
      </p:sp>
      <p:sp>
        <p:nvSpPr>
          <p:cNvPr id="9" name="TextBox 8"/>
          <p:cNvSpPr txBox="1"/>
          <p:nvPr/>
        </p:nvSpPr>
        <p:spPr>
          <a:xfrm>
            <a:off x="228600" y="6477000"/>
            <a:ext cx="1967205" cy="261610"/>
          </a:xfrm>
          <a:prstGeom prst="rect">
            <a:avLst/>
          </a:prstGeom>
          <a:noFill/>
        </p:spPr>
        <p:txBody>
          <a:bodyPr wrap="none" rtlCol="0">
            <a:spAutoFit/>
          </a:bodyPr>
          <a:lstStyle/>
          <a:p>
            <a:r>
              <a:rPr lang="en-US" sz="1100" dirty="0"/>
              <a:t>Source: </a:t>
            </a:r>
            <a:r>
              <a:rPr lang="en-US" sz="1100" dirty="0">
                <a:hlinkClick r:id="rId3"/>
              </a:rPr>
              <a:t>Dubé and Misra (2023)</a:t>
            </a:r>
            <a:endParaRPr lang="en-US" sz="1100" dirty="0"/>
          </a:p>
        </p:txBody>
      </p:sp>
      <p:pic>
        <p:nvPicPr>
          <p:cNvPr id="10" name="Picture 9">
            <a:extLst>
              <a:ext uri="{FF2B5EF4-FFF2-40B4-BE49-F238E27FC236}">
                <a16:creationId xmlns:a16="http://schemas.microsoft.com/office/drawing/2014/main" id="{500526F0-DF83-4212-91D1-AD19DACB14B3}"/>
              </a:ext>
            </a:extLst>
          </p:cNvPr>
          <p:cNvPicPr/>
          <p:nvPr/>
        </p:nvPicPr>
        <p:blipFill>
          <a:blip r:embed="rId4"/>
          <a:stretch>
            <a:fillRect/>
          </a:stretch>
        </p:blipFill>
        <p:spPr>
          <a:xfrm>
            <a:off x="6241419" y="2164301"/>
            <a:ext cx="2902581" cy="2784629"/>
          </a:xfrm>
          <a:prstGeom prst="rect">
            <a:avLst/>
          </a:prstGeom>
        </p:spPr>
      </p:pic>
    </p:spTree>
    <p:extLst>
      <p:ext uri="{BB962C8B-B14F-4D97-AF65-F5344CB8AC3E}">
        <p14:creationId xmlns:p14="http://schemas.microsoft.com/office/powerpoint/2010/main" val="285774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9</a:t>
            </a:fld>
            <a:endParaRPr lang="en-US"/>
          </a:p>
        </p:txBody>
      </p:sp>
      <p:sp>
        <p:nvSpPr>
          <p:cNvPr id="6" name="Title 1"/>
          <p:cNvSpPr>
            <a:spLocks noGrp="1"/>
          </p:cNvSpPr>
          <p:nvPr>
            <p:ph type="title"/>
          </p:nvPr>
        </p:nvSpPr>
        <p:spPr>
          <a:xfrm>
            <a:off x="612648" y="228600"/>
            <a:ext cx="8153400" cy="990600"/>
          </a:xfrm>
        </p:spPr>
        <p:txBody>
          <a:bodyPr>
            <a:normAutofit fontScale="90000"/>
          </a:bodyPr>
          <a:lstStyle/>
          <a:p>
            <a:r>
              <a:rPr lang="en-US" sz="4400" dirty="0"/>
              <a:t>Scalable </a:t>
            </a:r>
            <a:r>
              <a:rPr lang="en-US" sz="4400" b="1" dirty="0">
                <a:effectLst>
                  <a:outerShdw blurRad="38100" dist="38100" dir="2700000" algn="tl">
                    <a:srgbClr val="000000">
                      <a:alpha val="43137"/>
                    </a:srgbClr>
                  </a:outerShdw>
                </a:effectLst>
              </a:rPr>
              <a:t>Personalized</a:t>
            </a:r>
            <a:r>
              <a:rPr lang="en-US" sz="4400" dirty="0"/>
              <a:t> Pricing</a:t>
            </a:r>
            <a:br>
              <a:rPr lang="en-US" sz="4400" dirty="0"/>
            </a:br>
            <a:r>
              <a:rPr lang="en-US" sz="2700" dirty="0"/>
              <a:t>Simulated Personalized Prices for August 2015 training sample</a:t>
            </a:r>
            <a:endParaRPr lang="en-US" sz="3100" dirty="0"/>
          </a:p>
        </p:txBody>
      </p:sp>
      <p:pic>
        <p:nvPicPr>
          <p:cNvPr id="6146" name="Picture 2"/>
          <p:cNvPicPr>
            <a:picLocks noGrp="1" noChangeAspect="1" noChangeArrowheads="1"/>
          </p:cNvPicPr>
          <p:nvPr>
            <p:ph sz="quarter" idx="1"/>
          </p:nvPr>
        </p:nvPicPr>
        <p:blipFill rotWithShape="1">
          <a:blip r:embed="rId3">
            <a:extLst>
              <a:ext uri="{28A0092B-C50C-407E-A947-70E740481C1C}">
                <a14:useLocalDpi xmlns:a14="http://schemas.microsoft.com/office/drawing/2010/main" val="0"/>
              </a:ext>
            </a:extLst>
          </a:blip>
          <a:srcRect t="3825"/>
          <a:stretch/>
        </p:blipFill>
        <p:spPr bwMode="auto">
          <a:xfrm>
            <a:off x="2362200" y="1676400"/>
            <a:ext cx="4231079" cy="4804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3581400" y="6248400"/>
            <a:ext cx="533400" cy="3594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705600" y="3048000"/>
            <a:ext cx="2016899" cy="430887"/>
          </a:xfrm>
          <a:prstGeom prst="rect">
            <a:avLst/>
          </a:prstGeom>
          <a:noFill/>
        </p:spPr>
        <p:txBody>
          <a:bodyPr wrap="none" rtlCol="0">
            <a:spAutoFit/>
          </a:bodyPr>
          <a:lstStyle/>
          <a:p>
            <a:r>
              <a:rPr lang="en-US" sz="1100" dirty="0">
                <a:solidFill>
                  <a:srgbClr val="00B050"/>
                </a:solidFill>
              </a:rPr>
              <a:t>Cap at $499 to prevent customer</a:t>
            </a:r>
          </a:p>
          <a:p>
            <a:r>
              <a:rPr lang="en-US" sz="1100" dirty="0">
                <a:solidFill>
                  <a:srgbClr val="00B050"/>
                </a:solidFill>
              </a:rPr>
              <a:t> backlash or “sticker shock”</a:t>
            </a:r>
          </a:p>
        </p:txBody>
      </p:sp>
      <p:cxnSp>
        <p:nvCxnSpPr>
          <p:cNvPr id="11" name="Straight Arrow Connector 10"/>
          <p:cNvCxnSpPr>
            <a:stCxn id="8" idx="2"/>
          </p:cNvCxnSpPr>
          <p:nvPr/>
        </p:nvCxnSpPr>
        <p:spPr>
          <a:xfrm flipH="1">
            <a:off x="6553200" y="3478887"/>
            <a:ext cx="1160850" cy="78831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774490" y="6160480"/>
            <a:ext cx="4025461" cy="338554"/>
          </a:xfrm>
          <a:prstGeom prst="rect">
            <a:avLst/>
          </a:prstGeom>
          <a:solidFill>
            <a:schemeClr val="accent1">
              <a:lumMod val="40000"/>
              <a:lumOff val="60000"/>
            </a:schemeClr>
          </a:solidFill>
        </p:spPr>
        <p:txBody>
          <a:bodyPr wrap="none" rtlCol="0">
            <a:spAutoFit/>
          </a:bodyPr>
          <a:lstStyle/>
          <a:p>
            <a:r>
              <a:rPr lang="en-US" sz="1600" dirty="0"/>
              <a:t>Distribution of Personalized Prices (N= 7,867)</a:t>
            </a:r>
          </a:p>
        </p:txBody>
      </p:sp>
      <p:sp>
        <p:nvSpPr>
          <p:cNvPr id="10" name="TextBox 9"/>
          <p:cNvSpPr txBox="1"/>
          <p:nvPr/>
        </p:nvSpPr>
        <p:spPr>
          <a:xfrm>
            <a:off x="149087" y="3478887"/>
            <a:ext cx="2100791" cy="584775"/>
          </a:xfrm>
          <a:prstGeom prst="rect">
            <a:avLst/>
          </a:prstGeom>
          <a:noFill/>
        </p:spPr>
        <p:txBody>
          <a:bodyPr wrap="square" rtlCol="0">
            <a:spAutoFit/>
          </a:bodyPr>
          <a:lstStyle/>
          <a:p>
            <a:r>
              <a:rPr lang="en-US" sz="1600" dirty="0"/>
              <a:t>apply inverse-elasticity rule for each customer</a:t>
            </a:r>
          </a:p>
        </p:txBody>
      </p:sp>
      <p:sp>
        <p:nvSpPr>
          <p:cNvPr id="12" name="TextBox 11"/>
          <p:cNvSpPr txBox="1"/>
          <p:nvPr/>
        </p:nvSpPr>
        <p:spPr>
          <a:xfrm>
            <a:off x="228600" y="6477000"/>
            <a:ext cx="1967205" cy="261610"/>
          </a:xfrm>
          <a:prstGeom prst="rect">
            <a:avLst/>
          </a:prstGeom>
          <a:noFill/>
        </p:spPr>
        <p:txBody>
          <a:bodyPr wrap="none" rtlCol="0">
            <a:spAutoFit/>
          </a:bodyPr>
          <a:lstStyle/>
          <a:p>
            <a:r>
              <a:rPr lang="en-US" sz="1100" dirty="0"/>
              <a:t>Source: </a:t>
            </a:r>
            <a:r>
              <a:rPr lang="en-US" sz="1100" dirty="0">
                <a:hlinkClick r:id="rId4"/>
              </a:rPr>
              <a:t>Dubé and Misra (2023)</a:t>
            </a:r>
            <a:endParaRPr lang="en-US" sz="1100" dirty="0"/>
          </a:p>
        </p:txBody>
      </p:sp>
    </p:spTree>
    <p:extLst>
      <p:ext uri="{BB962C8B-B14F-4D97-AF65-F5344CB8AC3E}">
        <p14:creationId xmlns:p14="http://schemas.microsoft.com/office/powerpoint/2010/main" val="364867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gre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577" y="1985168"/>
            <a:ext cx="2844800" cy="3429000"/>
          </a:xfrm>
          <a:prstGeom prst="rect">
            <a:avLst/>
          </a:prstGeom>
        </p:spPr>
      </p:pic>
      <p:sp>
        <p:nvSpPr>
          <p:cNvPr id="6" name="Rectangle 5"/>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Slide Number Placeholder 22"/>
          <p:cNvSpPr txBox="1">
            <a:spLocks/>
          </p:cNvSpPr>
          <p:nvPr/>
        </p:nvSpPr>
        <p:spPr>
          <a:xfrm>
            <a:off x="0" y="1271588"/>
            <a:ext cx="533400" cy="244475"/>
          </a:xfrm>
          <a:prstGeom prst="rect">
            <a:avLst/>
          </a:prstGeom>
        </p:spPr>
        <p:txBody>
          <a:bodyPr vert="horz" anchor="ctr" anchorCtr="0">
            <a:normAutofit fontScale="85000" lnSpcReduction="20000"/>
          </a:bodyPr>
          <a:lstStyle>
            <a:defPPr>
              <a:defRPr lang="en-US"/>
            </a:defPPr>
            <a:lvl1pPr algn="ctr" rtl="0" eaLnBrk="1" fontAlgn="base" latinLnBrk="0" hangingPunct="1">
              <a:spcBef>
                <a:spcPct val="0"/>
              </a:spcBef>
              <a:spcAft>
                <a:spcPct val="0"/>
              </a:spcAft>
              <a:defRPr kumimoji="0" sz="1400" b="1" kern="1200">
                <a:solidFill>
                  <a:srgbClr val="FFFFFF"/>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fld id="{03344F6F-13B5-4D25-905C-51D49F0CCD0B}" type="slidenum">
              <a:rPr lang="en-US" smtClean="0"/>
              <a:pPr>
                <a:defRPr/>
              </a:pPr>
              <a:t>10</a:t>
            </a:fld>
            <a:endParaRPr lang="en-US" dirty="0"/>
          </a:p>
        </p:txBody>
      </p:sp>
      <p:sp>
        <p:nvSpPr>
          <p:cNvPr id="9" name="Title 1"/>
          <p:cNvSpPr>
            <a:spLocks noGrp="1"/>
          </p:cNvSpPr>
          <p:nvPr>
            <p:ph type="title"/>
          </p:nvPr>
        </p:nvSpPr>
        <p:spPr>
          <a:xfrm>
            <a:off x="612648" y="228600"/>
            <a:ext cx="8153400" cy="990600"/>
          </a:xfrm>
        </p:spPr>
        <p:txBody>
          <a:bodyPr>
            <a:normAutofit fontScale="90000"/>
          </a:bodyPr>
          <a:lstStyle/>
          <a:p>
            <a:r>
              <a:rPr lang="en-US" sz="4400" dirty="0"/>
              <a:t>Scalable </a:t>
            </a:r>
            <a:r>
              <a:rPr lang="en-US" sz="4400" b="1" dirty="0">
                <a:effectLst>
                  <a:outerShdw blurRad="38100" dist="38100" dir="2700000" algn="tl">
                    <a:srgbClr val="000000">
                      <a:alpha val="43137"/>
                    </a:srgbClr>
                  </a:outerShdw>
                </a:effectLst>
              </a:rPr>
              <a:t>Personalized</a:t>
            </a:r>
            <a:r>
              <a:rPr lang="en-US" sz="4400" dirty="0"/>
              <a:t> Pricing</a:t>
            </a:r>
            <a:br>
              <a:rPr lang="en-US" sz="4400" dirty="0"/>
            </a:br>
            <a:r>
              <a:rPr lang="en-US" sz="3600" dirty="0"/>
              <a:t>Projected Revenues</a:t>
            </a:r>
            <a:endParaRPr lang="en-US" dirty="0"/>
          </a:p>
        </p:txBody>
      </p:sp>
      <p:graphicFrame>
        <p:nvGraphicFramePr>
          <p:cNvPr id="12" name="Table 11"/>
          <p:cNvGraphicFramePr>
            <a:graphicFrameLocks noGrp="1"/>
          </p:cNvGraphicFramePr>
          <p:nvPr/>
        </p:nvGraphicFramePr>
        <p:xfrm>
          <a:off x="4417996" y="2861109"/>
          <a:ext cx="4437246" cy="2194560"/>
        </p:xfrm>
        <a:graphic>
          <a:graphicData uri="http://schemas.openxmlformats.org/drawingml/2006/table">
            <a:tbl>
              <a:tblPr firstRow="1" bandRow="1">
                <a:tableStyleId>{5C22544A-7EE6-4342-B048-85BDC9FD1C3A}</a:tableStyleId>
              </a:tblPr>
              <a:tblGrid>
                <a:gridCol w="2218623">
                  <a:extLst>
                    <a:ext uri="{9D8B030D-6E8A-4147-A177-3AD203B41FA5}">
                      <a16:colId xmlns:a16="http://schemas.microsoft.com/office/drawing/2014/main" val="20000"/>
                    </a:ext>
                  </a:extLst>
                </a:gridCol>
                <a:gridCol w="2218623">
                  <a:extLst>
                    <a:ext uri="{9D8B030D-6E8A-4147-A177-3AD203B41FA5}">
                      <a16:colId xmlns:a16="http://schemas.microsoft.com/office/drawing/2014/main" val="20001"/>
                    </a:ext>
                  </a:extLst>
                </a:gridCol>
              </a:tblGrid>
              <a:tr h="370840">
                <a:tc>
                  <a:txBody>
                    <a:bodyPr/>
                    <a:lstStyle/>
                    <a:p>
                      <a:pPr algn="ctr"/>
                      <a:r>
                        <a:rPr lang="en-US" sz="2400" dirty="0"/>
                        <a:t>Pricing</a:t>
                      </a:r>
                    </a:p>
                  </a:txBody>
                  <a:tcPr/>
                </a:tc>
                <a:tc>
                  <a:txBody>
                    <a:bodyPr/>
                    <a:lstStyle/>
                    <a:p>
                      <a:pPr algn="ctr"/>
                      <a:r>
                        <a:rPr lang="en-US" sz="2400" dirty="0"/>
                        <a:t>Projected</a:t>
                      </a:r>
                      <a:r>
                        <a:rPr lang="en-US" sz="2400" baseline="0" dirty="0"/>
                        <a:t> Profit Per Lead</a:t>
                      </a:r>
                      <a:endParaRPr lang="en-US" sz="2400" dirty="0"/>
                    </a:p>
                  </a:txBody>
                  <a:tcPr/>
                </a:tc>
                <a:extLst>
                  <a:ext uri="{0D108BD9-81ED-4DB2-BD59-A6C34878D82A}">
                    <a16:rowId xmlns:a16="http://schemas.microsoft.com/office/drawing/2014/main" val="10000"/>
                  </a:ext>
                </a:extLst>
              </a:tr>
              <a:tr h="370840">
                <a:tc>
                  <a:txBody>
                    <a:bodyPr/>
                    <a:lstStyle/>
                    <a:p>
                      <a:pPr algn="l"/>
                      <a:r>
                        <a:rPr lang="en-US" sz="2400" dirty="0"/>
                        <a:t>Base ($99)</a:t>
                      </a:r>
                    </a:p>
                  </a:txBody>
                  <a:tcPr/>
                </a:tc>
                <a:tc>
                  <a:txBody>
                    <a:bodyPr/>
                    <a:lstStyle/>
                    <a:p>
                      <a:pPr algn="ctr"/>
                      <a:r>
                        <a:rPr lang="en-US" sz="2400" dirty="0"/>
                        <a:t>$25</a:t>
                      </a:r>
                    </a:p>
                  </a:txBody>
                  <a:tcPr/>
                </a:tc>
                <a:extLst>
                  <a:ext uri="{0D108BD9-81ED-4DB2-BD59-A6C34878D82A}">
                    <a16:rowId xmlns:a16="http://schemas.microsoft.com/office/drawing/2014/main" val="10001"/>
                  </a:ext>
                </a:extLst>
              </a:tr>
              <a:tr h="370840">
                <a:tc>
                  <a:txBody>
                    <a:bodyPr/>
                    <a:lstStyle/>
                    <a:p>
                      <a:pPr algn="l"/>
                      <a:r>
                        <a:rPr lang="en-US" sz="2400" dirty="0"/>
                        <a:t>Uniform ($249)</a:t>
                      </a:r>
                    </a:p>
                  </a:txBody>
                  <a:tcPr/>
                </a:tc>
                <a:tc>
                  <a:txBody>
                    <a:bodyPr/>
                    <a:lstStyle/>
                    <a:p>
                      <a:pPr algn="ctr"/>
                      <a:r>
                        <a:rPr lang="en-US" sz="2400" dirty="0"/>
                        <a:t>$40</a:t>
                      </a:r>
                    </a:p>
                  </a:txBody>
                  <a:tcPr/>
                </a:tc>
                <a:extLst>
                  <a:ext uri="{0D108BD9-81ED-4DB2-BD59-A6C34878D82A}">
                    <a16:rowId xmlns:a16="http://schemas.microsoft.com/office/drawing/2014/main" val="10002"/>
                  </a:ext>
                </a:extLst>
              </a:tr>
              <a:tr h="370840">
                <a:tc>
                  <a:txBody>
                    <a:bodyPr/>
                    <a:lstStyle/>
                    <a:p>
                      <a:pPr algn="l"/>
                      <a:r>
                        <a:rPr lang="en-US" sz="2400" dirty="0"/>
                        <a:t>Targeted</a:t>
                      </a:r>
                    </a:p>
                  </a:txBody>
                  <a:tcPr/>
                </a:tc>
                <a:tc>
                  <a:txBody>
                    <a:bodyPr/>
                    <a:lstStyle/>
                    <a:p>
                      <a:pPr algn="ctr"/>
                      <a:r>
                        <a:rPr lang="en-US" sz="2400" dirty="0"/>
                        <a:t>$44</a:t>
                      </a:r>
                    </a:p>
                  </a:txBody>
                  <a:tcPr/>
                </a:tc>
                <a:extLst>
                  <a:ext uri="{0D108BD9-81ED-4DB2-BD59-A6C34878D82A}">
                    <a16:rowId xmlns:a16="http://schemas.microsoft.com/office/drawing/2014/main" val="10003"/>
                  </a:ext>
                </a:extLst>
              </a:tr>
            </a:tbl>
          </a:graphicData>
        </a:graphic>
      </p:graphicFrame>
      <p:sp>
        <p:nvSpPr>
          <p:cNvPr id="8" name="TextBox 7"/>
          <p:cNvSpPr txBox="1"/>
          <p:nvPr/>
        </p:nvSpPr>
        <p:spPr>
          <a:xfrm>
            <a:off x="228600" y="6477000"/>
            <a:ext cx="1967205" cy="261610"/>
          </a:xfrm>
          <a:prstGeom prst="rect">
            <a:avLst/>
          </a:prstGeom>
          <a:noFill/>
        </p:spPr>
        <p:txBody>
          <a:bodyPr wrap="none" rtlCol="0">
            <a:spAutoFit/>
          </a:bodyPr>
          <a:lstStyle/>
          <a:p>
            <a:r>
              <a:rPr lang="en-US" sz="1100" dirty="0"/>
              <a:t>Source: </a:t>
            </a:r>
            <a:r>
              <a:rPr lang="en-US" sz="1100" dirty="0">
                <a:hlinkClick r:id="rId3"/>
              </a:rPr>
              <a:t>Dubé and Misra (2023)</a:t>
            </a:r>
            <a:endParaRPr lang="en-US" sz="1100" dirty="0"/>
          </a:p>
        </p:txBody>
      </p:sp>
    </p:spTree>
    <p:extLst>
      <p:ext uri="{BB962C8B-B14F-4D97-AF65-F5344CB8AC3E}">
        <p14:creationId xmlns:p14="http://schemas.microsoft.com/office/powerpoint/2010/main" val="3762899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02-chemistry.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066" y="1981198"/>
            <a:ext cx="2054578" cy="3698240"/>
          </a:xfrm>
          <a:prstGeom prst="rect">
            <a:avLst/>
          </a:prstGeom>
        </p:spPr>
      </p:pic>
      <p:sp>
        <p:nvSpPr>
          <p:cNvPr id="6" name="Rectangle 5"/>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Slide Number Placeholder 22"/>
          <p:cNvSpPr txBox="1">
            <a:spLocks/>
          </p:cNvSpPr>
          <p:nvPr/>
        </p:nvSpPr>
        <p:spPr>
          <a:xfrm>
            <a:off x="0" y="1271588"/>
            <a:ext cx="533400" cy="244475"/>
          </a:xfrm>
          <a:prstGeom prst="rect">
            <a:avLst/>
          </a:prstGeom>
        </p:spPr>
        <p:txBody>
          <a:bodyPr vert="horz" anchor="ctr" anchorCtr="0">
            <a:normAutofit fontScale="85000" lnSpcReduction="20000"/>
          </a:bodyPr>
          <a:lstStyle>
            <a:defPPr>
              <a:defRPr lang="en-US"/>
            </a:defPPr>
            <a:lvl1pPr algn="ctr" rtl="0" eaLnBrk="1" fontAlgn="base" latinLnBrk="0" hangingPunct="1">
              <a:spcBef>
                <a:spcPct val="0"/>
              </a:spcBef>
              <a:spcAft>
                <a:spcPct val="0"/>
              </a:spcAft>
              <a:defRPr kumimoji="0" sz="1400" b="1" kern="1200">
                <a:solidFill>
                  <a:srgbClr val="FFFFFF"/>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fld id="{03344F6F-13B5-4D25-905C-51D49F0CCD0B}" type="slidenum">
              <a:rPr lang="en-US" smtClean="0"/>
              <a:pPr>
                <a:defRPr/>
              </a:pPr>
              <a:t>11</a:t>
            </a:fld>
            <a:endParaRPr lang="en-US" dirty="0"/>
          </a:p>
        </p:txBody>
      </p:sp>
      <p:sp>
        <p:nvSpPr>
          <p:cNvPr id="9" name="Content Placeholder 2"/>
          <p:cNvSpPr txBox="1">
            <a:spLocks/>
          </p:cNvSpPr>
          <p:nvPr/>
        </p:nvSpPr>
        <p:spPr bwMode="auto">
          <a:xfrm>
            <a:off x="3551722" y="1600200"/>
            <a:ext cx="5332396" cy="452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r>
              <a:rPr lang="en-US" dirty="0"/>
              <a:t>Nov 2015: Implement a 3-bin experiment</a:t>
            </a:r>
          </a:p>
          <a:p>
            <a:pPr marL="0" indent="0">
              <a:spcBef>
                <a:spcPts val="1200"/>
              </a:spcBef>
              <a:spcAft>
                <a:spcPts val="1200"/>
              </a:spcAft>
              <a:buFont typeface="Wingdings" pitchFamily="2" charset="2"/>
              <a:buNone/>
            </a:pPr>
            <a:r>
              <a:rPr lang="en-US" dirty="0"/>
              <a:t>	5,315 new “starter” firms</a:t>
            </a:r>
          </a:p>
          <a:p>
            <a:pPr marL="777875" lvl="1" indent="-457200">
              <a:buFont typeface="+mj-lt"/>
              <a:buAutoNum type="arabicPeriod"/>
            </a:pPr>
            <a:r>
              <a:rPr lang="en-US" dirty="0"/>
              <a:t>Control pricing – $99 (25%)</a:t>
            </a:r>
          </a:p>
          <a:p>
            <a:pPr marL="777875" lvl="1" indent="-457200">
              <a:buFont typeface="+mj-lt"/>
              <a:buAutoNum type="arabicPeriod"/>
            </a:pPr>
            <a:r>
              <a:rPr lang="en-US" dirty="0"/>
              <a:t>Uniform pricing – $249 (25%)</a:t>
            </a:r>
          </a:p>
          <a:p>
            <a:pPr marL="777875" lvl="1" indent="-457200">
              <a:buFont typeface="+mj-lt"/>
              <a:buAutoNum type="arabicPeriod"/>
            </a:pPr>
            <a:r>
              <a:rPr lang="en-US" dirty="0"/>
              <a:t>Targeted pricing (50%)</a:t>
            </a:r>
          </a:p>
          <a:p>
            <a:pPr marL="0" indent="0">
              <a:buFont typeface="Wingdings" pitchFamily="2" charset="2"/>
              <a:buNone/>
            </a:pPr>
            <a:endParaRPr lang="en-US" dirty="0"/>
          </a:p>
          <a:p>
            <a:pPr marL="0" indent="0">
              <a:buFont typeface="Wingdings" pitchFamily="2" charset="2"/>
              <a:buNone/>
            </a:pPr>
            <a:r>
              <a:rPr lang="en-US" dirty="0"/>
              <a:t>Run and evaluate.</a:t>
            </a:r>
          </a:p>
        </p:txBody>
      </p:sp>
      <p:sp>
        <p:nvSpPr>
          <p:cNvPr id="11" name="Title 1"/>
          <p:cNvSpPr>
            <a:spLocks noGrp="1"/>
          </p:cNvSpPr>
          <p:nvPr>
            <p:ph type="title"/>
          </p:nvPr>
        </p:nvSpPr>
        <p:spPr>
          <a:xfrm>
            <a:off x="612648" y="228600"/>
            <a:ext cx="8153400" cy="990600"/>
          </a:xfrm>
        </p:spPr>
        <p:txBody>
          <a:bodyPr>
            <a:normAutofit fontScale="90000"/>
          </a:bodyPr>
          <a:lstStyle/>
          <a:p>
            <a:r>
              <a:rPr lang="en-US" sz="4400" dirty="0"/>
              <a:t>Scalable </a:t>
            </a:r>
            <a:r>
              <a:rPr lang="en-US" sz="4400" b="1" dirty="0">
                <a:effectLst>
                  <a:outerShdw blurRad="38100" dist="38100" dir="2700000" algn="tl">
                    <a:srgbClr val="000000">
                      <a:alpha val="43137"/>
                    </a:srgbClr>
                  </a:outerShdw>
                </a:effectLst>
              </a:rPr>
              <a:t>Personalized</a:t>
            </a:r>
            <a:r>
              <a:rPr lang="en-US" sz="4400" dirty="0"/>
              <a:t> Pricing</a:t>
            </a:r>
            <a:br>
              <a:rPr lang="en-US" sz="4400" dirty="0"/>
            </a:br>
            <a:r>
              <a:rPr lang="en-US" sz="3600" dirty="0"/>
              <a:t>Validation</a:t>
            </a:r>
            <a:endParaRPr lang="en-US" dirty="0"/>
          </a:p>
        </p:txBody>
      </p:sp>
      <p:sp>
        <p:nvSpPr>
          <p:cNvPr id="10" name="TextBox 9"/>
          <p:cNvSpPr txBox="1"/>
          <p:nvPr/>
        </p:nvSpPr>
        <p:spPr>
          <a:xfrm>
            <a:off x="228600" y="6477000"/>
            <a:ext cx="1967205" cy="261610"/>
          </a:xfrm>
          <a:prstGeom prst="rect">
            <a:avLst/>
          </a:prstGeom>
          <a:noFill/>
        </p:spPr>
        <p:txBody>
          <a:bodyPr wrap="none" rtlCol="0">
            <a:spAutoFit/>
          </a:bodyPr>
          <a:lstStyle/>
          <a:p>
            <a:r>
              <a:rPr lang="en-US" sz="1100" dirty="0"/>
              <a:t>Source: </a:t>
            </a:r>
            <a:r>
              <a:rPr lang="en-US" sz="1100" dirty="0">
                <a:hlinkClick r:id="rId3"/>
              </a:rPr>
              <a:t>Dubé and Misra (2023)</a:t>
            </a:r>
            <a:endParaRPr lang="en-US" sz="1100" dirty="0"/>
          </a:p>
        </p:txBody>
      </p:sp>
    </p:spTree>
    <p:extLst>
      <p:ext uri="{BB962C8B-B14F-4D97-AF65-F5344CB8AC3E}">
        <p14:creationId xmlns:p14="http://schemas.microsoft.com/office/powerpoint/2010/main" val="235119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2648" y="4419600"/>
            <a:ext cx="8153400" cy="1676400"/>
          </a:xfrm>
        </p:spPr>
        <p:txBody>
          <a:bodyPr/>
          <a:lstStyle/>
          <a:p>
            <a:pPr>
              <a:spcBef>
                <a:spcPts val="1200"/>
              </a:spcBef>
              <a:spcAft>
                <a:spcPts val="1200"/>
              </a:spcAft>
            </a:pPr>
            <a:r>
              <a:rPr lang="en-US" dirty="0"/>
              <a:t>When we account for statistical error, our results fall within our predictions back in September 2015</a:t>
            </a:r>
          </a:p>
          <a:p>
            <a:pPr>
              <a:spcBef>
                <a:spcPts val="1200"/>
              </a:spcBef>
              <a:spcAft>
                <a:spcPts val="1200"/>
              </a:spcAft>
              <a:buFont typeface="Wingdings" panose="05000000000000000000" pitchFamily="2" charset="2"/>
              <a:buChar char=""/>
            </a:pPr>
            <a:r>
              <a:rPr lang="en-US" b="1" dirty="0">
                <a:solidFill>
                  <a:srgbClr val="FF0000"/>
                </a:solidFill>
                <a:effectLst>
                  <a:outerShdw blurRad="38100" dist="38100" dir="2700000" algn="tl">
                    <a:srgbClr val="000000">
                      <a:alpha val="43137"/>
                    </a:srgbClr>
                  </a:outerShdw>
                </a:effectLst>
              </a:rPr>
              <a:t>A.I.</a:t>
            </a:r>
            <a:r>
              <a:rPr lang="en-US" dirty="0"/>
              <a:t> algorithm seems to work well!!!</a:t>
            </a:r>
          </a:p>
        </p:txBody>
      </p:sp>
      <p:sp>
        <p:nvSpPr>
          <p:cNvPr id="5" name="Slide Number Placeholder 4"/>
          <p:cNvSpPr>
            <a:spLocks noGrp="1"/>
          </p:cNvSpPr>
          <p:nvPr>
            <p:ph type="sldNum" sz="quarter" idx="4294967295"/>
          </p:nvPr>
        </p:nvSpPr>
        <p:spPr>
          <a:xfrm>
            <a:off x="0" y="1271588"/>
            <a:ext cx="533400" cy="244475"/>
          </a:xfrm>
          <a:prstGeom prst="rect">
            <a:avLst/>
          </a:prstGeom>
        </p:spPr>
        <p:txBody>
          <a:bodyPr>
            <a:normAutofit fontScale="47500" lnSpcReduction="20000"/>
          </a:bodyPr>
          <a:lstStyle/>
          <a:p>
            <a:pPr algn="ctr">
              <a:defRPr/>
            </a:pPr>
            <a:fld id="{03344F6F-13B5-4D25-905C-51D49F0CCD0B}" type="slidenum">
              <a:rPr lang="en-US" sz="2500" b="1" smtClean="0">
                <a:solidFill>
                  <a:schemeClr val="bg1"/>
                </a:solidFill>
              </a:rPr>
              <a:pPr algn="ctr">
                <a:defRPr/>
              </a:pPr>
              <a:t>12</a:t>
            </a:fld>
            <a:endParaRPr lang="en-US" b="1" dirty="0">
              <a:solidFill>
                <a:schemeClr val="bg1"/>
              </a:solidFill>
            </a:endParaRPr>
          </a:p>
        </p:txBody>
      </p:sp>
      <p:graphicFrame>
        <p:nvGraphicFramePr>
          <p:cNvPr id="6" name="Table 5"/>
          <p:cNvGraphicFramePr>
            <a:graphicFrameLocks noGrp="1"/>
          </p:cNvGraphicFramePr>
          <p:nvPr/>
        </p:nvGraphicFramePr>
        <p:xfrm>
          <a:off x="1143000" y="2057400"/>
          <a:ext cx="6612555" cy="2194560"/>
        </p:xfrm>
        <a:graphic>
          <a:graphicData uri="http://schemas.openxmlformats.org/drawingml/2006/table">
            <a:tbl>
              <a:tblPr firstRow="1" bandRow="1">
                <a:tableStyleId>{5C22544A-7EE6-4342-B048-85BDC9FD1C3A}</a:tableStyleId>
              </a:tblPr>
              <a:tblGrid>
                <a:gridCol w="2204185">
                  <a:extLst>
                    <a:ext uri="{9D8B030D-6E8A-4147-A177-3AD203B41FA5}">
                      <a16:colId xmlns:a16="http://schemas.microsoft.com/office/drawing/2014/main" val="20000"/>
                    </a:ext>
                  </a:extLst>
                </a:gridCol>
                <a:gridCol w="2204185">
                  <a:extLst>
                    <a:ext uri="{9D8B030D-6E8A-4147-A177-3AD203B41FA5}">
                      <a16:colId xmlns:a16="http://schemas.microsoft.com/office/drawing/2014/main" val="20001"/>
                    </a:ext>
                  </a:extLst>
                </a:gridCol>
                <a:gridCol w="2204185">
                  <a:extLst>
                    <a:ext uri="{9D8B030D-6E8A-4147-A177-3AD203B41FA5}">
                      <a16:colId xmlns:a16="http://schemas.microsoft.com/office/drawing/2014/main" val="20002"/>
                    </a:ext>
                  </a:extLst>
                </a:gridCol>
              </a:tblGrid>
              <a:tr h="370840">
                <a:tc>
                  <a:txBody>
                    <a:bodyPr/>
                    <a:lstStyle/>
                    <a:p>
                      <a:pPr algn="ctr"/>
                      <a:r>
                        <a:rPr lang="en-US" sz="2400" dirty="0"/>
                        <a:t>Pricing</a:t>
                      </a:r>
                    </a:p>
                  </a:txBody>
                  <a:tcPr/>
                </a:tc>
                <a:tc>
                  <a:txBody>
                    <a:bodyPr/>
                    <a:lstStyle/>
                    <a:p>
                      <a:pPr algn="ctr"/>
                      <a:r>
                        <a:rPr lang="en-US" sz="2400" dirty="0"/>
                        <a:t>Projected</a:t>
                      </a:r>
                      <a:r>
                        <a:rPr lang="en-US" sz="2400" baseline="0" dirty="0"/>
                        <a:t> Profit Per Lead</a:t>
                      </a:r>
                      <a:endParaRPr 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Realized</a:t>
                      </a:r>
                      <a:r>
                        <a:rPr lang="en-US" sz="2400" baseline="0" dirty="0"/>
                        <a:t> Profit Per Lead</a:t>
                      </a:r>
                      <a:endParaRPr lang="en-US" sz="2400" dirty="0"/>
                    </a:p>
                  </a:txBody>
                  <a:tcPr/>
                </a:tc>
                <a:extLst>
                  <a:ext uri="{0D108BD9-81ED-4DB2-BD59-A6C34878D82A}">
                    <a16:rowId xmlns:a16="http://schemas.microsoft.com/office/drawing/2014/main" val="10000"/>
                  </a:ext>
                </a:extLst>
              </a:tr>
              <a:tr h="370840">
                <a:tc>
                  <a:txBody>
                    <a:bodyPr/>
                    <a:lstStyle/>
                    <a:p>
                      <a:pPr algn="l"/>
                      <a:r>
                        <a:rPr lang="en-US" sz="2400" dirty="0"/>
                        <a:t>Base ($99)</a:t>
                      </a:r>
                    </a:p>
                  </a:txBody>
                  <a:tcPr/>
                </a:tc>
                <a:tc>
                  <a:txBody>
                    <a:bodyPr/>
                    <a:lstStyle/>
                    <a:p>
                      <a:pPr algn="ctr"/>
                      <a:r>
                        <a:rPr lang="en-US" sz="2400" dirty="0"/>
                        <a:t>$25</a:t>
                      </a:r>
                    </a:p>
                  </a:txBody>
                  <a:tcPr/>
                </a:tc>
                <a:tc>
                  <a:txBody>
                    <a:bodyPr/>
                    <a:lstStyle/>
                    <a:p>
                      <a:pPr algn="ctr"/>
                      <a:r>
                        <a:rPr lang="en-US" sz="2400" dirty="0"/>
                        <a:t>$23</a:t>
                      </a:r>
                    </a:p>
                  </a:txBody>
                  <a:tcPr/>
                </a:tc>
                <a:extLst>
                  <a:ext uri="{0D108BD9-81ED-4DB2-BD59-A6C34878D82A}">
                    <a16:rowId xmlns:a16="http://schemas.microsoft.com/office/drawing/2014/main" val="10001"/>
                  </a:ext>
                </a:extLst>
              </a:tr>
              <a:tr h="370840">
                <a:tc>
                  <a:txBody>
                    <a:bodyPr/>
                    <a:lstStyle/>
                    <a:p>
                      <a:pPr algn="l"/>
                      <a:r>
                        <a:rPr lang="en-US" sz="2400" dirty="0"/>
                        <a:t>Uniform ($249)</a:t>
                      </a:r>
                    </a:p>
                  </a:txBody>
                  <a:tcPr/>
                </a:tc>
                <a:tc>
                  <a:txBody>
                    <a:bodyPr/>
                    <a:lstStyle/>
                    <a:p>
                      <a:pPr algn="ctr"/>
                      <a:r>
                        <a:rPr lang="en-US" sz="2400" dirty="0"/>
                        <a:t>$40</a:t>
                      </a:r>
                    </a:p>
                  </a:txBody>
                  <a:tcPr/>
                </a:tc>
                <a:tc>
                  <a:txBody>
                    <a:bodyPr/>
                    <a:lstStyle/>
                    <a:p>
                      <a:pPr algn="ctr"/>
                      <a:r>
                        <a:rPr lang="en-US" sz="2400" dirty="0"/>
                        <a:t>$38</a:t>
                      </a:r>
                    </a:p>
                  </a:txBody>
                  <a:tcPr/>
                </a:tc>
                <a:extLst>
                  <a:ext uri="{0D108BD9-81ED-4DB2-BD59-A6C34878D82A}">
                    <a16:rowId xmlns:a16="http://schemas.microsoft.com/office/drawing/2014/main" val="10002"/>
                  </a:ext>
                </a:extLst>
              </a:tr>
              <a:tr h="370840">
                <a:tc>
                  <a:txBody>
                    <a:bodyPr/>
                    <a:lstStyle/>
                    <a:p>
                      <a:pPr algn="l"/>
                      <a:r>
                        <a:rPr lang="en-US" sz="2400" dirty="0"/>
                        <a:t>Targeted</a:t>
                      </a:r>
                    </a:p>
                  </a:txBody>
                  <a:tcPr/>
                </a:tc>
                <a:tc>
                  <a:txBody>
                    <a:bodyPr/>
                    <a:lstStyle/>
                    <a:p>
                      <a:pPr algn="ctr"/>
                      <a:r>
                        <a:rPr lang="en-US" sz="2400" dirty="0"/>
                        <a:t>$44</a:t>
                      </a:r>
                    </a:p>
                  </a:txBody>
                  <a:tcPr/>
                </a:tc>
                <a:tc>
                  <a:txBody>
                    <a:bodyPr/>
                    <a:lstStyle/>
                    <a:p>
                      <a:pPr algn="ctr"/>
                      <a:r>
                        <a:rPr lang="en-US" sz="2400" dirty="0"/>
                        <a:t>$42</a:t>
                      </a:r>
                    </a:p>
                  </a:txBody>
                  <a:tcPr/>
                </a:tc>
                <a:extLst>
                  <a:ext uri="{0D108BD9-81ED-4DB2-BD59-A6C34878D82A}">
                    <a16:rowId xmlns:a16="http://schemas.microsoft.com/office/drawing/2014/main" val="10003"/>
                  </a:ext>
                </a:extLst>
              </a:tr>
            </a:tbl>
          </a:graphicData>
        </a:graphic>
      </p:graphicFrame>
      <p:sp>
        <p:nvSpPr>
          <p:cNvPr id="7" name="Rectangle 6"/>
          <p:cNvSpPr/>
          <p:nvPr/>
        </p:nvSpPr>
        <p:spPr>
          <a:xfrm>
            <a:off x="5512870" y="1698859"/>
            <a:ext cx="2521819" cy="272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8034688" y="2953159"/>
            <a:ext cx="956911" cy="707886"/>
          </a:xfrm>
          <a:prstGeom prst="rect">
            <a:avLst/>
          </a:prstGeom>
          <a:noFill/>
        </p:spPr>
        <p:txBody>
          <a:bodyPr wrap="square" rtlCol="0">
            <a:spAutoFit/>
          </a:bodyPr>
          <a:lstStyle/>
          <a:p>
            <a:pPr algn="ctr"/>
            <a:r>
              <a:rPr lang="en-US" sz="2000" dirty="0">
                <a:solidFill>
                  <a:srgbClr val="FF0000"/>
                </a:solidFill>
              </a:rPr>
              <a:t>65% Rev </a:t>
            </a:r>
            <a:r>
              <a:rPr lang="en-US" sz="2000" dirty="0">
                <a:solidFill>
                  <a:srgbClr val="FF0000"/>
                </a:solidFill>
                <a:sym typeface="Wingdings" panose="05000000000000000000" pitchFamily="2" charset="2"/>
              </a:rPr>
              <a:t></a:t>
            </a:r>
            <a:endParaRPr lang="en-US" sz="2000" dirty="0">
              <a:solidFill>
                <a:srgbClr val="FF0000"/>
              </a:solidFill>
            </a:endParaRPr>
          </a:p>
        </p:txBody>
      </p:sp>
      <p:sp>
        <p:nvSpPr>
          <p:cNvPr id="10" name="TextBox 9"/>
          <p:cNvSpPr txBox="1"/>
          <p:nvPr/>
        </p:nvSpPr>
        <p:spPr>
          <a:xfrm>
            <a:off x="8033886" y="3432818"/>
            <a:ext cx="956911" cy="707886"/>
          </a:xfrm>
          <a:prstGeom prst="rect">
            <a:avLst/>
          </a:prstGeom>
          <a:noFill/>
        </p:spPr>
        <p:txBody>
          <a:bodyPr wrap="square" rtlCol="0">
            <a:spAutoFit/>
          </a:bodyPr>
          <a:lstStyle/>
          <a:p>
            <a:pPr algn="ctr"/>
            <a:r>
              <a:rPr lang="en-US" sz="2000" dirty="0">
                <a:solidFill>
                  <a:srgbClr val="FF0000"/>
                </a:solidFill>
              </a:rPr>
              <a:t>83% Rev </a:t>
            </a:r>
            <a:r>
              <a:rPr lang="en-US" sz="2000" dirty="0">
                <a:solidFill>
                  <a:srgbClr val="FF0000"/>
                </a:solidFill>
                <a:sym typeface="Wingdings" panose="05000000000000000000" pitchFamily="2" charset="2"/>
              </a:rPr>
              <a:t></a:t>
            </a:r>
            <a:endParaRPr lang="en-US" sz="2000" dirty="0">
              <a:solidFill>
                <a:srgbClr val="FF0000"/>
              </a:solidFill>
            </a:endParaRPr>
          </a:p>
        </p:txBody>
      </p:sp>
      <p:cxnSp>
        <p:nvCxnSpPr>
          <p:cNvPr id="12" name="Straight Arrow Connector 11"/>
          <p:cNvCxnSpPr/>
          <p:nvPr/>
        </p:nvCxnSpPr>
        <p:spPr>
          <a:xfrm flipH="1" flipV="1">
            <a:off x="7755555" y="2922879"/>
            <a:ext cx="385734" cy="3539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7841823" y="3585999"/>
            <a:ext cx="332612" cy="750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flipV="1">
            <a:off x="7744988" y="3099851"/>
            <a:ext cx="357852" cy="7171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7803374" y="4095935"/>
            <a:ext cx="332612" cy="750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itle 1"/>
          <p:cNvSpPr>
            <a:spLocks noGrp="1"/>
          </p:cNvSpPr>
          <p:nvPr>
            <p:ph type="title"/>
          </p:nvPr>
        </p:nvSpPr>
        <p:spPr>
          <a:xfrm>
            <a:off x="612648" y="228600"/>
            <a:ext cx="8153400" cy="990600"/>
          </a:xfrm>
        </p:spPr>
        <p:txBody>
          <a:bodyPr>
            <a:normAutofit fontScale="90000"/>
          </a:bodyPr>
          <a:lstStyle/>
          <a:p>
            <a:r>
              <a:rPr lang="en-US" sz="4400" dirty="0"/>
              <a:t>Scalable </a:t>
            </a:r>
            <a:r>
              <a:rPr lang="en-US" sz="4400" b="1" dirty="0">
                <a:effectLst>
                  <a:outerShdw blurRad="38100" dist="38100" dir="2700000" algn="tl">
                    <a:srgbClr val="000000">
                      <a:alpha val="43137"/>
                    </a:srgbClr>
                  </a:outerShdw>
                </a:effectLst>
              </a:rPr>
              <a:t>Personalized</a:t>
            </a:r>
            <a:r>
              <a:rPr lang="en-US" sz="4400" dirty="0"/>
              <a:t> Pricing</a:t>
            </a:r>
            <a:br>
              <a:rPr lang="en-US" sz="4400" dirty="0"/>
            </a:br>
            <a:r>
              <a:rPr lang="en-US" sz="3600" dirty="0"/>
              <a:t>Validation</a:t>
            </a:r>
            <a:endParaRPr lang="en-US" dirty="0"/>
          </a:p>
        </p:txBody>
      </p:sp>
      <p:sp>
        <p:nvSpPr>
          <p:cNvPr id="16" name="TextBox 15"/>
          <p:cNvSpPr txBox="1"/>
          <p:nvPr/>
        </p:nvSpPr>
        <p:spPr>
          <a:xfrm>
            <a:off x="228600" y="6477000"/>
            <a:ext cx="1967205" cy="261610"/>
          </a:xfrm>
          <a:prstGeom prst="rect">
            <a:avLst/>
          </a:prstGeom>
          <a:noFill/>
        </p:spPr>
        <p:txBody>
          <a:bodyPr wrap="none" rtlCol="0">
            <a:spAutoFit/>
          </a:bodyPr>
          <a:lstStyle/>
          <a:p>
            <a:r>
              <a:rPr lang="en-US" sz="1100" dirty="0"/>
              <a:t>Source: </a:t>
            </a:r>
            <a:r>
              <a:rPr lang="en-US" sz="1100" dirty="0">
                <a:hlinkClick r:id="rId3"/>
              </a:rPr>
              <a:t>Dubé and Misra (2023)</a:t>
            </a:r>
            <a:endParaRPr lang="en-US" sz="1100" dirty="0"/>
          </a:p>
        </p:txBody>
      </p:sp>
    </p:spTree>
    <p:extLst>
      <p:ext uri="{BB962C8B-B14F-4D97-AF65-F5344CB8AC3E}">
        <p14:creationId xmlns:p14="http://schemas.microsoft.com/office/powerpoint/2010/main" val="7724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2"/>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8" grpId="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how Me the Money!"/>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177929" y="2046632"/>
            <a:ext cx="5022839" cy="18363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78346" y="4176136"/>
            <a:ext cx="4645824" cy="198002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4290" tIns="34290" rIns="34290" bIns="34290" numCol="1" spcCol="38100" rtlCol="0" anchor="t">
            <a:spAutoFit/>
          </a:bodyPr>
          <a:lstStyle/>
          <a:p>
            <a:pPr defTabSz="342900" fontAlgn="auto">
              <a:spcBef>
                <a:spcPts val="450"/>
              </a:spcBef>
              <a:spcAft>
                <a:spcPts val="450"/>
              </a:spcAft>
            </a:pPr>
            <a:r>
              <a:rPr lang="en-US" sz="1650" dirty="0">
                <a:solidFill>
                  <a:srgbClr val="000000"/>
                </a:solidFill>
                <a:sym typeface="Arial"/>
              </a:rPr>
              <a:t>Recall: </a:t>
            </a:r>
          </a:p>
          <a:p>
            <a:pPr defTabSz="342900" fontAlgn="auto">
              <a:spcBef>
                <a:spcPts val="450"/>
              </a:spcBef>
              <a:spcAft>
                <a:spcPts val="450"/>
              </a:spcAft>
            </a:pPr>
            <a:r>
              <a:rPr lang="en-US" sz="1650" dirty="0">
                <a:solidFill>
                  <a:srgbClr val="000000"/>
                </a:solidFill>
                <a:sym typeface="Arial"/>
              </a:rPr>
              <a:t>	Optimization increased monthly profits by 65%</a:t>
            </a:r>
          </a:p>
          <a:p>
            <a:pPr defTabSz="342900" fontAlgn="auto">
              <a:spcBef>
                <a:spcPts val="450"/>
              </a:spcBef>
              <a:spcAft>
                <a:spcPts val="450"/>
              </a:spcAft>
            </a:pPr>
            <a:r>
              <a:rPr lang="en-US" sz="1650" dirty="0"/>
              <a:t>	Approximately $70 million in </a:t>
            </a:r>
            <a:r>
              <a:rPr lang="en-US" sz="1650" b="1" dirty="0">
                <a:effectLst>
                  <a:outerShdw blurRad="38100" dist="38100" dir="2700000" algn="tl">
                    <a:srgbClr val="000000">
                      <a:alpha val="43137"/>
                    </a:srgbClr>
                  </a:outerShdw>
                </a:effectLst>
              </a:rPr>
              <a:t>incremental</a:t>
            </a:r>
            <a:endParaRPr lang="en-US" sz="1650" dirty="0"/>
          </a:p>
          <a:p>
            <a:pPr defTabSz="342900" fontAlgn="auto">
              <a:spcBef>
                <a:spcPts val="450"/>
              </a:spcBef>
              <a:spcAft>
                <a:spcPts val="450"/>
              </a:spcAft>
            </a:pPr>
            <a:endParaRPr lang="en-US" sz="1650" dirty="0">
              <a:solidFill>
                <a:srgbClr val="000000"/>
              </a:solidFill>
              <a:sym typeface="Arial"/>
            </a:endParaRPr>
          </a:p>
          <a:p>
            <a:pPr defTabSz="342900" fontAlgn="auto">
              <a:spcBef>
                <a:spcPts val="450"/>
              </a:spcBef>
              <a:spcAft>
                <a:spcPts val="450"/>
              </a:spcAft>
            </a:pPr>
            <a:r>
              <a:rPr lang="en-US" sz="1650" dirty="0">
                <a:solidFill>
                  <a:srgbClr val="000000"/>
                </a:solidFill>
                <a:sym typeface="Arial"/>
              </a:rPr>
              <a:t>Personalization could have pushed it </a:t>
            </a:r>
            <a:r>
              <a:rPr lang="en-US" sz="1650" dirty="0"/>
              <a:t>over $80 million</a:t>
            </a:r>
            <a:endParaRPr lang="en-US" sz="1650" dirty="0">
              <a:solidFill>
                <a:srgbClr val="000000"/>
              </a:solidFill>
              <a:sym typeface="Arial"/>
            </a:endParaRPr>
          </a:p>
        </p:txBody>
      </p:sp>
      <p:pic>
        <p:nvPicPr>
          <p:cNvPr id="8" name="Picture 7"/>
          <p:cNvPicPr>
            <a:picLocks noChangeAspect="1"/>
          </p:cNvPicPr>
          <p:nvPr/>
        </p:nvPicPr>
        <p:blipFill>
          <a:blip r:embed="rId3"/>
          <a:stretch>
            <a:fillRect/>
          </a:stretch>
        </p:blipFill>
        <p:spPr>
          <a:xfrm rot="919987">
            <a:off x="7567467" y="2773717"/>
            <a:ext cx="921672" cy="2218444"/>
          </a:xfrm>
          <a:prstGeom prst="rect">
            <a:avLst/>
          </a:prstGeom>
        </p:spPr>
      </p:pic>
      <p:sp>
        <p:nvSpPr>
          <p:cNvPr id="9" name="Title 1"/>
          <p:cNvSpPr>
            <a:spLocks noGrp="1"/>
          </p:cNvSpPr>
          <p:nvPr>
            <p:ph type="title"/>
          </p:nvPr>
        </p:nvSpPr>
        <p:spPr>
          <a:xfrm>
            <a:off x="612648" y="228600"/>
            <a:ext cx="8153400" cy="990600"/>
          </a:xfrm>
        </p:spPr>
        <p:txBody>
          <a:bodyPr>
            <a:normAutofit fontScale="90000"/>
          </a:bodyPr>
          <a:lstStyle/>
          <a:p>
            <a:r>
              <a:rPr lang="en-US" sz="4400" dirty="0"/>
              <a:t>Scalable </a:t>
            </a:r>
            <a:r>
              <a:rPr lang="en-US" sz="4400" b="1" dirty="0">
                <a:effectLst>
                  <a:outerShdw blurRad="38100" dist="38100" dir="2700000" algn="tl">
                    <a:srgbClr val="000000">
                      <a:alpha val="43137"/>
                    </a:srgbClr>
                  </a:outerShdw>
                </a:effectLst>
              </a:rPr>
              <a:t>Personalized</a:t>
            </a:r>
            <a:r>
              <a:rPr lang="en-US" sz="4400" dirty="0"/>
              <a:t> Pricing</a:t>
            </a:r>
            <a:br>
              <a:rPr lang="en-US" sz="4400" dirty="0"/>
            </a:br>
            <a:r>
              <a:rPr lang="en-US" sz="3600" dirty="0"/>
              <a:t>Evaluation</a:t>
            </a:r>
            <a:endParaRPr lang="en-US" dirty="0"/>
          </a:p>
        </p:txBody>
      </p:sp>
    </p:spTree>
    <p:extLst>
      <p:ext uri="{BB962C8B-B14F-4D97-AF65-F5344CB8AC3E}">
        <p14:creationId xmlns:p14="http://schemas.microsoft.com/office/powerpoint/2010/main" val="407632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9534" y="2548467"/>
            <a:ext cx="6996514" cy="19473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769534" y="2743200"/>
            <a:ext cx="3589866" cy="19473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731933" y="2370667"/>
            <a:ext cx="3034115" cy="19473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sz="4400" dirty="0"/>
              <a:t>Challenges with Targeted Pricing</a:t>
            </a:r>
            <a:br>
              <a:rPr lang="en-US" sz="4400" dirty="0"/>
            </a:br>
            <a:r>
              <a:rPr lang="en-US" sz="3600" dirty="0"/>
              <a:t>Is it </a:t>
            </a:r>
            <a:r>
              <a:rPr lang="en-US" sz="3600" b="1" dirty="0">
                <a:effectLst>
                  <a:outerShdw blurRad="38100" dist="38100" dir="2700000" algn="tl">
                    <a:srgbClr val="000000">
                      <a:alpha val="43137"/>
                    </a:srgbClr>
                  </a:outerShdw>
                </a:effectLst>
              </a:rPr>
              <a:t>Legal?</a:t>
            </a:r>
            <a:endParaRPr lang="en-US" sz="4400" b="1" dirty="0">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a:xfrm>
            <a:off x="612647" y="1600199"/>
            <a:ext cx="8337999" cy="5118827"/>
          </a:xfrm>
        </p:spPr>
        <p:txBody>
          <a:bodyPr>
            <a:normAutofit fontScale="25000" lnSpcReduction="20000"/>
          </a:bodyPr>
          <a:lstStyle/>
          <a:p>
            <a:pPr>
              <a:spcBef>
                <a:spcPts val="1800"/>
              </a:spcBef>
              <a:spcAft>
                <a:spcPts val="1200"/>
              </a:spcAft>
            </a:pPr>
            <a:r>
              <a:rPr lang="en-US" sz="6400" dirty="0"/>
              <a:t>U.S. law (E.U. is </a:t>
            </a:r>
            <a:r>
              <a:rPr lang="en-US" sz="6400" u="sng" dirty="0"/>
              <a:t>stricter</a:t>
            </a:r>
            <a:r>
              <a:rPr lang="en-US" sz="6400" dirty="0"/>
              <a:t> on race, nationality &amp; geography):</a:t>
            </a:r>
          </a:p>
          <a:p>
            <a:pPr marL="1098550" lvl="3" indent="0">
              <a:spcBef>
                <a:spcPts val="0"/>
              </a:spcBef>
              <a:spcAft>
                <a:spcPts val="1200"/>
              </a:spcAft>
              <a:buNone/>
            </a:pPr>
            <a:r>
              <a:rPr lang="en-US" sz="6400" i="1" dirty="0"/>
              <a:t>“In certain limited circumstances, </a:t>
            </a:r>
            <a:r>
              <a:rPr lang="en-US" sz="6400" b="1" i="1" dirty="0"/>
              <a:t>price discrimination</a:t>
            </a:r>
            <a:r>
              <a:rPr lang="en-US" sz="6400" i="1" dirty="0"/>
              <a:t> might feature as an aspect of an exclusionary strategy meant to enhance or protect market power. Intervention should be limited to preventing these exclusionary abuses… Absent accompanying unfair or deceptive conduct, </a:t>
            </a:r>
            <a:r>
              <a:rPr lang="en-US" sz="6400" b="1" i="1" dirty="0"/>
              <a:t>personalized pricing</a:t>
            </a:r>
            <a:r>
              <a:rPr lang="en-US" sz="6400" i="1" dirty="0"/>
              <a:t> alone does not raise any of these concerns, and therefore provides no basis for intervention.”	(</a:t>
            </a:r>
            <a:r>
              <a:rPr lang="en-US" sz="6400" b="1" i="1" dirty="0">
                <a:hlinkClick r:id="rId3"/>
              </a:rPr>
              <a:t>FTC, 2018</a:t>
            </a:r>
            <a:r>
              <a:rPr lang="en-US" sz="6400" b="1" i="1" dirty="0"/>
              <a:t>)</a:t>
            </a:r>
            <a:endParaRPr lang="en-US" sz="6400" i="1" dirty="0"/>
          </a:p>
          <a:p>
            <a:pPr>
              <a:spcBef>
                <a:spcPts val="0"/>
              </a:spcBef>
              <a:spcAft>
                <a:spcPts val="1200"/>
              </a:spcAft>
            </a:pPr>
            <a:r>
              <a:rPr lang="en-US" sz="6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Disparate Treatment</a:t>
            </a:r>
            <a:r>
              <a:rPr lang="en-US" sz="6400" dirty="0"/>
              <a:t> prohibited in housing, credit, employment, public accommodations,  &amp; voting based on </a:t>
            </a:r>
            <a:r>
              <a:rPr lang="en-US" sz="6400" b="1" dirty="0">
                <a:effectLst>
                  <a:outerShdw blurRad="38100" dist="38100" dir="2700000" algn="tl">
                    <a:srgbClr val="000000">
                      <a:alpha val="43137"/>
                    </a:srgbClr>
                  </a:outerShdw>
                </a:effectLst>
              </a:rPr>
              <a:t>protected classes</a:t>
            </a:r>
          </a:p>
          <a:p>
            <a:pPr lvl="1">
              <a:spcBef>
                <a:spcPts val="0"/>
              </a:spcBef>
              <a:spcAft>
                <a:spcPts val="1200"/>
              </a:spcAft>
            </a:pPr>
            <a:r>
              <a:rPr lang="en-US" sz="6400" dirty="0"/>
              <a:t>sex, race/color, religion/creed, nationality, sexual orientation/gender identity, disability status, familial status, veteran status, genetic info</a:t>
            </a:r>
          </a:p>
          <a:p>
            <a:pPr>
              <a:spcBef>
                <a:spcPts val="1200"/>
              </a:spcBef>
              <a:spcAft>
                <a:spcPts val="1200"/>
              </a:spcAft>
            </a:pPr>
            <a:r>
              <a:rPr lang="en-US" sz="6400" dirty="0">
                <a:hlinkClick r:id="rId4"/>
              </a:rPr>
              <a:t>The Pink Tax Repeal Act (HR 2048)</a:t>
            </a:r>
            <a:r>
              <a:rPr lang="en-US" sz="6400" dirty="0"/>
              <a:t>: prohibits product manufacturers or service providers from selling substantially similar products at different prices based on gender… If, for example, only difference between 2 products is color, they are substantially similar. (pending in Congress)</a:t>
            </a:r>
          </a:p>
          <a:p>
            <a:pPr>
              <a:spcBef>
                <a:spcPts val="0"/>
              </a:spcBef>
              <a:spcAft>
                <a:spcPts val="0"/>
              </a:spcAft>
            </a:pPr>
            <a:r>
              <a:rPr lang="en-US" sz="6400" dirty="0"/>
              <a:t>See also</a:t>
            </a:r>
          </a:p>
          <a:p>
            <a:pPr>
              <a:spcBef>
                <a:spcPts val="0"/>
              </a:spcBef>
              <a:spcAft>
                <a:spcPts val="0"/>
              </a:spcAft>
            </a:pPr>
            <a:endParaRPr lang="en-US" sz="6400" dirty="0"/>
          </a:p>
          <a:p>
            <a:pPr lvl="1">
              <a:spcBef>
                <a:spcPts val="0"/>
              </a:spcBef>
              <a:spcAft>
                <a:spcPts val="0"/>
              </a:spcAft>
            </a:pPr>
            <a:r>
              <a:rPr lang="fr-FR" sz="6400" dirty="0" err="1">
                <a:hlinkClick r:id="rId5"/>
              </a:rPr>
              <a:t>Katzman</a:t>
            </a:r>
            <a:r>
              <a:rPr lang="fr-FR" sz="6400" dirty="0">
                <a:hlinkClick r:id="rId5"/>
              </a:rPr>
              <a:t> V. </a:t>
            </a:r>
            <a:r>
              <a:rPr lang="fr-FR" sz="6400" dirty="0" err="1">
                <a:hlinkClick r:id="rId5"/>
              </a:rPr>
              <a:t>Victoria's</a:t>
            </a:r>
            <a:r>
              <a:rPr lang="fr-FR" sz="6400" dirty="0">
                <a:hlinkClick r:id="rId5"/>
              </a:rPr>
              <a:t> Secret Catalogue 923 F. </a:t>
            </a:r>
            <a:r>
              <a:rPr lang="fr-FR" sz="6400" dirty="0" err="1">
                <a:hlinkClick r:id="rId5"/>
              </a:rPr>
              <a:t>Supp</a:t>
            </a:r>
            <a:r>
              <a:rPr lang="fr-FR" sz="6400" dirty="0">
                <a:hlinkClick r:id="rId5"/>
              </a:rPr>
              <a:t>. 580 (1996)</a:t>
            </a:r>
            <a:endParaRPr lang="en-US" sz="6400" dirty="0"/>
          </a:p>
          <a:p>
            <a:pPr lvl="1">
              <a:spcBef>
                <a:spcPts val="1200"/>
              </a:spcBef>
              <a:spcAft>
                <a:spcPts val="0"/>
              </a:spcAft>
            </a:pPr>
            <a:r>
              <a:rPr lang="en-US" sz="6400" dirty="0">
                <a:hlinkClick r:id="rId6"/>
              </a:rPr>
              <a:t>“Battle of the Prices: Is It Ever Fair to Charge One Sex More?” </a:t>
            </a:r>
            <a:r>
              <a:rPr lang="en-US" sz="6400" i="1" dirty="0">
                <a:hlinkClick r:id="rId6"/>
              </a:rPr>
              <a:t>The Atlantic, 2014</a:t>
            </a:r>
            <a:r>
              <a:rPr lang="en-US" sz="1600" i="1" dirty="0">
                <a:hlinkClick r:id="rId6"/>
              </a:rPr>
              <a:t>4</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14</a:t>
            </a:fld>
            <a:endParaRPr lang="en-US"/>
          </a:p>
        </p:txBody>
      </p:sp>
    </p:spTree>
    <p:extLst>
      <p:ext uri="{BB962C8B-B14F-4D97-AF65-F5344CB8AC3E}">
        <p14:creationId xmlns:p14="http://schemas.microsoft.com/office/powerpoint/2010/main" val="1593009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Challenges with Targeted Pricing</a:t>
            </a:r>
            <a:br>
              <a:rPr lang="en-US" sz="4400" dirty="0"/>
            </a:br>
            <a:r>
              <a:rPr lang="en-US" sz="3600" dirty="0"/>
              <a:t>Is it </a:t>
            </a:r>
            <a:r>
              <a:rPr lang="en-US" sz="3600" b="1" dirty="0">
                <a:effectLst>
                  <a:outerShdw blurRad="38100" dist="38100" dir="2700000" algn="tl">
                    <a:srgbClr val="000000">
                      <a:alpha val="43137"/>
                    </a:srgbClr>
                  </a:outerShdw>
                </a:effectLst>
              </a:rPr>
              <a:t>Legal? </a:t>
            </a:r>
            <a:r>
              <a:rPr lang="en-US" sz="3600" dirty="0"/>
              <a:t>Chinese law is stricter</a:t>
            </a:r>
            <a:r>
              <a:rPr lang="en-US" sz="3600" b="1" dirty="0">
                <a:effectLst>
                  <a:outerShdw blurRad="38100" dist="38100" dir="2700000" algn="tl">
                    <a:srgbClr val="000000">
                      <a:alpha val="43137"/>
                    </a:srgbClr>
                  </a:outerShdw>
                </a:effectLst>
              </a:rPr>
              <a:t> </a:t>
            </a:r>
            <a:endParaRPr lang="en-US" sz="4400" b="1" dirty="0">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a:xfrm>
            <a:off x="612647" y="1600199"/>
            <a:ext cx="8337999" cy="5118827"/>
          </a:xfrm>
        </p:spPr>
        <p:txBody>
          <a:bodyPr>
            <a:normAutofit fontScale="92500" lnSpcReduction="20000"/>
          </a:bodyPr>
          <a:lstStyle/>
          <a:p>
            <a:pPr marL="0" indent="0" algn="ctr">
              <a:spcBef>
                <a:spcPts val="600"/>
              </a:spcBef>
              <a:spcAft>
                <a:spcPts val="600"/>
              </a:spcAft>
              <a:buNone/>
            </a:pPr>
            <a:r>
              <a:rPr lang="en-US" sz="2600" b="1" dirty="0">
                <a:hlinkClick r:id="rId3"/>
              </a:rPr>
              <a:t>Price Law of the People's Republic of China</a:t>
            </a:r>
            <a:r>
              <a:rPr lang="en-US" sz="2600" dirty="0"/>
              <a:t> (Dec. 29, 1997)</a:t>
            </a:r>
          </a:p>
          <a:p>
            <a:pPr marL="0" indent="0">
              <a:spcBef>
                <a:spcPts val="600"/>
              </a:spcBef>
              <a:spcAft>
                <a:spcPts val="600"/>
              </a:spcAft>
              <a:buNone/>
            </a:pPr>
            <a:r>
              <a:rPr lang="en-US" sz="2200" dirty="0"/>
              <a:t>“</a:t>
            </a:r>
            <a:r>
              <a:rPr lang="en-US" dirty="0"/>
              <a:t>Operators shall not engage in the following unfair pricing practices:</a:t>
            </a:r>
          </a:p>
          <a:p>
            <a:pPr marL="0" indent="0">
              <a:spcBef>
                <a:spcPts val="600"/>
              </a:spcBef>
              <a:spcAft>
                <a:spcPts val="600"/>
              </a:spcAft>
              <a:buNone/>
            </a:pPr>
            <a:r>
              <a:rPr lang="en-US" dirty="0"/>
              <a:t>5. When providing the same goods or services, </a:t>
            </a:r>
            <a:r>
              <a:rPr lang="en-US" b="1" dirty="0">
                <a:solidFill>
                  <a:srgbClr val="FF0000"/>
                </a:solidFill>
              </a:rPr>
              <a:t>practicing price discrimination</a:t>
            </a:r>
            <a:r>
              <a:rPr lang="en-US" dirty="0"/>
              <a:t> against other operators with the same trading conditions;”</a:t>
            </a:r>
          </a:p>
          <a:p>
            <a:pPr marL="0" indent="0">
              <a:spcBef>
                <a:spcPts val="600"/>
              </a:spcBef>
              <a:spcAft>
                <a:spcPts val="600"/>
              </a:spcAft>
              <a:buNone/>
            </a:pPr>
            <a:endParaRPr lang="en-US" sz="2200" dirty="0"/>
          </a:p>
          <a:p>
            <a:pPr marL="0" indent="0" algn="ctr">
              <a:spcBef>
                <a:spcPts val="600"/>
              </a:spcBef>
              <a:spcAft>
                <a:spcPts val="600"/>
              </a:spcAft>
              <a:buNone/>
            </a:pPr>
            <a:r>
              <a:rPr lang="en-US" sz="2600" b="1" dirty="0">
                <a:hlinkClick r:id="rId4"/>
              </a:rPr>
              <a:t>Regulations of Shenzhen Special Economic Zone on Promoting the Artificial Intelligence Industry</a:t>
            </a:r>
            <a:r>
              <a:rPr lang="en-US" sz="2600" dirty="0"/>
              <a:t> (March 8, 2024)</a:t>
            </a:r>
            <a:endParaRPr lang="en-US" sz="2200" dirty="0"/>
          </a:p>
          <a:p>
            <a:pPr marL="0" indent="0">
              <a:spcBef>
                <a:spcPts val="600"/>
              </a:spcBef>
              <a:spcAft>
                <a:spcPts val="600"/>
              </a:spcAft>
              <a:buNone/>
            </a:pPr>
            <a:r>
              <a:rPr lang="en-US" sz="2000" dirty="0"/>
              <a:t>“Any organization or individual engaged in AI research or application shall not conduct any of the following acts:</a:t>
            </a:r>
          </a:p>
          <a:p>
            <a:pPr marL="0" indent="0">
              <a:spcBef>
                <a:spcPts val="600"/>
              </a:spcBef>
              <a:spcAft>
                <a:spcPts val="600"/>
              </a:spcAft>
              <a:buNone/>
            </a:pPr>
            <a:r>
              <a:rPr lang="en-US" sz="2000" dirty="0"/>
              <a:t>4. Any organization or individual shall </a:t>
            </a:r>
            <a:r>
              <a:rPr lang="en-US" sz="2000" b="1" dirty="0">
                <a:solidFill>
                  <a:srgbClr val="FF0000"/>
                </a:solidFill>
              </a:rPr>
              <a:t>not discriminate</a:t>
            </a:r>
            <a:r>
              <a:rPr lang="en-US" sz="2000" b="1" dirty="0"/>
              <a:t> </a:t>
            </a:r>
            <a:r>
              <a:rPr lang="en-US" sz="2000" dirty="0"/>
              <a:t>against users based on race, gender, nationality, ethnic group or religious beliefs;</a:t>
            </a:r>
          </a:p>
          <a:p>
            <a:pPr marL="0" indent="0">
              <a:spcBef>
                <a:spcPts val="600"/>
              </a:spcBef>
              <a:spcAft>
                <a:spcPts val="600"/>
              </a:spcAft>
              <a:buNone/>
            </a:pPr>
            <a:r>
              <a:rPr lang="en-US" sz="2000" dirty="0"/>
              <a:t>5. Any organization or individual shall not resort to any acts that harms consumers’ rights and interests, </a:t>
            </a:r>
            <a:r>
              <a:rPr lang="en-US" sz="2000" b="1" dirty="0">
                <a:solidFill>
                  <a:srgbClr val="FF0000"/>
                </a:solidFill>
              </a:rPr>
              <a:t>such as price discrimination </a:t>
            </a:r>
            <a:r>
              <a:rPr lang="en-US" sz="2000" dirty="0"/>
              <a:t>and consumption fraud, based on user’s habits, preferences or ability to pay;”</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15</a:t>
            </a:fld>
            <a:endParaRPr lang="en-US"/>
          </a:p>
        </p:txBody>
      </p:sp>
    </p:spTree>
    <p:extLst>
      <p:ext uri="{BB962C8B-B14F-4D97-AF65-F5344CB8AC3E}">
        <p14:creationId xmlns:p14="http://schemas.microsoft.com/office/powerpoint/2010/main" val="3819994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buNone/>
            </a:pPr>
            <a:endParaRPr lang="en-US" dirty="0"/>
          </a:p>
          <a:p>
            <a:pPr marL="0" indent="0">
              <a:buNone/>
            </a:pPr>
            <a:endParaRPr lang="en-US" dirty="0"/>
          </a:p>
          <a:p>
            <a:pPr marL="0" indent="0">
              <a:buNone/>
            </a:pPr>
            <a:endParaRPr lang="en-US" dirty="0"/>
          </a:p>
          <a:p>
            <a:pPr marL="0" indent="0" algn="ctr">
              <a:buNone/>
            </a:pPr>
            <a:r>
              <a:rPr lang="en-US" sz="3200" dirty="0"/>
              <a:t>Is targeted pricing </a:t>
            </a:r>
            <a:r>
              <a:rPr lang="en-US" sz="3200" b="1" dirty="0">
                <a:solidFill>
                  <a:srgbClr val="C00000"/>
                </a:solidFill>
                <a:effectLst>
                  <a:outerShdw blurRad="38100" dist="38100" dir="2700000" algn="tl">
                    <a:srgbClr val="000000">
                      <a:alpha val="43137"/>
                    </a:srgbClr>
                  </a:outerShdw>
                </a:effectLst>
              </a:rPr>
              <a:t>fair</a:t>
            </a:r>
            <a:r>
              <a:rPr lang="en-US" sz="3200" dirty="0"/>
              <a:t>?</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16</a:t>
            </a:fld>
            <a:endParaRPr lang="en-US"/>
          </a:p>
        </p:txBody>
      </p:sp>
      <p:sp>
        <p:nvSpPr>
          <p:cNvPr id="6" name="Title 1"/>
          <p:cNvSpPr>
            <a:spLocks noGrp="1"/>
          </p:cNvSpPr>
          <p:nvPr>
            <p:ph type="title"/>
          </p:nvPr>
        </p:nvSpPr>
        <p:spPr/>
        <p:txBody>
          <a:bodyPr>
            <a:normAutofit fontScale="90000"/>
          </a:bodyPr>
          <a:lstStyle/>
          <a:p>
            <a:r>
              <a:rPr lang="en-US" sz="4400" dirty="0"/>
              <a:t>Challenges with Targeted Pricing</a:t>
            </a:r>
            <a:br>
              <a:rPr lang="en-US" sz="4400" dirty="0"/>
            </a:br>
            <a:r>
              <a:rPr lang="en-US" sz="3600" dirty="0"/>
              <a:t>	</a:t>
            </a:r>
            <a:r>
              <a:rPr lang="en-US" sz="3600" b="1" dirty="0">
                <a:effectLst>
                  <a:outerShdw blurRad="38100" dist="38100" dir="2700000" algn="tl">
                    <a:srgbClr val="000000">
                      <a:alpha val="43137"/>
                    </a:srgbClr>
                  </a:outerShdw>
                </a:effectLst>
              </a:rPr>
              <a:t>Fairness</a:t>
            </a:r>
            <a:endParaRPr lang="en-US" sz="4400" b="1" dirty="0">
              <a:effectLst>
                <a:outerShdw blurRad="38100" dist="38100" dir="2700000" algn="tl">
                  <a:srgbClr val="000000">
                    <a:alpha val="43137"/>
                  </a:srgbClr>
                </a:outerShdw>
              </a:effectLst>
            </a:endParaRPr>
          </a:p>
        </p:txBody>
      </p:sp>
      <p:sp>
        <p:nvSpPr>
          <p:cNvPr id="5" name="Text Placeholder 1"/>
          <p:cNvSpPr txBox="1">
            <a:spLocks/>
          </p:cNvSpPr>
          <p:nvPr/>
        </p:nvSpPr>
        <p:spPr>
          <a:xfrm>
            <a:off x="1106424" y="868680"/>
            <a:ext cx="403384" cy="403384"/>
          </a:xfrm>
          <a:prstGeom prst="ellipse">
            <a:avLst/>
          </a:prstGeom>
          <a:solidFill>
            <a:srgbClr val="D9D3CC"/>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4</a:t>
            </a:r>
          </a:p>
        </p:txBody>
      </p:sp>
      <p:pic>
        <p:nvPicPr>
          <p:cNvPr id="2050" name="Picture 2" descr="10 Reasons Strategic Fairness is Worth Your Effort | Simply Understanding  by Giana Consul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0553" y="3612407"/>
            <a:ext cx="2811728" cy="2811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32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Challenges with Targeted Pricing</a:t>
            </a:r>
            <a:br>
              <a:rPr lang="en-US" sz="4400" dirty="0"/>
            </a:br>
            <a:r>
              <a:rPr lang="en-US" sz="3600" b="1" dirty="0">
                <a:effectLst>
                  <a:outerShdw blurRad="38100" dist="38100" dir="2700000" algn="tl">
                    <a:srgbClr val="000000">
                      <a:alpha val="43137"/>
                    </a:srgbClr>
                  </a:outerShdw>
                </a:effectLst>
              </a:rPr>
              <a:t>Fairness </a:t>
            </a:r>
            <a:r>
              <a:rPr lang="en-US" sz="3600" dirty="0"/>
              <a:t>&amp;</a:t>
            </a:r>
            <a:r>
              <a:rPr lang="en-US" sz="3600" b="1" dirty="0">
                <a:effectLst>
                  <a:outerShdw blurRad="38100" dist="38100" dir="2700000" algn="tl">
                    <a:srgbClr val="000000">
                      <a:alpha val="43137"/>
                    </a:srgbClr>
                  </a:outerShdw>
                </a:effectLst>
              </a:rPr>
              <a:t> Public Relations Concerns</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17</a:t>
            </a:fld>
            <a:endParaRPr lang="en-US"/>
          </a:p>
        </p:txBody>
      </p:sp>
      <p:sp>
        <p:nvSpPr>
          <p:cNvPr id="14" name="Content Placeholder 2">
            <a:extLst>
              <a:ext uri="{FF2B5EF4-FFF2-40B4-BE49-F238E27FC236}">
                <a16:creationId xmlns:a16="http://schemas.microsoft.com/office/drawing/2014/main" id="{2B114FEA-9E97-48A0-BE04-78CD0CB9392A}"/>
              </a:ext>
            </a:extLst>
          </p:cNvPr>
          <p:cNvSpPr txBox="1">
            <a:spLocks/>
          </p:cNvSpPr>
          <p:nvPr/>
        </p:nvSpPr>
        <p:spPr bwMode="auto">
          <a:xfrm>
            <a:off x="2034912" y="4247974"/>
            <a:ext cx="7010350" cy="645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spcBef>
                <a:spcPts val="0"/>
              </a:spcBef>
              <a:spcAft>
                <a:spcPts val="1200"/>
              </a:spcAft>
              <a:buFont typeface="Wingdings" pitchFamily="2" charset="2"/>
              <a:buNone/>
            </a:pPr>
            <a:r>
              <a:rPr lang="en-US" dirty="0"/>
              <a:t>Firms may avoid targeting for PR reasons</a:t>
            </a:r>
          </a:p>
        </p:txBody>
      </p:sp>
      <p:sp>
        <p:nvSpPr>
          <p:cNvPr id="15" name="Rectangle 14">
            <a:extLst>
              <a:ext uri="{FF2B5EF4-FFF2-40B4-BE49-F238E27FC236}">
                <a16:creationId xmlns:a16="http://schemas.microsoft.com/office/drawing/2014/main" id="{8EC4A9ED-6402-48E2-8ADB-8E0C612F851D}"/>
              </a:ext>
            </a:extLst>
          </p:cNvPr>
          <p:cNvSpPr/>
          <p:nvPr/>
        </p:nvSpPr>
        <p:spPr>
          <a:xfrm>
            <a:off x="3229321" y="4658165"/>
            <a:ext cx="4054397" cy="1723549"/>
          </a:xfrm>
          <a:prstGeom prst="rect">
            <a:avLst/>
          </a:prstGeom>
          <a:solidFill>
            <a:schemeClr val="accent1">
              <a:lumMod val="60000"/>
              <a:lumOff val="40000"/>
            </a:schemeClr>
          </a:solidFill>
        </p:spPr>
        <p:txBody>
          <a:bodyPr wrap="square">
            <a:spAutoFit/>
          </a:bodyPr>
          <a:lstStyle/>
          <a:p>
            <a:endParaRPr lang="en-US" sz="1200" dirty="0">
              <a:solidFill>
                <a:srgbClr val="545454"/>
              </a:solidFill>
              <a:latin typeface="Roboto" panose="02000000000000000000" pitchFamily="2" charset="0"/>
            </a:endParaRPr>
          </a:p>
          <a:p>
            <a:pPr>
              <a:spcAft>
                <a:spcPts val="1200"/>
              </a:spcAft>
            </a:pPr>
            <a:r>
              <a:rPr lang="en-US" sz="1800" dirty="0">
                <a:solidFill>
                  <a:srgbClr val="545454"/>
                </a:solidFill>
                <a:latin typeface="Times" panose="02020603050405020304" pitchFamily="18" charset="0"/>
                <a:cs typeface="Times" panose="02020603050405020304" pitchFamily="18" charset="0"/>
              </a:rPr>
              <a:t>"</a:t>
            </a:r>
            <a:r>
              <a:rPr lang="en-US" sz="1800" dirty="0">
                <a:solidFill>
                  <a:srgbClr val="545454"/>
                </a:solidFill>
                <a:latin typeface="Roboto" panose="02000000000000000000" pitchFamily="2" charset="0"/>
              </a:rPr>
              <a:t>We've never tested and we never will test </a:t>
            </a:r>
            <a:r>
              <a:rPr lang="en-US" sz="1800" b="1" dirty="0">
                <a:solidFill>
                  <a:srgbClr val="6A6A6A"/>
                </a:solidFill>
                <a:latin typeface="Roboto" panose="02000000000000000000" pitchFamily="2" charset="0"/>
              </a:rPr>
              <a:t>prices </a:t>
            </a:r>
            <a:r>
              <a:rPr lang="en-US" sz="1800" dirty="0">
                <a:solidFill>
                  <a:srgbClr val="545454"/>
                </a:solidFill>
                <a:latin typeface="Roboto" panose="02000000000000000000" pitchFamily="2" charset="0"/>
              </a:rPr>
              <a:t>based on customer demographics</a:t>
            </a:r>
            <a:r>
              <a:rPr lang="en-US" sz="1800" dirty="0">
                <a:solidFill>
                  <a:srgbClr val="545454"/>
                </a:solidFill>
                <a:latin typeface="Times" panose="02020603050405020304" pitchFamily="18" charset="0"/>
                <a:cs typeface="Times" panose="02020603050405020304" pitchFamily="18" charset="0"/>
              </a:rPr>
              <a:t>”</a:t>
            </a:r>
          </a:p>
          <a:p>
            <a:pPr marL="285750" indent="-285750">
              <a:buFontTx/>
              <a:buChar char="-"/>
            </a:pPr>
            <a:r>
              <a:rPr lang="en-US" sz="1600" dirty="0">
                <a:solidFill>
                  <a:srgbClr val="545454"/>
                </a:solidFill>
                <a:latin typeface="Roboto" panose="02000000000000000000" pitchFamily="2" charset="0"/>
              </a:rPr>
              <a:t>Jeff Bezos, CEO, Amazon</a:t>
            </a:r>
          </a:p>
          <a:p>
            <a:endParaRPr lang="en-US" sz="1200" dirty="0"/>
          </a:p>
        </p:txBody>
      </p:sp>
      <p:pic>
        <p:nvPicPr>
          <p:cNvPr id="16" name="Picture 4" descr="Image result for bezos differential pricing quotation">
            <a:extLst>
              <a:ext uri="{FF2B5EF4-FFF2-40B4-BE49-F238E27FC236}">
                <a16:creationId xmlns:a16="http://schemas.microsoft.com/office/drawing/2014/main" id="{D988A878-1513-437D-BEEA-ED156BFCF7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596" t="12877" r="27690"/>
          <a:stretch/>
        </p:blipFill>
        <p:spPr bwMode="auto">
          <a:xfrm>
            <a:off x="1977263" y="4649901"/>
            <a:ext cx="1252058" cy="1723549"/>
          </a:xfrm>
          <a:prstGeom prst="rect">
            <a:avLst/>
          </a:prstGeom>
          <a:noFill/>
          <a:extLst>
            <a:ext uri="{909E8E84-426E-40DD-AFC4-6F175D3DCCD1}">
              <a14:hiddenFill xmlns:a14="http://schemas.microsoft.com/office/drawing/2010/main">
                <a:solidFill>
                  <a:srgbClr val="FFFFFF"/>
                </a:solidFill>
              </a14:hiddenFill>
            </a:ext>
          </a:extLst>
        </p:spPr>
      </p:pic>
      <p:sp>
        <p:nvSpPr>
          <p:cNvPr id="18" name="Content Placeholder 2">
            <a:extLst>
              <a:ext uri="{FF2B5EF4-FFF2-40B4-BE49-F238E27FC236}">
                <a16:creationId xmlns:a16="http://schemas.microsoft.com/office/drawing/2014/main" id="{9BF95ED0-47DA-4961-8C0B-14F712FA47D6}"/>
              </a:ext>
            </a:extLst>
          </p:cNvPr>
          <p:cNvSpPr txBox="1">
            <a:spLocks/>
          </p:cNvSpPr>
          <p:nvPr/>
        </p:nvSpPr>
        <p:spPr bwMode="auto">
          <a:xfrm>
            <a:off x="311933" y="6508475"/>
            <a:ext cx="8153400" cy="3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sz="1800" dirty="0"/>
              <a:t>Also see </a:t>
            </a:r>
            <a:r>
              <a:rPr lang="en-US" sz="1800" b="1" u="sng" dirty="0"/>
              <a:t>extra</a:t>
            </a:r>
            <a:r>
              <a:rPr lang="en-US" sz="1800" dirty="0"/>
              <a:t> slides on other challenges with targeted pricing</a:t>
            </a:r>
          </a:p>
        </p:txBody>
      </p:sp>
      <p:pic>
        <p:nvPicPr>
          <p:cNvPr id="19" name="Picture 18">
            <a:hlinkClick r:id="rId3"/>
            <a:extLst>
              <a:ext uri="{FF2B5EF4-FFF2-40B4-BE49-F238E27FC236}">
                <a16:creationId xmlns:a16="http://schemas.microsoft.com/office/drawing/2014/main" id="{2313BA51-2A5A-465D-AFC7-9DC2D7D07511}"/>
              </a:ext>
            </a:extLst>
          </p:cNvPr>
          <p:cNvPicPr>
            <a:picLocks noChangeAspect="1"/>
          </p:cNvPicPr>
          <p:nvPr/>
        </p:nvPicPr>
        <p:blipFill>
          <a:blip r:embed="rId4"/>
          <a:stretch>
            <a:fillRect/>
          </a:stretch>
        </p:blipFill>
        <p:spPr>
          <a:xfrm>
            <a:off x="5381035" y="2346690"/>
            <a:ext cx="3629883" cy="1060299"/>
          </a:xfrm>
          <a:prstGeom prst="rect">
            <a:avLst/>
          </a:prstGeom>
        </p:spPr>
      </p:pic>
      <p:pic>
        <p:nvPicPr>
          <p:cNvPr id="20" name="Picture 19">
            <a:extLst>
              <a:ext uri="{FF2B5EF4-FFF2-40B4-BE49-F238E27FC236}">
                <a16:creationId xmlns:a16="http://schemas.microsoft.com/office/drawing/2014/main" id="{08D1E8F0-540A-44CB-8626-0C0B2C022ACF}"/>
              </a:ext>
            </a:extLst>
          </p:cNvPr>
          <p:cNvPicPr>
            <a:picLocks noChangeAspect="1"/>
          </p:cNvPicPr>
          <p:nvPr/>
        </p:nvPicPr>
        <p:blipFill>
          <a:blip r:embed="rId5"/>
          <a:stretch>
            <a:fillRect/>
          </a:stretch>
        </p:blipFill>
        <p:spPr>
          <a:xfrm>
            <a:off x="7591575" y="2846690"/>
            <a:ext cx="1385000" cy="928993"/>
          </a:xfrm>
          <a:prstGeom prst="rect">
            <a:avLst/>
          </a:prstGeom>
        </p:spPr>
      </p:pic>
      <p:pic>
        <p:nvPicPr>
          <p:cNvPr id="5" name="Picture 4">
            <a:hlinkClick r:id="rId6"/>
            <a:extLst>
              <a:ext uri="{FF2B5EF4-FFF2-40B4-BE49-F238E27FC236}">
                <a16:creationId xmlns:a16="http://schemas.microsoft.com/office/drawing/2014/main" id="{369CE519-D33C-4C84-AACB-5559EBD66F17}"/>
              </a:ext>
            </a:extLst>
          </p:cNvPr>
          <p:cNvPicPr>
            <a:picLocks noChangeAspect="1"/>
          </p:cNvPicPr>
          <p:nvPr/>
        </p:nvPicPr>
        <p:blipFill>
          <a:blip r:embed="rId7"/>
          <a:stretch>
            <a:fillRect/>
          </a:stretch>
        </p:blipFill>
        <p:spPr>
          <a:xfrm>
            <a:off x="311933" y="1692011"/>
            <a:ext cx="4767309" cy="468486"/>
          </a:xfrm>
          <a:prstGeom prst="rect">
            <a:avLst/>
          </a:prstGeom>
        </p:spPr>
      </p:pic>
      <p:pic>
        <p:nvPicPr>
          <p:cNvPr id="7" name="Picture 6">
            <a:extLst>
              <a:ext uri="{FF2B5EF4-FFF2-40B4-BE49-F238E27FC236}">
                <a16:creationId xmlns:a16="http://schemas.microsoft.com/office/drawing/2014/main" id="{14760D63-1EEB-4FFB-894D-C5E207ACE710}"/>
              </a:ext>
            </a:extLst>
          </p:cNvPr>
          <p:cNvPicPr>
            <a:picLocks noChangeAspect="1"/>
          </p:cNvPicPr>
          <p:nvPr/>
        </p:nvPicPr>
        <p:blipFill>
          <a:blip r:embed="rId8"/>
          <a:stretch>
            <a:fillRect/>
          </a:stretch>
        </p:blipFill>
        <p:spPr>
          <a:xfrm>
            <a:off x="277590" y="2192361"/>
            <a:ext cx="2758573" cy="1448447"/>
          </a:xfrm>
          <a:prstGeom prst="rect">
            <a:avLst/>
          </a:prstGeom>
        </p:spPr>
      </p:pic>
    </p:spTree>
    <p:extLst>
      <p:ext uri="{BB962C8B-B14F-4D97-AF65-F5344CB8AC3E}">
        <p14:creationId xmlns:p14="http://schemas.microsoft.com/office/powerpoint/2010/main" val="906854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455582" y="2245944"/>
            <a:ext cx="2184191" cy="635000"/>
          </a:xfrm>
          <a:prstGeom prst="rect">
            <a:avLst/>
          </a:prstGeom>
          <a:solidFill>
            <a:srgbClr val="FFFF0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85649" y="2500086"/>
            <a:ext cx="7154124" cy="965199"/>
          </a:xfrm>
          <a:prstGeom prst="rect">
            <a:avLst/>
          </a:prstGeom>
          <a:solidFill>
            <a:srgbClr val="FFFF0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85649" y="3143553"/>
            <a:ext cx="2921000" cy="635000"/>
          </a:xfrm>
          <a:prstGeom prst="rect">
            <a:avLst/>
          </a:prstGeom>
          <a:solidFill>
            <a:srgbClr val="FFFF0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sz="4400" dirty="0"/>
              <a:t>Challenges with targeted pricing</a:t>
            </a:r>
            <a:br>
              <a:rPr lang="en-US" sz="4400" dirty="0"/>
            </a:br>
            <a:r>
              <a:rPr lang="en-US" sz="3600" dirty="0"/>
              <a:t>Fairness &amp; </a:t>
            </a:r>
            <a:r>
              <a:rPr lang="en-US" sz="3600"/>
              <a:t>International Segmentation</a:t>
            </a:r>
            <a:endParaRPr lang="en-US" dirty="0"/>
          </a:p>
        </p:txBody>
      </p:sp>
      <p:sp>
        <p:nvSpPr>
          <p:cNvPr id="3" name="Content Placeholder 2"/>
          <p:cNvSpPr>
            <a:spLocks noGrp="1"/>
          </p:cNvSpPr>
          <p:nvPr>
            <p:ph sz="quarter" idx="1"/>
          </p:nvPr>
        </p:nvSpPr>
        <p:spPr>
          <a:xfrm>
            <a:off x="612648" y="1873553"/>
            <a:ext cx="7027125" cy="2014782"/>
          </a:xfrm>
        </p:spPr>
        <p:txBody>
          <a:bodyPr>
            <a:noAutofit/>
          </a:bodyPr>
          <a:lstStyle/>
          <a:p>
            <a:pPr marL="0" indent="0">
              <a:spcBef>
                <a:spcPts val="0"/>
              </a:spcBef>
              <a:spcAft>
                <a:spcPts val="1200"/>
              </a:spcAft>
              <a:buNone/>
            </a:pPr>
            <a:r>
              <a:rPr lang="en-US" sz="2000" dirty="0"/>
              <a:t>“The U.S. subsidizes the worldwide pharmaceutical market. One reason is U.S. prices are higher than elsewhere. If each drug had a single international price across the highest-income OECD countries, and total pharmaceutical firm profits were held fixed, then U.S. prices would fall by half and every other country’s prices would increase (by 28 to 300%). International prices would maintain firms’ R&amp;D incentives and more equitably share the costs of pharmaceutical research.”</a:t>
            </a:r>
          </a:p>
          <a:p>
            <a:pPr marL="0" indent="0">
              <a:spcBef>
                <a:spcPts val="0"/>
              </a:spcBef>
              <a:spcAft>
                <a:spcPts val="1200"/>
              </a:spcAft>
              <a:buNone/>
            </a:pPr>
            <a:endParaRPr lang="en-US" sz="2000" dirty="0"/>
          </a:p>
          <a:p>
            <a:pPr marL="0" indent="0">
              <a:spcBef>
                <a:spcPts val="0"/>
              </a:spcBef>
              <a:spcAft>
                <a:spcPts val="1200"/>
              </a:spcAft>
              <a:buNone/>
            </a:pPr>
            <a:r>
              <a:rPr lang="en-US" sz="1400" dirty="0">
                <a:hlinkClick r:id="rId2"/>
              </a:rPr>
              <a:t>Ho &amp; </a:t>
            </a:r>
            <a:r>
              <a:rPr lang="en-US" sz="1400" dirty="0" err="1">
                <a:hlinkClick r:id="rId2"/>
              </a:rPr>
              <a:t>Pakes</a:t>
            </a:r>
            <a:r>
              <a:rPr lang="en-US" sz="1400" dirty="0">
                <a:hlinkClick r:id="rId2"/>
              </a:rPr>
              <a:t> (2024), </a:t>
            </a:r>
            <a:r>
              <a:rPr lang="en-US" sz="1400" i="1" dirty="0">
                <a:hlinkClick r:id="rId2"/>
              </a:rPr>
              <a:t>National Bureau of Economic Research</a:t>
            </a:r>
            <a:endParaRPr lang="en-US" sz="1400"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18</a:t>
            </a:fld>
            <a:endParaRPr lang="en-US"/>
          </a:p>
        </p:txBody>
      </p:sp>
      <p:pic>
        <p:nvPicPr>
          <p:cNvPr id="1026" name="Picture 2" descr="Drug pricing in the US: A Perspective | Biotech Conn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0606" y="4260726"/>
            <a:ext cx="3095442" cy="1741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304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Of course, what is “fair”?</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19</a:t>
            </a:fld>
            <a:endParaRPr lang="en-US"/>
          </a:p>
        </p:txBody>
      </p:sp>
      <p:pic>
        <p:nvPicPr>
          <p:cNvPr id="8" name="Picture 7" descr="https://images.wsj.net/im-544415?width=860&amp;height=573"/>
          <p:cNvPicPr>
            <a:picLocks noChangeAspect="1" noChangeArrowheads="1"/>
          </p:cNvPicPr>
          <p:nvPr/>
        </p:nvPicPr>
        <p:blipFill rotWithShape="1">
          <a:blip r:embed="rId2">
            <a:extLst>
              <a:ext uri="{28A0092B-C50C-407E-A947-70E740481C1C}">
                <a14:useLocalDpi xmlns:a14="http://schemas.microsoft.com/office/drawing/2010/main" val="0"/>
              </a:ext>
            </a:extLst>
          </a:blip>
          <a:srcRect l="22928" t="3803" r="23132" b="6015"/>
          <a:stretch/>
        </p:blipFill>
        <p:spPr bwMode="auto">
          <a:xfrm>
            <a:off x="763678" y="1973815"/>
            <a:ext cx="4062097" cy="45250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hlinkClick r:id="rId3"/>
          </p:cNvPr>
          <p:cNvPicPr>
            <a:picLocks noChangeAspect="1"/>
          </p:cNvPicPr>
          <p:nvPr/>
        </p:nvPicPr>
        <p:blipFill>
          <a:blip r:embed="rId4"/>
          <a:stretch>
            <a:fillRect/>
          </a:stretch>
        </p:blipFill>
        <p:spPr>
          <a:xfrm>
            <a:off x="6056174" y="1587108"/>
            <a:ext cx="2754039" cy="1200250"/>
          </a:xfrm>
          <a:prstGeom prst="rect">
            <a:avLst/>
          </a:prstGeom>
        </p:spPr>
      </p:pic>
      <p:pic>
        <p:nvPicPr>
          <p:cNvPr id="10" name="Picture 9">
            <a:hlinkClick r:id="rId3"/>
          </p:cNvPr>
          <p:cNvPicPr>
            <a:picLocks noChangeAspect="1"/>
          </p:cNvPicPr>
          <p:nvPr/>
        </p:nvPicPr>
        <p:blipFill>
          <a:blip r:embed="rId5"/>
          <a:stretch>
            <a:fillRect/>
          </a:stretch>
        </p:blipFill>
        <p:spPr>
          <a:xfrm>
            <a:off x="6822925" y="2741929"/>
            <a:ext cx="1987288" cy="1361390"/>
          </a:xfrm>
          <a:prstGeom prst="rect">
            <a:avLst/>
          </a:prstGeom>
        </p:spPr>
      </p:pic>
      <p:pic>
        <p:nvPicPr>
          <p:cNvPr id="11" name="Picture 10">
            <a:hlinkClick r:id="rId3"/>
          </p:cNvPr>
          <p:cNvPicPr>
            <a:picLocks noChangeAspect="1"/>
          </p:cNvPicPr>
          <p:nvPr/>
        </p:nvPicPr>
        <p:blipFill>
          <a:blip r:embed="rId6"/>
          <a:stretch>
            <a:fillRect/>
          </a:stretch>
        </p:blipFill>
        <p:spPr>
          <a:xfrm>
            <a:off x="6005488" y="2638467"/>
            <a:ext cx="868124" cy="431332"/>
          </a:xfrm>
          <a:prstGeom prst="rect">
            <a:avLst/>
          </a:prstGeom>
        </p:spPr>
      </p:pic>
      <p:pic>
        <p:nvPicPr>
          <p:cNvPr id="12" name="82CF7A24-2DF0-4CC8-BFD0-8A160EF38486" descr="Image-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71674" y="4467179"/>
            <a:ext cx="1810224" cy="1780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9263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r>
              <a:rPr lang="en-US" sz="4400" dirty="0"/>
              <a:t>Degrees of Price Segmentation</a:t>
            </a:r>
            <a:br>
              <a:rPr lang="en-US" sz="4400" dirty="0"/>
            </a:br>
            <a:r>
              <a:rPr lang="en-US" sz="3600" i="1" dirty="0"/>
              <a:t>Product Line Pricing </a:t>
            </a:r>
            <a:r>
              <a:rPr lang="en-US" sz="3600" dirty="0"/>
              <a:t>or </a:t>
            </a:r>
            <a:r>
              <a:rPr lang="en-US" sz="3600" i="1" dirty="0"/>
              <a:t>Indirect Pricing</a:t>
            </a:r>
          </a:p>
        </p:txBody>
      </p:sp>
      <p:sp>
        <p:nvSpPr>
          <p:cNvPr id="132099" name="Rectangle 3"/>
          <p:cNvSpPr>
            <a:spLocks noGrp="1" noChangeArrowheads="1"/>
          </p:cNvSpPr>
          <p:nvPr>
            <p:ph sz="quarter" idx="1"/>
          </p:nvPr>
        </p:nvSpPr>
        <p:spPr>
          <a:xfrm>
            <a:off x="612648" y="1600200"/>
            <a:ext cx="8410506" cy="4495800"/>
          </a:xfrm>
        </p:spPr>
        <p:txBody>
          <a:bodyPr/>
          <a:lstStyle/>
          <a:p>
            <a:pPr>
              <a:spcBef>
                <a:spcPts val="1200"/>
              </a:spcBef>
              <a:spcAft>
                <a:spcPts val="1200"/>
              </a:spcAft>
            </a:pPr>
            <a:r>
              <a:rPr lang="en-US" dirty="0"/>
              <a:t>If Targeting is tricky in your product market(s)…</a:t>
            </a:r>
          </a:p>
          <a:p>
            <a:pPr>
              <a:spcBef>
                <a:spcPts val="1200"/>
              </a:spcBef>
              <a:spcAft>
                <a:spcPts val="1200"/>
              </a:spcAft>
            </a:pPr>
            <a:r>
              <a:rPr lang="en-US" dirty="0"/>
              <a:t>Suppose you launch different </a:t>
            </a:r>
            <a:r>
              <a:rPr lang="en-US" i="1" dirty="0"/>
              <a:t>versions</a:t>
            </a:r>
            <a:r>
              <a:rPr lang="en-US" dirty="0"/>
              <a:t> of your product to charge different prices to different segments.</a:t>
            </a:r>
          </a:p>
          <a:p>
            <a:pPr marL="366713" lvl="1" indent="0">
              <a:spcBef>
                <a:spcPts val="1200"/>
              </a:spcBef>
              <a:spcAft>
                <a:spcPts val="1200"/>
              </a:spcAft>
              <a:buNone/>
            </a:pPr>
            <a:r>
              <a:rPr lang="en-US" dirty="0"/>
              <a:t>E.g., </a:t>
            </a:r>
            <a:r>
              <a:rPr lang="en-US" i="1" dirty="0"/>
              <a:t>high quality for high WTP segments and low quality for low WTP segments…</a:t>
            </a:r>
          </a:p>
          <a:p>
            <a:pPr>
              <a:spcBef>
                <a:spcPts val="1200"/>
              </a:spcBef>
              <a:spcAft>
                <a:spcPts val="1200"/>
              </a:spcAft>
            </a:pPr>
            <a:r>
              <a:rPr lang="en-US" i="1" dirty="0"/>
              <a:t>use quality as an indirect “fence” to segment customers</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20</a:t>
            </a:fld>
            <a:endParaRPr lang="en-US"/>
          </a:p>
        </p:txBody>
      </p:sp>
    </p:spTree>
    <p:extLst>
      <p:ext uri="{BB962C8B-B14F-4D97-AF65-F5344CB8AC3E}">
        <p14:creationId xmlns:p14="http://schemas.microsoft.com/office/powerpoint/2010/main" val="3846820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vs Direct Price Segmentation</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21</a:t>
            </a:fld>
            <a:endParaRPr lang="en-US"/>
          </a:p>
        </p:txBody>
      </p:sp>
      <p:pic>
        <p:nvPicPr>
          <p:cNvPr id="5" name="Picture 2" descr="http://www.accessiblecomputing.com/images/image-charlotte-internet-online-market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264" y="2038250"/>
            <a:ext cx="2857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40765" y="4551947"/>
            <a:ext cx="816249" cy="646331"/>
          </a:xfrm>
          <a:prstGeom prst="rect">
            <a:avLst/>
          </a:prstGeom>
          <a:noFill/>
        </p:spPr>
        <p:txBody>
          <a:bodyPr wrap="none" rtlCol="0">
            <a:spAutoFit/>
          </a:bodyPr>
          <a:lstStyle/>
          <a:p>
            <a:pPr algn="ctr"/>
            <a:r>
              <a:rPr lang="en-US" dirty="0">
                <a:solidFill>
                  <a:srgbClr val="FF0000"/>
                </a:solidFill>
                <a:effectLst>
                  <a:outerShdw blurRad="38100" dist="38100" dir="2700000" algn="tl">
                    <a:srgbClr val="000000">
                      <a:alpha val="43137"/>
                    </a:srgbClr>
                  </a:outerShdw>
                </a:effectLst>
              </a:rPr>
              <a:t>Price</a:t>
            </a:r>
          </a:p>
          <a:p>
            <a:pPr algn="ctr"/>
            <a:r>
              <a:rPr lang="en-US" sz="1100" dirty="0">
                <a:solidFill>
                  <a:srgbClr val="FF0000"/>
                </a:solidFill>
                <a:effectLst>
                  <a:outerShdw blurRad="38100" dist="38100" dir="2700000" algn="tl">
                    <a:srgbClr val="000000">
                      <a:alpha val="43137"/>
                    </a:srgbClr>
                  </a:outerShdw>
                </a:effectLst>
              </a:rPr>
              <a:t>(medium)</a:t>
            </a:r>
          </a:p>
        </p:txBody>
      </p:sp>
      <p:sp>
        <p:nvSpPr>
          <p:cNvPr id="7" name="TextBox 6"/>
          <p:cNvSpPr txBox="1"/>
          <p:nvPr/>
        </p:nvSpPr>
        <p:spPr>
          <a:xfrm>
            <a:off x="-35372" y="3048000"/>
            <a:ext cx="816249" cy="646331"/>
          </a:xfrm>
          <a:prstGeom prst="rect">
            <a:avLst/>
          </a:prstGeom>
          <a:noFill/>
        </p:spPr>
        <p:txBody>
          <a:bodyPr wrap="none" rtlCol="0">
            <a:spAutoFit/>
          </a:bodyPr>
          <a:lstStyle/>
          <a:p>
            <a:pPr algn="ctr"/>
            <a:r>
              <a:rPr lang="en-US" dirty="0">
                <a:solidFill>
                  <a:srgbClr val="CC66FF"/>
                </a:solidFill>
                <a:effectLst>
                  <a:outerShdw blurRad="38100" dist="38100" dir="2700000" algn="tl">
                    <a:srgbClr val="000000">
                      <a:alpha val="43137"/>
                    </a:srgbClr>
                  </a:outerShdw>
                </a:effectLst>
              </a:rPr>
              <a:t>Price</a:t>
            </a:r>
          </a:p>
          <a:p>
            <a:pPr algn="ctr"/>
            <a:r>
              <a:rPr lang="en-US" sz="1100" dirty="0">
                <a:solidFill>
                  <a:srgbClr val="CC66FF"/>
                </a:solidFill>
                <a:effectLst>
                  <a:outerShdw blurRad="38100" dist="38100" dir="2700000" algn="tl">
                    <a:srgbClr val="000000">
                      <a:alpha val="43137"/>
                    </a:srgbClr>
                  </a:outerShdw>
                </a:effectLst>
              </a:rPr>
              <a:t>(low)</a:t>
            </a:r>
          </a:p>
        </p:txBody>
      </p:sp>
      <p:sp>
        <p:nvSpPr>
          <p:cNvPr id="8" name="TextBox 7"/>
          <p:cNvSpPr txBox="1"/>
          <p:nvPr/>
        </p:nvSpPr>
        <p:spPr>
          <a:xfrm>
            <a:off x="2820123" y="4321114"/>
            <a:ext cx="816249" cy="646331"/>
          </a:xfrm>
          <a:prstGeom prst="rect">
            <a:avLst/>
          </a:prstGeom>
          <a:noFill/>
        </p:spPr>
        <p:txBody>
          <a:bodyPr wrap="none" rtlCol="0">
            <a:spAutoFit/>
          </a:bodyPr>
          <a:lstStyle/>
          <a:p>
            <a:pPr algn="ctr"/>
            <a:r>
              <a:rPr lang="en-US" dirty="0">
                <a:solidFill>
                  <a:srgbClr val="FFFF00"/>
                </a:solidFill>
                <a:effectLst>
                  <a:outerShdw blurRad="38100" dist="38100" dir="2700000" algn="tl">
                    <a:srgbClr val="000000">
                      <a:alpha val="43137"/>
                    </a:srgbClr>
                  </a:outerShdw>
                </a:effectLst>
              </a:rPr>
              <a:t>Price</a:t>
            </a:r>
          </a:p>
          <a:p>
            <a:pPr algn="ctr"/>
            <a:r>
              <a:rPr lang="en-US" sz="1100" dirty="0">
                <a:solidFill>
                  <a:srgbClr val="FFFF00"/>
                </a:solidFill>
                <a:effectLst>
                  <a:outerShdw blurRad="38100" dist="38100" dir="2700000" algn="tl">
                    <a:srgbClr val="000000">
                      <a:alpha val="43137"/>
                    </a:srgbClr>
                  </a:outerShdw>
                </a:effectLst>
              </a:rPr>
              <a:t>(high)</a:t>
            </a:r>
          </a:p>
        </p:txBody>
      </p:sp>
      <p:cxnSp>
        <p:nvCxnSpPr>
          <p:cNvPr id="10" name="Straight Arrow Connector 9"/>
          <p:cNvCxnSpPr>
            <a:stCxn id="7" idx="3"/>
          </p:cNvCxnSpPr>
          <p:nvPr/>
        </p:nvCxnSpPr>
        <p:spPr>
          <a:xfrm flipV="1">
            <a:off x="780877" y="3109816"/>
            <a:ext cx="366134" cy="261350"/>
          </a:xfrm>
          <a:prstGeom prst="straightConnector1">
            <a:avLst/>
          </a:prstGeom>
          <a:ln>
            <a:solidFill>
              <a:srgbClr val="CC66FF"/>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0"/>
          </p:cNvCxnSpPr>
          <p:nvPr/>
        </p:nvCxnSpPr>
        <p:spPr>
          <a:xfrm flipV="1">
            <a:off x="1948890" y="4018547"/>
            <a:ext cx="92468"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0"/>
          </p:cNvCxnSpPr>
          <p:nvPr/>
        </p:nvCxnSpPr>
        <p:spPr>
          <a:xfrm flipV="1">
            <a:off x="3228248" y="3340768"/>
            <a:ext cx="96478" cy="98034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433524" y="1521427"/>
            <a:ext cx="1846980" cy="461665"/>
          </a:xfrm>
          <a:prstGeom prst="rect">
            <a:avLst/>
          </a:prstGeom>
          <a:noFill/>
        </p:spPr>
        <p:txBody>
          <a:bodyPr wrap="none" rtlCol="0">
            <a:spAutoFit/>
          </a:bodyPr>
          <a:lstStyle/>
          <a:p>
            <a:r>
              <a:rPr lang="en-US" dirty="0">
                <a:latin typeface="Stencil" panose="040409050D0802020404" pitchFamily="82" charset="0"/>
              </a:rPr>
              <a:t>Targeting</a:t>
            </a:r>
          </a:p>
        </p:txBody>
      </p:sp>
      <p:pic>
        <p:nvPicPr>
          <p:cNvPr id="18" name="Picture 2" descr="http://www.accessiblecomputing.com/images/image-charlotte-internet-online-market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180" y="2038250"/>
            <a:ext cx="2857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5146146" y="1516063"/>
            <a:ext cx="3619902" cy="830997"/>
          </a:xfrm>
          <a:prstGeom prst="rect">
            <a:avLst/>
          </a:prstGeom>
          <a:noFill/>
        </p:spPr>
        <p:txBody>
          <a:bodyPr wrap="none" rtlCol="0">
            <a:spAutoFit/>
          </a:bodyPr>
          <a:lstStyle/>
          <a:p>
            <a:r>
              <a:rPr lang="en-US" dirty="0">
                <a:latin typeface="Stencil" panose="040409050D0802020404" pitchFamily="82" charset="0"/>
              </a:rPr>
              <a:t>Product Line Pricing</a:t>
            </a:r>
          </a:p>
          <a:p>
            <a:pPr algn="ctr"/>
            <a:r>
              <a:rPr lang="en-US" dirty="0">
                <a:latin typeface="Arial Rounded MT Bold" panose="020F0704030504030204" pitchFamily="34" charset="0"/>
              </a:rPr>
              <a:t>“versioning”</a:t>
            </a:r>
          </a:p>
        </p:txBody>
      </p:sp>
      <p:sp>
        <p:nvSpPr>
          <p:cNvPr id="21" name="Cloud 20"/>
          <p:cNvSpPr/>
          <p:nvPr/>
        </p:nvSpPr>
        <p:spPr>
          <a:xfrm>
            <a:off x="4459705" y="4644189"/>
            <a:ext cx="1215190" cy="437148"/>
          </a:xfrm>
          <a:prstGeom prst="cloud">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1</a:t>
            </a:r>
          </a:p>
          <a:p>
            <a:pPr algn="ctr"/>
            <a:r>
              <a:rPr lang="en-US" sz="1200" i="1" dirty="0">
                <a:solidFill>
                  <a:schemeClr val="tx1"/>
                </a:solidFill>
              </a:rPr>
              <a:t>Good</a:t>
            </a:r>
          </a:p>
        </p:txBody>
      </p:sp>
      <p:sp>
        <p:nvSpPr>
          <p:cNvPr id="22" name="Cloud 21"/>
          <p:cNvSpPr/>
          <p:nvPr/>
        </p:nvSpPr>
        <p:spPr>
          <a:xfrm>
            <a:off x="5839324" y="4644188"/>
            <a:ext cx="1335507" cy="657727"/>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2</a:t>
            </a:r>
          </a:p>
          <a:p>
            <a:pPr algn="ctr"/>
            <a:r>
              <a:rPr lang="en-US" sz="1200" i="1" dirty="0">
                <a:solidFill>
                  <a:schemeClr val="tx1"/>
                </a:solidFill>
              </a:rPr>
              <a:t>Better</a:t>
            </a:r>
          </a:p>
        </p:txBody>
      </p:sp>
      <p:sp>
        <p:nvSpPr>
          <p:cNvPr id="23" name="Cloud 22"/>
          <p:cNvSpPr/>
          <p:nvPr/>
        </p:nvSpPr>
        <p:spPr>
          <a:xfrm>
            <a:off x="7491659" y="4754477"/>
            <a:ext cx="1415719" cy="908386"/>
          </a:xfrm>
          <a:prstGeom prst="clou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3</a:t>
            </a:r>
          </a:p>
          <a:p>
            <a:pPr algn="ctr"/>
            <a:r>
              <a:rPr lang="en-US" sz="1200" i="1" dirty="0">
                <a:solidFill>
                  <a:schemeClr val="tx1"/>
                </a:solidFill>
              </a:rPr>
              <a:t>Best</a:t>
            </a:r>
          </a:p>
        </p:txBody>
      </p:sp>
      <p:cxnSp>
        <p:nvCxnSpPr>
          <p:cNvPr id="24" name="Straight Arrow Connector 23"/>
          <p:cNvCxnSpPr/>
          <p:nvPr/>
        </p:nvCxnSpPr>
        <p:spPr>
          <a:xfrm flipH="1">
            <a:off x="5165377" y="3140501"/>
            <a:ext cx="586375" cy="1355299"/>
          </a:xfrm>
          <a:prstGeom prst="straightConnector1">
            <a:avLst/>
          </a:prstGeom>
          <a:ln>
            <a:solidFill>
              <a:srgbClr val="CC66FF"/>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6597368" y="4018547"/>
            <a:ext cx="27907" cy="5815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7916553" y="3308228"/>
            <a:ext cx="282965" cy="140013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896384" y="5716589"/>
            <a:ext cx="3533981" cy="646331"/>
          </a:xfrm>
          <a:prstGeom prst="rect">
            <a:avLst/>
          </a:prstGeom>
          <a:noFill/>
        </p:spPr>
        <p:txBody>
          <a:bodyPr wrap="none" rtlCol="0">
            <a:spAutoFit/>
          </a:bodyPr>
          <a:lstStyle/>
          <a:p>
            <a:pPr algn="ctr"/>
            <a:r>
              <a:rPr lang="en-US" sz="1800" dirty="0"/>
              <a:t>Offer everyone same set of products</a:t>
            </a:r>
          </a:p>
          <a:p>
            <a:pPr algn="ctr"/>
            <a:r>
              <a:rPr lang="en-US" sz="1800" dirty="0"/>
              <a:t>Let buyers </a:t>
            </a:r>
            <a:r>
              <a:rPr lang="en-US" sz="1800" b="1" i="1" dirty="0"/>
              <a:t>self-select</a:t>
            </a:r>
            <a:endParaRPr lang="en-US" sz="1800" b="1" dirty="0"/>
          </a:p>
        </p:txBody>
      </p:sp>
      <p:sp>
        <p:nvSpPr>
          <p:cNvPr id="34" name="TextBox 33"/>
          <p:cNvSpPr txBox="1"/>
          <p:nvPr/>
        </p:nvSpPr>
        <p:spPr>
          <a:xfrm>
            <a:off x="4753597" y="5044339"/>
            <a:ext cx="688009" cy="215444"/>
          </a:xfrm>
          <a:prstGeom prst="rect">
            <a:avLst/>
          </a:prstGeom>
          <a:noFill/>
        </p:spPr>
        <p:txBody>
          <a:bodyPr wrap="none" rtlCol="0">
            <a:spAutoFit/>
          </a:bodyPr>
          <a:lstStyle/>
          <a:p>
            <a:r>
              <a:rPr lang="en-US" sz="800" dirty="0"/>
              <a:t>Low margin</a:t>
            </a:r>
          </a:p>
        </p:txBody>
      </p:sp>
      <p:sp>
        <p:nvSpPr>
          <p:cNvPr id="35" name="TextBox 34"/>
          <p:cNvSpPr txBox="1"/>
          <p:nvPr/>
        </p:nvSpPr>
        <p:spPr>
          <a:xfrm>
            <a:off x="6107788" y="5301915"/>
            <a:ext cx="848309" cy="215444"/>
          </a:xfrm>
          <a:prstGeom prst="rect">
            <a:avLst/>
          </a:prstGeom>
          <a:noFill/>
        </p:spPr>
        <p:txBody>
          <a:bodyPr wrap="none" rtlCol="0">
            <a:spAutoFit/>
          </a:bodyPr>
          <a:lstStyle/>
          <a:p>
            <a:r>
              <a:rPr lang="en-US" sz="800" dirty="0"/>
              <a:t>Medium margin</a:t>
            </a:r>
          </a:p>
        </p:txBody>
      </p:sp>
      <p:sp>
        <p:nvSpPr>
          <p:cNvPr id="36" name="TextBox 35"/>
          <p:cNvSpPr txBox="1"/>
          <p:nvPr/>
        </p:nvSpPr>
        <p:spPr>
          <a:xfrm>
            <a:off x="7916553" y="5622344"/>
            <a:ext cx="705642" cy="215444"/>
          </a:xfrm>
          <a:prstGeom prst="rect">
            <a:avLst/>
          </a:prstGeom>
          <a:noFill/>
        </p:spPr>
        <p:txBody>
          <a:bodyPr wrap="none" rtlCol="0">
            <a:spAutoFit/>
          </a:bodyPr>
          <a:lstStyle/>
          <a:p>
            <a:r>
              <a:rPr lang="en-US" sz="800" dirty="0"/>
              <a:t>High margin</a:t>
            </a:r>
          </a:p>
        </p:txBody>
      </p:sp>
    </p:spTree>
    <p:extLst>
      <p:ext uri="{BB962C8B-B14F-4D97-AF65-F5344CB8AC3E}">
        <p14:creationId xmlns:p14="http://schemas.microsoft.com/office/powerpoint/2010/main" val="220242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9" grpId="0"/>
      <p:bldP spid="21" grpId="0" animBg="1"/>
      <p:bldP spid="22" grpId="0" animBg="1"/>
      <p:bldP spid="23" grpId="0" animBg="1"/>
      <p:bldP spid="33" grpId="0"/>
      <p:bldP spid="34" grpId="0"/>
      <p:bldP spid="35" grpId="0"/>
      <p:bldP spid="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Product Line Pricing Strategy is common in high-tech industries: </a:t>
            </a:r>
            <a:r>
              <a:rPr lang="en-US" sz="4400" i="1" dirty="0"/>
              <a:t>SaaS</a:t>
            </a:r>
            <a:endParaRPr lang="en-US" i="1"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22</a:t>
            </a:fld>
            <a:endParaRPr lang="en-US"/>
          </a:p>
        </p:txBody>
      </p:sp>
      <p:pic>
        <p:nvPicPr>
          <p:cNvPr id="9" name="Content Placeholder 8"/>
          <p:cNvPicPr>
            <a:picLocks noGrp="1" noChangeAspect="1"/>
          </p:cNvPicPr>
          <p:nvPr>
            <p:ph sz="quarter" idx="1"/>
          </p:nvPr>
        </p:nvPicPr>
        <p:blipFill rotWithShape="1">
          <a:blip r:embed="rId3"/>
          <a:srcRect l="11840" t="5443" r="39122" b="2987"/>
          <a:stretch/>
        </p:blipFill>
        <p:spPr>
          <a:xfrm>
            <a:off x="577710" y="1534893"/>
            <a:ext cx="4902312" cy="5149193"/>
          </a:xfrm>
          <a:prstGeom prst="rect">
            <a:avLst/>
          </a:prstGeom>
        </p:spPr>
      </p:pic>
      <p:sp>
        <p:nvSpPr>
          <p:cNvPr id="10" name="TextBox 9"/>
          <p:cNvSpPr txBox="1"/>
          <p:nvPr/>
        </p:nvSpPr>
        <p:spPr>
          <a:xfrm>
            <a:off x="1206108" y="6626380"/>
            <a:ext cx="3645516" cy="261610"/>
          </a:xfrm>
          <a:prstGeom prst="rect">
            <a:avLst/>
          </a:prstGeom>
          <a:noFill/>
        </p:spPr>
        <p:txBody>
          <a:bodyPr wrap="square" rtlCol="0">
            <a:spAutoFit/>
          </a:bodyPr>
          <a:lstStyle/>
          <a:p>
            <a:r>
              <a:rPr lang="en-US" sz="1100" dirty="0">
                <a:hlinkClick r:id="rId4"/>
              </a:rPr>
              <a:t>https://www.claris.com/pricing/connect.html</a:t>
            </a:r>
            <a:endParaRPr lang="en-US" sz="1100" dirty="0"/>
          </a:p>
        </p:txBody>
      </p:sp>
      <p:sp>
        <p:nvSpPr>
          <p:cNvPr id="13" name="Rectangle 12"/>
          <p:cNvSpPr/>
          <p:nvPr/>
        </p:nvSpPr>
        <p:spPr>
          <a:xfrm>
            <a:off x="5726078" y="2708620"/>
            <a:ext cx="3377640" cy="1569660"/>
          </a:xfrm>
          <a:prstGeom prst="rect">
            <a:avLst/>
          </a:prstGeom>
        </p:spPr>
        <p:txBody>
          <a:bodyPr wrap="square">
            <a:spAutoFit/>
          </a:bodyPr>
          <a:lstStyle/>
          <a:p>
            <a:r>
              <a:rPr lang="en-US" sz="1600" dirty="0">
                <a:solidFill>
                  <a:srgbClr val="000000"/>
                </a:solidFill>
                <a:latin typeface="Garamond" panose="02020404030301010803" pitchFamily="18" charset="0"/>
                <a:ea typeface="Calibri" panose="020F0502020204030204" pitchFamily="34" charset="0"/>
                <a:cs typeface="Times New Roman" panose="02020603050405020304" pitchFamily="18" charset="0"/>
              </a:rPr>
              <a:t>Platform to consolidate workflow in a company across applications (e.g., automation of processes that need to connect applications)</a:t>
            </a:r>
          </a:p>
          <a:p>
            <a:endParaRPr lang="en-US" sz="1600" dirty="0">
              <a:solidFill>
                <a:srgbClr val="000000"/>
              </a:solidFill>
              <a:latin typeface="Garamond" panose="02020404030301010803" pitchFamily="18" charset="0"/>
              <a:cs typeface="Times New Roman" panose="02020603050405020304" pitchFamily="18" charset="0"/>
            </a:endParaRPr>
          </a:p>
          <a:p>
            <a:r>
              <a:rPr lang="en-US" sz="1600" dirty="0">
                <a:solidFill>
                  <a:srgbClr val="000000"/>
                </a:solidFill>
                <a:latin typeface="Garamond" panose="02020404030301010803" pitchFamily="18" charset="0"/>
                <a:cs typeface="Times New Roman" panose="02020603050405020304" pitchFamily="18" charset="0"/>
              </a:rPr>
              <a:t>Also have product for app development.</a:t>
            </a:r>
            <a:endParaRPr lang="en-US" sz="1600" dirty="0"/>
          </a:p>
        </p:txBody>
      </p:sp>
    </p:spTree>
    <p:extLst>
      <p:ext uri="{BB962C8B-B14F-4D97-AF65-F5344CB8AC3E}">
        <p14:creationId xmlns:p14="http://schemas.microsoft.com/office/powerpoint/2010/main" val="2762935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Product Line Pricing Strategy is common in Consumer Industries</a:t>
            </a:r>
            <a:endParaRPr lang="en-US" sz="3600" dirty="0"/>
          </a:p>
        </p:txBody>
      </p:sp>
      <p:sp>
        <p:nvSpPr>
          <p:cNvPr id="5" name="Rectangle 3"/>
          <p:cNvSpPr>
            <a:spLocks noGrp="1" noChangeArrowheads="1"/>
          </p:cNvSpPr>
          <p:nvPr>
            <p:ph sz="quarter" idx="1"/>
          </p:nvPr>
        </p:nvSpPr>
        <p:spPr>
          <a:xfrm>
            <a:off x="612648" y="3121282"/>
            <a:ext cx="4539413" cy="1469635"/>
          </a:xfrm>
        </p:spPr>
        <p:txBody>
          <a:bodyPr>
            <a:noAutofit/>
          </a:bodyPr>
          <a:lstStyle/>
          <a:p>
            <a:pPr marL="0" indent="0">
              <a:spcAft>
                <a:spcPts val="0"/>
              </a:spcAft>
              <a:buNone/>
              <a:defRPr/>
            </a:pPr>
            <a:r>
              <a:rPr lang="en-US" sz="1400" i="1" dirty="0"/>
              <a:t>“</a:t>
            </a:r>
            <a:r>
              <a:rPr lang="en-US" sz="1600" i="1" dirty="0"/>
              <a:t>American was recently asking an extra $44 to $52 one way for a standard seat near the front of the plane for a flight from Dallas to New York this week and $29 to $35 for the same flight in June</a:t>
            </a:r>
            <a:r>
              <a:rPr lang="en-US" sz="1600" dirty="0"/>
              <a:t>.</a:t>
            </a:r>
            <a:r>
              <a:rPr lang="en-US" sz="1400" i="1" dirty="0"/>
              <a:t>”</a:t>
            </a:r>
          </a:p>
        </p:txBody>
      </p:sp>
      <p:sp>
        <p:nvSpPr>
          <p:cNvPr id="3" name="Slide Number Placeholder 2"/>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23</a:t>
            </a:fld>
            <a:endParaRPr lang="en-US"/>
          </a:p>
        </p:txBody>
      </p:sp>
      <p:pic>
        <p:nvPicPr>
          <p:cNvPr id="4" name="Picture 3"/>
          <p:cNvPicPr>
            <a:picLocks noChangeAspect="1"/>
          </p:cNvPicPr>
          <p:nvPr/>
        </p:nvPicPr>
        <p:blipFill>
          <a:blip r:embed="rId2"/>
          <a:stretch>
            <a:fillRect/>
          </a:stretch>
        </p:blipFill>
        <p:spPr>
          <a:xfrm>
            <a:off x="4572059" y="4553375"/>
            <a:ext cx="3491051" cy="687581"/>
          </a:xfrm>
          <a:prstGeom prst="rect">
            <a:avLst/>
          </a:prstGeom>
        </p:spPr>
      </p:pic>
      <p:pic>
        <p:nvPicPr>
          <p:cNvPr id="7" name="Picture 6"/>
          <p:cNvPicPr>
            <a:picLocks noChangeAspect="1"/>
          </p:cNvPicPr>
          <p:nvPr/>
        </p:nvPicPr>
        <p:blipFill>
          <a:blip r:embed="rId3"/>
          <a:stretch>
            <a:fillRect/>
          </a:stretch>
        </p:blipFill>
        <p:spPr>
          <a:xfrm>
            <a:off x="6984631" y="5112738"/>
            <a:ext cx="1934386" cy="616654"/>
          </a:xfrm>
          <a:prstGeom prst="rect">
            <a:avLst/>
          </a:prstGeom>
        </p:spPr>
      </p:pic>
      <p:pic>
        <p:nvPicPr>
          <p:cNvPr id="8" name="Picture 7"/>
          <p:cNvPicPr>
            <a:picLocks noChangeAspect="1"/>
          </p:cNvPicPr>
          <p:nvPr/>
        </p:nvPicPr>
        <p:blipFill>
          <a:blip r:embed="rId4"/>
          <a:stretch>
            <a:fillRect/>
          </a:stretch>
        </p:blipFill>
        <p:spPr>
          <a:xfrm>
            <a:off x="4689347" y="5410512"/>
            <a:ext cx="1519901" cy="147768"/>
          </a:xfrm>
          <a:prstGeom prst="rect">
            <a:avLst/>
          </a:prstGeom>
        </p:spPr>
      </p:pic>
      <p:cxnSp>
        <p:nvCxnSpPr>
          <p:cNvPr id="10" name="Straight Connector 9"/>
          <p:cNvCxnSpPr/>
          <p:nvPr/>
        </p:nvCxnSpPr>
        <p:spPr>
          <a:xfrm flipV="1">
            <a:off x="1244800" y="3266155"/>
            <a:ext cx="6654517" cy="23614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72003" y="1695505"/>
            <a:ext cx="5816711" cy="1292662"/>
          </a:xfrm>
          <a:prstGeom prst="rect">
            <a:avLst/>
          </a:prstGeom>
        </p:spPr>
        <p:txBody>
          <a:bodyPr wrap="square">
            <a:spAutoFit/>
          </a:bodyPr>
          <a:lstStyle/>
          <a:p>
            <a:r>
              <a:rPr lang="en-US" sz="2000" b="1" dirty="0">
                <a:latin typeface="var(--typography-headline-standard-xxl-font-family)"/>
              </a:rPr>
              <a:t>Want to Know Where You’re Sitting on Your Next Flight? It’ll Cost You</a:t>
            </a:r>
          </a:p>
          <a:p>
            <a:pPr>
              <a:spcAft>
                <a:spcPts val="600"/>
              </a:spcAft>
            </a:pPr>
            <a:r>
              <a:rPr lang="en-US" sz="1200" b="1" dirty="0">
                <a:solidFill>
                  <a:schemeClr val="tx1">
                    <a:lumMod val="65000"/>
                    <a:lumOff val="35000"/>
                  </a:schemeClr>
                </a:solidFill>
                <a:latin typeface="Retina"/>
              </a:rPr>
              <a:t>The largest U.S. airlines aren’t shy about fees that let you choose regular old seats; European flights can be even tougher</a:t>
            </a:r>
          </a:p>
          <a:p>
            <a:pPr algn="r"/>
            <a:r>
              <a:rPr lang="en-US" sz="900" b="1" dirty="0">
                <a:latin typeface="Retina"/>
              </a:rPr>
              <a:t>By Dawn Gilbertson, </a:t>
            </a:r>
            <a:r>
              <a:rPr lang="en-US" sz="900" b="1" i="1" dirty="0">
                <a:latin typeface="Retina"/>
              </a:rPr>
              <a:t>Wall Street Journal, </a:t>
            </a:r>
            <a:r>
              <a:rPr lang="en-US" sz="900" b="1" dirty="0">
                <a:latin typeface="Retina"/>
              </a:rPr>
              <a:t> April 16, 2024</a:t>
            </a:r>
          </a:p>
        </p:txBody>
      </p:sp>
      <p:pic>
        <p:nvPicPr>
          <p:cNvPr id="13" name="Picture 12"/>
          <p:cNvPicPr>
            <a:picLocks noChangeAspect="1"/>
          </p:cNvPicPr>
          <p:nvPr/>
        </p:nvPicPr>
        <p:blipFill>
          <a:blip r:embed="rId5"/>
          <a:stretch>
            <a:fillRect/>
          </a:stretch>
        </p:blipFill>
        <p:spPr>
          <a:xfrm>
            <a:off x="6834666" y="1778563"/>
            <a:ext cx="1638967" cy="1046278"/>
          </a:xfrm>
          <a:prstGeom prst="rect">
            <a:avLst/>
          </a:prstGeom>
        </p:spPr>
      </p:pic>
    </p:spTree>
    <p:extLst>
      <p:ext uri="{BB962C8B-B14F-4D97-AF65-F5344CB8AC3E}">
        <p14:creationId xmlns:p14="http://schemas.microsoft.com/office/powerpoint/2010/main" val="234447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Product Line Pricing Strategy</a:t>
            </a:r>
            <a:br>
              <a:rPr lang="en-US" sz="4400" dirty="0"/>
            </a:br>
            <a:r>
              <a:rPr lang="en-US" sz="3600" dirty="0"/>
              <a:t>Separation via Indirect Pricing</a:t>
            </a:r>
            <a:endParaRPr lang="en-US" i="1" dirty="0"/>
          </a:p>
        </p:txBody>
      </p:sp>
      <p:sp>
        <p:nvSpPr>
          <p:cNvPr id="3" name="Content Placeholder 2"/>
          <p:cNvSpPr>
            <a:spLocks noGrp="1"/>
          </p:cNvSpPr>
          <p:nvPr>
            <p:ph sz="quarter" idx="1"/>
          </p:nvPr>
        </p:nvSpPr>
        <p:spPr>
          <a:xfrm>
            <a:off x="612648" y="1600199"/>
            <a:ext cx="8153400" cy="4933765"/>
          </a:xfrm>
        </p:spPr>
        <p:txBody>
          <a:bodyPr>
            <a:normAutofit fontScale="92500" lnSpcReduction="10000"/>
          </a:bodyPr>
          <a:lstStyle/>
          <a:p>
            <a:pPr>
              <a:spcBef>
                <a:spcPts val="1200"/>
              </a:spcBef>
              <a:spcAft>
                <a:spcPts val="1200"/>
              </a:spcAft>
            </a:pPr>
            <a:r>
              <a:rPr lang="en-US" dirty="0"/>
              <a:t>Suppose we manage a product line with several substitute choices.</a:t>
            </a:r>
          </a:p>
          <a:p>
            <a:pPr lvl="1">
              <a:spcBef>
                <a:spcPts val="1200"/>
              </a:spcBef>
              <a:spcAft>
                <a:spcPts val="1200"/>
              </a:spcAft>
              <a:buFont typeface="Wingdings" panose="05000000000000000000" pitchFamily="2" charset="2"/>
              <a:buChar char="Ø"/>
            </a:pPr>
            <a:r>
              <a:rPr lang="en-US" dirty="0"/>
              <a:t>Customers face a trade-off between quality and price</a:t>
            </a:r>
          </a:p>
          <a:p>
            <a:pPr>
              <a:spcBef>
                <a:spcPts val="1200"/>
              </a:spcBef>
              <a:spcAft>
                <a:spcPts val="0"/>
              </a:spcAft>
            </a:pPr>
            <a:r>
              <a:rPr lang="en-US" b="1" dirty="0"/>
              <a:t>Goal</a:t>
            </a:r>
            <a:r>
              <a:rPr lang="en-US" dirty="0"/>
              <a:t>: segment customers based on what they buy and, hence, what they pay</a:t>
            </a:r>
          </a:p>
          <a:p>
            <a:pPr lvl="1">
              <a:lnSpc>
                <a:spcPct val="90000"/>
              </a:lnSpc>
              <a:spcAft>
                <a:spcPts val="0"/>
              </a:spcAft>
              <a:defRPr/>
            </a:pPr>
            <a:r>
              <a:rPr lang="en-US" dirty="0"/>
              <a:t>High WTP selects higher price offer</a:t>
            </a:r>
          </a:p>
          <a:p>
            <a:pPr lvl="1">
              <a:lnSpc>
                <a:spcPct val="90000"/>
              </a:lnSpc>
              <a:spcAft>
                <a:spcPts val="1200"/>
              </a:spcAft>
              <a:defRPr/>
            </a:pPr>
            <a:r>
              <a:rPr lang="en-US" dirty="0"/>
              <a:t>Low WTP selects lower price offer</a:t>
            </a:r>
          </a:p>
          <a:p>
            <a:pPr>
              <a:lnSpc>
                <a:spcPct val="90000"/>
              </a:lnSpc>
              <a:spcBef>
                <a:spcPts val="1200"/>
              </a:spcBef>
              <a:spcAft>
                <a:spcPts val="1200"/>
              </a:spcAft>
              <a:defRPr/>
            </a:pPr>
            <a:r>
              <a:rPr lang="en-US" b="1" dirty="0"/>
              <a:t>Problem:</a:t>
            </a:r>
            <a:r>
              <a:rPr lang="en-US" dirty="0"/>
              <a:t> high WTP customers may “trade down” (</a:t>
            </a:r>
            <a:r>
              <a:rPr lang="en-US" i="1" dirty="0">
                <a:latin typeface="Times New Roman" panose="02020603050405020304" pitchFamily="18" charset="0"/>
                <a:cs typeface="Times New Roman" panose="02020603050405020304" pitchFamily="18" charset="0"/>
              </a:rPr>
              <a:t>cannibalization</a:t>
            </a:r>
            <a:r>
              <a:rPr lang="en-US" dirty="0"/>
              <a:t>)</a:t>
            </a:r>
          </a:p>
          <a:p>
            <a:pPr>
              <a:lnSpc>
                <a:spcPct val="90000"/>
              </a:lnSpc>
              <a:spcBef>
                <a:spcPts val="1200"/>
              </a:spcBef>
              <a:spcAft>
                <a:spcPts val="600"/>
              </a:spcAft>
              <a:defRPr/>
            </a:pPr>
            <a:r>
              <a:rPr lang="en-US" b="1" dirty="0"/>
              <a:t>Solution:</a:t>
            </a:r>
            <a:r>
              <a:rPr lang="en-US" dirty="0"/>
              <a:t> “Sorting Strategies”</a:t>
            </a:r>
          </a:p>
          <a:p>
            <a:pPr lvl="1">
              <a:lnSpc>
                <a:spcPct val="90000"/>
              </a:lnSpc>
              <a:spcAft>
                <a:spcPts val="600"/>
              </a:spcAft>
              <a:defRPr/>
            </a:pPr>
            <a:r>
              <a:rPr lang="en-US" dirty="0"/>
              <a:t>Make the low price offer less attractive</a:t>
            </a:r>
          </a:p>
          <a:p>
            <a:pPr lvl="1">
              <a:lnSpc>
                <a:spcPct val="90000"/>
              </a:lnSpc>
              <a:spcAft>
                <a:spcPts val="600"/>
              </a:spcAft>
              <a:defRPr/>
            </a:pPr>
            <a:r>
              <a:rPr lang="en-US" dirty="0"/>
              <a:t>Make the high price offer more attractive</a:t>
            </a:r>
          </a:p>
          <a:p>
            <a:pPr lvl="1">
              <a:spcBef>
                <a:spcPts val="1800"/>
              </a:spcBef>
              <a:spcAft>
                <a:spcPts val="1800"/>
              </a:spcAft>
            </a:pP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24</a:t>
            </a:fld>
            <a:endParaRPr lang="en-US"/>
          </a:p>
        </p:txBody>
      </p:sp>
      <p:sp>
        <p:nvSpPr>
          <p:cNvPr id="6" name="Rounded Rectangle 5"/>
          <p:cNvSpPr/>
          <p:nvPr/>
        </p:nvSpPr>
        <p:spPr>
          <a:xfrm>
            <a:off x="777442" y="6187305"/>
            <a:ext cx="6267869" cy="5639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1200"/>
              </a:spcAft>
              <a:defRPr/>
            </a:pPr>
            <a:r>
              <a:rPr lang="en-US" b="1"/>
              <a:t>Coordination</a:t>
            </a:r>
            <a:r>
              <a:rPr lang="en-US"/>
              <a:t> of </a:t>
            </a:r>
            <a:r>
              <a:rPr lang="en-US" b="1">
                <a:solidFill>
                  <a:srgbClr val="FF0000"/>
                </a:solidFill>
                <a:latin typeface="Showcard Gothic" panose="04020904020102020604" pitchFamily="82" charset="0"/>
              </a:rPr>
              <a:t>P</a:t>
            </a:r>
            <a:r>
              <a:rPr lang="en-US"/>
              <a:t>rice and </a:t>
            </a:r>
            <a:r>
              <a:rPr lang="en-US" b="1">
                <a:solidFill>
                  <a:srgbClr val="FF0000"/>
                </a:solidFill>
                <a:latin typeface="Showcard Gothic" panose="04020904020102020604" pitchFamily="82" charset="0"/>
              </a:rPr>
              <a:t>P</a:t>
            </a:r>
            <a:r>
              <a:rPr lang="en-US"/>
              <a:t>roduct</a:t>
            </a:r>
            <a:endParaRPr lang="en-US" b="1" dirty="0"/>
          </a:p>
        </p:txBody>
      </p:sp>
    </p:spTree>
    <p:extLst>
      <p:ext uri="{BB962C8B-B14F-4D97-AF65-F5344CB8AC3E}">
        <p14:creationId xmlns:p14="http://schemas.microsoft.com/office/powerpoint/2010/main" val="2124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25</a:t>
            </a:fld>
            <a:endParaRPr lang="en-US"/>
          </a:p>
        </p:txBody>
      </p:sp>
      <p:pic>
        <p:nvPicPr>
          <p:cNvPr id="18" name="Picture 2" descr="http://www.accessiblecomputing.com/images/image-charlotte-internet-online-market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395" y="2038250"/>
            <a:ext cx="2857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2495361" y="1516063"/>
            <a:ext cx="3619902" cy="830997"/>
          </a:xfrm>
          <a:prstGeom prst="rect">
            <a:avLst/>
          </a:prstGeom>
          <a:noFill/>
        </p:spPr>
        <p:txBody>
          <a:bodyPr wrap="none" rtlCol="0">
            <a:spAutoFit/>
          </a:bodyPr>
          <a:lstStyle/>
          <a:p>
            <a:r>
              <a:rPr lang="en-US" dirty="0">
                <a:latin typeface="Stencil" panose="040409050D0802020404" pitchFamily="82" charset="0"/>
              </a:rPr>
              <a:t>Product Line Pricing</a:t>
            </a:r>
          </a:p>
          <a:p>
            <a:pPr algn="ctr"/>
            <a:r>
              <a:rPr lang="en-US" dirty="0">
                <a:latin typeface="Arial Rounded MT Bold" panose="020F0704030504030204" pitchFamily="34" charset="0"/>
              </a:rPr>
              <a:t>“versioning”</a:t>
            </a:r>
          </a:p>
        </p:txBody>
      </p:sp>
      <p:sp>
        <p:nvSpPr>
          <p:cNvPr id="21" name="Cloud 20"/>
          <p:cNvSpPr/>
          <p:nvPr/>
        </p:nvSpPr>
        <p:spPr>
          <a:xfrm>
            <a:off x="1808920" y="4644189"/>
            <a:ext cx="1215190" cy="437148"/>
          </a:xfrm>
          <a:prstGeom prst="cloud">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1</a:t>
            </a:r>
          </a:p>
          <a:p>
            <a:pPr algn="ctr"/>
            <a:r>
              <a:rPr lang="en-US" sz="1200" i="1" dirty="0">
                <a:solidFill>
                  <a:schemeClr val="tx1"/>
                </a:solidFill>
              </a:rPr>
              <a:t>Good</a:t>
            </a:r>
          </a:p>
        </p:txBody>
      </p:sp>
      <p:sp>
        <p:nvSpPr>
          <p:cNvPr id="22" name="Cloud 21"/>
          <p:cNvSpPr/>
          <p:nvPr/>
        </p:nvSpPr>
        <p:spPr>
          <a:xfrm>
            <a:off x="3188539" y="4644188"/>
            <a:ext cx="1335507" cy="657727"/>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2</a:t>
            </a:r>
          </a:p>
          <a:p>
            <a:pPr algn="ctr"/>
            <a:r>
              <a:rPr lang="en-US" sz="1200" i="1" dirty="0">
                <a:solidFill>
                  <a:schemeClr val="tx1"/>
                </a:solidFill>
              </a:rPr>
              <a:t>Better</a:t>
            </a:r>
          </a:p>
        </p:txBody>
      </p:sp>
      <p:sp>
        <p:nvSpPr>
          <p:cNvPr id="23" name="Cloud 22"/>
          <p:cNvSpPr/>
          <p:nvPr/>
        </p:nvSpPr>
        <p:spPr>
          <a:xfrm>
            <a:off x="4840874" y="4754477"/>
            <a:ext cx="1415719" cy="908386"/>
          </a:xfrm>
          <a:prstGeom prst="clou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3</a:t>
            </a:r>
          </a:p>
          <a:p>
            <a:pPr algn="ctr"/>
            <a:r>
              <a:rPr lang="en-US" sz="1200" i="1" dirty="0">
                <a:solidFill>
                  <a:schemeClr val="tx1"/>
                </a:solidFill>
              </a:rPr>
              <a:t>Best</a:t>
            </a:r>
          </a:p>
        </p:txBody>
      </p:sp>
      <p:cxnSp>
        <p:nvCxnSpPr>
          <p:cNvPr id="24" name="Straight Arrow Connector 23"/>
          <p:cNvCxnSpPr/>
          <p:nvPr/>
        </p:nvCxnSpPr>
        <p:spPr>
          <a:xfrm flipH="1">
            <a:off x="2514592" y="3140501"/>
            <a:ext cx="586375" cy="1355299"/>
          </a:xfrm>
          <a:prstGeom prst="straightConnector1">
            <a:avLst/>
          </a:prstGeom>
          <a:ln>
            <a:solidFill>
              <a:srgbClr val="CC66FF"/>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2775285" y="3965740"/>
            <a:ext cx="838199" cy="5389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2964842" y="3308228"/>
            <a:ext cx="2300926" cy="133596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245599" y="5812144"/>
            <a:ext cx="3533981" cy="646331"/>
          </a:xfrm>
          <a:prstGeom prst="rect">
            <a:avLst/>
          </a:prstGeom>
          <a:noFill/>
        </p:spPr>
        <p:txBody>
          <a:bodyPr wrap="none" rtlCol="0">
            <a:spAutoFit/>
          </a:bodyPr>
          <a:lstStyle/>
          <a:p>
            <a:pPr algn="ctr"/>
            <a:r>
              <a:rPr lang="en-US" sz="1800" dirty="0"/>
              <a:t>Offer everyone same set of products</a:t>
            </a:r>
          </a:p>
          <a:p>
            <a:pPr algn="ctr"/>
            <a:r>
              <a:rPr lang="en-US" sz="1800" dirty="0"/>
              <a:t>Let buyers </a:t>
            </a:r>
            <a:r>
              <a:rPr lang="en-US" sz="1800" i="1" dirty="0"/>
              <a:t>self-select</a:t>
            </a:r>
            <a:endParaRPr lang="en-US" sz="1800" dirty="0"/>
          </a:p>
        </p:txBody>
      </p:sp>
      <p:sp>
        <p:nvSpPr>
          <p:cNvPr id="13" name="TextBox 12"/>
          <p:cNvSpPr txBox="1"/>
          <p:nvPr/>
        </p:nvSpPr>
        <p:spPr>
          <a:xfrm>
            <a:off x="6115263" y="2642937"/>
            <a:ext cx="2895218" cy="769441"/>
          </a:xfrm>
          <a:prstGeom prst="rect">
            <a:avLst/>
          </a:prstGeom>
          <a:noFill/>
        </p:spPr>
        <p:txBody>
          <a:bodyPr wrap="square" rtlCol="0">
            <a:spAutoFit/>
          </a:bodyPr>
          <a:lstStyle/>
          <a:p>
            <a:r>
              <a:rPr lang="en-US" sz="1600" dirty="0"/>
              <a:t>What if low prices draw everyone to low-end product?</a:t>
            </a:r>
            <a:endParaRPr lang="en-US" dirty="0"/>
          </a:p>
          <a:p>
            <a:pPr algn="ctr"/>
            <a:endParaRPr lang="en-US" sz="1200" dirty="0"/>
          </a:p>
        </p:txBody>
      </p:sp>
      <p:sp>
        <p:nvSpPr>
          <p:cNvPr id="25" name="TextBox 24"/>
          <p:cNvSpPr txBox="1"/>
          <p:nvPr/>
        </p:nvSpPr>
        <p:spPr>
          <a:xfrm>
            <a:off x="2058523" y="5048169"/>
            <a:ext cx="688009" cy="215444"/>
          </a:xfrm>
          <a:prstGeom prst="rect">
            <a:avLst/>
          </a:prstGeom>
          <a:noFill/>
        </p:spPr>
        <p:txBody>
          <a:bodyPr wrap="none" rtlCol="0">
            <a:spAutoFit/>
          </a:bodyPr>
          <a:lstStyle/>
          <a:p>
            <a:r>
              <a:rPr lang="en-US" sz="800" dirty="0"/>
              <a:t>Low margin</a:t>
            </a:r>
          </a:p>
        </p:txBody>
      </p:sp>
      <p:sp>
        <p:nvSpPr>
          <p:cNvPr id="26" name="TextBox 25"/>
          <p:cNvSpPr txBox="1"/>
          <p:nvPr/>
        </p:nvSpPr>
        <p:spPr>
          <a:xfrm>
            <a:off x="3412714" y="5305745"/>
            <a:ext cx="848309" cy="215444"/>
          </a:xfrm>
          <a:prstGeom prst="rect">
            <a:avLst/>
          </a:prstGeom>
          <a:noFill/>
        </p:spPr>
        <p:txBody>
          <a:bodyPr wrap="none" rtlCol="0">
            <a:spAutoFit/>
          </a:bodyPr>
          <a:lstStyle/>
          <a:p>
            <a:r>
              <a:rPr lang="en-US" sz="800" dirty="0"/>
              <a:t>Medium margin</a:t>
            </a:r>
          </a:p>
        </p:txBody>
      </p:sp>
      <p:sp>
        <p:nvSpPr>
          <p:cNvPr id="28" name="TextBox 27"/>
          <p:cNvSpPr txBox="1"/>
          <p:nvPr/>
        </p:nvSpPr>
        <p:spPr>
          <a:xfrm>
            <a:off x="5221479" y="5626174"/>
            <a:ext cx="705642" cy="215444"/>
          </a:xfrm>
          <a:prstGeom prst="rect">
            <a:avLst/>
          </a:prstGeom>
          <a:noFill/>
        </p:spPr>
        <p:txBody>
          <a:bodyPr wrap="none" rtlCol="0">
            <a:spAutoFit/>
          </a:bodyPr>
          <a:lstStyle/>
          <a:p>
            <a:r>
              <a:rPr lang="en-US" sz="800" dirty="0"/>
              <a:t>High margin</a:t>
            </a:r>
          </a:p>
        </p:txBody>
      </p:sp>
      <p:sp>
        <p:nvSpPr>
          <p:cNvPr id="20" name="Title 1"/>
          <p:cNvSpPr>
            <a:spLocks noGrp="1"/>
          </p:cNvSpPr>
          <p:nvPr>
            <p:ph type="title"/>
          </p:nvPr>
        </p:nvSpPr>
        <p:spPr>
          <a:xfrm>
            <a:off x="612648" y="228600"/>
            <a:ext cx="8153400" cy="990600"/>
          </a:xfrm>
        </p:spPr>
        <p:txBody>
          <a:bodyPr>
            <a:normAutofit fontScale="90000"/>
          </a:bodyPr>
          <a:lstStyle/>
          <a:p>
            <a:r>
              <a:rPr lang="en-US" sz="4400" dirty="0"/>
              <a:t>Product Line Pricing Strategy</a:t>
            </a:r>
            <a:br>
              <a:rPr lang="en-US" sz="4400" dirty="0"/>
            </a:br>
            <a:r>
              <a:rPr lang="en-US" sz="3600" dirty="0"/>
              <a:t>Separation via Indirect Pricing</a:t>
            </a:r>
            <a:endParaRPr lang="en-US" i="1" dirty="0"/>
          </a:p>
        </p:txBody>
      </p:sp>
    </p:spTree>
    <p:extLst>
      <p:ext uri="{BB962C8B-B14F-4D97-AF65-F5344CB8AC3E}">
        <p14:creationId xmlns:p14="http://schemas.microsoft.com/office/powerpoint/2010/main" val="159659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455152" cy="990600"/>
          </a:xfrm>
        </p:spPr>
        <p:txBody>
          <a:bodyPr>
            <a:normAutofit fontScale="90000"/>
          </a:bodyPr>
          <a:lstStyle/>
          <a:p>
            <a:r>
              <a:rPr lang="en-US" sz="4400" dirty="0"/>
              <a:t>Potential Cannibalization at McDonald’s</a:t>
            </a:r>
            <a:br>
              <a:rPr lang="en-US" sz="4400" dirty="0"/>
            </a:br>
            <a:r>
              <a:rPr lang="en-US" sz="3600" dirty="0"/>
              <a:t>Example: The </a:t>
            </a:r>
            <a:r>
              <a:rPr lang="en-US" sz="3600" dirty="0" err="1"/>
              <a:t>McDouble</a:t>
            </a:r>
            <a:endParaRPr lang="en-US" dirty="0"/>
          </a:p>
        </p:txBody>
      </p:sp>
      <p:sp>
        <p:nvSpPr>
          <p:cNvPr id="3" name="Content Placeholder 2"/>
          <p:cNvSpPr>
            <a:spLocks noGrp="1"/>
          </p:cNvSpPr>
          <p:nvPr>
            <p:ph sz="quarter" idx="1"/>
          </p:nvPr>
        </p:nvSpPr>
        <p:spPr>
          <a:xfrm>
            <a:off x="612648" y="1600200"/>
            <a:ext cx="8153400" cy="5105400"/>
          </a:xfrm>
        </p:spPr>
        <p:txBody>
          <a:bodyPr>
            <a:normAutofit/>
          </a:bodyPr>
          <a:lstStyle/>
          <a:p>
            <a:r>
              <a:rPr lang="en-US" dirty="0" err="1"/>
              <a:t>McDouble</a:t>
            </a:r>
            <a:r>
              <a:rPr lang="en-US" dirty="0"/>
              <a:t>: $1.00</a:t>
            </a:r>
          </a:p>
          <a:p>
            <a:pPr lvl="1"/>
            <a:r>
              <a:rPr lang="en-US" dirty="0"/>
              <a:t>Permanent </a:t>
            </a:r>
            <a:r>
              <a:rPr lang="en-US" u="sng" dirty="0"/>
              <a:t>dollar-menu</a:t>
            </a:r>
            <a:r>
              <a:rPr lang="en-US" dirty="0"/>
              <a:t> item since 2008</a:t>
            </a:r>
          </a:p>
          <a:p>
            <a:pPr marL="366713" lvl="1" indent="0">
              <a:buNone/>
            </a:pPr>
            <a:r>
              <a:rPr lang="en-US" dirty="0"/>
              <a:t>to compete with other Restaurants</a:t>
            </a:r>
          </a:p>
          <a:p>
            <a:pPr marL="0" indent="0">
              <a:buNone/>
            </a:pPr>
            <a:endParaRPr lang="en-US" sz="1800" i="1" dirty="0"/>
          </a:p>
          <a:p>
            <a:pPr marL="0" indent="0">
              <a:buNone/>
            </a:pPr>
            <a:r>
              <a:rPr lang="en-US" sz="1800" i="1" dirty="0"/>
              <a:t>“…the </a:t>
            </a:r>
            <a:r>
              <a:rPr lang="en-US" sz="1800" b="1" i="1" dirty="0">
                <a:hlinkClick r:id="rId3"/>
              </a:rPr>
              <a:t>McDonald’s </a:t>
            </a:r>
            <a:r>
              <a:rPr lang="en-US" sz="1800" b="1" i="1" dirty="0" err="1">
                <a:hlinkClick r:id="rId3"/>
              </a:rPr>
              <a:t>McDouble</a:t>
            </a:r>
            <a:r>
              <a:rPr lang="en-US" sz="1800" i="1" dirty="0"/>
              <a:t>, at 390 Calories, 23g (half a daily serving) of protein, 7% of daily fiber, 20% of daily calcium and iron, etc., is the cheapest, most nutritious, and bountiful food that has ever existed in human history.”  </a:t>
            </a:r>
          </a:p>
          <a:p>
            <a:pPr marL="0" indent="0" algn="r">
              <a:spcBef>
                <a:spcPts val="0"/>
              </a:spcBef>
              <a:buNone/>
            </a:pPr>
            <a:r>
              <a:rPr lang="en-US" sz="1400" i="1" dirty="0"/>
              <a:t>Freakonomics Blog</a:t>
            </a:r>
          </a:p>
          <a:p>
            <a:pPr marL="0" indent="0">
              <a:buNone/>
            </a:pPr>
            <a:endParaRPr lang="en-US" dirty="0"/>
          </a:p>
          <a:p>
            <a:endParaRPr lang="en-US" dirty="0"/>
          </a:p>
          <a:p>
            <a:r>
              <a:rPr lang="en-US" dirty="0"/>
              <a:t>Big Mac costs about $3.99</a:t>
            </a:r>
          </a:p>
          <a:p>
            <a:pPr lvl="1"/>
            <a:r>
              <a:rPr lang="en-US" dirty="0"/>
              <a:t>Cannibalization concerns?</a:t>
            </a:r>
          </a:p>
          <a:p>
            <a:pPr lvl="1"/>
            <a:r>
              <a:rPr lang="en-US" dirty="0"/>
              <a:t>Differentiation value of Big Mac vs </a:t>
            </a:r>
            <a:r>
              <a:rPr lang="en-US" dirty="0" err="1"/>
              <a:t>McDouble</a:t>
            </a:r>
            <a:r>
              <a:rPr lang="en-US" dirty="0"/>
              <a:t>?</a:t>
            </a:r>
          </a:p>
        </p:txBody>
      </p:sp>
      <p:pic>
        <p:nvPicPr>
          <p:cNvPr id="7170" name="Picture 2" descr="http://gaarawarrgabs.files.wordpress.com/2010/01/mcdouble-from-mcdonald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9400" y="1638299"/>
            <a:ext cx="1890648" cy="147357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theburgernerd.com/wp-content/uploads/2013/10/Original-Big-Mac.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29400" y="4790041"/>
            <a:ext cx="1890648" cy="110287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26</a:t>
            </a:fld>
            <a:endParaRPr lang="en-US"/>
          </a:p>
        </p:txBody>
      </p:sp>
    </p:spTree>
    <p:extLst>
      <p:ext uri="{BB962C8B-B14F-4D97-AF65-F5344CB8AC3E}">
        <p14:creationId xmlns:p14="http://schemas.microsoft.com/office/powerpoint/2010/main" val="104371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074"/>
          <p:cNvSpPr>
            <a:spLocks noGrp="1" noChangeArrowheads="1"/>
          </p:cNvSpPr>
          <p:nvPr>
            <p:ph type="title"/>
          </p:nvPr>
        </p:nvSpPr>
        <p:spPr/>
        <p:txBody>
          <a:bodyPr>
            <a:normAutofit fontScale="90000"/>
          </a:bodyPr>
          <a:lstStyle/>
          <a:p>
            <a:r>
              <a:rPr lang="en-US" sz="4400" dirty="0"/>
              <a:t>Managing a Product Line</a:t>
            </a:r>
            <a:br>
              <a:rPr lang="en-US" sz="4400" dirty="0"/>
            </a:br>
            <a:r>
              <a:rPr lang="en-US" sz="3600" dirty="0"/>
              <a:t>If trading down occurs, …</a:t>
            </a:r>
          </a:p>
        </p:txBody>
      </p:sp>
      <p:sp>
        <p:nvSpPr>
          <p:cNvPr id="139267" name="Rectangle 3075"/>
          <p:cNvSpPr>
            <a:spLocks noGrp="1" noChangeArrowheads="1"/>
          </p:cNvSpPr>
          <p:nvPr>
            <p:ph sz="quarter" idx="1"/>
          </p:nvPr>
        </p:nvSpPr>
        <p:spPr>
          <a:xfrm>
            <a:off x="612647" y="1730375"/>
            <a:ext cx="8394393" cy="4365625"/>
          </a:xfrm>
        </p:spPr>
        <p:txBody>
          <a:bodyPr>
            <a:noAutofit/>
          </a:bodyPr>
          <a:lstStyle/>
          <a:p>
            <a:pPr>
              <a:lnSpc>
                <a:spcPct val="90000"/>
              </a:lnSpc>
              <a:spcAft>
                <a:spcPts val="600"/>
              </a:spcAft>
              <a:defRPr/>
            </a:pPr>
            <a:r>
              <a:rPr lang="en-US" b="1" dirty="0">
                <a:solidFill>
                  <a:srgbClr val="FF0000"/>
                </a:solidFill>
                <a:latin typeface="Showcard Gothic" panose="04020904020102020604" pitchFamily="82" charset="0"/>
              </a:rPr>
              <a:t>P</a:t>
            </a:r>
            <a:r>
              <a:rPr lang="en-US" dirty="0">
                <a:solidFill>
                  <a:srgbClr val="FF0000"/>
                </a:solidFill>
              </a:rPr>
              <a:t>rice</a:t>
            </a:r>
            <a:r>
              <a:rPr lang="en-US" dirty="0"/>
              <a:t> changes</a:t>
            </a:r>
          </a:p>
          <a:p>
            <a:pPr lvl="1">
              <a:lnSpc>
                <a:spcPct val="90000"/>
              </a:lnSpc>
              <a:spcAft>
                <a:spcPts val="600"/>
              </a:spcAft>
              <a:defRPr/>
            </a:pPr>
            <a:r>
              <a:rPr lang="en-US" dirty="0">
                <a:latin typeface="+mj-lt"/>
              </a:rPr>
              <a:t>Lower P of high end offer</a:t>
            </a:r>
          </a:p>
          <a:p>
            <a:pPr lvl="1">
              <a:lnSpc>
                <a:spcPct val="90000"/>
              </a:lnSpc>
              <a:spcAft>
                <a:spcPts val="0"/>
              </a:spcAft>
              <a:defRPr/>
            </a:pPr>
            <a:r>
              <a:rPr lang="en-US" dirty="0">
                <a:latin typeface="+mj-lt"/>
              </a:rPr>
              <a:t>Raise P of low end offer</a:t>
            </a:r>
          </a:p>
          <a:p>
            <a:pPr marL="685800" lvl="2" indent="0">
              <a:lnSpc>
                <a:spcPct val="90000"/>
              </a:lnSpc>
              <a:spcAft>
                <a:spcPts val="1200"/>
              </a:spcAft>
              <a:buNone/>
              <a:defRPr/>
            </a:pPr>
            <a:endParaRPr lang="en-US" dirty="0">
              <a:latin typeface="+mj-lt"/>
            </a:endParaRPr>
          </a:p>
          <a:p>
            <a:pPr>
              <a:lnSpc>
                <a:spcPct val="90000"/>
              </a:lnSpc>
              <a:spcAft>
                <a:spcPts val="600"/>
              </a:spcAft>
              <a:defRPr/>
            </a:pPr>
            <a:r>
              <a:rPr lang="en-US" b="1" dirty="0">
                <a:solidFill>
                  <a:srgbClr val="FF0000"/>
                </a:solidFill>
                <a:latin typeface="Showcard Gothic" panose="04020904020102020604" pitchFamily="82" charset="0"/>
              </a:rPr>
              <a:t>P</a:t>
            </a:r>
            <a:r>
              <a:rPr lang="en-US" dirty="0">
                <a:solidFill>
                  <a:srgbClr val="FF0000"/>
                </a:solidFill>
              </a:rPr>
              <a:t>roduct </a:t>
            </a:r>
            <a:r>
              <a:rPr lang="en-US" dirty="0"/>
              <a:t>Value Changes</a:t>
            </a:r>
          </a:p>
          <a:p>
            <a:pPr lvl="1">
              <a:lnSpc>
                <a:spcPct val="90000"/>
              </a:lnSpc>
              <a:spcAft>
                <a:spcPts val="600"/>
              </a:spcAft>
              <a:defRPr/>
            </a:pPr>
            <a:r>
              <a:rPr lang="en-US" dirty="0">
                <a:latin typeface="+mj-lt"/>
              </a:rPr>
              <a:t>Increase attractiveness of high end offer</a:t>
            </a:r>
          </a:p>
          <a:p>
            <a:pPr lvl="1">
              <a:lnSpc>
                <a:spcPct val="90000"/>
              </a:lnSpc>
              <a:spcAft>
                <a:spcPts val="600"/>
              </a:spcAft>
              <a:defRPr/>
            </a:pPr>
            <a:r>
              <a:rPr lang="en-US" dirty="0">
                <a:latin typeface="+mj-lt"/>
              </a:rPr>
              <a:t>Decrease attractiveness of low end offer</a:t>
            </a:r>
          </a:p>
          <a:p>
            <a:pPr marL="366713" lvl="1" indent="0">
              <a:lnSpc>
                <a:spcPct val="90000"/>
              </a:lnSpc>
              <a:spcAft>
                <a:spcPts val="600"/>
              </a:spcAft>
              <a:buNone/>
              <a:defRPr/>
            </a:pPr>
            <a:r>
              <a:rPr lang="en-US" sz="1400" dirty="0"/>
              <a:t>See “</a:t>
            </a:r>
            <a:r>
              <a:rPr lang="en-US" sz="1400" u="sng" dirty="0">
                <a:hlinkClick r:id="rId2"/>
              </a:rPr>
              <a:t>Why Some Companies Make Their Products Worse</a:t>
            </a:r>
            <a:r>
              <a:rPr lang="en-US" sz="1400" dirty="0"/>
              <a:t>” Richard Davies, </a:t>
            </a:r>
            <a:r>
              <a:rPr lang="en-US" sz="1400" i="1" dirty="0"/>
              <a:t>Economist</a:t>
            </a:r>
            <a:r>
              <a:rPr lang="en-US" sz="1400" dirty="0"/>
              <a:t>, 9-15-2016</a:t>
            </a:r>
          </a:p>
          <a:p>
            <a:pPr marL="366713" lvl="1" indent="0">
              <a:lnSpc>
                <a:spcPct val="90000"/>
              </a:lnSpc>
              <a:spcAft>
                <a:spcPts val="600"/>
              </a:spcAft>
              <a:buNone/>
              <a:defRPr/>
            </a:pPr>
            <a:r>
              <a:rPr lang="en-US" sz="1400" dirty="0"/>
              <a:t>and </a:t>
            </a:r>
            <a:r>
              <a:rPr lang="en-US" sz="1400" dirty="0">
                <a:hlinkClick r:id="rId3"/>
              </a:rPr>
              <a:t>”How did Tesla make some of its cars travel further during Hurricane Irma?”</a:t>
            </a:r>
            <a:r>
              <a:rPr lang="en-US" sz="1400" dirty="0"/>
              <a:t> </a:t>
            </a:r>
            <a:r>
              <a:rPr lang="en-US" sz="1400" i="1" dirty="0"/>
              <a:t>The Guardian, </a:t>
            </a:r>
            <a:r>
              <a:rPr lang="en-US" sz="1400" dirty="0"/>
              <a:t>9-17-2017</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27</a:t>
            </a:fld>
            <a:endParaRPr lang="en-US" dirty="0"/>
          </a:p>
        </p:txBody>
      </p:sp>
    </p:spTree>
    <p:extLst>
      <p:ext uri="{BB962C8B-B14F-4D97-AF65-F5344CB8AC3E}">
        <p14:creationId xmlns:p14="http://schemas.microsoft.com/office/powerpoint/2010/main" val="2160456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28</a:t>
            </a:fld>
            <a:endParaRPr lang="en-US"/>
          </a:p>
        </p:txBody>
      </p:sp>
      <p:sp>
        <p:nvSpPr>
          <p:cNvPr id="5" name="Rectangle 1026"/>
          <p:cNvSpPr>
            <a:spLocks noGrp="1" noChangeArrowheads="1"/>
          </p:cNvSpPr>
          <p:nvPr>
            <p:ph type="title"/>
          </p:nvPr>
        </p:nvSpPr>
        <p:spPr/>
        <p:txBody>
          <a:bodyPr>
            <a:normAutofit fontScale="90000"/>
          </a:bodyPr>
          <a:lstStyle/>
          <a:p>
            <a:r>
              <a:rPr lang="en-US" sz="4400" dirty="0"/>
              <a:t>Car Stereo Example</a:t>
            </a:r>
            <a:br>
              <a:rPr lang="en-US" sz="4400" dirty="0"/>
            </a:br>
            <a:r>
              <a:rPr lang="en-US" sz="3600" dirty="0"/>
              <a:t>Optional stereo upgrade in a BMW i4</a:t>
            </a:r>
            <a:endParaRPr lang="en-US" dirty="0"/>
          </a:p>
        </p:txBody>
      </p:sp>
      <p:sp>
        <p:nvSpPr>
          <p:cNvPr id="2" name="Rectangle 1"/>
          <p:cNvSpPr/>
          <p:nvPr/>
        </p:nvSpPr>
        <p:spPr>
          <a:xfrm>
            <a:off x="-59145" y="6541541"/>
            <a:ext cx="6903046" cy="369332"/>
          </a:xfrm>
          <a:prstGeom prst="rect">
            <a:avLst/>
          </a:prstGeom>
        </p:spPr>
        <p:txBody>
          <a:bodyPr wrap="square">
            <a:spAutoFit/>
          </a:bodyPr>
          <a:lstStyle/>
          <a:p>
            <a:pPr>
              <a:spcBef>
                <a:spcPts val="1200"/>
              </a:spcBef>
              <a:spcAft>
                <a:spcPts val="1200"/>
              </a:spcAft>
            </a:pPr>
            <a:r>
              <a:rPr lang="en-US" sz="1800" u="sng" dirty="0"/>
              <a:t>Assume</a:t>
            </a:r>
            <a:r>
              <a:rPr lang="en-US" sz="1800" dirty="0"/>
              <a:t>: cost of stereo to dealer is $0 (i.e., sunk) to simplify calculations.</a:t>
            </a:r>
            <a:endParaRPr lang="en-US" sz="2000" dirty="0"/>
          </a:p>
        </p:txBody>
      </p:sp>
      <p:pic>
        <p:nvPicPr>
          <p:cNvPr id="11" name="Picture 10"/>
          <p:cNvPicPr>
            <a:picLocks noChangeAspect="1"/>
          </p:cNvPicPr>
          <p:nvPr/>
        </p:nvPicPr>
        <p:blipFill>
          <a:blip r:embed="rId2"/>
          <a:stretch>
            <a:fillRect/>
          </a:stretch>
        </p:blipFill>
        <p:spPr>
          <a:xfrm>
            <a:off x="84955" y="1616094"/>
            <a:ext cx="3463884" cy="2038272"/>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1550882563"/>
              </p:ext>
            </p:extLst>
          </p:nvPr>
        </p:nvGraphicFramePr>
        <p:xfrm>
          <a:off x="4935880" y="3935807"/>
          <a:ext cx="3664314" cy="1752600"/>
        </p:xfrm>
        <a:graphic>
          <a:graphicData uri="http://schemas.openxmlformats.org/drawingml/2006/table">
            <a:tbl>
              <a:tblPr firstRow="1" bandRow="1">
                <a:tableStyleId>{5C22544A-7EE6-4342-B048-85BDC9FD1C3A}</a:tableStyleId>
              </a:tblPr>
              <a:tblGrid>
                <a:gridCol w="3664314">
                  <a:extLst>
                    <a:ext uri="{9D8B030D-6E8A-4147-A177-3AD203B41FA5}">
                      <a16:colId xmlns:a16="http://schemas.microsoft.com/office/drawing/2014/main" val="2585750396"/>
                    </a:ext>
                  </a:extLst>
                </a:gridCol>
              </a:tblGrid>
              <a:tr h="370840">
                <a:tc>
                  <a:txBody>
                    <a:bodyPr/>
                    <a:lstStyle/>
                    <a:p>
                      <a:pPr algn="ctr"/>
                      <a:r>
                        <a:rPr lang="en-US" dirty="0"/>
                        <a:t>Optional</a:t>
                      </a:r>
                      <a:r>
                        <a:rPr lang="en-US" baseline="0" dirty="0"/>
                        <a:t> Upgrade</a:t>
                      </a:r>
                      <a:endParaRPr lang="en-US" dirty="0"/>
                    </a:p>
                  </a:txBody>
                  <a:tcPr anchor="ctr"/>
                </a:tc>
                <a:extLst>
                  <a:ext uri="{0D108BD9-81ED-4DB2-BD59-A6C34878D82A}">
                    <a16:rowId xmlns:a16="http://schemas.microsoft.com/office/drawing/2014/main" val="2807100237"/>
                  </a:ext>
                </a:extLst>
              </a:tr>
              <a:tr h="370840">
                <a:tc>
                  <a:txBody>
                    <a:bodyPr/>
                    <a:lstStyle/>
                    <a:p>
                      <a:pPr algn="ctr"/>
                      <a:r>
                        <a:rPr kumimoji="0" lang="en-US" b="0" i="0" kern="1200" dirty="0">
                          <a:solidFill>
                            <a:schemeClr val="dk1"/>
                          </a:solidFill>
                          <a:effectLst/>
                          <a:latin typeface="+mn-lt"/>
                          <a:ea typeface="+mn-ea"/>
                          <a:cs typeface="+mn-cs"/>
                        </a:rPr>
                        <a:t> multi-channel Harman </a:t>
                      </a:r>
                      <a:r>
                        <a:rPr kumimoji="0" lang="en-US" b="0" i="0" kern="1200" dirty="0" err="1">
                          <a:solidFill>
                            <a:schemeClr val="dk1"/>
                          </a:solidFill>
                          <a:effectLst/>
                          <a:latin typeface="+mn-lt"/>
                          <a:ea typeface="+mn-ea"/>
                          <a:cs typeface="+mn-cs"/>
                        </a:rPr>
                        <a:t>Kardon</a:t>
                      </a:r>
                      <a:r>
                        <a:rPr kumimoji="0" lang="en-US" b="0" i="0" kern="1200" dirty="0">
                          <a:solidFill>
                            <a:schemeClr val="dk1"/>
                          </a:solidFill>
                          <a:effectLst/>
                          <a:latin typeface="+mn-lt"/>
                          <a:ea typeface="+mn-ea"/>
                          <a:cs typeface="+mn-cs"/>
                        </a:rPr>
                        <a:t> surround</a:t>
                      </a:r>
                      <a:endParaRPr lang="en-US" dirty="0"/>
                    </a:p>
                  </a:txBody>
                  <a:tcPr anchor="ctr"/>
                </a:tc>
                <a:extLst>
                  <a:ext uri="{0D108BD9-81ED-4DB2-BD59-A6C34878D82A}">
                    <a16:rowId xmlns:a16="http://schemas.microsoft.com/office/drawing/2014/main" val="1777868976"/>
                  </a:ext>
                </a:extLst>
              </a:tr>
              <a:tr h="370840">
                <a:tc>
                  <a:txBody>
                    <a:bodyPr/>
                    <a:lstStyle/>
                    <a:p>
                      <a:pPr algn="ctr"/>
                      <a:r>
                        <a:rPr lang="en-US" dirty="0"/>
                        <a:t>17 speakers</a:t>
                      </a:r>
                    </a:p>
                  </a:txBody>
                  <a:tcPr anchor="ctr"/>
                </a:tc>
                <a:extLst>
                  <a:ext uri="{0D108BD9-81ED-4DB2-BD59-A6C34878D82A}">
                    <a16:rowId xmlns:a16="http://schemas.microsoft.com/office/drawing/2014/main" val="4117798816"/>
                  </a:ext>
                </a:extLst>
              </a:tr>
              <a:tr h="370840">
                <a:tc>
                  <a:txBody>
                    <a:bodyPr/>
                    <a:lstStyle/>
                    <a:p>
                      <a:pPr algn="ctr"/>
                      <a:r>
                        <a:rPr kumimoji="0" lang="en-US" b="0" i="0" kern="1200" dirty="0">
                          <a:solidFill>
                            <a:schemeClr val="dk1"/>
                          </a:solidFill>
                          <a:effectLst/>
                          <a:latin typeface="+mn-lt"/>
                          <a:ea typeface="+mn-ea"/>
                          <a:cs typeface="+mn-cs"/>
                        </a:rPr>
                        <a:t>464 Watts</a:t>
                      </a:r>
                      <a:endParaRPr lang="en-US" dirty="0"/>
                    </a:p>
                  </a:txBody>
                  <a:tcPr anchor="ctr"/>
                </a:tc>
                <a:extLst>
                  <a:ext uri="{0D108BD9-81ED-4DB2-BD59-A6C34878D82A}">
                    <a16:rowId xmlns:a16="http://schemas.microsoft.com/office/drawing/2014/main" val="195757004"/>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186377063"/>
              </p:ext>
            </p:extLst>
          </p:nvPr>
        </p:nvGraphicFramePr>
        <p:xfrm>
          <a:off x="4935880" y="1714829"/>
          <a:ext cx="3414566" cy="1112520"/>
        </p:xfrm>
        <a:graphic>
          <a:graphicData uri="http://schemas.openxmlformats.org/drawingml/2006/table">
            <a:tbl>
              <a:tblPr firstRow="1" bandRow="1">
                <a:tableStyleId>{5C22544A-7EE6-4342-B048-85BDC9FD1C3A}</a:tableStyleId>
              </a:tblPr>
              <a:tblGrid>
                <a:gridCol w="3414566">
                  <a:extLst>
                    <a:ext uri="{9D8B030D-6E8A-4147-A177-3AD203B41FA5}">
                      <a16:colId xmlns:a16="http://schemas.microsoft.com/office/drawing/2014/main" val="2585750396"/>
                    </a:ext>
                  </a:extLst>
                </a:gridCol>
              </a:tblGrid>
              <a:tr h="370840">
                <a:tc>
                  <a:txBody>
                    <a:bodyPr/>
                    <a:lstStyle/>
                    <a:p>
                      <a:pPr algn="ctr"/>
                      <a:r>
                        <a:rPr lang="en-US" dirty="0"/>
                        <a:t>Default Audio</a:t>
                      </a:r>
                    </a:p>
                  </a:txBody>
                  <a:tcPr anchor="ctr"/>
                </a:tc>
                <a:extLst>
                  <a:ext uri="{0D108BD9-81ED-4DB2-BD59-A6C34878D82A}">
                    <a16:rowId xmlns:a16="http://schemas.microsoft.com/office/drawing/2014/main" val="2807100237"/>
                  </a:ext>
                </a:extLst>
              </a:tr>
              <a:tr h="370840">
                <a:tc>
                  <a:txBody>
                    <a:bodyPr/>
                    <a:lstStyle/>
                    <a:p>
                      <a:pPr algn="ctr"/>
                      <a:r>
                        <a:rPr lang="en-US" dirty="0"/>
                        <a:t>10 speakers</a:t>
                      </a:r>
                    </a:p>
                  </a:txBody>
                  <a:tcPr anchor="ctr"/>
                </a:tc>
                <a:extLst>
                  <a:ext uri="{0D108BD9-81ED-4DB2-BD59-A6C34878D82A}">
                    <a16:rowId xmlns:a16="http://schemas.microsoft.com/office/drawing/2014/main" val="4117798816"/>
                  </a:ext>
                </a:extLst>
              </a:tr>
              <a:tr h="370840">
                <a:tc>
                  <a:txBody>
                    <a:bodyPr/>
                    <a:lstStyle/>
                    <a:p>
                      <a:pPr algn="ctr"/>
                      <a:r>
                        <a:rPr kumimoji="0" lang="en-US" b="0" i="0" kern="1200" dirty="0">
                          <a:solidFill>
                            <a:schemeClr val="dk1"/>
                          </a:solidFill>
                          <a:effectLst/>
                          <a:latin typeface="+mn-lt"/>
                          <a:ea typeface="+mn-ea"/>
                          <a:cs typeface="+mn-cs"/>
                        </a:rPr>
                        <a:t>205</a:t>
                      </a:r>
                      <a:r>
                        <a:rPr kumimoji="0" lang="en-US" b="0" i="0" kern="1200" baseline="0" dirty="0">
                          <a:solidFill>
                            <a:schemeClr val="dk1"/>
                          </a:solidFill>
                          <a:effectLst/>
                          <a:latin typeface="+mn-lt"/>
                          <a:ea typeface="+mn-ea"/>
                          <a:cs typeface="+mn-cs"/>
                        </a:rPr>
                        <a:t> </a:t>
                      </a:r>
                      <a:r>
                        <a:rPr kumimoji="0" lang="en-US" b="0" i="0" kern="1200" dirty="0">
                          <a:solidFill>
                            <a:schemeClr val="dk1"/>
                          </a:solidFill>
                          <a:effectLst/>
                          <a:latin typeface="+mn-lt"/>
                          <a:ea typeface="+mn-ea"/>
                          <a:cs typeface="+mn-cs"/>
                        </a:rPr>
                        <a:t>Watts</a:t>
                      </a:r>
                      <a:endParaRPr lang="en-US" dirty="0"/>
                    </a:p>
                  </a:txBody>
                  <a:tcPr anchor="ctr"/>
                </a:tc>
                <a:extLst>
                  <a:ext uri="{0D108BD9-81ED-4DB2-BD59-A6C34878D82A}">
                    <a16:rowId xmlns:a16="http://schemas.microsoft.com/office/drawing/2014/main" val="195757004"/>
                  </a:ext>
                </a:extLst>
              </a:tr>
            </a:tbl>
          </a:graphicData>
        </a:graphic>
      </p:graphicFrame>
      <p:pic>
        <p:nvPicPr>
          <p:cNvPr id="16" name="Picture 15"/>
          <p:cNvPicPr>
            <a:picLocks noChangeAspect="1"/>
          </p:cNvPicPr>
          <p:nvPr/>
        </p:nvPicPr>
        <p:blipFill rotWithShape="1">
          <a:blip r:embed="rId3"/>
          <a:srcRect l="3605" t="13411" r="37570"/>
          <a:stretch/>
        </p:blipFill>
        <p:spPr>
          <a:xfrm>
            <a:off x="565031" y="3782844"/>
            <a:ext cx="3257725" cy="1945248"/>
          </a:xfrm>
          <a:prstGeom prst="rect">
            <a:avLst/>
          </a:prstGeom>
        </p:spPr>
      </p:pic>
      <p:pic>
        <p:nvPicPr>
          <p:cNvPr id="19" name="Picture 18"/>
          <p:cNvPicPr>
            <a:picLocks noChangeAspect="1"/>
          </p:cNvPicPr>
          <p:nvPr/>
        </p:nvPicPr>
        <p:blipFill>
          <a:blip r:embed="rId4"/>
          <a:stretch>
            <a:fillRect/>
          </a:stretch>
        </p:blipFill>
        <p:spPr>
          <a:xfrm>
            <a:off x="2669956" y="5236651"/>
            <a:ext cx="1757766" cy="1129112"/>
          </a:xfrm>
          <a:prstGeom prst="rect">
            <a:avLst/>
          </a:prstGeom>
        </p:spPr>
      </p:pic>
      <p:pic>
        <p:nvPicPr>
          <p:cNvPr id="20" name="Picture 19"/>
          <p:cNvPicPr>
            <a:picLocks noChangeAspect="1"/>
          </p:cNvPicPr>
          <p:nvPr/>
        </p:nvPicPr>
        <p:blipFill>
          <a:blip r:embed="rId5"/>
          <a:stretch>
            <a:fillRect/>
          </a:stretch>
        </p:blipFill>
        <p:spPr>
          <a:xfrm>
            <a:off x="2885820" y="6397595"/>
            <a:ext cx="1326038" cy="112114"/>
          </a:xfrm>
          <a:prstGeom prst="rect">
            <a:avLst/>
          </a:prstGeom>
        </p:spPr>
      </p:pic>
    </p:spTree>
    <p:extLst>
      <p:ext uri="{BB962C8B-B14F-4D97-AF65-F5344CB8AC3E}">
        <p14:creationId xmlns:p14="http://schemas.microsoft.com/office/powerpoint/2010/main" val="4224099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29</a:t>
            </a:fld>
            <a:endParaRPr lang="en-US"/>
          </a:p>
        </p:txBody>
      </p:sp>
      <p:sp>
        <p:nvSpPr>
          <p:cNvPr id="8" name="Content Placeholder 2"/>
          <p:cNvSpPr>
            <a:spLocks noGrp="1"/>
          </p:cNvSpPr>
          <p:nvPr>
            <p:ph sz="quarter" idx="1"/>
          </p:nvPr>
        </p:nvSpPr>
        <p:spPr>
          <a:xfrm>
            <a:off x="612648" y="1600199"/>
            <a:ext cx="8153400" cy="2107570"/>
          </a:xfrm>
        </p:spPr>
        <p:txBody>
          <a:bodyPr>
            <a:normAutofit/>
          </a:bodyPr>
          <a:lstStyle/>
          <a:p>
            <a:pPr>
              <a:defRPr/>
            </a:pPr>
            <a:r>
              <a:rPr lang="en-US" dirty="0"/>
              <a:t>Value of base car</a:t>
            </a:r>
            <a:endParaRPr lang="en-US" dirty="0">
              <a:latin typeface="Times New Roman" panose="02020603050405020304" pitchFamily="18" charset="0"/>
              <a:cs typeface="Times New Roman" panose="02020603050405020304" pitchFamily="18" charset="0"/>
            </a:endParaRPr>
          </a:p>
          <a:p>
            <a:pPr marL="366713" lvl="1" indent="0">
              <a:buNone/>
              <a:defRPr/>
            </a:pPr>
            <a:r>
              <a:rPr lang="en-US" dirty="0"/>
              <a:t>High consumer Value segment (50%): $75,000</a:t>
            </a:r>
          </a:p>
          <a:p>
            <a:pPr marL="366713" lvl="1" indent="0">
              <a:spcAft>
                <a:spcPts val="1200"/>
              </a:spcAft>
              <a:buNone/>
              <a:defRPr/>
            </a:pPr>
            <a:r>
              <a:rPr lang="en-US" dirty="0"/>
              <a:t>Low consumer Value segment (50%):  $55,000</a:t>
            </a:r>
          </a:p>
          <a:p>
            <a:pPr>
              <a:spcAft>
                <a:spcPts val="1200"/>
              </a:spcAft>
              <a:defRPr/>
            </a:pPr>
            <a:r>
              <a:rPr lang="en-US" dirty="0"/>
              <a:t>What should we charge for a car?</a:t>
            </a:r>
          </a:p>
        </p:txBody>
      </p:sp>
      <p:sp>
        <p:nvSpPr>
          <p:cNvPr id="9" name="Rectangle 1026"/>
          <p:cNvSpPr>
            <a:spLocks noGrp="1" noChangeArrowheads="1"/>
          </p:cNvSpPr>
          <p:nvPr>
            <p:ph type="title"/>
          </p:nvPr>
        </p:nvSpPr>
        <p:spPr>
          <a:xfrm>
            <a:off x="612648" y="228600"/>
            <a:ext cx="8153400" cy="990600"/>
          </a:xfrm>
        </p:spPr>
        <p:txBody>
          <a:bodyPr>
            <a:normAutofit fontScale="90000"/>
          </a:bodyPr>
          <a:lstStyle/>
          <a:p>
            <a:r>
              <a:rPr lang="en-US" sz="4400" dirty="0"/>
              <a:t>Car Stereo Example</a:t>
            </a:r>
            <a:br>
              <a:rPr lang="en-US" sz="4400" dirty="0"/>
            </a:br>
            <a:r>
              <a:rPr lang="en-US" sz="3600" dirty="0"/>
              <a:t>Optional stereo upgrade in a BMW i4</a:t>
            </a:r>
            <a:endParaRPr lang="en-US" dirty="0"/>
          </a:p>
        </p:txBody>
      </p:sp>
      <p:sp>
        <p:nvSpPr>
          <p:cNvPr id="7" name="Right Brace 6"/>
          <p:cNvSpPr/>
          <p:nvPr/>
        </p:nvSpPr>
        <p:spPr>
          <a:xfrm>
            <a:off x="7055617" y="2015695"/>
            <a:ext cx="609600" cy="1066800"/>
          </a:xfrm>
          <a:prstGeom prst="rightBrace">
            <a:avLst>
              <a:gd name="adj1" fmla="val 8333"/>
              <a:gd name="adj2" fmla="val 50902"/>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7763198" y="2263724"/>
            <a:ext cx="1204176" cy="646331"/>
          </a:xfrm>
          <a:prstGeom prst="rect">
            <a:avLst/>
          </a:prstGeom>
          <a:noFill/>
        </p:spPr>
        <p:txBody>
          <a:bodyPr wrap="none" rtlCol="0">
            <a:spAutoFit/>
          </a:bodyPr>
          <a:lstStyle/>
          <a:p>
            <a:pPr algn="ctr"/>
            <a:r>
              <a:rPr lang="en-US" sz="1800" dirty="0">
                <a:solidFill>
                  <a:srgbClr val="0070C0"/>
                </a:solidFill>
              </a:rPr>
              <a:t>Marketing </a:t>
            </a:r>
          </a:p>
          <a:p>
            <a:pPr algn="ctr"/>
            <a:r>
              <a:rPr lang="en-US" sz="1800" dirty="0">
                <a:solidFill>
                  <a:srgbClr val="0070C0"/>
                </a:solidFill>
              </a:rPr>
              <a:t>research</a:t>
            </a:r>
          </a:p>
        </p:txBody>
      </p:sp>
      <p:sp>
        <p:nvSpPr>
          <p:cNvPr id="13" name="Oval 12"/>
          <p:cNvSpPr/>
          <p:nvPr/>
        </p:nvSpPr>
        <p:spPr>
          <a:xfrm>
            <a:off x="903241" y="2231570"/>
            <a:ext cx="112790" cy="1208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903241" y="2669417"/>
            <a:ext cx="112790" cy="1208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5464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2648" y="1600199"/>
            <a:ext cx="6291676" cy="2107570"/>
          </a:xfrm>
        </p:spPr>
        <p:txBody>
          <a:bodyPr>
            <a:normAutofit/>
          </a:bodyPr>
          <a:lstStyle/>
          <a:p>
            <a:pPr>
              <a:defRPr/>
            </a:pPr>
            <a:r>
              <a:rPr lang="en-US" dirty="0"/>
              <a:t>Value of base car</a:t>
            </a:r>
            <a:endParaRPr lang="en-US" dirty="0">
              <a:latin typeface="Times New Roman" panose="02020603050405020304" pitchFamily="18" charset="0"/>
              <a:cs typeface="Times New Roman" panose="02020603050405020304" pitchFamily="18" charset="0"/>
            </a:endParaRPr>
          </a:p>
          <a:p>
            <a:pPr marL="366713" lvl="1" indent="0">
              <a:buNone/>
              <a:defRPr/>
            </a:pPr>
            <a:r>
              <a:rPr lang="en-US" dirty="0"/>
              <a:t>High consumer Value segment (50%): $75,000</a:t>
            </a:r>
          </a:p>
          <a:p>
            <a:pPr marL="366713" lvl="1" indent="0">
              <a:spcAft>
                <a:spcPts val="1200"/>
              </a:spcAft>
              <a:buNone/>
              <a:defRPr/>
            </a:pPr>
            <a:r>
              <a:rPr lang="en-US" dirty="0"/>
              <a:t>Low consumer Value segment (50%):  $55,000</a:t>
            </a:r>
          </a:p>
          <a:p>
            <a:pPr>
              <a:spcAft>
                <a:spcPts val="1200"/>
              </a:spcAft>
              <a:defRPr/>
            </a:pPr>
            <a:r>
              <a:rPr lang="en-US" dirty="0"/>
              <a:t>What should we charge for a car?</a:t>
            </a:r>
          </a:p>
        </p:txBody>
      </p:sp>
      <p:sp>
        <p:nvSpPr>
          <p:cNvPr id="5" name="Right Brace 4"/>
          <p:cNvSpPr/>
          <p:nvPr/>
        </p:nvSpPr>
        <p:spPr>
          <a:xfrm>
            <a:off x="7055617" y="2015695"/>
            <a:ext cx="609600" cy="1066800"/>
          </a:xfrm>
          <a:prstGeom prst="rightBrace">
            <a:avLst>
              <a:gd name="adj1" fmla="val 8333"/>
              <a:gd name="adj2" fmla="val 50902"/>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7763198" y="2263724"/>
            <a:ext cx="1204176" cy="646331"/>
          </a:xfrm>
          <a:prstGeom prst="rect">
            <a:avLst/>
          </a:prstGeom>
          <a:noFill/>
        </p:spPr>
        <p:txBody>
          <a:bodyPr wrap="none" rtlCol="0">
            <a:spAutoFit/>
          </a:bodyPr>
          <a:lstStyle/>
          <a:p>
            <a:pPr algn="ctr"/>
            <a:r>
              <a:rPr lang="en-US" sz="1800" dirty="0">
                <a:solidFill>
                  <a:srgbClr val="0070C0"/>
                </a:solidFill>
              </a:rPr>
              <a:t>Marketing </a:t>
            </a:r>
          </a:p>
          <a:p>
            <a:pPr algn="ctr"/>
            <a:r>
              <a:rPr lang="en-US" sz="1800" dirty="0">
                <a:solidFill>
                  <a:srgbClr val="0070C0"/>
                </a:solidFill>
              </a:rPr>
              <a:t>research</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30</a:t>
            </a:fld>
            <a:endParaRPr lang="en-US"/>
          </a:p>
        </p:txBody>
      </p:sp>
      <p:graphicFrame>
        <p:nvGraphicFramePr>
          <p:cNvPr id="7" name="Table 6"/>
          <p:cNvGraphicFramePr>
            <a:graphicFrameLocks noGrp="1"/>
          </p:cNvGraphicFramePr>
          <p:nvPr/>
        </p:nvGraphicFramePr>
        <p:xfrm>
          <a:off x="612648" y="3824689"/>
          <a:ext cx="6442969" cy="1483360"/>
        </p:xfrm>
        <a:graphic>
          <a:graphicData uri="http://schemas.openxmlformats.org/drawingml/2006/table">
            <a:tbl>
              <a:tblPr firstRow="1" bandRow="1">
                <a:tableStyleId>{5C22544A-7EE6-4342-B048-85BDC9FD1C3A}</a:tableStyleId>
              </a:tblPr>
              <a:tblGrid>
                <a:gridCol w="2679192">
                  <a:extLst>
                    <a:ext uri="{9D8B030D-6E8A-4147-A177-3AD203B41FA5}">
                      <a16:colId xmlns:a16="http://schemas.microsoft.com/office/drawing/2014/main" val="20000"/>
                    </a:ext>
                  </a:extLst>
                </a:gridCol>
                <a:gridCol w="2045208">
                  <a:extLst>
                    <a:ext uri="{9D8B030D-6E8A-4147-A177-3AD203B41FA5}">
                      <a16:colId xmlns:a16="http://schemas.microsoft.com/office/drawing/2014/main" val="20001"/>
                    </a:ext>
                  </a:extLst>
                </a:gridCol>
                <a:gridCol w="1718569">
                  <a:extLst>
                    <a:ext uri="{9D8B030D-6E8A-4147-A177-3AD203B41FA5}">
                      <a16:colId xmlns:a16="http://schemas.microsoft.com/office/drawing/2014/main" val="20002"/>
                    </a:ext>
                  </a:extLst>
                </a:gridCol>
              </a:tblGrid>
              <a:tr h="370840">
                <a:tc>
                  <a:txBody>
                    <a:bodyPr/>
                    <a:lstStyle/>
                    <a:p>
                      <a:endParaRPr lang="en-US" dirty="0"/>
                    </a:p>
                  </a:txBody>
                  <a:tcPr>
                    <a:solidFill>
                      <a:schemeClr val="accent1">
                        <a:lumMod val="50000"/>
                      </a:schemeClr>
                    </a:solidFill>
                  </a:tcPr>
                </a:tc>
                <a:tc gridSpan="2">
                  <a:txBody>
                    <a:bodyPr/>
                    <a:lstStyle/>
                    <a:p>
                      <a:pPr algn="ctr"/>
                      <a:r>
                        <a:rPr lang="en-US" dirty="0"/>
                        <a:t>Upgrade</a:t>
                      </a:r>
                      <a:r>
                        <a:rPr lang="en-US" baseline="0" dirty="0"/>
                        <a:t> Valuations</a:t>
                      </a:r>
                      <a:endParaRPr lang="en-US" dirty="0"/>
                    </a:p>
                  </a:txBody>
                  <a:tcPr>
                    <a:solidFill>
                      <a:schemeClr val="accent1">
                        <a:lumMod val="50000"/>
                      </a:schemeClr>
                    </a:solidFill>
                  </a:tcPr>
                </a:tc>
                <a:tc hMerge="1">
                  <a:txBody>
                    <a:bodyPr/>
                    <a:lstStyle/>
                    <a:p>
                      <a:pPr algn="ctr"/>
                      <a:endParaRPr lang="en-US" dirty="0"/>
                    </a:p>
                  </a:txBody>
                  <a:tcPr/>
                </a:tc>
                <a:extLst>
                  <a:ext uri="{0D108BD9-81ED-4DB2-BD59-A6C34878D82A}">
                    <a16:rowId xmlns:a16="http://schemas.microsoft.com/office/drawing/2014/main" val="3810669547"/>
                  </a:ext>
                </a:extLst>
              </a:tr>
              <a:tr h="370840">
                <a:tc>
                  <a:txBody>
                    <a:bodyPr/>
                    <a:lstStyle/>
                    <a:p>
                      <a:r>
                        <a:rPr lang="en-US" dirty="0"/>
                        <a:t>Segment</a:t>
                      </a:r>
                    </a:p>
                  </a:txBody>
                  <a:tcPr>
                    <a:solidFill>
                      <a:schemeClr val="accent1">
                        <a:lumMod val="75000"/>
                      </a:schemeClr>
                    </a:solidFill>
                  </a:tcPr>
                </a:tc>
                <a:tc>
                  <a:txBody>
                    <a:bodyPr/>
                    <a:lstStyle/>
                    <a:p>
                      <a:pPr algn="ctr"/>
                      <a:r>
                        <a:rPr lang="en-US" dirty="0"/>
                        <a:t>Harman </a:t>
                      </a:r>
                      <a:r>
                        <a:rPr lang="en-US" dirty="0" err="1"/>
                        <a:t>Kardon</a:t>
                      </a:r>
                      <a:endParaRPr lang="en-US" dirty="0"/>
                    </a:p>
                  </a:txBody>
                  <a:tcPr>
                    <a:solidFill>
                      <a:schemeClr val="accent1">
                        <a:lumMod val="75000"/>
                      </a:schemeClr>
                    </a:solidFill>
                  </a:tcPr>
                </a:tc>
                <a:tc>
                  <a:txBody>
                    <a:bodyPr/>
                    <a:lstStyle/>
                    <a:p>
                      <a:pPr algn="ctr"/>
                      <a:r>
                        <a:rPr lang="en-US" dirty="0"/>
                        <a:t>Generic</a:t>
                      </a:r>
                    </a:p>
                  </a:txBody>
                  <a:tcPr>
                    <a:solidFill>
                      <a:schemeClr val="accent1">
                        <a:lumMod val="75000"/>
                      </a:schemeClr>
                    </a:solidFill>
                  </a:tcPr>
                </a:tc>
                <a:extLst>
                  <a:ext uri="{0D108BD9-81ED-4DB2-BD59-A6C34878D82A}">
                    <a16:rowId xmlns:a16="http://schemas.microsoft.com/office/drawing/2014/main" val="10000"/>
                  </a:ext>
                </a:extLst>
              </a:tr>
              <a:tr h="370840">
                <a:tc>
                  <a:txBody>
                    <a:bodyPr/>
                    <a:lstStyle/>
                    <a:p>
                      <a:r>
                        <a:rPr lang="en-US" dirty="0"/>
                        <a:t>High</a:t>
                      </a:r>
                      <a:r>
                        <a:rPr lang="en-US" baseline="0" dirty="0"/>
                        <a:t> segment values at …</a:t>
                      </a:r>
                      <a:endParaRPr lang="en-US" dirty="0"/>
                    </a:p>
                  </a:txBody>
                  <a:tcPr/>
                </a:tc>
                <a:tc>
                  <a:txBody>
                    <a:bodyPr/>
                    <a:lstStyle/>
                    <a:p>
                      <a:pPr algn="ctr"/>
                      <a:r>
                        <a:rPr lang="en-US" dirty="0"/>
                        <a:t>$ 3,000</a:t>
                      </a:r>
                    </a:p>
                  </a:txBody>
                  <a:tcPr/>
                </a:tc>
                <a:tc>
                  <a:txBody>
                    <a:bodyPr/>
                    <a:lstStyle/>
                    <a:p>
                      <a:pPr algn="ctr"/>
                      <a:r>
                        <a:rPr lang="en-US" dirty="0"/>
                        <a:t>$ 250</a:t>
                      </a:r>
                    </a:p>
                  </a:txBody>
                  <a:tcPr/>
                </a:tc>
                <a:extLst>
                  <a:ext uri="{0D108BD9-81ED-4DB2-BD59-A6C34878D82A}">
                    <a16:rowId xmlns:a16="http://schemas.microsoft.com/office/drawing/2014/main" val="10001"/>
                  </a:ext>
                </a:extLst>
              </a:tr>
              <a:tr h="370840">
                <a:tc>
                  <a:txBody>
                    <a:bodyPr/>
                    <a:lstStyle/>
                    <a:p>
                      <a:r>
                        <a:rPr lang="en-US" dirty="0"/>
                        <a:t>Low Segment values at …</a:t>
                      </a:r>
                    </a:p>
                  </a:txBody>
                  <a:tcPr/>
                </a:tc>
                <a:tc>
                  <a:txBody>
                    <a:bodyPr/>
                    <a:lstStyle/>
                    <a:p>
                      <a:pPr algn="ctr"/>
                      <a:r>
                        <a:rPr lang="en-US" dirty="0"/>
                        <a:t>$    500</a:t>
                      </a:r>
                    </a:p>
                  </a:txBody>
                  <a:tcPr/>
                </a:tc>
                <a:tc>
                  <a:txBody>
                    <a:bodyPr/>
                    <a:lstStyle/>
                    <a:p>
                      <a:pPr algn="ctr"/>
                      <a:r>
                        <a:rPr lang="en-US" dirty="0"/>
                        <a:t>$</a:t>
                      </a:r>
                      <a:r>
                        <a:rPr lang="en-US" baseline="0" dirty="0"/>
                        <a:t> 100</a:t>
                      </a:r>
                      <a:endParaRPr lang="en-US" dirty="0"/>
                    </a:p>
                  </a:txBody>
                  <a:tcPr/>
                </a:tc>
                <a:extLst>
                  <a:ext uri="{0D108BD9-81ED-4DB2-BD59-A6C34878D82A}">
                    <a16:rowId xmlns:a16="http://schemas.microsoft.com/office/drawing/2014/main" val="10002"/>
                  </a:ext>
                </a:extLst>
              </a:tr>
            </a:tbl>
          </a:graphicData>
        </a:graphic>
      </p:graphicFrame>
      <p:sp>
        <p:nvSpPr>
          <p:cNvPr id="8" name="Right Brace 7"/>
          <p:cNvSpPr/>
          <p:nvPr/>
        </p:nvSpPr>
        <p:spPr>
          <a:xfrm>
            <a:off x="7211123" y="4507621"/>
            <a:ext cx="431751" cy="800428"/>
          </a:xfrm>
          <a:prstGeom prst="rightBrace">
            <a:avLst>
              <a:gd name="adj1" fmla="val 8333"/>
              <a:gd name="adj2" fmla="val 50902"/>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7728840" y="4668400"/>
            <a:ext cx="1146468" cy="646331"/>
          </a:xfrm>
          <a:prstGeom prst="rect">
            <a:avLst/>
          </a:prstGeom>
          <a:noFill/>
        </p:spPr>
        <p:txBody>
          <a:bodyPr wrap="none" rtlCol="0">
            <a:spAutoFit/>
          </a:bodyPr>
          <a:lstStyle/>
          <a:p>
            <a:r>
              <a:rPr lang="en-US" sz="1800" dirty="0">
                <a:solidFill>
                  <a:srgbClr val="0070C0"/>
                </a:solidFill>
              </a:rPr>
              <a:t>Marketing</a:t>
            </a:r>
          </a:p>
          <a:p>
            <a:r>
              <a:rPr lang="en-US" sz="1800" dirty="0">
                <a:solidFill>
                  <a:srgbClr val="0070C0"/>
                </a:solidFill>
              </a:rPr>
              <a:t> research</a:t>
            </a:r>
          </a:p>
        </p:txBody>
      </p:sp>
      <p:sp>
        <p:nvSpPr>
          <p:cNvPr id="13" name="Content Placeholder 2"/>
          <p:cNvSpPr txBox="1">
            <a:spLocks/>
          </p:cNvSpPr>
          <p:nvPr/>
        </p:nvSpPr>
        <p:spPr bwMode="auto">
          <a:xfrm>
            <a:off x="612648" y="5315122"/>
            <a:ext cx="8153400" cy="210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spcBef>
                <a:spcPts val="0"/>
              </a:spcBef>
              <a:spcAft>
                <a:spcPts val="600"/>
              </a:spcAft>
              <a:defRPr/>
            </a:pPr>
            <a:r>
              <a:rPr lang="en-US" dirty="0"/>
              <a:t>Product line:</a:t>
            </a:r>
          </a:p>
          <a:p>
            <a:pPr marL="366713" lvl="1" indent="0">
              <a:spcBef>
                <a:spcPts val="0"/>
              </a:spcBef>
              <a:spcAft>
                <a:spcPts val="1200"/>
              </a:spcAft>
              <a:buNone/>
              <a:defRPr/>
            </a:pPr>
            <a:r>
              <a:rPr lang="en-US" dirty="0"/>
              <a:t>car with Generic stereo; and</a:t>
            </a:r>
          </a:p>
          <a:p>
            <a:pPr marL="366713" lvl="1" indent="0">
              <a:spcBef>
                <a:spcPts val="0"/>
              </a:spcBef>
              <a:spcAft>
                <a:spcPts val="1200"/>
              </a:spcAft>
              <a:buNone/>
              <a:defRPr/>
            </a:pPr>
            <a:r>
              <a:rPr lang="en-US" dirty="0"/>
              <a:t>car with Harman </a:t>
            </a:r>
            <a:r>
              <a:rPr lang="en-US" dirty="0" err="1"/>
              <a:t>Kardon</a:t>
            </a:r>
            <a:r>
              <a:rPr lang="en-US" dirty="0"/>
              <a:t> stereo upgrade</a:t>
            </a:r>
          </a:p>
        </p:txBody>
      </p:sp>
      <p:sp>
        <p:nvSpPr>
          <p:cNvPr id="14" name="Text Placeholder 3"/>
          <p:cNvSpPr txBox="1">
            <a:spLocks/>
          </p:cNvSpPr>
          <p:nvPr/>
        </p:nvSpPr>
        <p:spPr>
          <a:xfrm>
            <a:off x="678610" y="5831380"/>
            <a:ext cx="337421" cy="338328"/>
          </a:xfrm>
          <a:prstGeom prst="ellipse">
            <a:avLst/>
          </a:prstGeom>
          <a:solidFill>
            <a:srgbClr val="CD9A33"/>
          </a:solidFill>
        </p:spPr>
        <p:txBody>
          <a:bodyPr anchor="ctr" anchorCtr="0"/>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latin typeface="Arial" panose="020B0604020202020204" pitchFamily="34" charset="0"/>
                <a:cs typeface="Arial" panose="020B0604020202020204" pitchFamily="34" charset="0"/>
              </a:rPr>
              <a:t>1</a:t>
            </a:r>
            <a:endParaRPr lang="en-US" sz="2100" dirty="0">
              <a:latin typeface="Arial" panose="020B0604020202020204" pitchFamily="34" charset="0"/>
              <a:cs typeface="Arial" panose="020B0604020202020204" pitchFamily="34" charset="0"/>
            </a:endParaRPr>
          </a:p>
        </p:txBody>
      </p:sp>
      <p:sp>
        <p:nvSpPr>
          <p:cNvPr id="15" name="Text Placeholder 1"/>
          <p:cNvSpPr txBox="1">
            <a:spLocks/>
          </p:cNvSpPr>
          <p:nvPr/>
        </p:nvSpPr>
        <p:spPr>
          <a:xfrm>
            <a:off x="678609" y="6342408"/>
            <a:ext cx="337422" cy="338328"/>
          </a:xfrm>
          <a:prstGeom prst="ellipse">
            <a:avLst/>
          </a:prstGeom>
          <a:solidFill>
            <a:srgbClr val="009BC8"/>
          </a:solidFill>
        </p:spPr>
        <p:txBody>
          <a:bodyPr anchor="ctr" anchorCtr="0"/>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latin typeface="Arial" panose="020B0604020202020204" pitchFamily="34" charset="0"/>
                <a:cs typeface="Arial" panose="020B0604020202020204" pitchFamily="34" charset="0"/>
              </a:rPr>
              <a:t>2</a:t>
            </a:r>
            <a:endParaRPr lang="en-US" sz="2100" dirty="0">
              <a:latin typeface="Arial" panose="020B0604020202020204" pitchFamily="34" charset="0"/>
              <a:cs typeface="Arial" panose="020B0604020202020204" pitchFamily="34" charset="0"/>
            </a:endParaRPr>
          </a:p>
        </p:txBody>
      </p:sp>
      <p:sp>
        <p:nvSpPr>
          <p:cNvPr id="16" name="Rectangle 1026"/>
          <p:cNvSpPr>
            <a:spLocks noGrp="1" noChangeArrowheads="1"/>
          </p:cNvSpPr>
          <p:nvPr>
            <p:ph type="title"/>
          </p:nvPr>
        </p:nvSpPr>
        <p:spPr>
          <a:xfrm>
            <a:off x="612648" y="228600"/>
            <a:ext cx="8153400" cy="990600"/>
          </a:xfrm>
        </p:spPr>
        <p:txBody>
          <a:bodyPr>
            <a:normAutofit fontScale="90000"/>
          </a:bodyPr>
          <a:lstStyle/>
          <a:p>
            <a:r>
              <a:rPr lang="en-US" sz="4400" dirty="0"/>
              <a:t>Car Stereo Example</a:t>
            </a:r>
            <a:br>
              <a:rPr lang="en-US" sz="4400" dirty="0"/>
            </a:br>
            <a:r>
              <a:rPr lang="en-US" sz="3600" dirty="0"/>
              <a:t>Optional stereo upgrade in a BMW i4</a:t>
            </a:r>
            <a:endParaRPr lang="en-US" dirty="0"/>
          </a:p>
        </p:txBody>
      </p:sp>
      <p:sp>
        <p:nvSpPr>
          <p:cNvPr id="2" name="Oval 1"/>
          <p:cNvSpPr/>
          <p:nvPr/>
        </p:nvSpPr>
        <p:spPr>
          <a:xfrm>
            <a:off x="903241" y="2231570"/>
            <a:ext cx="112790" cy="1208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903241" y="2669417"/>
            <a:ext cx="112790" cy="1208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633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2339" name="Rectangle 3"/>
              <p:cNvSpPr>
                <a:spLocks noGrp="1" noChangeArrowheads="1"/>
              </p:cNvSpPr>
              <p:nvPr>
                <p:ph sz="quarter" idx="1"/>
              </p:nvPr>
            </p:nvSpPr>
            <p:spPr/>
            <p:txBody>
              <a:bodyPr>
                <a:normAutofit fontScale="85000" lnSpcReduction="20000"/>
              </a:bodyPr>
              <a:lstStyle/>
              <a:p>
                <a:pPr marL="533400" indent="-533400">
                  <a:lnSpc>
                    <a:spcPct val="90000"/>
                  </a:lnSpc>
                  <a:defRPr/>
                </a:pPr>
                <a:r>
                  <a:rPr lang="en-US" sz="2400" dirty="0">
                    <a:latin typeface="+mj-lt"/>
                  </a:rPr>
                  <a:t>Use EVC</a:t>
                </a:r>
              </a:p>
              <a:p>
                <a:pPr marL="854075" lvl="1" indent="-533400">
                  <a:lnSpc>
                    <a:spcPct val="90000"/>
                  </a:lnSpc>
                  <a:defRPr/>
                </a:pPr>
                <a14:m>
                  <m:oMath xmlns:m="http://schemas.openxmlformats.org/officeDocument/2006/math">
                    <m:sSup>
                      <m:sSupPr>
                        <m:ctrlPr>
                          <a:rPr lang="en-US" i="1">
                            <a:latin typeface="Cambria Math" panose="02040503050406030204" pitchFamily="18" charset="0"/>
                          </a:rPr>
                        </m:ctrlPr>
                      </m:sSupPr>
                      <m:e>
                        <m:r>
                          <a:rPr lang="en-US" i="1">
                            <a:latin typeface="Cambria Math"/>
                          </a:rPr>
                          <m:t>𝑃𝑟𝑖𝑐𝑒</m:t>
                        </m:r>
                      </m:e>
                      <m:sup>
                        <m:r>
                          <a:rPr lang="en-US" b="0" i="1" smtClean="0">
                            <a:latin typeface="Cambria Math"/>
                          </a:rPr>
                          <m:t>𝐺𝑒𝑛</m:t>
                        </m:r>
                      </m:sup>
                    </m:sSup>
                    <m:r>
                      <a:rPr lang="en-US" i="1">
                        <a:latin typeface="Cambria Math"/>
                      </a:rPr>
                      <m:t>=$</m:t>
                    </m:r>
                    <m:r>
                      <a:rPr lang="en-US" b="0" i="1" smtClean="0">
                        <a:latin typeface="Cambria Math"/>
                      </a:rPr>
                      <m:t>5</m:t>
                    </m:r>
                    <m:r>
                      <a:rPr lang="en-US" b="0" i="1" smtClean="0">
                        <a:latin typeface="Cambria Math" panose="02040503050406030204" pitchFamily="18" charset="0"/>
                      </a:rPr>
                      <m:t>5</m:t>
                    </m:r>
                    <m:r>
                      <a:rPr lang="en-US" b="0" i="1" smtClean="0">
                        <a:latin typeface="Cambria Math"/>
                      </a:rPr>
                      <m:t>,10</m:t>
                    </m:r>
                    <m:r>
                      <a:rPr lang="en-US" i="1">
                        <a:latin typeface="Cambria Math"/>
                      </a:rPr>
                      <m:t>0</m:t>
                    </m:r>
                  </m:oMath>
                </a14:m>
                <a:endParaRPr lang="en-US" i="1" dirty="0">
                  <a:latin typeface="Cambria Math"/>
                </a:endParaRPr>
              </a:p>
              <a:p>
                <a:pPr marL="320675" lvl="1" indent="0">
                  <a:lnSpc>
                    <a:spcPct val="90000"/>
                  </a:lnSpc>
                  <a:buNone/>
                  <a:defRPr/>
                </a:pPr>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a:rPr>
                          <m:t>𝑊𝑇𝑃</m:t>
                        </m:r>
                      </m:e>
                      <m:sup>
                        <m:r>
                          <a:rPr lang="en-US" i="1">
                            <a:latin typeface="Cambria Math" panose="02040503050406030204" pitchFamily="18" charset="0"/>
                          </a:rPr>
                          <m:t>𝐻𝐾</m:t>
                        </m:r>
                      </m:sup>
                    </m:sSup>
                    <m:r>
                      <a:rPr lang="en-US" b="0" i="1" smtClean="0">
                        <a:latin typeface="Cambria Math" panose="02040503050406030204" pitchFamily="18" charset="0"/>
                      </a:rPr>
                      <m:t> </m:t>
                    </m:r>
                    <m:r>
                      <a:rPr lang="en-US" i="1" smtClean="0">
                        <a:latin typeface="Cambria Math"/>
                      </a:rPr>
                      <m:t>=</m:t>
                    </m:r>
                    <m:r>
                      <a:rPr lang="en-US" i="1">
                        <a:latin typeface="Cambria Math"/>
                      </a:rPr>
                      <m:t>𝐷𝑉</m:t>
                    </m:r>
                    <m:r>
                      <a:rPr lang="en-US" i="1">
                        <a:latin typeface="Cambria Math"/>
                      </a:rPr>
                      <m:t>+</m:t>
                    </m:r>
                    <m:r>
                      <a:rPr lang="en-US" i="1">
                        <a:latin typeface="Cambria Math"/>
                      </a:rPr>
                      <m:t>𝑅𝑉</m:t>
                    </m:r>
                  </m:oMath>
                </a14:m>
                <a:endParaRPr lang="en-US" dirty="0"/>
              </a:p>
              <a:p>
                <a:pPr marL="320675" lvl="1" indent="0">
                  <a:lnSpc>
                    <a:spcPct val="90000"/>
                  </a:lnSpc>
                  <a:buNone/>
                  <a:defRPr/>
                </a:pPr>
                <a:r>
                  <a:rPr lang="en-US" dirty="0">
                    <a:latin typeface="Cambria" panose="02040503050406030204" pitchFamily="18" charset="0"/>
                    <a:ea typeface="Cambria" panose="02040503050406030204" pitchFamily="18" charset="0"/>
                  </a:rPr>
                  <a:t>	 </a:t>
                </a:r>
                <a14:m>
                  <m:oMath xmlns:m="http://schemas.openxmlformats.org/officeDocument/2006/math">
                    <m:r>
                      <a:rPr lang="en-US" b="0" i="0" dirty="0" smtClean="0">
                        <a:latin typeface="Cambria Math" panose="02040503050406030204" pitchFamily="18" charset="0"/>
                      </a:rPr>
                      <m:t>                =</m:t>
                    </m:r>
                    <m:r>
                      <m:rPr>
                        <m:nor/>
                      </m:rPr>
                      <a:rPr lang="en-US" dirty="0">
                        <a:latin typeface="Cambria" panose="02040503050406030204" pitchFamily="18" charset="0"/>
                        <a:ea typeface="Cambria" panose="02040503050406030204" pitchFamily="18" charset="0"/>
                      </a:rPr>
                      <m:t>($3,000−$250)+$</m:t>
                    </m:r>
                    <m:r>
                      <m:rPr>
                        <m:nor/>
                      </m:rPr>
                      <a:rPr lang="en-US" b="0" i="0" dirty="0" smtClean="0">
                        <a:latin typeface="Cambria" panose="02040503050406030204" pitchFamily="18" charset="0"/>
                        <a:ea typeface="Cambria" panose="02040503050406030204" pitchFamily="18" charset="0"/>
                      </a:rPr>
                      <m:t>5</m:t>
                    </m:r>
                    <m:r>
                      <m:rPr>
                        <m:nor/>
                      </m:rPr>
                      <a:rPr lang="en-US" dirty="0">
                        <a:latin typeface="Cambria" panose="02040503050406030204" pitchFamily="18" charset="0"/>
                        <a:ea typeface="Cambria" panose="02040503050406030204" pitchFamily="18" charset="0"/>
                      </a:rPr>
                      <m:t>5,100</m:t>
                    </m:r>
                  </m:oMath>
                </a14:m>
                <a:endParaRPr lang="en-US" dirty="0">
                  <a:latin typeface="Cambria" panose="02040503050406030204" pitchFamily="18" charset="0"/>
                  <a:ea typeface="Cambria" panose="02040503050406030204" pitchFamily="18" charset="0"/>
                </a:endParaRPr>
              </a:p>
              <a:p>
                <a:pPr marL="320675" lvl="1" indent="0">
                  <a:lnSpc>
                    <a:spcPct val="90000"/>
                  </a:lnSpc>
                  <a:buNone/>
                  <a:defRPr/>
                </a:pPr>
                <a14:m>
                  <m:oMathPara xmlns:m="http://schemas.openxmlformats.org/officeDocument/2006/math">
                    <m:oMathParaPr>
                      <m:jc m:val="left"/>
                    </m:oMathParaPr>
                    <m:oMath xmlns:m="http://schemas.openxmlformats.org/officeDocument/2006/math">
                      <m:r>
                        <a:rPr lang="en-US" b="0" i="0" dirty="0" smtClean="0">
                          <a:latin typeface="Cambria Math" panose="02040503050406030204" pitchFamily="18" charset="0"/>
                        </a:rPr>
                        <m:t>                            </m:t>
                      </m:r>
                      <m:r>
                        <a:rPr lang="en-US" dirty="0">
                          <a:latin typeface="Cambria Math" panose="02040503050406030204" pitchFamily="18" charset="0"/>
                        </a:rPr>
                        <m:t>=</m:t>
                      </m:r>
                      <m:r>
                        <m:rPr>
                          <m:nor/>
                        </m:rPr>
                        <a:rPr lang="en-US" dirty="0">
                          <a:latin typeface="Cambria" panose="02040503050406030204" pitchFamily="18" charset="0"/>
                          <a:ea typeface="Cambria" panose="02040503050406030204" pitchFamily="18" charset="0"/>
                        </a:rPr>
                        <m:t>$57,850</m:t>
                      </m:r>
                    </m:oMath>
                  </m:oMathPara>
                </a14:m>
                <a:endParaRPr lang="en-US" dirty="0">
                  <a:latin typeface="Cambria" panose="02040503050406030204" pitchFamily="18" charset="0"/>
                  <a:ea typeface="Cambria" panose="02040503050406030204" pitchFamily="18" charset="0"/>
                </a:endParaRPr>
              </a:p>
              <a:p>
                <a:pPr marL="320675" lvl="1" indent="0">
                  <a:lnSpc>
                    <a:spcPct val="90000"/>
                  </a:lnSpc>
                  <a:buNone/>
                  <a:defRPr/>
                </a:pPr>
                <a:br>
                  <a:rPr lang="en-US" dirty="0"/>
                </a:br>
                <a:endParaRPr lang="en-US" dirty="0">
                  <a:latin typeface="+mj-lt"/>
                </a:endParaRPr>
              </a:p>
              <a:p>
                <a:pPr marL="854075" lvl="1" indent="-533400">
                  <a:lnSpc>
                    <a:spcPct val="90000"/>
                  </a:lnSpc>
                  <a:buFont typeface="Wingdings" panose="05000000000000000000" pitchFamily="2" charset="2"/>
                  <a:buChar char="Ø"/>
                  <a:defRPr/>
                </a:pPr>
                <a14:m>
                  <m:oMath xmlns:m="http://schemas.openxmlformats.org/officeDocument/2006/math">
                    <m:sSup>
                      <m:sSupPr>
                        <m:ctrlPr>
                          <a:rPr lang="en-US" i="1">
                            <a:latin typeface="Cambria Math" panose="02040503050406030204" pitchFamily="18" charset="0"/>
                          </a:rPr>
                        </m:ctrlPr>
                      </m:sSupPr>
                      <m:e>
                        <m:r>
                          <a:rPr lang="en-US" i="1">
                            <a:latin typeface="Cambria Math"/>
                          </a:rPr>
                          <m:t>𝑃𝑟𝑖𝑐𝑒</m:t>
                        </m:r>
                      </m:e>
                      <m:sup>
                        <m:r>
                          <a:rPr lang="en-US" b="0" i="1" smtClean="0">
                            <a:latin typeface="Cambria Math" panose="02040503050406030204" pitchFamily="18" charset="0"/>
                          </a:rPr>
                          <m:t>𝐻𝐾</m:t>
                        </m:r>
                      </m:sup>
                    </m:sSup>
                    <m:r>
                      <a:rPr lang="en-US" i="1">
                        <a:latin typeface="Cambria Math"/>
                      </a:rPr>
                      <m:t>=$</m:t>
                    </m:r>
                    <m:r>
                      <a:rPr lang="en-US" b="0" i="1" smtClean="0">
                        <a:latin typeface="Cambria Math" panose="02040503050406030204" pitchFamily="18" charset="0"/>
                      </a:rPr>
                      <m:t>57</m:t>
                    </m:r>
                    <m:r>
                      <a:rPr lang="en-US" b="0" i="1" smtClean="0">
                        <a:latin typeface="Cambria Math"/>
                      </a:rPr>
                      <m:t>,850</m:t>
                    </m:r>
                  </m:oMath>
                </a14:m>
                <a:endParaRPr lang="en-US" b="0" dirty="0">
                  <a:latin typeface="+mj-lt"/>
                </a:endParaRPr>
              </a:p>
              <a:p>
                <a:pPr>
                  <a:spcBef>
                    <a:spcPts val="1800"/>
                  </a:spcBef>
                  <a:spcAft>
                    <a:spcPts val="1200"/>
                  </a:spcAft>
                  <a:defRPr/>
                </a:pPr>
                <a:r>
                  <a:rPr lang="en-US" dirty="0"/>
                  <a:t>Revenue = $55,100 + $57,850 = $112,950</a:t>
                </a:r>
                <a:r>
                  <a:rPr lang="en-US" sz="1700" dirty="0">
                    <a:solidFill>
                      <a:schemeClr val="bg1">
                        <a:lumMod val="65000"/>
                      </a:schemeClr>
                    </a:solidFill>
                  </a:rPr>
                  <a:t> (vs. $110,000) (</a:t>
                </a:r>
                <a:r>
                  <a:rPr lang="en-US" sz="1700" b="1" dirty="0">
                    <a:solidFill>
                      <a:srgbClr val="FF0000"/>
                    </a:solidFill>
                    <a:effectLst>
                      <a:outerShdw blurRad="38100" dist="38100" dir="2700000" algn="tl">
                        <a:srgbClr val="000000">
                          <a:alpha val="43137"/>
                        </a:srgbClr>
                      </a:outerShdw>
                    </a:effectLst>
                  </a:rPr>
                  <a:t>GROWTH</a:t>
                </a:r>
                <a:r>
                  <a:rPr lang="en-US" sz="1700" dirty="0">
                    <a:solidFill>
                      <a:schemeClr val="bg1">
                        <a:lumMod val="65000"/>
                      </a:schemeClr>
                    </a:solidFill>
                  </a:rPr>
                  <a:t>)</a:t>
                </a:r>
                <a:endParaRPr lang="en-US" dirty="0">
                  <a:solidFill>
                    <a:schemeClr val="bg1">
                      <a:lumMod val="65000"/>
                    </a:schemeClr>
                  </a:solidFill>
                </a:endParaRPr>
              </a:p>
              <a:p>
                <a:pPr>
                  <a:spcBef>
                    <a:spcPts val="1800"/>
                  </a:spcBef>
                  <a:spcAft>
                    <a:spcPts val="0"/>
                  </a:spcAft>
                  <a:defRPr/>
                </a:pPr>
                <a:r>
                  <a:rPr lang="en-US" dirty="0"/>
                  <a:t>Where did the incremental profits come from?</a:t>
                </a:r>
              </a:p>
              <a:p>
                <a:pPr lvl="1">
                  <a:spcBef>
                    <a:spcPts val="1800"/>
                  </a:spcBef>
                  <a:spcAft>
                    <a:spcPts val="1200"/>
                  </a:spcAft>
                  <a:defRPr/>
                </a:pPr>
                <a:r>
                  <a:rPr lang="en-US" dirty="0"/>
                  <a:t>We are indirectly segmenting via product choices</a:t>
                </a:r>
              </a:p>
              <a:p>
                <a:pPr lvl="1">
                  <a:spcBef>
                    <a:spcPts val="0"/>
                  </a:spcBef>
                  <a:spcAft>
                    <a:spcPts val="1200"/>
                  </a:spcAft>
                  <a:defRPr/>
                </a:pPr>
                <a:r>
                  <a:rPr lang="en-US" dirty="0"/>
                  <a:t>But we do not get the full $78,000 value from the high type</a:t>
                </a:r>
              </a:p>
            </p:txBody>
          </p:sp>
        </mc:Choice>
        <mc:Fallback xmlns="">
          <p:sp>
            <p:nvSpPr>
              <p:cNvPr id="142339" name="Rectangle 3"/>
              <p:cNvSpPr>
                <a:spLocks noGrp="1" noRot="1" noChangeAspect="1" noMove="1" noResize="1" noEditPoints="1" noAdjustHandles="1" noChangeArrowheads="1" noChangeShapeType="1" noTextEdit="1"/>
              </p:cNvSpPr>
              <p:nvPr>
                <p:ph sz="quarter" idx="1"/>
              </p:nvPr>
            </p:nvSpPr>
            <p:spPr>
              <a:blipFill>
                <a:blip r:embed="rId2"/>
                <a:stretch>
                  <a:fillRect t="-2578"/>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31</a:t>
            </a:fld>
            <a:endParaRPr lang="en-US"/>
          </a:p>
        </p:txBody>
      </p:sp>
      <p:graphicFrame>
        <p:nvGraphicFramePr>
          <p:cNvPr id="6" name="Table 5"/>
          <p:cNvGraphicFramePr>
            <a:graphicFrameLocks noGrp="1"/>
          </p:cNvGraphicFramePr>
          <p:nvPr/>
        </p:nvGraphicFramePr>
        <p:xfrm>
          <a:off x="6266047" y="1516063"/>
          <a:ext cx="2772372" cy="1259840"/>
        </p:xfrm>
        <a:graphic>
          <a:graphicData uri="http://schemas.openxmlformats.org/drawingml/2006/table">
            <a:tbl>
              <a:tblPr firstRow="1" bandRow="1">
                <a:tableStyleId>{5C22544A-7EE6-4342-B048-85BDC9FD1C3A}</a:tableStyleId>
              </a:tblPr>
              <a:tblGrid>
                <a:gridCol w="827772">
                  <a:extLst>
                    <a:ext uri="{9D8B030D-6E8A-4147-A177-3AD203B41FA5}">
                      <a16:colId xmlns:a16="http://schemas.microsoft.com/office/drawing/2014/main" val="20000"/>
                    </a:ext>
                  </a:extLst>
                </a:gridCol>
                <a:gridCol w="972151">
                  <a:extLst>
                    <a:ext uri="{9D8B030D-6E8A-4147-A177-3AD203B41FA5}">
                      <a16:colId xmlns:a16="http://schemas.microsoft.com/office/drawing/2014/main" val="20001"/>
                    </a:ext>
                  </a:extLst>
                </a:gridCol>
                <a:gridCol w="972449">
                  <a:extLst>
                    <a:ext uri="{9D8B030D-6E8A-4147-A177-3AD203B41FA5}">
                      <a16:colId xmlns:a16="http://schemas.microsoft.com/office/drawing/2014/main" val="20002"/>
                    </a:ext>
                  </a:extLst>
                </a:gridCol>
              </a:tblGrid>
              <a:tr h="370840">
                <a:tc>
                  <a:txBody>
                    <a:bodyPr/>
                    <a:lstStyle/>
                    <a:p>
                      <a:r>
                        <a:rPr lang="en-US" sz="1400" dirty="0"/>
                        <a:t>Segment</a:t>
                      </a:r>
                    </a:p>
                  </a:txBody>
                  <a:tcPr/>
                </a:tc>
                <a:tc>
                  <a:txBody>
                    <a:bodyPr/>
                    <a:lstStyle/>
                    <a:p>
                      <a:pPr algn="ctr"/>
                      <a:r>
                        <a:rPr lang="en-US" sz="1400" dirty="0"/>
                        <a:t>Harman </a:t>
                      </a:r>
                      <a:r>
                        <a:rPr lang="en-US" sz="1400" dirty="0" err="1"/>
                        <a:t>Kardon</a:t>
                      </a:r>
                      <a:endParaRPr lang="en-US" sz="1400" dirty="0"/>
                    </a:p>
                  </a:txBody>
                  <a:tcPr/>
                </a:tc>
                <a:tc>
                  <a:txBody>
                    <a:bodyPr/>
                    <a:lstStyle/>
                    <a:p>
                      <a:pPr algn="ctr"/>
                      <a:r>
                        <a:rPr lang="en-US" sz="1400" dirty="0"/>
                        <a:t>Generic</a:t>
                      </a:r>
                    </a:p>
                  </a:txBody>
                  <a:tcPr/>
                </a:tc>
                <a:extLst>
                  <a:ext uri="{0D108BD9-81ED-4DB2-BD59-A6C34878D82A}">
                    <a16:rowId xmlns:a16="http://schemas.microsoft.com/office/drawing/2014/main" val="10000"/>
                  </a:ext>
                </a:extLst>
              </a:tr>
              <a:tr h="370840">
                <a:tc>
                  <a:txBody>
                    <a:bodyPr/>
                    <a:lstStyle/>
                    <a:p>
                      <a:r>
                        <a:rPr lang="en-US" sz="1400" dirty="0"/>
                        <a:t>High</a:t>
                      </a:r>
                    </a:p>
                  </a:txBody>
                  <a:tcPr/>
                </a:tc>
                <a:tc>
                  <a:txBody>
                    <a:bodyPr/>
                    <a:lstStyle/>
                    <a:p>
                      <a:pPr algn="ctr"/>
                      <a:r>
                        <a:rPr lang="en-US" sz="1400" dirty="0"/>
                        <a:t>$ 3,000</a:t>
                      </a:r>
                    </a:p>
                  </a:txBody>
                  <a:tcPr/>
                </a:tc>
                <a:tc>
                  <a:txBody>
                    <a:bodyPr/>
                    <a:lstStyle/>
                    <a:p>
                      <a:pPr algn="ctr"/>
                      <a:r>
                        <a:rPr lang="en-US" sz="1400" dirty="0"/>
                        <a:t>$ 250</a:t>
                      </a:r>
                    </a:p>
                  </a:txBody>
                  <a:tcPr/>
                </a:tc>
                <a:extLst>
                  <a:ext uri="{0D108BD9-81ED-4DB2-BD59-A6C34878D82A}">
                    <a16:rowId xmlns:a16="http://schemas.microsoft.com/office/drawing/2014/main" val="10001"/>
                  </a:ext>
                </a:extLst>
              </a:tr>
              <a:tr h="370840">
                <a:tc>
                  <a:txBody>
                    <a:bodyPr/>
                    <a:lstStyle/>
                    <a:p>
                      <a:r>
                        <a:rPr lang="en-US" sz="1400" dirty="0"/>
                        <a:t>Low</a:t>
                      </a:r>
                    </a:p>
                  </a:txBody>
                  <a:tcPr/>
                </a:tc>
                <a:tc>
                  <a:txBody>
                    <a:bodyPr/>
                    <a:lstStyle/>
                    <a:p>
                      <a:pPr algn="ctr"/>
                      <a:r>
                        <a:rPr lang="en-US" sz="1400" dirty="0"/>
                        <a:t>$   500</a:t>
                      </a:r>
                    </a:p>
                  </a:txBody>
                  <a:tcPr/>
                </a:tc>
                <a:tc>
                  <a:txBody>
                    <a:bodyPr/>
                    <a:lstStyle/>
                    <a:p>
                      <a:pPr algn="ctr"/>
                      <a:r>
                        <a:rPr lang="en-US" sz="1400" dirty="0"/>
                        <a:t>$</a:t>
                      </a:r>
                      <a:r>
                        <a:rPr lang="en-US" sz="1400" baseline="0" dirty="0"/>
                        <a:t> 100</a:t>
                      </a:r>
                      <a:endParaRPr lang="en-US" sz="1400" dirty="0"/>
                    </a:p>
                  </a:txBody>
                  <a:tcPr/>
                </a:tc>
                <a:extLst>
                  <a:ext uri="{0D108BD9-81ED-4DB2-BD59-A6C34878D82A}">
                    <a16:rowId xmlns:a16="http://schemas.microsoft.com/office/drawing/2014/main" val="10002"/>
                  </a:ext>
                </a:extLst>
              </a:tr>
            </a:tbl>
          </a:graphicData>
        </a:graphic>
      </p:graphicFrame>
      <p:sp>
        <p:nvSpPr>
          <p:cNvPr id="7" name="Rectangle 1026"/>
          <p:cNvSpPr>
            <a:spLocks noGrp="1" noChangeArrowheads="1"/>
          </p:cNvSpPr>
          <p:nvPr>
            <p:ph type="title"/>
          </p:nvPr>
        </p:nvSpPr>
        <p:spPr>
          <a:xfrm>
            <a:off x="612648" y="228600"/>
            <a:ext cx="8153400" cy="990600"/>
          </a:xfrm>
        </p:spPr>
        <p:txBody>
          <a:bodyPr>
            <a:normAutofit fontScale="90000"/>
          </a:bodyPr>
          <a:lstStyle/>
          <a:p>
            <a:r>
              <a:rPr lang="en-US" sz="4400" dirty="0"/>
              <a:t>Car Stereo Example</a:t>
            </a:r>
            <a:br>
              <a:rPr lang="en-US" sz="4400" dirty="0"/>
            </a:br>
            <a:r>
              <a:rPr lang="en-US" sz="3600" dirty="0"/>
              <a:t>Optional stereo upgrade in a BMW i4</a:t>
            </a:r>
            <a:endParaRPr lang="en-US" dirty="0"/>
          </a:p>
        </p:txBody>
      </p:sp>
    </p:spTree>
    <p:extLst>
      <p:ext uri="{BB962C8B-B14F-4D97-AF65-F5344CB8AC3E}">
        <p14:creationId xmlns:p14="http://schemas.microsoft.com/office/powerpoint/2010/main" val="338391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233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233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233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339">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233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Exercise: What is the optimal product line pricing structure if data results for stereo preferences had turned out as follows:</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32</a:t>
            </a:fld>
            <a:endParaRPr lang="en-US"/>
          </a:p>
        </p:txBody>
      </p:sp>
      <p:sp>
        <p:nvSpPr>
          <p:cNvPr id="5" name="Rectangle 1026"/>
          <p:cNvSpPr>
            <a:spLocks noGrp="1" noChangeArrowheads="1"/>
          </p:cNvSpPr>
          <p:nvPr>
            <p:ph type="title"/>
          </p:nvPr>
        </p:nvSpPr>
        <p:spPr/>
        <p:txBody>
          <a:bodyPr>
            <a:normAutofit fontScale="90000"/>
          </a:bodyPr>
          <a:lstStyle/>
          <a:p>
            <a:r>
              <a:rPr lang="en-US" sz="4400" dirty="0"/>
              <a:t>Car Stereo Example</a:t>
            </a:r>
            <a:br>
              <a:rPr lang="en-US" sz="4400" dirty="0"/>
            </a:br>
            <a:r>
              <a:rPr lang="en-US" sz="3600" dirty="0"/>
              <a:t>Optional stereo upgrade in a BMW i4</a:t>
            </a:r>
            <a:endParaRPr lang="en-US" dirty="0"/>
          </a:p>
        </p:txBody>
      </p:sp>
      <p:graphicFrame>
        <p:nvGraphicFramePr>
          <p:cNvPr id="6" name="Table 5"/>
          <p:cNvGraphicFramePr>
            <a:graphicFrameLocks noGrp="1"/>
          </p:cNvGraphicFramePr>
          <p:nvPr/>
        </p:nvGraphicFramePr>
        <p:xfrm>
          <a:off x="922819" y="2733049"/>
          <a:ext cx="6442969" cy="1483360"/>
        </p:xfrm>
        <a:graphic>
          <a:graphicData uri="http://schemas.openxmlformats.org/drawingml/2006/table">
            <a:tbl>
              <a:tblPr firstRow="1" bandRow="1">
                <a:tableStyleId>{5C22544A-7EE6-4342-B048-85BDC9FD1C3A}</a:tableStyleId>
              </a:tblPr>
              <a:tblGrid>
                <a:gridCol w="2679192">
                  <a:extLst>
                    <a:ext uri="{9D8B030D-6E8A-4147-A177-3AD203B41FA5}">
                      <a16:colId xmlns:a16="http://schemas.microsoft.com/office/drawing/2014/main" val="20000"/>
                    </a:ext>
                  </a:extLst>
                </a:gridCol>
                <a:gridCol w="2045208">
                  <a:extLst>
                    <a:ext uri="{9D8B030D-6E8A-4147-A177-3AD203B41FA5}">
                      <a16:colId xmlns:a16="http://schemas.microsoft.com/office/drawing/2014/main" val="20001"/>
                    </a:ext>
                  </a:extLst>
                </a:gridCol>
                <a:gridCol w="1718569">
                  <a:extLst>
                    <a:ext uri="{9D8B030D-6E8A-4147-A177-3AD203B41FA5}">
                      <a16:colId xmlns:a16="http://schemas.microsoft.com/office/drawing/2014/main" val="20002"/>
                    </a:ext>
                  </a:extLst>
                </a:gridCol>
              </a:tblGrid>
              <a:tr h="370840">
                <a:tc>
                  <a:txBody>
                    <a:bodyPr/>
                    <a:lstStyle/>
                    <a:p>
                      <a:endParaRPr lang="en-US" dirty="0"/>
                    </a:p>
                  </a:txBody>
                  <a:tcPr>
                    <a:solidFill>
                      <a:schemeClr val="accent1">
                        <a:lumMod val="50000"/>
                      </a:schemeClr>
                    </a:solidFill>
                  </a:tcPr>
                </a:tc>
                <a:tc gridSpan="2">
                  <a:txBody>
                    <a:bodyPr/>
                    <a:lstStyle/>
                    <a:p>
                      <a:pPr algn="ctr"/>
                      <a:r>
                        <a:rPr lang="en-US" dirty="0"/>
                        <a:t>Upgrade</a:t>
                      </a:r>
                      <a:r>
                        <a:rPr lang="en-US" baseline="0" dirty="0"/>
                        <a:t> Valuations</a:t>
                      </a:r>
                      <a:endParaRPr lang="en-US" dirty="0"/>
                    </a:p>
                  </a:txBody>
                  <a:tcPr>
                    <a:solidFill>
                      <a:schemeClr val="accent1">
                        <a:lumMod val="50000"/>
                      </a:schemeClr>
                    </a:solidFill>
                  </a:tcPr>
                </a:tc>
                <a:tc hMerge="1">
                  <a:txBody>
                    <a:bodyPr/>
                    <a:lstStyle/>
                    <a:p>
                      <a:pPr algn="ctr"/>
                      <a:endParaRPr lang="en-US" dirty="0"/>
                    </a:p>
                  </a:txBody>
                  <a:tcPr/>
                </a:tc>
                <a:extLst>
                  <a:ext uri="{0D108BD9-81ED-4DB2-BD59-A6C34878D82A}">
                    <a16:rowId xmlns:a16="http://schemas.microsoft.com/office/drawing/2014/main" val="3810669547"/>
                  </a:ext>
                </a:extLst>
              </a:tr>
              <a:tr h="370840">
                <a:tc>
                  <a:txBody>
                    <a:bodyPr/>
                    <a:lstStyle/>
                    <a:p>
                      <a:r>
                        <a:rPr lang="en-US" dirty="0"/>
                        <a:t>Segment</a:t>
                      </a:r>
                    </a:p>
                  </a:txBody>
                  <a:tcPr>
                    <a:solidFill>
                      <a:schemeClr val="accent1">
                        <a:lumMod val="75000"/>
                      </a:schemeClr>
                    </a:solidFill>
                  </a:tcPr>
                </a:tc>
                <a:tc>
                  <a:txBody>
                    <a:bodyPr/>
                    <a:lstStyle/>
                    <a:p>
                      <a:pPr algn="ctr"/>
                      <a:r>
                        <a:rPr lang="en-US" dirty="0"/>
                        <a:t>Harman </a:t>
                      </a:r>
                      <a:r>
                        <a:rPr lang="en-US" dirty="0" err="1"/>
                        <a:t>Kardon</a:t>
                      </a:r>
                      <a:endParaRPr lang="en-US" dirty="0"/>
                    </a:p>
                  </a:txBody>
                  <a:tcPr>
                    <a:solidFill>
                      <a:schemeClr val="accent1">
                        <a:lumMod val="75000"/>
                      </a:schemeClr>
                    </a:solidFill>
                  </a:tcPr>
                </a:tc>
                <a:tc>
                  <a:txBody>
                    <a:bodyPr/>
                    <a:lstStyle/>
                    <a:p>
                      <a:pPr algn="ctr"/>
                      <a:r>
                        <a:rPr lang="en-US" dirty="0"/>
                        <a:t>Generic</a:t>
                      </a:r>
                    </a:p>
                  </a:txBody>
                  <a:tcPr>
                    <a:solidFill>
                      <a:schemeClr val="accent1">
                        <a:lumMod val="75000"/>
                      </a:schemeClr>
                    </a:solidFill>
                  </a:tcPr>
                </a:tc>
                <a:extLst>
                  <a:ext uri="{0D108BD9-81ED-4DB2-BD59-A6C34878D82A}">
                    <a16:rowId xmlns:a16="http://schemas.microsoft.com/office/drawing/2014/main" val="10000"/>
                  </a:ext>
                </a:extLst>
              </a:tr>
              <a:tr h="370840">
                <a:tc>
                  <a:txBody>
                    <a:bodyPr/>
                    <a:lstStyle/>
                    <a:p>
                      <a:r>
                        <a:rPr lang="en-US" dirty="0"/>
                        <a:t>High</a:t>
                      </a:r>
                      <a:r>
                        <a:rPr lang="en-US" baseline="0" dirty="0"/>
                        <a:t> segment values at …</a:t>
                      </a:r>
                      <a:endParaRPr lang="en-US" dirty="0"/>
                    </a:p>
                  </a:txBody>
                  <a:tcPr/>
                </a:tc>
                <a:tc>
                  <a:txBody>
                    <a:bodyPr/>
                    <a:lstStyle/>
                    <a:p>
                      <a:pPr algn="ctr"/>
                      <a:r>
                        <a:rPr lang="en-US" dirty="0"/>
                        <a:t>$ 3,000</a:t>
                      </a:r>
                    </a:p>
                  </a:txBody>
                  <a:tcPr/>
                </a:tc>
                <a:tc>
                  <a:txBody>
                    <a:bodyPr/>
                    <a:lstStyle/>
                    <a:p>
                      <a:pPr algn="ctr"/>
                      <a:r>
                        <a:rPr lang="en-US" dirty="0"/>
                        <a:t>$ 2,500</a:t>
                      </a:r>
                    </a:p>
                  </a:txBody>
                  <a:tcPr/>
                </a:tc>
                <a:extLst>
                  <a:ext uri="{0D108BD9-81ED-4DB2-BD59-A6C34878D82A}">
                    <a16:rowId xmlns:a16="http://schemas.microsoft.com/office/drawing/2014/main" val="10001"/>
                  </a:ext>
                </a:extLst>
              </a:tr>
              <a:tr h="370840">
                <a:tc>
                  <a:txBody>
                    <a:bodyPr/>
                    <a:lstStyle/>
                    <a:p>
                      <a:r>
                        <a:rPr lang="en-US" dirty="0"/>
                        <a:t>Low Segment values at …</a:t>
                      </a:r>
                    </a:p>
                  </a:txBody>
                  <a:tcPr/>
                </a:tc>
                <a:tc>
                  <a:txBody>
                    <a:bodyPr/>
                    <a:lstStyle/>
                    <a:p>
                      <a:pPr algn="ctr"/>
                      <a:r>
                        <a:rPr lang="en-US" dirty="0"/>
                        <a:t>$    500</a:t>
                      </a:r>
                    </a:p>
                  </a:txBody>
                  <a:tcPr/>
                </a:tc>
                <a:tc>
                  <a:txBody>
                    <a:bodyPr/>
                    <a:lstStyle/>
                    <a:p>
                      <a:pPr algn="ctr"/>
                      <a:r>
                        <a:rPr lang="en-US" dirty="0"/>
                        <a:t>$</a:t>
                      </a:r>
                      <a:r>
                        <a:rPr lang="en-US" baseline="0" dirty="0"/>
                        <a:t> 100</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62039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Car Stereo Example</a:t>
            </a:r>
            <a:br>
              <a:rPr lang="en-US" sz="4400" dirty="0"/>
            </a:br>
            <a:r>
              <a:rPr lang="en-US" sz="3600" b="1" dirty="0">
                <a:solidFill>
                  <a:srgbClr val="FF0000"/>
                </a:solidFill>
                <a:latin typeface="Showcard Gothic" panose="04020904020102020604" pitchFamily="82" charset="0"/>
              </a:rPr>
              <a:t>P</a:t>
            </a:r>
            <a:r>
              <a:rPr lang="en-US" sz="3600" dirty="0"/>
              <a:t>rice Coordination</a:t>
            </a:r>
          </a:p>
        </p:txBody>
      </p:sp>
      <p:sp>
        <p:nvSpPr>
          <p:cNvPr id="3" name="Content Placeholder 2"/>
          <p:cNvSpPr>
            <a:spLocks noGrp="1"/>
          </p:cNvSpPr>
          <p:nvPr>
            <p:ph sz="quarter" idx="1"/>
          </p:nvPr>
        </p:nvSpPr>
        <p:spPr/>
        <p:txBody>
          <a:bodyPr/>
          <a:lstStyle/>
          <a:p>
            <a:endParaRPr lang="en-US" dirty="0"/>
          </a:p>
          <a:p>
            <a:r>
              <a:rPr lang="en-US" dirty="0"/>
              <a:t>Car stereo example highlights role of </a:t>
            </a:r>
            <a:r>
              <a:rPr lang="en-US" b="1" dirty="0">
                <a:solidFill>
                  <a:srgbClr val="FF0000"/>
                </a:solidFill>
                <a:latin typeface="Showcard Gothic" panose="04020904020102020604" pitchFamily="82" charset="0"/>
              </a:rPr>
              <a:t>P</a:t>
            </a:r>
            <a:r>
              <a:rPr lang="en-US" b="1" dirty="0"/>
              <a:t>rice coordination</a:t>
            </a:r>
            <a:r>
              <a:rPr lang="en-US" dirty="0"/>
              <a:t> in product line pricing</a:t>
            </a:r>
          </a:p>
          <a:p>
            <a:pPr lvl="1"/>
            <a:r>
              <a:rPr lang="en-US" dirty="0"/>
              <a:t>You do not capture all the value on Harman </a:t>
            </a:r>
            <a:r>
              <a:rPr lang="en-US" dirty="0" err="1"/>
              <a:t>Kardon</a:t>
            </a:r>
            <a:endParaRPr lang="en-US" dirty="0"/>
          </a:p>
          <a:p>
            <a:pPr lvl="1"/>
            <a:r>
              <a:rPr lang="en-US" dirty="0"/>
              <a:t>Otherwise, Generic stereo cannibalizes Harman </a:t>
            </a:r>
            <a:r>
              <a:rPr lang="en-US" dirty="0" err="1"/>
              <a:t>Kardon</a:t>
            </a:r>
            <a:endParaRPr lang="en-US" dirty="0"/>
          </a:p>
          <a:p>
            <a:pPr marL="0" indent="0">
              <a:spcBef>
                <a:spcPts val="1200"/>
              </a:spcBef>
              <a:spcAft>
                <a:spcPts val="1200"/>
              </a:spcAft>
              <a:buNone/>
            </a:pPr>
            <a:endParaRPr lang="en-US" dirty="0"/>
          </a:p>
          <a:p>
            <a:pPr>
              <a:spcBef>
                <a:spcPts val="1200"/>
              </a:spcBef>
              <a:spcAft>
                <a:spcPts val="1200"/>
              </a:spcAft>
            </a:pPr>
            <a:r>
              <a:rPr lang="en-US" dirty="0"/>
              <a:t>So product line pricing </a:t>
            </a:r>
            <a:r>
              <a:rPr lang="en-US" b="1" dirty="0"/>
              <a:t>tactics</a:t>
            </a:r>
            <a:r>
              <a:rPr lang="en-US" dirty="0"/>
              <a:t> also need to be coordinated</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33</a:t>
            </a:fld>
            <a:endParaRPr lang="en-US"/>
          </a:p>
        </p:txBody>
      </p:sp>
    </p:spTree>
    <p:extLst>
      <p:ext uri="{BB962C8B-B14F-4D97-AF65-F5344CB8AC3E}">
        <p14:creationId xmlns:p14="http://schemas.microsoft.com/office/powerpoint/2010/main" val="2874563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fontScale="90000"/>
          </a:bodyPr>
          <a:lstStyle/>
          <a:p>
            <a:r>
              <a:rPr lang="en-US" sz="4400" dirty="0"/>
              <a:t>Product Line Management</a:t>
            </a:r>
            <a:br>
              <a:rPr lang="en-US" sz="4400" dirty="0"/>
            </a:br>
            <a:r>
              <a:rPr lang="en-US" sz="3600" dirty="0"/>
              <a:t>Coordination of brand manager incentives (</a:t>
            </a:r>
            <a:r>
              <a:rPr lang="en-US" sz="3600" b="1" dirty="0">
                <a:solidFill>
                  <a:srgbClr val="FF0000"/>
                </a:solidFill>
                <a:effectLst>
                  <a:outerShdw blurRad="38100" dist="38100" dir="2700000" algn="tl">
                    <a:srgbClr val="000000">
                      <a:alpha val="43137"/>
                    </a:srgbClr>
                  </a:outerShdw>
                </a:effectLst>
              </a:rPr>
              <a:t>HR</a:t>
            </a:r>
            <a:r>
              <a:rPr lang="en-US" sz="3600" dirty="0"/>
              <a:t>)</a:t>
            </a:r>
          </a:p>
        </p:txBody>
      </p:sp>
      <p:sp>
        <p:nvSpPr>
          <p:cNvPr id="16387" name="Content Placeholder 2"/>
          <p:cNvSpPr>
            <a:spLocks noGrp="1"/>
          </p:cNvSpPr>
          <p:nvPr>
            <p:ph sz="quarter" idx="1"/>
          </p:nvPr>
        </p:nvSpPr>
        <p:spPr>
          <a:xfrm>
            <a:off x="612648" y="1600200"/>
            <a:ext cx="8153400" cy="5143500"/>
          </a:xfrm>
        </p:spPr>
        <p:txBody>
          <a:bodyPr>
            <a:normAutofit/>
          </a:bodyPr>
          <a:lstStyle/>
          <a:p>
            <a:pPr>
              <a:lnSpc>
                <a:spcPct val="80000"/>
              </a:lnSpc>
              <a:spcBef>
                <a:spcPts val="1200"/>
              </a:spcBef>
              <a:spcAft>
                <a:spcPts val="1200"/>
              </a:spcAft>
              <a:defRPr/>
            </a:pPr>
            <a:endParaRPr lang="en-US"/>
          </a:p>
          <a:p>
            <a:pPr>
              <a:lnSpc>
                <a:spcPct val="80000"/>
              </a:lnSpc>
              <a:spcBef>
                <a:spcPts val="1200"/>
              </a:spcBef>
              <a:spcAft>
                <a:spcPts val="1200"/>
              </a:spcAft>
              <a:defRPr/>
            </a:pPr>
            <a:r>
              <a:rPr lang="en-US" dirty="0"/>
              <a:t>Most firms allocate brand-level decision-making to a brand management team with P&amp;L responsibility only for its brand(s)</a:t>
            </a:r>
          </a:p>
          <a:p>
            <a:pPr>
              <a:lnSpc>
                <a:spcPct val="80000"/>
              </a:lnSpc>
              <a:spcBef>
                <a:spcPts val="1200"/>
              </a:spcBef>
              <a:spcAft>
                <a:spcPts val="1200"/>
              </a:spcAft>
              <a:defRPr/>
            </a:pPr>
            <a:r>
              <a:rPr lang="en-US" i="1" dirty="0"/>
              <a:t>What incentives does a brand manager have to coordinate her pricing decisions with substitute goods managed by another manager in the same company?</a:t>
            </a:r>
          </a:p>
          <a:p>
            <a:pPr>
              <a:lnSpc>
                <a:spcPct val="80000"/>
              </a:lnSpc>
              <a:spcBef>
                <a:spcPts val="1200"/>
              </a:spcBef>
              <a:spcAft>
                <a:spcPts val="1200"/>
              </a:spcAft>
              <a:defRPr/>
            </a:pPr>
            <a:r>
              <a:rPr lang="en-US" sz="2400" b="1" dirty="0">
                <a:latin typeface="+mj-lt"/>
              </a:rPr>
              <a:t>Ignoring cannibalization can create competition between products or divisions within the same firm!</a:t>
            </a: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34</a:t>
            </a:fld>
            <a:endParaRPr lang="en-US" dirty="0"/>
          </a:p>
        </p:txBody>
      </p:sp>
    </p:spTree>
    <p:extLst>
      <p:ext uri="{BB962C8B-B14F-4D97-AF65-F5344CB8AC3E}">
        <p14:creationId xmlns:p14="http://schemas.microsoft.com/office/powerpoint/2010/main" val="8109306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Take Away</a:t>
            </a:r>
          </a:p>
        </p:txBody>
      </p:sp>
      <p:sp>
        <p:nvSpPr>
          <p:cNvPr id="145411" name="Rectangle 3"/>
          <p:cNvSpPr>
            <a:spLocks noGrp="1" noChangeArrowheads="1"/>
          </p:cNvSpPr>
          <p:nvPr>
            <p:ph sz="quarter" idx="1"/>
          </p:nvPr>
        </p:nvSpPr>
        <p:spPr/>
        <p:txBody>
          <a:bodyPr>
            <a:noAutofit/>
          </a:bodyPr>
          <a:lstStyle/>
          <a:p>
            <a:pPr marL="533400" indent="-533400">
              <a:lnSpc>
                <a:spcPct val="80000"/>
              </a:lnSpc>
              <a:spcBef>
                <a:spcPts val="1200"/>
              </a:spcBef>
              <a:spcAft>
                <a:spcPts val="1200"/>
              </a:spcAft>
              <a:defRPr/>
            </a:pPr>
            <a:r>
              <a:rPr lang="en-US" b="1" dirty="0">
                <a:solidFill>
                  <a:srgbClr val="FF0000"/>
                </a:solidFill>
                <a:effectLst>
                  <a:outerShdw blurRad="38100" dist="38100" dir="2700000" algn="tl">
                    <a:srgbClr val="000000">
                      <a:alpha val="43137"/>
                    </a:srgbClr>
                  </a:outerShdw>
                </a:effectLst>
              </a:rPr>
              <a:t>Targeted Pricing</a:t>
            </a:r>
            <a:r>
              <a:rPr lang="en-US" dirty="0"/>
              <a:t> is huge opportunity if you sell to very heterogeneous customers.  But, it is challenging to implement.</a:t>
            </a:r>
            <a:endParaRPr lang="en-US" b="1" dirty="0"/>
          </a:p>
          <a:p>
            <a:pPr marL="533400" indent="-533400">
              <a:lnSpc>
                <a:spcPct val="80000"/>
              </a:lnSpc>
              <a:spcBef>
                <a:spcPts val="1200"/>
              </a:spcBef>
              <a:spcAft>
                <a:spcPts val="1200"/>
              </a:spcAft>
              <a:defRPr/>
            </a:pPr>
            <a:r>
              <a:rPr lang="en-US" b="1" dirty="0">
                <a:solidFill>
                  <a:srgbClr val="FF0000"/>
                </a:solidFill>
                <a:effectLst>
                  <a:outerShdw blurRad="38100" dist="38100" dir="2700000" algn="tl">
                    <a:srgbClr val="000000">
                      <a:alpha val="43137"/>
                    </a:srgbClr>
                  </a:outerShdw>
                </a:effectLst>
              </a:rPr>
              <a:t>Product Line Pricing</a:t>
            </a:r>
            <a:r>
              <a:rPr lang="en-US" dirty="0"/>
              <a:t> is ultimately about coordination and managing customers’ incentives: </a:t>
            </a:r>
          </a:p>
          <a:p>
            <a:pPr marL="1128712" lvl="2" indent="-533400">
              <a:lnSpc>
                <a:spcPct val="80000"/>
              </a:lnSpc>
              <a:spcBef>
                <a:spcPts val="1200"/>
              </a:spcBef>
              <a:spcAft>
                <a:spcPts val="1200"/>
              </a:spcAft>
              <a:defRPr/>
            </a:pPr>
            <a:r>
              <a:rPr lang="en-US" dirty="0"/>
              <a:t>serve low-end segments; but</a:t>
            </a:r>
          </a:p>
          <a:p>
            <a:pPr marL="1128712" lvl="2" indent="-533400">
              <a:lnSpc>
                <a:spcPct val="80000"/>
              </a:lnSpc>
              <a:spcBef>
                <a:spcPts val="1200"/>
              </a:spcBef>
              <a:spcAft>
                <a:spcPts val="1200"/>
              </a:spcAft>
              <a:defRPr/>
            </a:pPr>
            <a:r>
              <a:rPr lang="en-US" dirty="0"/>
              <a:t>deter high-end segments from </a:t>
            </a:r>
            <a:r>
              <a:rPr lang="en-US" i="1" dirty="0"/>
              <a:t>trading-down</a:t>
            </a:r>
          </a:p>
          <a:p>
            <a:pPr marL="854075" lvl="1" indent="-533400">
              <a:lnSpc>
                <a:spcPct val="80000"/>
              </a:lnSpc>
              <a:spcBef>
                <a:spcPts val="1200"/>
              </a:spcBef>
              <a:spcAft>
                <a:spcPts val="1200"/>
              </a:spcAft>
              <a:defRPr/>
            </a:pPr>
            <a:r>
              <a:rPr lang="en-US" dirty="0"/>
              <a:t>Uncoordinated tactical pricing </a:t>
            </a:r>
            <a:r>
              <a:rPr lang="en-US" dirty="0">
                <a:sym typeface="Wingdings" panose="05000000000000000000" pitchFamily="2" charset="2"/>
              </a:rPr>
              <a:t> compete with self!</a:t>
            </a:r>
          </a:p>
          <a:p>
            <a:pPr marL="533400" indent="-533400">
              <a:lnSpc>
                <a:spcPct val="80000"/>
              </a:lnSpc>
              <a:spcBef>
                <a:spcPts val="1200"/>
              </a:spcBef>
              <a:spcAft>
                <a:spcPts val="1200"/>
              </a:spcAft>
              <a:defRPr/>
            </a:pPr>
            <a:endParaRPr lang="en-US" b="1" u="sng" dirty="0">
              <a:effectLst>
                <a:outerShdw blurRad="38100" dist="38100" dir="2700000" algn="tl">
                  <a:srgbClr val="000000">
                    <a:alpha val="43137"/>
                  </a:srgbClr>
                </a:outerShdw>
              </a:effectLst>
              <a:sym typeface="Wingdings" panose="05000000000000000000" pitchFamily="2" charset="2"/>
            </a:endParaRPr>
          </a:p>
          <a:p>
            <a:pPr marL="533400" indent="-533400">
              <a:lnSpc>
                <a:spcPct val="80000"/>
              </a:lnSpc>
              <a:spcBef>
                <a:spcPts val="1200"/>
              </a:spcBef>
              <a:spcAft>
                <a:spcPts val="1200"/>
              </a:spcAft>
              <a:defRPr/>
            </a:pPr>
            <a:r>
              <a:rPr lang="en-US" b="1" u="sng" dirty="0">
                <a:effectLst>
                  <a:outerShdw blurRad="38100" dist="38100" dir="2700000" algn="tl">
                    <a:srgbClr val="000000">
                      <a:alpha val="43137"/>
                    </a:srgbClr>
                  </a:outerShdw>
                </a:effectLst>
                <a:sym typeface="Wingdings" panose="05000000000000000000" pitchFamily="2" charset="2"/>
              </a:rPr>
              <a:t>Psychology</a:t>
            </a:r>
            <a:r>
              <a:rPr lang="en-US" dirty="0">
                <a:sym typeface="Wingdings" panose="05000000000000000000" pitchFamily="2" charset="2"/>
              </a:rPr>
              <a:t>: Can there be too much variety?  See Appendix for </a:t>
            </a:r>
            <a:r>
              <a:rPr lang="en-US" b="1" dirty="0">
                <a:effectLst>
                  <a:outerShdw blurRad="38100" dist="38100" dir="2700000" algn="tl">
                    <a:srgbClr val="000000">
                      <a:alpha val="43137"/>
                    </a:srgbClr>
                  </a:outerShdw>
                </a:effectLst>
                <a:sym typeface="Wingdings" panose="05000000000000000000" pitchFamily="2" charset="2"/>
              </a:rPr>
              <a:t>Choice Overload</a:t>
            </a:r>
            <a:r>
              <a:rPr lang="en-US" dirty="0">
                <a:sym typeface="Wingdings" panose="05000000000000000000" pitchFamily="2" charset="2"/>
              </a:rPr>
              <a:t>.</a:t>
            </a:r>
            <a:endParaRPr lang="en-US" dirty="0">
              <a:latin typeface="+mj-lt"/>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35</a:t>
            </a:fld>
            <a:endParaRPr lang="en-US"/>
          </a:p>
        </p:txBody>
      </p:sp>
    </p:spTree>
    <p:extLst>
      <p:ext uri="{BB962C8B-B14F-4D97-AF65-F5344CB8AC3E}">
        <p14:creationId xmlns:p14="http://schemas.microsoft.com/office/powerpoint/2010/main" val="32524630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sz="3600" dirty="0"/>
              <a:t>Appendix: Differential Pricing &amp; Fairness</a:t>
            </a:r>
          </a:p>
        </p:txBody>
      </p:sp>
      <p:sp>
        <p:nvSpPr>
          <p:cNvPr id="4" name="Slide Number Placeholder 3"/>
          <p:cNvSpPr>
            <a:spLocks noGrp="1"/>
          </p:cNvSpPr>
          <p:nvPr>
            <p:ph type="sldNum" sz="quarter" idx="11"/>
          </p:nvPr>
        </p:nvSpPr>
        <p:spPr/>
        <p:txBody>
          <a:bodyPr/>
          <a:lstStyle/>
          <a:p>
            <a:pPr>
              <a:defRPr/>
            </a:pPr>
            <a:fld id="{7D68BE0E-0D81-44E9-8917-C7FB25F92556}" type="slidenum">
              <a:rPr lang="en-US" smtClean="0"/>
              <a:pPr>
                <a:defRPr/>
              </a:pPr>
              <a:t>36</a:t>
            </a:fld>
            <a:endParaRPr lang="en-US"/>
          </a:p>
        </p:txBody>
      </p:sp>
    </p:spTree>
    <p:extLst>
      <p:ext uri="{BB962C8B-B14F-4D97-AF65-F5344CB8AC3E}">
        <p14:creationId xmlns:p14="http://schemas.microsoft.com/office/powerpoint/2010/main" val="3081329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solidFill>
                <a:latin typeface="HelveticaNeueLT Std Med" panose="020B0604020202020204" pitchFamily="34" charset="0"/>
              </a:rPr>
              <a:t>Victoria’s Not-So-Secret Price Discrimination</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37</a:t>
            </a:fld>
            <a:endParaRPr lang="en-US"/>
          </a:p>
        </p:txBody>
      </p:sp>
      <p:sp>
        <p:nvSpPr>
          <p:cNvPr id="5" name="Text Placeholder 3"/>
          <p:cNvSpPr>
            <a:spLocks noGrp="1"/>
          </p:cNvSpPr>
          <p:nvPr>
            <p:ph sz="quarter" idx="1"/>
          </p:nvPr>
        </p:nvSpPr>
        <p:spPr>
          <a:xfrm>
            <a:off x="266700" y="1668201"/>
            <a:ext cx="5908069" cy="4706667"/>
          </a:xfrm>
        </p:spPr>
        <p:txBody>
          <a:bodyPr>
            <a:normAutofit/>
          </a:bodyPr>
          <a:lstStyle/>
          <a:p>
            <a:pPr marL="0" indent="0">
              <a:lnSpc>
                <a:spcPct val="100000"/>
              </a:lnSpc>
              <a:buNone/>
            </a:pPr>
            <a:r>
              <a:rPr lang="en-US" sz="1800" dirty="0">
                <a:solidFill>
                  <a:schemeClr val="tx1"/>
                </a:solidFill>
              </a:rPr>
              <a:t>   “Sometimes price discrimination can end up being costly not just to consumers, but also to producers. In 1996 Denise </a:t>
            </a:r>
            <a:r>
              <a:rPr lang="en-US" sz="1800" dirty="0" err="1">
                <a:solidFill>
                  <a:schemeClr val="tx1"/>
                </a:solidFill>
              </a:rPr>
              <a:t>Katzman</a:t>
            </a:r>
            <a:r>
              <a:rPr lang="en-US" sz="1800" dirty="0">
                <a:solidFill>
                  <a:schemeClr val="tx1"/>
                </a:solidFill>
              </a:rPr>
              <a:t> of New York City sued Victoria’s Secret for gender discrimination and ask for millions of dollars in damages. In alleging gender discrimination, </a:t>
            </a:r>
            <a:r>
              <a:rPr lang="en-US" sz="1800" dirty="0" err="1">
                <a:solidFill>
                  <a:schemeClr val="tx1"/>
                </a:solidFill>
              </a:rPr>
              <a:t>Katzman</a:t>
            </a:r>
            <a:r>
              <a:rPr lang="en-US" sz="1800" dirty="0">
                <a:solidFill>
                  <a:schemeClr val="tx1"/>
                </a:solidFill>
              </a:rPr>
              <a:t> didn’t object to the catalog’s pages of scantily clad women. Rather, she pointed to the promotional coupon on the catalog’s back page. </a:t>
            </a:r>
          </a:p>
          <a:p>
            <a:pPr marL="0" indent="0">
              <a:lnSpc>
                <a:spcPct val="100000"/>
              </a:lnSpc>
              <a:buNone/>
            </a:pPr>
            <a:r>
              <a:rPr lang="en-US" sz="1800" dirty="0"/>
              <a:t>    </a:t>
            </a:r>
            <a:r>
              <a:rPr lang="en-US" sz="1800" dirty="0">
                <a:solidFill>
                  <a:schemeClr val="tx1"/>
                </a:solidFill>
              </a:rPr>
              <a:t>The problem? While Ms. </a:t>
            </a:r>
            <a:r>
              <a:rPr lang="en-US" sz="1800" dirty="0" err="1">
                <a:solidFill>
                  <a:schemeClr val="tx1"/>
                </a:solidFill>
              </a:rPr>
              <a:t>Katzman’s</a:t>
            </a:r>
            <a:r>
              <a:rPr lang="en-US" sz="1800" dirty="0">
                <a:solidFill>
                  <a:schemeClr val="tx1"/>
                </a:solidFill>
              </a:rPr>
              <a:t> catalog offered her a $10 off an order of $74, an almost identical catalog for a male friend offered $25 off the same amount. Was her catalog out of date? </a:t>
            </a:r>
          </a:p>
          <a:p>
            <a:pPr marL="0" indent="0">
              <a:lnSpc>
                <a:spcPct val="100000"/>
              </a:lnSpc>
              <a:buNone/>
            </a:pPr>
            <a:r>
              <a:rPr lang="en-US" sz="1800" dirty="0">
                <a:solidFill>
                  <a:schemeClr val="tx1"/>
                </a:solidFill>
              </a:rPr>
              <a:t>    Nope. The folks as Victoria’s Secret were just engaging in a little “naked” price discrimination.”</a:t>
            </a:r>
            <a:endParaRPr lang="en-US" sz="2000" dirty="0">
              <a:solidFill>
                <a:schemeClr val="tx1"/>
              </a:solidFill>
            </a:endParaRPr>
          </a:p>
        </p:txBody>
      </p:sp>
      <p:sp>
        <p:nvSpPr>
          <p:cNvPr id="6" name="Rectangle 5"/>
          <p:cNvSpPr/>
          <p:nvPr/>
        </p:nvSpPr>
        <p:spPr>
          <a:xfrm>
            <a:off x="0" y="6374868"/>
            <a:ext cx="6421349" cy="276999"/>
          </a:xfrm>
          <a:prstGeom prst="rect">
            <a:avLst/>
          </a:prstGeom>
        </p:spPr>
        <p:txBody>
          <a:bodyPr wrap="square">
            <a:spAutoFit/>
          </a:bodyPr>
          <a:lstStyle/>
          <a:p>
            <a:pPr>
              <a:lnSpc>
                <a:spcPct val="100000"/>
              </a:lnSpc>
            </a:pPr>
            <a:r>
              <a:rPr lang="en-US" sz="1200" dirty="0"/>
              <a:t>Source: </a:t>
            </a:r>
            <a:r>
              <a:rPr lang="en-US" sz="1200" dirty="0">
                <a:hlinkClick r:id="rId2"/>
              </a:rPr>
              <a:t>Goolsbee, Levitt, Syverson, </a:t>
            </a:r>
            <a:r>
              <a:rPr lang="en-US" sz="1200" i="1" dirty="0" err="1">
                <a:hlinkClick r:id="rId2"/>
              </a:rPr>
              <a:t>Microecomics</a:t>
            </a:r>
            <a:r>
              <a:rPr lang="en-US" sz="1200" dirty="0">
                <a:hlinkClick r:id="rId2"/>
              </a:rPr>
              <a:t>, 2014, second edition</a:t>
            </a:r>
            <a:endParaRPr lang="en-US" sz="1200" dirty="0"/>
          </a:p>
        </p:txBody>
      </p:sp>
      <p:pic>
        <p:nvPicPr>
          <p:cNvPr id="7" name="Picture Placeholder 6"/>
          <p:cNvPicPr>
            <a:picLocks noChangeAspect="1"/>
          </p:cNvPicPr>
          <p:nvPr/>
        </p:nvPicPr>
        <p:blipFill>
          <a:blip r:embed="rId3">
            <a:extLst>
              <a:ext uri="{28A0092B-C50C-407E-A947-70E740481C1C}">
                <a14:useLocalDpi xmlns:a14="http://schemas.microsoft.com/office/drawing/2010/main" val="0"/>
              </a:ext>
            </a:extLst>
          </a:blip>
          <a:srcRect t="477" b="477"/>
          <a:stretch>
            <a:fillRect/>
          </a:stretch>
        </p:blipFill>
        <p:spPr>
          <a:xfrm>
            <a:off x="6075363" y="2040466"/>
            <a:ext cx="3068637" cy="3810000"/>
          </a:xfrm>
          <a:prstGeom prst="rect">
            <a:avLst/>
          </a:prstGeom>
        </p:spPr>
      </p:pic>
    </p:spTree>
    <p:extLst>
      <p:ext uri="{BB962C8B-B14F-4D97-AF65-F5344CB8AC3E}">
        <p14:creationId xmlns:p14="http://schemas.microsoft.com/office/powerpoint/2010/main" val="3897031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Challenges with Targeted Pricing</a:t>
            </a:r>
            <a:br>
              <a:rPr lang="en-US" sz="4400" dirty="0"/>
            </a:br>
            <a:r>
              <a:rPr lang="en-US" sz="3600" dirty="0"/>
              <a:t>	</a:t>
            </a:r>
            <a:r>
              <a:rPr lang="en-US" sz="3600" b="1" dirty="0">
                <a:effectLst>
                  <a:outerShdw blurRad="38100" dist="38100" dir="2700000" algn="tl">
                    <a:srgbClr val="000000">
                      <a:alpha val="43137"/>
                    </a:srgbClr>
                  </a:outerShdw>
                </a:effectLst>
              </a:rPr>
              <a:t>Fairness</a:t>
            </a:r>
            <a:r>
              <a:rPr lang="en-US" sz="3600" dirty="0"/>
              <a:t> &amp; </a:t>
            </a:r>
            <a:r>
              <a:rPr lang="en-US" sz="3600" dirty="0">
                <a:effectLst>
                  <a:outerShdw blurRad="38100" dist="38100" dir="2700000" algn="tl">
                    <a:srgbClr val="000000">
                      <a:alpha val="43137"/>
                    </a:srgbClr>
                  </a:outerShdw>
                </a:effectLst>
              </a:rPr>
              <a:t>Marketing for Good</a:t>
            </a:r>
          </a:p>
        </p:txBody>
      </p:sp>
      <p:sp>
        <p:nvSpPr>
          <p:cNvPr id="3" name="Content Placeholder 2"/>
          <p:cNvSpPr>
            <a:spLocks noGrp="1"/>
          </p:cNvSpPr>
          <p:nvPr>
            <p:ph sz="quarter" idx="1"/>
          </p:nvPr>
        </p:nvSpPr>
        <p:spPr>
          <a:xfrm>
            <a:off x="612648" y="4952999"/>
            <a:ext cx="8153400" cy="1443789"/>
          </a:xfrm>
        </p:spPr>
        <p:txBody>
          <a:bodyPr>
            <a:normAutofit fontScale="62500" lnSpcReduction="20000"/>
          </a:bodyPr>
          <a:lstStyle/>
          <a:p>
            <a:pPr marL="0" indent="0">
              <a:buNone/>
            </a:pPr>
            <a:r>
              <a:rPr lang="en-US" dirty="0"/>
              <a:t>“...the combination of differential pricing and big data raises concerns that some consumers can be made worse off, and have very little knowledge why.”</a:t>
            </a:r>
          </a:p>
          <a:p>
            <a:pPr marL="0" indent="0">
              <a:buNone/>
            </a:pPr>
            <a:endParaRPr lang="en-US" dirty="0"/>
          </a:p>
          <a:p>
            <a:pPr marL="0" indent="0">
              <a:buNone/>
            </a:pPr>
            <a:r>
              <a:rPr lang="en-US" dirty="0"/>
              <a:t>“…[differential pricing] transfers value from consumers to shareholders, which generally leads to an increase in inequality and can therefore be inefficient from a utilitarian standpoint.”</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38</a:t>
            </a:fld>
            <a:endParaRPr lang="en-US"/>
          </a:p>
        </p:txBody>
      </p:sp>
      <p:pic>
        <p:nvPicPr>
          <p:cNvPr id="7" name="Picture 6"/>
          <p:cNvPicPr>
            <a:picLocks noChangeAspect="1"/>
          </p:cNvPicPr>
          <p:nvPr/>
        </p:nvPicPr>
        <p:blipFill>
          <a:blip r:embed="rId2"/>
          <a:stretch>
            <a:fillRect/>
          </a:stretch>
        </p:blipFill>
        <p:spPr>
          <a:xfrm>
            <a:off x="3313111" y="1873306"/>
            <a:ext cx="2408918" cy="2671440"/>
          </a:xfrm>
          <a:prstGeom prst="rect">
            <a:avLst/>
          </a:prstGeom>
        </p:spPr>
      </p:pic>
      <p:sp>
        <p:nvSpPr>
          <p:cNvPr id="8" name="Rectangle 7"/>
          <p:cNvSpPr/>
          <p:nvPr/>
        </p:nvSpPr>
        <p:spPr>
          <a:xfrm>
            <a:off x="3313111" y="1873306"/>
            <a:ext cx="2408918" cy="267144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5287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2648" y="1600198"/>
            <a:ext cx="8483014" cy="4989927"/>
          </a:xfrm>
        </p:spPr>
        <p:txBody>
          <a:bodyPr>
            <a:normAutofit lnSpcReduction="10000"/>
          </a:bodyPr>
          <a:lstStyle/>
          <a:p>
            <a:pPr marL="0" indent="0">
              <a:spcBef>
                <a:spcPts val="1200"/>
              </a:spcBef>
              <a:spcAft>
                <a:spcPts val="600"/>
              </a:spcAft>
              <a:buNone/>
            </a:pPr>
            <a:r>
              <a:rPr lang="en-US" dirty="0"/>
              <a:t>	</a:t>
            </a:r>
            <a:r>
              <a:rPr lang="en-US" sz="2200" dirty="0"/>
              <a:t>Uniform offers versus uniform access/affordability?</a:t>
            </a:r>
          </a:p>
          <a:p>
            <a:pPr>
              <a:spcBef>
                <a:spcPts val="1200"/>
              </a:spcBef>
              <a:spcAft>
                <a:spcPts val="0"/>
              </a:spcAft>
            </a:pPr>
            <a:r>
              <a:rPr lang="en-US" sz="2000" u="sng" dirty="0"/>
              <a:t>Personalized Pricing at </a:t>
            </a:r>
            <a:r>
              <a:rPr lang="en-US" sz="2000" u="sng" dirty="0" err="1"/>
              <a:t>Ziprecruiter</a:t>
            </a:r>
            <a:r>
              <a:rPr lang="en-US" sz="2000" dirty="0"/>
              <a:t>: </a:t>
            </a:r>
          </a:p>
          <a:p>
            <a:pPr marL="0" indent="0">
              <a:spcBef>
                <a:spcPts val="0"/>
              </a:spcBef>
              <a:spcAft>
                <a:spcPts val="1200"/>
              </a:spcAft>
              <a:buNone/>
            </a:pPr>
            <a:r>
              <a:rPr lang="en-US" sz="1900" dirty="0"/>
              <a:t>	Over 60% customers pay less under personalized pricing (small firms)!</a:t>
            </a:r>
          </a:p>
          <a:p>
            <a:pPr>
              <a:spcBef>
                <a:spcPts val="1800"/>
              </a:spcBef>
              <a:spcAft>
                <a:spcPts val="0"/>
              </a:spcAft>
            </a:pPr>
            <a:r>
              <a:rPr lang="en-US" sz="2000" u="sng" dirty="0"/>
              <a:t>Uniform pricing in US grocery/drug/convenience</a:t>
            </a:r>
            <a:r>
              <a:rPr lang="en-US" sz="2000" dirty="0"/>
              <a:t>:</a:t>
            </a:r>
          </a:p>
          <a:p>
            <a:pPr marL="0" indent="0">
              <a:spcBef>
                <a:spcPts val="0"/>
              </a:spcBef>
              <a:spcAft>
                <a:spcPts val="1200"/>
              </a:spcAft>
              <a:buNone/>
            </a:pPr>
            <a:r>
              <a:rPr lang="en-US" sz="1900" dirty="0"/>
              <a:t>	Prices in poor neighborhoods 8% higher than if targeted geographically.</a:t>
            </a:r>
          </a:p>
          <a:p>
            <a:pPr>
              <a:spcBef>
                <a:spcPts val="1800"/>
              </a:spcBef>
              <a:spcAft>
                <a:spcPts val="0"/>
              </a:spcAft>
            </a:pPr>
            <a:r>
              <a:rPr lang="en-US" sz="2000" u="sng" dirty="0"/>
              <a:t>Personalized Pricing &amp; Nutrition</a:t>
            </a:r>
            <a:r>
              <a:rPr lang="en-US" sz="2000" dirty="0"/>
              <a:t>:</a:t>
            </a:r>
          </a:p>
          <a:p>
            <a:pPr marL="366713" lvl="1" indent="0">
              <a:spcBef>
                <a:spcPts val="0"/>
              </a:spcBef>
              <a:spcAft>
                <a:spcPts val="1200"/>
              </a:spcAft>
              <a:buNone/>
            </a:pPr>
            <a:r>
              <a:rPr lang="en-US" sz="1900" dirty="0"/>
              <a:t>	Low-income consumers have lower WTP for nutritious foods.</a:t>
            </a:r>
          </a:p>
          <a:p>
            <a:pPr>
              <a:spcBef>
                <a:spcPts val="1800"/>
              </a:spcBef>
              <a:spcAft>
                <a:spcPts val="0"/>
              </a:spcAft>
            </a:pPr>
            <a:r>
              <a:rPr lang="en-US" sz="2000" u="sng" dirty="0">
                <a:hlinkClick r:id="rId2"/>
              </a:rPr>
              <a:t>Personalized Municipal fines/fees</a:t>
            </a:r>
            <a:r>
              <a:rPr lang="en-US" sz="2000" dirty="0"/>
              <a:t>:</a:t>
            </a:r>
          </a:p>
          <a:p>
            <a:pPr marL="366713" lvl="1" indent="0">
              <a:spcBef>
                <a:spcPts val="0"/>
              </a:spcBef>
              <a:spcAft>
                <a:spcPts val="1200"/>
              </a:spcAft>
              <a:buNone/>
            </a:pPr>
            <a:r>
              <a:rPr lang="en-US" sz="1800" dirty="0"/>
              <a:t>	Escalating fines/fees increase bankruptcies &amp; evictions in minority neighborhoods.</a:t>
            </a:r>
          </a:p>
          <a:p>
            <a:pPr>
              <a:spcBef>
                <a:spcPts val="1800"/>
              </a:spcBef>
            </a:pPr>
            <a:r>
              <a:rPr lang="en-US" sz="2000" dirty="0"/>
              <a:t>Pfizer to Sell Vaccines, Drugs at Low Prices to Poorer Countries</a:t>
            </a:r>
          </a:p>
          <a:p>
            <a:pPr marL="0" indent="0">
              <a:spcBef>
                <a:spcPts val="0"/>
              </a:spcBef>
              <a:buNone/>
            </a:pPr>
            <a:r>
              <a:rPr lang="en-US" sz="1900" dirty="0"/>
              <a:t>	…the </a:t>
            </a:r>
            <a:r>
              <a:rPr lang="en-US" sz="1900" dirty="0" err="1"/>
              <a:t>drugmaker</a:t>
            </a:r>
            <a:r>
              <a:rPr lang="en-US" sz="1900" dirty="0"/>
              <a:t> will sell 23 products at not-for-profit prices to 45 countries</a:t>
            </a:r>
          </a:p>
        </p:txBody>
      </p:sp>
      <p:sp>
        <p:nvSpPr>
          <p:cNvPr id="2" name="Title 1"/>
          <p:cNvSpPr>
            <a:spLocks noGrp="1"/>
          </p:cNvSpPr>
          <p:nvPr>
            <p:ph type="title"/>
          </p:nvPr>
        </p:nvSpPr>
        <p:spPr/>
        <p:txBody>
          <a:bodyPr/>
          <a:lstStyle/>
          <a:p>
            <a:r>
              <a:rPr lang="en-US" dirty="0"/>
              <a:t>How should we define</a:t>
            </a:r>
            <a:r>
              <a:rPr lang="en-US" i="1" dirty="0"/>
              <a:t> </a:t>
            </a:r>
            <a:r>
              <a:rPr lang="en-US" b="1" i="1" dirty="0">
                <a:effectLst>
                  <a:outerShdw blurRad="38100" dist="38100" dir="2700000" algn="tl">
                    <a:srgbClr val="000000">
                      <a:alpha val="43137"/>
                    </a:srgbClr>
                  </a:outerShdw>
                </a:effectLst>
              </a:rPr>
              <a:t>Price Fairness</a:t>
            </a:r>
            <a:r>
              <a:rPr lang="en-US" dirty="0"/>
              <a:t>?</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39</a:t>
            </a:fld>
            <a:endParaRPr lang="en-US"/>
          </a:p>
        </p:txBody>
      </p:sp>
      <p:sp>
        <p:nvSpPr>
          <p:cNvPr id="5" name="Rectangle 4"/>
          <p:cNvSpPr/>
          <p:nvPr/>
        </p:nvSpPr>
        <p:spPr>
          <a:xfrm>
            <a:off x="906706" y="3567763"/>
            <a:ext cx="4572000" cy="246221"/>
          </a:xfrm>
          <a:prstGeom prst="rect">
            <a:avLst/>
          </a:prstGeom>
        </p:spPr>
        <p:txBody>
          <a:bodyPr>
            <a:spAutoFit/>
          </a:bodyPr>
          <a:lstStyle/>
          <a:p>
            <a:r>
              <a:rPr lang="en-US" sz="1000" dirty="0"/>
              <a:t>Source: </a:t>
            </a:r>
            <a:r>
              <a:rPr lang="en-US" sz="1000" dirty="0">
                <a:hlinkClick r:id="rId3"/>
              </a:rPr>
              <a:t>DellaVigna and </a:t>
            </a:r>
            <a:r>
              <a:rPr lang="en-US" sz="1000" dirty="0" err="1">
                <a:hlinkClick r:id="rId3"/>
              </a:rPr>
              <a:t>Gentzkow</a:t>
            </a:r>
            <a:r>
              <a:rPr lang="en-US" sz="1000" dirty="0">
                <a:hlinkClick r:id="rId3"/>
              </a:rPr>
              <a:t> (2017)</a:t>
            </a:r>
            <a:endParaRPr lang="en-US" sz="1000" dirty="0"/>
          </a:p>
        </p:txBody>
      </p:sp>
      <p:sp>
        <p:nvSpPr>
          <p:cNvPr id="6" name="Rectangle 5"/>
          <p:cNvSpPr/>
          <p:nvPr/>
        </p:nvSpPr>
        <p:spPr>
          <a:xfrm>
            <a:off x="906706" y="2668766"/>
            <a:ext cx="4572000" cy="246221"/>
          </a:xfrm>
          <a:prstGeom prst="rect">
            <a:avLst/>
          </a:prstGeom>
        </p:spPr>
        <p:txBody>
          <a:bodyPr>
            <a:spAutoFit/>
          </a:bodyPr>
          <a:lstStyle/>
          <a:p>
            <a:r>
              <a:rPr lang="en-US" sz="1000" dirty="0"/>
              <a:t>Source: </a:t>
            </a:r>
            <a:r>
              <a:rPr lang="en-US" sz="1000" dirty="0">
                <a:hlinkClick r:id="rId4"/>
              </a:rPr>
              <a:t>Dubé and Misra (2022)</a:t>
            </a:r>
            <a:endParaRPr lang="en-US" sz="1000" dirty="0"/>
          </a:p>
        </p:txBody>
      </p:sp>
      <p:sp>
        <p:nvSpPr>
          <p:cNvPr id="7" name="Rectangle 6"/>
          <p:cNvSpPr/>
          <p:nvPr/>
        </p:nvSpPr>
        <p:spPr>
          <a:xfrm>
            <a:off x="934904" y="4466642"/>
            <a:ext cx="4572000" cy="246221"/>
          </a:xfrm>
          <a:prstGeom prst="rect">
            <a:avLst/>
          </a:prstGeom>
        </p:spPr>
        <p:txBody>
          <a:bodyPr>
            <a:spAutoFit/>
          </a:bodyPr>
          <a:lstStyle/>
          <a:p>
            <a:r>
              <a:rPr lang="en-US" sz="1000" dirty="0"/>
              <a:t>Source: </a:t>
            </a:r>
            <a:r>
              <a:rPr lang="en-US" sz="1000" dirty="0">
                <a:hlinkClick r:id="rId5"/>
              </a:rPr>
              <a:t>Allcott et al (2019)</a:t>
            </a:r>
            <a:r>
              <a:rPr lang="en-US" sz="1000" dirty="0"/>
              <a:t>, </a:t>
            </a:r>
            <a:r>
              <a:rPr lang="en-US" sz="1000" dirty="0">
                <a:hlinkClick r:id="rId6"/>
              </a:rPr>
              <a:t>Dubé (2020)</a:t>
            </a:r>
            <a:endParaRPr lang="en-US" sz="1000" dirty="0"/>
          </a:p>
        </p:txBody>
      </p:sp>
      <p:sp>
        <p:nvSpPr>
          <p:cNvPr id="8" name="Rectangle 7"/>
          <p:cNvSpPr/>
          <p:nvPr/>
        </p:nvSpPr>
        <p:spPr>
          <a:xfrm>
            <a:off x="934904" y="5405272"/>
            <a:ext cx="4572000" cy="246221"/>
          </a:xfrm>
          <a:prstGeom prst="rect">
            <a:avLst/>
          </a:prstGeom>
        </p:spPr>
        <p:txBody>
          <a:bodyPr>
            <a:spAutoFit/>
          </a:bodyPr>
          <a:lstStyle/>
          <a:p>
            <a:r>
              <a:rPr lang="en-US" sz="1000" dirty="0"/>
              <a:t>Source: </a:t>
            </a:r>
            <a:r>
              <a:rPr lang="en-US" sz="1000" dirty="0">
                <a:hlinkClick r:id="rId7"/>
              </a:rPr>
              <a:t>Dubé (2021)</a:t>
            </a:r>
            <a:r>
              <a:rPr lang="en-US" sz="1000" dirty="0"/>
              <a:t>, </a:t>
            </a:r>
            <a:r>
              <a:rPr lang="en-US" sz="1000" dirty="0">
                <a:hlinkClick r:id="rId8"/>
              </a:rPr>
              <a:t>Glenn et al. (2022)</a:t>
            </a:r>
            <a:endParaRPr lang="en-US" sz="1000" dirty="0"/>
          </a:p>
        </p:txBody>
      </p:sp>
      <p:sp>
        <p:nvSpPr>
          <p:cNvPr id="9" name="Rectangle 8"/>
          <p:cNvSpPr/>
          <p:nvPr/>
        </p:nvSpPr>
        <p:spPr>
          <a:xfrm>
            <a:off x="1087304" y="6343275"/>
            <a:ext cx="4572000" cy="246221"/>
          </a:xfrm>
          <a:prstGeom prst="rect">
            <a:avLst/>
          </a:prstGeom>
        </p:spPr>
        <p:txBody>
          <a:bodyPr>
            <a:spAutoFit/>
          </a:bodyPr>
          <a:lstStyle/>
          <a:p>
            <a:r>
              <a:rPr lang="en-US" sz="1000" dirty="0"/>
              <a:t>Source: </a:t>
            </a:r>
            <a:r>
              <a:rPr lang="en-US" sz="1000" dirty="0">
                <a:hlinkClick r:id="rId9"/>
              </a:rPr>
              <a:t>Wall Street Journal, May 26, 2022</a:t>
            </a:r>
            <a:endParaRPr lang="en-US" sz="1000" dirty="0"/>
          </a:p>
        </p:txBody>
      </p:sp>
    </p:spTree>
    <p:extLst>
      <p:ext uri="{BB962C8B-B14F-4D97-AF65-F5344CB8AC3E}">
        <p14:creationId xmlns:p14="http://schemas.microsoft.com/office/powerpoint/2010/main" val="15979716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7D82507-F16B-4CFD-9ADB-2D87AE2F5551}" type="slidenum">
              <a:rPr lang="en-US" smtClean="0"/>
              <a:pPr>
                <a:defRPr/>
              </a:pPr>
              <a:t>40</a:t>
            </a:fld>
            <a:endParaRPr lang="en-US"/>
          </a:p>
        </p:txBody>
      </p:sp>
      <p:pic>
        <p:nvPicPr>
          <p:cNvPr id="3" name="Picture 2" descr="https://images.wsj.net/im-544415?width=860&amp;height=573"/>
          <p:cNvPicPr>
            <a:picLocks noChangeAspect="1" noChangeArrowheads="1"/>
          </p:cNvPicPr>
          <p:nvPr/>
        </p:nvPicPr>
        <p:blipFill rotWithShape="1">
          <a:blip r:embed="rId2">
            <a:extLst>
              <a:ext uri="{28A0092B-C50C-407E-A947-70E740481C1C}">
                <a14:useLocalDpi xmlns:a14="http://schemas.microsoft.com/office/drawing/2010/main" val="0"/>
              </a:ext>
            </a:extLst>
          </a:blip>
          <a:srcRect l="22928" t="3803" r="23132" b="6015"/>
          <a:stretch/>
        </p:blipFill>
        <p:spPr bwMode="auto">
          <a:xfrm>
            <a:off x="1993955" y="519635"/>
            <a:ext cx="5031215" cy="56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382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b="1" dirty="0"/>
              <a:t>GDPR and Privacy</a:t>
            </a:r>
            <a:endParaRPr lang="en-US" sz="2000" dirty="0"/>
          </a:p>
        </p:txBody>
      </p:sp>
      <p:sp>
        <p:nvSpPr>
          <p:cNvPr id="41987" name="Title 3"/>
          <p:cNvSpPr>
            <a:spLocks noGrp="1"/>
          </p:cNvSpPr>
          <p:nvPr>
            <p:ph type="title"/>
          </p:nvPr>
        </p:nvSpPr>
        <p:spPr/>
        <p:txBody>
          <a:bodyPr/>
          <a:lstStyle/>
          <a:p>
            <a:r>
              <a:rPr lang="en-US"/>
              <a:t>Extra Slides</a:t>
            </a:r>
          </a:p>
        </p:txBody>
      </p:sp>
      <p:sp>
        <p:nvSpPr>
          <p:cNvPr id="3" name="Slide Number Placeholder 2"/>
          <p:cNvSpPr>
            <a:spLocks noGrp="1"/>
          </p:cNvSpPr>
          <p:nvPr>
            <p:ph type="sldNum" sz="quarter" idx="11"/>
          </p:nvPr>
        </p:nvSpPr>
        <p:spPr/>
        <p:txBody>
          <a:bodyPr/>
          <a:lstStyle/>
          <a:p>
            <a:pPr>
              <a:defRPr/>
            </a:pPr>
            <a:fld id="{CDCB808C-3ED6-4D1F-8481-C0394598782D}" type="slidenum">
              <a:rPr lang="en-US" smtClean="0"/>
              <a:pPr>
                <a:defRPr/>
              </a:pPr>
              <a:t>41</a:t>
            </a:fld>
            <a:endParaRPr lang="en-US"/>
          </a:p>
        </p:txBody>
      </p:sp>
      <p:pic>
        <p:nvPicPr>
          <p:cNvPr id="1026" name="Picture 2" descr="What is GDPR and how does it impact your rights - Snel.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149" y="3226582"/>
            <a:ext cx="7267851" cy="363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359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GDPR is </a:t>
            </a:r>
            <a:r>
              <a:rPr lang="en-US" i="1" dirty="0"/>
              <a:t>vague</a:t>
            </a:r>
            <a:endParaRPr lang="en-US" dirty="0"/>
          </a:p>
        </p:txBody>
      </p:sp>
      <p:sp>
        <p:nvSpPr>
          <p:cNvPr id="3" name="Content Placeholder 2"/>
          <p:cNvSpPr>
            <a:spLocks noGrp="1"/>
          </p:cNvSpPr>
          <p:nvPr>
            <p:ph sz="quarter" idx="1"/>
          </p:nvPr>
        </p:nvSpPr>
        <p:spPr/>
        <p:txBody>
          <a:bodyPr>
            <a:normAutofit/>
          </a:bodyPr>
          <a:lstStyle/>
          <a:p>
            <a:r>
              <a:rPr lang="en-US" dirty="0"/>
              <a:t>Requires that use of personal data allows for provision:</a:t>
            </a:r>
          </a:p>
          <a:p>
            <a:pPr marL="0" indent="0" algn="ctr">
              <a:buNone/>
            </a:pPr>
            <a:r>
              <a:rPr lang="en-US" sz="2000" i="1" dirty="0"/>
              <a:t>“meaningful information about the logic involved, as well as the significance and the envisaged consequences of such processing for the data subject.”</a:t>
            </a:r>
            <a:endParaRPr lang="en-US" i="1" dirty="0"/>
          </a:p>
          <a:p>
            <a:endParaRPr lang="en-US" dirty="0"/>
          </a:p>
          <a:p>
            <a:r>
              <a:rPr lang="en-US" dirty="0"/>
              <a:t>Article 13(2f) and 14(2g) GDPR clarifies:</a:t>
            </a:r>
          </a:p>
          <a:p>
            <a:pPr marL="0" indent="0" algn="ctr">
              <a:buNone/>
            </a:pPr>
            <a:r>
              <a:rPr lang="en-US" sz="1900" dirty="0"/>
              <a:t>“The controller should find simple ways to tell the data subject about the rationale behind, or the criteria relied on in reaching the decision. The GDPR requires the controller to provide meaningful information about the logic involved, not necessarily a complex explanation of the algorithms used or disclosure of the full algorithm. The information provided should, however, be sufficiently comprehensive for the data subject to understand the reasons for the decision”</a:t>
            </a:r>
          </a:p>
        </p:txBody>
      </p:sp>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42</a:t>
            </a:fld>
            <a:endParaRPr lang="en-US"/>
          </a:p>
        </p:txBody>
      </p:sp>
    </p:spTree>
    <p:extLst>
      <p:ext uri="{BB962C8B-B14F-4D97-AF65-F5344CB8AC3E}">
        <p14:creationId xmlns:p14="http://schemas.microsoft.com/office/powerpoint/2010/main" val="3792122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Appendix: Choice Overload</a:t>
            </a:r>
          </a:p>
        </p:txBody>
      </p:sp>
      <p:sp>
        <p:nvSpPr>
          <p:cNvPr id="4" name="Slide Number Placeholder 3"/>
          <p:cNvSpPr>
            <a:spLocks noGrp="1"/>
          </p:cNvSpPr>
          <p:nvPr>
            <p:ph type="sldNum" sz="quarter" idx="11"/>
          </p:nvPr>
        </p:nvSpPr>
        <p:spPr/>
        <p:txBody>
          <a:bodyPr/>
          <a:lstStyle/>
          <a:p>
            <a:pPr>
              <a:defRPr/>
            </a:pPr>
            <a:fld id="{7D68BE0E-0D81-44E9-8917-C7FB25F92556}" type="slidenum">
              <a:rPr lang="en-US" smtClean="0"/>
              <a:pPr>
                <a:defRPr/>
              </a:pPr>
              <a:t>43</a:t>
            </a:fld>
            <a:endParaRPr lang="en-US"/>
          </a:p>
        </p:txBody>
      </p:sp>
    </p:spTree>
    <p:extLst>
      <p:ext uri="{BB962C8B-B14F-4D97-AF65-F5344CB8AC3E}">
        <p14:creationId xmlns:p14="http://schemas.microsoft.com/office/powerpoint/2010/main" val="3241882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Choice Overload</a:t>
            </a:r>
          </a:p>
        </p:txBody>
      </p:sp>
      <p:sp>
        <p:nvSpPr>
          <p:cNvPr id="3" name="Content Placeholder 2"/>
          <p:cNvSpPr>
            <a:spLocks noGrp="1"/>
          </p:cNvSpPr>
          <p:nvPr>
            <p:ph sz="quarter" idx="1"/>
          </p:nvPr>
        </p:nvSpPr>
        <p:spPr/>
        <p:txBody>
          <a:bodyPr/>
          <a:lstStyle/>
          <a:p>
            <a:pPr>
              <a:spcBef>
                <a:spcPts val="1200"/>
              </a:spcBef>
              <a:spcAft>
                <a:spcPts val="1200"/>
              </a:spcAft>
            </a:pPr>
            <a:r>
              <a:rPr lang="en-US" dirty="0"/>
              <a:t>Economic theory suggested that </a:t>
            </a:r>
            <a:r>
              <a:rPr lang="en-US" i="1" dirty="0"/>
              <a:t>more </a:t>
            </a:r>
            <a:r>
              <a:rPr lang="en-US" dirty="0"/>
              <a:t>items in the product line can improve profits through segmentation…</a:t>
            </a:r>
          </a:p>
          <a:p>
            <a:pPr>
              <a:spcBef>
                <a:spcPts val="1200"/>
              </a:spcBef>
              <a:spcAft>
                <a:spcPts val="1200"/>
              </a:spcAft>
            </a:pPr>
            <a:r>
              <a:rPr lang="en-US" dirty="0"/>
              <a:t>Is it possible to have too many items on the choice board?</a:t>
            </a:r>
          </a:p>
          <a:p>
            <a:pPr>
              <a:spcBef>
                <a:spcPts val="1200"/>
              </a:spcBef>
              <a:spcAft>
                <a:spcPts val="1200"/>
              </a:spcAft>
            </a:pPr>
            <a:r>
              <a:rPr lang="en-US" dirty="0"/>
              <a:t>Psychologically, can there be “too much” variety?</a:t>
            </a:r>
          </a:p>
          <a:p>
            <a:pPr>
              <a:spcBef>
                <a:spcPts val="1200"/>
              </a:spcBef>
              <a:spcAft>
                <a:spcPts val="1200"/>
              </a:spcAft>
            </a:pPr>
            <a:r>
              <a:rPr lang="en-US" dirty="0"/>
              <a:t>Does this adversely affect your pricing power?</a:t>
            </a:r>
          </a:p>
        </p:txBody>
      </p:sp>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44</a:t>
            </a:fld>
            <a:endParaRPr lang="en-US"/>
          </a:p>
        </p:txBody>
      </p:sp>
    </p:spTree>
    <p:extLst>
      <p:ext uri="{BB962C8B-B14F-4D97-AF65-F5344CB8AC3E}">
        <p14:creationId xmlns:p14="http://schemas.microsoft.com/office/powerpoint/2010/main" val="20646137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45</a:t>
            </a:fld>
            <a:endParaRPr lang="en-US"/>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0495" t="6370" r="24551" b="22255"/>
          <a:stretch/>
        </p:blipFill>
        <p:spPr bwMode="auto">
          <a:xfrm>
            <a:off x="304800" y="1524001"/>
            <a:ext cx="5716558"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4800600" y="5715000"/>
            <a:ext cx="1220758"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50976" y="1524000"/>
            <a:ext cx="9144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650609" y="3124200"/>
            <a:ext cx="1822935" cy="1200329"/>
          </a:xfrm>
          <a:prstGeom prst="rect">
            <a:avLst/>
          </a:prstGeom>
          <a:noFill/>
        </p:spPr>
        <p:txBody>
          <a:bodyPr wrap="none" rtlCol="0">
            <a:spAutoFit/>
          </a:bodyPr>
          <a:lstStyle/>
          <a:p>
            <a:pPr algn="ctr"/>
            <a:r>
              <a:rPr lang="en-US" dirty="0">
                <a:solidFill>
                  <a:srgbClr val="FF0000"/>
                </a:solidFill>
              </a:rPr>
              <a:t>segmentation</a:t>
            </a:r>
          </a:p>
          <a:p>
            <a:pPr algn="ctr"/>
            <a:r>
              <a:rPr lang="en-US" dirty="0">
                <a:solidFill>
                  <a:srgbClr val="FF0000"/>
                </a:solidFill>
              </a:rPr>
              <a:t>vs</a:t>
            </a:r>
          </a:p>
          <a:p>
            <a:pPr algn="ctr"/>
            <a:r>
              <a:rPr lang="en-US" dirty="0">
                <a:solidFill>
                  <a:srgbClr val="FF0000"/>
                </a:solidFill>
              </a:rPr>
              <a:t>overload?</a:t>
            </a:r>
          </a:p>
        </p:txBody>
      </p:sp>
      <p:sp>
        <p:nvSpPr>
          <p:cNvPr id="9" name="Rectangle 8"/>
          <p:cNvSpPr/>
          <p:nvPr/>
        </p:nvSpPr>
        <p:spPr>
          <a:xfrm>
            <a:off x="5276075" y="4933771"/>
            <a:ext cx="3779148" cy="1184940"/>
          </a:xfrm>
          <a:prstGeom prst="rect">
            <a:avLst/>
          </a:prstGeom>
        </p:spPr>
        <p:txBody>
          <a:bodyPr wrap="square">
            <a:spAutoFit/>
          </a:bodyPr>
          <a:lstStyle/>
          <a:p>
            <a:pPr algn="ctr"/>
            <a:r>
              <a:rPr lang="en-US" sz="2000" dirty="0"/>
              <a:t>“</a:t>
            </a:r>
            <a:r>
              <a:rPr lang="en-US" sz="2000" dirty="0">
                <a:hlinkClick r:id="rId3"/>
              </a:rPr>
              <a:t>McDonald’s Is Ditching a Bunch Of Menu Items To Better Its Customer Experience,” </a:t>
            </a:r>
            <a:r>
              <a:rPr lang="en-US" sz="1100" i="1" dirty="0"/>
              <a:t>Business2community, </a:t>
            </a:r>
            <a:r>
              <a:rPr lang="en-US" sz="1100" b="1" dirty="0"/>
              <a:t>by James </a:t>
            </a:r>
            <a:r>
              <a:rPr lang="en-US" sz="1100" b="1" dirty="0" err="1"/>
              <a:t>Kosur</a:t>
            </a:r>
            <a:r>
              <a:rPr lang="en-US" sz="1100" b="1" dirty="0"/>
              <a:t>, </a:t>
            </a:r>
            <a:r>
              <a:rPr lang="en-US" sz="1100" dirty="0"/>
              <a:t>1-23-2015</a:t>
            </a:r>
            <a:endParaRPr lang="en-US" sz="1100" dirty="0">
              <a:solidFill>
                <a:srgbClr val="FF0000"/>
              </a:solidFill>
            </a:endParaRPr>
          </a:p>
        </p:txBody>
      </p:sp>
      <p:sp>
        <p:nvSpPr>
          <p:cNvPr id="10" name="Title 1"/>
          <p:cNvSpPr>
            <a:spLocks noGrp="1"/>
          </p:cNvSpPr>
          <p:nvPr>
            <p:ph type="title"/>
          </p:nvPr>
        </p:nvSpPr>
        <p:spPr>
          <a:xfrm>
            <a:off x="612648" y="228600"/>
            <a:ext cx="8153400" cy="990600"/>
          </a:xfrm>
        </p:spPr>
        <p:txBody>
          <a:bodyPr>
            <a:normAutofit fontScale="90000"/>
          </a:bodyPr>
          <a:lstStyle/>
          <a:p>
            <a:r>
              <a:rPr lang="en-US" sz="4400" dirty="0"/>
              <a:t>Choice Overload</a:t>
            </a:r>
            <a:br>
              <a:rPr lang="en-US" dirty="0"/>
            </a:br>
            <a:r>
              <a:rPr lang="en-US" sz="3600" dirty="0"/>
              <a:t>Assortment at McDonalds</a:t>
            </a:r>
          </a:p>
        </p:txBody>
      </p:sp>
    </p:spTree>
    <p:extLst>
      <p:ext uri="{BB962C8B-B14F-4D97-AF65-F5344CB8AC3E}">
        <p14:creationId xmlns:p14="http://schemas.microsoft.com/office/powerpoint/2010/main" val="3559284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46</a:t>
            </a:fld>
            <a:endParaRPr lang="en-US"/>
          </a:p>
        </p:txBody>
      </p:sp>
      <p:sp>
        <p:nvSpPr>
          <p:cNvPr id="5" name="Title 1"/>
          <p:cNvSpPr>
            <a:spLocks noGrp="1"/>
          </p:cNvSpPr>
          <p:nvPr>
            <p:ph type="title"/>
          </p:nvPr>
        </p:nvSpPr>
        <p:spPr>
          <a:xfrm>
            <a:off x="612648" y="228600"/>
            <a:ext cx="8153400" cy="990600"/>
          </a:xfrm>
        </p:spPr>
        <p:txBody>
          <a:bodyPr>
            <a:normAutofit fontScale="90000"/>
          </a:bodyPr>
          <a:lstStyle/>
          <a:p>
            <a:r>
              <a:rPr lang="en-US" sz="4400" dirty="0"/>
              <a:t>Choice Overload</a:t>
            </a:r>
            <a:br>
              <a:rPr lang="en-US" dirty="0"/>
            </a:br>
            <a:r>
              <a:rPr lang="en-US" dirty="0"/>
              <a:t>The iPhone 12 product line</a:t>
            </a:r>
            <a:endParaRPr lang="en-US" sz="3600" dirty="0"/>
          </a:p>
        </p:txBody>
      </p:sp>
      <p:pic>
        <p:nvPicPr>
          <p:cNvPr id="1026" name="Picture 2" descr="https://1.bp.blogspot.com/-uXtwP9h7294/X4bDxiOyzlI/AAAAAAACyEA/1TdYqIUptl48V5s7KnLrmslCpn1AOrncACLcBGAsYHQ/w640-h340/iphones.webp"/>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641475" y="1890183"/>
            <a:ext cx="6096000" cy="3238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45043" y="5133633"/>
            <a:ext cx="7288609" cy="1246495"/>
          </a:xfrm>
          <a:prstGeom prst="rect">
            <a:avLst/>
          </a:prstGeom>
          <a:noFill/>
        </p:spPr>
        <p:txBody>
          <a:bodyPr wrap="square" rtlCol="0">
            <a:spAutoFit/>
          </a:bodyPr>
          <a:lstStyle/>
          <a:p>
            <a:r>
              <a:rPr lang="en-US" sz="1600" dirty="0"/>
              <a:t>“</a:t>
            </a:r>
            <a:r>
              <a:rPr lang="en-US" sz="1600" i="1" dirty="0">
                <a:solidFill>
                  <a:srgbClr val="FF0000"/>
                </a:solidFill>
              </a:rPr>
              <a:t>Shopping for an iPhone now requires a magnifying glass</a:t>
            </a:r>
            <a:r>
              <a:rPr lang="en-US" sz="1600" i="1" dirty="0"/>
              <a:t> for careful inspection of the features—notably the cameras, screen sizes and compatibility with the new 5G cellular networks. It’s important to understand all your choices—what you get and don’t get with each of them, new and old.</a:t>
            </a:r>
            <a:r>
              <a:rPr lang="en-US" sz="1600" dirty="0"/>
              <a:t>”</a:t>
            </a:r>
          </a:p>
          <a:p>
            <a:pPr algn="r"/>
            <a:r>
              <a:rPr lang="en-US" sz="1050" dirty="0"/>
              <a:t>Joanna Stern, “iPhone 12 vs. iPhone 11 vs. iPhone XR vs. iPhone SE: Comparing Apple’s Full Lineup,” </a:t>
            </a:r>
            <a:r>
              <a:rPr lang="en-US" sz="1050" i="1" dirty="0"/>
              <a:t>WSJ, </a:t>
            </a:r>
            <a:r>
              <a:rPr lang="en-US" sz="1050" dirty="0"/>
              <a:t>10-14-2020</a:t>
            </a:r>
          </a:p>
        </p:txBody>
      </p:sp>
    </p:spTree>
    <p:extLst>
      <p:ext uri="{BB962C8B-B14F-4D97-AF65-F5344CB8AC3E}">
        <p14:creationId xmlns:p14="http://schemas.microsoft.com/office/powerpoint/2010/main" val="14445569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4C167419-3E17-4805-8141-C5724BC9AF66}" type="slidenum">
              <a:rPr lang="en-US" smtClean="0"/>
              <a:pPr>
                <a:defRPr/>
              </a:pPr>
              <a:t>47</a:t>
            </a:fld>
            <a:endParaRPr lang="en-US"/>
          </a:p>
        </p:txBody>
      </p:sp>
      <p:sp>
        <p:nvSpPr>
          <p:cNvPr id="5" name="Title 1"/>
          <p:cNvSpPr>
            <a:spLocks noGrp="1"/>
          </p:cNvSpPr>
          <p:nvPr>
            <p:ph type="title"/>
          </p:nvPr>
        </p:nvSpPr>
        <p:spPr>
          <a:xfrm>
            <a:off x="612648" y="228600"/>
            <a:ext cx="8153400" cy="990600"/>
          </a:xfrm>
        </p:spPr>
        <p:txBody>
          <a:bodyPr>
            <a:normAutofit fontScale="90000"/>
          </a:bodyPr>
          <a:lstStyle/>
          <a:p>
            <a:r>
              <a:rPr lang="en-US" sz="4400" dirty="0"/>
              <a:t>Choice Overload</a:t>
            </a:r>
            <a:br>
              <a:rPr lang="en-US" dirty="0"/>
            </a:br>
            <a:r>
              <a:rPr lang="en-US" dirty="0"/>
              <a:t>SKU-rationalization in retail</a:t>
            </a:r>
            <a:endParaRPr lang="en-US" sz="3600" dirty="0"/>
          </a:p>
        </p:txBody>
      </p:sp>
      <p:sp>
        <p:nvSpPr>
          <p:cNvPr id="6" name="TextBox 5"/>
          <p:cNvSpPr txBox="1"/>
          <p:nvPr/>
        </p:nvSpPr>
        <p:spPr>
          <a:xfrm>
            <a:off x="1114055" y="1677316"/>
            <a:ext cx="7288609" cy="1054135"/>
          </a:xfrm>
          <a:prstGeom prst="rect">
            <a:avLst/>
          </a:prstGeom>
          <a:noFill/>
        </p:spPr>
        <p:txBody>
          <a:bodyPr wrap="square" rtlCol="0">
            <a:spAutoFit/>
          </a:bodyPr>
          <a:lstStyle/>
          <a:p>
            <a:r>
              <a:rPr lang="en-US" sz="2000" dirty="0">
                <a:solidFill>
                  <a:schemeClr val="tx1">
                    <a:lumMod val="95000"/>
                    <a:lumOff val="5000"/>
                  </a:schemeClr>
                </a:solidFill>
              </a:rPr>
              <a:t>Retailers Cut Back on Choices; ‘We Don’t Need Three Types of Red’</a:t>
            </a:r>
          </a:p>
          <a:p>
            <a:r>
              <a:rPr lang="en-US" sz="1600" i="1" dirty="0">
                <a:solidFill>
                  <a:schemeClr val="tx1">
                    <a:lumMod val="95000"/>
                    <a:lumOff val="5000"/>
                  </a:schemeClr>
                </a:solidFill>
              </a:rPr>
              <a:t>Bed Bath &amp; Beyond, Kohl’s and others cull styles to combat decision paralysis, unclog supply chains and reduce end-of-season markdowns</a:t>
            </a:r>
            <a:endParaRPr lang="en-US" sz="1600" dirty="0"/>
          </a:p>
          <a:p>
            <a:pPr algn="r"/>
            <a:r>
              <a:rPr lang="en-US" sz="1050" dirty="0"/>
              <a:t>Suzanne </a:t>
            </a:r>
            <a:r>
              <a:rPr lang="en-US" sz="1050" dirty="0" err="1"/>
              <a:t>Kapner</a:t>
            </a:r>
            <a:r>
              <a:rPr lang="en-US" sz="1050" dirty="0"/>
              <a:t>, </a:t>
            </a:r>
            <a:r>
              <a:rPr lang="en-US" sz="1050" i="1" dirty="0"/>
              <a:t>WSJ, </a:t>
            </a:r>
            <a:r>
              <a:rPr lang="en-US" sz="1050" dirty="0"/>
              <a:t>11-22-2020</a:t>
            </a:r>
          </a:p>
        </p:txBody>
      </p:sp>
      <p:pic>
        <p:nvPicPr>
          <p:cNvPr id="3" name="Content Placeholder 2"/>
          <p:cNvPicPr>
            <a:picLocks noGrp="1" noChangeAspect="1"/>
          </p:cNvPicPr>
          <p:nvPr>
            <p:ph sz="quarter" idx="1"/>
          </p:nvPr>
        </p:nvPicPr>
        <p:blipFill rotWithShape="1">
          <a:blip r:embed="rId2"/>
          <a:srcRect l="26288" t="17987" r="55571" b="50018"/>
          <a:stretch/>
        </p:blipFill>
        <p:spPr>
          <a:xfrm>
            <a:off x="844462" y="2731451"/>
            <a:ext cx="2902482" cy="2879404"/>
          </a:xfrm>
          <a:prstGeom prst="rect">
            <a:avLst/>
          </a:prstGeom>
        </p:spPr>
      </p:pic>
      <p:pic>
        <p:nvPicPr>
          <p:cNvPr id="1025" name="Picture 1" descr="https://images.wsj.net/im-262876?width=620&amp;size=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9348" y="2964816"/>
            <a:ext cx="3391915" cy="225945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a:spLocks noChangeArrowheads="1"/>
          </p:cNvSpPr>
          <p:nvPr/>
        </p:nvSpPr>
        <p:spPr bwMode="auto">
          <a:xfrm>
            <a:off x="4351951" y="5356002"/>
            <a:ext cx="4254814" cy="716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87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Retina"/>
              </a:rPr>
              <a:t>Offering 1,000 handbag models in a rainbow of colors used to lead to end-of-season discounting for Coach, which has halved the number of designs it offers, focused on three popular hues.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2221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Choice Overload Theory</a:t>
            </a:r>
          </a:p>
        </p:txBody>
      </p:sp>
      <p:sp>
        <p:nvSpPr>
          <p:cNvPr id="3" name="Content Placeholder 2"/>
          <p:cNvSpPr>
            <a:spLocks noGrp="1"/>
          </p:cNvSpPr>
          <p:nvPr>
            <p:ph sz="quarter" idx="1"/>
          </p:nvPr>
        </p:nvSpPr>
        <p:spPr>
          <a:xfrm>
            <a:off x="612648" y="1600200"/>
            <a:ext cx="8153400" cy="4480560"/>
          </a:xfrm>
        </p:spPr>
        <p:txBody>
          <a:bodyPr/>
          <a:lstStyle/>
          <a:p>
            <a:endParaRPr lang="en-US" dirty="0"/>
          </a:p>
          <a:p>
            <a:pPr>
              <a:spcBef>
                <a:spcPts val="1200"/>
              </a:spcBef>
              <a:spcAft>
                <a:spcPts val="1200"/>
              </a:spcAft>
            </a:pPr>
            <a:r>
              <a:rPr lang="en-US" dirty="0"/>
              <a:t>Research in customer psychology finds cases where too many options make customers </a:t>
            </a:r>
            <a:r>
              <a:rPr lang="en-US" u="sng" dirty="0"/>
              <a:t>worse off</a:t>
            </a:r>
          </a:p>
          <a:p>
            <a:pPr lvl="1">
              <a:spcBef>
                <a:spcPts val="1200"/>
              </a:spcBef>
              <a:spcAft>
                <a:spcPts val="1200"/>
              </a:spcAft>
            </a:pPr>
            <a:r>
              <a:rPr lang="en-US" dirty="0"/>
              <a:t>Purchase decisions are more complicated</a:t>
            </a:r>
          </a:p>
          <a:p>
            <a:pPr lvl="1">
              <a:spcBef>
                <a:spcPts val="1200"/>
              </a:spcBef>
              <a:spcAft>
                <a:spcPts val="1200"/>
              </a:spcAft>
            </a:pPr>
            <a:r>
              <a:rPr lang="en-US" dirty="0"/>
              <a:t>More potential for ex post regret</a:t>
            </a:r>
          </a:p>
          <a:p>
            <a:pPr lvl="1">
              <a:spcBef>
                <a:spcPts val="1200"/>
              </a:spcBef>
              <a:spcAft>
                <a:spcPts val="1200"/>
              </a:spcAft>
            </a:pPr>
            <a:r>
              <a:rPr lang="en-US" dirty="0"/>
              <a:t>Customer may decide </a:t>
            </a:r>
            <a:r>
              <a:rPr lang="en-US" u="sng" dirty="0"/>
              <a:t>not to buy</a:t>
            </a:r>
          </a:p>
        </p:txBody>
      </p:sp>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48</a:t>
            </a:fld>
            <a:endParaRPr lang="en-US"/>
          </a:p>
        </p:txBody>
      </p:sp>
      <p:sp>
        <p:nvSpPr>
          <p:cNvPr id="5" name="Rectangle 4"/>
          <p:cNvSpPr/>
          <p:nvPr/>
        </p:nvSpPr>
        <p:spPr>
          <a:xfrm>
            <a:off x="266700" y="6461760"/>
            <a:ext cx="4572000" cy="261610"/>
          </a:xfrm>
          <a:prstGeom prst="rect">
            <a:avLst/>
          </a:prstGeom>
        </p:spPr>
        <p:txBody>
          <a:bodyPr>
            <a:spAutoFit/>
          </a:bodyPr>
          <a:lstStyle/>
          <a:p>
            <a:r>
              <a:rPr lang="en-US" sz="1100" dirty="0"/>
              <a:t>Source: </a:t>
            </a:r>
            <a:r>
              <a:rPr lang="en-US" sz="1100" dirty="0" err="1">
                <a:hlinkClick r:id="rId2"/>
              </a:rPr>
              <a:t>Gourville</a:t>
            </a:r>
            <a:r>
              <a:rPr lang="en-US" sz="1100" dirty="0">
                <a:hlinkClick r:id="rId2"/>
              </a:rPr>
              <a:t> and Soman (</a:t>
            </a:r>
            <a:r>
              <a:rPr lang="en-US" sz="1100" i="1" dirty="0">
                <a:hlinkClick r:id="rId2"/>
              </a:rPr>
              <a:t>Marketing Science</a:t>
            </a:r>
            <a:r>
              <a:rPr lang="en-US" sz="1100" i="1">
                <a:hlinkClick r:id="rId2"/>
              </a:rPr>
              <a:t>, </a:t>
            </a:r>
            <a:r>
              <a:rPr lang="en-US" sz="1100">
                <a:hlinkClick r:id="rId2"/>
              </a:rPr>
              <a:t>2005)</a:t>
            </a:r>
            <a:endParaRPr lang="en-US" sz="1100" dirty="0"/>
          </a:p>
        </p:txBody>
      </p:sp>
    </p:spTree>
    <p:extLst>
      <p:ext uri="{BB962C8B-B14F-4D97-AF65-F5344CB8AC3E}">
        <p14:creationId xmlns:p14="http://schemas.microsoft.com/office/powerpoint/2010/main" val="3267822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Choice Overload</a:t>
            </a:r>
          </a:p>
        </p:txBody>
      </p:sp>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49</a:t>
            </a:fld>
            <a:endParaRPr lang="en-US"/>
          </a:p>
        </p:txBody>
      </p:sp>
      <p:sp>
        <p:nvSpPr>
          <p:cNvPr id="5" name="Rectangle 4"/>
          <p:cNvSpPr/>
          <p:nvPr/>
        </p:nvSpPr>
        <p:spPr>
          <a:xfrm>
            <a:off x="235258" y="6458038"/>
            <a:ext cx="4572000" cy="261610"/>
          </a:xfrm>
          <a:prstGeom prst="rect">
            <a:avLst/>
          </a:prstGeom>
        </p:spPr>
        <p:txBody>
          <a:bodyPr>
            <a:spAutoFit/>
          </a:bodyPr>
          <a:lstStyle/>
          <a:p>
            <a:pPr marL="0" indent="0">
              <a:buNone/>
            </a:pPr>
            <a:r>
              <a:rPr lang="en-US" sz="1100" dirty="0"/>
              <a:t>Source: </a:t>
            </a:r>
            <a:r>
              <a:rPr lang="en-US" sz="1100" dirty="0" err="1"/>
              <a:t>Iyengar</a:t>
            </a:r>
            <a:r>
              <a:rPr lang="en-US" sz="1100" dirty="0"/>
              <a:t> and </a:t>
            </a:r>
            <a:r>
              <a:rPr lang="en-US" sz="1100" dirty="0" err="1"/>
              <a:t>Lepper</a:t>
            </a:r>
            <a:r>
              <a:rPr lang="en-US" sz="1100" dirty="0"/>
              <a:t> (2000)</a:t>
            </a:r>
          </a:p>
        </p:txBody>
      </p:sp>
      <p:pic>
        <p:nvPicPr>
          <p:cNvPr id="1026" name="Picture 2" descr="http://noahrickun.com/wp-content/uploads/2013/03/jam-study-results.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554480" y="1624636"/>
            <a:ext cx="5338445" cy="456921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554480" y="3794760"/>
            <a:ext cx="5338445" cy="777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554480" y="4505794"/>
            <a:ext cx="5338445" cy="7955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554480" y="5349240"/>
            <a:ext cx="5338445" cy="777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09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Choice Overload</a:t>
            </a:r>
          </a:p>
        </p:txBody>
      </p:sp>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50</a:t>
            </a:fld>
            <a:endParaRPr lang="en-US"/>
          </a:p>
        </p:txBody>
      </p:sp>
      <p:sp>
        <p:nvSpPr>
          <p:cNvPr id="5" name="Rectangle 4"/>
          <p:cNvSpPr/>
          <p:nvPr/>
        </p:nvSpPr>
        <p:spPr>
          <a:xfrm>
            <a:off x="235258" y="6458038"/>
            <a:ext cx="4572000" cy="261610"/>
          </a:xfrm>
          <a:prstGeom prst="rect">
            <a:avLst/>
          </a:prstGeom>
        </p:spPr>
        <p:txBody>
          <a:bodyPr>
            <a:spAutoFit/>
          </a:bodyPr>
          <a:lstStyle/>
          <a:p>
            <a:pPr marL="0" indent="0">
              <a:buNone/>
            </a:pPr>
            <a:r>
              <a:rPr lang="en-US" sz="1100" dirty="0"/>
              <a:t>Source: </a:t>
            </a:r>
            <a:r>
              <a:rPr lang="en-US" sz="1100" dirty="0" err="1"/>
              <a:t>Iyengar</a:t>
            </a:r>
            <a:r>
              <a:rPr lang="en-US" sz="1100" dirty="0"/>
              <a:t> and </a:t>
            </a:r>
            <a:r>
              <a:rPr lang="en-US" sz="1100" dirty="0" err="1"/>
              <a:t>Lepper</a:t>
            </a:r>
            <a:r>
              <a:rPr lang="en-US" sz="1100" dirty="0"/>
              <a:t> (2000)</a:t>
            </a:r>
          </a:p>
        </p:txBody>
      </p:sp>
      <p:pic>
        <p:nvPicPr>
          <p:cNvPr id="1026" name="Picture 2" descr="http://noahrickun.com/wp-content/uploads/2013/03/jam-study-results.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554480" y="1624636"/>
            <a:ext cx="5338445" cy="45692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953126" y="6142682"/>
            <a:ext cx="1481496" cy="307777"/>
          </a:xfrm>
          <a:prstGeom prst="rect">
            <a:avLst/>
          </a:prstGeom>
          <a:noFill/>
        </p:spPr>
        <p:txBody>
          <a:bodyPr wrap="none" rtlCol="0">
            <a:spAutoFit/>
          </a:bodyPr>
          <a:lstStyle/>
          <a:p>
            <a:r>
              <a:rPr lang="en-US" sz="1400" dirty="0">
                <a:solidFill>
                  <a:srgbClr val="FF0000"/>
                </a:solidFill>
              </a:rPr>
              <a:t>Conversion: 1.8%</a:t>
            </a:r>
          </a:p>
        </p:txBody>
      </p:sp>
      <p:sp>
        <p:nvSpPr>
          <p:cNvPr id="12" name="TextBox 11"/>
          <p:cNvSpPr txBox="1"/>
          <p:nvPr/>
        </p:nvSpPr>
        <p:spPr>
          <a:xfrm>
            <a:off x="4666946" y="6136500"/>
            <a:ext cx="1526380" cy="307777"/>
          </a:xfrm>
          <a:prstGeom prst="rect">
            <a:avLst/>
          </a:prstGeom>
          <a:noFill/>
        </p:spPr>
        <p:txBody>
          <a:bodyPr wrap="none" rtlCol="0">
            <a:spAutoFit/>
          </a:bodyPr>
          <a:lstStyle/>
          <a:p>
            <a:r>
              <a:rPr lang="en-US" sz="1400" b="1" dirty="0">
                <a:solidFill>
                  <a:srgbClr val="FF0000"/>
                </a:solidFill>
                <a:effectLst>
                  <a:outerShdw blurRad="38100" dist="38100" dir="2700000" algn="tl">
                    <a:srgbClr val="000000">
                      <a:alpha val="43137"/>
                    </a:srgbClr>
                  </a:outerShdw>
                </a:effectLst>
              </a:rPr>
              <a:t>Conversion: 12%</a:t>
            </a:r>
          </a:p>
        </p:txBody>
      </p:sp>
      <p:sp>
        <p:nvSpPr>
          <p:cNvPr id="7" name="Oval 6"/>
          <p:cNvSpPr/>
          <p:nvPr/>
        </p:nvSpPr>
        <p:spPr>
          <a:xfrm>
            <a:off x="1800726" y="6094764"/>
            <a:ext cx="1880937" cy="39499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429587" y="6087900"/>
            <a:ext cx="1880937" cy="39499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186200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emp">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temp</Template>
  <TotalTime>1083310692</TotalTime>
  <Pages>29</Pages>
  <Words>3204</Words>
  <Application>Microsoft Office PowerPoint</Application>
  <PresentationFormat>Letter Paper (8.5x11 in)</PresentationFormat>
  <Paragraphs>466</Paragraphs>
  <Slides>50</Slides>
  <Notes>8</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50</vt:i4>
      </vt:variant>
    </vt:vector>
  </HeadingPairs>
  <TitlesOfParts>
    <vt:vector size="67" baseType="lpstr">
      <vt:lpstr>Arial</vt:lpstr>
      <vt:lpstr>Arial Rounded MT Bold</vt:lpstr>
      <vt:lpstr>Cambria</vt:lpstr>
      <vt:lpstr>Cambria Math</vt:lpstr>
      <vt:lpstr>Garamond</vt:lpstr>
      <vt:lpstr>HelveticaNeueLT Std Med</vt:lpstr>
      <vt:lpstr>Retina</vt:lpstr>
      <vt:lpstr>Roboto</vt:lpstr>
      <vt:lpstr>Showcard Gothic</vt:lpstr>
      <vt:lpstr>Stencil</vt:lpstr>
      <vt:lpstr>Times</vt:lpstr>
      <vt:lpstr>Times New Roman</vt:lpstr>
      <vt:lpstr>Tw Cen MT</vt:lpstr>
      <vt:lpstr>var(--typography-headline-standard-xxl-font-family)</vt:lpstr>
      <vt:lpstr>Wingdings</vt:lpstr>
      <vt:lpstr>Wingdings 2</vt:lpstr>
      <vt:lpstr>temp</vt:lpstr>
      <vt:lpstr>Segmented Pricing</vt:lpstr>
      <vt:lpstr>Overview of segmented pricing</vt:lpstr>
      <vt:lpstr>Recall: Optimal Uniform Price Charge customers same price for same product</vt:lpstr>
      <vt:lpstr>Targeted Pricing Suppose we could identify customers/segments</vt:lpstr>
      <vt:lpstr>Scalable online price targeting Example: Ziprecruiter.com</vt:lpstr>
      <vt:lpstr>Ziprecruiter Demand</vt:lpstr>
      <vt:lpstr>Monetizing Customer Data</vt:lpstr>
      <vt:lpstr>Scalable Personalized Pricing Targeting as a Big Data problem</vt:lpstr>
      <vt:lpstr>Scalable Personalized Pricing Simulated Personalized Prices for August 2015 training sample</vt:lpstr>
      <vt:lpstr>Scalable Personalized Pricing Projected Revenues</vt:lpstr>
      <vt:lpstr>Scalable Personalized Pricing Validation</vt:lpstr>
      <vt:lpstr>Scalable Personalized Pricing Validation</vt:lpstr>
      <vt:lpstr>Scalable Personalized Pricing Evaluation</vt:lpstr>
      <vt:lpstr>Challenges with Targeted Pricing Is it Legal?</vt:lpstr>
      <vt:lpstr>Challenges with Targeted Pricing Is it Legal? Chinese law is stricter </vt:lpstr>
      <vt:lpstr>Challenges with Targeted Pricing  Fairness</vt:lpstr>
      <vt:lpstr>Challenges with Targeted Pricing Fairness &amp; Public Relations Concerns</vt:lpstr>
      <vt:lpstr>Challenges with targeted pricing Fairness &amp; International Segmentation</vt:lpstr>
      <vt:lpstr>Of course, what is “fair”?</vt:lpstr>
      <vt:lpstr>Degrees of Price Segmentation Product Line Pricing or Indirect Pricing</vt:lpstr>
      <vt:lpstr>Indirect vs Direct Price Segmentation</vt:lpstr>
      <vt:lpstr>Product Line Pricing Strategy is common in high-tech industries: SaaS</vt:lpstr>
      <vt:lpstr>Product Line Pricing Strategy is common in Consumer Industries</vt:lpstr>
      <vt:lpstr>Product Line Pricing Strategy Separation via Indirect Pricing</vt:lpstr>
      <vt:lpstr>Product Line Pricing Strategy Separation via Indirect Pricing</vt:lpstr>
      <vt:lpstr>Potential Cannibalization at McDonald’s Example: The McDouble</vt:lpstr>
      <vt:lpstr>Managing a Product Line If trading down occurs, …</vt:lpstr>
      <vt:lpstr>Car Stereo Example Optional stereo upgrade in a BMW i4</vt:lpstr>
      <vt:lpstr>Car Stereo Example Optional stereo upgrade in a BMW i4</vt:lpstr>
      <vt:lpstr>Car Stereo Example Optional stereo upgrade in a BMW i4</vt:lpstr>
      <vt:lpstr>Car Stereo Example Optional stereo upgrade in a BMW i4</vt:lpstr>
      <vt:lpstr>Car Stereo Example Optional stereo upgrade in a BMW i4</vt:lpstr>
      <vt:lpstr>Car Stereo Example Price Coordination</vt:lpstr>
      <vt:lpstr>Product Line Management Coordination of brand manager incentives (HR)</vt:lpstr>
      <vt:lpstr>Take Away</vt:lpstr>
      <vt:lpstr>Appendix: Differential Pricing &amp; Fairness</vt:lpstr>
      <vt:lpstr>Victoria’s Not-So-Secret Price Discrimination</vt:lpstr>
      <vt:lpstr>Challenges with Targeted Pricing  Fairness &amp; Marketing for Good</vt:lpstr>
      <vt:lpstr>How should we define Price Fairness?</vt:lpstr>
      <vt:lpstr>PowerPoint Presentation</vt:lpstr>
      <vt:lpstr>Extra Slides</vt:lpstr>
      <vt:lpstr>GDPR is vague</vt:lpstr>
      <vt:lpstr>Appendix: Choice Overload</vt:lpstr>
      <vt:lpstr>Choice Overload</vt:lpstr>
      <vt:lpstr>Choice Overload Assortment at McDonalds</vt:lpstr>
      <vt:lpstr>Choice Overload The iPhone 12 product line</vt:lpstr>
      <vt:lpstr>Choice Overload SKU-rationalization in retail</vt:lpstr>
      <vt:lpstr>Choice Overload Theory</vt:lpstr>
      <vt:lpstr>Testing Choice Overload</vt:lpstr>
      <vt:lpstr>Testing Choice Overload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Discrimination I</dc:title>
  <dc:creator>JP Dube</dc:creator>
  <cp:lastModifiedBy>Dube, Jean-Pierre</cp:lastModifiedBy>
  <cp:revision>646</cp:revision>
  <cp:lastPrinted>1999-01-29T23:35:00Z</cp:lastPrinted>
  <dcterms:created xsi:type="dcterms:W3CDTF">1996-09-15T18:44:58Z</dcterms:created>
  <dcterms:modified xsi:type="dcterms:W3CDTF">2025-05-22T22:31:59Z</dcterms:modified>
</cp:coreProperties>
</file>