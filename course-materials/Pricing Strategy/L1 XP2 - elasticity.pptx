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3" r:id="rId1"/>
  </p:sldMasterIdLst>
  <p:notesMasterIdLst>
    <p:notesMasterId r:id="rId59"/>
  </p:notesMasterIdLst>
  <p:handoutMasterIdLst>
    <p:handoutMasterId r:id="rId60"/>
  </p:handoutMasterIdLst>
  <p:sldIdLst>
    <p:sldId id="256" r:id="rId2"/>
    <p:sldId id="525" r:id="rId3"/>
    <p:sldId id="517" r:id="rId4"/>
    <p:sldId id="459" r:id="rId5"/>
    <p:sldId id="418" r:id="rId6"/>
    <p:sldId id="464" r:id="rId7"/>
    <p:sldId id="518" r:id="rId8"/>
    <p:sldId id="432" r:id="rId9"/>
    <p:sldId id="468" r:id="rId10"/>
    <p:sldId id="533" r:id="rId11"/>
    <p:sldId id="469" r:id="rId12"/>
    <p:sldId id="402" r:id="rId13"/>
    <p:sldId id="421" r:id="rId14"/>
    <p:sldId id="529" r:id="rId15"/>
    <p:sldId id="478" r:id="rId16"/>
    <p:sldId id="511" r:id="rId17"/>
    <p:sldId id="472" r:id="rId18"/>
    <p:sldId id="534" r:id="rId19"/>
    <p:sldId id="528" r:id="rId20"/>
    <p:sldId id="520" r:id="rId21"/>
    <p:sldId id="430" r:id="rId22"/>
    <p:sldId id="360" r:id="rId23"/>
    <p:sldId id="431" r:id="rId24"/>
    <p:sldId id="437" r:id="rId25"/>
    <p:sldId id="439" r:id="rId26"/>
    <p:sldId id="436" r:id="rId27"/>
    <p:sldId id="535" r:id="rId28"/>
    <p:sldId id="530" r:id="rId29"/>
    <p:sldId id="536" r:id="rId30"/>
    <p:sldId id="523" r:id="rId31"/>
    <p:sldId id="524" r:id="rId32"/>
    <p:sldId id="537" r:id="rId33"/>
    <p:sldId id="441" r:id="rId34"/>
    <p:sldId id="443" r:id="rId35"/>
    <p:sldId id="442" r:id="rId36"/>
    <p:sldId id="538" r:id="rId37"/>
    <p:sldId id="323" r:id="rId38"/>
    <p:sldId id="318" r:id="rId39"/>
    <p:sldId id="485" r:id="rId40"/>
    <p:sldId id="513" r:id="rId41"/>
    <p:sldId id="521" r:id="rId42"/>
    <p:sldId id="487" r:id="rId43"/>
    <p:sldId id="514" r:id="rId44"/>
    <p:sldId id="516" r:id="rId45"/>
    <p:sldId id="522" r:id="rId46"/>
    <p:sldId id="465" r:id="rId47"/>
    <p:sldId id="494" r:id="rId48"/>
    <p:sldId id="532" r:id="rId49"/>
    <p:sldId id="495" r:id="rId50"/>
    <p:sldId id="496" r:id="rId51"/>
    <p:sldId id="497" r:id="rId52"/>
    <p:sldId id="498" r:id="rId53"/>
    <p:sldId id="499" r:id="rId54"/>
    <p:sldId id="500" r:id="rId55"/>
    <p:sldId id="501" r:id="rId56"/>
    <p:sldId id="502" r:id="rId57"/>
    <p:sldId id="503" r:id="rId58"/>
  </p:sldIdLst>
  <p:sldSz cx="9144000" cy="6858000" type="letter"/>
  <p:notesSz cx="6946900" cy="92329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8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523" autoAdjust="0"/>
  </p:normalViewPr>
  <p:slideViewPr>
    <p:cSldViewPr>
      <p:cViewPr varScale="1">
        <p:scale>
          <a:sx n="76" d="100"/>
          <a:sy n="76" d="100"/>
        </p:scale>
        <p:origin x="102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-2058" y="-90"/>
      </p:cViewPr>
      <p:guideLst>
        <p:guide orient="horz" pos="2908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475413" y="8836025"/>
            <a:ext cx="401637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50" tIns="44922" rIns="91450" bIns="44922" anchor="ctr">
            <a:spAutoFit/>
          </a:bodyPr>
          <a:lstStyle/>
          <a:p>
            <a:pPr algn="r" defTabSz="922338" eaLnBrk="0" hangingPunct="0">
              <a:defRPr/>
            </a:pPr>
            <a:fld id="{2081CC8D-D644-4A42-9F45-8538A972A82F}" type="slidenum">
              <a:rPr lang="en-US" sz="1400">
                <a:latin typeface="Arial" charset="0"/>
                <a:cs typeface="+mn-cs"/>
              </a:rPr>
              <a:pPr algn="r" defTabSz="922338" eaLnBrk="0" hangingPunct="0">
                <a:defRPr/>
              </a:pPr>
              <a:t>‹#›</a:t>
            </a:fld>
            <a:endParaRPr lang="en-US" sz="140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0534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7100" y="4384675"/>
            <a:ext cx="5092700" cy="4156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50" tIns="44922" rIns="91450" bIns="449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5" name="Rectangle 102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6813" y="690563"/>
            <a:ext cx="4621212" cy="34655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Rectangle 1028"/>
          <p:cNvSpPr>
            <a:spLocks noChangeArrowheads="1"/>
          </p:cNvSpPr>
          <p:nvPr/>
        </p:nvSpPr>
        <p:spPr bwMode="auto">
          <a:xfrm>
            <a:off x="6475413" y="8836025"/>
            <a:ext cx="401637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50" tIns="44922" rIns="91450" bIns="44922" anchor="ctr">
            <a:spAutoFit/>
          </a:bodyPr>
          <a:lstStyle/>
          <a:p>
            <a:pPr algn="r" defTabSz="922338" eaLnBrk="0" hangingPunct="0">
              <a:defRPr/>
            </a:pPr>
            <a:fld id="{5DB8396E-0D91-4043-AE21-41A1A1E608F2}" type="slidenum">
              <a:rPr lang="en-US" sz="1400">
                <a:latin typeface="Arial" charset="0"/>
                <a:cs typeface="+mn-cs"/>
              </a:rPr>
              <a:pPr algn="r" defTabSz="922338" eaLnBrk="0" hangingPunct="0">
                <a:defRPr/>
              </a:pPr>
              <a:t>‹#›</a:t>
            </a:fld>
            <a:endParaRPr lang="en-US" sz="140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9725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there a $99 Cliff????</a:t>
            </a:r>
          </a:p>
        </p:txBody>
      </p:sp>
    </p:spTree>
    <p:extLst>
      <p:ext uri="{BB962C8B-B14F-4D97-AF65-F5344CB8AC3E}">
        <p14:creationId xmlns:p14="http://schemas.microsoft.com/office/powerpoint/2010/main" val="340953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 err="1"/>
              <a:t>Dprof</a:t>
            </a:r>
            <a:r>
              <a:rPr lang="en-US" dirty="0"/>
              <a:t> = DP*Q0 + (p1-c)*DQ = 0</a:t>
            </a:r>
          </a:p>
          <a:p>
            <a:r>
              <a:rPr lang="en-US" dirty="0"/>
              <a:t>So DQ_BE/Q0 = -DP/(p1-c)</a:t>
            </a:r>
          </a:p>
          <a:p>
            <a:r>
              <a:rPr lang="en-US" dirty="0"/>
              <a:t>(p0-c)/p0 = .1 … so c = .9p0 … so DQ_BE/Q0 = .05*P0/(.95P0-.9P0) = 1</a:t>
            </a:r>
          </a:p>
        </p:txBody>
      </p:sp>
    </p:spTree>
    <p:extLst>
      <p:ext uri="{BB962C8B-B14F-4D97-AF65-F5344CB8AC3E}">
        <p14:creationId xmlns:p14="http://schemas.microsoft.com/office/powerpoint/2010/main" val="35360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BE6A02B-3F15-4458-9854-C13C1366E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2" name="Picture 11" descr="Lg-Ghosted-Shield-offset_red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28"/>
          <p:cNvSpPr txBox="1">
            <a:spLocks/>
          </p:cNvSpPr>
          <p:nvPr userDrawn="1"/>
        </p:nvSpPr>
        <p:spPr>
          <a:xfrm>
            <a:off x="8001000" y="228600"/>
            <a:ext cx="838200" cy="381000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chemeClr val="tx2"/>
                </a:solidFill>
                <a:latin typeface="Times New Roman" pitchFamily="18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7E7CF4D2-22D1-48E5-82E4-BFA1B22408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" name="Picture 19" descr="Logo-for-gray-bg-ppt-whitemaroon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29166" y="6194310"/>
            <a:ext cx="1591121" cy="4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07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>
            <a:lvl1pPr>
              <a:defRPr sz="400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>
              <a:defRPr sz="2400" baseline="0">
                <a:latin typeface="+mj-lt"/>
              </a:defRPr>
            </a:lvl1pPr>
            <a:lvl2pPr>
              <a:defRPr sz="2400" baseline="0">
                <a:latin typeface="+mj-lt"/>
              </a:defRPr>
            </a:lvl2pPr>
            <a:lvl3pPr>
              <a:defRPr sz="2400" baseline="0">
                <a:latin typeface="+mj-lt"/>
              </a:defRPr>
            </a:lvl3pPr>
            <a:lvl4pPr>
              <a:defRPr sz="2400" baseline="0">
                <a:latin typeface="+mj-lt"/>
              </a:defRPr>
            </a:lvl4pPr>
            <a:lvl5pPr>
              <a:defRPr sz="24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778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34AE18C-7A4F-48A9-A499-DB9CC8996F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9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3CB9FA4-DCE7-4C29-A735-68EBB7EC8F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4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EB37798-023A-49F0-9BC3-F68CA65885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219F0-079B-4BB5-93F8-F9359FBE52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6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CD30C76-4925-4F0C-BF28-DFE5D5779F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28B15-6C7A-4120-B3E6-ED36BE32ACA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F4B3B3D1-430D-45A7-BFB6-30E4BE0F0B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72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8BDD8-4502-4F9D-89B8-C9B27F98029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5FD77-B976-4FEE-AE63-C0949754FB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7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49501C7-4CDA-4F6D-8841-5C0E3B4E83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nytimes.com/2022/08/19/business/elasticity-prices-inflation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ournals.uchicago.edu/doi/abs/10.1086/720793" TargetMode="Externa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urnals.uchicago.edu/doi/abs/10.1086/720793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urnals.uchicago.edu/doi/10.1086/720793" TargetMode="Externa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journals.uchicago.edu/doi/10.1086/720793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urnals.uchicago.edu/doi/10.1086/720793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urnals.uchicago.edu/doi/10.1086/720793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urnals.uchicago.edu/doi/10.1086/720793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urnals.uchicago.edu/doi/10.1086/720793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si.org/books/empirical-generalizations-about-marketing-impact-2nd-ed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hyperlink" Target="https://www.wsj.com/business/retail/dior-armani-italy-supply-chain-labor-36b14a85?st=50tyd4s2pvto0gb&amp;reflink=article_email_share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 lIns="90488" tIns="44450" rIns="90488" bIns="44450"/>
          <a:lstStyle/>
          <a:p>
            <a:r>
              <a:rPr lang="en-US" dirty="0" err="1"/>
              <a:t>Elasticities</a:t>
            </a:r>
            <a:r>
              <a:rPr lang="en-US" dirty="0"/>
              <a:t>, Margins and Profitability</a:t>
            </a:r>
            <a:endParaRPr lang="en-US" i="1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362200" y="6050037"/>
            <a:ext cx="6705600" cy="685800"/>
          </a:xfrm>
          <a:noFill/>
        </p:spPr>
        <p:txBody>
          <a:bodyPr lIns="90488" tIns="44450" rIns="90488" bIns="44450"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Jean-Pierre </a:t>
            </a:r>
            <a:r>
              <a:rPr lang="en-US" sz="2800" dirty="0" err="1"/>
              <a:t>Dubé</a:t>
            </a:r>
            <a:endParaRPr lang="en-US" sz="2800" dirty="0"/>
          </a:p>
          <a:p>
            <a:pPr marL="0" indent="0">
              <a:buNone/>
            </a:pPr>
            <a:r>
              <a:rPr lang="en-US" sz="900" b="1" dirty="0">
                <a:latin typeface="Arial" pitchFamily="34" charset="0"/>
                <a:sym typeface="Symbol" pitchFamily="18" charset="2"/>
              </a:rPr>
              <a:t></a:t>
            </a:r>
            <a:r>
              <a:rPr lang="en-US" sz="900" b="1" dirty="0">
                <a:latin typeface="Arial" pitchFamily="34" charset="0"/>
              </a:rPr>
              <a:t> </a:t>
            </a:r>
            <a:r>
              <a:rPr lang="en-US" sz="900" b="1">
                <a:latin typeface="Arial" pitchFamily="34" charset="0"/>
              </a:rPr>
              <a:t>Copyright 2025</a:t>
            </a:r>
            <a:endParaRPr lang="en-US" sz="900" b="1" dirty="0">
              <a:latin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6137369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Pricing Strategies</a:t>
            </a:r>
          </a:p>
          <a:p>
            <a:r>
              <a:rPr lang="en-US" sz="1400" dirty="0"/>
              <a:t>2025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dirty="0"/>
              <a:t>Last lecture: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Blip>
                <a:blip r:embed="rId2"/>
              </a:buBlip>
            </a:pPr>
            <a:r>
              <a:rPr lang="en-US" sz="2200" i="1" dirty="0"/>
              <a:t>Optimal pricing </a:t>
            </a:r>
            <a:r>
              <a:rPr lang="en-US" sz="2200" dirty="0"/>
              <a:t>requires knowledge of 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demand</a:t>
            </a:r>
            <a:endParaRPr lang="en-US" sz="2200" dirty="0"/>
          </a:p>
          <a:p>
            <a:pPr lvl="1">
              <a:spcBef>
                <a:spcPts val="600"/>
              </a:spcBef>
              <a:spcAft>
                <a:spcPts val="0"/>
              </a:spcAft>
              <a:buBlip>
                <a:blip r:embed="rId2"/>
              </a:buBlip>
            </a:pPr>
            <a:r>
              <a:rPr lang="en-US" sz="2200" i="1" dirty="0"/>
              <a:t>Shape</a:t>
            </a:r>
            <a:r>
              <a:rPr lang="en-US" sz="2200" dirty="0"/>
              <a:t> of demand determines pricing</a:t>
            </a:r>
          </a:p>
          <a:p>
            <a:pPr lvl="2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2200" b="1" dirty="0"/>
              <a:t>Trade-off</a:t>
            </a:r>
            <a:r>
              <a:rPr lang="en-US" sz="2200" dirty="0"/>
              <a:t>: sales volume vs margin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Blip>
                <a:blip r:embed="rId2"/>
              </a:buBlip>
            </a:pPr>
            <a:r>
              <a:rPr lang="en-US" sz="2200" dirty="0"/>
              <a:t>We used 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EVC</a:t>
            </a:r>
            <a:r>
              <a:rPr lang="en-US" sz="2200" dirty="0"/>
              <a:t> as coarse approximation of demand</a:t>
            </a:r>
          </a:p>
          <a:p>
            <a:pPr>
              <a:lnSpc>
                <a:spcPct val="80000"/>
              </a:lnSpc>
              <a:buFont typeface="Monotype Sorts" pitchFamily="2" charset="2"/>
              <a:buChar char="n"/>
              <a:defRPr/>
            </a:pPr>
            <a:endParaRPr lang="en-US" sz="2200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dirty="0"/>
              <a:t>This lecture: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Blip>
                <a:blip r:embed="rId2"/>
              </a:buBlip>
            </a:pPr>
            <a:r>
              <a:rPr lang="en-US" sz="2200" dirty="0"/>
              <a:t>With better data, can use a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</a:t>
            </a:r>
            <a:r>
              <a:rPr lang="en-US" sz="2200" dirty="0"/>
              <a:t> model of demand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Blip>
                <a:blip r:embed="rId2"/>
              </a:buBlip>
            </a:pPr>
            <a:r>
              <a:rPr lang="en-US" sz="2200" dirty="0"/>
              <a:t>Measure the </a:t>
            </a:r>
            <a:r>
              <a:rPr lang="en-US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 </a:t>
            </a:r>
            <a:r>
              <a:rPr lang="en-US" sz="2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elasticity</a:t>
            </a:r>
            <a:r>
              <a:rPr lang="en-US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/>
              <a:t>of demand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buBlip>
                <a:blip r:embed="rId2"/>
              </a:buBlip>
            </a:pPr>
            <a:r>
              <a:rPr lang="en-US" sz="2200" dirty="0"/>
              <a:t>Use price elasticity to set </a:t>
            </a:r>
            <a:r>
              <a:rPr lang="en-US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optimal </a:t>
            </a:r>
            <a:r>
              <a:rPr lang="en-US" sz="2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uniform price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buBlip>
                <a:blip r:embed="rId2"/>
              </a:buBlip>
            </a:pPr>
            <a:r>
              <a:rPr lang="en-US" sz="2200" dirty="0"/>
              <a:t>optimal </a:t>
            </a:r>
            <a:r>
              <a:rPr lang="en-US" sz="2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uniform price </a:t>
            </a:r>
            <a:r>
              <a:rPr lang="en-US" sz="2200" i="1" dirty="0"/>
              <a:t>as</a:t>
            </a:r>
            <a:r>
              <a:rPr lang="en-US" sz="2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GROWTH</a:t>
            </a:r>
            <a:r>
              <a:rPr lang="en-US" sz="2200" b="1" i="1" dirty="0"/>
              <a:t>!!!</a:t>
            </a:r>
            <a:endParaRPr lang="en-US" sz="22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7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61173"/>
            <a:ext cx="4572009" cy="45720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Recall: EVC was used to approximate the Demand Curve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1219200" y="3124200"/>
            <a:ext cx="228600" cy="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447800" y="3124200"/>
            <a:ext cx="0" cy="129540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447800" y="4419600"/>
            <a:ext cx="533400" cy="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981200" y="4419600"/>
            <a:ext cx="0" cy="76200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981200" y="5181600"/>
            <a:ext cx="1295400" cy="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276600" y="5199434"/>
            <a:ext cx="0" cy="363166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3276600" y="3352800"/>
            <a:ext cx="3048000" cy="202821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24599" y="3033921"/>
            <a:ext cx="2666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EVC approximation of Demand (module 1)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99194" y="5023128"/>
            <a:ext cx="381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If use smooth approx. of demand, can feed demand estimates through an </a:t>
            </a:r>
            <a:r>
              <a:rPr 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optimization</a:t>
            </a:r>
            <a:r>
              <a:rPr lang="en-US" sz="2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>
                <a:solidFill>
                  <a:srgbClr val="00B050"/>
                </a:solidFill>
              </a:rPr>
              <a:t>algorithm to determine </a:t>
            </a:r>
            <a:r>
              <a:rPr lang="en-US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optimal uniform price</a:t>
            </a:r>
          </a:p>
        </p:txBody>
      </p:sp>
      <p:cxnSp>
        <p:nvCxnSpPr>
          <p:cNvPr id="45" name="Straight Arrow Connector 44"/>
          <p:cNvCxnSpPr>
            <a:stCxn id="43" idx="1"/>
          </p:cNvCxnSpPr>
          <p:nvPr/>
        </p:nvCxnSpPr>
        <p:spPr>
          <a:xfrm flipH="1" flipV="1">
            <a:off x="4800600" y="5432240"/>
            <a:ext cx="598594" cy="25260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714500" y="1752600"/>
            <a:ext cx="4610099" cy="2019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24600" y="16002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True Demand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18" name="Arc 17"/>
          <p:cNvSpPr/>
          <p:nvPr/>
        </p:nvSpPr>
        <p:spPr>
          <a:xfrm rot="11194014">
            <a:off x="1275079" y="223733"/>
            <a:ext cx="6452456" cy="5152539"/>
          </a:xfrm>
          <a:prstGeom prst="arc">
            <a:avLst>
              <a:gd name="adj1" fmla="val 15426599"/>
              <a:gd name="adj2" fmla="val 21525985"/>
            </a:avLst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0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053" y="1822211"/>
            <a:ext cx="4572009" cy="45720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Field Data and Regression</a:t>
            </a:r>
            <a:br>
              <a:rPr lang="en-US" sz="4000" dirty="0"/>
            </a:br>
            <a:r>
              <a:rPr lang="en-US" sz="3200" dirty="0"/>
              <a:t>Example: </a:t>
            </a:r>
            <a:r>
              <a:rPr lang="en-US" sz="3200" u="sng" dirty="0"/>
              <a:t>Demand</a:t>
            </a:r>
            <a:r>
              <a:rPr lang="en-US" sz="3200" dirty="0"/>
              <a:t> for 64 </a:t>
            </a:r>
            <a:r>
              <a:rPr lang="en-US" sz="3200" dirty="0" err="1"/>
              <a:t>oz</a:t>
            </a:r>
            <a:r>
              <a:rPr lang="en-US" sz="3200" dirty="0"/>
              <a:t> Roundy's OJ</a:t>
            </a:r>
          </a:p>
        </p:txBody>
      </p:sp>
      <p:pic>
        <p:nvPicPr>
          <p:cNvPr id="13" name="Picture 8" descr="http://prestonkelly.com/uploads/work/roundys_ooh_orange_630x182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37" t="36073" r="2035" b="769"/>
          <a:stretch/>
        </p:blipFill>
        <p:spPr bwMode="auto">
          <a:xfrm>
            <a:off x="7680960" y="91440"/>
            <a:ext cx="137160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00216D2B-7DA5-4D3E-9F0F-B1B2E17935C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6324600" y="5834062"/>
            <a:ext cx="29565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1600" dirty="0">
                <a:solidFill>
                  <a:srgbClr val="7030A0"/>
                </a:solidFill>
              </a:rPr>
              <a:t>Regression estimate of demand</a:t>
            </a:r>
          </a:p>
          <a:p>
            <a:pPr eaLnBrk="0" hangingPunct="0"/>
            <a:r>
              <a:rPr lang="en-US" sz="1600" i="1" dirty="0">
                <a:solidFill>
                  <a:srgbClr val="7030A0"/>
                </a:solidFill>
              </a:rPr>
              <a:t>(see Data-Driven Marketing course </a:t>
            </a:r>
            <a:r>
              <a:rPr lang="en-US" sz="1600" dirty="0">
                <a:solidFill>
                  <a:srgbClr val="7030A0"/>
                </a:solidFill>
              </a:rPr>
              <a:t>&amp; </a:t>
            </a:r>
            <a:r>
              <a:rPr lang="en-US" sz="1600" b="1" dirty="0">
                <a:solidFill>
                  <a:srgbClr val="7030A0"/>
                </a:solidFill>
              </a:rPr>
              <a:t>extra slides</a:t>
            </a:r>
            <a:r>
              <a:rPr lang="en-US" sz="1600" i="1" dirty="0">
                <a:solidFill>
                  <a:srgbClr val="7030A0"/>
                </a:solidFill>
              </a:rPr>
              <a:t>)</a:t>
            </a:r>
          </a:p>
        </p:txBody>
      </p:sp>
      <p:cxnSp>
        <p:nvCxnSpPr>
          <p:cNvPr id="12" name="Straight Arrow Connector 6"/>
          <p:cNvCxnSpPr>
            <a:cxnSpLocks noChangeShapeType="1"/>
          </p:cNvCxnSpPr>
          <p:nvPr/>
        </p:nvCxnSpPr>
        <p:spPr bwMode="auto">
          <a:xfrm flipH="1" flipV="1">
            <a:off x="5867400" y="5300662"/>
            <a:ext cx="1066800" cy="533400"/>
          </a:xfrm>
          <a:prstGeom prst="straightConnector1">
            <a:avLst/>
          </a:prstGeom>
          <a:noFill/>
          <a:ln w="12700" algn="ctr">
            <a:solidFill>
              <a:srgbClr val="7030A0"/>
            </a:solidFill>
            <a:round/>
            <a:headEnd/>
            <a:tailEnd type="arrow" w="med" len="med"/>
          </a:ln>
        </p:spPr>
      </p:cxnSp>
      <p:cxnSp>
        <p:nvCxnSpPr>
          <p:cNvPr id="14" name="Straight Connector 13"/>
          <p:cNvCxnSpPr/>
          <p:nvPr/>
        </p:nvCxnSpPr>
        <p:spPr>
          <a:xfrm flipV="1">
            <a:off x="3671620" y="4800600"/>
            <a:ext cx="1" cy="1413385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47704" y="6280861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Shelf Price of $2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524000" y="4800600"/>
            <a:ext cx="2147621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3400" y="462719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FF0000"/>
                </a:solidFill>
              </a:rPr>
              <a:t>Vol</a:t>
            </a:r>
            <a:r>
              <a:rPr lang="en-US" sz="1800" dirty="0">
                <a:solidFill>
                  <a:srgbClr val="FF0000"/>
                </a:solidFill>
              </a:rPr>
              <a:t>=104</a:t>
            </a:r>
          </a:p>
        </p:txBody>
      </p:sp>
    </p:spTree>
    <p:extLst>
      <p:ext uri="{BB962C8B-B14F-4D97-AF65-F5344CB8AC3E}">
        <p14:creationId xmlns:p14="http://schemas.microsoft.com/office/powerpoint/2010/main" val="239039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7000" y="3124200"/>
            <a:ext cx="4800600" cy="2438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80" name="Rectangle 12"/>
              <p:cNvSpPr>
                <a:spLocks noGrp="1" noChangeArrowheads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114800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spcAft>
                    <a:spcPts val="1200"/>
                  </a:spcAft>
                  <a:buFont typeface="Monotype Sorts" pitchFamily="2" charset="2"/>
                  <a:buChar char="n"/>
                  <a:defRPr/>
                </a:pPr>
                <a:r>
                  <a:rPr lang="en-US" sz="2400" dirty="0">
                    <a:latin typeface="+mj-lt"/>
                  </a:rPr>
                  <a:t>Measures price sensitivity of the demand curve </a:t>
                </a:r>
                <a:r>
                  <a:rPr lang="en-US" sz="2400" i="1" dirty="0">
                    <a:latin typeface="+mj-lt"/>
                  </a:rPr>
                  <a:t>at a specific point</a:t>
                </a:r>
                <a:endParaRPr lang="en-US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  <a:buFont typeface="Monotype Sorts" pitchFamily="2" charset="2"/>
                  <a:buChar char="n"/>
                  <a:defRPr/>
                </a:pPr>
                <a:r>
                  <a:rPr lang="en-US" sz="2400" dirty="0">
                    <a:latin typeface="+mj-lt"/>
                  </a:rPr>
                  <a:t>Unit-less Measure</a:t>
                </a:r>
              </a:p>
              <a:p>
                <a:pPr>
                  <a:spcAft>
                    <a:spcPts val="1800"/>
                  </a:spcAft>
                  <a:buFont typeface="Monotype Sorts" pitchFamily="2" charset="2"/>
                  <a:buChar char="n"/>
                  <a:defRPr/>
                </a:pPr>
                <a:r>
                  <a:rPr lang="en-US" sz="2400" dirty="0">
                    <a:latin typeface="+mj-lt"/>
                  </a:rPr>
                  <a:t>For more details, see handout on demand.</a:t>
                </a:r>
              </a:p>
              <a:p>
                <a:pPr marL="0" indent="0" algn="ctr">
                  <a:spcBef>
                    <a:spcPts val="1800"/>
                  </a:spcBef>
                  <a:spcAft>
                    <a:spcPts val="12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3000">
                                  <a:latin typeface="Cambria Math"/>
                                </a:rPr>
                                <m:t>Δ</m:t>
                              </m:r>
                              <m:r>
                                <a:rPr lang="en-US" sz="3000" i="1">
                                  <a:latin typeface="Cambria Math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/>
                                </a:rPr>
                                <m:t>𝑄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3000">
                                  <a:latin typeface="Cambria Math"/>
                                </a:rPr>
                                <m:t>Δ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100%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100%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  <a:p>
                <a:pPr marL="0" indent="0" algn="ctr">
                  <a:spcBef>
                    <a:spcPts val="1800"/>
                  </a:spcBef>
                  <a:spcAft>
                    <a:spcPts val="12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b="0" i="0" smtClean="0">
                              <a:latin typeface="Cambria Math"/>
                            </a:rPr>
                            <m:t>%</m:t>
                          </m:r>
                          <m:r>
                            <m:rPr>
                              <m:sty m:val="p"/>
                            </m:rPr>
                            <a:rPr lang="en-US" sz="3000" b="0" i="0" smtClean="0">
                              <a:latin typeface="Cambria Math"/>
                            </a:rPr>
                            <m:t>ΔQ</m:t>
                          </m:r>
                        </m:num>
                        <m:den>
                          <m:r>
                            <a:rPr lang="en-US" sz="3000" b="0" i="0" smtClean="0">
                              <a:latin typeface="Cambria Math"/>
                            </a:rPr>
                            <m:t>%</m:t>
                          </m:r>
                          <m:r>
                            <m:rPr>
                              <m:sty m:val="p"/>
                            </m:rPr>
                            <a:rPr lang="en-US" sz="3000" b="0" i="0" smtClean="0">
                              <a:latin typeface="Cambria Math"/>
                            </a:rPr>
                            <m:t>ΔP</m:t>
                          </m:r>
                        </m:den>
                      </m:f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7180" name="Rectangle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114800"/>
              </a:xfrm>
              <a:blipFill>
                <a:blip r:embed="rId2"/>
                <a:stretch>
                  <a:fillRect t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Review of price elasticity of demand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471267"/>
            <a:ext cx="7701094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6713" lvl="1" indent="0">
              <a:lnSpc>
                <a:spcPct val="80000"/>
              </a:lnSpc>
              <a:spcBef>
                <a:spcPts val="3600"/>
              </a:spcBef>
              <a:spcAft>
                <a:spcPts val="2400"/>
              </a:spcAft>
              <a:buNone/>
              <a:defRPr/>
            </a:pPr>
            <a:r>
              <a:rPr lang="en-US" sz="1200" dirty="0">
                <a:solidFill>
                  <a:srgbClr val="FF0000"/>
                </a:solidFill>
              </a:rPr>
              <a:t>See Appendix for discussion of typical magnitudes of estimated elasticities in practice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2703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65376"/>
            <a:ext cx="4572009" cy="457200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Demand Elasticity at Pick N’ Save</a:t>
            </a:r>
            <a:br>
              <a:rPr lang="en-US" dirty="0"/>
            </a:br>
            <a:r>
              <a:rPr lang="en-US" sz="3600" dirty="0"/>
              <a:t>Example: 64 Oz Roundy's Orange Juice</a:t>
            </a:r>
            <a:endParaRPr lang="en-US" dirty="0"/>
          </a:p>
        </p:txBody>
      </p:sp>
      <p:pic>
        <p:nvPicPr>
          <p:cNvPr id="11" name="Picture 8" descr="http://prestonkelly.com/uploads/work/roundys_ooh_orange_630x182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37" t="36073" r="2035" b="769"/>
          <a:stretch/>
        </p:blipFill>
        <p:spPr bwMode="auto">
          <a:xfrm>
            <a:off x="7680960" y="91440"/>
            <a:ext cx="137160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29200" y="1600200"/>
            <a:ext cx="3886200" cy="4495800"/>
          </a:xfrm>
        </p:spPr>
        <p:txBody>
          <a:bodyPr>
            <a:normAutofit/>
          </a:bodyPr>
          <a:lstStyle/>
          <a:p>
            <a:r>
              <a:rPr lang="en-US" dirty="0"/>
              <a:t>Regression analysis of demand data gives us: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β = -3.11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US" i="1" dirty="0"/>
              <a:t>a 1% price cut generates a 3.1% volume increase</a:t>
            </a:r>
            <a:endParaRPr lang="en-US" sz="3200" dirty="0"/>
          </a:p>
          <a:p>
            <a:pPr marL="0" indent="0" algn="ctr">
              <a:spcBef>
                <a:spcPts val="1800"/>
              </a:spcBef>
              <a:buNone/>
            </a:pPr>
            <a:r>
              <a:rPr lang="en-US" sz="1600" i="1" dirty="0"/>
              <a:t>(Loosely, average </a:t>
            </a:r>
            <a:r>
              <a:rPr lang="en-US" sz="1600" dirty="0"/>
              <a:t>elasticity in range of data)</a:t>
            </a:r>
          </a:p>
        </p:txBody>
      </p:sp>
      <p:sp>
        <p:nvSpPr>
          <p:cNvPr id="2" name="Rectangle 1"/>
          <p:cNvSpPr/>
          <p:nvPr/>
        </p:nvSpPr>
        <p:spPr>
          <a:xfrm>
            <a:off x="4844854" y="3008376"/>
            <a:ext cx="5132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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7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1828800" y="3733800"/>
            <a:ext cx="4495800" cy="6096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Monopoly price and elasticity</a:t>
            </a:r>
            <a:br>
              <a:rPr lang="en-US" sz="4400" dirty="0"/>
            </a:br>
            <a:r>
              <a:rPr lang="en-US" sz="3600" dirty="0"/>
              <a:t>The Profit-Maximizing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Uniform Price</a:t>
            </a:r>
            <a:endParaRPr lang="en-US" b="1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220662" y="4343401"/>
            <a:ext cx="427538" cy="58476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00200" y="4899483"/>
            <a:ext cx="51816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Unlike last lecture, now assume Q(P) {i.e., demand} is smooth and differentiable so that we can compute elasticity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1"/>
              <p:cNvSpPr>
                <a:spLocks noGrp="1" noChangeArrowheads="1"/>
              </p:cNvSpPr>
              <p:nvPr>
                <p:ph sz="quarter" idx="1"/>
              </p:nvPr>
            </p:nvSpPr>
            <p:spPr>
              <a:xfrm>
                <a:off x="658749" y="1600200"/>
                <a:ext cx="6854952" cy="35814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  <a:defRPr/>
                </a:pPr>
                <a:r>
                  <a:rPr lang="en-US" sz="2400" dirty="0">
                    <a:latin typeface="+mj-lt"/>
                  </a:rPr>
                  <a:t>Assume</a:t>
                </a:r>
              </a:p>
              <a:p>
                <a:pPr lvl="1">
                  <a:lnSpc>
                    <a:spcPct val="80000"/>
                  </a:lnSpc>
                  <a:defRPr/>
                </a:pPr>
                <a:r>
                  <a:rPr lang="en-US" sz="2400" dirty="0">
                    <a:latin typeface="+mj-lt"/>
                  </a:rPr>
                  <a:t>Single product firm</a:t>
                </a:r>
              </a:p>
              <a:p>
                <a:pPr lvl="1">
                  <a:lnSpc>
                    <a:spcPct val="80000"/>
                  </a:lnSpc>
                  <a:defRPr/>
                </a:pPr>
                <a:r>
                  <a:rPr lang="en-US" sz="2400" dirty="0">
                    <a:latin typeface="+mj-lt"/>
                  </a:rPr>
                  <a:t>No competitive response</a:t>
                </a:r>
              </a:p>
              <a:p>
                <a:pPr lvl="1">
                  <a:lnSpc>
                    <a:spcPct val="80000"/>
                  </a:lnSpc>
                  <a:spcAft>
                    <a:spcPts val="1200"/>
                  </a:spcAft>
                  <a:defRPr/>
                </a:pPr>
                <a:r>
                  <a:rPr lang="en-US" b="1" dirty="0">
                    <a:solidFill>
                      <a:srgbClr val="00B0F0"/>
                    </a:solidFill>
                  </a:rPr>
                  <a:t>Business Objective:</a:t>
                </a:r>
                <a:r>
                  <a:rPr lang="en-US" sz="2400" b="1" dirty="0">
                    <a:latin typeface="+mj-lt"/>
                  </a:rPr>
                  <a:t> maximize profits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/>
                  <a:t>Set price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𝒑</m:t>
                    </m:r>
                    <m:r>
                      <m:rPr>
                        <m:nor/>
                      </m:rPr>
                      <a:rPr lang="en-US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maximize variable profit: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Baskerville Old Face" panose="02020602080505020303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>
                          <a:latin typeface="Baskerville Old Face" panose="02020602080505020303" pitchFamily="18" charset="0"/>
                        </a:rPr>
                        <m:t>Q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Baskerville Old Face" panose="02020602080505020303" pitchFamily="18" charset="0"/>
                </a:endParaRPr>
              </a:p>
            </p:txBody>
          </p:sp>
        </mc:Choice>
        <mc:Fallback xmlns="">
          <p:sp>
            <p:nvSpPr>
              <p:cNvPr id="5" name="Rectangle 1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58749" y="1600200"/>
                <a:ext cx="6854952" cy="3581400"/>
              </a:xfrm>
              <a:blipFill>
                <a:blip r:embed="rId2"/>
                <a:stretch>
                  <a:fillRect l="-1333" t="-3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/>
          <p:cNvSpPr/>
          <p:nvPr/>
        </p:nvSpPr>
        <p:spPr>
          <a:xfrm rot="16200000" flipH="1">
            <a:off x="4641163" y="3969439"/>
            <a:ext cx="104887" cy="54801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400800"/>
            <a:ext cx="6490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See Appendix for the margin arithmetic and break-even pricing when demand unknown</a:t>
            </a:r>
          </a:p>
        </p:txBody>
      </p:sp>
    </p:spTree>
    <p:extLst>
      <p:ext uri="{BB962C8B-B14F-4D97-AF65-F5344CB8AC3E}">
        <p14:creationId xmlns:p14="http://schemas.microsoft.com/office/powerpoint/2010/main" val="281164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5715000" y="2646680"/>
                <a:ext cx="2896267" cy="1016000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646680"/>
                <a:ext cx="2896267" cy="10160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4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+mj-lt"/>
              </a:rPr>
              <a:t>Monopoly price and elasticity</a:t>
            </a:r>
            <a:br>
              <a:rPr lang="en-US" sz="4400" dirty="0">
                <a:latin typeface="+mj-lt"/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inverse-elasticity rule</a:t>
            </a:r>
          </a:p>
        </p:txBody>
      </p:sp>
      <p:sp>
        <p:nvSpPr>
          <p:cNvPr id="16" name="Rectangle 11"/>
          <p:cNvSpPr>
            <a:spLocks noGrp="1" noChangeArrowheads="1"/>
          </p:cNvSpPr>
          <p:nvPr>
            <p:ph sz="quarter" idx="1"/>
          </p:nvPr>
        </p:nvSpPr>
        <p:spPr>
          <a:xfrm>
            <a:off x="612648" y="1739900"/>
            <a:ext cx="5303837" cy="6477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sz="2400" b="1" i="1" dirty="0">
                <a:latin typeface="+mj-lt"/>
              </a:rPr>
              <a:t>Optimal</a:t>
            </a:r>
            <a:r>
              <a:rPr lang="en-US" sz="2400" b="1" dirty="0">
                <a:latin typeface="+mj-lt"/>
              </a:rPr>
              <a:t> Price is set such that</a:t>
            </a:r>
            <a:r>
              <a:rPr lang="en-US" sz="2400" dirty="0">
                <a:latin typeface="+mj-lt"/>
              </a:rPr>
              <a:t>:</a:t>
            </a:r>
            <a:endParaRPr lang="en-US" sz="2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3"/>
              <p:cNvSpPr>
                <a:spLocks noChangeArrowheads="1"/>
              </p:cNvSpPr>
              <p:nvPr/>
            </p:nvSpPr>
            <p:spPr bwMode="auto">
              <a:xfrm>
                <a:off x="612648" y="4010025"/>
                <a:ext cx="8378952" cy="2466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342900" indent="-342900" algn="ctr">
                  <a:lnSpc>
                    <a:spcPct val="90000"/>
                  </a:lnSpc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70000"/>
                  <a:buFont typeface="Monotype Sorts" pitchFamily="2" charset="2"/>
                  <a:buNone/>
                  <a:defRPr/>
                </a:pPr>
                <a:r>
                  <a:rPr kumimoji="1" lang="en-US" sz="2000" dirty="0">
                    <a:latin typeface="+mj-lt"/>
                  </a:rPr>
                  <a:t>(see math Appendix for derivation)</a:t>
                </a:r>
              </a:p>
              <a:p>
                <a:pPr marL="342900" indent="-342900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/>
                </a:pPr>
                <a:r>
                  <a:rPr kumimoji="1" lang="en-US" dirty="0">
                    <a:latin typeface="+mj-lt"/>
                  </a:rPr>
                  <a:t>In practice, most firms not monopolists &amp; competitors not passive</a:t>
                </a:r>
              </a:p>
              <a:p>
                <a:pPr marL="342900" indent="-342900">
                  <a:lnSpc>
                    <a:spcPct val="90000"/>
                  </a:lnSpc>
                  <a:spcBef>
                    <a:spcPts val="1200"/>
                  </a:spcBef>
                  <a:spcAft>
                    <a:spcPts val="1200"/>
                  </a:spcAft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/>
                </a:pPr>
                <a:r>
                  <a:rPr kumimoji="1" lang="en-US" dirty="0">
                    <a:latin typeface="+mj-lt"/>
                  </a:rPr>
                  <a:t>But this is a useful starting point</a:t>
                </a:r>
              </a:p>
              <a:p>
                <a:pPr>
                  <a:lnSpc>
                    <a:spcPct val="90000"/>
                  </a:lnSpc>
                  <a:spcBef>
                    <a:spcPts val="2400"/>
                  </a:spcBef>
                  <a:buClr>
                    <a:schemeClr val="accent1"/>
                  </a:buClr>
                  <a:buSzPct val="70000"/>
                  <a:defRPr/>
                </a:pPr>
                <a:r>
                  <a:rPr kumimoji="1" lang="en-US" sz="2000" u="sng" dirty="0">
                    <a:latin typeface="+mj-lt"/>
                  </a:rPr>
                  <a:t>Note</a:t>
                </a:r>
                <a:r>
                  <a:rPr kumimoji="1" lang="en-US" sz="2000" dirty="0">
                    <a:latin typeface="+mj-lt"/>
                  </a:rPr>
                  <a:t>: elasticity usually a function, i.e.,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sz="2000" dirty="0">
                    <a:latin typeface="+mj-lt"/>
                  </a:rPr>
                  <a:t>not a number</a:t>
                </a:r>
              </a:p>
              <a:p>
                <a:pPr>
                  <a:lnSpc>
                    <a:spcPct val="90000"/>
                  </a:lnSpc>
                  <a:spcBef>
                    <a:spcPts val="0"/>
                  </a:spcBef>
                  <a:buClr>
                    <a:schemeClr val="accent1"/>
                  </a:buClr>
                  <a:buSzPct val="70000"/>
                  <a:defRPr/>
                </a:pPr>
                <a:r>
                  <a:rPr kumimoji="1" lang="en-US" sz="2000" dirty="0">
                    <a:latin typeface="+mj-lt"/>
                  </a:rPr>
                  <a:t>	(see </a:t>
                </a:r>
                <a:r>
                  <a:rPr kumimoji="1" lang="en-US" sz="2000" dirty="0" err="1">
                    <a:latin typeface="+mj-lt"/>
                  </a:rPr>
                  <a:t>Ziprecruiter</a:t>
                </a:r>
                <a:r>
                  <a:rPr kumimoji="1" lang="en-US" sz="2000" dirty="0">
                    <a:latin typeface="+mj-lt"/>
                  </a:rPr>
                  <a:t> appendix)</a:t>
                </a:r>
              </a:p>
            </p:txBody>
          </p:sp>
        </mc:Choice>
        <mc:Fallback xmlns="">
          <p:sp>
            <p:nvSpPr>
              <p:cNvPr id="18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648" y="4010025"/>
                <a:ext cx="8378952" cy="2466975"/>
              </a:xfrm>
              <a:prstGeom prst="rect">
                <a:avLst/>
              </a:prstGeom>
              <a:blipFill>
                <a:blip r:embed="rId3"/>
                <a:stretch>
                  <a:fillRect l="-801" t="-2716" b="-518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4270248" y="2971800"/>
            <a:ext cx="6048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OR</a:t>
            </a:r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 flipH="1">
            <a:off x="7530465" y="2456814"/>
            <a:ext cx="152400" cy="301626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673100" y="2641600"/>
                <a:ext cx="2896267" cy="1016000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00" y="2641600"/>
                <a:ext cx="2896267" cy="1016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6248400" y="2057400"/>
            <a:ext cx="2868930" cy="384174"/>
          </a:xfrm>
          <a:prstGeom prst="ellipse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i="1" dirty="0">
                <a:solidFill>
                  <a:srgbClr val="FF0000"/>
                </a:solidFill>
              </a:rPr>
              <a:t>inverse-elasticity rule</a:t>
            </a:r>
          </a:p>
        </p:txBody>
      </p:sp>
    </p:spTree>
    <p:extLst>
      <p:ext uri="{BB962C8B-B14F-4D97-AF65-F5344CB8AC3E}">
        <p14:creationId xmlns:p14="http://schemas.microsoft.com/office/powerpoint/2010/main" val="37282656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3276600" y="2667000"/>
                <a:ext cx="1981199" cy="762000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667000"/>
                <a:ext cx="1981199" cy="7620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j-lt"/>
              </a:rPr>
              <a:t>Pricing on the elastic region of demand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981200"/>
            <a:ext cx="7772400" cy="9906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sz="2400" b="1" dirty="0">
                <a:latin typeface="+mj-lt"/>
              </a:rPr>
              <a:t>Claim: if a firm maximizes its (current) profits, then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9" name="Rectangle 5"/>
              <p:cNvSpPr>
                <a:spLocks noChangeArrowheads="1"/>
              </p:cNvSpPr>
              <p:nvPr/>
            </p:nvSpPr>
            <p:spPr bwMode="auto">
              <a:xfrm>
                <a:off x="612648" y="3886200"/>
                <a:ext cx="8378952" cy="233961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square" lIns="90488" tIns="44450" rIns="90488" bIns="4445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70000"/>
                </a:pPr>
                <a:r>
                  <a:rPr kumimoji="1" lang="en-US" sz="2800" b="1" dirty="0">
                    <a:latin typeface="+mn-lt"/>
                  </a:rPr>
                  <a:t> Therefore, you should raise your price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sz="2800" b="1" i="1" smtClean="0">
                            <a:latin typeface="Cambria Math"/>
                            <a:ea typeface="Cambria Math"/>
                          </a:rPr>
                          <m:t>𝜷</m:t>
                        </m:r>
                      </m:e>
                    </m:d>
                    <m:r>
                      <a:rPr kumimoji="1" lang="en-US" sz="2800" b="1" i="1" smtClean="0">
                        <a:latin typeface="Cambria Math"/>
                      </a:rPr>
                      <m:t>&lt;</m:t>
                    </m:r>
                    <m:r>
                      <a:rPr kumimoji="1" lang="en-US" sz="2800" b="1" i="1" smtClean="0">
                        <a:latin typeface="Cambria Math"/>
                      </a:rPr>
                      <m:t>𝟏</m:t>
                    </m:r>
                  </m:oMath>
                </a14:m>
                <a:endParaRPr kumimoji="1" lang="en-US" sz="2800" b="1" dirty="0">
                  <a:latin typeface="+mn-lt"/>
                </a:endParaRPr>
              </a:p>
              <a:p>
                <a:pPr algn="ctr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</a:pPr>
                <a:r>
                  <a:rPr kumimoji="1" lang="en-US" dirty="0">
                    <a:latin typeface="+mn-lt"/>
                  </a:rPr>
                  <a:t>Can you see why?</a:t>
                </a:r>
              </a:p>
              <a:p>
                <a:pPr algn="ctr" eaLnBrk="0" hangingPunct="0">
                  <a:spcBef>
                    <a:spcPct val="20000"/>
                  </a:spcBef>
                  <a:spcAft>
                    <a:spcPts val="1200"/>
                  </a:spcAft>
                  <a:buClr>
                    <a:schemeClr val="accent1"/>
                  </a:buClr>
                  <a:buSzPct val="70000"/>
                </a:pPr>
                <a:r>
                  <a:rPr kumimoji="1" lang="en-US" sz="1800" i="1" dirty="0">
                    <a:latin typeface="+mn-lt"/>
                  </a:rPr>
                  <a:t>(hint: play with inverse-elasticity rule)</a:t>
                </a:r>
              </a:p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Monotype Sorts"/>
                  <a:buChar char="n"/>
                </a:pPr>
                <a:r>
                  <a:rPr kumimoji="1" lang="en-US" dirty="0">
                    <a:latin typeface="+mn-lt"/>
                  </a:rPr>
                  <a:t> Be careful.  Very inelastic demand estimates might also reflect a problem with your data or your method used to estimate </a:t>
                </a:r>
                <a:r>
                  <a:rPr kumimoji="1" lang="el-GR" dirty="0">
                    <a:latin typeface="Times New Roman"/>
                    <a:cs typeface="Times New Roman"/>
                  </a:rPr>
                  <a:t>β</a:t>
                </a:r>
                <a:r>
                  <a:rPr kumimoji="1" lang="en-US" dirty="0">
                    <a:latin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307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648" y="3886200"/>
                <a:ext cx="8378952" cy="2339615"/>
              </a:xfrm>
              <a:prstGeom prst="rect">
                <a:avLst/>
              </a:prstGeom>
              <a:blipFill rotWithShape="1">
                <a:blip r:embed="rId3"/>
                <a:stretch>
                  <a:fillRect l="-1164" t="-2872" r="-73" b="-5222"/>
                </a:stretch>
              </a:blipFill>
              <a:ln w="1270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8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C27E-7648-45FB-A3ED-518A13D3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with the elasticity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F4019-45C3-473C-B6D8-80EE9CB3FE6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53000"/>
          </a:xfrm>
        </p:spPr>
        <p:txBody>
          <a:bodyPr>
            <a:normAutofit/>
          </a:bodyPr>
          <a:lstStyle/>
          <a:p>
            <a:r>
              <a:rPr lang="en-US" dirty="0"/>
              <a:t>With inflationary pressures, companies are increasingly relying on the elasticity to justify their pricing to stakeholders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200" b="1" dirty="0"/>
              <a:t>Source</a:t>
            </a:r>
            <a:r>
              <a:rPr lang="en-US" sz="1200" dirty="0"/>
              <a:t>: </a:t>
            </a:r>
            <a:r>
              <a:rPr lang="en-US" sz="1200" dirty="0">
                <a:hlinkClick r:id="rId2"/>
              </a:rPr>
              <a:t>“Why Are C.E.O.s Suddenly Obsessed With ‘Elasticity’?” By Jason </a:t>
            </a:r>
            <a:r>
              <a:rPr lang="en-US" sz="1200" dirty="0" err="1">
                <a:hlinkClick r:id="rId2"/>
              </a:rPr>
              <a:t>Karaian</a:t>
            </a:r>
            <a:r>
              <a:rPr lang="en-US" sz="1200" dirty="0">
                <a:hlinkClick r:id="rId2"/>
              </a:rPr>
              <a:t> and Veronica </a:t>
            </a:r>
            <a:r>
              <a:rPr lang="en-US" sz="1200" dirty="0" err="1">
                <a:hlinkClick r:id="rId2"/>
              </a:rPr>
              <a:t>Majerol</a:t>
            </a:r>
            <a:r>
              <a:rPr lang="en-US" sz="1200" dirty="0">
                <a:hlinkClick r:id="rId2"/>
              </a:rPr>
              <a:t>, </a:t>
            </a:r>
            <a:r>
              <a:rPr lang="en-US" sz="1200" i="1" dirty="0">
                <a:hlinkClick r:id="rId2"/>
              </a:rPr>
              <a:t>WSJ, </a:t>
            </a:r>
            <a:r>
              <a:rPr lang="en-US" sz="1200" dirty="0">
                <a:hlinkClick r:id="rId2"/>
              </a:rPr>
              <a:t>08/19/2022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92E47-7A1E-4C68-BE87-E0DABA4F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C53EDF-0241-450A-81A5-1CCE27F0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19400"/>
            <a:ext cx="4724400" cy="274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43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336" y="2212848"/>
            <a:ext cx="3581400" cy="3581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12595"/>
            <a:ext cx="3581400" cy="3581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Demand regressions at Pick N’ Save</a:t>
            </a:r>
            <a:br>
              <a:rPr lang="en-US" sz="4400" dirty="0"/>
            </a:br>
            <a:r>
              <a:rPr lang="en-US" sz="3600" dirty="0"/>
              <a:t>Example: Refrigerated Orange Juice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7315200" y="4419600"/>
            <a:ext cx="0" cy="11412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20564" y="5620621"/>
            <a:ext cx="1789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Current price $2.99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057400" y="4527725"/>
            <a:ext cx="0" cy="10650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62764" y="5624718"/>
            <a:ext cx="1789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Current price $2.00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36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Optimal Prices at Pick N’ Save</a:t>
            </a:r>
            <a:br>
              <a:rPr lang="en-US" sz="4400" dirty="0"/>
            </a:br>
            <a:r>
              <a:rPr lang="en-US" sz="3600" dirty="0"/>
              <a:t>Example: Refrigerated Orange Juice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Let’s design a </a:t>
            </a:r>
            <a:r>
              <a:rPr lang="en-US" b="1" i="1" dirty="0"/>
              <a:t>pricing dashboard</a:t>
            </a:r>
            <a:r>
              <a:rPr lang="en-US" dirty="0"/>
              <a:t> for refrigerated orange juice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dashboard is designed to help with decision-making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dashboard will consist of: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metrics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visualizations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89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A 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Pricing Dashboard</a:t>
            </a:r>
            <a:r>
              <a:rPr lang="en-US" sz="4400" dirty="0"/>
              <a:t> for Pick N’ Save</a:t>
            </a:r>
            <a:br>
              <a:rPr lang="en-US" dirty="0"/>
            </a:br>
            <a:r>
              <a:rPr lang="en-US" sz="3600" dirty="0"/>
              <a:t>Example: Refrigerated Orange Juice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76200" y="2271067"/>
          <a:ext cx="367876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Own-Elasticity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Roundy's 64 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-3.11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Minute Maid</a:t>
                      </a:r>
                      <a:r>
                        <a:rPr lang="en-US" sz="1800" baseline="0" dirty="0"/>
                        <a:t> 64 Oz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-2.40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1323" y="4538755"/>
            <a:ext cx="27767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Wholesale prices</a:t>
            </a:r>
          </a:p>
          <a:p>
            <a:r>
              <a:rPr lang="en-US" sz="1800" dirty="0"/>
              <a:t>Minute Maid 64 Oz = $2.06</a:t>
            </a:r>
          </a:p>
          <a:p>
            <a:r>
              <a:rPr lang="en-US" sz="1800" dirty="0"/>
              <a:t>Roundy’s 64 Oz = $1.67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33800" y="2267712"/>
          <a:ext cx="175685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Optimal Margin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0" y="2267712"/>
          <a:ext cx="184155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Optimal Mark-up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4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47.39%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4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71.6%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0" y="2267712"/>
          <a:ext cx="152824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Optimal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4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4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21794" y="3972568"/>
                <a:ext cx="452880" cy="59663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C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β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794" y="3972568"/>
                <a:ext cx="452880" cy="59663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10" idx="0"/>
            <a:endCxn id="7" idx="2"/>
          </p:cNvCxnSpPr>
          <p:nvPr/>
        </p:nvCxnSpPr>
        <p:spPr>
          <a:xfrm flipV="1">
            <a:off x="4548234" y="3380232"/>
            <a:ext cx="63991" cy="592336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74293" y="3937866"/>
                <a:ext cx="1752599" cy="484684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sz="16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β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1+</m:t>
                            </m:r>
                            <m:r>
                              <m:rPr>
                                <m:sty m:val="p"/>
                              </m:rPr>
                              <a:rPr lang="el-GR" sz="16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β</m:t>
                            </m:r>
                          </m:den>
                        </m:f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el-GR" sz="16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l-GR" sz="1600" i="1">
                        <a:solidFill>
                          <a:srgbClr val="C00000"/>
                        </a:solidFill>
                        <a:latin typeface="Cambria Math"/>
                      </a:rPr>
                      <m:t>×</m:t>
                    </m:r>
                  </m:oMath>
                </a14:m>
                <a:r>
                  <a:rPr lang="en-US" sz="1600" dirty="0">
                    <a:solidFill>
                      <a:srgbClr val="C00000"/>
                    </a:solidFill>
                  </a:rPr>
                  <a:t>100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293" y="3937866"/>
                <a:ext cx="1752599" cy="484684"/>
              </a:xfrm>
              <a:prstGeom prst="rect">
                <a:avLst/>
              </a:prstGeom>
              <a:blipFill rotWithShape="0">
                <a:blip r:embed="rId3"/>
                <a:stretch>
                  <a:fillRect b="-370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12" idx="0"/>
            <a:endCxn id="8" idx="2"/>
          </p:cNvCxnSpPr>
          <p:nvPr/>
        </p:nvCxnSpPr>
        <p:spPr>
          <a:xfrm flipH="1" flipV="1">
            <a:off x="6407175" y="3380232"/>
            <a:ext cx="43418" cy="55763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054851" y="5046587"/>
                <a:ext cx="1931939" cy="60215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16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β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l-GR" sz="16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β</m:t>
                          </m:r>
                        </m:den>
                      </m:f>
                      <m:r>
                        <a:rPr lang="el-GR" sz="16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/>
                        </a:rPr>
                        <m:t>𝑢𝑛𝑖𝑡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/>
                        </a:rPr>
                        <m:t>𝑐𝑜𝑠𝑡</m:t>
                      </m:r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851" y="5046587"/>
                <a:ext cx="1931939" cy="6021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stCxn id="14" idx="0"/>
            <a:endCxn id="9" idx="2"/>
          </p:cNvCxnSpPr>
          <p:nvPr/>
        </p:nvCxnSpPr>
        <p:spPr>
          <a:xfrm flipV="1">
            <a:off x="8020821" y="3380232"/>
            <a:ext cx="58503" cy="166635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720712" y="3932333"/>
                <a:ext cx="349776" cy="338554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>
                          <a:solidFill>
                            <a:srgbClr val="C00000"/>
                          </a:solidFill>
                          <a:latin typeface="Cambria Math"/>
                        </a:rPr>
                        <m:t>β</m:t>
                      </m:r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712" y="3932333"/>
                <a:ext cx="349776" cy="338554"/>
              </a:xfrm>
              <a:prstGeom prst="rect">
                <a:avLst/>
              </a:prstGeom>
              <a:blipFill rotWithShape="1">
                <a:blip r:embed="rId5"/>
                <a:stretch>
                  <a:fillRect b="-8621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V="1">
            <a:off x="2895600" y="3393747"/>
            <a:ext cx="0" cy="50861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31323" y="6147115"/>
            <a:ext cx="6811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+mj-lt"/>
              </a:rPr>
              <a:t>Note:</a:t>
            </a:r>
            <a:r>
              <a:rPr lang="en-US" sz="1800" dirty="0">
                <a:latin typeface="+mj-lt"/>
              </a:rPr>
              <a:t> we are ignoring cannibalization! We will consider product line pricing issues later in course.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2720713" y="5256460"/>
            <a:ext cx="5437326" cy="653967"/>
          </a:xfrm>
          <a:custGeom>
            <a:avLst/>
            <a:gdLst>
              <a:gd name="connsiteX0" fmla="*/ 5247861 w 5247861"/>
              <a:gd name="connsiteY0" fmla="*/ 182880 h 638712"/>
              <a:gd name="connsiteX1" fmla="*/ 3824578 w 5247861"/>
              <a:gd name="connsiteY1" fmla="*/ 636104 h 638712"/>
              <a:gd name="connsiteX2" fmla="*/ 0 w 5247861"/>
              <a:gd name="connsiteY2" fmla="*/ 0 h 63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7861" h="638712">
                <a:moveTo>
                  <a:pt x="5247861" y="182880"/>
                </a:moveTo>
                <a:cubicBezTo>
                  <a:pt x="4973541" y="424732"/>
                  <a:pt x="4699221" y="666584"/>
                  <a:pt x="3824578" y="636104"/>
                </a:cubicBezTo>
                <a:cubicBezTo>
                  <a:pt x="2949934" y="605624"/>
                  <a:pt x="616226" y="102042"/>
                  <a:pt x="0" y="0"/>
                </a:cubicBezTo>
              </a:path>
            </a:pathLst>
          </a:custGeom>
          <a:noFill/>
          <a:ln w="34925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2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5" y="1828800"/>
            <a:ext cx="4572009" cy="45720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Profitability Visualization</a:t>
            </a:r>
            <a:br>
              <a:rPr lang="en-US" sz="4400" dirty="0"/>
            </a:br>
            <a:r>
              <a:rPr lang="en-US" sz="3600" dirty="0"/>
              <a:t>Example: Refrigerated Orange Juice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3276600" y="2895600"/>
            <a:ext cx="0" cy="34290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05000" y="6311384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Profit-maximizing Price=$3.53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553200" y="2743200"/>
                <a:ext cx="1981200" cy="304800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−2.06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acc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2743200"/>
                <a:ext cx="1981200" cy="304800"/>
              </a:xfrm>
              <a:prstGeom prst="rect">
                <a:avLst/>
              </a:prstGeom>
              <a:blipFill>
                <a:blip r:embed="rId3"/>
                <a:stretch>
                  <a:fillRect r="-34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7" idx="1"/>
          </p:cNvCxnSpPr>
          <p:nvPr/>
        </p:nvCxnSpPr>
        <p:spPr>
          <a:xfrm flipH="1">
            <a:off x="4876800" y="2895600"/>
            <a:ext cx="1676400" cy="914400"/>
          </a:xfrm>
          <a:prstGeom prst="straightConnector1">
            <a:avLst/>
          </a:prstGeom>
          <a:ln w="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895600" y="3657600"/>
            <a:ext cx="0" cy="1828800"/>
          </a:xfrm>
          <a:prstGeom prst="line">
            <a:avLst/>
          </a:prstGeom>
          <a:ln>
            <a:prstDash val="dash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44569" y="5440174"/>
            <a:ext cx="5020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70C0"/>
                </a:solidFill>
              </a:rPr>
              <a:t>$2.99</a:t>
            </a:r>
          </a:p>
        </p:txBody>
      </p:sp>
      <p:sp>
        <p:nvSpPr>
          <p:cNvPr id="13" name="Left Brace 12"/>
          <p:cNvSpPr/>
          <p:nvPr/>
        </p:nvSpPr>
        <p:spPr>
          <a:xfrm>
            <a:off x="2568371" y="2895600"/>
            <a:ext cx="174829" cy="762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743200" y="2895600"/>
            <a:ext cx="533400" cy="0"/>
          </a:xfrm>
          <a:prstGeom prst="line">
            <a:avLst/>
          </a:prstGeom>
          <a:ln>
            <a:prstDash val="dashDot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743200" y="3657600"/>
            <a:ext cx="533400" cy="0"/>
          </a:xfrm>
          <a:prstGeom prst="line">
            <a:avLst/>
          </a:prstGeom>
          <a:ln>
            <a:prstDash val="dashDot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2682" y="3048000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GROWTH</a:t>
            </a:r>
          </a:p>
        </p:txBody>
      </p:sp>
      <p:sp>
        <p:nvSpPr>
          <p:cNvPr id="22" name="Oval 21"/>
          <p:cNvSpPr/>
          <p:nvPr/>
        </p:nvSpPr>
        <p:spPr>
          <a:xfrm>
            <a:off x="2796970" y="3610094"/>
            <a:ext cx="9862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3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 animBg="1"/>
      <p:bldP spid="21" grpId="0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+mj-lt"/>
              </a:rPr>
              <a:t>Measuring the Price Elasticity</a:t>
            </a:r>
            <a:br>
              <a:rPr lang="en-US" sz="4400" dirty="0">
                <a:latin typeface="+mj-lt"/>
              </a:rPr>
            </a:br>
            <a:r>
              <a:rPr lang="en-US" sz="3600" dirty="0">
                <a:latin typeface="+mj-lt"/>
              </a:rPr>
              <a:t>Field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sz="2400" dirty="0">
                <a:latin typeface="+mj-lt"/>
              </a:rPr>
              <a:t>A simple field experiment can be used to measure the own-price elasticity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Monotype Sorts" pitchFamily="2" charset="2"/>
              <a:buChar char="n"/>
              <a:defRPr/>
            </a:pP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Randomly</a:t>
            </a:r>
            <a:r>
              <a:rPr lang="en-US" sz="2400" dirty="0">
                <a:latin typeface="+mj-lt"/>
              </a:rPr>
              <a:t> assign prices to subjects into treatment and control conditions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dirty="0"/>
              <a:t>	e.g., subjects could be customers, stores, cities etc.</a:t>
            </a:r>
            <a:endParaRPr lang="en-US" sz="2400" dirty="0">
              <a:latin typeface="+mj-lt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dirty="0"/>
              <a:t>You will need to test </a:t>
            </a:r>
            <a:r>
              <a:rPr lang="en-US" u="sng" dirty="0"/>
              <a:t>multiple</a:t>
            </a:r>
            <a:r>
              <a:rPr lang="en-US" dirty="0"/>
              <a:t> price points to learn demand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en-US" sz="2400" dirty="0">
                <a:latin typeface="+mj-lt"/>
              </a:rPr>
              <a:t>	e.g., </a:t>
            </a:r>
            <a:r>
              <a:rPr lang="en-US" sz="2400" i="1" dirty="0">
                <a:latin typeface="+mj-lt"/>
              </a:rPr>
              <a:t>A/B/C testing</a:t>
            </a:r>
            <a:endParaRPr lang="en-US" sz="2400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4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at </a:t>
            </a:r>
            <a:r>
              <a:rPr lang="en-US" dirty="0" err="1"/>
              <a:t>Ziprecruiter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E63171-6165-4521-AF02-4134732E7C5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12292" name="Picture 4" descr="Image result for ziprecruite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" t="32001" r="2164" b="-366"/>
          <a:stretch/>
        </p:blipFill>
        <p:spPr bwMode="auto">
          <a:xfrm>
            <a:off x="-1025" y="2590800"/>
            <a:ext cx="9145026" cy="427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266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-enhanced.jpeg"/>
          <p:cNvPicPr/>
          <p:nvPr/>
        </p:nvPicPr>
        <p:blipFill>
          <a:blip r:embed="rId3"/>
          <a:srcRect l="5431" r="5431"/>
          <a:stretch>
            <a:fillRect/>
          </a:stretch>
        </p:blipFill>
        <p:spPr>
          <a:xfrm>
            <a:off x="-7074" y="0"/>
            <a:ext cx="915814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5"/>
          <p:cNvSpPr/>
          <p:nvPr/>
        </p:nvSpPr>
        <p:spPr>
          <a:xfrm>
            <a:off x="-14293" y="5834424"/>
            <a:ext cx="9158293" cy="629744"/>
          </a:xfrm>
          <a:prstGeom prst="rect">
            <a:avLst/>
          </a:prstGeom>
          <a:solidFill>
            <a:srgbClr val="83B10A">
              <a:alpha val="9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lnSpc>
                <a:spcPct val="100000"/>
              </a:lnSpc>
              <a:defRPr sz="2400">
                <a:solidFill>
                  <a:srgbClr val="83B10A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7" name="image2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34151" y="5977011"/>
            <a:ext cx="2348352" cy="32558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Pricing at Ziprecruiter.com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Academic collaboration with Ziprecruiter.com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Fastest growing HR company: 75,000 employers per month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Online matching platform for recruiters and applicants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High conversion rates and high quality matches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August 2015: charging $99 per month to “starter” businesses</a:t>
            </a:r>
          </a:p>
          <a:p>
            <a:pPr marL="0" indent="0" algn="ctr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 but why $99?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28600" y="6477000"/>
            <a:ext cx="20377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Source: </a:t>
            </a:r>
            <a:r>
              <a:rPr lang="en-US" sz="1100" dirty="0">
                <a:solidFill>
                  <a:schemeClr val="bg1"/>
                </a:solidFill>
                <a:hlinkClick r:id="rId5"/>
              </a:rPr>
              <a:t>Dubé and Misra (2023)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Slide Number Placeholder 22"/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03344F6F-13B5-4D25-905C-51D49F0CCD0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20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-enhanced.jpeg"/>
          <p:cNvPicPr/>
          <p:nvPr/>
        </p:nvPicPr>
        <p:blipFill>
          <a:blip r:embed="rId2"/>
          <a:srcRect l="5431" r="5431"/>
          <a:stretch>
            <a:fillRect/>
          </a:stretch>
        </p:blipFill>
        <p:spPr>
          <a:xfrm>
            <a:off x="-7074" y="0"/>
            <a:ext cx="915814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Price Experiment at Ziprecruiter.com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How do you evaluate the $99 price?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How do you measure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demand</a:t>
            </a:r>
            <a:r>
              <a:rPr lang="en-US" dirty="0">
                <a:solidFill>
                  <a:schemeClr val="bg1"/>
                </a:solidFill>
              </a:rPr>
              <a:t> for a B2B digital service?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Note: </a:t>
            </a:r>
            <a:r>
              <a:rPr lang="en-US" dirty="0">
                <a:solidFill>
                  <a:srgbClr val="FFFF00"/>
                </a:solidFill>
              </a:rPr>
              <a:t>marginal </a:t>
            </a:r>
            <a:r>
              <a:rPr lang="en-US">
                <a:solidFill>
                  <a:srgbClr val="FFFF00"/>
                </a:solidFill>
              </a:rPr>
              <a:t>cost is </a:t>
            </a:r>
            <a:r>
              <a:rPr lang="en-US" dirty="0">
                <a:solidFill>
                  <a:srgbClr val="FFFF00"/>
                </a:solidFill>
              </a:rPr>
              <a:t>$0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1" dirty="0">
                <a:solidFill>
                  <a:srgbClr val="00B0F0"/>
                </a:solidFill>
              </a:rPr>
              <a:t>method: </a:t>
            </a:r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We ran a </a:t>
            </a:r>
            <a:r>
              <a:rPr lang="en-US" b="1" dirty="0">
                <a:solidFill>
                  <a:schemeClr val="bg1"/>
                </a:solidFill>
              </a:rPr>
              <a:t>B2B price experiment </a:t>
            </a:r>
            <a:r>
              <a:rPr lang="en-US" dirty="0">
                <a:solidFill>
                  <a:schemeClr val="bg1"/>
                </a:solidFill>
              </a:rPr>
              <a:t>to measure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demand</a:t>
            </a:r>
            <a:r>
              <a:rPr lang="en-US" dirty="0">
                <a:solidFill>
                  <a:schemeClr val="bg1"/>
                </a:solidFill>
              </a:rPr>
              <a:t> and determine the optimal price at </a:t>
            </a:r>
            <a:r>
              <a:rPr lang="en-US" dirty="0" err="1">
                <a:solidFill>
                  <a:schemeClr val="bg1"/>
                </a:solidFill>
              </a:rPr>
              <a:t>Ziprecruiter</a:t>
            </a:r>
            <a:r>
              <a:rPr lang="en-US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Slide Number Placeholder 22"/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03344F6F-13B5-4D25-905C-51D49F0CCD0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6477000"/>
            <a:ext cx="20377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Source: </a:t>
            </a:r>
            <a:r>
              <a:rPr lang="en-US" sz="1100" dirty="0">
                <a:solidFill>
                  <a:schemeClr val="bg1"/>
                </a:solidFill>
                <a:hlinkClick r:id="rId3"/>
              </a:rPr>
              <a:t>Dubé and Misra (2023)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Shape 25"/>
          <p:cNvSpPr/>
          <p:nvPr/>
        </p:nvSpPr>
        <p:spPr>
          <a:xfrm>
            <a:off x="-14293" y="5834424"/>
            <a:ext cx="9158293" cy="629744"/>
          </a:xfrm>
          <a:prstGeom prst="rect">
            <a:avLst/>
          </a:prstGeom>
          <a:solidFill>
            <a:srgbClr val="83B10A">
              <a:alpha val="9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lnSpc>
                <a:spcPct val="100000"/>
              </a:lnSpc>
              <a:defRPr sz="2400">
                <a:solidFill>
                  <a:srgbClr val="83B10A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18" name="image2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34151" y="5977011"/>
            <a:ext cx="2348352" cy="3255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86759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Method</a:t>
            </a:r>
            <a:endParaRPr 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10 prices tested: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$19, $39, $59, $79, $</m:t>
                          </m:r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99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$159, $199, $249, $299, $399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All </a:t>
                </a:r>
                <a:r>
                  <a:rPr lang="en-US" u="sng" dirty="0"/>
                  <a:t>new</a:t>
                </a:r>
                <a:r>
                  <a:rPr lang="en-US" dirty="0"/>
                  <a:t> customers in September 2015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 dirty="0"/>
                  <a:t>Customer had to register and advance to paywall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 dirty="0"/>
                  <a:t>Each customer assigned randomly to a price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 dirty="0"/>
                  <a:t>Track whether customer submitted credit card information and was billed for a month of service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Some concern about a </a:t>
                </a:r>
                <a:r>
                  <a:rPr lang="en-US" i="1" dirty="0"/>
                  <a:t>“price cliff” </a:t>
                </a:r>
                <a:r>
                  <a:rPr lang="en-US" dirty="0"/>
                  <a:t>above $99 (see Appendix)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 dirty="0"/>
                  <a:t>This is testable too…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5" t="-2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" y="6477000"/>
            <a:ext cx="19672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Dubé and Misra (2023)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82399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Data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914400"/>
          </a:xfrm>
        </p:spPr>
        <p:txBody>
          <a:bodyPr anchor="ctr"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dirty="0"/>
              <a:t>Based on the data, what price would you set?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F523A3-701C-4BA0-B4BF-4EED50634A3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" y="6477000"/>
            <a:ext cx="19672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2"/>
              </a:rPr>
              <a:t>Dubé and Misra (2023)</a:t>
            </a:r>
            <a:endParaRPr lang="en-US" sz="1100" dirty="0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A1FE36D2-8113-44F4-8E58-64080B42E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667000"/>
            <a:ext cx="5853858" cy="3311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8700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C23BF0F-24A0-4A02-B318-7AE402A4386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7200" y="2667000"/>
            <a:ext cx="5853858" cy="3311557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06598C-8971-4C24-979C-56606EB1C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8E27014-1F64-45A4-A75D-CE5518E66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Data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A28537-489A-429C-80FB-5E532DAD2653}"/>
              </a:ext>
            </a:extLst>
          </p:cNvPr>
          <p:cNvSpPr txBox="1">
            <a:spLocks/>
          </p:cNvSpPr>
          <p:nvPr/>
        </p:nvSpPr>
        <p:spPr bwMode="auto">
          <a:xfrm>
            <a:off x="612648" y="1600200"/>
            <a:ext cx="8153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200"/>
              </a:spcAft>
              <a:buFont typeface="Wingdings" pitchFamily="2" charset="2"/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AI handle the analytics?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CB1DE-B71E-488C-A78B-3EA58F87AFFD}"/>
              </a:ext>
            </a:extLst>
          </p:cNvPr>
          <p:cNvSpPr txBox="1"/>
          <p:nvPr/>
        </p:nvSpPr>
        <p:spPr>
          <a:xfrm>
            <a:off x="228600" y="6477000"/>
            <a:ext cx="19672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Dubé and Misra (2023)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81953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6A0830-D66A-424B-ABC8-93EC4F5D976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/>
          <a:srcRect r="8314"/>
          <a:stretch/>
        </p:blipFill>
        <p:spPr>
          <a:xfrm>
            <a:off x="192024" y="1911096"/>
            <a:ext cx="5642427" cy="323876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1D7A04-2F6B-412C-A30B-FE8D4D14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452" y="1600200"/>
            <a:ext cx="985975" cy="10288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3C84B0-0A94-4E35-8967-A038F34A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60B48-5A6B-4380-9E77-565016AAFA30}"/>
              </a:ext>
            </a:extLst>
          </p:cNvPr>
          <p:cNvSpPr txBox="1"/>
          <p:nvPr/>
        </p:nvSpPr>
        <p:spPr>
          <a:xfrm>
            <a:off x="6705600" y="5257800"/>
            <a:ext cx="1226618" cy="27699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90" tIns="34290" rIns="34290" bIns="34290" numCol="1" spcCol="38100" rtlCol="0" anchor="t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Arial"/>
              </a:rPr>
              <a:t>Upload the data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43207EE-02A2-4FEA-9136-9895176B13E4}"/>
              </a:ext>
            </a:extLst>
          </p:cNvPr>
          <p:cNvSpPr/>
          <p:nvPr/>
        </p:nvSpPr>
        <p:spPr>
          <a:xfrm>
            <a:off x="1631716" y="3886200"/>
            <a:ext cx="269422" cy="389513"/>
          </a:xfrm>
          <a:prstGeom prst="ellipse">
            <a:avLst/>
          </a:prstGeom>
          <a:noFill/>
          <a:ln w="50800" cap="flat">
            <a:solidFill>
              <a:srgbClr val="FF0000"/>
            </a:solidFill>
            <a:prstDash val="solid"/>
            <a:round/>
          </a:ln>
          <a:effectLst>
            <a:outerShdw blurRad="76200" dist="38100" rotWithShape="0">
              <a:srgbClr val="000000">
                <a:alpha val="4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ctr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srgbClr val="000000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CC162B-2826-4116-931E-8ADF7D19F9BE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1930668" y="4109022"/>
            <a:ext cx="4774932" cy="1287278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E3E867D-6F47-48E5-90BE-4F4E6D1C7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634" y="3505200"/>
            <a:ext cx="3274366" cy="5943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A79AC17-693C-45EA-BC44-F69BACAB3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F4273F-E618-4B08-A1AF-4F2E040F74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218" b="13640"/>
          <a:stretch/>
        </p:blipFill>
        <p:spPr>
          <a:xfrm>
            <a:off x="4305131" y="1779299"/>
            <a:ext cx="4765919" cy="541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EA6395-83FC-4ACF-9F47-E5D541F37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" y="1911096"/>
            <a:ext cx="1977472" cy="355145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EBDA22-C758-4561-8679-9E1FE91D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10003-46F0-44CF-B56B-7E150A176C2A}"/>
              </a:ext>
            </a:extLst>
          </p:cNvPr>
          <p:cNvSpPr txBox="1"/>
          <p:nvPr/>
        </p:nvSpPr>
        <p:spPr>
          <a:xfrm>
            <a:off x="5568250" y="2292057"/>
            <a:ext cx="903902" cy="27699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90" tIns="34290" rIns="34290" bIns="34290" numCol="1" spcCol="38100" rtlCol="0" anchor="t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rPr>
              <a:t>(my prompt)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9DA691-CE70-48FC-853F-15814498A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868" y="3830103"/>
            <a:ext cx="4760820" cy="1178101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880FE85-6250-4BAD-AF41-DC774301BE2E}"/>
              </a:ext>
            </a:extLst>
          </p:cNvPr>
          <p:cNvSpPr/>
          <p:nvPr/>
        </p:nvSpPr>
        <p:spPr>
          <a:xfrm>
            <a:off x="6513247" y="3850301"/>
            <a:ext cx="269422" cy="389513"/>
          </a:xfrm>
          <a:prstGeom prst="ellipse">
            <a:avLst/>
          </a:prstGeom>
          <a:noFill/>
          <a:ln w="50800" cap="flat">
            <a:solidFill>
              <a:srgbClr val="FF0000"/>
            </a:solidFill>
            <a:prstDash val="solid"/>
            <a:round/>
          </a:ln>
          <a:effectLst>
            <a:outerShdw blurRad="76200" dist="38100" rotWithShape="0">
              <a:srgbClr val="000000">
                <a:alpha val="4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ctr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srgbClr val="000000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AC0D38-2833-4CDD-8891-928BCCFC6ECC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647958" y="3533565"/>
            <a:ext cx="0" cy="316736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127856D-9A6A-4D42-ADC6-48F8093F67E7}"/>
              </a:ext>
            </a:extLst>
          </p:cNvPr>
          <p:cNvSpPr txBox="1"/>
          <p:nvPr/>
        </p:nvSpPr>
        <p:spPr>
          <a:xfrm>
            <a:off x="4876800" y="2558771"/>
            <a:ext cx="2815514" cy="1023357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90" tIns="34290" rIns="34290" bIns="34290" numCol="1" spcCol="38100" rtlCol="0" anchor="t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Arial"/>
              </a:rPr>
              <a:t>VERY WRONG!</a:t>
            </a:r>
          </a:p>
          <a:p>
            <a:pPr marL="214313" indent="-214313" defTabSz="342900" fontAlgn="auto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confused how to model demand</a:t>
            </a:r>
          </a:p>
          <a:p>
            <a:pPr marL="214313" indent="-214313" defTabSz="342900" fontAlgn="auto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human can easily reason this </a:t>
            </a:r>
          </a:p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</a:t>
            </a:r>
            <a:r>
              <a:rPr 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is incorrect but AI cannot reason!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4E5609-018E-48E8-B097-00617EA2EFF0}"/>
              </a:ext>
            </a:extLst>
          </p:cNvPr>
          <p:cNvSpPr/>
          <p:nvPr/>
        </p:nvSpPr>
        <p:spPr>
          <a:xfrm>
            <a:off x="192024" y="4940046"/>
            <a:ext cx="1993783" cy="522502"/>
          </a:xfrm>
          <a:prstGeom prst="rect">
            <a:avLst/>
          </a:prstGeom>
          <a:noFill/>
          <a:ln w="50800" cap="flat">
            <a:solidFill>
              <a:srgbClr val="FF0000"/>
            </a:solidFill>
            <a:prstDash val="solid"/>
            <a:round/>
          </a:ln>
          <a:effectLst>
            <a:outerShdw blurRad="76200" dist="38100" rotWithShape="0">
              <a:srgbClr val="000000">
                <a:alpha val="4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ctr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srgbClr val="000000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0160ECD9-FCF0-4F61-8305-D84AC5C98DC3}"/>
              </a:ext>
            </a:extLst>
          </p:cNvPr>
          <p:cNvSpPr/>
          <p:nvPr/>
        </p:nvSpPr>
        <p:spPr>
          <a:xfrm>
            <a:off x="3388188" y="3850301"/>
            <a:ext cx="4760820" cy="1157903"/>
          </a:xfrm>
          <a:prstGeom prst="wedgeRectCallout">
            <a:avLst>
              <a:gd name="adj1" fmla="val -73401"/>
              <a:gd name="adj2" fmla="val 78652"/>
            </a:avLst>
          </a:prstGeom>
          <a:noFill/>
          <a:ln w="50800" cap="flat">
            <a:solidFill>
              <a:srgbClr val="FF0000"/>
            </a:solidFill>
            <a:prstDash val="solid"/>
            <a:round/>
          </a:ln>
          <a:effectLst>
            <a:outerShdw blurRad="76200" dist="38100" rotWithShape="0">
              <a:srgbClr val="000000">
                <a:alpha val="4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ctr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srgbClr val="000000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F59E5F6-E1F4-45C3-9D98-9EAC5257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97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/>
      <p:bldP spid="12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F3860-43D8-466B-9B50-AA8E01DA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5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79A69C7C-6C57-42BC-8A2F-A33219786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" y="1911096"/>
            <a:ext cx="3703372" cy="44897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D678A8-4D87-400E-8317-C4EE810632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3934"/>
          <a:stretch/>
        </p:blipFill>
        <p:spPr>
          <a:xfrm>
            <a:off x="4534150" y="1779651"/>
            <a:ext cx="4524905" cy="541782"/>
          </a:xfrm>
          <a:prstGeom prst="rect">
            <a:avLst/>
          </a:prstGeom>
        </p:spPr>
      </p:pic>
      <p:sp>
        <p:nvSpPr>
          <p:cNvPr id="11" name="TextBox 10">
            <a:hlinkClick r:id="rId2" action="ppaction://hlinksldjump"/>
            <a:extLst>
              <a:ext uri="{FF2B5EF4-FFF2-40B4-BE49-F238E27FC236}">
                <a16:creationId xmlns:a16="http://schemas.microsoft.com/office/drawing/2014/main" id="{574B274C-3770-46D6-8E16-63910E9E5F1C}"/>
              </a:ext>
            </a:extLst>
          </p:cNvPr>
          <p:cNvSpPr txBox="1"/>
          <p:nvPr/>
        </p:nvSpPr>
        <p:spPr>
          <a:xfrm>
            <a:off x="4343400" y="4876800"/>
            <a:ext cx="1919372" cy="27699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90" tIns="34290" rIns="34290" bIns="34290" numCol="1" spcCol="38100" rtlCol="0" anchor="t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rPr>
              <a:t>Click to see elasticity table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3BDB6C-7384-4685-B313-483087EC10A8}"/>
              </a:ext>
            </a:extLst>
          </p:cNvPr>
          <p:cNvCxnSpPr/>
          <p:nvPr/>
        </p:nvCxnSpPr>
        <p:spPr>
          <a:xfrm flipH="1" flipV="1">
            <a:off x="3124200" y="4746440"/>
            <a:ext cx="1159625" cy="260719"/>
          </a:xfrm>
          <a:prstGeom prst="straightConnector1">
            <a:avLst/>
          </a:prstGeom>
          <a:noFill/>
          <a:ln w="508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BECFB6D-45C2-489D-A342-484A06FE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76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F3860-43D8-466B-9B50-AA8E01DA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E85C93-F1A5-4AFD-A533-5DE764E2E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1911096"/>
            <a:ext cx="1941576" cy="48455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78EC6D-A9B0-437B-BC1C-575B10203F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796" b="20216"/>
          <a:stretch/>
        </p:blipFill>
        <p:spPr>
          <a:xfrm>
            <a:off x="4914754" y="1779651"/>
            <a:ext cx="4173925" cy="541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2F53E6-16A9-4429-B9FB-98761F458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488" y="4202084"/>
            <a:ext cx="5144208" cy="59851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8B4EFB-F415-409A-8CF0-5B131DB27A8E}"/>
              </a:ext>
            </a:extLst>
          </p:cNvPr>
          <p:cNvCxnSpPr>
            <a:cxnSpLocks/>
          </p:cNvCxnSpPr>
          <p:nvPr/>
        </p:nvCxnSpPr>
        <p:spPr>
          <a:xfrm flipH="1">
            <a:off x="6385454" y="3733800"/>
            <a:ext cx="243946" cy="435285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B3419F8-2324-4541-9A37-0F44BA691863}"/>
              </a:ext>
            </a:extLst>
          </p:cNvPr>
          <p:cNvSpPr txBox="1"/>
          <p:nvPr/>
        </p:nvSpPr>
        <p:spPr>
          <a:xfrm>
            <a:off x="5075196" y="2772527"/>
            <a:ext cx="3876780" cy="1023357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t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Arial"/>
              </a:rPr>
              <a:t>STILL WRONG!</a:t>
            </a:r>
          </a:p>
          <a:p>
            <a:pPr marL="214313" indent="-214313" defTabSz="342900" fontAlgn="auto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confused how to model demand</a:t>
            </a:r>
          </a:p>
          <a:p>
            <a:pPr marL="214313" indent="-214313" defTabSz="342900" fontAlgn="auto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Logic </a:t>
            </a:r>
            <a:r>
              <a:rPr 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is right; but somehow 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AI</a:t>
            </a:r>
            <a:r>
              <a:rPr 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 messed up the elasticity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9DFDE6-7391-45C5-8ED0-5424680EDE4E}"/>
              </a:ext>
            </a:extLst>
          </p:cNvPr>
          <p:cNvSpPr/>
          <p:nvPr/>
        </p:nvSpPr>
        <p:spPr>
          <a:xfrm>
            <a:off x="192024" y="6490900"/>
            <a:ext cx="1941576" cy="276999"/>
          </a:xfrm>
          <a:prstGeom prst="rect">
            <a:avLst/>
          </a:prstGeom>
          <a:noFill/>
          <a:ln w="50800" cap="flat">
            <a:solidFill>
              <a:srgbClr val="FF0000"/>
            </a:solidFill>
            <a:prstDash val="solid"/>
            <a:round/>
          </a:ln>
          <a:effectLst>
            <a:outerShdw blurRad="76200" dist="38100" rotWithShape="0">
              <a:srgbClr val="000000">
                <a:alpha val="4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ctr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srgbClr val="000000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3CDCC01E-5CCC-40A5-8360-07B84F166144}"/>
              </a:ext>
            </a:extLst>
          </p:cNvPr>
          <p:cNvSpPr/>
          <p:nvPr/>
        </p:nvSpPr>
        <p:spPr>
          <a:xfrm>
            <a:off x="3639488" y="4202084"/>
            <a:ext cx="5144208" cy="598516"/>
          </a:xfrm>
          <a:prstGeom prst="wedgeRectCallout">
            <a:avLst>
              <a:gd name="adj1" fmla="val -77816"/>
              <a:gd name="adj2" fmla="val 347540"/>
            </a:avLst>
          </a:prstGeom>
          <a:noFill/>
          <a:ln w="50800" cap="flat">
            <a:solidFill>
              <a:srgbClr val="FF0000"/>
            </a:solidFill>
            <a:prstDash val="solid"/>
            <a:round/>
          </a:ln>
          <a:effectLst>
            <a:outerShdw blurRad="76200" dist="38100" rotWithShape="0">
              <a:srgbClr val="000000">
                <a:alpha val="4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ctr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srgbClr val="000000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B0267D6-A7DD-4E46-9559-6870441D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67B04-B840-4564-BB1F-B6C824ED5A69}"/>
              </a:ext>
            </a:extLst>
          </p:cNvPr>
          <p:cNvSpPr txBox="1"/>
          <p:nvPr/>
        </p:nvSpPr>
        <p:spPr>
          <a:xfrm>
            <a:off x="4973673" y="5192442"/>
            <a:ext cx="41724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Exercise:</a:t>
            </a:r>
          </a:p>
          <a:p>
            <a:r>
              <a:rPr lang="en-US" sz="1600" dirty="0"/>
              <a:t>Inverse-elasticity rule when marginal cost is $0?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 Price at unit-elastic point on demand!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27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CD3B-EFDF-41BF-9EDC-558E0F75F4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Ok so we need to walk </a:t>
            </a:r>
            <a:r>
              <a:rPr lang="en-US" dirty="0" err="1"/>
              <a:t>ChatGPT</a:t>
            </a:r>
            <a:r>
              <a:rPr lang="en-US" dirty="0"/>
              <a:t> through the micro</a:t>
            </a:r>
          </a:p>
          <a:p>
            <a:endParaRPr lang="en-US" dirty="0"/>
          </a:p>
          <a:p>
            <a:r>
              <a:rPr lang="en-US" dirty="0"/>
              <a:t>1. help it figure out demand</a:t>
            </a:r>
          </a:p>
          <a:p>
            <a:endParaRPr lang="en-US" dirty="0"/>
          </a:p>
          <a:p>
            <a:r>
              <a:rPr lang="en-US" dirty="0"/>
              <a:t>2. set price using the “correct” demand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400" b="1" dirty="0"/>
              <a:t>Also see appendix for detailed R code to analyze </a:t>
            </a:r>
            <a:r>
              <a:rPr lang="en-US" sz="2400" b="1" dirty="0" err="1"/>
              <a:t>Ziprecruiter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C6063-8EDE-46C6-80F4-200AA410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27D27A-FC1B-4318-BB0C-4A2BDEBB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720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7504B3-A6AD-4AEB-9E5E-2E49CDADC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581" y="1779651"/>
            <a:ext cx="3638252" cy="56297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ECD7A-6FC4-4993-8C06-9810478C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7A874-6CF6-43DD-8AF2-E531A37828B3}"/>
              </a:ext>
            </a:extLst>
          </p:cNvPr>
          <p:cNvSpPr txBox="1"/>
          <p:nvPr/>
        </p:nvSpPr>
        <p:spPr>
          <a:xfrm>
            <a:off x="5568250" y="2292057"/>
            <a:ext cx="1225848" cy="27699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90" tIns="34290" rIns="34290" bIns="34290" numCol="1" spcCol="38100" rtlCol="0" anchor="t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rPr>
              <a:t>(my new prompt)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D88818-FA23-40B9-B221-D5077F82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A69C1B6-D658-4C10-9B41-1486EF30B13F}"/>
              </a:ext>
            </a:extLst>
          </p:cNvPr>
          <p:cNvSpPr txBox="1">
            <a:spLocks/>
          </p:cNvSpPr>
          <p:nvPr/>
        </p:nvSpPr>
        <p:spPr bwMode="auto">
          <a:xfrm>
            <a:off x="76200" y="6094046"/>
            <a:ext cx="8153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Do not lose much business even with 4-fold price increase!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1F1106-6525-401A-A483-6ED687A31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" y="1911097"/>
            <a:ext cx="5150906" cy="418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ECD7A-6FC4-4993-8C06-9810478C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7A874-6CF6-43DD-8AF2-E531A37828B3}"/>
              </a:ext>
            </a:extLst>
          </p:cNvPr>
          <p:cNvSpPr txBox="1"/>
          <p:nvPr/>
        </p:nvSpPr>
        <p:spPr>
          <a:xfrm>
            <a:off x="5568250" y="2292057"/>
            <a:ext cx="1225848" cy="27699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90" tIns="34290" rIns="34290" bIns="34290" numCol="1" spcCol="38100" rtlCol="0" anchor="t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rPr>
              <a:t>(my new prompt)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A6C2D8-5B07-4B85-AE63-7C54E1AA29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97"/>
          <a:stretch/>
        </p:blipFill>
        <p:spPr>
          <a:xfrm>
            <a:off x="192025" y="1911096"/>
            <a:ext cx="4760976" cy="42611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AF6552-435D-4818-93E1-AA0AB3DA4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581" y="1779651"/>
            <a:ext cx="3558189" cy="5417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3D88818-FA23-40B9-B221-D5077F82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6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ECD7A-6FC4-4993-8C06-9810478C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7A874-6CF6-43DD-8AF2-E531A37828B3}"/>
              </a:ext>
            </a:extLst>
          </p:cNvPr>
          <p:cNvSpPr txBox="1"/>
          <p:nvPr/>
        </p:nvSpPr>
        <p:spPr>
          <a:xfrm>
            <a:off x="5568250" y="2292057"/>
            <a:ext cx="1225848" cy="27699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90" tIns="34290" rIns="34290" bIns="34290" numCol="1" spcCol="38100" rtlCol="0" anchor="t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rPr>
              <a:t>(my new prompt)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A1AAB9-EEF3-4202-A292-AD8952892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1911096"/>
            <a:ext cx="4382872" cy="4870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593D87-E7BD-4007-B26E-2C7A247C02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180"/>
          <a:stretch/>
        </p:blipFill>
        <p:spPr>
          <a:xfrm>
            <a:off x="5605924" y="1779651"/>
            <a:ext cx="3450707" cy="5417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7758826-E4F4-4033-8523-F696A8D49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0241BD-AB72-4CF3-8644-60547AB8C78C}"/>
              </a:ext>
            </a:extLst>
          </p:cNvPr>
          <p:cNvSpPr txBox="1"/>
          <p:nvPr/>
        </p:nvSpPr>
        <p:spPr>
          <a:xfrm>
            <a:off x="4876800" y="3498628"/>
            <a:ext cx="4075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Using elasticity analysis from before, can again see unitary point is at much higher price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3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ECD7A-6FC4-4993-8C06-9810478C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7A874-6CF6-43DD-8AF2-E531A37828B3}"/>
              </a:ext>
            </a:extLst>
          </p:cNvPr>
          <p:cNvSpPr txBox="1"/>
          <p:nvPr/>
        </p:nvSpPr>
        <p:spPr>
          <a:xfrm>
            <a:off x="5568250" y="2292057"/>
            <a:ext cx="1225848" cy="27699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90" tIns="34290" rIns="34290" bIns="34290" numCol="1" spcCol="38100" rtlCol="0" anchor="t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rPr>
              <a:t>(my new prompt)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96FCF9-D45E-427F-A1A5-97EB7DF67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1911096"/>
            <a:ext cx="3966380" cy="48707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086B52-7D53-453D-ABE5-6C6888193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898" y="1779651"/>
            <a:ext cx="2922236" cy="54178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8BA1CBE-9BE9-40A9-A26B-65869DD8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03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ECD7A-6FC4-4993-8C06-9810478C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7A874-6CF6-43DD-8AF2-E531A37828B3}"/>
              </a:ext>
            </a:extLst>
          </p:cNvPr>
          <p:cNvSpPr txBox="1"/>
          <p:nvPr/>
        </p:nvSpPr>
        <p:spPr>
          <a:xfrm>
            <a:off x="5568250" y="2292057"/>
            <a:ext cx="1225848" cy="27699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90" tIns="34290" rIns="34290" bIns="34290" numCol="1" spcCol="38100" rtlCol="0" anchor="t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rPr>
              <a:t>(my new prompt)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E05FB8-DA0E-4959-BE68-B0CA396ED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1911096"/>
            <a:ext cx="3941299" cy="47945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E9E02A-5EDB-4955-A99D-0C6A4D352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271" y="1779651"/>
            <a:ext cx="3203286" cy="541782"/>
          </a:xfrm>
          <a:prstGeom prst="rect">
            <a:avLst/>
          </a:prstGeom>
        </p:spPr>
      </p:pic>
      <p:sp>
        <p:nvSpPr>
          <p:cNvPr id="11" name="Explosion: 8 Points 10">
            <a:extLst>
              <a:ext uri="{FF2B5EF4-FFF2-40B4-BE49-F238E27FC236}">
                <a16:creationId xmlns:a16="http://schemas.microsoft.com/office/drawing/2014/main" id="{38053733-2FB0-4511-B4D7-58704EAAC07D}"/>
              </a:ext>
            </a:extLst>
          </p:cNvPr>
          <p:cNvSpPr/>
          <p:nvPr/>
        </p:nvSpPr>
        <p:spPr>
          <a:xfrm>
            <a:off x="3299730" y="2209800"/>
            <a:ext cx="6937395" cy="3810000"/>
          </a:xfrm>
          <a:prstGeom prst="irregularSeal1">
            <a:avLst/>
          </a:prstGeom>
          <a:solidFill>
            <a:srgbClr val="CC3300"/>
          </a:solidFill>
          <a:ln w="50800" cap="flat">
            <a:solidFill>
              <a:schemeClr val="accent1"/>
            </a:solidFill>
            <a:prstDash val="solid"/>
            <a:round/>
          </a:ln>
          <a:effectLst>
            <a:outerShdw blurRad="76200" dist="38100" rotWithShape="0">
              <a:srgbClr val="000000">
                <a:alpha val="4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ctr">
            <a:spAutoFit/>
          </a:bodyPr>
          <a:lstStyle/>
          <a:p>
            <a:pPr defTabSz="342900" fontAlgn="auto" hangingPunct="0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srgbClr val="000000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FCFDE2-6CBE-4715-899D-F56E331C1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006" y="3637983"/>
            <a:ext cx="4092183" cy="7429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81D400C-D2C7-4976-861D-47E74DD89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hlinkClick r:id="" action="ppaction://noaction"/>
            <a:extLst>
              <a:ext uri="{FF2B5EF4-FFF2-40B4-BE49-F238E27FC236}">
                <a16:creationId xmlns:a16="http://schemas.microsoft.com/office/drawing/2014/main" id="{BFB10445-C2D1-4F62-AC43-E5A6B36D5380}"/>
              </a:ext>
            </a:extLst>
          </p:cNvPr>
          <p:cNvSpPr txBox="1"/>
          <p:nvPr/>
        </p:nvSpPr>
        <p:spPr>
          <a:xfrm>
            <a:off x="4247819" y="6054403"/>
            <a:ext cx="4704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Wanna</a:t>
            </a:r>
            <a:r>
              <a:rPr lang="en-US" sz="1400" dirty="0"/>
              <a:t> know how it found that price? See R code in Appendix for optimization</a:t>
            </a:r>
          </a:p>
        </p:txBody>
      </p:sp>
    </p:spTree>
    <p:extLst>
      <p:ext uri="{BB962C8B-B14F-4D97-AF65-F5344CB8AC3E}">
        <p14:creationId xmlns:p14="http://schemas.microsoft.com/office/powerpoint/2010/main" val="74934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D456A7-355F-42DB-BA1C-F2ECD1B4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8DDB35A-45BF-4C6F-99A1-7C4185CFE79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812AAA-AF96-45E1-971E-BCE83C511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00"/>
            <a:ext cx="3950017" cy="4794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62854C-23D1-405E-8D1F-76C98AE7B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873" y="1779651"/>
            <a:ext cx="3386138" cy="54178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1F989C4-0B32-4D41-92BC-77016F5B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Ask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for help…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60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18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45336"/>
            <a:ext cx="7411056" cy="4495800"/>
          </a:xfrm>
        </p:spPr>
      </p:pic>
      <p:sp>
        <p:nvSpPr>
          <p:cNvPr id="20" name="TextBox 19"/>
          <p:cNvSpPr txBox="1"/>
          <p:nvPr/>
        </p:nvSpPr>
        <p:spPr>
          <a:xfrm>
            <a:off x="7796999" y="1786438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N=7,867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F946FD-76DC-4686-9826-AD77F9756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The </a:t>
            </a:r>
            <a:r>
              <a:rPr lang="en-US" sz="4400" dirty="0" err="1"/>
              <a:t>Ziprecruiter</a:t>
            </a:r>
            <a:r>
              <a:rPr lang="en-US" sz="4400" dirty="0"/>
              <a:t> Price Experiment</a:t>
            </a:r>
            <a:br>
              <a:rPr lang="en-US" sz="4400" dirty="0"/>
            </a:br>
            <a:r>
              <a:rPr lang="en-US" sz="3600" dirty="0" err="1">
                <a:solidFill>
                  <a:srgbClr val="00B0F0"/>
                </a:solidFill>
              </a:rPr>
              <a:t>Ziprecruiter’s</a:t>
            </a:r>
            <a:r>
              <a:rPr lang="en-US" sz="3600" dirty="0">
                <a:solidFill>
                  <a:srgbClr val="00B0F0"/>
                </a:solidFill>
              </a:rPr>
              <a:t> implementation: </a:t>
            </a:r>
            <a:r>
              <a:rPr lang="en-US" sz="3600" dirty="0"/>
              <a:t>only use test grid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A0EBE-ECA5-419F-99A6-039A3FC45F17}"/>
              </a:ext>
            </a:extLst>
          </p:cNvPr>
          <p:cNvSpPr txBox="1"/>
          <p:nvPr/>
        </p:nvSpPr>
        <p:spPr>
          <a:xfrm>
            <a:off x="228600" y="6477000"/>
            <a:ext cx="19672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Dubé and Misra (2023)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46762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796999" y="1786438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N=7,867</a:t>
            </a:r>
          </a:p>
        </p:txBody>
      </p:sp>
      <p:pic>
        <p:nvPicPr>
          <p:cNvPr id="10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1545336"/>
            <a:ext cx="7411056" cy="4495800"/>
          </a:xfrm>
        </p:spPr>
      </p:pic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457200" y="5976300"/>
            <a:ext cx="8153400" cy="5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Optimal price on grid increases profits by over 60%!!!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477000"/>
            <a:ext cx="19672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Dubé and Misra (2023)</a:t>
            </a:r>
            <a:endParaRPr lang="en-US" sz="11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C3B880-29D7-4804-9678-64A64751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The </a:t>
            </a:r>
            <a:r>
              <a:rPr lang="en-US" sz="4400" dirty="0" err="1"/>
              <a:t>Ziprecruiter</a:t>
            </a:r>
            <a:r>
              <a:rPr lang="en-US" sz="4400" dirty="0"/>
              <a:t> Price Experiment</a:t>
            </a:r>
            <a:br>
              <a:rPr lang="en-US" sz="4400" dirty="0"/>
            </a:br>
            <a:r>
              <a:rPr lang="en-US" sz="3600" dirty="0" err="1">
                <a:solidFill>
                  <a:srgbClr val="00B0F0"/>
                </a:solidFill>
              </a:rPr>
              <a:t>Ziprecruiter’s</a:t>
            </a:r>
            <a:r>
              <a:rPr lang="en-US" sz="3600" dirty="0">
                <a:solidFill>
                  <a:srgbClr val="00B0F0"/>
                </a:solidFill>
              </a:rPr>
              <a:t> implementation: </a:t>
            </a:r>
            <a:r>
              <a:rPr lang="en-US" sz="3600" dirty="0"/>
              <a:t>only use test grid</a:t>
            </a:r>
          </a:p>
        </p:txBody>
      </p:sp>
    </p:spTree>
    <p:extLst>
      <p:ext uri="{BB962C8B-B14F-4D97-AF65-F5344CB8AC3E}">
        <p14:creationId xmlns:p14="http://schemas.microsoft.com/office/powerpoint/2010/main" val="352251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752" y="1545336"/>
            <a:ext cx="7411056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7796999" y="2496374"/>
            <a:ext cx="13470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Zip ↑ price to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$249 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days after experiment</a:t>
            </a:r>
          </a:p>
        </p:txBody>
      </p:sp>
      <p:sp>
        <p:nvSpPr>
          <p:cNvPr id="38" name="Content Placeholder 2"/>
          <p:cNvSpPr txBox="1">
            <a:spLocks/>
          </p:cNvSpPr>
          <p:nvPr/>
        </p:nvSpPr>
        <p:spPr bwMode="auto">
          <a:xfrm>
            <a:off x="457200" y="5976300"/>
            <a:ext cx="8153400" cy="5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Even with model &amp; data, need to use judgment to </a:t>
            </a:r>
            <a:r>
              <a:rPr lang="en-US" dirty="0">
                <a:solidFill>
                  <a:srgbClr val="00B0F0"/>
                </a:solidFill>
              </a:rPr>
              <a:t>implement</a:t>
            </a:r>
            <a:r>
              <a:rPr lang="en-US" dirty="0"/>
              <a:t> a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6999" y="1786438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N=7,867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77000"/>
            <a:ext cx="19672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Dubé and Misra (2023)</a:t>
            </a:r>
            <a:endParaRPr lang="en-US" sz="1100" dirty="0"/>
          </a:p>
        </p:txBody>
      </p:sp>
      <p:sp>
        <p:nvSpPr>
          <p:cNvPr id="2" name="Left Brace 1"/>
          <p:cNvSpPr/>
          <p:nvPr/>
        </p:nvSpPr>
        <p:spPr>
          <a:xfrm>
            <a:off x="1752600" y="2438400"/>
            <a:ext cx="228600" cy="13716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981200" y="2438400"/>
            <a:ext cx="2667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1981200" y="3810000"/>
            <a:ext cx="6096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2400" y="2837077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GROWTH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7968877-8BBE-47C5-B374-CA946B88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The </a:t>
            </a:r>
            <a:r>
              <a:rPr lang="en-US" sz="4400" dirty="0" err="1"/>
              <a:t>Ziprecruiter</a:t>
            </a:r>
            <a:r>
              <a:rPr lang="en-US" sz="4400" dirty="0"/>
              <a:t> Price Experiment</a:t>
            </a:r>
            <a:br>
              <a:rPr lang="en-US" sz="4400" dirty="0"/>
            </a:br>
            <a:r>
              <a:rPr lang="en-US" sz="3600" dirty="0" err="1">
                <a:solidFill>
                  <a:srgbClr val="00B0F0"/>
                </a:solidFill>
              </a:rPr>
              <a:t>Ziprecruiter’s</a:t>
            </a:r>
            <a:r>
              <a:rPr lang="en-US" sz="3600" dirty="0">
                <a:solidFill>
                  <a:srgbClr val="00B0F0"/>
                </a:solidFill>
              </a:rPr>
              <a:t> implementation: </a:t>
            </a:r>
            <a:r>
              <a:rPr lang="en-US" sz="3600" dirty="0"/>
              <a:t>only use test grid</a:t>
            </a:r>
          </a:p>
        </p:txBody>
      </p:sp>
    </p:spTree>
    <p:extLst>
      <p:ext uri="{BB962C8B-B14F-4D97-AF65-F5344CB8AC3E}">
        <p14:creationId xmlns:p14="http://schemas.microsoft.com/office/powerpoint/2010/main" val="100124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" grpId="0" animBg="1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ow Me the Money!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2046632"/>
            <a:ext cx="6233401" cy="227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78346" y="4899705"/>
            <a:ext cx="6632137" cy="941283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90" tIns="34290" rIns="34290" bIns="34290" numCol="1" spcCol="38100" rtlCol="0" anchor="t">
            <a:spAutoFit/>
          </a:bodyPr>
          <a:lstStyle/>
          <a:p>
            <a:pPr defTabSz="342900" fontAlgn="auto">
              <a:spcBef>
                <a:spcPts val="450"/>
              </a:spcBef>
              <a:spcAft>
                <a:spcPts val="450"/>
              </a:spcAft>
            </a:pP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Optimization</a:t>
            </a:r>
            <a:r>
              <a:rPr lang="en-US" sz="2000" dirty="0">
                <a:solidFill>
                  <a:srgbClr val="000000"/>
                </a:solidFill>
                <a:sym typeface="Arial"/>
              </a:rPr>
              <a:t> increased monthly profits by 65%</a:t>
            </a:r>
          </a:p>
          <a:p>
            <a:pPr defTabSz="342900" fontAlgn="auto">
              <a:spcBef>
                <a:spcPts val="450"/>
              </a:spcBef>
              <a:spcAft>
                <a:spcPts val="450"/>
              </a:spcAft>
            </a:pPr>
            <a:r>
              <a:rPr lang="en-US" sz="2000" dirty="0"/>
              <a:t>Approximately $70 million in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incremental</a:t>
            </a:r>
            <a:r>
              <a:rPr lang="en-US" sz="2000" dirty="0"/>
              <a:t> profits over 5 years!</a:t>
            </a:r>
            <a:endParaRPr lang="en-US" sz="2000" dirty="0">
              <a:solidFill>
                <a:srgbClr val="000000"/>
              </a:solidFill>
              <a:sym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19987">
            <a:off x="7567467" y="2773717"/>
            <a:ext cx="921672" cy="2218444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The </a:t>
            </a:r>
            <a:r>
              <a:rPr lang="en-US" sz="4400" dirty="0" err="1"/>
              <a:t>Ziprecruiter</a:t>
            </a:r>
            <a:r>
              <a:rPr lang="en-US" sz="4400" dirty="0"/>
              <a:t> Price Experiment</a:t>
            </a:r>
            <a:br>
              <a:rPr lang="en-US" sz="4400" dirty="0"/>
            </a:br>
            <a:r>
              <a:rPr lang="en-US" sz="3600" dirty="0">
                <a:solidFill>
                  <a:srgbClr val="00B0F0"/>
                </a:solidFill>
              </a:rPr>
              <a:t>Evaluation</a:t>
            </a:r>
            <a:endParaRPr lang="en-US" sz="3600" dirty="0"/>
          </a:p>
        </p:txBody>
      </p:sp>
      <p:sp>
        <p:nvSpPr>
          <p:cNvPr id="2" name="Right Arrow 1"/>
          <p:cNvSpPr/>
          <p:nvPr/>
        </p:nvSpPr>
        <p:spPr>
          <a:xfrm>
            <a:off x="270344" y="5370346"/>
            <a:ext cx="342304" cy="4850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0220D4B-3D6A-47BC-B3B1-ED0B4CB9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533400" cy="244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24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2057400"/>
            <a:ext cx="8153400" cy="4191000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endParaRPr lang="en-US" sz="2363" dirty="0"/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800" dirty="0"/>
              <a:t>Oops … </a:t>
            </a:r>
          </a:p>
          <a:p>
            <a:pPr marL="0" indent="0"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800" dirty="0" err="1"/>
              <a:t>under-pricing</a:t>
            </a:r>
            <a:r>
              <a:rPr lang="en-US" sz="2800" dirty="0"/>
              <a:t> by over 60% (leaving a lot of money on the table)</a:t>
            </a:r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en-US" sz="2100" dirty="0"/>
              <a:t>Insight used basic prompt-based </a:t>
            </a:r>
            <a:r>
              <a:rPr lang="en-US" sz="2100" b="1" i="1" dirty="0">
                <a:solidFill>
                  <a:srgbClr val="FF0000"/>
                </a:solidFill>
              </a:rPr>
              <a:t>Generative AI</a:t>
            </a:r>
            <a:endParaRPr lang="en-US" sz="2100" dirty="0"/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en-US" sz="2100" b="1" i="1" dirty="0">
                <a:solidFill>
                  <a:srgbClr val="FF0000"/>
                </a:solidFill>
              </a:rPr>
              <a:t>AI</a:t>
            </a:r>
            <a:r>
              <a:rPr lang="en-US" sz="2100" dirty="0"/>
              <a:t> obviated need to write computer code!!!! (this is a BIG value add)</a:t>
            </a:r>
          </a:p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600" dirty="0"/>
              <a:t>But </a:t>
            </a:r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en-US" sz="2100" dirty="0"/>
              <a:t>required simple experiment to get the</a:t>
            </a:r>
            <a:r>
              <a:rPr 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right data</a:t>
            </a:r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en-US" sz="2100" dirty="0"/>
              <a:t>required </a:t>
            </a:r>
            <a:r>
              <a:rPr lang="en-US" sz="2100" b="1" u="sng" dirty="0"/>
              <a:t>trained manager</a:t>
            </a:r>
            <a:r>
              <a:rPr lang="en-US" sz="2100" dirty="0"/>
              <a:t> to guide </a:t>
            </a:r>
            <a:r>
              <a:rPr lang="en-US" sz="2100" dirty="0" err="1"/>
              <a:t>ChatGPT</a:t>
            </a:r>
            <a:r>
              <a:rPr lang="en-US" sz="2100" dirty="0"/>
              <a:t> through the microeconomic modeling of demand</a:t>
            </a:r>
            <a:endParaRPr lang="en-US" sz="1913" dirty="0"/>
          </a:p>
        </p:txBody>
      </p:sp>
      <p:sp>
        <p:nvSpPr>
          <p:cNvPr id="5" name="Slide Number Placeholder 22"/>
          <p:cNvSpPr txBox="1">
            <a:spLocks/>
          </p:cNvSpPr>
          <p:nvPr/>
        </p:nvSpPr>
        <p:spPr>
          <a:xfrm>
            <a:off x="1143000" y="1810942"/>
            <a:ext cx="400050" cy="183356"/>
          </a:xfrm>
          <a:prstGeom prst="rect">
            <a:avLst/>
          </a:prstGeom>
        </p:spPr>
        <p:txBody>
          <a:bodyPr vert="horz" anchor="ctr" anchorCtr="0">
            <a:normAutofit fontScale="70000" lnSpcReduction="20000"/>
          </a:bodyPr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050" dirty="0"/>
              <a:t>12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51822" y="5457825"/>
            <a:ext cx="1600200" cy="276225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fld id="{5B184A58-70F9-4372-8361-D0A248C9554D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CB2564-F3ED-4BCB-9AD2-D06B72CCD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Ziprecruiter</a:t>
            </a:r>
            <a:r>
              <a:rPr lang="en-US" dirty="0"/>
              <a:t> Price Experiment</a:t>
            </a:r>
            <a:br>
              <a:rPr lang="en-US" dirty="0"/>
            </a:br>
            <a:r>
              <a:rPr lang="en-US" sz="3600" dirty="0">
                <a:solidFill>
                  <a:srgbClr val="00B0F0"/>
                </a:solidFill>
              </a:rPr>
              <a:t>Conclusions using </a:t>
            </a:r>
            <a:r>
              <a:rPr lang="en-US" sz="3600" dirty="0" err="1">
                <a:solidFill>
                  <a:srgbClr val="00B0F0"/>
                </a:solidFill>
              </a:rPr>
              <a:t>ChatGPT</a:t>
            </a:r>
            <a:r>
              <a:rPr lang="en-US" sz="3600" dirty="0">
                <a:solidFill>
                  <a:srgbClr val="00B0F0"/>
                </a:solidFill>
              </a:rPr>
              <a:t>- 4o as the Analyst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22A4085-ECD9-474C-A7F4-FFE0B38BE562}"/>
              </a:ext>
            </a:extLst>
          </p:cNvPr>
          <p:cNvSpPr txBox="1">
            <a:spLocks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 fontScale="85000" lnSpcReduction="20000"/>
          </a:bodyPr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rgbClr val="FFFFFF"/>
                </a:solidFill>
                <a:latin typeface="Times New Roman" pitchFamily="18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2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153400" cy="495300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dirty="0"/>
              <a:t>Using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 Elasticity of Demand</a:t>
            </a:r>
            <a:r>
              <a:rPr lang="en-US" dirty="0"/>
              <a:t> for Pricing:</a:t>
            </a:r>
          </a:p>
          <a:p>
            <a:pPr lvl="1">
              <a:spcAft>
                <a:spcPts val="1200"/>
              </a:spcAft>
              <a:defRPr/>
            </a:pPr>
            <a:r>
              <a:rPr lang="en-US" dirty="0"/>
              <a:t>Typically want to price on elastic region of demand</a:t>
            </a:r>
          </a:p>
          <a:p>
            <a:pPr lvl="1">
              <a:spcAft>
                <a:spcPts val="1200"/>
              </a:spcAft>
              <a:defRPr/>
            </a:pPr>
            <a:r>
              <a:rPr lang="en-US" dirty="0"/>
              <a:t>Optimal pricing via 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inverse-elasticity rule</a:t>
            </a:r>
          </a:p>
          <a:p>
            <a:pPr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dirty="0"/>
              <a:t>Elasticity measurement via randomized controlled A/B/C experiment</a:t>
            </a:r>
          </a:p>
          <a:p>
            <a:pPr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r>
              <a:rPr lang="en-US" dirty="0"/>
              <a:t> useful for avoiding computer coding , but requires expert (manager) guidance</a:t>
            </a:r>
          </a:p>
          <a:p>
            <a:pPr marL="0" indent="0">
              <a:spcBef>
                <a:spcPts val="1800"/>
              </a:spcBef>
              <a:spcAft>
                <a:spcPts val="1200"/>
              </a:spcAft>
              <a:buNone/>
              <a:defRPr/>
            </a:pPr>
            <a:endParaRPr lang="en-US" sz="2000" b="1" dirty="0"/>
          </a:p>
          <a:p>
            <a:pPr marL="0" indent="0">
              <a:spcBef>
                <a:spcPts val="1800"/>
              </a:spcBef>
              <a:spcAft>
                <a:spcPts val="1200"/>
              </a:spcAft>
              <a:buNone/>
              <a:defRPr/>
            </a:pPr>
            <a:endParaRPr lang="en-US" sz="2000" b="1" dirty="0"/>
          </a:p>
          <a:p>
            <a:pPr marL="0" indent="0">
              <a:spcBef>
                <a:spcPts val="1800"/>
              </a:spcBef>
              <a:spcAft>
                <a:spcPts val="1200"/>
              </a:spcAft>
              <a:buNone/>
              <a:defRPr/>
            </a:pPr>
            <a:r>
              <a:rPr lang="en-US" sz="2000" b="1" dirty="0"/>
              <a:t>See Appendix for detailed R code to analyze </a:t>
            </a:r>
            <a:r>
              <a:rPr lang="en-US" sz="2000" b="1" dirty="0" err="1"/>
              <a:t>Ziprecruiter</a:t>
            </a:r>
            <a:endParaRPr lang="en-US" sz="20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Extra: Empirical Estimates of Price Elasticities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4AE18C-7A4F-48A9-A499-DB9CC8996FD1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311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Interpretation &amp; Generalizations</a:t>
            </a:r>
            <a:br>
              <a:rPr lang="en-US" sz="4400" dirty="0"/>
            </a:br>
            <a:r>
              <a:rPr lang="en-US" sz="3600" dirty="0"/>
              <a:t>How do you know if your estimate is right?</a:t>
            </a:r>
            <a:endParaRPr lang="en-US" dirty="0"/>
          </a:p>
        </p:txBody>
      </p:sp>
      <p:sp>
        <p:nvSpPr>
          <p:cNvPr id="43015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sz="2400" dirty="0">
                <a:latin typeface="+mj-lt"/>
              </a:rPr>
              <a:t>Presence of closer </a:t>
            </a:r>
            <a:r>
              <a:rPr lang="en-US" sz="2400" b="1" dirty="0">
                <a:latin typeface="+mj-lt"/>
              </a:rPr>
              <a:t>substitutes</a:t>
            </a:r>
            <a:r>
              <a:rPr lang="en-US" sz="2400" dirty="0">
                <a:latin typeface="+mj-lt"/>
              </a:rPr>
              <a:t> implies higher elasticity</a:t>
            </a: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dirty="0">
                <a:latin typeface="+mj-lt"/>
              </a:rPr>
              <a:t>Examples:</a:t>
            </a:r>
          </a:p>
          <a:p>
            <a:pPr lvl="1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defRPr/>
            </a:pPr>
            <a:r>
              <a:rPr lang="en-US" i="1" dirty="0">
                <a:latin typeface="+mj-lt"/>
              </a:rPr>
              <a:t>Insulin</a:t>
            </a:r>
            <a:r>
              <a:rPr lang="en-US" dirty="0">
                <a:latin typeface="+mj-lt"/>
              </a:rPr>
              <a:t>: canonical example of (totally?) inelastic demand</a:t>
            </a:r>
          </a:p>
          <a:p>
            <a:pPr marL="366713" lvl="1" indent="0">
              <a:lnSpc>
                <a:spcPct val="80000"/>
              </a:lnSpc>
              <a:spcBef>
                <a:spcPts val="0"/>
              </a:spcBef>
              <a:spcAft>
                <a:spcPts val="2400"/>
              </a:spcAft>
              <a:buNone/>
              <a:defRPr/>
            </a:pPr>
            <a:r>
              <a:rPr lang="en-US" dirty="0">
                <a:latin typeface="+mj-lt"/>
              </a:rPr>
              <a:t>	</a:t>
            </a:r>
          </a:p>
          <a:p>
            <a:pPr lvl="1">
              <a:lnSpc>
                <a:spcPct val="80000"/>
              </a:lnSpc>
              <a:spcBef>
                <a:spcPts val="2400"/>
              </a:spcBef>
              <a:spcAft>
                <a:spcPts val="2400"/>
              </a:spcAft>
              <a:defRPr/>
            </a:pPr>
            <a:r>
              <a:rPr lang="en-US" i="1" dirty="0"/>
              <a:t>Wheat</a:t>
            </a:r>
            <a:r>
              <a:rPr lang="en-US" dirty="0"/>
              <a:t>: canonical example of (perfectly) elastic demand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8093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 for Good</a:t>
            </a:r>
            <a:r>
              <a:rPr lang="en-US" dirty="0"/>
              <a:t>: can price be too high?</a:t>
            </a:r>
            <a:br>
              <a:rPr lang="en-US" dirty="0"/>
            </a:br>
            <a:r>
              <a:rPr lang="en-US" sz="3600" dirty="0"/>
              <a:t>Even Insulin exhibits price elasticity!!!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3657600"/>
            <a:ext cx="8153400" cy="243840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No generic versions</a:t>
            </a:r>
          </a:p>
          <a:p>
            <a:r>
              <a:rPr lang="en-US" dirty="0"/>
              <a:t>Between 2002 and 2013, price jumped from $40 to $130</a:t>
            </a:r>
          </a:p>
          <a:p>
            <a:r>
              <a:rPr lang="en-US" dirty="0"/>
              <a:t>Survey found many (especially those ineligible for Medicaid and unable to afford good insurance) report under-using insulin and rationing.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" y="1676400"/>
            <a:ext cx="85344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Patients at Risk From Rising Insulin Prices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Yale study found that one in four patients admitted to cutting back on insulin use because of cost. The consequences can be deadly.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6-22-2018,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York Times</a:t>
            </a:r>
          </a:p>
        </p:txBody>
      </p:sp>
    </p:spTree>
    <p:extLst>
      <p:ext uri="{BB962C8B-B14F-4D97-AF65-F5344CB8AC3E}">
        <p14:creationId xmlns:p14="http://schemas.microsoft.com/office/powerpoint/2010/main" val="33081693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Interpretation &amp; Generalizations</a:t>
            </a:r>
            <a:br>
              <a:rPr lang="en-US" sz="4400" dirty="0"/>
            </a:br>
            <a:r>
              <a:rPr lang="en-US" sz="3600" dirty="0"/>
              <a:t>How do you know if your estimate is right?</a:t>
            </a:r>
            <a:endParaRPr lang="en-US" dirty="0"/>
          </a:p>
        </p:txBody>
      </p:sp>
      <p:sp>
        <p:nvSpPr>
          <p:cNvPr id="43015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ts val="1200"/>
              </a:spcBef>
              <a:buFont typeface="Monotype Sorts" pitchFamily="2" charset="2"/>
              <a:buChar char="n"/>
              <a:defRPr/>
            </a:pPr>
            <a:r>
              <a:rPr lang="en-US" sz="2400" dirty="0">
                <a:latin typeface="+mj-lt"/>
              </a:rPr>
              <a:t>Average Elasticity for CPG (1,851 elasticities from 81 studies):</a:t>
            </a:r>
          </a:p>
          <a:p>
            <a:pPr lvl="1">
              <a:lnSpc>
                <a:spcPct val="80000"/>
              </a:lnSpc>
              <a:spcAft>
                <a:spcPts val="1200"/>
              </a:spcAft>
              <a:defRPr/>
            </a:pPr>
            <a:r>
              <a:rPr lang="en-US" sz="2400" dirty="0">
                <a:latin typeface="+mj-lt"/>
              </a:rPr>
              <a:t> -2.62 </a:t>
            </a:r>
            <a:r>
              <a:rPr lang="en-US" sz="2400" dirty="0">
                <a:latin typeface="+mj-lt"/>
                <a:hlinkClick r:id="rId2"/>
              </a:rPr>
              <a:t>(</a:t>
            </a:r>
            <a:r>
              <a:rPr lang="en-US" sz="1800" dirty="0">
                <a:latin typeface="+mj-lt"/>
                <a:hlinkClick r:id="rId2"/>
              </a:rPr>
              <a:t>Hanssens 2015</a:t>
            </a:r>
            <a:r>
              <a:rPr lang="en-US" sz="2400" dirty="0">
                <a:latin typeface="+mj-lt"/>
                <a:hlinkClick r:id="rId2"/>
              </a:rPr>
              <a:t>)</a:t>
            </a:r>
            <a:endParaRPr lang="en-US" sz="2400" dirty="0">
              <a:latin typeface="+mj-lt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sz="2400" dirty="0">
                <a:latin typeface="+mj-lt"/>
              </a:rPr>
              <a:t>Small market share consumer brands often observed to be more price sensitive than large market share brands.</a:t>
            </a: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dirty="0"/>
              <a:t>We also saw how pricing theory can provide a lower bound on plausible elasticities if prices </a:t>
            </a:r>
            <a:r>
              <a:rPr lang="en-US"/>
              <a:t>are </a:t>
            </a:r>
            <a:r>
              <a:rPr lang="en-US" b="1"/>
              <a:t>optimized</a:t>
            </a:r>
            <a:endParaRPr lang="en-US" sz="2400" dirty="0">
              <a:latin typeface="+mj-lt"/>
            </a:endParaRPr>
          </a:p>
          <a:p>
            <a:pPr lvl="1">
              <a:lnSpc>
                <a:spcPct val="80000"/>
              </a:lnSpc>
              <a:defRPr/>
            </a:pPr>
            <a:endParaRPr lang="en-US" sz="2400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7181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Elasticities and Margin Arithmetic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4AE18C-7A4F-48A9-A499-DB9CC8996FD1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pic>
        <p:nvPicPr>
          <p:cNvPr id="1028" name="Picture 4" descr="Focus on gross margins for profitabil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40024"/>
            <a:ext cx="6629400" cy="407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7645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244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In practice, most firms do </a:t>
            </a:r>
            <a:r>
              <a:rPr lang="en-US" sz="2000" u="sng" dirty="0"/>
              <a:t>not</a:t>
            </a:r>
            <a:r>
              <a:rPr lang="en-US" sz="2000" dirty="0"/>
              <a:t> know their demand.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Break-even analysis generates useful margin arithmetic as a surrogate</a:t>
            </a:r>
          </a:p>
          <a:p>
            <a:pPr marL="320675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/>
              <a:t>You can transform a uninformed debate about whether to implement a tactical price cut (e.g., -5%) and re-focus it on price-sensitivity of demand.</a:t>
            </a:r>
          </a:p>
          <a:p>
            <a:endParaRPr lang="en-US" sz="2000" dirty="0"/>
          </a:p>
          <a:p>
            <a:r>
              <a:rPr lang="en-US" sz="2000" dirty="0"/>
              <a:t>OK, you probably don’t know the elasticity, but…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debate is now more focused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/>
              <a:t>You might have a sensible </a:t>
            </a:r>
            <a:r>
              <a:rPr lang="en-US" sz="2000" i="1" dirty="0"/>
              <a:t>gut instinct</a:t>
            </a:r>
            <a:r>
              <a:rPr lang="en-US" sz="2000" dirty="0"/>
              <a:t> about price-sensitivity (e.g., you might know that your product is at least a bit differentiated)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Let’s take a look at the margin arithmetic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381000" y="2895600"/>
            <a:ext cx="6096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370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cutting and price elasticity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378952" cy="480060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u="sng" dirty="0"/>
                  <a:t>Proposed price cut</a:t>
                </a:r>
                <a:r>
                  <a:rPr lang="en-US" dirty="0"/>
                  <a:t>: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u="sng" dirty="0"/>
                  <a:t>Minimum percent quantity increase to </a:t>
                </a:r>
                <a:r>
                  <a:rPr lang="en-US" b="1" u="sng" dirty="0"/>
                  <a:t>break even</a:t>
                </a:r>
                <a:r>
                  <a:rPr lang="en-US" dirty="0"/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ΔQ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366713" lvl="1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              </m:t>
                      </m:r>
                    </m:oMath>
                  </m:oMathPara>
                </a14:m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en-US" u="sng" dirty="0"/>
                  <a:t>Example: Suppose firm currently has a 10% margin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</m:oMath>
                  </m:oMathPara>
                </a14:m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en-US" u="sng" dirty="0"/>
                  <a:t>So break-even demand change is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−0.05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0.95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  <m:r>
                        <m:rPr>
                          <m:nor/>
                        </m:rPr>
                        <a:rPr lang="en-US" dirty="0"/>
                        <m:t>=</m:t>
                      </m:r>
                      <m:r>
                        <m:rPr>
                          <m:nor/>
                        </m:rPr>
                        <a:rPr lang="en-US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m:t>100%</m:t>
                      </m:r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378952" cy="4800600"/>
              </a:xfrm>
              <a:blipFill>
                <a:blip r:embed="rId2"/>
                <a:stretch>
                  <a:fillRect l="-73" t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00400" y="1524000"/>
                <a:ext cx="2362200" cy="60896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×100=−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5%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1524000"/>
                <a:ext cx="2362200" cy="608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0154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Price cutting and price elasticity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76400"/>
            <a:ext cx="7772400" cy="4419600"/>
          </a:xfrm>
        </p:spPr>
        <p:txBody>
          <a:bodyPr/>
          <a:lstStyle/>
          <a:p>
            <a:pPr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sz="2400" dirty="0">
                <a:latin typeface="+mj-lt"/>
              </a:rPr>
              <a:t>Many turn to price cutting as a means of stimulating sales. Does this practice stimulate </a:t>
            </a:r>
            <a:r>
              <a:rPr lang="en-US" sz="2400" i="1" dirty="0">
                <a:latin typeface="+mj-lt"/>
              </a:rPr>
              <a:t>Profits?</a:t>
            </a:r>
          </a:p>
          <a:p>
            <a:pPr>
              <a:spcAft>
                <a:spcPts val="1200"/>
              </a:spcAft>
              <a:buFont typeface="Monotype Sorts" pitchFamily="2" charset="2"/>
              <a:buChar char="n"/>
              <a:defRPr/>
            </a:pPr>
            <a:r>
              <a:rPr lang="en-US" sz="2400" dirty="0">
                <a:latin typeface="+mj-lt"/>
              </a:rPr>
              <a:t>For low-margin products, it requires HUGE </a:t>
            </a:r>
            <a:r>
              <a:rPr lang="en-US" sz="2400" dirty="0" err="1">
                <a:latin typeface="+mj-lt"/>
              </a:rPr>
              <a:t>Elasticities</a:t>
            </a:r>
            <a:r>
              <a:rPr lang="en-US" sz="2400" dirty="0">
                <a:latin typeface="+mj-lt"/>
              </a:rPr>
              <a:t>!</a:t>
            </a:r>
            <a:endParaRPr lang="en-US" sz="2400" i="1" dirty="0">
              <a:latin typeface="+mj-lt"/>
            </a:endParaRPr>
          </a:p>
          <a:p>
            <a:pPr algn="ctr">
              <a:spcAft>
                <a:spcPts val="1200"/>
              </a:spcAft>
              <a:buFont typeface="Monotype Sorts" pitchFamily="2" charset="2"/>
              <a:buNone/>
              <a:defRPr/>
            </a:pPr>
            <a:r>
              <a:rPr lang="en-US" sz="2400" dirty="0">
                <a:latin typeface="+mj-lt"/>
              </a:rPr>
              <a:t>Suppose we cut price by 5%, how much does volume have to increase to leave </a:t>
            </a:r>
            <a:r>
              <a:rPr lang="en-US" sz="2400" i="1" dirty="0">
                <a:latin typeface="+mj-lt"/>
              </a:rPr>
              <a:t>profits unchanged </a:t>
            </a:r>
            <a:r>
              <a:rPr lang="en-US" sz="2400" dirty="0">
                <a:latin typeface="+mj-lt"/>
              </a:rPr>
              <a:t>(i.e., to break even)?</a:t>
            </a:r>
          </a:p>
          <a:p>
            <a:pPr>
              <a:buFont typeface="Monotype Sorts" pitchFamily="2" charset="2"/>
              <a:buChar char="n"/>
              <a:defRPr/>
            </a:pPr>
            <a:endParaRPr lang="en-US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822960" y="4267200"/>
          <a:ext cx="77724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Current Contribution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Volume Increase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 Elasticity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854799" y="3229298"/>
                <a:ext cx="3434402" cy="399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742950" marR="0" lvl="1" indent="-28575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€2600−€53</m:t>
                        </m:r>
                      </m:num>
                      <m:den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€2600</m:t>
                        </m:r>
                      </m:den>
                    </m:f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×100=98%</m:t>
                    </m:r>
                  </m:oMath>
                </a14:m>
                <a:r>
                  <a:rPr lang="en-US" sz="1200" dirty="0">
                    <a:effectLst/>
                    <a:latin typeface="Garamond" panose="020204040303010108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>
                    <a:effectLst/>
                    <a:latin typeface="Garamond" panose="020204040303010108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</a:t>
                </a:r>
                <a:r>
                  <a:rPr lang="en-US" sz="1200" dirty="0">
                    <a:effectLst/>
                    <a:latin typeface="Garamond" panose="02020404030301010803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=−1.02</m:t>
                    </m:r>
                  </m:oMath>
                </a14:m>
                <a:endParaRPr lang="en-US" sz="1200" dirty="0">
                  <a:effectLst/>
                  <a:latin typeface="Garamond" panose="020204040303010108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799" y="3229298"/>
                <a:ext cx="3434402" cy="399405"/>
              </a:xfrm>
              <a:prstGeom prst="rect">
                <a:avLst/>
              </a:prstGeom>
              <a:blipFill>
                <a:blip r:embed="rId3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60191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Luxury Goods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772400" cy="990600"/>
          </a:xfrm>
        </p:spPr>
        <p:txBody>
          <a:bodyPr/>
          <a:lstStyle/>
          <a:p>
            <a:r>
              <a:rPr lang="en-US" dirty="0"/>
              <a:t>Ethical Margins?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4AE18C-7A4F-48A9-A499-DB9CC8996FD1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213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inconvenient truth about high margins at Dior &amp; Armani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During a 2024 raid, Milan prosecutors discovered that:</a:t>
                </a:r>
              </a:p>
              <a:p>
                <a:pPr lvl="1"/>
                <a:r>
                  <a:rPr lang="en-US" sz="1800" dirty="0"/>
                  <a:t>Dior sells a handbag at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€</m:t>
                    </m:r>
                  </m:oMath>
                </a14:m>
                <a:r>
                  <a:rPr lang="en-US" sz="1800" dirty="0"/>
                  <a:t>2,600 for which it paid the supplier only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€</m:t>
                    </m:r>
                  </m:oMath>
                </a14:m>
                <a:r>
                  <a:rPr lang="en-US" sz="1800" dirty="0"/>
                  <a:t>53</a:t>
                </a:r>
              </a:p>
              <a:p>
                <a:pPr lvl="2"/>
                <a:r>
                  <a:rPr lang="en-US" sz="1800" dirty="0"/>
                  <a:t>This implies a contribution margin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€2600−€53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€2600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×100=98%</m:t>
                    </m:r>
                  </m:oMath>
                </a14:m>
                <a:r>
                  <a:rPr lang="en-US" sz="1800" dirty="0"/>
                  <a:t> </a:t>
                </a:r>
                <a:endParaRPr lang="en-US" sz="1800" dirty="0">
                  <a:sym typeface="Wingdings" panose="05000000000000000000" pitchFamily="2" charset="2"/>
                </a:endParaRPr>
              </a:p>
              <a:p>
                <a:pPr lvl="2"/>
                <a:r>
                  <a:rPr lang="en-US" sz="1800" dirty="0"/>
                  <a:t>If this is “optimal”, it implies an elasticity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=−1.02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1800" dirty="0"/>
                  <a:t>Armani sells a handbag at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€</m:t>
                    </m:r>
                  </m:oMath>
                </a14:m>
                <a:r>
                  <a:rPr lang="en-US" sz="1800" dirty="0"/>
                  <a:t>1,800 for which it paid the supplier only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€</m:t>
                    </m:r>
                  </m:oMath>
                </a14:m>
                <a:r>
                  <a:rPr lang="en-US" sz="1800" dirty="0"/>
                  <a:t>250</a:t>
                </a:r>
              </a:p>
              <a:p>
                <a:pPr lvl="2"/>
                <a:r>
                  <a:rPr lang="en-US" sz="1800" dirty="0"/>
                  <a:t>This implies a contribution margin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€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00−€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250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€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1800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×100=8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1800" dirty="0"/>
                  <a:t> </a:t>
                </a:r>
                <a:endParaRPr lang="en-US" sz="1800" dirty="0">
                  <a:sym typeface="Wingdings" panose="05000000000000000000" pitchFamily="2" charset="2"/>
                </a:endParaRPr>
              </a:p>
              <a:p>
                <a:pPr lvl="2"/>
                <a:r>
                  <a:rPr lang="en-US" sz="1800" dirty="0"/>
                  <a:t>If this is “optimal”, it implies an elasticity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=−1.16</m:t>
                    </m:r>
                  </m:oMath>
                </a14:m>
                <a:endParaRPr lang="en-US" sz="1800" dirty="0"/>
              </a:p>
              <a:p>
                <a:pPr lvl="2"/>
                <a:endParaRPr lang="en-US" sz="1800" dirty="0"/>
              </a:p>
              <a:p>
                <a:r>
                  <a:rPr lang="en-US" dirty="0"/>
                  <a:t>How are the costs so low?  Exploitation of foreign labor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400" b="1" dirty="0"/>
                  <a:t>See:</a:t>
                </a:r>
                <a:r>
                  <a:rPr lang="en-US" sz="1400" dirty="0"/>
                  <a:t> </a:t>
                </a:r>
                <a:r>
                  <a:rPr lang="en-US" sz="1400" dirty="0">
                    <a:hlinkClick r:id="rId2"/>
                  </a:rPr>
                  <a:t>“Raids Find Luxury Handbags Being Made by Exploited Workers in Italy,” by Nick </a:t>
                </a:r>
                <a:r>
                  <a:rPr lang="en-US" sz="1400" dirty="0" err="1">
                    <a:hlinkClick r:id="rId2"/>
                  </a:rPr>
                  <a:t>Kostov</a:t>
                </a:r>
                <a:r>
                  <a:rPr lang="en-US" sz="1400" dirty="0">
                    <a:hlinkClick r:id="rId2"/>
                  </a:rPr>
                  <a:t>, </a:t>
                </a:r>
                <a:r>
                  <a:rPr lang="en-US" sz="1400" i="1" dirty="0">
                    <a:hlinkClick r:id="rId2"/>
                  </a:rPr>
                  <a:t>WSJ, </a:t>
                </a:r>
                <a:r>
                  <a:rPr lang="en-US" sz="1400" dirty="0">
                    <a:hlinkClick r:id="rId2"/>
                  </a:rPr>
                  <a:t>7-2-2024</a:t>
                </a:r>
                <a:endParaRPr lang="en-US" sz="1400" dirty="0"/>
              </a:p>
              <a:p>
                <a:endParaRPr lang="en-US" sz="18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224" t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63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Ziprecruiter</a:t>
            </a:r>
            <a:r>
              <a:rPr lang="en-US" dirty="0"/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 </a:t>
            </a:r>
            <a:r>
              <a:rPr lang="en-US" b="1" dirty="0"/>
              <a:t>y</a:t>
            </a:r>
            <a:r>
              <a:rPr lang="en-US" dirty="0"/>
              <a:t> has individual purchase decisions (0 or 1)</a:t>
            </a:r>
          </a:p>
          <a:p>
            <a:r>
              <a:rPr lang="en-US" dirty="0"/>
              <a:t>Vector </a:t>
            </a:r>
            <a:r>
              <a:rPr lang="en-US" b="1" dirty="0"/>
              <a:t>p</a:t>
            </a:r>
            <a:r>
              <a:rPr lang="en-US" dirty="0"/>
              <a:t> has the price charged to each individual</a:t>
            </a:r>
          </a:p>
          <a:p>
            <a:r>
              <a:rPr lang="en-US" dirty="0"/>
              <a:t>Data would look like the following: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3048000"/>
          <a:ext cx="51816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49395031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15562538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989909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Customer</a:t>
                      </a:r>
                      <a:r>
                        <a:rPr lang="en-US" baseline="0" dirty="0"/>
                        <a:t> I.D.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Purchase 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b="1" dirty="0"/>
                        <a:t>y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 </a:t>
                      </a:r>
                    </a:p>
                    <a:p>
                      <a:pPr algn="ctr"/>
                      <a:r>
                        <a:rPr lang="en-US" dirty="0"/>
                        <a:t>(p)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739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718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62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748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345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275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11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218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332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446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A simulation in R to illustrate</a:t>
            </a:r>
            <a:br>
              <a:rPr lang="en-US" sz="4400" dirty="0"/>
            </a:br>
            <a:r>
              <a:rPr lang="en-US" sz="3600" dirty="0"/>
              <a:t>Code to create simulated choice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N = 8000 					# number respondents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betatrue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= matrix(c(-0.64,-0.004))		# inter. &amp; price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coeff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testprices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=matrix(c(19,39,59,79,99,159,199,249,299,399))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Price = sample(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testprices,size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=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N,replace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=T)	# randomize prices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epsilon = -log(-log(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runif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(N))) +log(-log(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runif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(N)))	# draw logistic errors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U =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betatrue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[1]+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betatrue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[2]*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Price+epsilon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	# buying utility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Y = (U&gt;0)*1					# choice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0841F23-D189-41D9-9747-E01DB953E15A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383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 the logistic regression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244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If you have the vectors </a:t>
            </a:r>
            <a:r>
              <a:rPr lang="en-US" b="1" dirty="0"/>
              <a:t>Y</a:t>
            </a:r>
            <a:r>
              <a:rPr lang="en-US" dirty="0"/>
              <a:t> and </a:t>
            </a:r>
            <a:r>
              <a:rPr lang="en-US" b="1" dirty="0"/>
              <a:t>P</a:t>
            </a:r>
            <a:r>
              <a:rPr lang="en-US" dirty="0"/>
              <a:t> in memory, you can estimate the logistic demand using the </a:t>
            </a:r>
            <a:r>
              <a:rPr lang="en-US" i="1" dirty="0"/>
              <a:t>“</a:t>
            </a:r>
            <a:r>
              <a:rPr lang="en-US" i="1" dirty="0" err="1"/>
              <a:t>glm</a:t>
            </a:r>
            <a:r>
              <a:rPr lang="en-US" i="1" dirty="0"/>
              <a:t>” </a:t>
            </a:r>
            <a:r>
              <a:rPr lang="en-US" dirty="0"/>
              <a:t> function in R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Estimate the logit demand using built-in </a:t>
            </a:r>
            <a:r>
              <a:rPr lang="en-US" dirty="0" err="1"/>
              <a:t>glm</a:t>
            </a:r>
            <a:r>
              <a:rPr lang="en-US" dirty="0"/>
              <a:t> function in R: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out =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glm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Y~P,family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=“binomial”)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/>
              <a:t>Extract the demand coefficient estimates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betahat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out$coefficients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298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Level of Logistic Demand in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>
                  <a:spcBef>
                    <a:spcPts val="1200"/>
                  </a:spcBef>
                  <a:buFont typeface="Wingdings" panose="05000000000000000000" pitchFamily="2" charset="2"/>
                  <a:buChar char="q"/>
                </a:pPr>
                <a:r>
                  <a:rPr lang="en-US" dirty="0"/>
                  <a:t>Predict Demand at a given price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⁡(−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beta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beta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/>
                  <a:t>Which is the probability that a customer buys at price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share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function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beta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) 1/(1+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exp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(−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beta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[1]−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beta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[2]∗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Share.base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= share(99,betahat)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366713" lvl="1" indent="0">
                  <a:buNone/>
                </a:pPr>
                <a:r>
                  <a:rPr lang="en-US" dirty="0"/>
                  <a:t>which is predicted share at $99 using MLE results.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197" t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0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we can plot demand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600200"/>
                <a:ext cx="8763000" cy="44958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# Function to compute logit probability</a:t>
                </a:r>
              </a:p>
              <a:p>
                <a:pPr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share = function(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x,beta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){1/(1+exp(-beta[1]-beta[2]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∗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x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))}</a:t>
                </a:r>
              </a:p>
              <a:p>
                <a:pPr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endParaRPr lang="en-US" sz="20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# Plot Predicted Demand along a price grid</a:t>
                </a:r>
              </a:p>
              <a:p>
                <a:pPr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Pricegrid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=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seq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(from=20,to=600,by=20)</a:t>
                </a:r>
              </a:p>
              <a:p>
                <a:pPr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Qgrid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= share(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Pricegrid,betahat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</a:p>
              <a:p>
                <a:pPr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plot(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Pricegrid,Qgrid,main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="Monthly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Demand",type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="n",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ylab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="conversion",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xlab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="monthly price ($)")</a:t>
                </a:r>
              </a:p>
              <a:p>
                <a:pPr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lines(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Pricegrid,Qgrid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600200"/>
                <a:ext cx="8763000" cy="4495800"/>
              </a:xfrm>
              <a:blipFill>
                <a:blip r:embed="rId2"/>
                <a:stretch>
                  <a:fillRect t="-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0841F23-D189-41D9-9747-E01DB953E15A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401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0841F23-D189-41D9-9747-E01DB953E15A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A simulation in R to illustrate</a:t>
            </a:r>
            <a:br>
              <a:rPr lang="en-US" sz="4400" dirty="0"/>
            </a:br>
            <a:r>
              <a:rPr lang="en-US" sz="3600" dirty="0"/>
              <a:t>Plot demand estimates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"/>
          </p:nvPr>
        </p:nvPicPr>
        <p:blipFill rotWithShape="1">
          <a:blip r:embed="rId2"/>
          <a:srcRect r="34994" b="33898"/>
          <a:stretch/>
        </p:blipFill>
        <p:spPr>
          <a:xfrm>
            <a:off x="1327267" y="1600200"/>
            <a:ext cx="4997333" cy="475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250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Price elasticity of 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51054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Price Elasticity of Logit demand at given price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𝑒𝑙𝑎𝑠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5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𝑏𝑒𝑡𝑎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𝑝𝑟𝑜𝑏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See if you can derive this result using calculus and a pen &amp; paper.</a:t>
                </a:r>
              </a:p>
              <a:p>
                <a:r>
                  <a:rPr lang="en-US" dirty="0"/>
                  <a:t>R code: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Elas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function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,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beta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beta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[2] ∗ (1− 1/(1+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exp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(−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beta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[1]−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beta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[2]∗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)))∗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x</m:t>
                    </m:r>
                  </m:oMath>
                </a14:m>
                <a:endParaRPr lang="en-US" sz="20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Elas.base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=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Elas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(99,betahat)</a:t>
                </a:r>
              </a:p>
              <a:p>
                <a:pPr marL="366713" lvl="1" indent="0">
                  <a:buNone/>
                </a:pPr>
                <a:r>
                  <a:rPr lang="en-US" sz="2000" dirty="0"/>
                  <a:t>which is predicted elasticity at $99 using MLE results.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5105400"/>
              </a:xfrm>
              <a:blipFill>
                <a:blip r:embed="rId2"/>
                <a:stretch>
                  <a:fillRect l="-150" t="-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262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the Profit-Maximizing Price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33400" y="1600200"/>
                <a:ext cx="8458200" cy="4495800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Construct a function in R to compute profits: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f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function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,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beta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) 1/(1+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exp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(−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beta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[1]−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beta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[2]∗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))∗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m:t>x</m:t>
                    </m:r>
                  </m:oMath>
                </a14:m>
                <a:endParaRPr lang="en-US" sz="20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Use the optimize command (I restrict price below $1000):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out.opt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= optimize(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f,c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(0,1000),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betahat,maximum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=T)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ctr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Check elasticity at solution: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p.star =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out.opt$maximum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		# optimal price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elas.star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 = 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Elas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(</a:t>
                </a:r>
                <a:r>
                  <a:rPr lang="en-US" sz="2000" dirty="0" err="1">
                    <a:solidFill>
                      <a:schemeClr val="bg1">
                        <a:lumMod val="50000"/>
                      </a:schemeClr>
                    </a:solidFill>
                  </a:rPr>
                  <a:t>p.star,betahat</a:t>
                </a:r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</a:rPr>
                  <a:t>)		# elasticity at the optimal price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33400" y="1600200"/>
                <a:ext cx="8458200" cy="4495800"/>
              </a:xfrm>
              <a:blipFill>
                <a:blip r:embed="rId2"/>
                <a:stretch>
                  <a:fillRect l="-144" t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185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Compute the Profit-Maximizing Price</a:t>
            </a:r>
            <a:br>
              <a:rPr lang="en-US" dirty="0"/>
            </a:b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You can also use the </a:t>
            </a:r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inverse-elasticity rule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5105400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en-US" dirty="0"/>
              <a:t>Function to measure difference in elasticity and “-1”: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ElasRule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= function(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x,beta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) {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	beta[2] * (1- 1/(1+exp(−beta[1]−beta[2]∗x)))∗x+1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}</a:t>
            </a:r>
          </a:p>
          <a:p>
            <a:pPr>
              <a:spcBef>
                <a:spcPts val="1800"/>
              </a:spcBef>
            </a:pPr>
            <a:r>
              <a:rPr lang="en-US" dirty="0"/>
              <a:t>Load the </a:t>
            </a:r>
            <a:r>
              <a:rPr lang="en-US" i="1" dirty="0"/>
              <a:t>solver</a:t>
            </a:r>
            <a:r>
              <a:rPr lang="en-US" dirty="0"/>
              <a:t> function in R “</a:t>
            </a:r>
            <a:r>
              <a:rPr lang="en-US" dirty="0" err="1"/>
              <a:t>nleqslv</a:t>
            </a:r>
            <a:r>
              <a:rPr lang="en-US" dirty="0"/>
              <a:t>”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install.packages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("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nleqslv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")	# install package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Library(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nleqslv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)		# load library</a:t>
            </a:r>
          </a:p>
          <a:p>
            <a:pPr>
              <a:spcBef>
                <a:spcPts val="1800"/>
              </a:spcBef>
            </a:pPr>
            <a:r>
              <a:rPr lang="en-US" dirty="0"/>
              <a:t>now use solver to find optimal price (easy to do in Excel too):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out =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nleqslv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(x=0,fn=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ElasRule,beta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=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betahat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dirty="0"/>
              <a:t>Extract optimal price: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p.star1 =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out$x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597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p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temp</Template>
  <TotalTime>1083956584</TotalTime>
  <Pages>26</Pages>
  <Words>3121</Words>
  <Application>Microsoft Office PowerPoint</Application>
  <PresentationFormat>Letter Paper (8.5x11 in)</PresentationFormat>
  <Paragraphs>464</Paragraphs>
  <Slides>57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9" baseType="lpstr">
      <vt:lpstr>Arial</vt:lpstr>
      <vt:lpstr>Baskerville Old Face</vt:lpstr>
      <vt:lpstr>Cambria</vt:lpstr>
      <vt:lpstr>Cambria Math</vt:lpstr>
      <vt:lpstr>Courier New</vt:lpstr>
      <vt:lpstr>Garamond</vt:lpstr>
      <vt:lpstr>Monotype Sorts</vt:lpstr>
      <vt:lpstr>Times New Roman</vt:lpstr>
      <vt:lpstr>Tw Cen MT</vt:lpstr>
      <vt:lpstr>Wingdings</vt:lpstr>
      <vt:lpstr>Wingdings 2</vt:lpstr>
      <vt:lpstr>temp</vt:lpstr>
      <vt:lpstr>Elasticities, Margins and Profitability</vt:lpstr>
      <vt:lpstr>Overview</vt:lpstr>
      <vt:lpstr>Recall: EVC was used to approximate the Demand Curve</vt:lpstr>
      <vt:lpstr>Field Data and Regression Example: Demand for 64 oz Roundy's OJ</vt:lpstr>
      <vt:lpstr>Review of price elasticity of demand</vt:lpstr>
      <vt:lpstr>Demand Elasticity at Pick N’ Save Example: 64 Oz Roundy's Orange Juice</vt:lpstr>
      <vt:lpstr>Monopoly price and elasticity The Profit-Maximizing Uniform Price</vt:lpstr>
      <vt:lpstr>Monopoly price and elasticity The inverse-elasticity rule</vt:lpstr>
      <vt:lpstr>Pricing on the elastic region of demand</vt:lpstr>
      <vt:lpstr>Pricing with the elasticity in practice</vt:lpstr>
      <vt:lpstr>Demand regressions at Pick N’ Save Example: Refrigerated Orange Juice</vt:lpstr>
      <vt:lpstr>Optimal Prices at Pick N’ Save Example: Refrigerated Orange Juice</vt:lpstr>
      <vt:lpstr>A Pricing Dashboard for Pick N’ Save Example: Refrigerated Orange Juice</vt:lpstr>
      <vt:lpstr>Profitability Visualization Example: Refrigerated Orange Juice</vt:lpstr>
      <vt:lpstr>Measuring the Price Elasticity Field Experiments</vt:lpstr>
      <vt:lpstr>Pricing at Ziprecruiter</vt:lpstr>
      <vt:lpstr>Pricing at Ziprecruiter.com</vt:lpstr>
      <vt:lpstr>A Price Experiment at Ziprecruiter.com</vt:lpstr>
      <vt:lpstr>The Ziprecruiter Price Experiment Method</vt:lpstr>
      <vt:lpstr>The Ziprecruiter Price Experiment Data</vt:lpstr>
      <vt:lpstr>The Ziprecruiter Price Experiment Data</vt:lpstr>
      <vt:lpstr>The Ziprecruiter Price Experiment Ask ChatGPT- 4o for help…</vt:lpstr>
      <vt:lpstr>The Ziprecruiter Price Experiment Ask ChatGPT- 4o for help…</vt:lpstr>
      <vt:lpstr>The Ziprecruiter Price Experiment Ask ChatGPT- 4o for help…</vt:lpstr>
      <vt:lpstr>The Ziprecruiter Price Experiment Ask ChatGPT- 4o for help…</vt:lpstr>
      <vt:lpstr>The Ziprecruiter Price Experiment Ask ChatGPT- 4o for help…</vt:lpstr>
      <vt:lpstr>The Ziprecruiter Price Experiment Ask ChatGPT- 4o for help…</vt:lpstr>
      <vt:lpstr>The Ziprecruiter Price Experiment Ask ChatGPT- 4o for help…</vt:lpstr>
      <vt:lpstr>The Ziprecruiter Price Experiment Ask ChatGPT- 4o for help…</vt:lpstr>
      <vt:lpstr>The Ziprecruiter Price Experiment Ask ChatGPT- 4o for help…</vt:lpstr>
      <vt:lpstr>The Ziprecruiter Price Experiment Ask ChatGPT- 4o for help…</vt:lpstr>
      <vt:lpstr>The Ziprecruiter Price Experiment Ask ChatGPT- 4o for help…</vt:lpstr>
      <vt:lpstr>The Ziprecruiter Price Experiment Ziprecruiter’s implementation: only use test grid</vt:lpstr>
      <vt:lpstr>The Ziprecruiter Price Experiment Ziprecruiter’s implementation: only use test grid</vt:lpstr>
      <vt:lpstr>The Ziprecruiter Price Experiment Ziprecruiter’s implementation: only use test grid</vt:lpstr>
      <vt:lpstr>The Ziprecruiter Price Experiment Evaluation</vt:lpstr>
      <vt:lpstr>The Ziprecruiter Price Experiment Conclusions using ChatGPT- 4o as the Analyst</vt:lpstr>
      <vt:lpstr>Take Away</vt:lpstr>
      <vt:lpstr>Extra: Empirical Estimates of Price Elasticities</vt:lpstr>
      <vt:lpstr>Interpretation &amp; Generalizations How do you know if your estimate is right?</vt:lpstr>
      <vt:lpstr>Marketing for Good: can price be too high? Even Insulin exhibits price elasticity!!!</vt:lpstr>
      <vt:lpstr>Interpretation &amp; Generalizations How do you know if your estimate is right?</vt:lpstr>
      <vt:lpstr>Elasticities and Margin Arithmetic</vt:lpstr>
      <vt:lpstr>Margin Arithmetic</vt:lpstr>
      <vt:lpstr>Price cutting and price elasticity</vt:lpstr>
      <vt:lpstr>Price cutting and price elasticity</vt:lpstr>
      <vt:lpstr>Ethical Margins?</vt:lpstr>
      <vt:lpstr>An inconvenient truth about high margins at Dior &amp; Armani</vt:lpstr>
      <vt:lpstr>Ziprecruiter Data</vt:lpstr>
      <vt:lpstr>A simulation in R to illustrate Code to create simulated choice data</vt:lpstr>
      <vt:lpstr>Estimate the logistic regression in R</vt:lpstr>
      <vt:lpstr>Predict Level of Logistic Demand in R</vt:lpstr>
      <vt:lpstr>Now we can plot demand</vt:lpstr>
      <vt:lpstr>A simulation in R to illustrate Plot demand estimates</vt:lpstr>
      <vt:lpstr>Compute the Price elasticity of demand</vt:lpstr>
      <vt:lpstr>Compute the Profit-Maximizing Price</vt:lpstr>
      <vt:lpstr>Compute the Profit-Maximizing Price You can also use the inverse-elasticity rule!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Demand:  Economic and Behavioral Perspectives</dc:title>
  <dc:creator>JP Dube</dc:creator>
  <cp:lastModifiedBy>Dube, Jean-Pierre</cp:lastModifiedBy>
  <cp:revision>669</cp:revision>
  <cp:lastPrinted>1999-01-08T14:01:46Z</cp:lastPrinted>
  <dcterms:created xsi:type="dcterms:W3CDTF">1996-09-12T19:06:02Z</dcterms:created>
  <dcterms:modified xsi:type="dcterms:W3CDTF">2025-05-23T16:34:16Z</dcterms:modified>
</cp:coreProperties>
</file>