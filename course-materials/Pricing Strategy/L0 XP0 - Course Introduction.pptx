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51" r:id="rId1"/>
  </p:sldMasterIdLst>
  <p:notesMasterIdLst>
    <p:notesMasterId r:id="rId28"/>
  </p:notesMasterIdLst>
  <p:handoutMasterIdLst>
    <p:handoutMasterId r:id="rId29"/>
  </p:handoutMasterIdLst>
  <p:sldIdLst>
    <p:sldId id="256" r:id="rId2"/>
    <p:sldId id="392" r:id="rId3"/>
    <p:sldId id="415" r:id="rId4"/>
    <p:sldId id="400" r:id="rId5"/>
    <p:sldId id="398" r:id="rId6"/>
    <p:sldId id="399" r:id="rId7"/>
    <p:sldId id="406" r:id="rId8"/>
    <p:sldId id="456" r:id="rId9"/>
    <p:sldId id="419" r:id="rId10"/>
    <p:sldId id="413" r:id="rId11"/>
    <p:sldId id="412" r:id="rId12"/>
    <p:sldId id="411" r:id="rId13"/>
    <p:sldId id="416" r:id="rId14"/>
    <p:sldId id="414" r:id="rId15"/>
    <p:sldId id="394" r:id="rId16"/>
    <p:sldId id="401" r:id="rId17"/>
    <p:sldId id="408" r:id="rId18"/>
    <p:sldId id="409" r:id="rId19"/>
    <p:sldId id="403" r:id="rId20"/>
    <p:sldId id="404" r:id="rId21"/>
    <p:sldId id="455" r:id="rId22"/>
    <p:sldId id="377" r:id="rId23"/>
    <p:sldId id="396" r:id="rId24"/>
    <p:sldId id="417" r:id="rId25"/>
    <p:sldId id="410" r:id="rId26"/>
    <p:sldId id="395" r:id="rId27"/>
  </p:sldIdLst>
  <p:sldSz cx="9144000" cy="6858000" type="letter"/>
  <p:notesSz cx="6877050" cy="916305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6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72" d="100"/>
          <a:sy n="72" d="100"/>
        </p:scale>
        <p:origin x="11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2082" y="-108"/>
      </p:cViewPr>
      <p:guideLst>
        <p:guide orient="horz" pos="2886"/>
        <p:guide pos="216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408738" y="8767763"/>
            <a:ext cx="396875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672" tIns="44540" rIns="90672" bIns="44540" anchor="ctr">
            <a:spAutoFit/>
          </a:bodyPr>
          <a:lstStyle/>
          <a:p>
            <a:pPr algn="r">
              <a:defRPr/>
            </a:pPr>
            <a:fld id="{98C58099-4907-49AA-BA7C-0E401BEB2C9F}" type="slidenum">
              <a:rPr lang="en-US" sz="1400">
                <a:latin typeface="Arial" charset="0"/>
              </a:rPr>
              <a:pPr algn="r">
                <a:defRPr/>
              </a:pPr>
              <a:t>‹#›</a:t>
            </a:fld>
            <a:endParaRPr lang="en-US" sz="14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1117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352925"/>
            <a:ext cx="5041900" cy="4121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672" tIns="44540" rIns="90672" bIns="445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789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87388"/>
            <a:ext cx="4583112" cy="34369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408738" y="8767763"/>
            <a:ext cx="396875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672" tIns="44540" rIns="90672" bIns="44540" anchor="ctr">
            <a:spAutoFit/>
          </a:bodyPr>
          <a:lstStyle/>
          <a:p>
            <a:pPr algn="r">
              <a:defRPr/>
            </a:pPr>
            <a:fld id="{8944A6BC-B846-478B-A111-DE0EBF32213B}" type="slidenum">
              <a:rPr lang="en-US" sz="1400">
                <a:latin typeface="Arial" charset="0"/>
              </a:rPr>
              <a:pPr algn="r">
                <a:defRPr/>
              </a:pPr>
              <a:t>‹#›</a:t>
            </a:fld>
            <a:endParaRPr lang="en-US" sz="14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133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44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>
                <a:latin typeface="Arial" pitchFamily="34" charset="0"/>
              </a:rPr>
              <a:t>Homework</a:t>
            </a:r>
          </a:p>
          <a:p>
            <a:pPr marL="457200" lvl="1" indent="0"/>
            <a:r>
              <a:rPr lang="en-US">
                <a:latin typeface="Arial" pitchFamily="34" charset="0"/>
              </a:rPr>
              <a:t>Knowledge is power.</a:t>
            </a:r>
          </a:p>
          <a:p>
            <a:pPr marL="457200" lvl="1" indent="0"/>
            <a:r>
              <a:rPr lang="en-US">
                <a:latin typeface="Arial" pitchFamily="34" charset="0"/>
              </a:rPr>
              <a:t>We want to turn data into knowledge.</a:t>
            </a:r>
          </a:p>
        </p:txBody>
      </p:sp>
    </p:spTree>
    <p:extLst>
      <p:ext uri="{BB962C8B-B14F-4D97-AF65-F5344CB8AC3E}">
        <p14:creationId xmlns:p14="http://schemas.microsoft.com/office/powerpoint/2010/main" val="1324124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>
                <a:latin typeface="Arial" pitchFamily="34" charset="0"/>
              </a:rPr>
              <a:t>Homework</a:t>
            </a:r>
          </a:p>
          <a:p>
            <a:pPr marL="457200" lvl="1" indent="0"/>
            <a:r>
              <a:rPr lang="en-US">
                <a:latin typeface="Arial" pitchFamily="34" charset="0"/>
              </a:rPr>
              <a:t>Knowledge is power.</a:t>
            </a:r>
          </a:p>
          <a:p>
            <a:pPr marL="457200" lvl="1" indent="0"/>
            <a:r>
              <a:rPr lang="en-US">
                <a:latin typeface="Arial" pitchFamily="34" charset="0"/>
              </a:rPr>
              <a:t>We want to turn data into knowledge.</a:t>
            </a:r>
          </a:p>
        </p:txBody>
      </p:sp>
    </p:spTree>
    <p:extLst>
      <p:ext uri="{BB962C8B-B14F-4D97-AF65-F5344CB8AC3E}">
        <p14:creationId xmlns:p14="http://schemas.microsoft.com/office/powerpoint/2010/main" val="3311784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02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8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g-Ghosted-Shield-offset_red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E7CF4D2-22D1-48E5-82E4-BFA1B22408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1" name="Picture 20" descr="Logo-for-gray-bg-ppt-whitemaroon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29166" y="6194310"/>
            <a:ext cx="1591121" cy="4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7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>
            <a:lvl1pPr>
              <a:defRPr sz="40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400" baseline="0">
                <a:latin typeface="+mj-lt"/>
              </a:defRPr>
            </a:lvl1pPr>
            <a:lvl2pPr>
              <a:defRPr sz="2400" baseline="0">
                <a:latin typeface="+mj-lt"/>
              </a:defRPr>
            </a:lvl2pPr>
            <a:lvl3pPr>
              <a:defRPr sz="2400" baseline="0">
                <a:latin typeface="+mj-lt"/>
              </a:defRPr>
            </a:lvl3pPr>
            <a:lvl4pPr>
              <a:defRPr sz="2400" baseline="0">
                <a:latin typeface="+mj-lt"/>
              </a:defRPr>
            </a:lvl4pPr>
            <a:lvl5pPr>
              <a:defRPr sz="24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778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E6E90D4-FAAA-4274-A13C-F93D3EA598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9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183950C-32BC-403F-81E7-FB360C63D0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8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284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70EFBC7-AC9E-4069-B50B-11C2DC23DE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DEBEB-9F4B-4AEB-B38E-483ED5365B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2386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723B00C-BFD1-482D-A186-3F1A83FFD31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6658A-3405-4CDF-AB50-716EADA485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A8BA77F9-3109-46E5-AC46-EB854A9F76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2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ABBF7D-A75D-4013-A2C0-9F89827483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36224-9F76-45EB-91F7-A8F5491280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7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344F6F-13B5-4D25-905C-51D49F0CCD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jpeg"/><Relationship Id="rId2" Type="http://schemas.openxmlformats.org/officeDocument/2006/relationships/image" Target="../media/image6.jpeg"/><Relationship Id="rId16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png"/><Relationship Id="rId15" Type="http://schemas.openxmlformats.org/officeDocument/2006/relationships/image" Target="../media/image1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gsb/dynamic.asp?nNodeID=18&amp;intContentID=312&amp;intContentTypeID=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entmanual.uchicago.edu/academic-policies/academic-honesty-plagiaris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mosurvey.org/wp-content/uploads/2023/03/The_CMO_Survey-Highlights_and_Insights_Report-March_2023.pdf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chrome-extension://efaidnbmnnnibpcajpcglclefindmkaj/https:/www2.deloitte.com/content/dam/Deloitte/no/Documents/operations/CFO-Insights-Pricing-for-Profitability.pdf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hyperlink" Target="https://www.wsj.com/articles/no-one-knows-how-to-price-ai-tools-f346ea8a?st=HdCB85&amp;reflink=article_email_share" TargetMode="External"/><Relationship Id="rId4" Type="http://schemas.openxmlformats.org/officeDocument/2006/relationships/image" Target="../media/image3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noFill/>
        </p:spPr>
        <p:txBody>
          <a:bodyPr lIns="90488" tIns="44450" rIns="90488" bIns="44450"/>
          <a:lstStyle/>
          <a:p>
            <a:r>
              <a:rPr lang="en-US" sz="4000" dirty="0">
                <a:solidFill>
                  <a:srgbClr val="FFFF00"/>
                </a:solidFill>
              </a:rPr>
              <a:t>Pricing strategies</a:t>
            </a:r>
            <a:br>
              <a:rPr lang="en-US" sz="4000" dirty="0">
                <a:solidFill>
                  <a:srgbClr val="FFFF00"/>
                </a:solidFill>
              </a:rPr>
            </a:br>
            <a:r>
              <a:rPr lang="en-US" sz="2800" dirty="0"/>
              <a:t>introduction</a:t>
            </a:r>
            <a:endParaRPr lang="en-US" sz="2800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362200" y="6050037"/>
            <a:ext cx="6705600" cy="685800"/>
          </a:xfrm>
          <a:noFill/>
        </p:spPr>
        <p:txBody>
          <a:bodyPr lIns="90488" tIns="44450" rIns="90488" bIns="44450"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Jean-Pierre </a:t>
            </a:r>
            <a:r>
              <a:rPr lang="en-US" sz="2800" dirty="0" err="1"/>
              <a:t>Dubé</a:t>
            </a:r>
            <a:endParaRPr lang="en-US" sz="2800" dirty="0"/>
          </a:p>
          <a:p>
            <a:pPr marL="0" indent="0">
              <a:buNone/>
            </a:pPr>
            <a:r>
              <a:rPr lang="en-US" sz="900" b="1" dirty="0">
                <a:latin typeface="Arial" pitchFamily="34" charset="0"/>
                <a:sym typeface="Symbol" pitchFamily="18" charset="2"/>
              </a:rPr>
              <a:t></a:t>
            </a:r>
            <a:r>
              <a:rPr lang="en-US" sz="900" b="1" dirty="0">
                <a:latin typeface="Arial" pitchFamily="34" charset="0"/>
              </a:rPr>
              <a:t> Copyright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137369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Pricing Strategies</a:t>
            </a:r>
          </a:p>
          <a:p>
            <a:r>
              <a:rPr lang="en-US" sz="1400" dirty="0"/>
              <a:t>2025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/>
        </p:nvGrpSpPr>
        <p:grpSpPr>
          <a:xfrm>
            <a:off x="590658" y="4176775"/>
            <a:ext cx="627962" cy="627962"/>
            <a:chOff x="583894" y="4153359"/>
            <a:chExt cx="627962" cy="627962"/>
          </a:xfrm>
        </p:grpSpPr>
        <p:sp>
          <p:nvSpPr>
            <p:cNvPr id="51" name="Teardrop 50"/>
            <p:cNvSpPr/>
            <p:nvPr/>
          </p:nvSpPr>
          <p:spPr>
            <a:xfrm rot="8081697">
              <a:off x="583894" y="4153359"/>
              <a:ext cx="627962" cy="627962"/>
            </a:xfrm>
            <a:prstGeom prst="teardrop">
              <a:avLst>
                <a:gd name="adj" fmla="val 145614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649924" y="4219389"/>
              <a:ext cx="495902" cy="49590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17" r="18950" b="22578"/>
          <a:stretch/>
        </p:blipFill>
        <p:spPr>
          <a:xfrm>
            <a:off x="1164820" y="5378816"/>
            <a:ext cx="914400" cy="916504"/>
          </a:xfrm>
          <a:prstGeom prst="rect">
            <a:avLst/>
          </a:prstGeom>
        </p:spPr>
      </p:pic>
      <p:pic>
        <p:nvPicPr>
          <p:cNvPr id="59" name="Picture 2" descr="Image result for creative wri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2" y="6040977"/>
            <a:ext cx="965544" cy="64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45" name="Content Placeholder 44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1933103"/>
            <a:ext cx="8153400" cy="3829993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583894" y="4153359"/>
            <a:ext cx="627962" cy="627962"/>
            <a:chOff x="583894" y="4153359"/>
            <a:chExt cx="627962" cy="627962"/>
          </a:xfrm>
        </p:grpSpPr>
        <p:sp>
          <p:nvSpPr>
            <p:cNvPr id="47" name="Teardrop 46"/>
            <p:cNvSpPr/>
            <p:nvPr/>
          </p:nvSpPr>
          <p:spPr>
            <a:xfrm rot="8081697">
              <a:off x="583894" y="4153359"/>
              <a:ext cx="627962" cy="627962"/>
            </a:xfrm>
            <a:prstGeom prst="teardrop">
              <a:avLst>
                <a:gd name="adj" fmla="val 145614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649924" y="4219389"/>
              <a:ext cx="495902" cy="49590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32" name="Picture 8" descr="Image result for university of toron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70" y="4219389"/>
            <a:ext cx="428209" cy="42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/>
          <p:cNvSpPr txBox="1"/>
          <p:nvPr/>
        </p:nvSpPr>
        <p:spPr>
          <a:xfrm>
            <a:off x="115367" y="3370453"/>
            <a:ext cx="1993223" cy="79277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indent="0">
              <a:lnSpc>
                <a:spcPct val="90000"/>
              </a:lnSpc>
              <a:spcBef>
                <a:spcPts val="0"/>
              </a:spcBef>
              <a:buFontTx/>
              <a:buNone/>
              <a:defRPr sz="4000" b="0" cap="none" spc="0" baseline="0">
                <a:latin typeface="HelveticaNeueLT Std Lt" panose="020B0403020202020204" pitchFamily="34" charset="0"/>
                <a:ea typeface="Open Sans Light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>
                <a:latin typeface="HelveticaNeueLT Std Lt" panose="020B0403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>
                <a:latin typeface="HelveticaNeueLT Std Lt" panose="020B0403020202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  <a:defRPr>
                <a:latin typeface="HelveticaNeueLT Std Lt" panose="020B0403020202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  <a:defRPr>
                <a:latin typeface="HelveticaNeueLT Std Lt" panose="020B0403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/>
              <a:t>BSc Econ Math, French Lit</a:t>
            </a:r>
          </a:p>
          <a:p>
            <a:r>
              <a:rPr lang="en-US" sz="1800" dirty="0"/>
              <a:t>University of Toronto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3402376" y="4597389"/>
            <a:ext cx="627962" cy="627962"/>
            <a:chOff x="583894" y="4153359"/>
            <a:chExt cx="627962" cy="627962"/>
          </a:xfrm>
        </p:grpSpPr>
        <p:sp>
          <p:nvSpPr>
            <p:cNvPr id="56" name="Teardrop 55"/>
            <p:cNvSpPr/>
            <p:nvPr/>
          </p:nvSpPr>
          <p:spPr>
            <a:xfrm rot="8081697">
              <a:off x="583894" y="4153359"/>
              <a:ext cx="627962" cy="627962"/>
            </a:xfrm>
            <a:prstGeom prst="teardrop">
              <a:avLst>
                <a:gd name="adj" fmla="val 145614"/>
              </a:avLst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649924" y="4219389"/>
              <a:ext cx="495902" cy="49590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064530" y="4578678"/>
            <a:ext cx="1697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HelveticaNeueLT Std Lt" panose="020B0403020202020204" pitchFamily="34" charset="0"/>
              </a:defRPr>
            </a:lvl1pPr>
          </a:lstStyle>
          <a:p>
            <a:r>
              <a:rPr lang="en-US" sz="1800" dirty="0"/>
              <a:t>MSc and PhD Economics, Northwestern</a:t>
            </a:r>
          </a:p>
        </p:txBody>
      </p:sp>
      <p:pic>
        <p:nvPicPr>
          <p:cNvPr id="60" name="Picture 10" descr="Image result for northwestern log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94" y="4773019"/>
            <a:ext cx="390525" cy="2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" name="Group 60"/>
          <p:cNvGrpSpPr/>
          <p:nvPr/>
        </p:nvGrpSpPr>
        <p:grpSpPr>
          <a:xfrm>
            <a:off x="2618830" y="2625288"/>
            <a:ext cx="627962" cy="627962"/>
            <a:chOff x="583894" y="4153359"/>
            <a:chExt cx="627962" cy="627962"/>
          </a:xfrm>
        </p:grpSpPr>
        <p:sp>
          <p:nvSpPr>
            <p:cNvPr id="62" name="Teardrop 61"/>
            <p:cNvSpPr/>
            <p:nvPr/>
          </p:nvSpPr>
          <p:spPr>
            <a:xfrm rot="8081697">
              <a:off x="583894" y="4153359"/>
              <a:ext cx="627962" cy="627962"/>
            </a:xfrm>
            <a:prstGeom prst="teardrop">
              <a:avLst>
                <a:gd name="adj" fmla="val 145614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649924" y="4219389"/>
              <a:ext cx="495902" cy="49590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1981200" y="2195741"/>
            <a:ext cx="164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HelveticaNeueLT Std Lt" panose="020B0403020202020204" pitchFamily="34" charset="0"/>
              </a:defRPr>
            </a:lvl1pPr>
          </a:lstStyle>
          <a:p>
            <a:pPr algn="ctr"/>
            <a:r>
              <a:rPr lang="en-US" dirty="0"/>
              <a:t>Chicago Booth</a:t>
            </a:r>
          </a:p>
        </p:txBody>
      </p:sp>
      <p:pic>
        <p:nvPicPr>
          <p:cNvPr id="1038" name="Picture 14" descr="Image result for chicago booth log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511" y="2765086"/>
            <a:ext cx="228600" cy="28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TextBox 79"/>
          <p:cNvSpPr txBox="1"/>
          <p:nvPr/>
        </p:nvSpPr>
        <p:spPr>
          <a:xfrm>
            <a:off x="6663705" y="3737967"/>
            <a:ext cx="229854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HelveticaNeueLT Std Lt" panose="020B0403020202020204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Research Interests</a:t>
            </a:r>
          </a:p>
          <a:p>
            <a:r>
              <a:rPr lang="en-US" sz="1800" dirty="0"/>
              <a:t>Customer analytics Topics: </a:t>
            </a:r>
          </a:p>
        </p:txBody>
      </p:sp>
      <p:grpSp>
        <p:nvGrpSpPr>
          <p:cNvPr id="81" name="Group 80"/>
          <p:cNvGrpSpPr/>
          <p:nvPr/>
        </p:nvGrpSpPr>
        <p:grpSpPr>
          <a:xfrm>
            <a:off x="4872764" y="1838602"/>
            <a:ext cx="627962" cy="627962"/>
            <a:chOff x="583894" y="4153359"/>
            <a:chExt cx="627962" cy="627962"/>
          </a:xfrm>
        </p:grpSpPr>
        <p:sp>
          <p:nvSpPr>
            <p:cNvPr id="82" name="Teardrop 81"/>
            <p:cNvSpPr/>
            <p:nvPr/>
          </p:nvSpPr>
          <p:spPr>
            <a:xfrm rot="8081697">
              <a:off x="583894" y="4153359"/>
              <a:ext cx="627962" cy="627962"/>
            </a:xfrm>
            <a:prstGeom prst="teardrop">
              <a:avLst>
                <a:gd name="adj" fmla="val 14561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649924" y="4219389"/>
              <a:ext cx="495902" cy="49590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4" name="Picture 18" descr="Image result for nber logo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73" b="27212"/>
          <a:stretch/>
        </p:blipFill>
        <p:spPr bwMode="auto">
          <a:xfrm>
            <a:off x="4969966" y="2038283"/>
            <a:ext cx="4635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TextBox 84"/>
          <p:cNvSpPr txBox="1"/>
          <p:nvPr/>
        </p:nvSpPr>
        <p:spPr>
          <a:xfrm>
            <a:off x="4352749" y="2192035"/>
            <a:ext cx="16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HelveticaNeueLT Std Lt" panose="020B0403020202020204" pitchFamily="34" charset="0"/>
              </a:defRPr>
            </a:lvl1pPr>
          </a:lstStyle>
          <a:p>
            <a:r>
              <a:rPr lang="en-US" sz="1800" dirty="0"/>
              <a:t>NBER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8900" y="4542781"/>
            <a:ext cx="1643354" cy="788915"/>
          </a:xfrm>
          <a:prstGeom prst="rect">
            <a:avLst/>
          </a:prstGeom>
          <a:noFill/>
        </p:spPr>
        <p:txBody>
          <a:bodyPr wrap="square" numCol="1" spcCol="18288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HelveticaNeueLT Std Lt" panose="020B0403020202020204" pitchFamily="34" charset="0"/>
              </a:rPr>
              <a:t>Pricing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HelveticaNeueLT Std Lt" panose="020B0403020202020204" pitchFamily="34" charset="0"/>
              </a:rPr>
              <a:t>Branding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HelveticaNeueLT Std Lt" panose="020B0403020202020204" pitchFamily="34" charset="0"/>
              </a:rPr>
              <a:t>Advertising 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HelveticaNeueLT Std Lt" panose="020B0403020202020204" pitchFamily="34" charset="0"/>
              </a:rPr>
              <a:t>Public Policy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25" y="4951280"/>
            <a:ext cx="333542" cy="333542"/>
          </a:xfrm>
          <a:prstGeom prst="rect">
            <a:avLst/>
          </a:prstGeom>
        </p:spPr>
      </p:pic>
      <p:pic>
        <p:nvPicPr>
          <p:cNvPr id="1046" name="Picture 22" descr="Image result for prici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383" y="4562715"/>
            <a:ext cx="584825" cy="29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Image result for advertisi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892" y="5404035"/>
            <a:ext cx="418543" cy="24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Image result for public policy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892" y="5717385"/>
            <a:ext cx="428791" cy="42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oup 94"/>
          <p:cNvGrpSpPr/>
          <p:nvPr/>
        </p:nvGrpSpPr>
        <p:grpSpPr>
          <a:xfrm>
            <a:off x="6818054" y="1474838"/>
            <a:ext cx="627962" cy="627962"/>
            <a:chOff x="583894" y="4153359"/>
            <a:chExt cx="627962" cy="627962"/>
          </a:xfrm>
        </p:grpSpPr>
        <p:sp>
          <p:nvSpPr>
            <p:cNvPr id="96" name="Teardrop 95"/>
            <p:cNvSpPr/>
            <p:nvPr/>
          </p:nvSpPr>
          <p:spPr>
            <a:xfrm rot="8081697">
              <a:off x="583894" y="4153359"/>
              <a:ext cx="627962" cy="627962"/>
            </a:xfrm>
            <a:prstGeom prst="teardrop">
              <a:avLst>
                <a:gd name="adj" fmla="val 145614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649924" y="4219389"/>
              <a:ext cx="495902" cy="49590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7446016" y="1523887"/>
            <a:ext cx="1697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HelveticaNeueLT Std Lt" panose="020B0403020202020204" pitchFamily="34" charset="0"/>
              </a:defRPr>
            </a:lvl1pPr>
          </a:lstStyle>
          <a:p>
            <a:r>
              <a:rPr lang="en-US" sz="1800" dirty="0"/>
              <a:t>Collaborations with </a:t>
            </a:r>
          </a:p>
          <a:p>
            <a:r>
              <a:rPr lang="en-US" sz="1800" dirty="0"/>
              <a:t>Companies …</a:t>
            </a:r>
          </a:p>
        </p:txBody>
      </p:sp>
      <p:pic>
        <p:nvPicPr>
          <p:cNvPr id="1060" name="Picture 36" descr="Related imag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685" y="1666403"/>
            <a:ext cx="26670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17" r="18950" b="22578"/>
          <a:stretch/>
        </p:blipFill>
        <p:spPr>
          <a:xfrm>
            <a:off x="1158056" y="5355400"/>
            <a:ext cx="914400" cy="91650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2" t="5868" r="24814" b="47201"/>
          <a:stretch/>
        </p:blipFill>
        <p:spPr>
          <a:xfrm>
            <a:off x="6174642" y="2605526"/>
            <a:ext cx="588794" cy="625593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5" t="26849" r="34918" b="12410"/>
          <a:stretch/>
        </p:blipFill>
        <p:spPr>
          <a:xfrm>
            <a:off x="3820799" y="2541703"/>
            <a:ext cx="639984" cy="795131"/>
          </a:xfrm>
          <a:prstGeom prst="rect">
            <a:avLst/>
          </a:prstGeom>
        </p:spPr>
      </p:pic>
      <p:pic>
        <p:nvPicPr>
          <p:cNvPr id="1026" name="Picture 2" descr="Image result for creative wri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98" y="6017561"/>
            <a:ext cx="965544" cy="64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ultiply 2"/>
          <p:cNvSpPr/>
          <p:nvPr/>
        </p:nvSpPr>
        <p:spPr>
          <a:xfrm>
            <a:off x="-139916" y="5682167"/>
            <a:ext cx="1469852" cy="1312873"/>
          </a:xfrm>
          <a:prstGeom prst="mathMultiply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041" y="3932822"/>
            <a:ext cx="476958" cy="751434"/>
          </a:xfrm>
          <a:prstGeom prst="rect">
            <a:avLst/>
          </a:prstGeom>
        </p:spPr>
      </p:pic>
      <p:sp>
        <p:nvSpPr>
          <p:cNvPr id="49" name="Multiply 48"/>
          <p:cNvSpPr/>
          <p:nvPr/>
        </p:nvSpPr>
        <p:spPr>
          <a:xfrm>
            <a:off x="847931" y="5165835"/>
            <a:ext cx="1469852" cy="1312873"/>
          </a:xfrm>
          <a:prstGeom prst="mathMultiply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Image result for northwestern rose bowl 1996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6"/>
          <a:stretch/>
        </p:blipFill>
        <p:spPr bwMode="auto">
          <a:xfrm>
            <a:off x="4071062" y="5524287"/>
            <a:ext cx="1130679" cy="5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27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8" grpId="0"/>
      <p:bldP spid="64" grpId="0"/>
      <p:bldP spid="80" grpId="0"/>
      <p:bldP spid="85" grpId="0"/>
      <p:bldP spid="88" grpId="0"/>
      <p:bldP spid="98" grpId="0"/>
      <p:bldP spid="3" grpId="0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Pricing Strategy</a:t>
            </a:r>
            <a:r>
              <a:rPr lang="en-US" dirty="0"/>
              <a:t> course …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775" y="2096059"/>
            <a:ext cx="8153400" cy="350408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1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239F9B7-B76D-484D-BB42-9357B1653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19600"/>
            <a:ext cx="7772400" cy="981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Arjun is post-doc at the University of Chicago, with a Ph.D. in Economics from the University of Chicago. He previously worked as a research professional at UChicago and graduated with an MSc in Economics from University College London.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E25535D-58AE-4176-A4D7-6CB5B0D2B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174229"/>
            <a:ext cx="2796066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Arjun Gopinath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Ph.D. Student, Chicago Booth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arjung@uchicago.edu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B136F3-7E44-49CF-93A6-29CC5C624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633" y="2174598"/>
            <a:ext cx="1059234" cy="158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3037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Administrative Points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378952" cy="4953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almost paper-free course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Web Site:	</a:t>
            </a:r>
            <a:r>
              <a:rPr lang="en-US" sz="2800" dirty="0">
                <a:cs typeface="Times New Roman" pitchFamily="18" charset="0"/>
                <a:hlinkClick r:id="rId3"/>
              </a:rPr>
              <a:t>canvas.uchicago.edu</a:t>
            </a:r>
            <a:endParaRPr lang="en-US" sz="2800" dirty="0">
              <a:cs typeface="Times New Roman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cs typeface="Times New Roman" pitchFamily="18" charset="0"/>
              </a:rPr>
              <a:t>Download &amp; read </a:t>
            </a:r>
            <a:r>
              <a:rPr lang="en-US" sz="2800" b="1" dirty="0">
                <a:cs typeface="Times New Roman" pitchFamily="18" charset="0"/>
              </a:rPr>
              <a:t>syllabus,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b="1" dirty="0">
                <a:cs typeface="Times New Roman" pitchFamily="18" charset="0"/>
              </a:rPr>
              <a:t>course schedule &amp; assignments </a:t>
            </a:r>
            <a:r>
              <a:rPr lang="en-US" sz="2800" dirty="0">
                <a:cs typeface="Times New Roman" pitchFamily="18" charset="0"/>
              </a:rPr>
              <a:t>handout</a:t>
            </a:r>
            <a:endParaRPr lang="en-US" sz="2800" b="1" dirty="0">
              <a:cs typeface="Times New Roman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cs typeface="Times New Roman" pitchFamily="18" charset="0"/>
              </a:rPr>
              <a:t>All lecture slides posted online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cs typeface="Times New Roman" pitchFamily="18" charset="0"/>
              </a:rPr>
              <a:t>All assignments submitted via Canvas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2800" dirty="0">
              <a:latin typeface="+mj-lt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+mj-lt"/>
              </a:rPr>
              <a:t>Textbooks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Nagle, Müller &amp; </a:t>
            </a:r>
            <a:r>
              <a:rPr lang="en-US" sz="2000" dirty="0" err="1"/>
              <a:t>Gruyaert</a:t>
            </a:r>
            <a:r>
              <a:rPr lang="en-US" sz="2000" dirty="0"/>
              <a:t>, </a:t>
            </a:r>
            <a:r>
              <a:rPr lang="en-US" sz="2000" i="1" dirty="0"/>
              <a:t>The Strategy &amp; Tactics of Pricing, 7</a:t>
            </a:r>
            <a:r>
              <a:rPr lang="en-US" sz="2000" baseline="30000" dirty="0"/>
              <a:t>th</a:t>
            </a:r>
            <a:r>
              <a:rPr lang="en-US" sz="2000" dirty="0"/>
              <a:t> ed., 2023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Dolan &amp; Simon, </a:t>
            </a:r>
            <a:r>
              <a:rPr lang="en-US" sz="2000" i="1" dirty="0"/>
              <a:t>Power Pricing</a:t>
            </a:r>
            <a:r>
              <a:rPr lang="en-US" sz="2000" dirty="0"/>
              <a:t>, 1996.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9727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Administrative Points</a:t>
            </a:r>
            <a:br>
              <a:rPr lang="en-US" sz="4400" dirty="0"/>
            </a:br>
            <a:r>
              <a:rPr lang="en-US" sz="3600" b="1" dirty="0"/>
              <a:t>Zoom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200" dirty="0"/>
              <a:t>I will hold </a:t>
            </a:r>
            <a:r>
              <a:rPr lang="en-US" sz="3200" u="sng" dirty="0"/>
              <a:t>all 5 lectures</a:t>
            </a:r>
            <a:r>
              <a:rPr lang="en-US" sz="3200" dirty="0"/>
              <a:t> in person</a:t>
            </a:r>
          </a:p>
          <a:p>
            <a:pPr marL="366713" lvl="1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b="1" u="sng" dirty="0"/>
          </a:p>
          <a:p>
            <a:pPr marL="366713" lvl="1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u="sng" dirty="0"/>
              <a:t>must</a:t>
            </a:r>
            <a:r>
              <a:rPr lang="en-US" dirty="0"/>
              <a:t> obtain administrative approval to view live broadcast via Zoom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4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36576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I have pre-recorded several short pricing case studies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I also included “extra” slide decks with other pricing topics not covered in our 5-day course.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You can access these extra recordings and slides on Canvas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I appreciate that many of you are already overwhelmed with our course schedule and your jobs…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5257800"/>
            <a:ext cx="853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extras are </a:t>
            </a: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part of the course evaluation and watching them is totally </a:t>
            </a:r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816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449E-6711-4F1C-99FF-A5677B92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of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F28C-5AC3-4290-BF5C-54FE52D6B32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tools (e.g.,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ChatGPT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Claude,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Deepseek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etc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forbidden for case studies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i.e.,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CMI &amp; Keurig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Why?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Explicit copyright violation (illegal)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Defies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purpose of case study as a management strategy simulation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 AI tools for case studies violates University’s 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academic integrity policy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 treat potential academic integrity violations as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honor code violations.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A6952-1C84-43BC-B842-79181FA7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1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6155" b="5014"/>
          <a:stretch/>
        </p:blipFill>
        <p:spPr>
          <a:xfrm>
            <a:off x="76200" y="1143000"/>
            <a:ext cx="9066497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4600" y="5867400"/>
            <a:ext cx="4902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Now About Pricing …</a:t>
            </a:r>
          </a:p>
        </p:txBody>
      </p:sp>
    </p:spTree>
    <p:extLst>
      <p:ext uri="{BB962C8B-B14F-4D97-AF65-F5344CB8AC3E}">
        <p14:creationId xmlns:p14="http://schemas.microsoft.com/office/powerpoint/2010/main" val="869547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85800" y="4343400"/>
            <a:ext cx="8229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sis Light"/>
                <a:cs typeface="Dosis Light"/>
              </a:rPr>
              <a:t>Pricing</a:t>
            </a:r>
            <a:r>
              <a:rPr lang="en-US" sz="2000" dirty="0">
                <a:latin typeface="Dosis Light"/>
                <a:cs typeface="Dosis Light"/>
              </a:rPr>
              <a:t> is a fundamental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sis Light"/>
                <a:cs typeface="Dosis Light"/>
              </a:rPr>
              <a:t>marketing</a:t>
            </a:r>
            <a:r>
              <a:rPr lang="en-US" sz="2000" dirty="0">
                <a:latin typeface="Dosis Light"/>
                <a:cs typeface="Dosis Light"/>
              </a:rPr>
              <a:t> decision.</a:t>
            </a:r>
          </a:p>
          <a:p>
            <a:pPr algn="l"/>
            <a:endParaRPr lang="en-US" sz="2000" dirty="0">
              <a:latin typeface="Dosis Light"/>
              <a:cs typeface="Dosis Light"/>
            </a:endParaRPr>
          </a:p>
          <a:p>
            <a:pPr algn="l"/>
            <a:r>
              <a:rPr lang="en-US" sz="2000" dirty="0">
                <a:latin typeface="Dosis Light"/>
                <a:cs typeface="Dosis Light"/>
              </a:rPr>
              <a:t>Ton of evidence that better pricing has short- &amp; long-term LR ROI.</a:t>
            </a:r>
          </a:p>
          <a:p>
            <a:pPr algn="l"/>
            <a:endParaRPr lang="en-US" sz="2000" dirty="0">
              <a:latin typeface="Dosis Light"/>
              <a:cs typeface="Dosis Light"/>
            </a:endParaRPr>
          </a:p>
          <a:p>
            <a:pPr algn="l"/>
            <a:r>
              <a:rPr lang="en-US" sz="2000" dirty="0">
                <a:latin typeface="Dosis Light"/>
                <a:cs typeface="Dosis Light"/>
              </a:rPr>
              <a:t>Yet, the practice of pricing remains woefully inefficient.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Slide Number Placeholder 22"/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03344F6F-13B5-4D25-905C-51D49F0CCD0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26" name="Picture 2" descr="Warren Buffett | American businessman and philanthropist | Britannic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52" y="1720402"/>
            <a:ext cx="2284874" cy="231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637426" y="1720402"/>
            <a:ext cx="5820774" cy="231819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“The single most important decision in evaluating a business is pricing power.”</a:t>
            </a:r>
            <a:endParaRPr lang="en-US" sz="1600" dirty="0">
              <a:solidFill>
                <a:srgbClr val="002060"/>
              </a:solidFill>
            </a:endParaRPr>
          </a:p>
          <a:p>
            <a:pPr algn="r"/>
            <a:endParaRPr lang="en-US" sz="1600" dirty="0"/>
          </a:p>
          <a:p>
            <a:pPr algn="r"/>
            <a:r>
              <a:rPr lang="en-US" sz="900" dirty="0">
                <a:solidFill>
                  <a:srgbClr val="002060"/>
                </a:solidFill>
              </a:rPr>
              <a:t>Warren Buffet, Chairman &amp; CEO Berkshire Hathaway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3600" dirty="0"/>
              <a:t>The Wisdom of the Oracle of Omaha</a:t>
            </a:r>
            <a:endParaRPr lang="en-US" dirty="0"/>
          </a:p>
        </p:txBody>
      </p:sp>
      <p:pic>
        <p:nvPicPr>
          <p:cNvPr id="10" name="Picture 6" descr="Image result for oracle of delph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95" y="293496"/>
            <a:ext cx="977633" cy="84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30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Firms spend little effort on pricing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l="18021" t="44068" r="58144" b="32203"/>
          <a:stretch/>
        </p:blipFill>
        <p:spPr>
          <a:xfrm>
            <a:off x="990600" y="1687929"/>
            <a:ext cx="7211790" cy="4038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5854757"/>
            <a:ext cx="7896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Average firm spends less than 10 hours per year on pricing</a:t>
            </a:r>
          </a:p>
        </p:txBody>
      </p:sp>
    </p:spTree>
    <p:extLst>
      <p:ext uri="{BB962C8B-B14F-4D97-AF65-F5344CB8AC3E}">
        <p14:creationId xmlns:p14="http://schemas.microsoft.com/office/powerpoint/2010/main" val="2776885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Most managers skeptical of own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5" name="Content Placeholder 4"/>
          <p:cNvPicPr>
            <a:picLocks noGrp="1"/>
          </p:cNvPicPr>
          <p:nvPr>
            <p:ph sz="quarter" idx="1"/>
          </p:nvPr>
        </p:nvPicPr>
        <p:blipFill rotWithShape="1">
          <a:blip r:embed="rId2"/>
          <a:srcRect l="38248" t="36088" r="37393" b="30104"/>
          <a:stretch/>
        </p:blipFill>
        <p:spPr bwMode="auto">
          <a:xfrm>
            <a:off x="1810125" y="1600200"/>
            <a:ext cx="5758699" cy="4495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35891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Most managers ignore willingness-to-pay!!!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775" y="2165255"/>
            <a:ext cx="8153400" cy="336568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3400" y="6110098"/>
            <a:ext cx="241284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050" dirty="0"/>
              <a:t>Source: </a:t>
            </a:r>
            <a:r>
              <a:rPr lang="en-US" sz="1050" dirty="0">
                <a:hlinkClick r:id="rId3"/>
              </a:rPr>
              <a:t>CMOSurvey.org, 2023 (slide 67)</a:t>
            </a:r>
            <a:endParaRPr lang="en-US" sz="1050" dirty="0"/>
          </a:p>
        </p:txBody>
      </p:sp>
      <p:sp>
        <p:nvSpPr>
          <p:cNvPr id="8" name="Rectangle 7"/>
          <p:cNvSpPr/>
          <p:nvPr/>
        </p:nvSpPr>
        <p:spPr>
          <a:xfrm>
            <a:off x="5814436" y="4432585"/>
            <a:ext cx="1623777" cy="262428"/>
          </a:xfrm>
          <a:prstGeom prst="rect">
            <a:avLst/>
          </a:prstGeom>
          <a:solidFill>
            <a:srgbClr val="FFFF00">
              <a:alpha val="38000"/>
            </a:srgb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03996" y="3848099"/>
            <a:ext cx="934218" cy="262428"/>
          </a:xfrm>
          <a:prstGeom prst="rect">
            <a:avLst/>
          </a:prstGeom>
          <a:solidFill>
            <a:srgbClr val="FFFF00">
              <a:alpha val="38000"/>
            </a:srgb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3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The Power of Good Pricing</a:t>
            </a:r>
            <a:br>
              <a:rPr lang="en-US" sz="4400" dirty="0"/>
            </a:b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Unlocking Revenue Growth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10" name="Content Placeholder 9"/>
          <p:cNvPicPr>
            <a:picLocks noGrp="1"/>
          </p:cNvPicPr>
          <p:nvPr>
            <p:ph sz="quarter" idx="1"/>
          </p:nvPr>
        </p:nvPicPr>
        <p:blipFill rotWithShape="1">
          <a:blip r:embed="rId3"/>
          <a:srcRect l="9295" t="16524" r="20192" b="13567"/>
          <a:stretch/>
        </p:blipFill>
        <p:spPr bwMode="auto">
          <a:xfrm>
            <a:off x="612775" y="1803199"/>
            <a:ext cx="7997825" cy="44452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391400" y="5257800"/>
            <a:ext cx="846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12.3%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07864" y="4674753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6.7%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07863" y="4091706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3.6%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07862" y="3501216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2.6%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6700" y="3655817"/>
            <a:ext cx="1905000" cy="1585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200" dirty="0">
                <a:solidFill>
                  <a:srgbClr val="7030A0"/>
                </a:solidFill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2013, 1% improvement in price would boost profits by:</a:t>
            </a:r>
          </a:p>
          <a:p>
            <a:pPr marL="285750" indent="-28575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7030A0"/>
                </a:solidFill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7.4% at Dupont</a:t>
            </a:r>
          </a:p>
          <a:p>
            <a:pPr marL="285750" indent="-28575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7030A0"/>
                </a:solidFill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10.2% at Nike</a:t>
            </a:r>
          </a:p>
          <a:p>
            <a:pPr marL="285750" indent="-28575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7030A0"/>
                </a:solidFill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18.9% at Boeing</a:t>
            </a:r>
          </a:p>
          <a:p>
            <a:pPr marL="285750" indent="-285750">
              <a:lnSpc>
                <a:spcPct val="107000"/>
              </a:lnSpc>
              <a:spcBef>
                <a:spcPts val="60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7030A0"/>
                </a:solidFill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27% at Walmart</a:t>
            </a:r>
            <a:endParaRPr lang="en-US" sz="1200" dirty="0">
              <a:solidFill>
                <a:srgbClr val="7030A0"/>
              </a:solidFill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71700" y="6363187"/>
            <a:ext cx="2741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Based on average Fortune 1000 company</a:t>
            </a:r>
          </a:p>
          <a:p>
            <a:r>
              <a:rPr lang="en-US" sz="800" dirty="0"/>
              <a:t>Source: </a:t>
            </a:r>
            <a:r>
              <a:rPr lang="en-US" sz="800" dirty="0">
                <a:hlinkClick r:id="rId4"/>
              </a:rPr>
              <a:t>Deloitte 2013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746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200"/>
              </a:spcAft>
              <a:buFont typeface="Wingdings" pitchFamily="2" charset="2"/>
              <a:buNone/>
            </a:pPr>
            <a:r>
              <a:rPr lang="en-US" i="1" dirty="0"/>
              <a:t>Pricing should balance customer’s demand for value and firm’s need to cover costs and make profits.</a:t>
            </a:r>
            <a:endParaRPr lang="en-US" i="1" dirty="0">
              <a:solidFill>
                <a:schemeClr val="bg1"/>
              </a:solidFill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Pricing often handled by finance/accounting because of link to financial performance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chemeClr val="bg1"/>
                </a:solidFill>
              </a:rPr>
              <a:t>This is a mistake!  Marketing is best-equipped to understand customer needs and value creation (</a:t>
            </a:r>
            <a:r>
              <a:rPr lang="en-US" b="1" dirty="0">
                <a:solidFill>
                  <a:schemeClr val="bg1"/>
                </a:solidFill>
              </a:rPr>
              <a:t>EVC lecture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chemeClr val="bg1"/>
                </a:solidFill>
              </a:rPr>
              <a:t>But Marketing needs to understand and consider financial objectives (</a:t>
            </a:r>
            <a:r>
              <a:rPr lang="en-US" b="1" dirty="0">
                <a:solidFill>
                  <a:schemeClr val="bg1"/>
                </a:solidFill>
              </a:rPr>
              <a:t>costs lecture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Pricing in the Organization</a:t>
            </a:r>
            <a:br>
              <a:rPr lang="en-US" sz="4400" dirty="0"/>
            </a:br>
            <a:r>
              <a:rPr lang="en-US" sz="3600" dirty="0"/>
              <a:t>Where should the pricing manager sit?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872870" y="4038601"/>
            <a:ext cx="3893178" cy="914400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dirty="0"/>
              <a:t>Finance vs marketing?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1026" name="Picture 2" descr="Marketing vs Finance Comparison Career Guideline Jobs | Reading M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95601"/>
            <a:ext cx="452789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81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Pricing in the Organization</a:t>
            </a:r>
            <a:br>
              <a:rPr lang="en-US" sz="4400" dirty="0"/>
            </a:br>
            <a:r>
              <a:rPr lang="en-US" sz="3600" dirty="0"/>
              <a:t>Where should the pricing manager sit?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i="1" dirty="0"/>
              <a:t>Pricing should balance customer’s demand for value and firm’s need to cover costs and make profits.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Pricing often delegated to finance/accounting because of link to financial performance ($revenues)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This is a mistake!  Marketing is best-equipped to understand customer needs and value creation (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 </a:t>
            </a:r>
            <a:r>
              <a:rPr lang="en-US" b="1" dirty="0"/>
              <a:t>lecture</a:t>
            </a:r>
            <a:r>
              <a:rPr lang="en-US" dirty="0"/>
              <a:t>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But Marketing needs to understand and consider financial objectives (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costs</a:t>
            </a:r>
            <a:r>
              <a:rPr lang="en-US" b="1" dirty="0"/>
              <a:t> lecture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8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23B00C-BFD1-482D-A186-3F1A83FFD31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3" name="Picture Placeholder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" t="19855" r="13750" b="2265"/>
          <a:stretch/>
        </p:blipFill>
        <p:spPr>
          <a:xfrm>
            <a:off x="0" y="0"/>
            <a:ext cx="9688286" cy="7086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4539" y="5603377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1" dirty="0">
                <a:solidFill>
                  <a:srgbClr val="FFFF00">
                    <a:alpha val="66000"/>
                  </a:srgbClr>
                </a:solidFill>
                <a:latin typeface="Cambria" panose="02040503050406030204" pitchFamily="18" charset="0"/>
              </a:rPr>
              <a:t>What do marketers do?</a:t>
            </a:r>
          </a:p>
        </p:txBody>
      </p:sp>
    </p:spTree>
    <p:extLst>
      <p:ext uri="{BB962C8B-B14F-4D97-AF65-F5344CB8AC3E}">
        <p14:creationId xmlns:p14="http://schemas.microsoft.com/office/powerpoint/2010/main" val="3684329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81006" y="2277364"/>
            <a:ext cx="7899520" cy="41148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  <a:spcAft>
                <a:spcPts val="1800"/>
              </a:spcAft>
              <a:defRPr/>
            </a:pPr>
            <a:r>
              <a:rPr lang="en-US" sz="2400" dirty="0">
                <a:latin typeface="+mj-lt"/>
              </a:rPr>
              <a:t>Marketing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decisions</a:t>
            </a:r>
            <a:r>
              <a:rPr lang="en-US" sz="2400" dirty="0">
                <a:latin typeface="+mj-lt"/>
              </a:rPr>
              <a:t> to manage customer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value</a:t>
            </a:r>
            <a:r>
              <a:rPr lang="en-US" sz="2400" dirty="0">
                <a:latin typeface="+mj-lt"/>
              </a:rPr>
              <a:t>: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Identifying </a:t>
            </a:r>
            <a:r>
              <a:rPr lang="en-US" sz="2400" i="1" dirty="0">
                <a:latin typeface="+mj-lt"/>
              </a:rPr>
              <a:t>profitable</a:t>
            </a:r>
            <a:r>
              <a:rPr lang="en-US" sz="2400" dirty="0">
                <a:latin typeface="+mj-lt"/>
              </a:rPr>
              <a:t> new opportunities for value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Creating value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Communicating value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dirty="0"/>
              <a:t>Delivering value to customer</a:t>
            </a:r>
            <a:endParaRPr lang="en-US" sz="2400" dirty="0">
              <a:latin typeface="+mj-lt"/>
            </a:endParaRP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Trading value to customer for money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4" name="Left Brace 3"/>
          <p:cNvSpPr/>
          <p:nvPr/>
        </p:nvSpPr>
        <p:spPr>
          <a:xfrm>
            <a:off x="806644" y="2810764"/>
            <a:ext cx="304800" cy="2743200"/>
          </a:xfrm>
          <a:prstGeom prst="lef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506" y="3766866"/>
            <a:ext cx="8320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The 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4 </a:t>
            </a:r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>
                <a:solidFill>
                  <a:srgbClr val="002060"/>
                </a:solidFill>
              </a:rPr>
              <a:t>’s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678" y="3399857"/>
            <a:ext cx="1346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>
                <a:solidFill>
                  <a:srgbClr val="002060"/>
                </a:solidFill>
                <a:latin typeface="Tw Cen MT (Headings)"/>
              </a:rPr>
              <a:t>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678" y="4009457"/>
            <a:ext cx="17219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>
                <a:solidFill>
                  <a:srgbClr val="002060"/>
                </a:solidFill>
                <a:latin typeface="Tw Cen MT (Headings)"/>
              </a:rPr>
              <a:t>romotion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6678" y="4579587"/>
            <a:ext cx="989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>
                <a:solidFill>
                  <a:srgbClr val="002060"/>
                </a:solidFill>
                <a:latin typeface="Tw Cen MT (Headings)"/>
              </a:rPr>
              <a:t>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6678" y="5152457"/>
            <a:ext cx="9380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  <a:latin typeface="Showcard Gothic" panose="04020904020102020604" pitchFamily="82" charset="0"/>
              </a:rPr>
              <a:t>P</a:t>
            </a:r>
            <a:r>
              <a:rPr lang="en-US" b="1" dirty="0">
                <a:solidFill>
                  <a:srgbClr val="002060"/>
                </a:solidFill>
                <a:latin typeface="Tw Cen MT (Headings)"/>
              </a:rPr>
              <a:t>rice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Pricing</a:t>
            </a:r>
            <a:r>
              <a:rPr lang="en-US" dirty="0"/>
              <a:t> and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Mix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4566" y="5865169"/>
            <a:ext cx="7772400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2400"/>
              </a:spcBef>
              <a:buNone/>
              <a:defRPr/>
            </a:pPr>
            <a:r>
              <a:rPr lang="en-US" b="1" dirty="0">
                <a:solidFill>
                  <a:srgbClr val="7030A0"/>
                </a:solidFill>
              </a:rPr>
              <a:t>Marketing strategy consists of aligning value and pricing to create a profitable enterprise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600200"/>
            <a:ext cx="5447451" cy="609600"/>
          </a:xfrm>
          <a:prstGeom prst="roundRect">
            <a:avLst/>
          </a:prstGeom>
          <a:solidFill>
            <a:srgbClr val="7030A0">
              <a:alpha val="2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lnSpc>
                <a:spcPct val="80000"/>
              </a:lnSpc>
              <a:spcBef>
                <a:spcPts val="2400"/>
              </a:spcBef>
              <a:buNone/>
              <a:defRPr/>
            </a:pPr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drives Revenue Growth!!!!</a:t>
            </a:r>
          </a:p>
        </p:txBody>
      </p:sp>
    </p:spTree>
    <p:extLst>
      <p:ext uri="{BB962C8B-B14F-4D97-AF65-F5344CB8AC3E}">
        <p14:creationId xmlns:p14="http://schemas.microsoft.com/office/powerpoint/2010/main" val="313968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9" grpId="0"/>
      <p:bldP spid="10" grpId="0"/>
      <p:bldP spid="11" grpId="0"/>
      <p:bldP spid="12" grpId="0"/>
      <p:bldP spid="14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E63171-6165-4521-AF02-4134732E7C5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8196" name="Picture 4" descr="Image result for throw d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54275"/>
            <a:ext cx="9144000" cy="527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86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your company set its prices?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1026" name="Picture 2" descr="Image result for prici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2657475"/>
            <a:ext cx="44767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545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453032-D752-45EF-9205-3397CF80D645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4731385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E246A-A41E-4316-8D4F-972DF1C9F47C}"/>
              </a:ext>
            </a:extLst>
          </p:cNvPr>
          <p:cNvSpPr/>
          <p:nvPr/>
        </p:nvSpPr>
        <p:spPr>
          <a:xfrm rot="20425608">
            <a:off x="5006782" y="2553432"/>
            <a:ext cx="4238883" cy="2132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99203-A4CB-493D-9CD2-10BE8C38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 start-ups, price is often literally a (bad?) guess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E866D-8603-43AF-8B33-12D34D3E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0D2EA-D17A-4A0B-A609-705762697801}"/>
              </a:ext>
            </a:extLst>
          </p:cNvPr>
          <p:cNvSpPr txBox="1"/>
          <p:nvPr/>
        </p:nvSpPr>
        <p:spPr>
          <a:xfrm>
            <a:off x="130035" y="2819400"/>
            <a:ext cx="1077283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 Altman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CEO,</a:t>
            </a:r>
          </a:p>
          <a:p>
            <a:r>
              <a:rPr lang="en-US" sz="1000" dirty="0"/>
              <a:t>January 6, 2025</a:t>
            </a:r>
          </a:p>
        </p:txBody>
      </p:sp>
      <p:pic>
        <p:nvPicPr>
          <p:cNvPr id="1026" name="Picture 2" descr="What Is OpenAI? Here's Everything a ...">
            <a:extLst>
              <a:ext uri="{FF2B5EF4-FFF2-40B4-BE49-F238E27FC236}">
                <a16:creationId xmlns:a16="http://schemas.microsoft.com/office/drawing/2014/main" id="{3D96643A-69FE-4DBB-8678-EE04D65379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2" t="39311" r="14058" b="37457"/>
          <a:stretch/>
        </p:blipFill>
        <p:spPr bwMode="auto">
          <a:xfrm>
            <a:off x="612648" y="3120226"/>
            <a:ext cx="7620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hoto collage of Sam Altman in front of the OpenAI logo.">
            <a:extLst>
              <a:ext uri="{FF2B5EF4-FFF2-40B4-BE49-F238E27FC236}">
                <a16:creationId xmlns:a16="http://schemas.microsoft.com/office/drawing/2014/main" id="{DAF42F95-0C19-4367-A912-53530D62E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33" y="1619640"/>
            <a:ext cx="1799640" cy="119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hlinkClick r:id="rId5"/>
            <a:extLst>
              <a:ext uri="{FF2B5EF4-FFF2-40B4-BE49-F238E27FC236}">
                <a16:creationId xmlns:a16="http://schemas.microsoft.com/office/drawing/2014/main" id="{B5970156-886A-45C8-9BB4-3425F4891CB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" r="1922"/>
          <a:stretch/>
        </p:blipFill>
        <p:spPr>
          <a:xfrm rot="20404278">
            <a:off x="5124717" y="2649603"/>
            <a:ext cx="3889248" cy="18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5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2057400" y="4648200"/>
            <a:ext cx="4572000" cy="438912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2291" name="Rectangle 6"/>
          <p:cNvSpPr>
            <a:spLocks noChangeArrowheads="1"/>
          </p:cNvSpPr>
          <p:nvPr/>
        </p:nvSpPr>
        <p:spPr bwMode="auto">
          <a:xfrm>
            <a:off x="2057400" y="2590800"/>
            <a:ext cx="4572000" cy="438912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Typical Pricing Rules used in Practice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 bwMode="auto">
              <a:xfrm>
                <a:off x="612648" y="2133600"/>
                <a:ext cx="7772400" cy="411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:r>
                  <a:rPr kumimoji="1" lang="en-US" kern="0" dirty="0">
                    <a:latin typeface="+mj-lt"/>
                  </a:rPr>
                  <a:t>Cost-plus pricing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i="1" kern="0" dirty="0" smtClean="0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kumimoji="1" lang="en-US" i="1" kern="0" dirty="0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kumimoji="1" lang="en-US" i="1" kern="0" dirty="0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kumimoji="1" lang="en-US" i="1" kern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i="1" kern="0" dirty="0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kumimoji="1" lang="en-US" i="1" kern="0" dirty="0" smtClean="0">
                          <a:latin typeface="Cambria Math" panose="02040503050406030204" pitchFamily="18" charset="0"/>
                        </a:rPr>
                        <m:t>)•(1+</m:t>
                      </m:r>
                      <m:r>
                        <a:rPr kumimoji="1" lang="en-US" i="1" kern="0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kumimoji="1" lang="en-US" i="1" kern="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kern="0" dirty="0">
                  <a:latin typeface="+mj-lt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  <a:buFontTx/>
                  <a:buChar char="–"/>
                  <a:defRPr/>
                </a:pPr>
                <a:r>
                  <a:rPr kumimoji="1" lang="en-US" b="1" kern="0" dirty="0">
                    <a:latin typeface="+mj-lt"/>
                  </a:rPr>
                  <a:t>M</a:t>
                </a:r>
                <a:r>
                  <a:rPr kumimoji="1" lang="en-US" kern="0" dirty="0">
                    <a:latin typeface="+mj-lt"/>
                  </a:rPr>
                  <a:t> is some pre-determined fixed mark-up 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  <a:buFontTx/>
                  <a:buChar char="–"/>
                  <a:defRPr/>
                </a:pPr>
                <a:r>
                  <a:rPr kumimoji="1" lang="en-US" kern="0" dirty="0">
                    <a:latin typeface="+mj-lt"/>
                  </a:rPr>
                  <a:t>Still most prevalent form of pricing among </a:t>
                </a:r>
                <a:r>
                  <a:rPr kumimoji="1" lang="en-US" i="1" kern="0" dirty="0">
                    <a:latin typeface="+mj-lt"/>
                  </a:rPr>
                  <a:t>Fortune 2000</a:t>
                </a:r>
              </a:p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:endParaRPr kumimoji="1" lang="en-US" kern="0" dirty="0">
                  <a:latin typeface="+mj-lt"/>
                </a:endParaRPr>
              </a:p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:r>
                  <a:rPr kumimoji="1" lang="en-US" kern="0" dirty="0">
                    <a:latin typeface="+mj-lt"/>
                  </a:rPr>
                  <a:t>Competitor-driven pricing</a:t>
                </a:r>
                <a:endParaRPr kumimoji="1" lang="en-US" kern="0" dirty="0"/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Clr>
                    <a:schemeClr val="accent1"/>
                  </a:buClr>
                  <a:buSzPct val="7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i="1" kern="0" dirty="0" smtClean="0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kumimoji="1" lang="en-US" i="1" kern="0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kumimoji="1" lang="en-US" i="1" kern="0" dirty="0" err="1" smtClean="0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kumimoji="1" lang="en-US" i="1" kern="0" spc="-150" baseline="30000" dirty="0" err="1" smtClean="0">
                          <a:latin typeface="Cambria Math" panose="02040503050406030204" pitchFamily="18" charset="0"/>
                        </a:rPr>
                        <m:t>𝑐𝑜𝑚𝑝𝑒𝑡𝑖𝑡𝑜𝑟</m:t>
                      </m:r>
                    </m:oMath>
                  </m:oMathPara>
                </a14:m>
                <a:endParaRPr kumimoji="1" lang="en-US" kern="0" dirty="0">
                  <a:latin typeface="+mj-lt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ct val="20000"/>
                  </a:spcBef>
                  <a:buFontTx/>
                  <a:buChar char="–"/>
                  <a:defRPr/>
                </a:pPr>
                <a:r>
                  <a:rPr kumimoji="1" lang="en-US" kern="0" dirty="0">
                    <a:latin typeface="+mj-lt"/>
                  </a:rPr>
                  <a:t>Match or undercut competitors’ prices</a:t>
                </a:r>
              </a:p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:endParaRPr kumimoji="1" lang="en-US" kern="0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648" y="2133600"/>
                <a:ext cx="7772400" cy="4114800"/>
              </a:xfrm>
              <a:prstGeom prst="rect">
                <a:avLst/>
              </a:prstGeom>
              <a:blipFill rotWithShape="0">
                <a:blip r:embed="rId2"/>
                <a:stretch>
                  <a:fillRect l="-235" t="-2074" r="-8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437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Image result for prici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6063"/>
            <a:ext cx="9139919" cy="380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r>
              <a:rPr lang="en-US" sz="4000" dirty="0"/>
              <a:t>Limitations of Simple Rules of Thumb</a:t>
            </a:r>
          </a:p>
        </p:txBody>
      </p:sp>
      <p:sp>
        <p:nvSpPr>
          <p:cNvPr id="73731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76793" y="5334000"/>
            <a:ext cx="8932243" cy="1024890"/>
          </a:xfrm>
        </p:spPr>
        <p:txBody>
          <a:bodyPr lIns="90488" tIns="44450" rIns="90488" bIns="44450"/>
          <a:lstStyle/>
          <a:p>
            <a:pPr>
              <a:spcBef>
                <a:spcPts val="600"/>
              </a:spcBef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600" i="1" dirty="0">
                <a:latin typeface="+mj-lt"/>
              </a:rPr>
              <a:t>Cost-plus pricing</a:t>
            </a:r>
            <a:r>
              <a:rPr lang="en-US" sz="2600" dirty="0">
                <a:latin typeface="+mj-lt"/>
              </a:rPr>
              <a:t> ignores value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600" i="1" dirty="0">
                <a:latin typeface="+mj-lt"/>
              </a:rPr>
              <a:t>Competitor-driven pricing</a:t>
            </a:r>
            <a:r>
              <a:rPr lang="en-US" sz="2600" dirty="0">
                <a:latin typeface="+mj-lt"/>
              </a:rPr>
              <a:t> assumes you create </a:t>
            </a:r>
            <a:r>
              <a:rPr lang="en-US" sz="2600" u="sng" dirty="0">
                <a:latin typeface="+mj-lt"/>
              </a:rPr>
              <a:t>no</a:t>
            </a:r>
            <a:r>
              <a:rPr lang="en-US" sz="2600" dirty="0">
                <a:latin typeface="+mj-lt"/>
              </a:rPr>
              <a:t> economic value</a:t>
            </a:r>
            <a:endParaRPr lang="en-US" sz="2600" u="sng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0183950C-32BC-403F-81E7-FB360C63D08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332613" y="1681788"/>
            <a:ext cx="1460656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00" b="1" dirty="0"/>
              <a:t>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148686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The Power of Good Pricing</a:t>
            </a:r>
            <a:br>
              <a:rPr lang="en-US" sz="4400" dirty="0"/>
            </a:b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Unlocking Revenue Growth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12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2514600"/>
            <a:ext cx="3081434" cy="285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67200" y="2362200"/>
            <a:ext cx="46482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Ok we established that 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Pricing is a Marketing Function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Pricing has power to unlock revenue growth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But how?</a:t>
            </a:r>
          </a:p>
        </p:txBody>
      </p:sp>
    </p:spTree>
    <p:extLst>
      <p:ext uri="{BB962C8B-B14F-4D97-AF65-F5344CB8AC3E}">
        <p14:creationId xmlns:p14="http://schemas.microsoft.com/office/powerpoint/2010/main" val="2971506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2209800"/>
            <a:ext cx="8153400" cy="4495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Scientific</a:t>
            </a:r>
            <a:r>
              <a:rPr lang="en-US" sz="3200" dirty="0"/>
              <a:t> approach to marketing decisions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	What is your </a:t>
            </a:r>
            <a:r>
              <a:rPr lang="en-US" dirty="0">
                <a:solidFill>
                  <a:srgbClr val="00B0F0"/>
                </a:solidFill>
              </a:rPr>
              <a:t>theory</a:t>
            </a:r>
            <a:r>
              <a:rPr lang="en-US" dirty="0"/>
              <a:t>?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	What is your </a:t>
            </a:r>
            <a:r>
              <a:rPr lang="en-US" dirty="0">
                <a:solidFill>
                  <a:srgbClr val="00B0F0"/>
                </a:solidFill>
              </a:rPr>
              <a:t>evidence</a:t>
            </a:r>
            <a:r>
              <a:rPr lang="en-US" dirty="0"/>
              <a:t>?</a:t>
            </a:r>
          </a:p>
          <a:p>
            <a:pPr lvl="3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Which data/method(s)?</a:t>
            </a:r>
            <a:endParaRPr lang="en-US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	Was it good for business (</a:t>
            </a:r>
            <a:r>
              <a:rPr lang="en-US" dirty="0">
                <a:solidFill>
                  <a:srgbClr val="00B0F0"/>
                </a:solidFill>
              </a:rPr>
              <a:t>accountability/evaluation</a:t>
            </a:r>
            <a:r>
              <a:rPr lang="en-US" dirty="0"/>
              <a:t>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2648" y="232628"/>
            <a:ext cx="8455152" cy="9906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Chicago Booth Approach to Marketing</a:t>
            </a:r>
            <a:endParaRPr lang="en-US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Oval 5"/>
          <p:cNvSpPr/>
          <p:nvPr/>
        </p:nvSpPr>
        <p:spPr>
          <a:xfrm>
            <a:off x="1143000" y="2926979"/>
            <a:ext cx="381000" cy="3810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43000" y="3561427"/>
            <a:ext cx="381000" cy="3810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2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143000" y="4848561"/>
            <a:ext cx="381000" cy="381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</a:t>
            </a:r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16063"/>
            <a:ext cx="413288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43202" y="5649001"/>
            <a:ext cx="883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 typeface="Wingdings" pitchFamily="2" charset="2"/>
              <a:buNone/>
            </a:pPr>
            <a:r>
              <a:rPr lang="en-US" sz="1800" i="1" dirty="0"/>
              <a:t>The </a:t>
            </a:r>
            <a:r>
              <a:rPr lang="en-US" sz="1800" b="1" i="1" dirty="0"/>
              <a:t>Chicago-Booth Approach to Marketing </a:t>
            </a:r>
            <a:r>
              <a:rPr lang="en-US" sz="1800" u="sng" dirty="0"/>
              <a:t>teaches</a:t>
            </a:r>
            <a:r>
              <a:rPr lang="en-US" sz="1800" dirty="0"/>
              <a:t> you how to use </a:t>
            </a:r>
            <a:r>
              <a:rPr lang="en-US" sz="1800" u="sng" dirty="0"/>
              <a:t>theory</a:t>
            </a:r>
            <a:r>
              <a:rPr lang="en-US" sz="1800" dirty="0"/>
              <a:t> and </a:t>
            </a:r>
            <a:r>
              <a:rPr lang="en-US" sz="1800" u="sng" dirty="0"/>
              <a:t>models</a:t>
            </a:r>
            <a:r>
              <a:rPr lang="en-US" sz="1800" dirty="0"/>
              <a:t> to analyze the </a:t>
            </a:r>
            <a:r>
              <a:rPr lang="en-US" sz="1800" u="sng" dirty="0"/>
              <a:t>data</a:t>
            </a:r>
            <a:r>
              <a:rPr lang="en-US" sz="1800" dirty="0"/>
              <a:t> in a scientific and logical manner</a:t>
            </a: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373390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Take-</a:t>
            </a:r>
            <a:r>
              <a:rPr lang="en-US" dirty="0" err="1"/>
              <a:t>Aways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Optimized Pricing as a driver of Growth</a:t>
            </a:r>
            <a:endParaRPr 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226552" cy="487680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Font typeface="Monotype Sorts" pitchFamily="2" charset="2"/>
              <a:buAutoNum type="arabicPeriod"/>
            </a:pPr>
            <a:endParaRPr lang="en-US" sz="2400" dirty="0">
              <a:latin typeface="+mj-lt"/>
            </a:endParaRPr>
          </a:p>
          <a:p>
            <a:pPr marL="320675" lvl="1" indent="0">
              <a:lnSpc>
                <a:spcPct val="8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dirty="0"/>
              <a:t>Design a pricing strategy</a:t>
            </a:r>
            <a:r>
              <a:rPr lang="en-US" dirty="0"/>
              <a:t> (theory &amp; evidence)</a:t>
            </a:r>
          </a:p>
          <a:p>
            <a:pPr marL="320675" lvl="1" indent="0">
              <a:lnSpc>
                <a:spcPct val="8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dirty="0"/>
              <a:t>	* simple uniform pricing structure</a:t>
            </a:r>
          </a:p>
          <a:p>
            <a:pPr marL="320675" lvl="1" indent="0">
              <a:lnSpc>
                <a:spcPct val="8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dirty="0"/>
              <a:t>	* sophisticated targeted/segmented pricing structures</a:t>
            </a:r>
          </a:p>
          <a:p>
            <a:pPr marL="320675" lvl="1" indent="0">
              <a:lnSpc>
                <a:spcPct val="8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dirty="0"/>
              <a:t>Logic</a:t>
            </a:r>
            <a:r>
              <a:rPr lang="en-US" dirty="0"/>
              <a:t>: virtues of </a:t>
            </a:r>
            <a:r>
              <a:rPr lang="en-US" i="1" dirty="0"/>
              <a:t>strategies</a:t>
            </a:r>
            <a:r>
              <a:rPr lang="en-US" dirty="0"/>
              <a:t> versus rules-of-thumb</a:t>
            </a:r>
            <a:endParaRPr lang="en-US" dirty="0">
              <a:latin typeface="+mj-lt"/>
            </a:endParaRPr>
          </a:p>
          <a:p>
            <a:pPr marL="320675" lvl="1" indent="0">
              <a:lnSpc>
                <a:spcPct val="8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For Good</a:t>
            </a:r>
            <a:r>
              <a:rPr lang="en-US" dirty="0"/>
              <a:t>: ethical, legal, social &amp; P.R. considerations</a:t>
            </a:r>
            <a:endParaRPr lang="en-US" i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95804" y="2209800"/>
            <a:ext cx="381000" cy="3810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95804" y="4269312"/>
            <a:ext cx="381000" cy="3810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2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95804" y="4953000"/>
            <a:ext cx="381000" cy="381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827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p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</Template>
  <TotalTime>8802129</TotalTime>
  <Pages>12</Pages>
  <Words>1013</Words>
  <Application>Microsoft Office PowerPoint</Application>
  <PresentationFormat>Letter Paper (8.5x11 in)</PresentationFormat>
  <Paragraphs>186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Arial</vt:lpstr>
      <vt:lpstr>Cambria</vt:lpstr>
      <vt:lpstr>Cambria Math</vt:lpstr>
      <vt:lpstr>Courier New</vt:lpstr>
      <vt:lpstr>Dosis Light</vt:lpstr>
      <vt:lpstr>Garamond</vt:lpstr>
      <vt:lpstr>HelveticaNeueLT Std Lt</vt:lpstr>
      <vt:lpstr>Monotype Sorts</vt:lpstr>
      <vt:lpstr>Showcard Gothic</vt:lpstr>
      <vt:lpstr>Times New Roman</vt:lpstr>
      <vt:lpstr>Tw Cen MT</vt:lpstr>
      <vt:lpstr>Tw Cen MT (Headings)</vt:lpstr>
      <vt:lpstr>Wingdings</vt:lpstr>
      <vt:lpstr>Wingdings 2</vt:lpstr>
      <vt:lpstr>temp</vt:lpstr>
      <vt:lpstr>Pricing strategies introduction</vt:lpstr>
      <vt:lpstr>About Me…</vt:lpstr>
      <vt:lpstr>About the Pricing Strategy course …</vt:lpstr>
      <vt:lpstr>Course TA</vt:lpstr>
      <vt:lpstr>Administrative Points</vt:lpstr>
      <vt:lpstr>Administrative Points Zoom</vt:lpstr>
      <vt:lpstr>Extra case studies</vt:lpstr>
      <vt:lpstr>Use of AI</vt:lpstr>
      <vt:lpstr>PowerPoint Presentation</vt:lpstr>
      <vt:lpstr>The Wisdom of the Oracle of Omaha</vt:lpstr>
      <vt:lpstr>Firms spend little effort on pricing</vt:lpstr>
      <vt:lpstr>Most managers skeptical of own pricing</vt:lpstr>
      <vt:lpstr>Most managers ignore willingness-to-pay!!!</vt:lpstr>
      <vt:lpstr>The Power of Good Pricing Unlocking Revenue Growth</vt:lpstr>
      <vt:lpstr>Pricing in the Organization Where should the pricing manager sit?</vt:lpstr>
      <vt:lpstr>Pricing in the Organization Where should the pricing manager sit?</vt:lpstr>
      <vt:lpstr>PowerPoint Presentation</vt:lpstr>
      <vt:lpstr>Pricing and the Marketing Mix</vt:lpstr>
      <vt:lpstr>Pricing in Practice</vt:lpstr>
      <vt:lpstr>How does your company set its prices?</vt:lpstr>
      <vt:lpstr>At start-ups, price is often literally a (bad?) guess</vt:lpstr>
      <vt:lpstr>Typical Pricing Rules used in Practice</vt:lpstr>
      <vt:lpstr>Limitations of Simple Rules of Thumb</vt:lpstr>
      <vt:lpstr>The Power of Good Pricing Unlocking Revenue Growth</vt:lpstr>
      <vt:lpstr>Chicago Booth Approach to Marketing</vt:lpstr>
      <vt:lpstr>Course Take-Aways Optimized Pricing as a driver of Growth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Value</dc:title>
  <dc:creator>JP Dube</dc:creator>
  <cp:lastModifiedBy>Dube, Jean-Pierre</cp:lastModifiedBy>
  <cp:revision>377</cp:revision>
  <cp:lastPrinted>1998-01-22T16:04:16Z</cp:lastPrinted>
  <dcterms:created xsi:type="dcterms:W3CDTF">1996-09-13T14:45:12Z</dcterms:created>
  <dcterms:modified xsi:type="dcterms:W3CDTF">2025-05-29T02:12:23Z</dcterms:modified>
</cp:coreProperties>
</file>