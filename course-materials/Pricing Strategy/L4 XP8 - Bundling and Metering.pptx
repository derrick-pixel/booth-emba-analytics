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59" r:id="rId1"/>
  </p:sldMasterIdLst>
  <p:notesMasterIdLst>
    <p:notesMasterId r:id="rId52"/>
  </p:notesMasterIdLst>
  <p:handoutMasterIdLst>
    <p:handoutMasterId r:id="rId53"/>
  </p:handoutMasterIdLst>
  <p:sldIdLst>
    <p:sldId id="256" r:id="rId2"/>
    <p:sldId id="336" r:id="rId3"/>
    <p:sldId id="332" r:id="rId4"/>
    <p:sldId id="309" r:id="rId5"/>
    <p:sldId id="417" r:id="rId6"/>
    <p:sldId id="310" r:id="rId7"/>
    <p:sldId id="337" r:id="rId8"/>
    <p:sldId id="368" r:id="rId9"/>
    <p:sldId id="349" r:id="rId10"/>
    <p:sldId id="369" r:id="rId11"/>
    <p:sldId id="413" r:id="rId12"/>
    <p:sldId id="375" r:id="rId13"/>
    <p:sldId id="381" r:id="rId14"/>
    <p:sldId id="414" r:id="rId15"/>
    <p:sldId id="383" r:id="rId16"/>
    <p:sldId id="384" r:id="rId17"/>
    <p:sldId id="263" r:id="rId18"/>
    <p:sldId id="264" r:id="rId19"/>
    <p:sldId id="307" r:id="rId20"/>
    <p:sldId id="266" r:id="rId21"/>
    <p:sldId id="341" r:id="rId22"/>
    <p:sldId id="415" r:id="rId23"/>
    <p:sldId id="333" r:id="rId24"/>
    <p:sldId id="370" r:id="rId25"/>
    <p:sldId id="277" r:id="rId26"/>
    <p:sldId id="352" r:id="rId27"/>
    <p:sldId id="353" r:id="rId28"/>
    <p:sldId id="354" r:id="rId29"/>
    <p:sldId id="342" r:id="rId30"/>
    <p:sldId id="404" r:id="rId31"/>
    <p:sldId id="418" r:id="rId32"/>
    <p:sldId id="420" r:id="rId33"/>
    <p:sldId id="405" r:id="rId34"/>
    <p:sldId id="416" r:id="rId35"/>
    <p:sldId id="419" r:id="rId36"/>
    <p:sldId id="356" r:id="rId37"/>
    <p:sldId id="345" r:id="rId38"/>
    <p:sldId id="347" r:id="rId39"/>
    <p:sldId id="348" r:id="rId40"/>
    <p:sldId id="358" r:id="rId41"/>
    <p:sldId id="346" r:id="rId42"/>
    <p:sldId id="359" r:id="rId43"/>
    <p:sldId id="360" r:id="rId44"/>
    <p:sldId id="361" r:id="rId45"/>
    <p:sldId id="362" r:id="rId46"/>
    <p:sldId id="363" r:id="rId47"/>
    <p:sldId id="364" r:id="rId48"/>
    <p:sldId id="365" r:id="rId49"/>
    <p:sldId id="366" r:id="rId50"/>
    <p:sldId id="367" r:id="rId51"/>
  </p:sldIdLst>
  <p:sldSz cx="9144000" cy="6858000" type="letter"/>
  <p:notesSz cx="6858000" cy="919956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6D2"/>
    <a:srgbClr val="704004"/>
    <a:srgbClr val="704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7" autoAdjust="0"/>
  </p:normalViewPr>
  <p:slideViewPr>
    <p:cSldViewPr>
      <p:cViewPr varScale="1">
        <p:scale>
          <a:sx n="119" d="100"/>
          <a:sy n="119" d="100"/>
        </p:scale>
        <p:origin x="19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91275" y="8802688"/>
            <a:ext cx="3968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86" tIns="44547" rIns="90686" bIns="44547" anchor="ctr">
            <a:spAutoFit/>
          </a:bodyPr>
          <a:lstStyle/>
          <a:p>
            <a:pPr algn="r" defTabSz="915988">
              <a:defRPr/>
            </a:pPr>
            <a:fld id="{9BF9464E-B693-4F5A-B778-AE25400D61A2}" type="slidenum">
              <a:rPr lang="en-US" sz="1400">
                <a:latin typeface="Arial" charset="0"/>
              </a:rPr>
              <a:pPr algn="r" defTabSz="915988">
                <a:defRPr/>
              </a:pPr>
              <a:t>‹#›</a:t>
            </a:fld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824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0388"/>
            <a:ext cx="5029200" cy="41386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686" tIns="44547" rIns="90686" bIns="445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25" y="688975"/>
            <a:ext cx="4603750" cy="3451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91275" y="8802688"/>
            <a:ext cx="3968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686" tIns="44547" rIns="90686" bIns="44547" anchor="ctr">
            <a:spAutoFit/>
          </a:bodyPr>
          <a:lstStyle/>
          <a:p>
            <a:pPr algn="r" defTabSz="915988">
              <a:defRPr/>
            </a:pPr>
            <a:fld id="{B9C88C7C-E726-47D7-B1C2-8E08339C4715}" type="slidenum">
              <a:rPr lang="en-US" sz="1400">
                <a:latin typeface="Arial" charset="0"/>
              </a:rPr>
              <a:pPr algn="r" defTabSz="915988">
                <a:defRPr/>
              </a:pPr>
              <a:t>‹#›</a:t>
            </a:fld>
            <a:endParaRPr lang="en-US" sz="14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5406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  <p:sp>
        <p:nvSpPr>
          <p:cNvPr id="348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8713" y="688975"/>
            <a:ext cx="4600575" cy="3451225"/>
          </a:xfrm>
          <a:ln cap="flat"/>
        </p:spPr>
      </p:sp>
    </p:spTree>
    <p:extLst>
      <p:ext uri="{BB962C8B-B14F-4D97-AF65-F5344CB8AC3E}">
        <p14:creationId xmlns:p14="http://schemas.microsoft.com/office/powerpoint/2010/main" val="4033070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42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839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Boundary Conditions</a:t>
            </a:r>
            <a:r>
              <a:rPr lang="en-US" dirty="0"/>
              <a:t>: </a:t>
            </a:r>
            <a:r>
              <a:rPr lang="en-US" dirty="0" err="1"/>
              <a:t>Chernev</a:t>
            </a:r>
            <a:r>
              <a:rPr lang="en-US" dirty="0"/>
              <a:t> and </a:t>
            </a:r>
            <a:r>
              <a:rPr lang="en-US" dirty="0" err="1"/>
              <a:t>Brough</a:t>
            </a:r>
            <a:r>
              <a:rPr lang="en-US" baseline="0" dirty="0"/>
              <a:t> (2012): find that </a:t>
            </a:r>
            <a:r>
              <a:rPr lang="en-US" i="1" u="sng" baseline="0" dirty="0"/>
              <a:t>categorization</a:t>
            </a:r>
            <a:r>
              <a:rPr lang="en-US" baseline="0" dirty="0"/>
              <a:t> can lower WTP for bundle when you combine an expensive item and a relatively inexpensive item. Consumer WTP for bundle can be </a:t>
            </a:r>
            <a:r>
              <a:rPr lang="en-US" u="sng" baseline="0" dirty="0"/>
              <a:t>LOWER</a:t>
            </a:r>
            <a:r>
              <a:rPr lang="en-US" u="none" baseline="0" dirty="0"/>
              <a:t> than for expensive item alone.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04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Shipping </a:t>
            </a:r>
            <a:r>
              <a:rPr lang="en-US" dirty="0">
                <a:sym typeface="Wingdings" panose="05000000000000000000" pitchFamily="2" charset="2"/>
              </a:rPr>
              <a:t> value vs cost.  But baggage</a:t>
            </a:r>
            <a:r>
              <a:rPr lang="en-US" baseline="0" dirty="0">
                <a:sym typeface="Wingdings" panose="05000000000000000000" pitchFamily="2" charset="2"/>
              </a:rPr>
              <a:t> doesn’t seem like a cost to supply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159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25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051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Nelson </a:t>
            </a:r>
            <a:r>
              <a:rPr lang="en-US" dirty="0" err="1"/>
              <a:t>Peltz</a:t>
            </a:r>
            <a:r>
              <a:rPr lang="en-US" dirty="0"/>
              <a:t> fought (and lost) to get a seat on P&amp;G’s board,</a:t>
            </a:r>
            <a:r>
              <a:rPr lang="en-US" baseline="0" dirty="0"/>
              <a:t> arguing P&amp;G was not innovating enough.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596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28713" y="688975"/>
            <a:ext cx="4600575" cy="34512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</a:t>
            </a:r>
            <a:r>
              <a:rPr lang="en-US" baseline="0" dirty="0"/>
              <a:t> AT&amp;T growth at end of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8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9" name="Picture 18" descr="Logo-for-gray-bg-ppt-whitemaroon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+mj-lt"/>
              </a:defRPr>
            </a:lvl1pPr>
            <a:lvl2pPr>
              <a:defRPr sz="2400" baseline="0">
                <a:latin typeface="+mj-lt"/>
              </a:defRPr>
            </a:lvl2pPr>
            <a:lvl3pPr>
              <a:defRPr sz="2400" baseline="0">
                <a:latin typeface="+mj-lt"/>
              </a:defRPr>
            </a:lvl3pPr>
            <a:lvl4pPr>
              <a:defRPr sz="2400" baseline="0">
                <a:latin typeface="+mj-lt"/>
              </a:defRPr>
            </a:lvl4pPr>
            <a:lvl5pPr>
              <a:defRPr sz="2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AEAD946-525E-41AB-BA74-CECD229520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DEEA9BB-1489-44EF-A2A6-E339571000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3D83535F-F314-4248-92E3-BB29980304F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AB6E28F-F3C4-4541-BD4E-BFBC61AE4D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BA085-ACB4-4F78-B8BA-BFC2D8397F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D9074F9F-5C57-418C-8C09-98D1DA07727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DED3A-EDBF-46C6-9913-57EF1C8F2F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2063D-AD16-4B15-9235-62D8C1FAA0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CDDBC-E362-465F-92FC-C96AA9CB6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9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CA64774-C6EE-4573-B52E-02624CDBCB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nford.edu/~ayurukog/bundling_welfare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microsoft.com/en-us/microsoft-365/p/microsoft-365-personal/cfq7ttc0k5b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orbes.com/sites/forbeseq/2021/05/03/are-shipping-costs-hurting-your-online-sales/?sh=a5945ef45109" TargetMode="External"/><Relationship Id="rId3" Type="http://schemas.openxmlformats.org/officeDocument/2006/relationships/hyperlink" Target="https://www.wsj.com/lifestyle/travel/airline-baggage-fees-climbing-d7c80874" TargetMode="External"/><Relationship Id="rId7" Type="http://schemas.openxmlformats.org/officeDocument/2006/relationships/hyperlink" Target="https://www.sciencedirect.com/science/article/pii/S105774081500042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sj.com/finance/investing/junk-fees-restaurants-concerts-hotels-prices-5d0cc14a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ec.europa.eu/commission/presscorner/detail/en/IP_19_3990" TargetMode="External"/><Relationship Id="rId7" Type="http://schemas.openxmlformats.org/officeDocument/2006/relationships/hyperlink" Target="https://www.ftc.gov/news-events/news/press-releases/2024/12/federal-trade-commission-announces-bipartisan-rule-banning-junk-ticket-hotel-fees" TargetMode="External"/><Relationship Id="rId2" Type="http://schemas.openxmlformats.org/officeDocument/2006/relationships/hyperlink" Target="https://www.accc.gov.au/media-release/airbnb-and-edreams-give-undertakings-to-accc-for-improved-pricing-practic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sj.com/articles/new-york-to-ban-hidden-fees-in-live-event-ticketing-11654606800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jpe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gress.gov/116/bills/hr4489/BILLS-116hr4489ih.xml?mod=article_inline" TargetMode="External"/><Relationship Id="rId2" Type="http://schemas.openxmlformats.org/officeDocument/2006/relationships/hyperlink" Target="https://advocacy.consumerreports.org/wp-content/uploads/2023/02/CR-Comment-for-FTC-re-Junk-Fees-02-23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hyperlink" Target="https://www.pahomepage.com/news/crime-courts/ag-marriott-hotels-to-pay-225k-in-hidden-fee-settlement/#:~:text=EYEWITNESS%20NEWS%20(WBRE%2FWYOU),of%20%E2%80%9Chidden%E2%80%9D%20resort%20fees." TargetMode="External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hyperlink" Target="https://homecourt.co/?utm_source=google&amp;utm_medium=cpc&amp;utm_campaign=Homecourt+RSA+Branded&amp;utm_term=Homecourt+-+Branded&amp;gad_source=1&amp;gclid=CjwKCAiAiOa9BhBqEiwABCdG8yt7DiAMpmxNkpHD-pwE370kt_aXF9NJrO5gx9RmTyQ0eowSPNzuZhoCE0kQAvD_Bw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quest.com/docview/223977456/2D52B15395C340F9PQ/1?accountid=14657" TargetMode="External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lobenewswire.com/news-release/2022/01/03/2360341/0/en/Automotive-Aftermarket-Size-to-Hit-US-950-1-Billion-by-2027.html" TargetMode="External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icrosoft.com/investor/reports/ar24/index.html" TargetMode="External"/><Relationship Id="rId4" Type="http://schemas.openxmlformats.org/officeDocument/2006/relationships/image" Target="../media/image3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mp.com/tech/big-tech/article/3292916/alibaba-cuts-ai-visual-model-cost-85-last-day-year-price-war-rages" TargetMode="External"/><Relationship Id="rId7" Type="http://schemas.openxmlformats.org/officeDocument/2006/relationships/image" Target="../media/image41.png"/><Relationship Id="rId2" Type="http://schemas.openxmlformats.org/officeDocument/2006/relationships/hyperlink" Target="https://www.canalys.com/newsroom/china-cloud-market-q3-202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ww.wsj.com/tech/ai/openai-changes-price-structure-for-business-version-of-chatgpt-1a36fa7b?st=zcPNLa&amp;reflink=article_email_shar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baccocontrol.bmj.com/content/31/6/773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usinesstoday.in/markets/stocks/story/jio-platforms-reports-257-profit-surge-arpu-climbs-to-rs-2062-473718-2025-04-26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  <a:noFill/>
        </p:spPr>
        <p:txBody>
          <a:bodyPr lIns="90488" tIns="44450" rIns="90488" bIns="44450"/>
          <a:lstStyle/>
          <a:p>
            <a:r>
              <a:rPr lang="en-US" sz="4000" dirty="0"/>
              <a:t>Bundled Pricing and Metered Pricing</a:t>
            </a:r>
            <a:endParaRPr lang="en-US" sz="1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362200" y="6050037"/>
            <a:ext cx="6705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Font typeface="Wingdings" pitchFamily="2" charset="2"/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Copyright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Pricing Strategies</a:t>
            </a:r>
          </a:p>
          <a:p>
            <a:r>
              <a:rPr lang="en-US" sz="1400" dirty="0"/>
              <a:t>2025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latin typeface="Times New Roman" pitchFamily="18" charset="0"/>
              </a:rPr>
              <a:t>Three pricing structures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i="1" dirty="0">
                <a:latin typeface="Times New Roman" pitchFamily="18" charset="0"/>
              </a:rPr>
              <a:t>   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Bundling</a:t>
            </a:r>
            <a:r>
              <a:rPr lang="en-US" i="1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to capture value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i="1" dirty="0">
                <a:latin typeface="Times New Roman" pitchFamily="18" charset="0"/>
              </a:rPr>
              <a:t>   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Mixed Bundling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as product line pricing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i="1" dirty="0">
                <a:latin typeface="Times New Roman" pitchFamily="18" charset="0"/>
              </a:rPr>
              <a:t>   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Metered Pricing</a:t>
            </a:r>
          </a:p>
          <a:p>
            <a:pPr lvl="1">
              <a:spcAft>
                <a:spcPts val="600"/>
              </a:spcAft>
            </a:pPr>
            <a:r>
              <a:rPr lang="en-US" dirty="0">
                <a:latin typeface="Times New Roman" pitchFamily="18" charset="0"/>
              </a:rPr>
              <a:t>The “Razors &amp; blades problem”</a:t>
            </a:r>
          </a:p>
          <a:p>
            <a:pPr lvl="1"/>
            <a:r>
              <a:rPr lang="en-US" dirty="0">
                <a:latin typeface="Times New Roman" pitchFamily="18" charset="0"/>
              </a:rPr>
              <a:t>Related to bundling complements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533400" y="2209800"/>
            <a:ext cx="403384" cy="403384"/>
          </a:xfrm>
          <a:prstGeom prst="ellipse">
            <a:avLst/>
          </a:prstGeom>
          <a:solidFill>
            <a:srgbClr val="CD9A33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533400" y="2885848"/>
            <a:ext cx="403384" cy="403384"/>
          </a:xfrm>
          <a:prstGeom prst="ellipse">
            <a:avLst/>
          </a:prstGeom>
          <a:solidFill>
            <a:srgbClr val="92D050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533400" y="3561896"/>
            <a:ext cx="403384" cy="403384"/>
          </a:xfrm>
          <a:prstGeom prst="ellipse">
            <a:avLst/>
          </a:prstGeom>
          <a:solidFill>
            <a:srgbClr val="009BC8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NeueLT Std Lt" panose="020B0403020202020204" pitchFamily="34" charset="0"/>
              <a:buChar char="+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766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2978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Bundling &amp; Mixed Bundling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EAD946-525E-41AB-BA74-CECD229520E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1026" name="Picture 2" descr="McDonald's Canada joins new global commitment to support families through a  focus on Happy Meals - Building Block Associ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56" y="2590800"/>
            <a:ext cx="4953000" cy="416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76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Robot, Artificial Intelligence, Woman, Forwar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2"/>
          <a:stretch/>
        </p:blipFill>
        <p:spPr bwMode="auto">
          <a:xfrm>
            <a:off x="7255298" y="5485015"/>
            <a:ext cx="197735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Price Bundling</a:t>
            </a:r>
            <a:br>
              <a:rPr lang="en-US" sz="4000" b="1" dirty="0"/>
            </a:br>
            <a:r>
              <a:rPr lang="en-US" sz="3200" dirty="0" err="1"/>
              <a:t>Bundling</a:t>
            </a:r>
            <a:r>
              <a:rPr lang="en-US" sz="3200" dirty="0"/>
              <a:t> non-complements</a:t>
            </a:r>
            <a:endParaRPr lang="en-US" sz="2400" dirty="0"/>
          </a:p>
        </p:txBody>
      </p:sp>
      <p:sp>
        <p:nvSpPr>
          <p:cNvPr id="15363" name="Line 4"/>
          <p:cNvSpPr>
            <a:spLocks noChangeShapeType="1"/>
          </p:cNvSpPr>
          <p:nvPr/>
        </p:nvSpPr>
        <p:spPr bwMode="auto">
          <a:xfrm flipV="1">
            <a:off x="1393373" y="2328863"/>
            <a:ext cx="0" cy="3362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>
            <a:off x="1393373" y="5691188"/>
            <a:ext cx="2698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1761673" y="3308351"/>
            <a:ext cx="703263" cy="2382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933248" y="4499769"/>
            <a:ext cx="723900" cy="119141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$30</a:t>
            </a: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488498" y="2854325"/>
            <a:ext cx="8239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WTP</a:t>
            </a:r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>
            <a:off x="1761673" y="5934075"/>
            <a:ext cx="836769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Word</a:t>
            </a:r>
          </a:p>
          <a:p>
            <a:r>
              <a:rPr lang="en-US" sz="1800" dirty="0"/>
              <a:t>Perfect</a:t>
            </a:r>
          </a:p>
        </p:txBody>
      </p:sp>
      <p:sp>
        <p:nvSpPr>
          <p:cNvPr id="15369" name="Text Box 10"/>
          <p:cNvSpPr txBox="1">
            <a:spLocks noChangeArrowheads="1"/>
          </p:cNvSpPr>
          <p:nvPr/>
        </p:nvSpPr>
        <p:spPr bwMode="auto">
          <a:xfrm>
            <a:off x="3390900" y="5934075"/>
            <a:ext cx="126637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Lotus 1-2-3</a:t>
            </a:r>
          </a:p>
        </p:txBody>
      </p:sp>
      <p:sp>
        <p:nvSpPr>
          <p:cNvPr id="15370" name="Line 11"/>
          <p:cNvSpPr>
            <a:spLocks noChangeShapeType="1"/>
          </p:cNvSpPr>
          <p:nvPr/>
        </p:nvSpPr>
        <p:spPr bwMode="auto">
          <a:xfrm flipV="1">
            <a:off x="5219700" y="2328863"/>
            <a:ext cx="0" cy="3362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71" name="Line 12"/>
          <p:cNvSpPr>
            <a:spLocks noChangeShapeType="1"/>
          </p:cNvSpPr>
          <p:nvPr/>
        </p:nvSpPr>
        <p:spPr bwMode="auto">
          <a:xfrm>
            <a:off x="5219700" y="5691188"/>
            <a:ext cx="2698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588000" y="4829175"/>
            <a:ext cx="703263" cy="862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$20</a:t>
            </a:r>
          </a:p>
        </p:txBody>
      </p:sp>
      <p:sp>
        <p:nvSpPr>
          <p:cNvPr id="15373" name="Rectangle 14"/>
          <p:cNvSpPr>
            <a:spLocks noChangeArrowheads="1"/>
          </p:cNvSpPr>
          <p:nvPr/>
        </p:nvSpPr>
        <p:spPr bwMode="auto">
          <a:xfrm>
            <a:off x="6759575" y="3308350"/>
            <a:ext cx="723900" cy="238283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5374" name="Text Box 15"/>
          <p:cNvSpPr txBox="1">
            <a:spLocks noChangeArrowheads="1"/>
          </p:cNvSpPr>
          <p:nvPr/>
        </p:nvSpPr>
        <p:spPr bwMode="auto">
          <a:xfrm>
            <a:off x="4314825" y="2854325"/>
            <a:ext cx="8239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WTP</a:t>
            </a:r>
          </a:p>
        </p:txBody>
      </p:sp>
      <p:sp>
        <p:nvSpPr>
          <p:cNvPr id="15375" name="Text Box 16"/>
          <p:cNvSpPr txBox="1">
            <a:spLocks noChangeArrowheads="1"/>
          </p:cNvSpPr>
          <p:nvPr/>
        </p:nvSpPr>
        <p:spPr bwMode="auto">
          <a:xfrm>
            <a:off x="5588000" y="5934075"/>
            <a:ext cx="836769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Word</a:t>
            </a:r>
          </a:p>
          <a:p>
            <a:r>
              <a:rPr lang="en-US" sz="1800" dirty="0"/>
              <a:t>Perfect</a:t>
            </a:r>
          </a:p>
        </p:txBody>
      </p:sp>
      <p:sp>
        <p:nvSpPr>
          <p:cNvPr id="15376" name="Text Box 17"/>
          <p:cNvSpPr txBox="1">
            <a:spLocks noChangeArrowheads="1"/>
          </p:cNvSpPr>
          <p:nvPr/>
        </p:nvSpPr>
        <p:spPr bwMode="auto">
          <a:xfrm>
            <a:off x="6759575" y="5934075"/>
            <a:ext cx="126637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Lotus 1-2-3</a:t>
            </a:r>
          </a:p>
        </p:txBody>
      </p:sp>
      <p:sp>
        <p:nvSpPr>
          <p:cNvPr id="15377" name="Text Box 18"/>
          <p:cNvSpPr txBox="1">
            <a:spLocks noChangeArrowheads="1"/>
          </p:cNvSpPr>
          <p:nvPr/>
        </p:nvSpPr>
        <p:spPr bwMode="auto">
          <a:xfrm>
            <a:off x="1761673" y="2101850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Reporter</a:t>
            </a:r>
          </a:p>
        </p:txBody>
      </p:sp>
      <p:sp>
        <p:nvSpPr>
          <p:cNvPr id="15378" name="Text Box 19"/>
          <p:cNvSpPr txBox="1">
            <a:spLocks noChangeArrowheads="1"/>
          </p:cNvSpPr>
          <p:nvPr/>
        </p:nvSpPr>
        <p:spPr bwMode="auto">
          <a:xfrm>
            <a:off x="6062663" y="2101850"/>
            <a:ext cx="119263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Analyst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21" name="Picture 6" descr="Pekah, Photographer, Isolated, Professional, Camer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0" r="20412" b="51017"/>
          <a:stretch/>
        </p:blipFill>
        <p:spPr bwMode="auto">
          <a:xfrm>
            <a:off x="-151135" y="5029200"/>
            <a:ext cx="19704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3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Robot, Artificial Intelligence, Woman, Forwar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2"/>
          <a:stretch/>
        </p:blipFill>
        <p:spPr bwMode="auto">
          <a:xfrm>
            <a:off x="7255298" y="5485015"/>
            <a:ext cx="197735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Price Bundling</a:t>
            </a:r>
            <a:br>
              <a:rPr lang="en-US" sz="4000" b="1" dirty="0"/>
            </a:br>
            <a:r>
              <a:rPr lang="en-US" sz="3200" dirty="0" err="1"/>
              <a:t>Bundling</a:t>
            </a:r>
            <a:r>
              <a:rPr lang="en-US" sz="3200" dirty="0"/>
              <a:t> non-complements</a:t>
            </a:r>
            <a:endParaRPr lang="en-US" sz="2400" dirty="0"/>
          </a:p>
        </p:txBody>
      </p:sp>
      <p:sp>
        <p:nvSpPr>
          <p:cNvPr id="15363" name="Line 4"/>
          <p:cNvSpPr>
            <a:spLocks noChangeShapeType="1"/>
          </p:cNvSpPr>
          <p:nvPr/>
        </p:nvSpPr>
        <p:spPr bwMode="auto">
          <a:xfrm flipV="1">
            <a:off x="1393373" y="2328863"/>
            <a:ext cx="0" cy="3362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>
            <a:off x="1393373" y="5691188"/>
            <a:ext cx="2698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1761673" y="3308351"/>
            <a:ext cx="703263" cy="2382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933248" y="4499769"/>
            <a:ext cx="723900" cy="119141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$30</a:t>
            </a: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488498" y="2854325"/>
            <a:ext cx="8239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WTP</a:t>
            </a:r>
          </a:p>
        </p:txBody>
      </p:sp>
      <p:sp>
        <p:nvSpPr>
          <p:cNvPr id="15368" name="Text Box 9"/>
          <p:cNvSpPr txBox="1">
            <a:spLocks noChangeArrowheads="1"/>
          </p:cNvSpPr>
          <p:nvPr/>
        </p:nvSpPr>
        <p:spPr bwMode="auto">
          <a:xfrm>
            <a:off x="1761673" y="5934075"/>
            <a:ext cx="836769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Word</a:t>
            </a:r>
          </a:p>
          <a:p>
            <a:r>
              <a:rPr lang="en-US" sz="1800" dirty="0"/>
              <a:t>Perfect</a:t>
            </a:r>
          </a:p>
        </p:txBody>
      </p:sp>
      <p:sp>
        <p:nvSpPr>
          <p:cNvPr id="15369" name="Text Box 10"/>
          <p:cNvSpPr txBox="1">
            <a:spLocks noChangeArrowheads="1"/>
          </p:cNvSpPr>
          <p:nvPr/>
        </p:nvSpPr>
        <p:spPr bwMode="auto">
          <a:xfrm>
            <a:off x="3390900" y="5934075"/>
            <a:ext cx="126637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Lotus 1-2-3</a:t>
            </a:r>
          </a:p>
        </p:txBody>
      </p:sp>
      <p:sp>
        <p:nvSpPr>
          <p:cNvPr id="15370" name="Line 11"/>
          <p:cNvSpPr>
            <a:spLocks noChangeShapeType="1"/>
          </p:cNvSpPr>
          <p:nvPr/>
        </p:nvSpPr>
        <p:spPr bwMode="auto">
          <a:xfrm flipV="1">
            <a:off x="5219700" y="2328863"/>
            <a:ext cx="0" cy="3362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71" name="Line 12"/>
          <p:cNvSpPr>
            <a:spLocks noChangeShapeType="1"/>
          </p:cNvSpPr>
          <p:nvPr/>
        </p:nvSpPr>
        <p:spPr bwMode="auto">
          <a:xfrm>
            <a:off x="5219700" y="5691188"/>
            <a:ext cx="2698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5588000" y="4829175"/>
            <a:ext cx="703263" cy="862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$20</a:t>
            </a:r>
          </a:p>
        </p:txBody>
      </p:sp>
      <p:sp>
        <p:nvSpPr>
          <p:cNvPr id="15373" name="Rectangle 14"/>
          <p:cNvSpPr>
            <a:spLocks noChangeArrowheads="1"/>
          </p:cNvSpPr>
          <p:nvPr/>
        </p:nvSpPr>
        <p:spPr bwMode="auto">
          <a:xfrm>
            <a:off x="6759575" y="3308350"/>
            <a:ext cx="723900" cy="238283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5374" name="Text Box 15"/>
          <p:cNvSpPr txBox="1">
            <a:spLocks noChangeArrowheads="1"/>
          </p:cNvSpPr>
          <p:nvPr/>
        </p:nvSpPr>
        <p:spPr bwMode="auto">
          <a:xfrm>
            <a:off x="4314825" y="2854325"/>
            <a:ext cx="823913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/>
              <a:t>WTP</a:t>
            </a:r>
          </a:p>
        </p:txBody>
      </p:sp>
      <p:sp>
        <p:nvSpPr>
          <p:cNvPr id="15375" name="Text Box 16"/>
          <p:cNvSpPr txBox="1">
            <a:spLocks noChangeArrowheads="1"/>
          </p:cNvSpPr>
          <p:nvPr/>
        </p:nvSpPr>
        <p:spPr bwMode="auto">
          <a:xfrm>
            <a:off x="5588000" y="5934075"/>
            <a:ext cx="836769" cy="6437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Word</a:t>
            </a:r>
          </a:p>
          <a:p>
            <a:r>
              <a:rPr lang="en-US" sz="1800" dirty="0"/>
              <a:t>Perfect</a:t>
            </a:r>
          </a:p>
        </p:txBody>
      </p:sp>
      <p:sp>
        <p:nvSpPr>
          <p:cNvPr id="15376" name="Text Box 17"/>
          <p:cNvSpPr txBox="1">
            <a:spLocks noChangeArrowheads="1"/>
          </p:cNvSpPr>
          <p:nvPr/>
        </p:nvSpPr>
        <p:spPr bwMode="auto">
          <a:xfrm>
            <a:off x="6759575" y="5934075"/>
            <a:ext cx="1266373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/>
              <a:t>Lotus 1-2-3</a:t>
            </a:r>
          </a:p>
        </p:txBody>
      </p:sp>
      <p:sp>
        <p:nvSpPr>
          <p:cNvPr id="15377" name="Text Box 18"/>
          <p:cNvSpPr txBox="1">
            <a:spLocks noChangeArrowheads="1"/>
          </p:cNvSpPr>
          <p:nvPr/>
        </p:nvSpPr>
        <p:spPr bwMode="auto">
          <a:xfrm>
            <a:off x="1761673" y="2101850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Reporter</a:t>
            </a:r>
          </a:p>
        </p:txBody>
      </p:sp>
      <p:sp>
        <p:nvSpPr>
          <p:cNvPr id="15378" name="Text Box 19"/>
          <p:cNvSpPr txBox="1">
            <a:spLocks noChangeArrowheads="1"/>
          </p:cNvSpPr>
          <p:nvPr/>
        </p:nvSpPr>
        <p:spPr bwMode="auto">
          <a:xfrm>
            <a:off x="6062663" y="2101850"/>
            <a:ext cx="119263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Analyst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21" name="Picture 6" descr="Pekah, Photographer, Isolated, Professional, Camer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10" r="20412" b="51017"/>
          <a:stretch/>
        </p:blipFill>
        <p:spPr bwMode="auto">
          <a:xfrm>
            <a:off x="-151135" y="5029200"/>
            <a:ext cx="19704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E8099D-8CFC-48DA-B558-68AD911BC5C5}"/>
              </a:ext>
            </a:extLst>
          </p:cNvPr>
          <p:cNvSpPr txBox="1"/>
          <p:nvPr/>
        </p:nvSpPr>
        <p:spPr>
          <a:xfrm>
            <a:off x="1905000" y="1600200"/>
            <a:ext cx="5446556" cy="46166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Can you derive demand for the Bundle?</a:t>
            </a:r>
          </a:p>
        </p:txBody>
      </p:sp>
    </p:spTree>
    <p:extLst>
      <p:ext uri="{BB962C8B-B14F-4D97-AF65-F5344CB8AC3E}">
        <p14:creationId xmlns:p14="http://schemas.microsoft.com/office/powerpoint/2010/main" val="89574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Line 3"/>
          <p:cNvSpPr>
            <a:spLocks noChangeShapeType="1"/>
          </p:cNvSpPr>
          <p:nvPr/>
        </p:nvSpPr>
        <p:spPr bwMode="auto">
          <a:xfrm flipV="1">
            <a:off x="2300288" y="2743200"/>
            <a:ext cx="0" cy="3721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2300288" y="6464300"/>
            <a:ext cx="31543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014413" y="3763963"/>
            <a:ext cx="1060450" cy="1184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/>
              <a:t>WTP</a:t>
            </a:r>
          </a:p>
          <a:p>
            <a:pPr algn="ctr"/>
            <a:r>
              <a:rPr lang="en-US"/>
              <a:t>For</a:t>
            </a:r>
          </a:p>
          <a:p>
            <a:pPr algn="ctr"/>
            <a:r>
              <a:rPr lang="en-US"/>
              <a:t>Bundle</a:t>
            </a:r>
          </a:p>
        </p:txBody>
      </p:sp>
      <p:sp>
        <p:nvSpPr>
          <p:cNvPr id="16394" name="Text Box 17"/>
          <p:cNvSpPr txBox="1">
            <a:spLocks noChangeArrowheads="1"/>
          </p:cNvSpPr>
          <p:nvPr/>
        </p:nvSpPr>
        <p:spPr bwMode="auto">
          <a:xfrm>
            <a:off x="2074863" y="2146300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Reporter</a:t>
            </a:r>
          </a:p>
        </p:txBody>
      </p:sp>
      <p:sp>
        <p:nvSpPr>
          <p:cNvPr id="16395" name="Text Box 18"/>
          <p:cNvSpPr txBox="1">
            <a:spLocks noChangeArrowheads="1"/>
          </p:cNvSpPr>
          <p:nvPr/>
        </p:nvSpPr>
        <p:spPr bwMode="auto">
          <a:xfrm>
            <a:off x="3927475" y="2146300"/>
            <a:ext cx="119263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Analyst</a:t>
            </a:r>
          </a:p>
        </p:txBody>
      </p:sp>
      <p:sp>
        <p:nvSpPr>
          <p:cNvPr id="16397" name="Text Box 20"/>
          <p:cNvSpPr txBox="1">
            <a:spLocks noChangeArrowheads="1"/>
          </p:cNvSpPr>
          <p:nvPr/>
        </p:nvSpPr>
        <p:spPr bwMode="auto">
          <a:xfrm>
            <a:off x="218096" y="1524000"/>
            <a:ext cx="795333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Suppose a monopolist sold both software titles as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bundle</a:t>
            </a:r>
            <a:r>
              <a:rPr lang="en-US" b="1" dirty="0"/>
              <a:t>?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605881" y="4081462"/>
            <a:ext cx="703263" cy="2382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605881" y="2890043"/>
            <a:ext cx="703263" cy="119141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$30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4161842" y="4081462"/>
            <a:ext cx="723900" cy="238283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161843" y="3219449"/>
            <a:ext cx="723900" cy="862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$20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8" name="Rectangle 20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r>
              <a:rPr lang="en-US" sz="4000" b="1" dirty="0"/>
              <a:t>Price Bundling</a:t>
            </a:r>
            <a:br>
              <a:rPr lang="en-US" sz="4000" b="1" dirty="0"/>
            </a:br>
            <a:r>
              <a:rPr lang="en-US" sz="3200" dirty="0" err="1"/>
              <a:t>Bundling</a:t>
            </a:r>
            <a:r>
              <a:rPr lang="en-US" sz="3200" dirty="0"/>
              <a:t> non-complements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4977904" y="3925106"/>
            <a:ext cx="4167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bundling</a:t>
            </a:r>
            <a:r>
              <a:rPr lang="en-US" sz="1600" b="1" i="1" dirty="0"/>
              <a:t>:</a:t>
            </a:r>
            <a:r>
              <a:rPr lang="en-US" sz="1600" dirty="0"/>
              <a:t> no product integration</a:t>
            </a:r>
          </a:p>
          <a:p>
            <a:r>
              <a:rPr lang="en-US" sz="1600" dirty="0"/>
              <a:t>  (i.e., no inter-dependencies/complementarities)</a:t>
            </a:r>
          </a:p>
        </p:txBody>
      </p:sp>
    </p:spTree>
    <p:extLst>
      <p:ext uri="{BB962C8B-B14F-4D97-AF65-F5344CB8AC3E}">
        <p14:creationId xmlns:p14="http://schemas.microsoft.com/office/powerpoint/2010/main" val="296240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Pure Components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i="1" dirty="0">
                <a:latin typeface="+mj-lt"/>
              </a:rPr>
              <a:t>Word Perfect</a:t>
            </a:r>
            <a:r>
              <a:rPr lang="en-US" sz="2400" dirty="0">
                <a:latin typeface="+mj-lt"/>
              </a:rPr>
              <a:t>: $100, give up Analysts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i="1" dirty="0">
                <a:latin typeface="+mj-lt"/>
              </a:rPr>
              <a:t>Lotus 1-2-3</a:t>
            </a:r>
            <a:r>
              <a:rPr lang="en-US" sz="2400" dirty="0">
                <a:latin typeface="+mj-lt"/>
              </a:rPr>
              <a:t>:    $100, give up Reporters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>
                <a:latin typeface="+mj-lt"/>
              </a:rPr>
              <a:t>Get $100 total from each customer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Untapped demand: $30 for Reporters, $20 for Analysts</a:t>
            </a:r>
            <a:endParaRPr lang="en-US" dirty="0">
              <a:latin typeface="+mj-lt"/>
            </a:endParaRPr>
          </a:p>
          <a:p>
            <a:pPr lvl="1">
              <a:lnSpc>
                <a:spcPct val="90000"/>
              </a:lnSpc>
              <a:defRPr/>
            </a:pPr>
            <a:endParaRPr lang="en-US" sz="2400" dirty="0">
              <a:latin typeface="+mj-lt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Pure Bundling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Bundle: $120, sell both items to all customers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Only $10 left on table for reporters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b="1" dirty="0">
                <a:latin typeface="+mj-lt"/>
              </a:rPr>
              <a:t>i.e., Bundling to price-discriminate (</a:t>
            </a:r>
            <a:r>
              <a:rPr lang="en-US" sz="2400" b="1" i="1" dirty="0">
                <a:latin typeface="+mj-lt"/>
              </a:rPr>
              <a:t>capture more value</a:t>
            </a:r>
            <a:r>
              <a:rPr lang="en-US" sz="2400" b="1" dirty="0">
                <a:latin typeface="+mj-lt"/>
              </a:rPr>
              <a:t>)</a:t>
            </a:r>
          </a:p>
          <a:p>
            <a:pPr marL="366713" lvl="1" indent="0">
              <a:lnSpc>
                <a:spcPct val="90000"/>
              </a:lnSpc>
              <a:spcAft>
                <a:spcPts val="600"/>
              </a:spcAft>
              <a:buNone/>
              <a:defRPr/>
            </a:pPr>
            <a:endParaRPr lang="en-US" b="1" dirty="0"/>
          </a:p>
          <a:p>
            <a:pPr marL="366713" lvl="1" indent="0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US" b="1" dirty="0"/>
              <a:t>Why?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Price Bundling</a:t>
            </a:r>
            <a:br>
              <a:rPr lang="en-US" sz="4400" b="1" dirty="0"/>
            </a:br>
            <a:r>
              <a:rPr lang="en-US" sz="3600" dirty="0" err="1"/>
              <a:t>Bundling</a:t>
            </a:r>
            <a:r>
              <a:rPr lang="en-US" sz="3600" dirty="0"/>
              <a:t> non-complements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77485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/>
          <p:cNvCxnSpPr/>
          <p:nvPr/>
        </p:nvCxnSpPr>
        <p:spPr>
          <a:xfrm>
            <a:off x="3248845" y="4010180"/>
            <a:ext cx="5904" cy="1261276"/>
          </a:xfrm>
          <a:prstGeom prst="line">
            <a:avLst/>
          </a:prstGeom>
          <a:ln w="174625">
            <a:solidFill>
              <a:srgbClr val="7044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294503" y="4081462"/>
            <a:ext cx="1033272" cy="0"/>
          </a:xfrm>
          <a:prstGeom prst="line">
            <a:avLst/>
          </a:prstGeom>
          <a:ln w="174625">
            <a:solidFill>
              <a:srgbClr val="7044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232417" y="5181600"/>
            <a:ext cx="1097280" cy="0"/>
          </a:xfrm>
          <a:prstGeom prst="line">
            <a:avLst/>
          </a:prstGeom>
          <a:ln w="174625">
            <a:solidFill>
              <a:srgbClr val="7044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4229652" y="5102752"/>
            <a:ext cx="13000" cy="1361548"/>
          </a:xfrm>
          <a:prstGeom prst="line">
            <a:avLst/>
          </a:prstGeom>
          <a:ln w="174625">
            <a:solidFill>
              <a:srgbClr val="7044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294503" y="4081462"/>
            <a:ext cx="988029" cy="0"/>
          </a:xfrm>
          <a:prstGeom prst="line">
            <a:avLst/>
          </a:prstGeom>
          <a:ln w="82550">
            <a:solidFill>
              <a:srgbClr val="94B6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7" name="Line 3"/>
          <p:cNvSpPr>
            <a:spLocks noChangeShapeType="1"/>
          </p:cNvSpPr>
          <p:nvPr/>
        </p:nvSpPr>
        <p:spPr bwMode="auto">
          <a:xfrm flipV="1">
            <a:off x="2300288" y="2743200"/>
            <a:ext cx="0" cy="3721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 flipV="1">
            <a:off x="2300288" y="6462874"/>
            <a:ext cx="3948112" cy="142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14837" y="2605400"/>
            <a:ext cx="81432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dirty="0"/>
              <a:t>Price</a:t>
            </a:r>
          </a:p>
        </p:txBody>
      </p:sp>
      <p:sp>
        <p:nvSpPr>
          <p:cNvPr id="16397" name="Text Box 20"/>
          <p:cNvSpPr txBox="1">
            <a:spLocks noChangeArrowheads="1"/>
          </p:cNvSpPr>
          <p:nvPr/>
        </p:nvSpPr>
        <p:spPr bwMode="auto">
          <a:xfrm>
            <a:off x="218096" y="1524000"/>
            <a:ext cx="378552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Compare Market Demands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8" name="Rectangle 20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r>
              <a:rPr lang="en-US" sz="4000" b="1" dirty="0"/>
              <a:t>Price Bundling</a:t>
            </a:r>
            <a:br>
              <a:rPr lang="en-US" sz="4000" b="1" dirty="0"/>
            </a:br>
            <a:r>
              <a:rPr lang="en-US" sz="3200" dirty="0" err="1"/>
              <a:t>Bundling</a:t>
            </a:r>
            <a:r>
              <a:rPr lang="en-US" sz="3200" dirty="0"/>
              <a:t> non-complements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300288" y="2890043"/>
            <a:ext cx="99669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282532" y="3219448"/>
            <a:ext cx="96012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290006" y="2890043"/>
            <a:ext cx="2492" cy="33832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51406" y="5607334"/>
            <a:ext cx="1008856" cy="0"/>
          </a:xfrm>
          <a:prstGeom prst="line">
            <a:avLst/>
          </a:prstGeom>
          <a:ln w="82550">
            <a:solidFill>
              <a:srgbClr val="94B6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38939" y="4100035"/>
            <a:ext cx="1447" cy="1538460"/>
          </a:xfrm>
          <a:prstGeom prst="line">
            <a:avLst/>
          </a:prstGeom>
          <a:ln w="82550">
            <a:solidFill>
              <a:srgbClr val="94B6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238981" y="5562600"/>
            <a:ext cx="0" cy="901699"/>
          </a:xfrm>
          <a:prstGeom prst="line">
            <a:avLst/>
          </a:prstGeom>
          <a:ln w="82550">
            <a:solidFill>
              <a:srgbClr val="94B6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27326" y="2975644"/>
            <a:ext cx="1157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Bundle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9600" y="504310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704004"/>
                </a:solidFill>
              </a:rPr>
              <a:t>Lotus demand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9600" y="5476701"/>
            <a:ext cx="1526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94B6D2"/>
                </a:solidFill>
              </a:rPr>
              <a:t>Word Perfect </a:t>
            </a:r>
            <a:r>
              <a:rPr lang="en-US" sz="1200" dirty="0">
                <a:solidFill>
                  <a:srgbClr val="94B6D2"/>
                </a:solidFill>
              </a:rPr>
              <a:t>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82516" y="2773052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$130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33494" y="392525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$100</a:t>
            </a: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6364056" y="6225861"/>
            <a:ext cx="221355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dirty="0"/>
              <a:t>Quantity (</a:t>
            </a:r>
            <a:r>
              <a:rPr lang="en-US" i="1" dirty="0"/>
              <a:t>share</a:t>
            </a:r>
            <a:r>
              <a:rPr lang="en-US" dirty="0"/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37635" y="50584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$30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49417" y="5484395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$20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53275" y="6554156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50%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8150" y="6554156"/>
            <a:ext cx="5132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100%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238981" y="3219448"/>
            <a:ext cx="0" cy="3244851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5638801" y="2427288"/>
            <a:ext cx="3342744" cy="12285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 algn="ctr"/>
            <a:r>
              <a:rPr lang="en-US" u="sng" dirty="0"/>
              <a:t>Result: </a:t>
            </a:r>
          </a:p>
          <a:p>
            <a:pPr algn="ctr">
              <a:spcAft>
                <a:spcPts val="1200"/>
              </a:spcAft>
            </a:pPr>
            <a:r>
              <a:rPr lang="en-US" sz="2000" dirty="0"/>
              <a:t>Bundle demand is more elastic </a:t>
            </a:r>
          </a:p>
          <a:p>
            <a:pPr algn="ctr">
              <a:spcAft>
                <a:spcPts val="1200"/>
              </a:spcAft>
            </a:pPr>
            <a:r>
              <a:rPr lang="en-US" sz="2000" dirty="0"/>
              <a:t>(less dispersion in WTP)</a:t>
            </a:r>
          </a:p>
        </p:txBody>
      </p:sp>
    </p:spTree>
    <p:extLst>
      <p:ext uri="{BB962C8B-B14F-4D97-AF65-F5344CB8AC3E}">
        <p14:creationId xmlns:p14="http://schemas.microsoft.com/office/powerpoint/2010/main" val="228628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Bundling</a:t>
            </a:r>
            <a:r>
              <a:rPr lang="en-US" dirty="0"/>
              <a:t> can capture consumer value (i.e., price discriminate) if WTP for bundle more </a:t>
            </a:r>
            <a:r>
              <a:rPr lang="en-US" i="1" dirty="0"/>
              <a:t>homogeneous</a:t>
            </a:r>
            <a:r>
              <a:rPr lang="en-US" dirty="0"/>
              <a:t> than WTP for components</a:t>
            </a:r>
          </a:p>
          <a:p>
            <a:pPr lvl="1"/>
            <a:r>
              <a:rPr lang="en-US" dirty="0"/>
              <a:t>b/c tastes are negatively correlated</a:t>
            </a:r>
          </a:p>
          <a:p>
            <a:pPr marL="366713" lvl="1" indent="0">
              <a:buNone/>
            </a:pPr>
            <a:r>
              <a:rPr lang="en-US" dirty="0"/>
              <a:t>	bundled demand is more price-elastic</a:t>
            </a:r>
          </a:p>
          <a:p>
            <a:endParaRPr lang="en-US" b="1" dirty="0"/>
          </a:p>
          <a:p>
            <a:r>
              <a:rPr lang="en-US" b="1" u="sng" dirty="0"/>
              <a:t>Cable TV </a:t>
            </a:r>
            <a:r>
              <a:rPr lang="en-US" u="sng" dirty="0"/>
              <a:t>is canonical example for bundling</a:t>
            </a:r>
            <a:endParaRPr lang="en-US" b="1" u="sng" dirty="0"/>
          </a:p>
          <a:p>
            <a:pPr lvl="1"/>
            <a:r>
              <a:rPr lang="en-US" dirty="0"/>
              <a:t>MTV &amp; </a:t>
            </a:r>
            <a:r>
              <a:rPr lang="en-US" dirty="0" err="1"/>
              <a:t>SoapNet</a:t>
            </a:r>
            <a:r>
              <a:rPr lang="en-US" dirty="0"/>
              <a:t> taste correlation: -0.13</a:t>
            </a:r>
          </a:p>
          <a:p>
            <a:pPr lvl="1"/>
            <a:r>
              <a:rPr lang="en-US" dirty="0"/>
              <a:t>CNBC &amp; Comedy Central taste correlation: -0.19</a:t>
            </a:r>
          </a:p>
          <a:p>
            <a:pPr marL="366713" lvl="1" indent="0">
              <a:buNone/>
            </a:pPr>
            <a:r>
              <a:rPr lang="en-US" dirty="0"/>
              <a:t>versus</a:t>
            </a:r>
          </a:p>
          <a:p>
            <a:pPr lvl="1"/>
            <a:r>
              <a:rPr lang="en-US" dirty="0"/>
              <a:t>ESPN &amp; ESPN2  have taste correlation of 0.67</a:t>
            </a:r>
          </a:p>
          <a:p>
            <a:pPr marL="366713" lvl="1" indent="0">
              <a:spcBef>
                <a:spcPts val="1200"/>
              </a:spcBef>
              <a:buNone/>
            </a:pPr>
            <a:r>
              <a:rPr lang="en-US" sz="1800" dirty="0"/>
              <a:t>Source: </a:t>
            </a:r>
            <a:r>
              <a:rPr lang="en-US" sz="1800" dirty="0">
                <a:hlinkClick r:id="rId3"/>
              </a:rPr>
              <a:t>Crawford and </a:t>
            </a:r>
            <a:r>
              <a:rPr lang="en-US" sz="1800" dirty="0" err="1">
                <a:hlinkClick r:id="rId3"/>
              </a:rPr>
              <a:t>Yurukoglu</a:t>
            </a:r>
            <a:r>
              <a:rPr lang="en-US" sz="1800" dirty="0">
                <a:hlinkClick r:id="rId3"/>
              </a:rPr>
              <a:t> (2011)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Price Bundling</a:t>
            </a:r>
            <a:br>
              <a:rPr lang="en-US" sz="4400" b="1" dirty="0"/>
            </a:br>
            <a:r>
              <a:rPr lang="en-US" sz="3600" dirty="0" err="1"/>
              <a:t>Bundling</a:t>
            </a:r>
            <a:r>
              <a:rPr lang="en-US" sz="3600" dirty="0"/>
              <a:t> non-complements</a:t>
            </a:r>
            <a:endParaRPr lang="en-US" sz="2700" dirty="0"/>
          </a:p>
        </p:txBody>
      </p:sp>
      <p:sp>
        <p:nvSpPr>
          <p:cNvPr id="2" name="Right Arrow 1"/>
          <p:cNvSpPr/>
          <p:nvPr/>
        </p:nvSpPr>
        <p:spPr>
          <a:xfrm>
            <a:off x="1066800" y="28194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The Dreaded Bundle Comes to Internet TV | The New York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038600"/>
            <a:ext cx="2034568" cy="143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6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152400"/>
            <a:ext cx="7772400" cy="1143000"/>
          </a:xfrm>
        </p:spPr>
        <p:txBody>
          <a:bodyPr/>
          <a:lstStyle/>
          <a:p>
            <a:r>
              <a:rPr lang="en-US" sz="4000" dirty="0"/>
              <a:t>Price Bundling: competitive strategy</a:t>
            </a:r>
            <a:br>
              <a:rPr lang="en-US" sz="4000" dirty="0"/>
            </a:br>
            <a:r>
              <a:rPr lang="en-US" sz="3200" dirty="0"/>
              <a:t>Microsoft’s launch of </a:t>
            </a:r>
            <a:r>
              <a:rPr lang="en-US" sz="3200" i="1" dirty="0"/>
              <a:t>MS Office </a:t>
            </a:r>
            <a:r>
              <a:rPr lang="en-US" sz="3200" dirty="0"/>
              <a:t>in</a:t>
            </a:r>
            <a:r>
              <a:rPr lang="en-US" sz="3200" i="1" dirty="0"/>
              <a:t> </a:t>
            </a:r>
            <a:r>
              <a:rPr lang="en-US" sz="3200" dirty="0"/>
              <a:t>1990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2648" y="1676400"/>
            <a:ext cx="7437438" cy="4648200"/>
          </a:xfrm>
        </p:spPr>
        <p:txBody>
          <a:bodyPr/>
          <a:lstStyle/>
          <a:p>
            <a:pPr>
              <a:spcBef>
                <a:spcPts val="1200"/>
              </a:spcBef>
              <a:defRPr/>
            </a:pPr>
            <a:endParaRPr lang="en-US" sz="2400" dirty="0">
              <a:latin typeface="+mj-lt"/>
            </a:endParaRPr>
          </a:p>
          <a:p>
            <a:pPr>
              <a:spcBef>
                <a:spcPts val="1200"/>
              </a:spcBef>
              <a:defRPr/>
            </a:pPr>
            <a:r>
              <a:rPr lang="en-US" sz="2400" dirty="0">
                <a:latin typeface="+mj-lt"/>
              </a:rPr>
              <a:t>Office Bundle more appealing</a:t>
            </a:r>
          </a:p>
          <a:p>
            <a:pPr lvl="1">
              <a:spcAft>
                <a:spcPts val="0"/>
              </a:spcAft>
              <a:defRPr/>
            </a:pPr>
            <a:r>
              <a:rPr lang="en-US" sz="2100" dirty="0">
                <a:latin typeface="+mj-lt"/>
              </a:rPr>
              <a:t>Analysts indifferent 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100" dirty="0">
                <a:latin typeface="+mj-lt"/>
              </a:rPr>
              <a:t>Reporters strictly prefer bundle</a:t>
            </a:r>
          </a:p>
          <a:p>
            <a:pPr>
              <a:defRPr/>
            </a:pPr>
            <a:endParaRPr lang="en-US" sz="2400" dirty="0">
              <a:latin typeface="+mj-lt"/>
            </a:endParaRPr>
          </a:p>
          <a:p>
            <a:pPr>
              <a:defRPr/>
            </a:pPr>
            <a:r>
              <a:rPr lang="en-US" sz="2400" dirty="0">
                <a:latin typeface="+mj-lt"/>
              </a:rPr>
              <a:t>Microsoft’s bundle more profitable than incumbents’ combined profits.</a:t>
            </a:r>
          </a:p>
          <a:p>
            <a:pPr lvl="1">
              <a:defRPr/>
            </a:pPr>
            <a:r>
              <a:rPr lang="en-US" sz="2100" dirty="0">
                <a:latin typeface="+mj-lt"/>
              </a:rPr>
              <a:t>In example, bundle profits=$240 vs component profits=$200.</a:t>
            </a:r>
            <a:endParaRPr lang="en-US" sz="2100" dirty="0"/>
          </a:p>
          <a:p>
            <a:pPr lvl="1">
              <a:defRPr/>
            </a:pPr>
            <a:endParaRPr lang="en-US" sz="2100" dirty="0"/>
          </a:p>
          <a:p>
            <a:pPr>
              <a:defRPr/>
            </a:pPr>
            <a:r>
              <a:rPr lang="en-US" sz="2400" dirty="0"/>
              <a:t>See appendix for actual data!</a:t>
            </a:r>
          </a:p>
          <a:p>
            <a:pPr lvl="1">
              <a:defRPr/>
            </a:pPr>
            <a:endParaRPr lang="en-US" sz="2100" dirty="0">
              <a:latin typeface="+mj-lt"/>
            </a:endParaRPr>
          </a:p>
        </p:txBody>
      </p:sp>
      <p:sp>
        <p:nvSpPr>
          <p:cNvPr id="1029" name="Rectangle 75"/>
          <p:cNvSpPr>
            <a:spLocks noChangeArrowheads="1"/>
          </p:cNvSpPr>
          <p:nvPr/>
        </p:nvSpPr>
        <p:spPr bwMode="auto">
          <a:xfrm>
            <a:off x="1066800" y="4495800"/>
            <a:ext cx="743743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Char char="n"/>
            </a:pPr>
            <a:endParaRPr kumimoji="1"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9A8CDDBC-E362-465F-92FC-C96AA9CB6FD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8194" name="Picture 2" descr="The Most Important Turning Points in Microsoft's Histor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2" t="3652" r="4401" b="5971"/>
          <a:stretch/>
        </p:blipFill>
        <p:spPr bwMode="auto">
          <a:xfrm>
            <a:off x="6934200" y="1600200"/>
            <a:ext cx="2057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77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024F-EE87-443E-B840-396C6263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still uses some </a:t>
            </a:r>
            <a:r>
              <a:rPr lang="en-US" i="1" dirty="0"/>
              <a:t>Pure Bundling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16B75-6F93-41B2-858F-A537D014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BEAB8461-D929-435A-9570-075CA58EC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68267"/>
            <a:ext cx="4196203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27BD1C-C420-4A7B-8C97-19E11F304463}"/>
              </a:ext>
            </a:extLst>
          </p:cNvPr>
          <p:cNvSpPr txBox="1"/>
          <p:nvPr/>
        </p:nvSpPr>
        <p:spPr>
          <a:xfrm>
            <a:off x="614784" y="6498595"/>
            <a:ext cx="8258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02/22/2025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5A2AB-8CA6-44CA-84F3-8AC9096C3A7E}"/>
              </a:ext>
            </a:extLst>
          </p:cNvPr>
          <p:cNvSpPr txBox="1"/>
          <p:nvPr/>
        </p:nvSpPr>
        <p:spPr>
          <a:xfrm>
            <a:off x="6019800" y="3276600"/>
            <a:ext cx="25938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Subscription bundle includes several applications that cannot be purchased as standalone items.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(e.g., cloud storage, cloud-connected features, AI features in apps …)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85585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Bundling vs Unbundling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63544" y="1629855"/>
            <a:ext cx="4372500" cy="617537"/>
          </a:xfrm>
        </p:spPr>
        <p:txBody>
          <a:bodyPr/>
          <a:lstStyle/>
          <a:p>
            <a:r>
              <a:rPr lang="en-US" dirty="0"/>
              <a:t>Baggage fees as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unbundling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5" name="Picture 4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594" y="2062498"/>
            <a:ext cx="3762900" cy="12955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73594" y="3061035"/>
            <a:ext cx="19812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79140" y="3158024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/>
              <a:t>Wall Street Journal, April 23, 2024</a:t>
            </a: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9265" y="3509481"/>
            <a:ext cx="1842229" cy="121508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449" y="3235160"/>
            <a:ext cx="2193561" cy="157726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4764044" y="1591574"/>
            <a:ext cx="11721" cy="3733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596096" y="5512666"/>
            <a:ext cx="7917161" cy="1192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Partitioning</a:t>
            </a:r>
            <a:r>
              <a:rPr lang="en-US" sz="2900" dirty="0"/>
              <a:t> prices effective if consumers don’t pay attention to add-ons at point of sale (see </a:t>
            </a:r>
            <a:r>
              <a:rPr lang="en-US" sz="2900" dirty="0">
                <a:hlinkClick r:id="rId7"/>
              </a:rPr>
              <a:t>Greenleaf et al 2016</a:t>
            </a:r>
            <a:r>
              <a:rPr lang="en-US" sz="2900" dirty="0"/>
              <a:t>)</a:t>
            </a:r>
          </a:p>
          <a:p>
            <a:pPr marL="0" indent="0">
              <a:buNone/>
            </a:pPr>
            <a:r>
              <a:rPr lang="en-US" sz="2900" dirty="0">
                <a:sym typeface="Wingdings" panose="05000000000000000000" pitchFamily="2" charset="2"/>
              </a:rPr>
              <a:t>	 But is this marketing for bad?</a:t>
            </a:r>
            <a:endParaRPr lang="en-US" sz="2900" dirty="0"/>
          </a:p>
          <a:p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516147" y="1664661"/>
            <a:ext cx="4648200" cy="504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Free Shipping as 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bundling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3499" y="2320760"/>
            <a:ext cx="2986168" cy="107212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4651" y="3568008"/>
            <a:ext cx="1715016" cy="1213330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381000" y="4781338"/>
            <a:ext cx="381000" cy="3240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 bwMode="auto">
          <a:xfrm>
            <a:off x="762000" y="4715916"/>
            <a:ext cx="1584872" cy="504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Unbundle?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8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752600"/>
            <a:ext cx="8153400" cy="4876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Consumers don’t consider/notice the “add-on” prices…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Demand falls when combine all fees into price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Sales tax inclusive prices in retail (</a:t>
            </a:r>
            <a:r>
              <a:rPr lang="en-US" dirty="0" err="1"/>
              <a:t>Chetty</a:t>
            </a:r>
            <a:r>
              <a:rPr lang="en-US" dirty="0"/>
              <a:t> et al 2009)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Fee-inclusive prices at stubhub.com (Blake et al 2020)</a:t>
            </a:r>
          </a:p>
          <a:p>
            <a:pPr marL="685800" lvl="2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Unbundling</a:t>
            </a:r>
            <a:r>
              <a:rPr lang="en-US" sz="4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Partitioned Prices </a:t>
            </a:r>
            <a:r>
              <a:rPr lang="en-US" sz="4400" i="1" dirty="0"/>
              <a:t>&amp;</a:t>
            </a:r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i="1" dirty="0"/>
              <a:t>Salience</a:t>
            </a:r>
            <a:br>
              <a:rPr lang="en-US" sz="4400" i="1" dirty="0"/>
            </a:br>
            <a:r>
              <a:rPr lang="en-US" sz="3600" dirty="0"/>
              <a:t>Consumer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Inattention</a:t>
            </a:r>
            <a:r>
              <a:rPr lang="en-US" sz="3600" dirty="0"/>
              <a:t> (marketing for good?)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4" y="3806946"/>
            <a:ext cx="659805" cy="333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6" y="3058991"/>
            <a:ext cx="837323" cy="5480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00" y="4490272"/>
            <a:ext cx="8867014" cy="846386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N web use only"/>
              </a:rPr>
              <a:t>The Gap </a:t>
            </a:r>
            <a:r>
              <a:rPr lang="en-US" sz="2000" b="1" dirty="0">
                <a:solidFill>
                  <a:srgbClr val="000000"/>
                </a:solidFill>
                <a:latin typeface="TN web use only"/>
                <a:hlinkClick r:id="rId4"/>
              </a:rPr>
              <a:t>Between</a:t>
            </a:r>
            <a:r>
              <a:rPr lang="en-US" sz="2000" b="1" dirty="0">
                <a:solidFill>
                  <a:srgbClr val="000000"/>
                </a:solidFill>
                <a:latin typeface="TN web use only"/>
              </a:rPr>
              <a:t> the Price You See and What You Pay Is Getting Worse</a:t>
            </a:r>
            <a:endParaRPr lang="en-US" sz="2000" dirty="0">
              <a:solidFill>
                <a:srgbClr val="000000"/>
              </a:solidFill>
              <a:latin typeface="TN web use only"/>
            </a:endParaRPr>
          </a:p>
          <a:p>
            <a:r>
              <a:rPr lang="en-US" sz="1800" dirty="0">
                <a:solidFill>
                  <a:srgbClr val="000000"/>
                </a:solidFill>
                <a:latin typeface="Retina Light"/>
              </a:rPr>
              <a:t>A mass unbundling of charges creates more surprise fees when it’s time to pay</a:t>
            </a:r>
          </a:p>
          <a:p>
            <a:r>
              <a:rPr lang="en-US" sz="1100" dirty="0">
                <a:solidFill>
                  <a:srgbClr val="000000"/>
                </a:solidFill>
                <a:latin typeface="Retina Light"/>
              </a:rPr>
              <a:t>Rachel Wolfe, </a:t>
            </a:r>
            <a:r>
              <a:rPr lang="en-US" sz="1100" i="1" dirty="0">
                <a:solidFill>
                  <a:srgbClr val="000000"/>
                </a:solidFill>
                <a:latin typeface="Retina Light"/>
              </a:rPr>
              <a:t>WSJ</a:t>
            </a:r>
            <a:r>
              <a:rPr lang="en-US" sz="1100" dirty="0">
                <a:solidFill>
                  <a:srgbClr val="000000"/>
                </a:solidFill>
                <a:latin typeface="Retina Light"/>
              </a:rPr>
              <a:t>, May 7, 2024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988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392E-B1C7-4E22-9850-573CB055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Public Policy &amp; Regulation are catching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99960-2C7E-4234-BD84-14DC9AC0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3979C80-39F4-41D2-9DD3-F566E761881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138" y="2339241"/>
            <a:ext cx="3505202" cy="55636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dirty="0">
                <a:hlinkClick r:id="rId2"/>
              </a:rPr>
              <a:t>Australian Competition &amp; Consumer Commission</a:t>
            </a:r>
            <a:r>
              <a:rPr lang="en-US" sz="1200" dirty="0"/>
              <a:t> (2015) and </a:t>
            </a:r>
            <a:r>
              <a:rPr lang="en-US" sz="1200" dirty="0">
                <a:hlinkClick r:id="rId3"/>
              </a:rPr>
              <a:t>European Commission</a:t>
            </a:r>
            <a:r>
              <a:rPr lang="en-US" sz="1200" dirty="0"/>
              <a:t> (2019)</a:t>
            </a:r>
            <a:br>
              <a:rPr lang="en-US" sz="1200" dirty="0"/>
            </a:br>
            <a:endParaRPr lang="en-US" sz="1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/>
          </a:p>
        </p:txBody>
      </p:sp>
      <p:pic>
        <p:nvPicPr>
          <p:cNvPr id="6" name="Picture 8" descr="https://yalantis.com/media/content/ckeditor/2015/04/02/airbnb_slide1.jpg">
            <a:extLst>
              <a:ext uri="{FF2B5EF4-FFF2-40B4-BE49-F238E27FC236}">
                <a16:creationId xmlns:a16="http://schemas.microsoft.com/office/drawing/2014/main" id="{7147E7FD-BB61-4A4D-A4E9-545CB11D6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27" y="1617411"/>
            <a:ext cx="990600" cy="47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A26638-4A01-46AA-9DDB-3FB9EEA15C7C}"/>
              </a:ext>
            </a:extLst>
          </p:cNvPr>
          <p:cNvSpPr txBox="1">
            <a:spLocks/>
          </p:cNvSpPr>
          <p:nvPr/>
        </p:nvSpPr>
        <p:spPr bwMode="auto">
          <a:xfrm>
            <a:off x="76200" y="2097640"/>
            <a:ext cx="3886200" cy="232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50" dirty="0"/>
              <a:t>Airbnb results pages exclude charges &amp; fees from displayed prices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59BE21-5773-48A6-A00B-B9F03C910268}"/>
              </a:ext>
            </a:extLst>
          </p:cNvPr>
          <p:cNvSpPr/>
          <p:nvPr/>
        </p:nvSpPr>
        <p:spPr>
          <a:xfrm>
            <a:off x="263139" y="2819400"/>
            <a:ext cx="3505201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“In accommodation searches with selected dates, users see the </a:t>
            </a:r>
            <a:r>
              <a:rPr lang="en-US" sz="1100" b="1" dirty="0">
                <a:solidFill>
                  <a:srgbClr val="FFFF00"/>
                </a:solidFill>
              </a:rPr>
              <a:t>total price</a:t>
            </a:r>
            <a:r>
              <a:rPr lang="en-US" sz="1100" dirty="0"/>
              <a:t> in the results page, including </a:t>
            </a:r>
            <a:r>
              <a:rPr lang="en-US" sz="1100" dirty="0">
                <a:solidFill>
                  <a:srgbClr val="FFFF00"/>
                </a:solidFill>
              </a:rPr>
              <a:t>all the applicable </a:t>
            </a:r>
            <a:r>
              <a:rPr lang="en-US" sz="1100" b="1" dirty="0">
                <a:solidFill>
                  <a:srgbClr val="FFFF00"/>
                </a:solidFill>
              </a:rPr>
              <a:t>mandatory charges and fees</a:t>
            </a:r>
            <a:r>
              <a:rPr lang="en-US" sz="1100" dirty="0"/>
              <a:t> (such as service, cleaning charges and local taxes). There are now no surprise mandatory fees appearing on later pages.”</a:t>
            </a:r>
          </a:p>
        </p:txBody>
      </p:sp>
      <p:pic>
        <p:nvPicPr>
          <p:cNvPr id="9" name="Picture 6" descr="https://a2.muscache.com/airbnb/static/logos/belo-1200x630-a0d52af6aba9463c82017da13912f19f.png">
            <a:extLst>
              <a:ext uri="{FF2B5EF4-FFF2-40B4-BE49-F238E27FC236}">
                <a16:creationId xmlns:a16="http://schemas.microsoft.com/office/drawing/2014/main" id="{C879C1AB-6393-49C9-B283-CF80DF84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728" y="1617411"/>
            <a:ext cx="897758" cy="47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A96DA1-7136-448B-91A0-0573DF68CC97}"/>
              </a:ext>
            </a:extLst>
          </p:cNvPr>
          <p:cNvSpPr txBox="1"/>
          <p:nvPr/>
        </p:nvSpPr>
        <p:spPr>
          <a:xfrm>
            <a:off x="5181602" y="1676400"/>
            <a:ext cx="380999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hlinkClick r:id="rId6"/>
              </a:rPr>
              <a:t>New York to Ban Hidden Fees in Live-Event Ticketing</a:t>
            </a:r>
            <a:endParaRPr lang="en-US" sz="1200" b="1" dirty="0"/>
          </a:p>
          <a:p>
            <a:pPr marL="0" indent="0" algn="r">
              <a:buNone/>
            </a:pPr>
            <a:r>
              <a:rPr lang="en-US" sz="1000" dirty="0"/>
              <a:t>Anne Steele, </a:t>
            </a:r>
            <a:r>
              <a:rPr lang="en-US" sz="1000" i="1" dirty="0"/>
              <a:t>WSJ</a:t>
            </a:r>
            <a:r>
              <a:rPr lang="en-US" sz="1000" dirty="0"/>
              <a:t>, 6-7-2022</a:t>
            </a:r>
            <a:endParaRPr lang="en-US" sz="11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i="1" dirty="0"/>
              <a:t>“It is seen as a rare win for consumers who, lawmakers say, have suffered from ticketing companies’ predatory pricing practices.”</a:t>
            </a:r>
          </a:p>
          <a:p>
            <a:pPr marL="0" indent="0">
              <a:buNone/>
            </a:pPr>
            <a:endParaRPr lang="en-US" sz="1200" i="1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200" dirty="0"/>
              <a:t>All-in pricing (final price disclosed from start)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dirty="0"/>
              <a:t>Re-sales require displaying original price</a:t>
            </a:r>
          </a:p>
        </p:txBody>
      </p:sp>
      <p:pic>
        <p:nvPicPr>
          <p:cNvPr id="19" name="Picture 18">
            <a:hlinkClick r:id="rId7"/>
            <a:extLst>
              <a:ext uri="{FF2B5EF4-FFF2-40B4-BE49-F238E27FC236}">
                <a16:creationId xmlns:a16="http://schemas.microsoft.com/office/drawing/2014/main" id="{7F8F01A7-957C-48B8-ADEF-2A1A59564D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474" y="4357625"/>
            <a:ext cx="3415926" cy="1064166"/>
          </a:xfrm>
          <a:prstGeom prst="rect">
            <a:avLst/>
          </a:prstGeom>
        </p:spPr>
      </p:pic>
      <p:pic>
        <p:nvPicPr>
          <p:cNvPr id="21" name="Picture 20">
            <a:hlinkClick r:id="rId7"/>
            <a:extLst>
              <a:ext uri="{FF2B5EF4-FFF2-40B4-BE49-F238E27FC236}">
                <a16:creationId xmlns:a16="http://schemas.microsoft.com/office/drawing/2014/main" id="{817C08F0-9C3D-4C06-898F-DD0BBFC615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5400" y="4357625"/>
            <a:ext cx="1773790" cy="2362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F1DFF56-DD9E-4775-A25F-A9FF79894C8E}"/>
              </a:ext>
            </a:extLst>
          </p:cNvPr>
          <p:cNvSpPr txBox="1"/>
          <p:nvPr/>
        </p:nvSpPr>
        <p:spPr>
          <a:xfrm>
            <a:off x="1641348" y="5421791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1B1B1B"/>
                </a:solidFill>
                <a:effectLst/>
                <a:latin typeface="Inter"/>
              </a:rPr>
              <a:t>“…to prohibit bait-and-switch pricing and other tactics used to hide total prices and bury junk fees in the live-event ticketing and short-term lodging industries.”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84138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New York to Ban Hidden Fees in Live-Event Ticketing</a:t>
            </a:r>
          </a:p>
          <a:p>
            <a:pPr marL="0" indent="0" algn="r">
              <a:buNone/>
            </a:pPr>
            <a:r>
              <a:rPr lang="en-US" sz="1800" dirty="0"/>
              <a:t>Anne Steele, </a:t>
            </a:r>
            <a:r>
              <a:rPr lang="en-US" sz="1800" i="1" dirty="0"/>
              <a:t>WSJ</a:t>
            </a:r>
            <a:r>
              <a:rPr lang="en-US" sz="1800" dirty="0"/>
              <a:t>, 6-7-2022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“It is seen as a rare win for consumers who, lawmakers say, have suffered from ticketing companies’ predatory pricing practices.”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Mandates:</a:t>
            </a:r>
          </a:p>
          <a:p>
            <a:pPr lvl="1"/>
            <a:r>
              <a:rPr lang="en-US" dirty="0"/>
              <a:t>All-in pricing (final price disclosed from start)</a:t>
            </a:r>
          </a:p>
          <a:p>
            <a:pPr lvl="1"/>
            <a:r>
              <a:rPr lang="en-US" dirty="0"/>
              <a:t>Re-sales require displaying </a:t>
            </a:r>
            <a:r>
              <a:rPr lang="en-US"/>
              <a:t>original price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Legality</a:t>
            </a:r>
            <a:r>
              <a:rPr lang="en-US" sz="4400" dirty="0"/>
              <a:t> of 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 fees</a:t>
            </a:r>
            <a:br>
              <a:rPr lang="en-US" sz="4400" dirty="0"/>
            </a:br>
            <a:r>
              <a:rPr lang="en-US" sz="3600" dirty="0"/>
              <a:t>Hidden Ticket Fees</a:t>
            </a:r>
          </a:p>
        </p:txBody>
      </p:sp>
    </p:spTree>
    <p:extLst>
      <p:ext uri="{BB962C8B-B14F-4D97-AF65-F5344CB8AC3E}">
        <p14:creationId xmlns:p14="http://schemas.microsoft.com/office/powerpoint/2010/main" val="397010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55152" cy="4876800"/>
          </a:xfrm>
        </p:spPr>
        <p:txBody>
          <a:bodyPr>
            <a:normAutofit lnSpcReduction="10000"/>
          </a:bodyPr>
          <a:lstStyle/>
          <a:p>
            <a:pPr marL="366713" lvl="1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“Marriott and Hilton Sued Over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ʻResort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Fees,ʼ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a Bane for Travelers”</a:t>
            </a:r>
          </a:p>
          <a:p>
            <a:pPr marL="366713" lvl="1" indent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8-23-2019,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Times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Resort fees typically not disclosed with published room rates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$9-$95 per day at Marriott, $15-$45 per day at Hilton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Disclosure only after beginning </a:t>
            </a:r>
            <a:r>
              <a:rPr lang="en-US" sz="2200" i="1" dirty="0"/>
              <a:t>checkout </a:t>
            </a:r>
            <a:r>
              <a:rPr lang="en-US" sz="2200" dirty="0"/>
              <a:t>process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According to </a:t>
            </a:r>
            <a:r>
              <a:rPr lang="en-US" sz="2200" dirty="0">
                <a:hlinkClick r:id="rId2"/>
              </a:rPr>
              <a:t>Consumer Reports (2023)</a:t>
            </a:r>
            <a:r>
              <a:rPr lang="en-US" sz="2200" dirty="0"/>
              <a:t> 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1/3</a:t>
            </a:r>
            <a:r>
              <a:rPr lang="en-US" sz="2200" baseline="30000" dirty="0"/>
              <a:t>rd</a:t>
            </a:r>
            <a:r>
              <a:rPr lang="en-US" sz="2200" dirty="0"/>
              <a:t> of US Adults charged “hidden” hotel fees in past 3 years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Hotel industry collected $2.9 Billion in resort fees in 2018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Bi-partisan </a:t>
            </a:r>
            <a:r>
              <a:rPr lang="en-US" sz="2200" dirty="0">
                <a:hlinkClick r:id="rId3"/>
              </a:rPr>
              <a:t>bill H.R. 4489</a:t>
            </a:r>
            <a:r>
              <a:rPr lang="en-US" sz="2200" dirty="0"/>
              <a:t> to prohibit such deceptive price advertising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Sustainability</a:t>
            </a:r>
            <a:r>
              <a:rPr lang="en-US" sz="4400" dirty="0"/>
              <a:t> of 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Junk Fees</a:t>
            </a:r>
            <a:br>
              <a:rPr lang="en-US" sz="4400" dirty="0"/>
            </a:br>
            <a:r>
              <a:rPr lang="en-US" sz="3600" dirty="0"/>
              <a:t>Hotel Resort Fees</a:t>
            </a:r>
          </a:p>
        </p:txBody>
      </p:sp>
      <p:pic>
        <p:nvPicPr>
          <p:cNvPr id="1030" name="Picture 6" descr="CIT International - Hilton Salt Lake City Center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4" r="10674"/>
          <a:stretch/>
        </p:blipFill>
        <p:spPr bwMode="auto">
          <a:xfrm>
            <a:off x="7908470" y="27727"/>
            <a:ext cx="1219201" cy="86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 rot="21041099">
            <a:off x="1639824" y="2437437"/>
            <a:ext cx="6400800" cy="1295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hlinkClick r:id="rId5"/>
              </a:rPr>
              <a:t>AG: Marriott Hotels to pay $225K in ‘hidden fee’ settlement</a:t>
            </a:r>
            <a:endParaRPr lang="en-US" b="1" dirty="0"/>
          </a:p>
          <a:p>
            <a:pPr algn="r"/>
            <a:r>
              <a:rPr lang="en-US" sz="1200" b="1" dirty="0"/>
              <a:t>Vivian Muniz, </a:t>
            </a:r>
            <a:r>
              <a:rPr lang="en-US" sz="1200" b="1" i="1" dirty="0"/>
              <a:t>Crime &amp; Court</a:t>
            </a:r>
            <a:r>
              <a:rPr lang="en-US" sz="1200" b="1" dirty="0"/>
              <a:t>, April 12, 2023</a:t>
            </a:r>
          </a:p>
        </p:txBody>
      </p:sp>
      <p:pic>
        <p:nvPicPr>
          <p:cNvPr id="1028" name="Picture 4" descr="Marriott Hotels &amp; Resorts - Wikipedi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28935"/>
            <a:ext cx="1125921" cy="88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46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Mixed Bundling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  <a:defRPr/>
            </a:pPr>
            <a:endParaRPr lang="en-US" sz="2400" dirty="0">
              <a:latin typeface="+mj-lt"/>
            </a:endParaRPr>
          </a:p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Sell Bundle along with the Individual Components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+mj-lt"/>
              </a:rPr>
              <a:t>Analogous to Product Line Pricing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E.g., Office Bundle</a:t>
            </a:r>
            <a:r>
              <a:rPr lang="en-US" dirty="0"/>
              <a:t> vs.</a:t>
            </a:r>
            <a:r>
              <a:rPr lang="en-US" sz="2400" dirty="0">
                <a:latin typeface="+mj-lt"/>
              </a:rPr>
              <a:t> Word, Excel, etc. </a:t>
            </a:r>
            <a:r>
              <a:rPr lang="en-US" dirty="0"/>
              <a:t>à</a:t>
            </a:r>
            <a:r>
              <a:rPr lang="en-US" sz="2400" dirty="0">
                <a:latin typeface="+mj-lt"/>
              </a:rPr>
              <a:t> la carte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Similar Trade-offs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Add pure components to acquire new customers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>
                <a:latin typeface="+mj-lt"/>
              </a:rPr>
              <a:t>But adding pure components may cannibalize bundle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33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 flipV="1">
            <a:off x="1332844" y="2749079"/>
            <a:ext cx="0" cy="3721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332844" y="6470178"/>
            <a:ext cx="4710112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6969" y="3769842"/>
            <a:ext cx="1060450" cy="1184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/>
              <a:t>WTP</a:t>
            </a:r>
          </a:p>
          <a:p>
            <a:pPr algn="ctr"/>
            <a:r>
              <a:rPr lang="en-US"/>
              <a:t>For</a:t>
            </a:r>
          </a:p>
          <a:p>
            <a:pPr algn="ctr"/>
            <a:r>
              <a:rPr lang="en-US"/>
              <a:t>Bundle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283097" y="2152179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Reporter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2824882" y="2152179"/>
            <a:ext cx="119263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Analyst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638437" y="4087341"/>
            <a:ext cx="703263" cy="2382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638437" y="2895922"/>
            <a:ext cx="703263" cy="119141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$30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47355" y="4087341"/>
            <a:ext cx="723900" cy="238283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3147355" y="3225328"/>
            <a:ext cx="723901" cy="862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$20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524121" y="3491630"/>
            <a:ext cx="723900" cy="4437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$5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524121" y="3935423"/>
            <a:ext cx="723900" cy="2534756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$105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4137653" y="2152179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Engineer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57173"/>
              </p:ext>
            </p:extLst>
          </p:nvPr>
        </p:nvGraphicFramePr>
        <p:xfrm>
          <a:off x="5540521" y="2611279"/>
          <a:ext cx="35052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681">
                <a:tc>
                  <a:txBody>
                    <a:bodyPr/>
                    <a:lstStyle/>
                    <a:p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Word +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Reporter + 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Excel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$345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248021" y="2209800"/>
            <a:ext cx="3754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our original scenario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9446" y="2679764"/>
            <a:ext cx="3525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Now suppose we have another segment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46969" y="1564191"/>
            <a:ext cx="410231" cy="4310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6969" y="2152180"/>
            <a:ext cx="410231" cy="45909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200" dirty="0"/>
              <a:t>Excel</a:t>
            </a:r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z="4000" dirty="0">
                <a:latin typeface="+mj-lt"/>
              </a:rPr>
              <a:t>Mixed Bundling and non-complements</a:t>
            </a:r>
          </a:p>
        </p:txBody>
      </p:sp>
    </p:spTree>
    <p:extLst>
      <p:ext uri="{BB962C8B-B14F-4D97-AF65-F5344CB8AC3E}">
        <p14:creationId xmlns:p14="http://schemas.microsoft.com/office/powerpoint/2010/main" val="9290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9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 flipV="1">
            <a:off x="1332844" y="2749079"/>
            <a:ext cx="0" cy="3721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332844" y="6470178"/>
            <a:ext cx="4710112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6969" y="3769842"/>
            <a:ext cx="1060450" cy="1184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/>
              <a:t>WTP</a:t>
            </a:r>
          </a:p>
          <a:p>
            <a:pPr algn="ctr"/>
            <a:r>
              <a:rPr lang="en-US"/>
              <a:t>For</a:t>
            </a:r>
          </a:p>
          <a:p>
            <a:pPr algn="ctr"/>
            <a:r>
              <a:rPr lang="en-US"/>
              <a:t>Bundle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283097" y="2152179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Reporter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2824882" y="2152179"/>
            <a:ext cx="119263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Analyst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638437" y="4087341"/>
            <a:ext cx="703263" cy="2382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638437" y="2895922"/>
            <a:ext cx="703263" cy="119141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$30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47355" y="4087341"/>
            <a:ext cx="723900" cy="238283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3147355" y="3225328"/>
            <a:ext cx="723901" cy="862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$20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524121" y="3865445"/>
            <a:ext cx="723900" cy="4437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$5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524121" y="4321410"/>
            <a:ext cx="723900" cy="214876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$90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4137653" y="2152179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Engineer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540521" y="2611279"/>
          <a:ext cx="35052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681">
                <a:tc>
                  <a:txBody>
                    <a:bodyPr/>
                    <a:lstStyle/>
                    <a:p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Word +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Excel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 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Engineer + 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$300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2926378" y="3886200"/>
            <a:ext cx="1165853" cy="2971800"/>
          </a:xfrm>
          <a:prstGeom prst="ellipse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16" idx="7"/>
          </p:cNvCxnSpPr>
          <p:nvPr/>
        </p:nvCxnSpPr>
        <p:spPr>
          <a:xfrm flipH="1">
            <a:off x="3921496" y="3656334"/>
            <a:ext cx="1549319" cy="6650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20258721">
            <a:off x="4065046" y="3625676"/>
            <a:ext cx="1443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cannibalization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538984" y="2611279"/>
          <a:ext cx="35052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681">
                <a:tc>
                  <a:txBody>
                    <a:bodyPr/>
                    <a:lstStyle/>
                    <a:p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Word +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Reporter + 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Excel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 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Engineer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$310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89446" y="2679764"/>
            <a:ext cx="3525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if the engineer valued Excel less?</a:t>
            </a: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46969" y="1564191"/>
            <a:ext cx="410231" cy="4310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46969" y="2152180"/>
            <a:ext cx="410231" cy="45909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200" dirty="0"/>
              <a:t>Excel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8230" y="4447763"/>
            <a:ext cx="3525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Engineer profits are incremental. But we can do better.</a:t>
            </a:r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z="4000" dirty="0">
                <a:latin typeface="+mj-lt"/>
              </a:rPr>
              <a:t>Mixed Bundling and non-complements</a:t>
            </a:r>
          </a:p>
        </p:txBody>
      </p:sp>
    </p:spTree>
    <p:extLst>
      <p:ext uri="{BB962C8B-B14F-4D97-AF65-F5344CB8AC3E}">
        <p14:creationId xmlns:p14="http://schemas.microsoft.com/office/powerpoint/2010/main" val="241077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6" grpId="1" animBg="1"/>
      <p:bldP spid="20" grpId="0"/>
      <p:bldP spid="20" grpId="1"/>
      <p:bldP spid="24" grpId="0"/>
      <p:bldP spid="28" grpId="0"/>
      <p:bldP spid="2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62BF918-FE43-458C-A6DA-4A94A1A5B1C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 flipV="1">
            <a:off x="1332844" y="2749079"/>
            <a:ext cx="0" cy="3721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332844" y="6470178"/>
            <a:ext cx="4710112" cy="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488" tIns="44450" rIns="90488" bIns="44450"/>
          <a:lstStyle/>
          <a:p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46969" y="3769842"/>
            <a:ext cx="1060450" cy="1184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/>
              <a:t>WTP</a:t>
            </a:r>
          </a:p>
          <a:p>
            <a:pPr algn="ctr"/>
            <a:r>
              <a:rPr lang="en-US"/>
              <a:t>For</a:t>
            </a:r>
          </a:p>
          <a:p>
            <a:pPr algn="ctr"/>
            <a:r>
              <a:rPr lang="en-US"/>
              <a:t>Bundle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1283097" y="2152179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Reporter</a:t>
            </a: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2824882" y="2152179"/>
            <a:ext cx="119263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Analyst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638437" y="4087341"/>
            <a:ext cx="703263" cy="2382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638437" y="2895922"/>
            <a:ext cx="703263" cy="119141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$30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47355" y="4087341"/>
            <a:ext cx="723900" cy="238283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$100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3147355" y="3225328"/>
            <a:ext cx="723901" cy="862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/>
              <a:t>$20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524121" y="4585408"/>
            <a:ext cx="723900" cy="4437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$5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524121" y="5029200"/>
            <a:ext cx="723900" cy="1440978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$50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4137653" y="2152179"/>
            <a:ext cx="137858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Engineer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713731"/>
              </p:ext>
            </p:extLst>
          </p:nvPr>
        </p:nvGraphicFramePr>
        <p:xfrm>
          <a:off x="5540521" y="2611279"/>
          <a:ext cx="35052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681">
                <a:tc>
                  <a:txBody>
                    <a:bodyPr/>
                    <a:lstStyle/>
                    <a:p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Word +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Excel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 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Engineer + 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$220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2926378" y="3886200"/>
            <a:ext cx="1165853" cy="2971800"/>
          </a:xfrm>
          <a:prstGeom prst="ellipse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endCxn id="16" idx="7"/>
          </p:cNvCxnSpPr>
          <p:nvPr/>
        </p:nvCxnSpPr>
        <p:spPr>
          <a:xfrm flipH="1">
            <a:off x="3921496" y="3656334"/>
            <a:ext cx="1549319" cy="66507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20258721">
            <a:off x="4065046" y="3625676"/>
            <a:ext cx="1443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cannibalization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351501"/>
              </p:ext>
            </p:extLst>
          </p:nvPr>
        </p:nvGraphicFramePr>
        <p:xfrm>
          <a:off x="5518230" y="2611279"/>
          <a:ext cx="3505200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681">
                <a:tc>
                  <a:txBody>
                    <a:bodyPr/>
                    <a:lstStyle/>
                    <a:p>
                      <a:r>
                        <a:rPr lang="en-US" sz="16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Word +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Reporter + 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$240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89446" y="2679764"/>
            <a:ext cx="3525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if the engineer valued Excel even less?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8230" y="4447763"/>
            <a:ext cx="3525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Does it really make sense to sell Excel unbundled?</a:t>
            </a: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46969" y="1564191"/>
            <a:ext cx="410231" cy="43100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200" dirty="0"/>
              <a:t>Word</a:t>
            </a: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46969" y="2152180"/>
            <a:ext cx="410231" cy="459099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200" dirty="0"/>
              <a:t>Excel</a:t>
            </a:r>
          </a:p>
        </p:txBody>
      </p:sp>
      <p:sp>
        <p:nvSpPr>
          <p:cNvPr id="22" name="Multiply 21"/>
          <p:cNvSpPr/>
          <p:nvPr/>
        </p:nvSpPr>
        <p:spPr>
          <a:xfrm>
            <a:off x="4054886" y="4687640"/>
            <a:ext cx="1662818" cy="1423239"/>
          </a:xfrm>
          <a:prstGeom prst="mathMultiply">
            <a:avLst/>
          </a:prstGeom>
          <a:solidFill>
            <a:srgbClr val="FF0000"/>
          </a:solidFill>
          <a:ln w="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z="4000" dirty="0">
                <a:latin typeface="+mj-lt"/>
              </a:rPr>
              <a:t>Mixed Bundling and non-complements</a:t>
            </a:r>
          </a:p>
        </p:txBody>
      </p:sp>
    </p:spTree>
    <p:extLst>
      <p:ext uri="{BB962C8B-B14F-4D97-AF65-F5344CB8AC3E}">
        <p14:creationId xmlns:p14="http://schemas.microsoft.com/office/powerpoint/2010/main" val="6953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6" grpId="1" animBg="1"/>
      <p:bldP spid="20" grpId="0"/>
      <p:bldP spid="20" grpId="1"/>
      <p:bldP spid="24" grpId="0"/>
      <p:bldP spid="25" grpId="0"/>
      <p:bldP spid="25" grpId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Mixed Bundling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is just segmentation with a Product Line.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As before,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coordination</a:t>
            </a:r>
            <a:r>
              <a:rPr lang="en-US" dirty="0"/>
              <a:t> is crucial to avoid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cannibalization</a:t>
            </a:r>
            <a:r>
              <a:rPr lang="en-US" dirty="0"/>
              <a:t>.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use individual components (</a:t>
            </a:r>
            <a:r>
              <a:rPr lang="en-US" i="1" dirty="0"/>
              <a:t>unbundled</a:t>
            </a:r>
            <a:r>
              <a:rPr lang="en-US" dirty="0"/>
              <a:t>) for new demand in segments that would not buy the bundle.  </a:t>
            </a:r>
          </a:p>
          <a:p>
            <a:pPr marL="366713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	E.g., sell MS Word </a:t>
            </a:r>
            <a:r>
              <a:rPr lang="en-US" i="1" dirty="0"/>
              <a:t>à la carte</a:t>
            </a:r>
            <a:r>
              <a:rPr lang="en-US" dirty="0"/>
              <a:t> for students.  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But, be sure to coordinate the potential cannibalization.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See Appendix for discussion of data analytics and bundling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dirty="0">
                <a:latin typeface="+mj-lt"/>
              </a:rPr>
              <a:t>Mixed </a:t>
            </a:r>
            <a:r>
              <a:rPr lang="en-US" dirty="0"/>
              <a:t>B</a:t>
            </a:r>
            <a:r>
              <a:rPr lang="en-US" dirty="0">
                <a:latin typeface="+mj-lt"/>
              </a:rPr>
              <a:t>undling and non-complements</a:t>
            </a:r>
          </a:p>
        </p:txBody>
      </p:sp>
    </p:spTree>
    <p:extLst>
      <p:ext uri="{BB962C8B-B14F-4D97-AF65-F5344CB8AC3E}">
        <p14:creationId xmlns:p14="http://schemas.microsoft.com/office/powerpoint/2010/main" val="909315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7F39-BA7F-4513-A85C-7BCD988D5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+mj-lt"/>
              </a:rPr>
              <a:t>Mixed Bundling (Tactics &amp; Strategy)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F75E4-5146-432E-BE99-F3E3B3218B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910" y="3851664"/>
            <a:ext cx="4307598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Can buy individual products. But bundle has a discount.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76D7C-B8BF-4F42-920E-38ACB1F6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C818C477-2B97-44E1-9763-C567F7574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08" y="1760118"/>
            <a:ext cx="1538502" cy="352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B3D8A8-428A-4BB8-B148-0C470BE12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10" y="2158488"/>
            <a:ext cx="4262438" cy="15407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E5CD13-25B4-4445-B344-CA12DDE70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064" y="2158488"/>
            <a:ext cx="3551091" cy="15903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FF80CD-7B5D-428B-8696-7610C45FF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8908" y="1642569"/>
            <a:ext cx="419236" cy="4358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89F6D8-874A-44BD-AE98-D91FF8CBE52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4651"/>
          <a:stretch/>
        </p:blipFill>
        <p:spPr>
          <a:xfrm>
            <a:off x="6167808" y="1628326"/>
            <a:ext cx="2331412" cy="43584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B82CA65-0450-4A0B-9762-D057775553D5}"/>
              </a:ext>
            </a:extLst>
          </p:cNvPr>
          <p:cNvSpPr txBox="1">
            <a:spLocks/>
          </p:cNvSpPr>
          <p:nvPr/>
        </p:nvSpPr>
        <p:spPr bwMode="auto">
          <a:xfrm>
            <a:off x="5225064" y="3851664"/>
            <a:ext cx="3764033" cy="567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600" dirty="0"/>
              <a:t>Incentivizes up-trade to full meal to hit BOGO threshold.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D9012A5-FF21-4A60-A8C7-A95D5F84A2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4218" y="4767133"/>
            <a:ext cx="1273983" cy="1905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5C2BA4-DFC7-4800-9D8B-9E421A5642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4800600"/>
            <a:ext cx="685800" cy="544749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559E3DA-7D2E-4FBB-B06E-92F633FE3C8B}"/>
              </a:ext>
            </a:extLst>
          </p:cNvPr>
          <p:cNvSpPr txBox="1">
            <a:spLocks/>
          </p:cNvSpPr>
          <p:nvPr/>
        </p:nvSpPr>
        <p:spPr bwMode="auto">
          <a:xfrm>
            <a:off x="4025862" y="5309029"/>
            <a:ext cx="376403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600" dirty="0"/>
              <a:t>Can use mixed bundling to clear out excess inventory by bundling slow-moving items.</a:t>
            </a:r>
          </a:p>
        </p:txBody>
      </p:sp>
    </p:spTree>
    <p:extLst>
      <p:ext uri="{BB962C8B-B14F-4D97-AF65-F5344CB8AC3E}">
        <p14:creationId xmlns:p14="http://schemas.microsoft.com/office/powerpoint/2010/main" val="2529614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Metered 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EAD946-525E-41AB-BA74-CECD229520E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2050" name="Picture 2" descr="BMI's 55 Pattern Cards: Razor and Blade — Business Model Innovation Lab |  BMI Lab | Spinoff from the University of St.Gall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90800"/>
            <a:ext cx="5981700" cy="423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159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Metered Pricing: </a:t>
            </a:r>
            <a:br>
              <a:rPr lang="en-US" dirty="0"/>
            </a:br>
            <a:r>
              <a:rPr lang="en-US" dirty="0"/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Razor &amp; Blades</a:t>
            </a:r>
            <a:r>
              <a:rPr lang="en-US" i="1" dirty="0"/>
              <a:t> </a:t>
            </a:r>
            <a:r>
              <a:rPr lang="en-US" dirty="0"/>
              <a:t>Model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7772400" cy="4419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Also known as “</a:t>
            </a:r>
            <a:r>
              <a:rPr lang="en-US" sz="2400" i="1" dirty="0">
                <a:latin typeface="+mj-lt"/>
              </a:rPr>
              <a:t>bait-and-hook</a:t>
            </a:r>
            <a:r>
              <a:rPr lang="en-US" sz="2400" dirty="0">
                <a:latin typeface="+mj-lt"/>
              </a:rPr>
              <a:t>” pricing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Examples: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>
                <a:latin typeface="+mj-lt"/>
              </a:rPr>
              <a:t>Gillette Mach 3 Razor $7.69, 12 blades (3-month supply) $21.99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>
                <a:latin typeface="+mj-lt"/>
              </a:rPr>
              <a:t>Inkjet printers under $200, HP replacement cartridge $52</a:t>
            </a:r>
          </a:p>
          <a:p>
            <a:pPr lvl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000" dirty="0">
                <a:latin typeface="+mj-lt"/>
              </a:rPr>
              <a:t>Jet engines cheap (Rolls Royce, GE…), high mark-ups on </a:t>
            </a:r>
          </a:p>
          <a:p>
            <a:pPr marL="366713" lvl="1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000" dirty="0"/>
              <a:t>    </a:t>
            </a:r>
            <a:r>
              <a:rPr lang="en-US" sz="2000" u="sng" dirty="0">
                <a:latin typeface="+mj-lt"/>
              </a:rPr>
              <a:t>aftermarket</a:t>
            </a:r>
            <a:r>
              <a:rPr lang="en-US" sz="2000" dirty="0">
                <a:latin typeface="+mj-lt"/>
              </a:rPr>
              <a:t> maintenance and replacement parts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000" dirty="0"/>
              <a:t>Automobile </a:t>
            </a:r>
            <a:r>
              <a:rPr lang="en-US" sz="2000" u="sng" dirty="0"/>
              <a:t>aftermarket</a:t>
            </a:r>
            <a:r>
              <a:rPr lang="en-US" sz="2000" dirty="0"/>
              <a:t> also growing fast!!!</a:t>
            </a:r>
            <a:endParaRPr lang="en-US" sz="20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9218" name="Picture 2" descr="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536160"/>
            <a:ext cx="1809136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470648" y="534948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>
                <a:hlinkClick r:id="rId3"/>
              </a:rPr>
              <a:t>Economist</a:t>
            </a:r>
            <a:r>
              <a:rPr lang="en-US" sz="1200" i="1" dirty="0"/>
              <a:t>, Jan. 8, 2009</a:t>
            </a:r>
            <a:endParaRPr lang="en-US" i="1" dirty="0"/>
          </a:p>
        </p:txBody>
      </p:sp>
      <p:pic>
        <p:nvPicPr>
          <p:cNvPr id="8194" name="Picture 2" descr="https://ml.globenewswire.com/Resource/Download/d2567dd5-c118-4f70-8bc8-911972a44b6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572000"/>
            <a:ext cx="2734888" cy="161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00400" y="6248400"/>
            <a:ext cx="16770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hlinkClick r:id="rId5"/>
              </a:rPr>
              <a:t>Globenewswire</a:t>
            </a:r>
            <a:r>
              <a:rPr lang="en-US" sz="1000" dirty="0"/>
              <a:t>, Jan. 3, 2022</a:t>
            </a:r>
          </a:p>
        </p:txBody>
      </p:sp>
    </p:spTree>
    <p:extLst>
      <p:ext uri="{BB962C8B-B14F-4D97-AF65-F5344CB8AC3E}">
        <p14:creationId xmlns:p14="http://schemas.microsoft.com/office/powerpoint/2010/main" val="1852887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Metered Pricing Theory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Two complementary goods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One with fixed-quantity demand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One with variable-quantity demand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 i="1" dirty="0">
                <a:latin typeface="+mj-lt"/>
              </a:rPr>
              <a:t>Loss-leader</a:t>
            </a:r>
            <a:r>
              <a:rPr lang="en-US" sz="2400" dirty="0">
                <a:latin typeface="+mj-lt"/>
              </a:rPr>
              <a:t> pricing on the fixed-quantity product, then </a:t>
            </a:r>
            <a:r>
              <a:rPr lang="en-US" sz="2400" i="1" dirty="0">
                <a:latin typeface="+mj-lt"/>
              </a:rPr>
              <a:t>Price-discriminate</a:t>
            </a:r>
            <a:r>
              <a:rPr lang="en-US" sz="2400" dirty="0">
                <a:latin typeface="+mj-lt"/>
              </a:rPr>
              <a:t> on variable-quantity product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>
                <a:latin typeface="+mj-lt"/>
              </a:rPr>
              <a:t>Particularly effective if variable-quantity demand good is a commodity (i.e., hard to profit on it as a stand-alone business)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6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143000" y="4191000"/>
          <a:ext cx="670560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66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Consumer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Valuation Per Unit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Fixed-Quantity</a:t>
                      </a:r>
                    </a:p>
                    <a:p>
                      <a:pPr algn="ctr"/>
                      <a:r>
                        <a:rPr lang="en-US" dirty="0"/>
                        <a:t>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Variable Quantity 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$140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143000" y="4191000"/>
            <a:ext cx="6705600" cy="228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228600"/>
            <a:ext cx="7772400" cy="1143000"/>
          </a:xfrm>
        </p:spPr>
        <p:txBody>
          <a:bodyPr/>
          <a:lstStyle/>
          <a:p>
            <a:r>
              <a:rPr lang="en-US" sz="4000" dirty="0"/>
              <a:t>Metered Pricing Theory</a:t>
            </a:r>
            <a:br>
              <a:rPr lang="en-US" sz="4000" dirty="0"/>
            </a:br>
            <a:r>
              <a:rPr lang="en-US" sz="3200" dirty="0"/>
              <a:t>Example: Printers &amp; Ink</a:t>
            </a:r>
            <a:endParaRPr lang="en-US" sz="4000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8302752" cy="2590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/>
              <a:t>Suppose you are selling printers and ink cartridges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No competition on printers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u="sng" dirty="0"/>
              <a:t>high</a:t>
            </a:r>
            <a:r>
              <a:rPr lang="en-US" sz="2400" dirty="0"/>
              <a:t> competition on ink (i.e., no </a:t>
            </a:r>
            <a:r>
              <a:rPr lang="en-US" sz="2400" b="1" dirty="0"/>
              <a:t>differentiation value</a:t>
            </a:r>
            <a:r>
              <a:rPr lang="en-US" sz="2400" dirty="0"/>
              <a:t> for ink)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/>
              <a:t>i.e., stand-alone ink profits close to zero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>
                <a:latin typeface="+mj-lt"/>
              </a:rPr>
              <a:t>Marginal Costs: $80 (printer), $1.5 (ink cartridge)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9A8CDDBC-E362-465F-92FC-C96AA9CB6FD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86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Profits and </a:t>
            </a:r>
            <a:r>
              <a:rPr lang="en-US" sz="4400" i="1" dirty="0"/>
              <a:t>Razor &amp; blades</a:t>
            </a:r>
            <a:r>
              <a:rPr lang="en-US" sz="4400" dirty="0"/>
              <a:t> theory</a:t>
            </a:r>
            <a:br>
              <a:rPr lang="en-US" sz="4400" dirty="0"/>
            </a:br>
            <a:r>
              <a:rPr lang="en-US" sz="3100" dirty="0"/>
              <a:t>Scenario 1 : Printers &amp; ink operated </a:t>
            </a:r>
            <a:r>
              <a:rPr lang="en-US" sz="3100" i="1" dirty="0"/>
              <a:t>independently</a:t>
            </a:r>
            <a:endParaRPr lang="en-US" sz="310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457200" y="2362200"/>
            <a:ext cx="4803648" cy="129540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52600" y="5257800"/>
          <a:ext cx="4343400" cy="149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918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Consumer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Type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Valuation Per Unit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1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Fixed-Quantity</a:t>
                      </a:r>
                    </a:p>
                    <a:p>
                      <a:pPr algn="ctr"/>
                      <a:r>
                        <a:rPr lang="en-US" sz="1100" dirty="0"/>
                        <a:t>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Variable Quantity 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1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92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2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>
          <a:xfrm flipH="1">
            <a:off x="3720090" y="3238500"/>
            <a:ext cx="2209800" cy="76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910805" y="3069223"/>
                <a:ext cx="312957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</a:rPr>
                  <a:t>Profit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$210−$80</m:t>
                        </m:r>
                      </m:e>
                    </m:d>
                    <m:r>
                      <a:rPr lang="en-US" sz="16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1=$130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05" y="3069223"/>
                <a:ext cx="3129575" cy="338554"/>
              </a:xfrm>
              <a:prstGeom prst="rect">
                <a:avLst/>
              </a:prstGeom>
              <a:blipFill rotWithShape="1">
                <a:blip r:embed="rId2"/>
                <a:stretch>
                  <a:fillRect l="-1170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2648" y="1752600"/>
            <a:ext cx="708964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/>
              <a:t>Profits only from printers b/c competitive ink market.</a:t>
            </a:r>
          </a:p>
          <a:p>
            <a:pPr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If you charge $210 for printer</a:t>
            </a:r>
          </a:p>
          <a:p>
            <a:pPr lvl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Sell only to high WTP customers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dirty="0"/>
              <a:t>Total profits: $130</a:t>
            </a:r>
          </a:p>
          <a:p>
            <a:pPr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If you charge $140 for printer</a:t>
            </a:r>
          </a:p>
          <a:p>
            <a:pPr lvl="1">
              <a:spcAft>
                <a:spcPts val="0"/>
              </a:spcAft>
            </a:pPr>
            <a:r>
              <a:rPr lang="en-US" dirty="0"/>
              <a:t>Sell to both high and low WTP customers</a:t>
            </a:r>
          </a:p>
          <a:p>
            <a:pPr lvl="1"/>
            <a:r>
              <a:rPr lang="en-US" dirty="0"/>
              <a:t>Total profits: $120</a:t>
            </a:r>
          </a:p>
        </p:txBody>
      </p:sp>
    </p:spTree>
    <p:extLst>
      <p:ext uri="{BB962C8B-B14F-4D97-AF65-F5344CB8AC3E}">
        <p14:creationId xmlns:p14="http://schemas.microsoft.com/office/powerpoint/2010/main" val="302235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Profits and </a:t>
            </a:r>
            <a:r>
              <a:rPr lang="en-US" sz="4400" i="1" dirty="0"/>
              <a:t>Razor &amp; blades</a:t>
            </a:r>
            <a:r>
              <a:rPr lang="en-US" sz="4400" dirty="0"/>
              <a:t> theory</a:t>
            </a:r>
            <a:br>
              <a:rPr lang="en-US" dirty="0"/>
            </a:br>
            <a:r>
              <a:rPr lang="en-US" sz="3100" dirty="0"/>
              <a:t>Scenario 2: Printers &amp; ink </a:t>
            </a:r>
            <a:r>
              <a:rPr lang="en-US" sz="3100" i="1" dirty="0"/>
              <a:t>tied together</a:t>
            </a:r>
            <a:endParaRPr lang="en-US" sz="31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85527" y="3505200"/>
            <a:ext cx="5808535" cy="1524000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488" tIns="44450" rIns="90488" bIns="4445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6935" y="1524000"/>
            <a:ext cx="7772400" cy="3810000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+mj-lt"/>
              </a:rPr>
              <a:t>Tie ink cartridges to printer to </a:t>
            </a:r>
            <a:r>
              <a:rPr lang="en-US" sz="2200" b="1" i="1" dirty="0">
                <a:latin typeface="+mj-lt"/>
              </a:rPr>
              <a:t>lock-in</a:t>
            </a:r>
            <a:r>
              <a:rPr lang="en-US" sz="2200" dirty="0">
                <a:latin typeface="+mj-lt"/>
              </a:rPr>
              <a:t> ink sales via printer sales</a:t>
            </a:r>
          </a:p>
          <a:p>
            <a:r>
              <a:rPr lang="en-US" sz="2200" dirty="0">
                <a:latin typeface="+mj-lt"/>
              </a:rPr>
              <a:t>If you charge $210 for printer</a:t>
            </a:r>
          </a:p>
          <a:p>
            <a:pPr lvl="1"/>
            <a:r>
              <a:rPr lang="en-US" sz="2200" dirty="0">
                <a:latin typeface="+mj-lt"/>
              </a:rPr>
              <a:t>Only sell to high WTP customers</a:t>
            </a:r>
          </a:p>
          <a:p>
            <a:pPr lvl="1"/>
            <a:r>
              <a:rPr lang="en-US" sz="2200" dirty="0">
                <a:latin typeface="+mj-lt"/>
              </a:rPr>
              <a:t>Optimal price for cartridges is $10</a:t>
            </a:r>
          </a:p>
          <a:p>
            <a:pPr lvl="1">
              <a:spcAft>
                <a:spcPts val="600"/>
              </a:spcAft>
            </a:pPr>
            <a:r>
              <a:rPr lang="en-US" sz="2200" dirty="0">
                <a:latin typeface="+mj-lt"/>
              </a:rPr>
              <a:t>Total profits: $130 + $25.5 = $155.5</a:t>
            </a:r>
          </a:p>
          <a:p>
            <a:r>
              <a:rPr lang="en-US" sz="2200" dirty="0">
                <a:latin typeface="+mj-lt"/>
              </a:rPr>
              <a:t>If you charge $140 for printer</a:t>
            </a:r>
          </a:p>
          <a:p>
            <a:pPr lvl="1"/>
            <a:r>
              <a:rPr lang="en-US" sz="2200" dirty="0">
                <a:latin typeface="+mj-lt"/>
              </a:rPr>
              <a:t>Sell to both high and low WTP customers</a:t>
            </a:r>
          </a:p>
          <a:p>
            <a:pPr lvl="1"/>
            <a:r>
              <a:rPr lang="en-US" sz="2200" dirty="0">
                <a:latin typeface="+mj-lt"/>
              </a:rPr>
              <a:t>Optimal price for cartridges is $10</a:t>
            </a:r>
          </a:p>
          <a:p>
            <a:pPr lvl="1"/>
            <a:r>
              <a:rPr lang="en-US" sz="2200" dirty="0">
                <a:latin typeface="+mj-lt"/>
              </a:rPr>
              <a:t>Total profits: $120 + $42.50 = $162.50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52600" y="5181600"/>
          <a:ext cx="4343400" cy="149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918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Consumer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Type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Valuation Per Unit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1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Fixed-Quantity</a:t>
                      </a:r>
                    </a:p>
                    <a:p>
                      <a:pPr algn="ctr"/>
                      <a:r>
                        <a:rPr lang="en-US" sz="1100" dirty="0"/>
                        <a:t>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Variable Quantity 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1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92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2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4419600" y="2721977"/>
            <a:ext cx="1627620" cy="40222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47220" y="2429589"/>
                <a:ext cx="30205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</a:rPr>
                  <a:t>Ink Profit</a:t>
                </a:r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$10−$1.5</m:t>
                        </m:r>
                      </m:e>
                    </m:d>
                    <m:r>
                      <a:rPr lang="en-US" sz="16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3=$</m:t>
                    </m:r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/>
                      </a:rPr>
                      <m:t>25.5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220" y="2429589"/>
                <a:ext cx="3020580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210" t="-3158" b="-1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37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Profits and </a:t>
            </a:r>
            <a:r>
              <a:rPr lang="en-US" i="1" dirty="0"/>
              <a:t>Razor &amp; blades</a:t>
            </a:r>
            <a:r>
              <a:rPr lang="en-US" dirty="0"/>
              <a:t> theory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752600"/>
            <a:ext cx="8153400" cy="43434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dirty="0"/>
              <a:t>Tying causes firm to cut the printer’s price to extract more value from the consumer on the ink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i="1" dirty="0"/>
              <a:t>loss-leader pricing</a:t>
            </a:r>
            <a:r>
              <a:rPr lang="en-US" dirty="0"/>
              <a:t> to leverage monopoly on base good</a:t>
            </a:r>
          </a:p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Price segmentation</a:t>
            </a:r>
            <a:r>
              <a:rPr lang="en-US" dirty="0"/>
              <a:t>:  Consumer segment with high WTP for printer also buys more ink and spends more!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56507" y="4298133"/>
          <a:ext cx="4343400" cy="1495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918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Consumer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Type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Valuation Per Unit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18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Fixed-Quantity</a:t>
                      </a:r>
                    </a:p>
                    <a:p>
                      <a:pPr algn="ctr"/>
                      <a:r>
                        <a:rPr lang="en-US" sz="1100" dirty="0"/>
                        <a:t>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Variable Quantity Good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1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92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92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$12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13907" y="5060133"/>
            <a:ext cx="1371600" cy="381000"/>
          </a:xfrm>
          <a:prstGeom prst="rect">
            <a:avLst/>
          </a:prstGeom>
          <a:solidFill>
            <a:srgbClr val="FF00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13907" y="5441133"/>
            <a:ext cx="914400" cy="381000"/>
          </a:xfrm>
          <a:prstGeom prst="rect">
            <a:avLst/>
          </a:prstGeom>
          <a:solidFill>
            <a:srgbClr val="FF000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9600" y="5943600"/>
            <a:ext cx="8135293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b="1" dirty="0"/>
              <a:t>Exercise:</a:t>
            </a:r>
            <a:r>
              <a:rPr lang="en-US" dirty="0"/>
              <a:t> </a:t>
            </a:r>
            <a:r>
              <a:rPr lang="en-US" sz="1800" dirty="0"/>
              <a:t>See if you can re-do scenario 2 with an even more profitable volume discount on the variable-quantity good.</a:t>
            </a:r>
          </a:p>
        </p:txBody>
      </p:sp>
    </p:spTree>
    <p:extLst>
      <p:ext uri="{BB962C8B-B14F-4D97-AF65-F5344CB8AC3E}">
        <p14:creationId xmlns:p14="http://schemas.microsoft.com/office/powerpoint/2010/main" val="103798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and Metering?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>
            <a:normAutofit/>
          </a:bodyPr>
          <a:lstStyle/>
          <a:p>
            <a:r>
              <a:rPr lang="en-US" dirty="0"/>
              <a:t>Heavy investment in cloud services (Q1 2015):</a:t>
            </a:r>
          </a:p>
          <a:p>
            <a:pPr lvl="1"/>
            <a:r>
              <a:rPr lang="en-US" dirty="0"/>
              <a:t> 	   Amazon: $871 mill</a:t>
            </a:r>
          </a:p>
          <a:p>
            <a:pPr lvl="1"/>
            <a:r>
              <a:rPr lang="en-US" dirty="0"/>
              <a:t> 	   Microsoft: $1.4 bill</a:t>
            </a:r>
          </a:p>
          <a:p>
            <a:pPr lvl="1"/>
            <a:r>
              <a:rPr lang="en-US" dirty="0"/>
              <a:t> 	   Google: $2.93 bill</a:t>
            </a:r>
          </a:p>
          <a:p>
            <a:pPr marL="366713" lvl="1" indent="0" algn="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200" dirty="0"/>
              <a:t>“</a:t>
            </a:r>
            <a:r>
              <a:rPr lang="en-US" sz="1200" b="1" dirty="0"/>
              <a:t>Silver Linings in Big Cloud Spending,</a:t>
            </a:r>
            <a:r>
              <a:rPr lang="en-US" sz="1200" dirty="0"/>
              <a:t>” </a:t>
            </a:r>
            <a:r>
              <a:rPr lang="en-US" sz="1200" i="1" dirty="0"/>
              <a:t>WSJ, </a:t>
            </a:r>
            <a:r>
              <a:rPr lang="en-US" sz="1200" dirty="0"/>
              <a:t>4-27-2015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Cloud storage seems commoditized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dirty="0"/>
              <a:t>But …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Charge each time data accessed/processed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Data management services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“Rent” software in cloud (</a:t>
            </a:r>
            <a:r>
              <a:rPr lang="en-US" i="1" dirty="0"/>
              <a:t>SaaS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Oval Callout 4"/>
          <p:cNvSpPr/>
          <p:nvPr/>
        </p:nvSpPr>
        <p:spPr>
          <a:xfrm>
            <a:off x="76200" y="5791199"/>
            <a:ext cx="3505200" cy="983397"/>
          </a:xfrm>
          <a:prstGeom prst="wedgeEllipseCallout">
            <a:avLst>
              <a:gd name="adj1" fmla="val 65009"/>
              <a:gd name="adj2" fmla="val 217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400" dirty="0"/>
              <a:t>"Our early investments in the intelligent cloud and intelligent edge are paying off”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0" y="6153834"/>
            <a:ext cx="2938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600" b="1" dirty="0"/>
              <a:t>Satya Nadella, </a:t>
            </a:r>
            <a:r>
              <a:rPr lang="en-US" sz="1200" b="1" dirty="0"/>
              <a:t>MS CEO,  </a:t>
            </a:r>
            <a:r>
              <a:rPr lang="en-US" sz="1200" b="1" dirty="0">
                <a:solidFill>
                  <a:srgbClr val="A50021"/>
                </a:solidFill>
              </a:rPr>
              <a:t>class of ‘97</a:t>
            </a:r>
          </a:p>
          <a:p>
            <a:pPr marL="0" indent="0">
              <a:buNone/>
            </a:pPr>
            <a:r>
              <a:rPr lang="en-US" sz="1000" b="1" dirty="0"/>
              <a:t>Microsoft profit climbs as cloud grows</a:t>
            </a:r>
          </a:p>
          <a:p>
            <a:r>
              <a:rPr lang="en-US" sz="1000" dirty="0"/>
              <a:t>Glenn Chapman, </a:t>
            </a:r>
            <a:r>
              <a:rPr lang="en-US" sz="1000" i="1" dirty="0"/>
              <a:t>Phys.org</a:t>
            </a:r>
            <a:r>
              <a:rPr lang="en-US" sz="1000" dirty="0"/>
              <a:t>, 7-20-2018</a:t>
            </a:r>
          </a:p>
        </p:txBody>
      </p:sp>
      <p:pic>
        <p:nvPicPr>
          <p:cNvPr id="8196" name="Picture 4" descr="Introduction to Cloud Security with AWS - Data Driven Investor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343" y="2057400"/>
            <a:ext cx="591457" cy="44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Microsoft Azure Cloud CMS and Integrated Marketing Solution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5" t="31951" r="13918" b="25640"/>
          <a:stretch/>
        </p:blipFill>
        <p:spPr bwMode="auto">
          <a:xfrm>
            <a:off x="1317238" y="2667000"/>
            <a:ext cx="481626" cy="18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Vodafone Chooses Google Cloud as Strategic Cloud Platform for ...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t="16749" r="11111" b="8252"/>
          <a:stretch/>
        </p:blipFill>
        <p:spPr bwMode="auto">
          <a:xfrm>
            <a:off x="1371600" y="3042959"/>
            <a:ext cx="313764" cy="3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/>
          <p:cNvSpPr/>
          <p:nvPr/>
        </p:nvSpPr>
        <p:spPr>
          <a:xfrm>
            <a:off x="5562600" y="4953000"/>
            <a:ext cx="3543300" cy="1295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Microsoft Cloud Business generated $137.4 Billion in 2024 (up 20%)</a:t>
            </a:r>
          </a:p>
          <a:p>
            <a:pPr algn="r"/>
            <a:r>
              <a:rPr lang="en-US" sz="900" dirty="0">
                <a:solidFill>
                  <a:schemeClr val="bg1"/>
                </a:solidFill>
                <a:hlinkClick r:id="rId5"/>
              </a:rPr>
              <a:t>Microsoft Annual Report, 2024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38200" y="1600200"/>
            <a:ext cx="7543800" cy="2971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Sustainable Growth?</a:t>
            </a:r>
          </a:p>
          <a:p>
            <a:r>
              <a:rPr lang="en-US" sz="1400" dirty="0">
                <a:solidFill>
                  <a:srgbClr val="FFFF00"/>
                </a:solidFill>
              </a:rPr>
              <a:t>…another notable slowdown in growth for their respective cloud-</a:t>
            </a:r>
          </a:p>
          <a:p>
            <a:r>
              <a:rPr lang="en-US" sz="1400" dirty="0">
                <a:solidFill>
                  <a:srgbClr val="FFFF00"/>
                </a:solidFill>
              </a:rPr>
              <a:t>     computing services following a weak December quarter as large </a:t>
            </a:r>
          </a:p>
          <a:p>
            <a:r>
              <a:rPr lang="en-US" sz="1400" dirty="0">
                <a:solidFill>
                  <a:srgbClr val="FFFF00"/>
                </a:solidFill>
              </a:rPr>
              <a:t>     companies continue to scrutinize their spending on technology…</a:t>
            </a:r>
          </a:p>
          <a:p>
            <a:r>
              <a:rPr lang="en-US" sz="1400" dirty="0">
                <a:solidFill>
                  <a:srgbClr val="FFFF00"/>
                </a:solidFill>
              </a:rPr>
              <a:t>all three have soundly outperformed the S&amp;P 500…</a:t>
            </a:r>
          </a:p>
          <a:p>
            <a:r>
              <a:rPr lang="en-US" sz="1400" dirty="0">
                <a:solidFill>
                  <a:srgbClr val="FFFF00"/>
                </a:solidFill>
              </a:rPr>
              <a:t>another key facet is hype over</a:t>
            </a:r>
            <a:r>
              <a:rPr lang="en-US" sz="1400" b="1" i="1" dirty="0">
                <a:solidFill>
                  <a:srgbClr val="FFFF00"/>
                </a:solidFill>
              </a:rPr>
              <a:t> generative artificial intelligence</a:t>
            </a:r>
          </a:p>
          <a:p>
            <a:r>
              <a:rPr lang="en-US" sz="1400" dirty="0">
                <a:solidFill>
                  <a:srgbClr val="FFFF00"/>
                </a:solidFill>
              </a:rPr>
              <a:t>     technology that all three are incorporating into their services… </a:t>
            </a:r>
          </a:p>
          <a:p>
            <a:pPr algn="r"/>
            <a:r>
              <a:rPr lang="en-US" sz="700" dirty="0">
                <a:solidFill>
                  <a:schemeClr val="bg1"/>
                </a:solidFill>
              </a:rPr>
              <a:t>“Big Tech Depends on AI Shining Through Cloud Haze” WSJ, April 23, 2023</a:t>
            </a:r>
          </a:p>
        </p:txBody>
      </p:sp>
      <p:sp>
        <p:nvSpPr>
          <p:cNvPr id="8" name="Oval 7"/>
          <p:cNvSpPr/>
          <p:nvPr/>
        </p:nvSpPr>
        <p:spPr>
          <a:xfrm>
            <a:off x="1917070" y="2628900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913964" y="3267479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913076" y="3486554"/>
            <a:ext cx="76200" cy="76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91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11" grpId="0" animBg="1"/>
      <p:bldP spid="8" grpId="0" animBg="1"/>
      <p:bldP spid="14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B2B Metered Pricing</a:t>
            </a:r>
            <a:br>
              <a:rPr lang="en-US" sz="4400" dirty="0"/>
            </a:br>
            <a:r>
              <a:rPr lang="en-US" sz="3600" dirty="0"/>
              <a:t>Cloud Computing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3883152" cy="4876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Similar story playing out in China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100" dirty="0"/>
              <a:t>Q3 2024 cloud infrastructure service spending reached </a:t>
            </a:r>
            <a:r>
              <a:rPr lang="en-US" sz="2100" dirty="0">
                <a:hlinkClick r:id="rId2"/>
              </a:rPr>
              <a:t>US$10.2 billion</a:t>
            </a:r>
            <a:r>
              <a:rPr lang="en-US" sz="2100" dirty="0"/>
              <a:t> (11% growth)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“…Alibaba Cloud's price cuts underscore its commitment to fueling the adoption of AI technologies...”</a:t>
            </a:r>
          </a:p>
        </p:txBody>
      </p:sp>
      <p:sp>
        <p:nvSpPr>
          <p:cNvPr id="8" name="Oval 7"/>
          <p:cNvSpPr/>
          <p:nvPr/>
        </p:nvSpPr>
        <p:spPr>
          <a:xfrm>
            <a:off x="5245752" y="530785"/>
            <a:ext cx="3543300" cy="1295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FF00"/>
                </a:solidFill>
              </a:rPr>
              <a:t>Price War?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</a:rPr>
              <a:t>Or</a:t>
            </a:r>
          </a:p>
          <a:p>
            <a:pPr algn="ctr"/>
            <a:r>
              <a:rPr lang="en-US" sz="1600" dirty="0">
                <a:solidFill>
                  <a:srgbClr val="FFFF00"/>
                </a:solidFill>
              </a:rPr>
              <a:t>Razors &amp; Blades?!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FF5C5600-7569-4090-8E4E-F5474722D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653" y="2354344"/>
            <a:ext cx="4572000" cy="886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B431E3-F6C4-4754-B192-EA97BCF01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728" y="3219820"/>
            <a:ext cx="2437955" cy="347721"/>
          </a:xfrm>
          <a:prstGeom prst="rect">
            <a:avLst/>
          </a:prstGeom>
        </p:spPr>
      </p:pic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346982A9-984B-4D2C-8DBA-5574EFDAB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3781410"/>
            <a:ext cx="3505200" cy="2380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118322-8128-49C9-B061-F71D829DD8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7956" y="2008270"/>
            <a:ext cx="3105626" cy="3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0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F8BBC-3181-41D7-AE2B-9F43229DDCE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4800308"/>
            <a:ext cx="8080248" cy="190529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Previously </a:t>
            </a:r>
            <a:r>
              <a:rPr lang="en-US" dirty="0" err="1"/>
              <a:t>ChatGPT</a:t>
            </a:r>
            <a:r>
              <a:rPr lang="en-US" dirty="0"/>
              <a:t> Enterprise used fixed prices (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subscription</a:t>
            </a:r>
            <a:r>
              <a:rPr lang="en-US" dirty="0"/>
              <a:t>)</a:t>
            </a:r>
          </a:p>
          <a:p>
            <a:r>
              <a:rPr lang="en-US" dirty="0"/>
              <a:t>Now launching credit system so clients can upgrade to advanced features</a:t>
            </a:r>
          </a:p>
          <a:p>
            <a:r>
              <a:rPr lang="en-US" dirty="0"/>
              <a:t>Price of </a:t>
            </a:r>
            <a:r>
              <a:rPr lang="en-US" dirty="0" err="1"/>
              <a:t>ChatGPT</a:t>
            </a:r>
            <a:r>
              <a:rPr lang="en-US" dirty="0"/>
              <a:t> Enterprise will depend on number of credits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Sound familiar?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Menu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Two-part tariffs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B22E8-9611-4926-9F87-F1AF85FA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966AAB-C317-467B-901A-61FA628C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B2B Metered Pricing</a:t>
            </a:r>
            <a:br>
              <a:rPr lang="en-US" sz="4400" dirty="0"/>
            </a:br>
            <a:r>
              <a:rPr lang="en-US" sz="3600" dirty="0"/>
              <a:t>AI</a:t>
            </a:r>
            <a:endParaRPr lang="en-US" dirty="0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06540778-417F-4A89-85EC-F1AD5785E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52600"/>
            <a:ext cx="2929944" cy="297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6176D1-3EAC-492B-AFFD-5AB22A3DF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506093"/>
            <a:ext cx="1448353" cy="17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Metering over time</a:t>
            </a:r>
            <a:br>
              <a:rPr lang="en-US" sz="4400" dirty="0"/>
            </a:br>
            <a:r>
              <a:rPr lang="en-US" sz="3600" dirty="0"/>
              <a:t>Vapes &amp;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Bad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111752" cy="5029200"/>
          </a:xfrm>
        </p:spPr>
        <p:txBody>
          <a:bodyPr>
            <a:normAutofit/>
          </a:bodyPr>
          <a:lstStyle/>
          <a:p>
            <a:r>
              <a:rPr lang="en-US" dirty="0"/>
              <a:t>Cheap/Free initial vape induces Trial &amp; Repeat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(US &amp; UK)</a:t>
            </a:r>
          </a:p>
          <a:p>
            <a:endParaRPr lang="en-US" dirty="0"/>
          </a:p>
          <a:p>
            <a:r>
              <a:rPr lang="en-US" dirty="0"/>
              <a:t>Replacement cartridges 4 times more expensive than combustible cigarettes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1EC998-AF6F-4196-8552-7C35C067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676400"/>
            <a:ext cx="3955349" cy="4114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601853-D617-453B-B8FB-7DCFB0AA5566}"/>
              </a:ext>
            </a:extLst>
          </p:cNvPr>
          <p:cNvSpPr txBox="1"/>
          <p:nvPr/>
        </p:nvSpPr>
        <p:spPr>
          <a:xfrm>
            <a:off x="266700" y="6167735"/>
            <a:ext cx="643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/>
              <a:t>Source</a:t>
            </a:r>
            <a:r>
              <a:rPr lang="en-US" sz="1200" dirty="0"/>
              <a:t>: </a:t>
            </a:r>
            <a:r>
              <a:rPr lang="en-US" sz="1200" dirty="0" err="1"/>
              <a:t>Tattan</a:t>
            </a:r>
            <a:r>
              <a:rPr lang="en-US" sz="1200" dirty="0"/>
              <a:t>-Birch et al (2021), “</a:t>
            </a:r>
            <a:r>
              <a:rPr lang="en-US" sz="1200" dirty="0">
                <a:hlinkClick r:id="rId4"/>
              </a:rPr>
              <a:t>Give ‘</a:t>
            </a:r>
            <a:r>
              <a:rPr lang="en-US" sz="1200" dirty="0" err="1">
                <a:hlinkClick r:id="rId4"/>
              </a:rPr>
              <a:t>em</a:t>
            </a:r>
            <a:r>
              <a:rPr lang="en-US" sz="1200" dirty="0">
                <a:hlinkClick r:id="rId4"/>
              </a:rPr>
              <a:t> the vape, sell ‘</a:t>
            </a:r>
            <a:r>
              <a:rPr lang="en-US" sz="1200" dirty="0" err="1">
                <a:hlinkClick r:id="rId4"/>
              </a:rPr>
              <a:t>em</a:t>
            </a:r>
            <a:r>
              <a:rPr lang="en-US" sz="1200" dirty="0">
                <a:hlinkClick r:id="rId4"/>
              </a:rPr>
              <a:t> the pods’: razor-and-blades methods of pod e-cigarette pricing</a:t>
            </a:r>
            <a:r>
              <a:rPr lang="en-US" sz="1200" dirty="0"/>
              <a:t>,” </a:t>
            </a:r>
            <a:r>
              <a:rPr lang="en-US" sz="1200" i="1" dirty="0"/>
              <a:t>Tobacco Control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72529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Metering over time</a:t>
            </a:r>
            <a:br>
              <a:rPr lang="en-US" sz="4400" dirty="0"/>
            </a:br>
            <a:r>
              <a:rPr lang="en-US" sz="3600" dirty="0" err="1"/>
              <a:t>Wi-fi</a:t>
            </a:r>
            <a:r>
              <a:rPr lang="en-US" sz="3600" dirty="0"/>
              <a:t> in India &amp;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Marketing For Good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Years Ago, India Lacked Fast, Cheap Internet—One Billionaire Changed All That</a:t>
            </a:r>
          </a:p>
          <a:p>
            <a:pPr marL="0" indent="0" algn="ctr">
              <a:buNone/>
            </a:pPr>
            <a:r>
              <a:rPr lang="en-US" sz="1600" i="1" dirty="0" err="1"/>
              <a:t>Mukesh</a:t>
            </a:r>
            <a:r>
              <a:rPr lang="en-US" sz="1600" i="1" dirty="0"/>
              <a:t> </a:t>
            </a:r>
            <a:r>
              <a:rPr lang="en-US" sz="1600" i="1" dirty="0" err="1"/>
              <a:t>Ambani’s</a:t>
            </a:r>
            <a:r>
              <a:rPr lang="en-US" sz="1600" i="1" dirty="0"/>
              <a:t> national 4G network for Reliance </a:t>
            </a:r>
            <a:r>
              <a:rPr lang="en-US" sz="1600" i="1" dirty="0" err="1"/>
              <a:t>Jio</a:t>
            </a:r>
            <a:r>
              <a:rPr lang="en-US" sz="1600" i="1" dirty="0"/>
              <a:t>, which charges pennies for data, is bringing hundreds of millions online for the first time</a:t>
            </a: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WSJ, 5-5-2018</a:t>
            </a:r>
          </a:p>
          <a:p>
            <a:pPr lvl="1"/>
            <a:r>
              <a:rPr lang="en-US" dirty="0"/>
              <a:t>Free calls</a:t>
            </a:r>
          </a:p>
          <a:p>
            <a:pPr lvl="1"/>
            <a:r>
              <a:rPr lang="en-US" dirty="0"/>
              <a:t>Data for pennies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Opens market to 1.3 billion people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Company’s plan:</a:t>
            </a:r>
            <a:r>
              <a:rPr lang="en-US" dirty="0"/>
              <a:t> </a:t>
            </a:r>
          </a:p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/>
              <a:t>“use the platform to sell content, financial services and advertising.”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Oval Callout 4"/>
          <p:cNvSpPr/>
          <p:nvPr/>
        </p:nvSpPr>
        <p:spPr>
          <a:xfrm>
            <a:off x="76200" y="5791199"/>
            <a:ext cx="3505200" cy="983397"/>
          </a:xfrm>
          <a:prstGeom prst="wedgeEllipseCallout">
            <a:avLst>
              <a:gd name="adj1" fmla="val 67561"/>
              <a:gd name="adj2" fmla="val 187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“Reliance </a:t>
            </a:r>
            <a:r>
              <a:rPr lang="en-US" sz="1400" dirty="0" err="1"/>
              <a:t>Jio</a:t>
            </a:r>
            <a:r>
              <a:rPr lang="en-US" sz="1400" dirty="0"/>
              <a:t> will move India from data shortage to data abundance.”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0" y="6153834"/>
            <a:ext cx="214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600" b="1" dirty="0" err="1"/>
              <a:t>Mukesh</a:t>
            </a:r>
            <a:r>
              <a:rPr lang="en-US" sz="1600" b="1" dirty="0"/>
              <a:t> </a:t>
            </a:r>
            <a:r>
              <a:rPr lang="en-US" sz="1600" b="1" dirty="0" err="1"/>
              <a:t>Ambani</a:t>
            </a:r>
            <a:endParaRPr lang="en-US" sz="1600" b="1" dirty="0"/>
          </a:p>
          <a:p>
            <a:pPr marL="0" indent="0">
              <a:buNone/>
            </a:pPr>
            <a:r>
              <a:rPr lang="en-US" sz="1000" b="1" dirty="0"/>
              <a:t>Reliance JIO</a:t>
            </a:r>
          </a:p>
          <a:p>
            <a:r>
              <a:rPr lang="en-US" sz="1000" dirty="0"/>
              <a:t>Glenn Chapman, </a:t>
            </a:r>
            <a:r>
              <a:rPr lang="en-US" sz="1000" i="1" dirty="0"/>
              <a:t>Phys.org</a:t>
            </a:r>
            <a:r>
              <a:rPr lang="en-US" sz="1000" dirty="0"/>
              <a:t>, 7-20-2018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00400"/>
            <a:ext cx="2717673" cy="168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/>
          <p:nvPr/>
        </p:nvSpPr>
        <p:spPr>
          <a:xfrm>
            <a:off x="4800600" y="4648200"/>
            <a:ext cx="4305300" cy="1600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488 million active users!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</a:rPr>
              <a:t>₹206 ARPU (about $2.4 USD)</a:t>
            </a:r>
          </a:p>
          <a:p>
            <a:pPr algn="ctr"/>
            <a:endParaRPr lang="en-US" sz="1400" dirty="0">
              <a:solidFill>
                <a:srgbClr val="FFFF00"/>
              </a:solidFill>
            </a:endParaRPr>
          </a:p>
          <a:p>
            <a:pPr algn="ctr"/>
            <a:r>
              <a:rPr lang="en-US" sz="1400" dirty="0">
                <a:solidFill>
                  <a:srgbClr val="FFFF00"/>
                </a:solidFill>
                <a:sym typeface="Wingdings" panose="05000000000000000000" pitchFamily="2" charset="2"/>
              </a:rPr>
              <a:t></a:t>
            </a:r>
            <a:r>
              <a:rPr lang="en-US" sz="1400" dirty="0">
                <a:solidFill>
                  <a:srgbClr val="FFFF00"/>
                </a:solidFill>
              </a:rPr>
              <a:t>18.5% EBITDA growth</a:t>
            </a:r>
          </a:p>
          <a:p>
            <a:pPr algn="r"/>
            <a:r>
              <a:rPr lang="en-US" sz="700" i="1" dirty="0">
                <a:solidFill>
                  <a:schemeClr val="bg1"/>
                </a:solidFill>
                <a:hlinkClick r:id="rId4"/>
              </a:rPr>
              <a:t>Business Today, 04-24-2026</a:t>
            </a:r>
            <a:endParaRPr lang="en-US" sz="700" dirty="0">
              <a:solidFill>
                <a:schemeClr val="bg1"/>
              </a:solidFill>
            </a:endParaRPr>
          </a:p>
          <a:p>
            <a:pPr algn="r"/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45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Threats to Metered Pricing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153400" cy="4953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>
                <a:latin typeface="+mj-lt"/>
              </a:rPr>
              <a:t>Release of Compatible Generics into secondary ink market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900" dirty="0">
                <a:latin typeface="+mj-lt"/>
              </a:rPr>
              <a:t>Staples has generic ink cartridges for 25% less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900" dirty="0">
                <a:latin typeface="+mj-lt"/>
              </a:rPr>
              <a:t>Inkjet refill kits $15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1900" dirty="0"/>
              <a:t>Resale of refurbished (i.e., refilled) ink cartridges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endParaRPr lang="en-US" sz="1900" dirty="0">
              <a:latin typeface="+mj-lt"/>
            </a:endParaRP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endParaRPr lang="en-US" sz="1900" dirty="0"/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endParaRPr lang="en-US" sz="1900" dirty="0">
              <a:latin typeface="+mj-lt"/>
            </a:endParaRP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endParaRPr lang="en-US" sz="1900" dirty="0"/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endParaRPr lang="en-US" sz="190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900" dirty="0"/>
              <a:t>Lexmark blocked re-fill kits with sensor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900" dirty="0"/>
              <a:t>Lexmark recently fought to prevent resale of used cartridges</a:t>
            </a: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900" b="1" u="sng" dirty="0"/>
              <a:t>See</a:t>
            </a:r>
            <a:r>
              <a:rPr lang="en-US" sz="1900" dirty="0"/>
              <a:t>: Lexmark International, Inc. v. Static Control Components, Inc</a:t>
            </a:r>
          </a:p>
          <a:p>
            <a:pPr lvl="1">
              <a:lnSpc>
                <a:spcPct val="90000"/>
              </a:lnSpc>
              <a:spcAft>
                <a:spcPts val="1200"/>
              </a:spcAft>
              <a:defRPr/>
            </a:pPr>
            <a:endParaRPr lang="en-US" sz="19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6" name="Picture 4" descr="Refill Kit for Lexmark 36XL and 37XL Ink Cartridg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528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26527" t="20211" r="31789" b="52842"/>
          <a:stretch/>
        </p:blipFill>
        <p:spPr>
          <a:xfrm>
            <a:off x="4495800" y="3429000"/>
            <a:ext cx="356235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2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Threats to Metered Pricing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  <a:defRPr/>
            </a:pPr>
            <a:r>
              <a:rPr lang="en-US" sz="2400" b="1" u="sng" dirty="0">
                <a:latin typeface="+mj-lt"/>
              </a:rPr>
              <a:t>Antitrust Concerns</a:t>
            </a:r>
            <a:r>
              <a:rPr lang="en-US" sz="2400" dirty="0">
                <a:latin typeface="+mj-lt"/>
              </a:rPr>
              <a:t>: illegal to block entry into your aftermarket!</a:t>
            </a: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dirty="0">
                <a:latin typeface="+mj-lt"/>
              </a:rPr>
              <a:t>Legality of Tying (protection of intellectual property versus foreclosure of rivals)</a:t>
            </a: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dirty="0"/>
              <a:t>Some famous cases:</a:t>
            </a:r>
            <a:endParaRPr lang="en-US" dirty="0">
              <a:latin typeface="+mj-lt"/>
            </a:endParaRP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dirty="0">
                <a:latin typeface="+mj-lt"/>
              </a:rPr>
              <a:t>Microsoft</a:t>
            </a:r>
          </a:p>
          <a:p>
            <a:pPr lv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dirty="0">
                <a:latin typeface="+mj-lt"/>
              </a:rPr>
              <a:t>Lexmark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iTunes and iPod in Europe (interoperability)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2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 Away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Bundling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&amp;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Metering</a:t>
            </a:r>
            <a:r>
              <a:rPr lang="en-US" sz="2400" dirty="0">
                <a:latin typeface="+mj-lt"/>
              </a:rPr>
              <a:t> as price discrimination (capture value)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These are Product Line Pricing Strategies</a:t>
            </a:r>
            <a:endParaRPr lang="en-US" sz="2400" i="1" dirty="0">
              <a:latin typeface="+mj-lt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Mixed Bundling</a:t>
            </a:r>
            <a:r>
              <a:rPr lang="en-US" sz="2400" dirty="0">
                <a:latin typeface="+mj-lt"/>
              </a:rPr>
              <a:t> and substitutes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Metering</a:t>
            </a:r>
            <a:r>
              <a:rPr lang="en-US" sz="2400" dirty="0">
                <a:latin typeface="+mj-lt"/>
              </a:rPr>
              <a:t> and complements (leads to </a:t>
            </a:r>
            <a:r>
              <a:rPr lang="en-US" sz="2400" i="1" dirty="0">
                <a:latin typeface="+mj-lt"/>
              </a:rPr>
              <a:t>loss-leading</a:t>
            </a:r>
            <a:r>
              <a:rPr lang="en-US" sz="2400" dirty="0">
                <a:latin typeface="+mj-lt"/>
              </a:rPr>
              <a:t> on the “bait” product)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Coordination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sz="2400" dirty="0">
                <a:latin typeface="+mj-lt"/>
              </a:rPr>
              <a:t>rice </a:t>
            </a:r>
            <a:r>
              <a:rPr lang="en-US" sz="2400">
                <a:latin typeface="+mj-lt"/>
              </a:rPr>
              <a:t>and </a:t>
            </a: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P</a:t>
            </a:r>
            <a:r>
              <a:rPr lang="en-US" sz="2400">
                <a:latin typeface="+mj-lt"/>
              </a:rPr>
              <a:t>roduct </a:t>
            </a:r>
            <a:r>
              <a:rPr lang="en-US" sz="2400" dirty="0">
                <a:latin typeface="+mj-lt"/>
              </a:rPr>
              <a:t>again…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400" dirty="0">
                <a:latin typeface="+mj-lt"/>
              </a:rPr>
              <a:t>Legality of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Metering</a:t>
            </a:r>
            <a:r>
              <a:rPr lang="en-US" sz="2400" dirty="0">
                <a:latin typeface="+mj-lt"/>
              </a:rPr>
              <a:t> can be tricky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400" dirty="0">
                <a:latin typeface="+mj-lt"/>
              </a:rPr>
              <a:t>Illegal as means to foreclose competition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dirty="0"/>
              <a:t>The Economics of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inattention</a:t>
            </a:r>
            <a:r>
              <a:rPr lang="en-US" dirty="0"/>
              <a:t> raises new ethical/legal considerations</a:t>
            </a:r>
          </a:p>
          <a:p>
            <a:pPr lvl="1">
              <a:defRPr/>
            </a:pPr>
            <a:endParaRPr lang="en-US" sz="2400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84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Office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EAD946-525E-41AB-BA74-CECD229520E5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40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 Word take-off in the U.S.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1026" name="Picture 2" descr="https://personal.utdallas.edu/~liebowit/book/wordprocessor/Image30.g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5" y="1847850"/>
            <a:ext cx="73533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4114800" y="2362200"/>
            <a:ext cx="0" cy="4038600"/>
          </a:xfrm>
          <a:prstGeom prst="line">
            <a:avLst/>
          </a:prstGeom>
          <a:ln w="28575">
            <a:headEnd type="triangle" w="lg" len="lg"/>
            <a:tailEnd type="none" w="lg" len="lg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419047" y="6362700"/>
            <a:ext cx="3391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MS Office launch in 1990</a:t>
            </a:r>
          </a:p>
        </p:txBody>
      </p:sp>
    </p:spTree>
    <p:extLst>
      <p:ext uri="{BB962C8B-B14F-4D97-AF65-F5344CB8AC3E}">
        <p14:creationId xmlns:p14="http://schemas.microsoft.com/office/powerpoint/2010/main" val="4751097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EAD946-525E-41AB-BA74-CECD229520E5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94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 in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1524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AT&amp;T, Verizon Push Free iPhones for Long-Term Customers</a:t>
            </a:r>
          </a:p>
          <a:p>
            <a:pPr marL="0" indent="0" algn="r">
              <a:buNone/>
            </a:pPr>
            <a:r>
              <a:rPr lang="en-US" sz="1400" i="1" dirty="0"/>
              <a:t>WSJ</a:t>
            </a:r>
            <a:r>
              <a:rPr lang="en-US" sz="1400" dirty="0"/>
              <a:t>, June 5, 2021</a:t>
            </a:r>
            <a:endParaRPr lang="en-US" sz="1400" i="1" dirty="0"/>
          </a:p>
          <a:p>
            <a:r>
              <a:rPr lang="en-US" sz="2100" dirty="0"/>
              <a:t>Subsidized phones for trade-ins from </a:t>
            </a:r>
            <a:r>
              <a:rPr lang="en-US" sz="2100" b="1" dirty="0"/>
              <a:t>new</a:t>
            </a:r>
            <a:r>
              <a:rPr lang="en-US" sz="2100" dirty="0"/>
              <a:t> &amp; </a:t>
            </a:r>
            <a:r>
              <a:rPr lang="en-US" sz="2100" b="1" u="sng" dirty="0"/>
              <a:t>existing</a:t>
            </a:r>
            <a:r>
              <a:rPr lang="en-US" sz="2100" dirty="0"/>
              <a:t> subscribers </a:t>
            </a:r>
          </a:p>
          <a:p>
            <a:r>
              <a:rPr lang="en-US" sz="2100" dirty="0"/>
              <a:t>New iPhone subsidies on $1,000 price: from free to $700 rebate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76600"/>
            <a:ext cx="2703778" cy="3061063"/>
          </a:xfrm>
          <a:prstGeom prst="rect">
            <a:avLst/>
          </a:prstGeom>
        </p:spPr>
      </p:pic>
      <p:cxnSp>
        <p:nvCxnSpPr>
          <p:cNvPr id="8" name="Straight Connector 7"/>
          <p:cNvCxnSpPr>
            <a:endCxn id="6" idx="2"/>
          </p:cNvCxnSpPr>
          <p:nvPr/>
        </p:nvCxnSpPr>
        <p:spPr>
          <a:xfrm flipH="1">
            <a:off x="2113889" y="4267200"/>
            <a:ext cx="12782" cy="20704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3400" y="6323111"/>
            <a:ext cx="1784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AT&amp;T: free iPhone 12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352800" y="4222225"/>
            <a:ext cx="12782" cy="207046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16994" y="6292688"/>
            <a:ext cx="1418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Verizon response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3694378" y="3506421"/>
            <a:ext cx="5144822" cy="2498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AT&amp;T cost: $2 billion /quarter</a:t>
            </a:r>
          </a:p>
          <a:p>
            <a:r>
              <a:rPr lang="en-US" sz="2200" dirty="0"/>
              <a:t>AT&amp;T service revenues: $47 ARPU/month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Wingdings" panose="05000000000000000000" pitchFamily="2" charset="2"/>
              </a:rPr>
              <a:t>	</a:t>
            </a:r>
            <a:r>
              <a:rPr lang="en-US" sz="2200" dirty="0"/>
              <a:t>AT&amp;T added 1.4 million post-paid 	connections (Oct ’20 –March’21)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01388" y="4921431"/>
            <a:ext cx="5334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analytics and Bundling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EAD946-525E-41AB-BA74-CECD229520E5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2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analytics and bundling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Let’s consider the data analytics associated with bundling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What would we need to observe in our marketing research to suggest a motive for bundling non-complements?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Suppose you have conducted a conjoint analysis and estimated consumer valuations (WTP) for your components…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055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914400" y="1676400"/>
            <a:ext cx="15240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2</a:t>
            </a: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5867400" y="5486400"/>
            <a:ext cx="23622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1</a:t>
            </a:r>
          </a:p>
        </p:txBody>
      </p:sp>
      <p:sp>
        <p:nvSpPr>
          <p:cNvPr id="7" name="Line 17"/>
          <p:cNvSpPr>
            <a:spLocks noChangeShapeType="1"/>
          </p:cNvSpPr>
          <p:nvPr/>
        </p:nvSpPr>
        <p:spPr bwMode="auto">
          <a:xfrm flipV="1">
            <a:off x="2895600" y="2057400"/>
            <a:ext cx="0" cy="32004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Line 18"/>
          <p:cNvSpPr>
            <a:spLocks noChangeShapeType="1"/>
          </p:cNvSpPr>
          <p:nvPr/>
        </p:nvSpPr>
        <p:spPr bwMode="auto">
          <a:xfrm>
            <a:off x="2895600" y="5257800"/>
            <a:ext cx="51816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Box 25"/>
          <p:cNvSpPr txBox="1">
            <a:spLocks noChangeArrowheads="1"/>
          </p:cNvSpPr>
          <p:nvPr/>
        </p:nvSpPr>
        <p:spPr bwMode="auto">
          <a:xfrm>
            <a:off x="2424113" y="1719263"/>
            <a:ext cx="43922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10" name="Text Box 26"/>
          <p:cNvSpPr txBox="1">
            <a:spLocks noChangeArrowheads="1"/>
          </p:cNvSpPr>
          <p:nvPr/>
        </p:nvSpPr>
        <p:spPr bwMode="auto">
          <a:xfrm>
            <a:off x="8077200" y="5257800"/>
            <a:ext cx="43922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13" name="5-Point Star 12"/>
          <p:cNvSpPr/>
          <p:nvPr/>
        </p:nvSpPr>
        <p:spPr>
          <a:xfrm>
            <a:off x="3429000" y="31242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5-Point Star 13"/>
          <p:cNvSpPr/>
          <p:nvPr/>
        </p:nvSpPr>
        <p:spPr>
          <a:xfrm>
            <a:off x="3886200" y="31623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5-Point Star 14"/>
          <p:cNvSpPr/>
          <p:nvPr/>
        </p:nvSpPr>
        <p:spPr>
          <a:xfrm>
            <a:off x="3464694" y="36195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5-Point Star 15"/>
          <p:cNvSpPr/>
          <p:nvPr/>
        </p:nvSpPr>
        <p:spPr>
          <a:xfrm>
            <a:off x="4038600" y="34671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5-Point Star 16"/>
          <p:cNvSpPr/>
          <p:nvPr/>
        </p:nvSpPr>
        <p:spPr>
          <a:xfrm>
            <a:off x="4495800" y="3731795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5-Point Star 17"/>
          <p:cNvSpPr/>
          <p:nvPr/>
        </p:nvSpPr>
        <p:spPr>
          <a:xfrm>
            <a:off x="4000500" y="3929915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5-Point Star 18"/>
          <p:cNvSpPr/>
          <p:nvPr/>
        </p:nvSpPr>
        <p:spPr>
          <a:xfrm>
            <a:off x="4515853" y="30861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5-Point Star 19"/>
          <p:cNvSpPr/>
          <p:nvPr/>
        </p:nvSpPr>
        <p:spPr>
          <a:xfrm>
            <a:off x="5943600" y="4044215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5-Point Star 20"/>
          <p:cNvSpPr/>
          <p:nvPr/>
        </p:nvSpPr>
        <p:spPr>
          <a:xfrm>
            <a:off x="5053262" y="35433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5-Point Star 21"/>
          <p:cNvSpPr/>
          <p:nvPr/>
        </p:nvSpPr>
        <p:spPr>
          <a:xfrm>
            <a:off x="4800600" y="44958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5-Point Star 22"/>
          <p:cNvSpPr/>
          <p:nvPr/>
        </p:nvSpPr>
        <p:spPr>
          <a:xfrm>
            <a:off x="3581400" y="3276600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5-Point Star 23"/>
          <p:cNvSpPr/>
          <p:nvPr/>
        </p:nvSpPr>
        <p:spPr>
          <a:xfrm>
            <a:off x="4724400" y="3998495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800600" y="2178363"/>
            <a:ext cx="990600" cy="869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257800" y="2209800"/>
            <a:ext cx="685800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5000" y="1905000"/>
            <a:ext cx="2439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WTP estimates for different subjects</a:t>
            </a:r>
          </a:p>
        </p:txBody>
      </p:sp>
    </p:spTree>
    <p:extLst>
      <p:ext uri="{BB962C8B-B14F-4D97-AF65-F5344CB8AC3E}">
        <p14:creationId xmlns:p14="http://schemas.microsoft.com/office/powerpoint/2010/main" val="458858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971800" y="3657600"/>
            <a:ext cx="2362200" cy="160020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>
            <a:noAutofit/>
          </a:bodyPr>
          <a:lstStyle/>
          <a:p>
            <a:r>
              <a:rPr lang="en-US" dirty="0"/>
              <a:t>Pure Components Strategy</a:t>
            </a:r>
            <a:endParaRPr lang="en-US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762000" y="1752600"/>
            <a:ext cx="7772400" cy="4114800"/>
          </a:xfrm>
          <a:noFill/>
        </p:spPr>
        <p:txBody>
          <a:bodyPr lIns="90488" tIns="44450" rIns="90488" bIns="44450"/>
          <a:lstStyle/>
          <a:p>
            <a:pPr>
              <a:buFont typeface="Monotype Sorts" pitchFamily="2" charset="2"/>
              <a:buNone/>
            </a:pPr>
            <a:endParaRPr lang="en-US"/>
          </a:p>
          <a:p>
            <a:pPr>
              <a:buFont typeface="Monotype Sorts" pitchFamily="2" charset="2"/>
              <a:buNone/>
            </a:pPr>
            <a:r>
              <a:rPr lang="en-US"/>
              <a:t> </a:t>
            </a:r>
          </a:p>
          <a:p>
            <a:pPr>
              <a:buFont typeface="Monotype Sorts" pitchFamily="2" charset="2"/>
              <a:buNone/>
            </a:pPr>
            <a:endParaRPr lang="en-US"/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4632325" y="3413125"/>
            <a:ext cx="811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4632325" y="4403725"/>
            <a:ext cx="1065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Rectangle 8"/>
          <p:cNvSpPr>
            <a:spLocks noChangeArrowheads="1"/>
          </p:cNvSpPr>
          <p:nvPr/>
        </p:nvSpPr>
        <p:spPr bwMode="auto">
          <a:xfrm>
            <a:off x="2727325" y="3413125"/>
            <a:ext cx="1065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6" name="Rectangle 9"/>
          <p:cNvSpPr>
            <a:spLocks noChangeArrowheads="1"/>
          </p:cNvSpPr>
          <p:nvPr/>
        </p:nvSpPr>
        <p:spPr bwMode="auto">
          <a:xfrm>
            <a:off x="2803525" y="4403725"/>
            <a:ext cx="9128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537" name="Rectangle 10"/>
          <p:cNvSpPr>
            <a:spLocks noChangeArrowheads="1"/>
          </p:cNvSpPr>
          <p:nvPr/>
        </p:nvSpPr>
        <p:spPr bwMode="auto">
          <a:xfrm>
            <a:off x="914400" y="1676400"/>
            <a:ext cx="15240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2</a:t>
            </a:r>
          </a:p>
        </p:txBody>
      </p:sp>
      <p:sp>
        <p:nvSpPr>
          <p:cNvPr id="22538" name="Rectangle 11"/>
          <p:cNvSpPr>
            <a:spLocks noChangeArrowheads="1"/>
          </p:cNvSpPr>
          <p:nvPr/>
        </p:nvSpPr>
        <p:spPr bwMode="auto">
          <a:xfrm>
            <a:off x="5867400" y="5486400"/>
            <a:ext cx="23622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1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429000" y="2819400"/>
            <a:ext cx="3989388" cy="2206625"/>
            <a:chOff x="2160" y="1776"/>
            <a:chExt cx="2513" cy="1390"/>
          </a:xfrm>
        </p:grpSpPr>
        <p:sp>
          <p:nvSpPr>
            <p:cNvPr id="22552" name="Text Box 13"/>
            <p:cNvSpPr txBox="1">
              <a:spLocks noChangeArrowheads="1"/>
            </p:cNvSpPr>
            <p:nvPr/>
          </p:nvSpPr>
          <p:spPr bwMode="auto">
            <a:xfrm>
              <a:off x="3696" y="1776"/>
              <a:ext cx="855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Buy Both</a:t>
              </a:r>
            </a:p>
          </p:txBody>
        </p:sp>
        <p:sp>
          <p:nvSpPr>
            <p:cNvPr id="22553" name="Text Box 14"/>
            <p:cNvSpPr txBox="1">
              <a:spLocks noChangeArrowheads="1"/>
            </p:cNvSpPr>
            <p:nvPr/>
          </p:nvSpPr>
          <p:spPr bwMode="auto">
            <a:xfrm>
              <a:off x="3696" y="2880"/>
              <a:ext cx="977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Buy Item 1</a:t>
              </a:r>
            </a:p>
          </p:txBody>
        </p:sp>
        <p:sp>
          <p:nvSpPr>
            <p:cNvPr id="22554" name="Text Box 15"/>
            <p:cNvSpPr txBox="1">
              <a:spLocks noChangeArrowheads="1"/>
            </p:cNvSpPr>
            <p:nvPr/>
          </p:nvSpPr>
          <p:spPr bwMode="auto">
            <a:xfrm>
              <a:off x="2208" y="1776"/>
              <a:ext cx="977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Buy Item 2</a:t>
              </a:r>
            </a:p>
          </p:txBody>
        </p:sp>
        <p:sp>
          <p:nvSpPr>
            <p:cNvPr id="22555" name="Text Box 16"/>
            <p:cNvSpPr txBox="1">
              <a:spLocks noChangeArrowheads="1"/>
            </p:cNvSpPr>
            <p:nvPr/>
          </p:nvSpPr>
          <p:spPr bwMode="auto">
            <a:xfrm>
              <a:off x="2160" y="2880"/>
              <a:ext cx="898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Buy None</a:t>
              </a:r>
            </a:p>
          </p:txBody>
        </p:sp>
      </p:grpSp>
      <p:sp>
        <p:nvSpPr>
          <p:cNvPr id="22540" name="Line 17"/>
          <p:cNvSpPr>
            <a:spLocks noChangeShapeType="1"/>
          </p:cNvSpPr>
          <p:nvPr/>
        </p:nvSpPr>
        <p:spPr bwMode="auto">
          <a:xfrm flipV="1">
            <a:off x="2895600" y="2057400"/>
            <a:ext cx="0" cy="32004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541" name="Line 18"/>
          <p:cNvSpPr>
            <a:spLocks noChangeShapeType="1"/>
          </p:cNvSpPr>
          <p:nvPr/>
        </p:nvSpPr>
        <p:spPr bwMode="auto">
          <a:xfrm>
            <a:off x="2895600" y="5257800"/>
            <a:ext cx="51816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542" name="Line 19"/>
          <p:cNvSpPr>
            <a:spLocks noChangeShapeType="1"/>
          </p:cNvSpPr>
          <p:nvPr/>
        </p:nvSpPr>
        <p:spPr bwMode="auto">
          <a:xfrm flipV="1">
            <a:off x="5181600" y="2133600"/>
            <a:ext cx="0" cy="31242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3" name="Line 20"/>
          <p:cNvSpPr>
            <a:spLocks noChangeShapeType="1"/>
          </p:cNvSpPr>
          <p:nvPr/>
        </p:nvSpPr>
        <p:spPr bwMode="auto">
          <a:xfrm>
            <a:off x="2895600" y="3581400"/>
            <a:ext cx="4495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2544" name="Text Box 21"/>
          <p:cNvSpPr txBox="1">
            <a:spLocks noChangeArrowheads="1"/>
          </p:cNvSpPr>
          <p:nvPr/>
        </p:nvSpPr>
        <p:spPr bwMode="auto">
          <a:xfrm>
            <a:off x="3886200" y="2209800"/>
            <a:ext cx="488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B</a:t>
            </a:r>
          </a:p>
        </p:txBody>
      </p:sp>
      <p:sp>
        <p:nvSpPr>
          <p:cNvPr id="22545" name="Text Box 22"/>
          <p:cNvSpPr txBox="1">
            <a:spLocks noChangeArrowheads="1"/>
          </p:cNvSpPr>
          <p:nvPr/>
        </p:nvSpPr>
        <p:spPr bwMode="auto">
          <a:xfrm>
            <a:off x="6172200" y="2209800"/>
            <a:ext cx="514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A</a:t>
            </a:r>
          </a:p>
        </p:txBody>
      </p:sp>
      <p:sp>
        <p:nvSpPr>
          <p:cNvPr id="22546" name="Text Box 23"/>
          <p:cNvSpPr txBox="1">
            <a:spLocks noChangeArrowheads="1"/>
          </p:cNvSpPr>
          <p:nvPr/>
        </p:nvSpPr>
        <p:spPr bwMode="auto">
          <a:xfrm>
            <a:off x="3886200" y="4038600"/>
            <a:ext cx="514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C</a:t>
            </a:r>
          </a:p>
        </p:txBody>
      </p:sp>
      <p:sp>
        <p:nvSpPr>
          <p:cNvPr id="22547" name="Text Box 24"/>
          <p:cNvSpPr txBox="1">
            <a:spLocks noChangeArrowheads="1"/>
          </p:cNvSpPr>
          <p:nvPr/>
        </p:nvSpPr>
        <p:spPr bwMode="auto">
          <a:xfrm>
            <a:off x="6324600" y="4038600"/>
            <a:ext cx="514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D</a:t>
            </a:r>
          </a:p>
        </p:txBody>
      </p:sp>
      <p:sp>
        <p:nvSpPr>
          <p:cNvPr id="22548" name="Text Box 25"/>
          <p:cNvSpPr txBox="1">
            <a:spLocks noChangeArrowheads="1"/>
          </p:cNvSpPr>
          <p:nvPr/>
        </p:nvSpPr>
        <p:spPr bwMode="auto">
          <a:xfrm>
            <a:off x="2424113" y="1719263"/>
            <a:ext cx="43922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22549" name="Text Box 26"/>
          <p:cNvSpPr txBox="1">
            <a:spLocks noChangeArrowheads="1"/>
          </p:cNvSpPr>
          <p:nvPr/>
        </p:nvSpPr>
        <p:spPr bwMode="auto">
          <a:xfrm>
            <a:off x="8077200" y="5257800"/>
            <a:ext cx="43922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22550" name="Text Box 27"/>
          <p:cNvSpPr txBox="1">
            <a:spLocks noChangeArrowheads="1"/>
          </p:cNvSpPr>
          <p:nvPr/>
        </p:nvSpPr>
        <p:spPr bwMode="auto">
          <a:xfrm>
            <a:off x="2286000" y="3352800"/>
            <a:ext cx="4524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p</a:t>
            </a:r>
            <a:r>
              <a:rPr lang="en-US" b="1" baseline="-25000"/>
              <a:t>2</a:t>
            </a:r>
          </a:p>
        </p:txBody>
      </p:sp>
      <p:sp>
        <p:nvSpPr>
          <p:cNvPr id="22551" name="Text Box 28"/>
          <p:cNvSpPr txBox="1">
            <a:spLocks noChangeArrowheads="1"/>
          </p:cNvSpPr>
          <p:nvPr/>
        </p:nvSpPr>
        <p:spPr bwMode="auto">
          <a:xfrm>
            <a:off x="4953000" y="5410200"/>
            <a:ext cx="4524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/>
              <a:t>p</a:t>
            </a:r>
            <a:r>
              <a:rPr lang="en-US" b="1" baseline="-25000"/>
              <a:t>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699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r>
              <a:rPr lang="en-US" dirty="0"/>
              <a:t>Pure Bundling Strategy</a:t>
            </a:r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4632325" y="4098925"/>
            <a:ext cx="811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2879725" y="5318125"/>
            <a:ext cx="9128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152400" y="1676400"/>
            <a:ext cx="1524000" cy="1295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2</a:t>
            </a:r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7391400" y="5067300"/>
            <a:ext cx="15240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 dirty="0"/>
              <a:t>Valuation</a:t>
            </a:r>
          </a:p>
          <a:p>
            <a:pPr algn="ctr"/>
            <a:r>
              <a:rPr lang="en-US" sz="1800" b="1" dirty="0"/>
              <a:t>of</a:t>
            </a:r>
          </a:p>
          <a:p>
            <a:pPr algn="ctr"/>
            <a:r>
              <a:rPr lang="en-US" sz="1800" b="1" dirty="0"/>
              <a:t>Product 1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590800" y="3657600"/>
            <a:ext cx="4387850" cy="1901825"/>
            <a:chOff x="1632" y="2304"/>
            <a:chExt cx="2764" cy="1198"/>
          </a:xfrm>
        </p:grpSpPr>
        <p:sp>
          <p:nvSpPr>
            <p:cNvPr id="23578" name="Text Box 9"/>
            <p:cNvSpPr txBox="1">
              <a:spLocks noChangeArrowheads="1"/>
            </p:cNvSpPr>
            <p:nvPr/>
          </p:nvSpPr>
          <p:spPr bwMode="auto">
            <a:xfrm>
              <a:off x="3360" y="2304"/>
              <a:ext cx="1036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Buy Bundle</a:t>
              </a:r>
            </a:p>
          </p:txBody>
        </p:sp>
        <p:sp>
          <p:nvSpPr>
            <p:cNvPr id="23579" name="Text Box 10"/>
            <p:cNvSpPr txBox="1">
              <a:spLocks noChangeArrowheads="1"/>
            </p:cNvSpPr>
            <p:nvPr/>
          </p:nvSpPr>
          <p:spPr bwMode="auto">
            <a:xfrm>
              <a:off x="1632" y="3216"/>
              <a:ext cx="898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Buy None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800600" y="4386263"/>
            <a:ext cx="3097213" cy="1100137"/>
            <a:chOff x="3024" y="2763"/>
            <a:chExt cx="1951" cy="693"/>
          </a:xfrm>
        </p:grpSpPr>
        <p:sp>
          <p:nvSpPr>
            <p:cNvPr id="23575" name="Freeform 12"/>
            <p:cNvSpPr>
              <a:spLocks/>
            </p:cNvSpPr>
            <p:nvPr/>
          </p:nvSpPr>
          <p:spPr bwMode="auto">
            <a:xfrm>
              <a:off x="3024" y="3216"/>
              <a:ext cx="288" cy="240"/>
            </a:xfrm>
            <a:custGeom>
              <a:avLst/>
              <a:gdLst>
                <a:gd name="T0" fmla="*/ 0 w 288"/>
                <a:gd name="T1" fmla="*/ 0 h 288"/>
                <a:gd name="T2" fmla="*/ 0 w 288"/>
                <a:gd name="T3" fmla="*/ 288 h 288"/>
                <a:gd name="T4" fmla="*/ 288 w 288"/>
                <a:gd name="T5" fmla="*/ 288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0"/>
                  </a:moveTo>
                  <a:lnTo>
                    <a:pt x="0" y="288"/>
                  </a:lnTo>
                  <a:lnTo>
                    <a:pt x="288" y="28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0488" tIns="44450" rIns="90488" bIns="44450"/>
            <a:lstStyle/>
            <a:p>
              <a:endParaRPr lang="en-US"/>
            </a:p>
          </p:txBody>
        </p:sp>
        <p:sp>
          <p:nvSpPr>
            <p:cNvPr id="23576" name="Line 13"/>
            <p:cNvSpPr>
              <a:spLocks noChangeShapeType="1"/>
            </p:cNvSpPr>
            <p:nvPr/>
          </p:nvSpPr>
          <p:spPr bwMode="auto">
            <a:xfrm flipH="1">
              <a:off x="3216" y="3072"/>
              <a:ext cx="816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</p:spPr>
          <p:txBody>
            <a:bodyPr wrap="none" lIns="90488" tIns="44450" rIns="90488" bIns="44450"/>
            <a:lstStyle/>
            <a:p>
              <a:endParaRPr lang="en-US"/>
            </a:p>
          </p:txBody>
        </p:sp>
        <p:sp>
          <p:nvSpPr>
            <p:cNvPr id="23577" name="Text Box 14"/>
            <p:cNvSpPr txBox="1">
              <a:spLocks noChangeArrowheads="1"/>
            </p:cNvSpPr>
            <p:nvPr/>
          </p:nvSpPr>
          <p:spPr bwMode="auto">
            <a:xfrm>
              <a:off x="3975" y="2763"/>
              <a:ext cx="1000" cy="28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/>
                <a:t>v</a:t>
              </a:r>
              <a:r>
                <a:rPr lang="en-US" baseline="-25000" dirty="0"/>
                <a:t>2</a:t>
              </a:r>
              <a:r>
                <a:rPr lang="en-US" dirty="0"/>
                <a:t> = </a:t>
              </a:r>
              <a:r>
                <a:rPr lang="en-US" dirty="0" err="1"/>
                <a:t>p</a:t>
              </a:r>
              <a:r>
                <a:rPr lang="en-US" baseline="-25000" dirty="0" err="1"/>
                <a:t>b</a:t>
              </a:r>
              <a:r>
                <a:rPr lang="en-US" dirty="0"/>
                <a:t> – v</a:t>
              </a:r>
              <a:r>
                <a:rPr lang="en-US" baseline="-25000" dirty="0"/>
                <a:t>1</a:t>
              </a:r>
            </a:p>
          </p:txBody>
        </p:sp>
      </p:grp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3033713" y="1566863"/>
            <a:ext cx="4865115" cy="119776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dirty="0"/>
              <a:t>If bundle was 4 units of product 2 and</a:t>
            </a:r>
          </a:p>
          <a:p>
            <a:r>
              <a:rPr lang="en-US" dirty="0"/>
              <a:t>1 unit of product 1, then:</a:t>
            </a:r>
          </a:p>
          <a:p>
            <a:r>
              <a:rPr lang="en-US" dirty="0"/>
              <a:t>4v</a:t>
            </a:r>
            <a:r>
              <a:rPr lang="en-US" baseline="-25000" dirty="0"/>
              <a:t>2</a:t>
            </a:r>
            <a:r>
              <a:rPr lang="en-US" dirty="0"/>
              <a:t> + v</a:t>
            </a:r>
            <a:r>
              <a:rPr lang="en-US" baseline="-25000" dirty="0"/>
              <a:t>1</a:t>
            </a:r>
            <a:r>
              <a:rPr lang="en-US" dirty="0"/>
              <a:t> =  </a:t>
            </a:r>
            <a:r>
              <a:rPr lang="en-US" dirty="0" err="1"/>
              <a:t>p</a:t>
            </a:r>
            <a:r>
              <a:rPr lang="en-US" baseline="-25000" dirty="0" err="1"/>
              <a:t>b</a:t>
            </a:r>
            <a:r>
              <a:rPr lang="en-US" dirty="0"/>
              <a:t>  → v</a:t>
            </a:r>
            <a:r>
              <a:rPr lang="en-US" baseline="-25000" dirty="0"/>
              <a:t>2</a:t>
            </a:r>
            <a:r>
              <a:rPr lang="en-US" dirty="0"/>
              <a:t> =  </a:t>
            </a:r>
            <a:r>
              <a:rPr lang="en-US" dirty="0" err="1"/>
              <a:t>p</a:t>
            </a:r>
            <a:r>
              <a:rPr lang="en-US" baseline="-25000" dirty="0" err="1"/>
              <a:t>b</a:t>
            </a:r>
            <a:r>
              <a:rPr lang="en-US" dirty="0"/>
              <a:t>/4</a:t>
            </a:r>
            <a:r>
              <a:rPr lang="en-US" baseline="-25000" dirty="0"/>
              <a:t> </a:t>
            </a:r>
            <a:r>
              <a:rPr lang="en-US" dirty="0"/>
              <a:t>- v</a:t>
            </a:r>
            <a:r>
              <a:rPr lang="en-US" baseline="-25000" dirty="0"/>
              <a:t>1</a:t>
            </a:r>
            <a:r>
              <a:rPr lang="en-US" dirty="0"/>
              <a:t>/4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447800" y="2819400"/>
            <a:ext cx="4495800" cy="3200400"/>
            <a:chOff x="912" y="1776"/>
            <a:chExt cx="2832" cy="2016"/>
          </a:xfrm>
        </p:grpSpPr>
        <p:sp>
          <p:nvSpPr>
            <p:cNvPr id="23572" name="Line 17"/>
            <p:cNvSpPr>
              <a:spLocks noChangeShapeType="1"/>
            </p:cNvSpPr>
            <p:nvPr/>
          </p:nvSpPr>
          <p:spPr bwMode="auto">
            <a:xfrm flipH="1">
              <a:off x="1056" y="1776"/>
              <a:ext cx="24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0488" tIns="44450" rIns="90488" bIns="44450"/>
            <a:lstStyle/>
            <a:p>
              <a:endParaRPr lang="en-US"/>
            </a:p>
          </p:txBody>
        </p:sp>
        <p:sp>
          <p:nvSpPr>
            <p:cNvPr id="23573" name="Text Box 18"/>
            <p:cNvSpPr txBox="1">
              <a:spLocks noChangeArrowheads="1"/>
            </p:cNvSpPr>
            <p:nvPr/>
          </p:nvSpPr>
          <p:spPr bwMode="auto">
            <a:xfrm>
              <a:off x="912" y="2400"/>
              <a:ext cx="423" cy="28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b</a:t>
              </a:r>
              <a:r>
                <a:rPr lang="en-US"/>
                <a:t>/4</a:t>
              </a:r>
            </a:p>
          </p:txBody>
        </p:sp>
        <p:sp>
          <p:nvSpPr>
            <p:cNvPr id="23574" name="Line 19"/>
            <p:cNvSpPr>
              <a:spLocks noChangeShapeType="1"/>
            </p:cNvSpPr>
            <p:nvPr/>
          </p:nvSpPr>
          <p:spPr bwMode="auto">
            <a:xfrm>
              <a:off x="1335" y="2686"/>
              <a:ext cx="2409" cy="110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lIns="90488" tIns="44450" rIns="90488" bIns="44450"/>
            <a:lstStyle/>
            <a:p>
              <a:endParaRPr lang="en-US"/>
            </a:p>
          </p:txBody>
        </p:sp>
      </p:grpSp>
      <p:sp>
        <p:nvSpPr>
          <p:cNvPr id="23563" name="Line 74"/>
          <p:cNvSpPr>
            <a:spLocks noChangeShapeType="1"/>
          </p:cNvSpPr>
          <p:nvPr/>
        </p:nvSpPr>
        <p:spPr bwMode="auto">
          <a:xfrm flipV="1">
            <a:off x="2133600" y="2286000"/>
            <a:ext cx="0" cy="37338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564" name="Line 75"/>
          <p:cNvSpPr>
            <a:spLocks noChangeShapeType="1"/>
          </p:cNvSpPr>
          <p:nvPr/>
        </p:nvSpPr>
        <p:spPr bwMode="auto">
          <a:xfrm>
            <a:off x="2133600" y="6019800"/>
            <a:ext cx="5257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565" name="Line 76"/>
          <p:cNvSpPr>
            <a:spLocks noChangeShapeType="1"/>
          </p:cNvSpPr>
          <p:nvPr/>
        </p:nvSpPr>
        <p:spPr bwMode="auto">
          <a:xfrm>
            <a:off x="2133600" y="2971800"/>
            <a:ext cx="3810000" cy="30480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6" name="Text Box 77"/>
          <p:cNvSpPr txBox="1">
            <a:spLocks noChangeArrowheads="1"/>
          </p:cNvSpPr>
          <p:nvPr/>
        </p:nvSpPr>
        <p:spPr bwMode="auto">
          <a:xfrm>
            <a:off x="4648200" y="3200400"/>
            <a:ext cx="4889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E</a:t>
            </a:r>
          </a:p>
        </p:txBody>
      </p:sp>
      <p:sp>
        <p:nvSpPr>
          <p:cNvPr id="23567" name="Text Box 78"/>
          <p:cNvSpPr txBox="1">
            <a:spLocks noChangeArrowheads="1"/>
          </p:cNvSpPr>
          <p:nvPr/>
        </p:nvSpPr>
        <p:spPr bwMode="auto">
          <a:xfrm>
            <a:off x="2819400" y="4495800"/>
            <a:ext cx="463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F</a:t>
            </a:r>
          </a:p>
        </p:txBody>
      </p:sp>
      <p:sp>
        <p:nvSpPr>
          <p:cNvPr id="23568" name="Text Box 79"/>
          <p:cNvSpPr txBox="1">
            <a:spLocks noChangeArrowheads="1"/>
          </p:cNvSpPr>
          <p:nvPr/>
        </p:nvSpPr>
        <p:spPr bwMode="auto">
          <a:xfrm>
            <a:off x="1676400" y="2590800"/>
            <a:ext cx="517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800" b="1"/>
              <a:t>p</a:t>
            </a:r>
            <a:r>
              <a:rPr lang="en-US" sz="2800" b="1" baseline="-25000"/>
              <a:t>b</a:t>
            </a:r>
          </a:p>
        </p:txBody>
      </p:sp>
      <p:sp>
        <p:nvSpPr>
          <p:cNvPr id="23569" name="Text Box 80"/>
          <p:cNvSpPr txBox="1">
            <a:spLocks noChangeArrowheads="1"/>
          </p:cNvSpPr>
          <p:nvPr/>
        </p:nvSpPr>
        <p:spPr bwMode="auto">
          <a:xfrm>
            <a:off x="5715000" y="6019800"/>
            <a:ext cx="608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800" b="1"/>
              <a:t>p</a:t>
            </a:r>
            <a:r>
              <a:rPr lang="en-US" sz="2800" b="1" baseline="-25000"/>
              <a:t>b</a:t>
            </a:r>
          </a:p>
        </p:txBody>
      </p:sp>
      <p:sp>
        <p:nvSpPr>
          <p:cNvPr id="23570" name="Text Box 81"/>
          <p:cNvSpPr txBox="1">
            <a:spLocks noChangeArrowheads="1"/>
          </p:cNvSpPr>
          <p:nvPr/>
        </p:nvSpPr>
        <p:spPr bwMode="auto">
          <a:xfrm>
            <a:off x="1447800" y="1905000"/>
            <a:ext cx="52610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 b="1" dirty="0"/>
              <a:t>v</a:t>
            </a:r>
            <a:r>
              <a:rPr lang="en-US" sz="3200" b="1" baseline="-25000" dirty="0"/>
              <a:t>2</a:t>
            </a:r>
          </a:p>
        </p:txBody>
      </p:sp>
      <p:sp>
        <p:nvSpPr>
          <p:cNvPr id="23571" name="Text Box 82"/>
          <p:cNvSpPr txBox="1">
            <a:spLocks noChangeArrowheads="1"/>
          </p:cNvSpPr>
          <p:nvPr/>
        </p:nvSpPr>
        <p:spPr bwMode="auto">
          <a:xfrm>
            <a:off x="6629400" y="5943600"/>
            <a:ext cx="52610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 b="1" dirty="0"/>
              <a:t>v</a:t>
            </a:r>
            <a:r>
              <a:rPr lang="en-US" sz="3200" b="1" baseline="-25000" dirty="0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637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6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r>
              <a:rPr lang="en-US" dirty="0"/>
              <a:t>Bundle or Items?</a:t>
            </a:r>
          </a:p>
        </p:txBody>
      </p:sp>
      <p:sp>
        <p:nvSpPr>
          <p:cNvPr id="24579" name="Rectangle 1027"/>
          <p:cNvSpPr>
            <a:spLocks noChangeArrowheads="1"/>
          </p:cNvSpPr>
          <p:nvPr/>
        </p:nvSpPr>
        <p:spPr bwMode="auto">
          <a:xfrm>
            <a:off x="4632325" y="4098925"/>
            <a:ext cx="811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1028"/>
          <p:cNvSpPr>
            <a:spLocks noChangeArrowheads="1"/>
          </p:cNvSpPr>
          <p:nvPr/>
        </p:nvSpPr>
        <p:spPr bwMode="auto">
          <a:xfrm>
            <a:off x="2879725" y="5318125"/>
            <a:ext cx="9128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581" name="Group 1042"/>
          <p:cNvGrpSpPr>
            <a:grpSpLocks/>
          </p:cNvGrpSpPr>
          <p:nvPr/>
        </p:nvGrpSpPr>
        <p:grpSpPr bwMode="auto">
          <a:xfrm>
            <a:off x="3048000" y="2514600"/>
            <a:ext cx="3505200" cy="3048000"/>
            <a:chOff x="1584" y="1776"/>
            <a:chExt cx="2208" cy="1920"/>
          </a:xfrm>
        </p:grpSpPr>
        <p:sp>
          <p:nvSpPr>
            <p:cNvPr id="24593" name="AutoShape 1043"/>
            <p:cNvSpPr>
              <a:spLocks noChangeArrowheads="1"/>
            </p:cNvSpPr>
            <p:nvPr/>
          </p:nvSpPr>
          <p:spPr bwMode="auto">
            <a:xfrm>
              <a:off x="1632" y="177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594" name="AutoShape 1044"/>
            <p:cNvSpPr>
              <a:spLocks noChangeArrowheads="1"/>
            </p:cNvSpPr>
            <p:nvPr/>
          </p:nvSpPr>
          <p:spPr bwMode="auto">
            <a:xfrm>
              <a:off x="1584" y="2160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595" name="AutoShape 1045"/>
            <p:cNvSpPr>
              <a:spLocks noChangeArrowheads="1"/>
            </p:cNvSpPr>
            <p:nvPr/>
          </p:nvSpPr>
          <p:spPr bwMode="auto">
            <a:xfrm>
              <a:off x="1824" y="1968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596" name="AutoShape 1046"/>
            <p:cNvSpPr>
              <a:spLocks noChangeArrowheads="1"/>
            </p:cNvSpPr>
            <p:nvPr/>
          </p:nvSpPr>
          <p:spPr bwMode="auto">
            <a:xfrm>
              <a:off x="2112" y="201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597" name="AutoShape 1047"/>
            <p:cNvSpPr>
              <a:spLocks noChangeArrowheads="1"/>
            </p:cNvSpPr>
            <p:nvPr/>
          </p:nvSpPr>
          <p:spPr bwMode="auto">
            <a:xfrm>
              <a:off x="1872" y="2400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598" name="AutoShape 1048"/>
            <p:cNvSpPr>
              <a:spLocks noChangeArrowheads="1"/>
            </p:cNvSpPr>
            <p:nvPr/>
          </p:nvSpPr>
          <p:spPr bwMode="auto">
            <a:xfrm>
              <a:off x="2016" y="225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599" name="AutoShape 1049"/>
            <p:cNvSpPr>
              <a:spLocks noChangeArrowheads="1"/>
            </p:cNvSpPr>
            <p:nvPr/>
          </p:nvSpPr>
          <p:spPr bwMode="auto">
            <a:xfrm>
              <a:off x="2256" y="225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0" name="AutoShape 1050"/>
            <p:cNvSpPr>
              <a:spLocks noChangeArrowheads="1"/>
            </p:cNvSpPr>
            <p:nvPr/>
          </p:nvSpPr>
          <p:spPr bwMode="auto">
            <a:xfrm>
              <a:off x="2256" y="273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1" name="AutoShape 1051"/>
            <p:cNvSpPr>
              <a:spLocks noChangeArrowheads="1"/>
            </p:cNvSpPr>
            <p:nvPr/>
          </p:nvSpPr>
          <p:spPr bwMode="auto">
            <a:xfrm>
              <a:off x="2400" y="2400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2" name="AutoShape 1052"/>
            <p:cNvSpPr>
              <a:spLocks noChangeArrowheads="1"/>
            </p:cNvSpPr>
            <p:nvPr/>
          </p:nvSpPr>
          <p:spPr bwMode="auto">
            <a:xfrm>
              <a:off x="2400" y="2592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3" name="AutoShape 1053"/>
            <p:cNvSpPr>
              <a:spLocks noChangeArrowheads="1"/>
            </p:cNvSpPr>
            <p:nvPr/>
          </p:nvSpPr>
          <p:spPr bwMode="auto">
            <a:xfrm>
              <a:off x="2688" y="2592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4" name="AutoShape 1054"/>
            <p:cNvSpPr>
              <a:spLocks noChangeArrowheads="1"/>
            </p:cNvSpPr>
            <p:nvPr/>
          </p:nvSpPr>
          <p:spPr bwMode="auto">
            <a:xfrm>
              <a:off x="2544" y="3024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5" name="AutoShape 1055"/>
            <p:cNvSpPr>
              <a:spLocks noChangeArrowheads="1"/>
            </p:cNvSpPr>
            <p:nvPr/>
          </p:nvSpPr>
          <p:spPr bwMode="auto">
            <a:xfrm>
              <a:off x="2976" y="273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6" name="AutoShape 1056"/>
            <p:cNvSpPr>
              <a:spLocks noChangeArrowheads="1"/>
            </p:cNvSpPr>
            <p:nvPr/>
          </p:nvSpPr>
          <p:spPr bwMode="auto">
            <a:xfrm>
              <a:off x="2736" y="3312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7" name="AutoShape 1057"/>
            <p:cNvSpPr>
              <a:spLocks noChangeArrowheads="1"/>
            </p:cNvSpPr>
            <p:nvPr/>
          </p:nvSpPr>
          <p:spPr bwMode="auto">
            <a:xfrm>
              <a:off x="2976" y="3120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8" name="AutoShape 1058"/>
            <p:cNvSpPr>
              <a:spLocks noChangeArrowheads="1"/>
            </p:cNvSpPr>
            <p:nvPr/>
          </p:nvSpPr>
          <p:spPr bwMode="auto">
            <a:xfrm>
              <a:off x="2976" y="345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09" name="AutoShape 1059"/>
            <p:cNvSpPr>
              <a:spLocks noChangeArrowheads="1"/>
            </p:cNvSpPr>
            <p:nvPr/>
          </p:nvSpPr>
          <p:spPr bwMode="auto">
            <a:xfrm>
              <a:off x="3264" y="3072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10" name="AutoShape 1060"/>
            <p:cNvSpPr>
              <a:spLocks noChangeArrowheads="1"/>
            </p:cNvSpPr>
            <p:nvPr/>
          </p:nvSpPr>
          <p:spPr bwMode="auto">
            <a:xfrm>
              <a:off x="3600" y="3216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4611" name="AutoShape 1061"/>
            <p:cNvSpPr>
              <a:spLocks noChangeArrowheads="1"/>
            </p:cNvSpPr>
            <p:nvPr/>
          </p:nvSpPr>
          <p:spPr bwMode="auto">
            <a:xfrm>
              <a:off x="3360" y="3504"/>
              <a:ext cx="192" cy="19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grpSp>
        <p:nvGrpSpPr>
          <p:cNvPr id="3" name="Group 1062"/>
          <p:cNvGrpSpPr>
            <a:grpSpLocks/>
          </p:cNvGrpSpPr>
          <p:nvPr/>
        </p:nvGrpSpPr>
        <p:grpSpPr bwMode="auto">
          <a:xfrm>
            <a:off x="2209800" y="1947863"/>
            <a:ext cx="5878513" cy="4068762"/>
            <a:chOff x="1392" y="1227"/>
            <a:chExt cx="3703" cy="2563"/>
          </a:xfrm>
        </p:grpSpPr>
        <p:sp>
          <p:nvSpPr>
            <p:cNvPr id="24591" name="Line 1063"/>
            <p:cNvSpPr>
              <a:spLocks noChangeShapeType="1"/>
            </p:cNvSpPr>
            <p:nvPr/>
          </p:nvSpPr>
          <p:spPr bwMode="auto">
            <a:xfrm>
              <a:off x="1392" y="1874"/>
              <a:ext cx="2348" cy="1916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Text Box 1064"/>
            <p:cNvSpPr txBox="1">
              <a:spLocks noChangeArrowheads="1"/>
            </p:cNvSpPr>
            <p:nvPr/>
          </p:nvSpPr>
          <p:spPr bwMode="auto">
            <a:xfrm>
              <a:off x="3351" y="1227"/>
              <a:ext cx="1744" cy="52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/>
                <a:t>Negative Correlation</a:t>
              </a:r>
            </a:p>
            <a:p>
              <a:r>
                <a:rPr lang="en-US" dirty="0"/>
                <a:t>In Values, so Bundle</a:t>
              </a:r>
            </a:p>
          </p:txBody>
        </p:sp>
      </p:grpSp>
      <p:sp>
        <p:nvSpPr>
          <p:cNvPr id="24583" name="Line 1091"/>
          <p:cNvSpPr>
            <a:spLocks noChangeShapeType="1"/>
          </p:cNvSpPr>
          <p:nvPr/>
        </p:nvSpPr>
        <p:spPr bwMode="auto">
          <a:xfrm flipV="1">
            <a:off x="2133600" y="2286000"/>
            <a:ext cx="0" cy="37338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584" name="Line 1092"/>
          <p:cNvSpPr>
            <a:spLocks noChangeShapeType="1"/>
          </p:cNvSpPr>
          <p:nvPr/>
        </p:nvSpPr>
        <p:spPr bwMode="auto">
          <a:xfrm>
            <a:off x="2133600" y="6019800"/>
            <a:ext cx="5257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585" name="Text Box 1093"/>
          <p:cNvSpPr txBox="1">
            <a:spLocks noChangeArrowheads="1"/>
          </p:cNvSpPr>
          <p:nvPr/>
        </p:nvSpPr>
        <p:spPr bwMode="auto">
          <a:xfrm>
            <a:off x="1524000" y="2743200"/>
            <a:ext cx="6080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600" b="1"/>
              <a:t>p</a:t>
            </a:r>
            <a:r>
              <a:rPr lang="en-US" sz="3600" b="1" baseline="-25000"/>
              <a:t>b</a:t>
            </a:r>
          </a:p>
        </p:txBody>
      </p:sp>
      <p:sp>
        <p:nvSpPr>
          <p:cNvPr id="24586" name="Text Box 1094"/>
          <p:cNvSpPr txBox="1">
            <a:spLocks noChangeArrowheads="1"/>
          </p:cNvSpPr>
          <p:nvPr/>
        </p:nvSpPr>
        <p:spPr bwMode="auto">
          <a:xfrm>
            <a:off x="5562600" y="5943600"/>
            <a:ext cx="6080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3600" b="1"/>
              <a:t>p</a:t>
            </a:r>
            <a:r>
              <a:rPr lang="en-US" sz="3600" b="1" baseline="-25000"/>
              <a:t>b</a:t>
            </a:r>
          </a:p>
        </p:txBody>
      </p:sp>
      <p:sp>
        <p:nvSpPr>
          <p:cNvPr id="24587" name="Text Box 1095"/>
          <p:cNvSpPr txBox="1">
            <a:spLocks noChangeArrowheads="1"/>
          </p:cNvSpPr>
          <p:nvPr/>
        </p:nvSpPr>
        <p:spPr bwMode="auto">
          <a:xfrm>
            <a:off x="1447800" y="1905000"/>
            <a:ext cx="52610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 b="1" dirty="0"/>
              <a:t>v</a:t>
            </a:r>
            <a:r>
              <a:rPr lang="en-US" sz="3200" b="1" baseline="-25000" dirty="0"/>
              <a:t>2</a:t>
            </a:r>
          </a:p>
        </p:txBody>
      </p:sp>
      <p:sp>
        <p:nvSpPr>
          <p:cNvPr id="24588" name="Text Box 1096"/>
          <p:cNvSpPr txBox="1">
            <a:spLocks noChangeArrowheads="1"/>
          </p:cNvSpPr>
          <p:nvPr/>
        </p:nvSpPr>
        <p:spPr bwMode="auto">
          <a:xfrm>
            <a:off x="6629400" y="5943600"/>
            <a:ext cx="7429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3200" b="1" dirty="0"/>
              <a:t>v</a:t>
            </a:r>
            <a:r>
              <a:rPr lang="en-US" sz="3200" b="1" baseline="-25000" dirty="0"/>
              <a:t>1</a:t>
            </a:r>
          </a:p>
        </p:txBody>
      </p:sp>
      <p:sp>
        <p:nvSpPr>
          <p:cNvPr id="24589" name="Text Box 1097"/>
          <p:cNvSpPr txBox="1">
            <a:spLocks noChangeArrowheads="1"/>
          </p:cNvSpPr>
          <p:nvPr/>
        </p:nvSpPr>
        <p:spPr bwMode="auto">
          <a:xfrm>
            <a:off x="304800" y="1828800"/>
            <a:ext cx="1184275" cy="1006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/>
              <a:t>Valuation</a:t>
            </a:r>
          </a:p>
          <a:p>
            <a:pPr algn="ctr" eaLnBrk="1" hangingPunct="1"/>
            <a:r>
              <a:rPr lang="en-US" sz="2000"/>
              <a:t>Of</a:t>
            </a:r>
          </a:p>
          <a:p>
            <a:pPr algn="ctr" eaLnBrk="1" hangingPunct="1"/>
            <a:r>
              <a:rPr lang="en-US" sz="2000"/>
              <a:t>Product 2</a:t>
            </a:r>
          </a:p>
        </p:txBody>
      </p:sp>
      <p:sp>
        <p:nvSpPr>
          <p:cNvPr id="24590" name="Text Box 1098"/>
          <p:cNvSpPr txBox="1">
            <a:spLocks noChangeArrowheads="1"/>
          </p:cNvSpPr>
          <p:nvPr/>
        </p:nvSpPr>
        <p:spPr bwMode="auto">
          <a:xfrm>
            <a:off x="7620000" y="5105400"/>
            <a:ext cx="11842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/>
              <a:t>Valuation</a:t>
            </a:r>
          </a:p>
          <a:p>
            <a:pPr algn="ctr" eaLnBrk="1" hangingPunct="1"/>
            <a:r>
              <a:rPr lang="en-US" sz="2000"/>
              <a:t>Of</a:t>
            </a:r>
          </a:p>
          <a:p>
            <a:pPr algn="ctr" eaLnBrk="1" hangingPunct="1"/>
            <a:r>
              <a:rPr lang="en-US" sz="2000"/>
              <a:t>Product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053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r>
              <a:rPr lang="en-US" dirty="0"/>
              <a:t>Bundle or Items?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4632325" y="4098925"/>
            <a:ext cx="8112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879725" y="5318125"/>
            <a:ext cx="9128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605" name="Group 18"/>
          <p:cNvGrpSpPr>
            <a:grpSpLocks/>
          </p:cNvGrpSpPr>
          <p:nvPr/>
        </p:nvGrpSpPr>
        <p:grpSpPr bwMode="auto">
          <a:xfrm flipV="1">
            <a:off x="3505200" y="990600"/>
            <a:ext cx="3352800" cy="3124200"/>
            <a:chOff x="1584" y="1776"/>
            <a:chExt cx="2208" cy="1920"/>
          </a:xfrm>
        </p:grpSpPr>
        <p:sp>
          <p:nvSpPr>
            <p:cNvPr id="25618" name="AutoShape 19"/>
            <p:cNvSpPr>
              <a:spLocks noChangeArrowheads="1"/>
            </p:cNvSpPr>
            <p:nvPr/>
          </p:nvSpPr>
          <p:spPr bwMode="auto">
            <a:xfrm>
              <a:off x="1632" y="177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19" name="AutoShape 20"/>
            <p:cNvSpPr>
              <a:spLocks noChangeArrowheads="1"/>
            </p:cNvSpPr>
            <p:nvPr/>
          </p:nvSpPr>
          <p:spPr bwMode="auto">
            <a:xfrm>
              <a:off x="1584" y="2160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0" name="AutoShape 21"/>
            <p:cNvSpPr>
              <a:spLocks noChangeArrowheads="1"/>
            </p:cNvSpPr>
            <p:nvPr/>
          </p:nvSpPr>
          <p:spPr bwMode="auto">
            <a:xfrm>
              <a:off x="1824" y="1968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1" name="AutoShape 22"/>
            <p:cNvSpPr>
              <a:spLocks noChangeArrowheads="1"/>
            </p:cNvSpPr>
            <p:nvPr/>
          </p:nvSpPr>
          <p:spPr bwMode="auto">
            <a:xfrm>
              <a:off x="2112" y="201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2" name="AutoShape 23"/>
            <p:cNvSpPr>
              <a:spLocks noChangeArrowheads="1"/>
            </p:cNvSpPr>
            <p:nvPr/>
          </p:nvSpPr>
          <p:spPr bwMode="auto">
            <a:xfrm>
              <a:off x="1872" y="2400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3" name="AutoShape 24"/>
            <p:cNvSpPr>
              <a:spLocks noChangeArrowheads="1"/>
            </p:cNvSpPr>
            <p:nvPr/>
          </p:nvSpPr>
          <p:spPr bwMode="auto">
            <a:xfrm>
              <a:off x="2016" y="225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4" name="AutoShape 25"/>
            <p:cNvSpPr>
              <a:spLocks noChangeArrowheads="1"/>
            </p:cNvSpPr>
            <p:nvPr/>
          </p:nvSpPr>
          <p:spPr bwMode="auto">
            <a:xfrm>
              <a:off x="2256" y="225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5" name="AutoShape 26"/>
            <p:cNvSpPr>
              <a:spLocks noChangeArrowheads="1"/>
            </p:cNvSpPr>
            <p:nvPr/>
          </p:nvSpPr>
          <p:spPr bwMode="auto">
            <a:xfrm>
              <a:off x="2256" y="273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6" name="AutoShape 27"/>
            <p:cNvSpPr>
              <a:spLocks noChangeArrowheads="1"/>
            </p:cNvSpPr>
            <p:nvPr/>
          </p:nvSpPr>
          <p:spPr bwMode="auto">
            <a:xfrm>
              <a:off x="2400" y="2400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7" name="AutoShape 28"/>
            <p:cNvSpPr>
              <a:spLocks noChangeArrowheads="1"/>
            </p:cNvSpPr>
            <p:nvPr/>
          </p:nvSpPr>
          <p:spPr bwMode="auto">
            <a:xfrm>
              <a:off x="2400" y="2592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8" name="AutoShape 29"/>
            <p:cNvSpPr>
              <a:spLocks noChangeArrowheads="1"/>
            </p:cNvSpPr>
            <p:nvPr/>
          </p:nvSpPr>
          <p:spPr bwMode="auto">
            <a:xfrm>
              <a:off x="2688" y="2592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29" name="AutoShape 30"/>
            <p:cNvSpPr>
              <a:spLocks noChangeArrowheads="1"/>
            </p:cNvSpPr>
            <p:nvPr/>
          </p:nvSpPr>
          <p:spPr bwMode="auto">
            <a:xfrm>
              <a:off x="2544" y="3024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0" name="AutoShape 31"/>
            <p:cNvSpPr>
              <a:spLocks noChangeArrowheads="1"/>
            </p:cNvSpPr>
            <p:nvPr/>
          </p:nvSpPr>
          <p:spPr bwMode="auto">
            <a:xfrm>
              <a:off x="2976" y="273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1" name="AutoShape 32"/>
            <p:cNvSpPr>
              <a:spLocks noChangeArrowheads="1"/>
            </p:cNvSpPr>
            <p:nvPr/>
          </p:nvSpPr>
          <p:spPr bwMode="auto">
            <a:xfrm>
              <a:off x="2736" y="3312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2" name="AutoShape 33"/>
            <p:cNvSpPr>
              <a:spLocks noChangeArrowheads="1"/>
            </p:cNvSpPr>
            <p:nvPr/>
          </p:nvSpPr>
          <p:spPr bwMode="auto">
            <a:xfrm>
              <a:off x="2976" y="3120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3" name="AutoShape 34"/>
            <p:cNvSpPr>
              <a:spLocks noChangeArrowheads="1"/>
            </p:cNvSpPr>
            <p:nvPr/>
          </p:nvSpPr>
          <p:spPr bwMode="auto">
            <a:xfrm>
              <a:off x="2976" y="345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4" name="AutoShape 35"/>
            <p:cNvSpPr>
              <a:spLocks noChangeArrowheads="1"/>
            </p:cNvSpPr>
            <p:nvPr/>
          </p:nvSpPr>
          <p:spPr bwMode="auto">
            <a:xfrm>
              <a:off x="3264" y="3072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5" name="AutoShape 36"/>
            <p:cNvSpPr>
              <a:spLocks noChangeArrowheads="1"/>
            </p:cNvSpPr>
            <p:nvPr/>
          </p:nvSpPr>
          <p:spPr bwMode="auto">
            <a:xfrm>
              <a:off x="3600" y="3216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  <p:sp>
          <p:nvSpPr>
            <p:cNvPr id="25636" name="AutoShape 37"/>
            <p:cNvSpPr>
              <a:spLocks noChangeArrowheads="1"/>
            </p:cNvSpPr>
            <p:nvPr/>
          </p:nvSpPr>
          <p:spPr bwMode="auto">
            <a:xfrm>
              <a:off x="3360" y="3504"/>
              <a:ext cx="192" cy="192"/>
            </a:xfrm>
            <a:prstGeom prst="plus">
              <a:avLst>
                <a:gd name="adj" fmla="val 25000"/>
              </a:avLst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 anchor="ctr"/>
            <a:lstStyle/>
            <a:p>
              <a:endParaRPr lang="en-US"/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738313" y="1828800"/>
            <a:ext cx="6834188" cy="4645025"/>
            <a:chOff x="1095" y="1152"/>
            <a:chExt cx="4305" cy="2926"/>
          </a:xfrm>
        </p:grpSpPr>
        <p:sp>
          <p:nvSpPr>
            <p:cNvPr id="25613" name="Line 39"/>
            <p:cNvSpPr>
              <a:spLocks noChangeShapeType="1"/>
            </p:cNvSpPr>
            <p:nvPr/>
          </p:nvSpPr>
          <p:spPr bwMode="auto">
            <a:xfrm>
              <a:off x="1392" y="2928"/>
              <a:ext cx="3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0488" tIns="44450" rIns="90488" bIns="44450"/>
            <a:lstStyle/>
            <a:p>
              <a:endParaRPr lang="en-US"/>
            </a:p>
          </p:txBody>
        </p:sp>
        <p:sp>
          <p:nvSpPr>
            <p:cNvPr id="25614" name="Line 40"/>
            <p:cNvSpPr>
              <a:spLocks noChangeShapeType="1"/>
            </p:cNvSpPr>
            <p:nvPr/>
          </p:nvSpPr>
          <p:spPr bwMode="auto">
            <a:xfrm flipV="1">
              <a:off x="2160" y="1152"/>
              <a:ext cx="0" cy="26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0488" tIns="44450" rIns="90488" bIns="44450"/>
            <a:lstStyle/>
            <a:p>
              <a:endParaRPr lang="en-US"/>
            </a:p>
          </p:txBody>
        </p:sp>
        <p:sp>
          <p:nvSpPr>
            <p:cNvPr id="25615" name="Text Box 41"/>
            <p:cNvSpPr txBox="1">
              <a:spLocks noChangeArrowheads="1"/>
            </p:cNvSpPr>
            <p:nvPr/>
          </p:nvSpPr>
          <p:spPr bwMode="auto">
            <a:xfrm>
              <a:off x="1095" y="2763"/>
              <a:ext cx="274" cy="28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25616" name="Text Box 42"/>
            <p:cNvSpPr txBox="1">
              <a:spLocks noChangeArrowheads="1"/>
            </p:cNvSpPr>
            <p:nvPr/>
          </p:nvSpPr>
          <p:spPr bwMode="auto">
            <a:xfrm>
              <a:off x="2016" y="3792"/>
              <a:ext cx="336" cy="28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25617" name="Text Box 43"/>
            <p:cNvSpPr txBox="1">
              <a:spLocks noChangeArrowheads="1"/>
            </p:cNvSpPr>
            <p:nvPr/>
          </p:nvSpPr>
          <p:spPr bwMode="auto">
            <a:xfrm>
              <a:off x="3408" y="1968"/>
              <a:ext cx="1992" cy="52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/>
                <a:t>No advantage to Bundle</a:t>
              </a:r>
            </a:p>
            <a:p>
              <a:r>
                <a:rPr lang="en-US" dirty="0"/>
                <a:t>over pure components</a:t>
              </a:r>
            </a:p>
          </p:txBody>
        </p:sp>
      </p:grpSp>
      <p:sp>
        <p:nvSpPr>
          <p:cNvPr id="25607" name="Line 44"/>
          <p:cNvSpPr>
            <a:spLocks noChangeShapeType="1"/>
          </p:cNvSpPr>
          <p:nvPr/>
        </p:nvSpPr>
        <p:spPr bwMode="auto">
          <a:xfrm flipV="1">
            <a:off x="2133600" y="2286000"/>
            <a:ext cx="0" cy="37338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608" name="Line 45"/>
          <p:cNvSpPr>
            <a:spLocks noChangeShapeType="1"/>
          </p:cNvSpPr>
          <p:nvPr/>
        </p:nvSpPr>
        <p:spPr bwMode="auto">
          <a:xfrm>
            <a:off x="2133600" y="6019800"/>
            <a:ext cx="52578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609" name="Text Box 48"/>
          <p:cNvSpPr txBox="1">
            <a:spLocks noChangeArrowheads="1"/>
          </p:cNvSpPr>
          <p:nvPr/>
        </p:nvSpPr>
        <p:spPr bwMode="auto">
          <a:xfrm>
            <a:off x="1447800" y="1905000"/>
            <a:ext cx="52610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 b="1" dirty="0"/>
              <a:t>v</a:t>
            </a:r>
            <a:r>
              <a:rPr lang="en-US" sz="3200" b="1" baseline="-25000" dirty="0"/>
              <a:t>2</a:t>
            </a:r>
          </a:p>
        </p:txBody>
      </p:sp>
      <p:sp>
        <p:nvSpPr>
          <p:cNvPr id="25610" name="Text Box 49"/>
          <p:cNvSpPr txBox="1">
            <a:spLocks noChangeArrowheads="1"/>
          </p:cNvSpPr>
          <p:nvPr/>
        </p:nvSpPr>
        <p:spPr bwMode="auto">
          <a:xfrm>
            <a:off x="6629400" y="6019800"/>
            <a:ext cx="52610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3200" b="1" dirty="0"/>
              <a:t>v</a:t>
            </a:r>
            <a:r>
              <a:rPr lang="en-US" sz="3200" b="1" baseline="-25000" dirty="0"/>
              <a:t>1</a:t>
            </a:r>
          </a:p>
        </p:txBody>
      </p:sp>
      <p:sp>
        <p:nvSpPr>
          <p:cNvPr id="25611" name="Text Box 50"/>
          <p:cNvSpPr txBox="1">
            <a:spLocks noChangeArrowheads="1"/>
          </p:cNvSpPr>
          <p:nvPr/>
        </p:nvSpPr>
        <p:spPr bwMode="auto">
          <a:xfrm>
            <a:off x="304800" y="1828800"/>
            <a:ext cx="1184275" cy="1006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/>
              <a:t>Valuation</a:t>
            </a:r>
          </a:p>
          <a:p>
            <a:pPr algn="ctr" eaLnBrk="1" hangingPunct="1"/>
            <a:r>
              <a:rPr lang="en-US" sz="2000"/>
              <a:t>Of</a:t>
            </a:r>
          </a:p>
          <a:p>
            <a:pPr algn="ctr" eaLnBrk="1" hangingPunct="1"/>
            <a:r>
              <a:rPr lang="en-US" sz="2000"/>
              <a:t>Product 2</a:t>
            </a:r>
          </a:p>
        </p:txBody>
      </p:sp>
      <p:sp>
        <p:nvSpPr>
          <p:cNvPr id="25612" name="Text Box 51"/>
          <p:cNvSpPr txBox="1">
            <a:spLocks noChangeArrowheads="1"/>
          </p:cNvSpPr>
          <p:nvPr/>
        </p:nvSpPr>
        <p:spPr bwMode="auto">
          <a:xfrm>
            <a:off x="7696200" y="5334000"/>
            <a:ext cx="118427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/>
              <a:t>Valuation</a:t>
            </a:r>
          </a:p>
          <a:p>
            <a:pPr algn="ctr" eaLnBrk="1" hangingPunct="1"/>
            <a:r>
              <a:rPr lang="en-US" sz="2000"/>
              <a:t>Of</a:t>
            </a:r>
          </a:p>
          <a:p>
            <a:pPr algn="ctr" eaLnBrk="1" hangingPunct="1"/>
            <a:r>
              <a:rPr lang="en-US" sz="2000"/>
              <a:t>Product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7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/>
          <p:cNvSpPr>
            <a:spLocks noChangeArrowheads="1"/>
          </p:cNvSpPr>
          <p:nvPr/>
        </p:nvSpPr>
        <p:spPr bwMode="auto">
          <a:xfrm>
            <a:off x="2019300" y="1857375"/>
            <a:ext cx="1333500" cy="2105025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052" name="Rectangle 12"/>
          <p:cNvSpPr>
            <a:spLocks noChangeArrowheads="1"/>
          </p:cNvSpPr>
          <p:nvPr/>
        </p:nvSpPr>
        <p:spPr bwMode="auto">
          <a:xfrm>
            <a:off x="4419600" y="4800600"/>
            <a:ext cx="3048000" cy="10668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053" name="Rectangle 2"/>
          <p:cNvSpPr>
            <a:spLocks noChangeArrowheads="1"/>
          </p:cNvSpPr>
          <p:nvPr/>
        </p:nvSpPr>
        <p:spPr bwMode="auto">
          <a:xfrm>
            <a:off x="152400" y="1676400"/>
            <a:ext cx="1524000" cy="1295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2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/>
          <a:lstStyle/>
          <a:p>
            <a:r>
              <a:rPr lang="en-US" dirty="0"/>
              <a:t>Mixed Bundling Strategy</a:t>
            </a:r>
          </a:p>
        </p:txBody>
      </p:sp>
      <p:graphicFrame>
        <p:nvGraphicFramePr>
          <p:cNvPr id="2050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524000" y="1857375"/>
          <a:ext cx="593725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2" imgW="5946480" imgH="4505040" progId="">
                  <p:embed/>
                </p:oleObj>
              </mc:Choice>
              <mc:Fallback>
                <p:oleObj name="Microsoft Drawing" r:id="rId2" imgW="5946480" imgH="4505040" progId="">
                  <p:embed/>
                  <p:pic>
                    <p:nvPicPr>
                      <p:cNvPr id="2050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57375"/>
                        <a:ext cx="593725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5" name="Group 5"/>
          <p:cNvGrpSpPr>
            <a:grpSpLocks/>
          </p:cNvGrpSpPr>
          <p:nvPr/>
        </p:nvGrpSpPr>
        <p:grpSpPr bwMode="auto">
          <a:xfrm>
            <a:off x="2119313" y="2119313"/>
            <a:ext cx="5149850" cy="3502025"/>
            <a:chOff x="1335" y="1335"/>
            <a:chExt cx="3244" cy="2206"/>
          </a:xfrm>
        </p:grpSpPr>
        <p:sp>
          <p:nvSpPr>
            <p:cNvPr id="2059" name="Rectangle 6"/>
            <p:cNvSpPr>
              <a:spLocks noChangeArrowheads="1"/>
            </p:cNvSpPr>
            <p:nvPr/>
          </p:nvSpPr>
          <p:spPr bwMode="auto">
            <a:xfrm>
              <a:off x="3111" y="2247"/>
              <a:ext cx="551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>
                  <a:latin typeface="Arial" pitchFamily="34" charset="0"/>
                </a:rPr>
                <a:t>Both</a:t>
              </a:r>
            </a:p>
          </p:txBody>
        </p:sp>
        <p:sp>
          <p:nvSpPr>
            <p:cNvPr id="2060" name="Rectangle 7"/>
            <p:cNvSpPr>
              <a:spLocks noChangeArrowheads="1"/>
            </p:cNvSpPr>
            <p:nvPr/>
          </p:nvSpPr>
          <p:spPr bwMode="auto">
            <a:xfrm>
              <a:off x="1767" y="3255"/>
              <a:ext cx="594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>
                  <a:latin typeface="Arial" pitchFamily="34" charset="0"/>
                </a:rPr>
                <a:t>None</a:t>
              </a:r>
            </a:p>
          </p:txBody>
        </p:sp>
        <p:sp>
          <p:nvSpPr>
            <p:cNvPr id="2061" name="Rectangle 8"/>
            <p:cNvSpPr>
              <a:spLocks noChangeArrowheads="1"/>
            </p:cNvSpPr>
            <p:nvPr/>
          </p:nvSpPr>
          <p:spPr bwMode="auto">
            <a:xfrm>
              <a:off x="1335" y="1335"/>
              <a:ext cx="700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>
                  <a:latin typeface="Arial" pitchFamily="34" charset="0"/>
                </a:rPr>
                <a:t>Only 2</a:t>
              </a:r>
            </a:p>
          </p:txBody>
        </p:sp>
        <p:sp>
          <p:nvSpPr>
            <p:cNvPr id="2062" name="Rectangle 9"/>
            <p:cNvSpPr>
              <a:spLocks noChangeArrowheads="1"/>
            </p:cNvSpPr>
            <p:nvPr/>
          </p:nvSpPr>
          <p:spPr bwMode="auto">
            <a:xfrm>
              <a:off x="3879" y="3207"/>
              <a:ext cx="700" cy="286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>
                  <a:latin typeface="Arial" pitchFamily="34" charset="0"/>
                </a:rPr>
                <a:t>Only 1</a:t>
              </a:r>
            </a:p>
          </p:txBody>
        </p:sp>
      </p:grpSp>
      <p:sp>
        <p:nvSpPr>
          <p:cNvPr id="2056" name="Rectangle 10"/>
          <p:cNvSpPr>
            <a:spLocks noChangeArrowheads="1"/>
          </p:cNvSpPr>
          <p:nvPr/>
        </p:nvSpPr>
        <p:spPr bwMode="auto">
          <a:xfrm>
            <a:off x="7391400" y="5257800"/>
            <a:ext cx="15240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1</a:t>
            </a:r>
          </a:p>
        </p:txBody>
      </p:sp>
      <p:sp>
        <p:nvSpPr>
          <p:cNvPr id="2057" name="Text Box 15"/>
          <p:cNvSpPr txBox="1">
            <a:spLocks noChangeArrowheads="1"/>
          </p:cNvSpPr>
          <p:nvPr/>
        </p:nvSpPr>
        <p:spPr bwMode="auto">
          <a:xfrm>
            <a:off x="6996113" y="5910263"/>
            <a:ext cx="439224" cy="4591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  <a:endParaRPr lang="en-US" b="1" dirty="0"/>
          </a:p>
        </p:txBody>
      </p:sp>
      <p:sp>
        <p:nvSpPr>
          <p:cNvPr id="2058" name="Text Box 16"/>
          <p:cNvSpPr txBox="1">
            <a:spLocks noChangeArrowheads="1"/>
          </p:cNvSpPr>
          <p:nvPr/>
        </p:nvSpPr>
        <p:spPr bwMode="auto">
          <a:xfrm>
            <a:off x="1447800" y="1905000"/>
            <a:ext cx="439224" cy="4591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  <a:endParaRPr lang="en-US" b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7868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5"/>
          <p:cNvSpPr>
            <a:spLocks noChangeArrowheads="1"/>
          </p:cNvSpPr>
          <p:nvPr/>
        </p:nvSpPr>
        <p:spPr bwMode="auto">
          <a:xfrm>
            <a:off x="4343400" y="4800600"/>
            <a:ext cx="3200400" cy="1038225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3076" name="Rectangle 14"/>
          <p:cNvSpPr>
            <a:spLocks noChangeArrowheads="1"/>
          </p:cNvSpPr>
          <p:nvPr/>
        </p:nvSpPr>
        <p:spPr bwMode="auto">
          <a:xfrm>
            <a:off x="1905000" y="1828800"/>
            <a:ext cx="1333500" cy="2105025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3077" name="Rectangle 2"/>
          <p:cNvSpPr>
            <a:spLocks noChangeArrowheads="1"/>
          </p:cNvSpPr>
          <p:nvPr/>
        </p:nvSpPr>
        <p:spPr bwMode="auto">
          <a:xfrm>
            <a:off x="152400" y="1676400"/>
            <a:ext cx="1524000" cy="12954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2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b">
            <a:normAutofit fontScale="90000"/>
          </a:bodyPr>
          <a:lstStyle/>
          <a:p>
            <a:r>
              <a:rPr lang="en-US" sz="4400" dirty="0"/>
              <a:t>Mixed Bundling Tactics</a:t>
            </a:r>
            <a:br>
              <a:rPr lang="en-US" sz="4400" dirty="0"/>
            </a:br>
            <a:r>
              <a:rPr lang="en-US" dirty="0"/>
              <a:t>Lower item 1 price from p</a:t>
            </a:r>
            <a:r>
              <a:rPr lang="en-US" baseline="-25000" dirty="0"/>
              <a:t>1</a:t>
            </a:r>
            <a:r>
              <a:rPr lang="en-US" dirty="0"/>
              <a:t> to p*</a:t>
            </a:r>
          </a:p>
        </p:txBody>
      </p:sp>
      <p:graphicFrame>
        <p:nvGraphicFramePr>
          <p:cNvPr id="3074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447800" y="1828800"/>
          <a:ext cx="593725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" r:id="rId2" imgW="5946480" imgH="4505040" progId="">
                  <p:embed/>
                </p:oleObj>
              </mc:Choice>
              <mc:Fallback>
                <p:oleObj name="Microsoft Drawing" r:id="rId2" imgW="5946480" imgH="4505040" progId="">
                  <p:embed/>
                  <p:pic>
                    <p:nvPicPr>
                      <p:cNvPr id="3074" name="Object 4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828800"/>
                        <a:ext cx="593725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5"/>
          <p:cNvSpPr>
            <a:spLocks noChangeArrowheads="1"/>
          </p:cNvSpPr>
          <p:nvPr/>
        </p:nvSpPr>
        <p:spPr bwMode="auto">
          <a:xfrm>
            <a:off x="7391400" y="5257800"/>
            <a:ext cx="1524000" cy="129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pPr algn="ctr"/>
            <a:r>
              <a:rPr lang="en-US" sz="1800" b="1"/>
              <a:t>Valuation</a:t>
            </a:r>
          </a:p>
          <a:p>
            <a:pPr algn="ctr"/>
            <a:r>
              <a:rPr lang="en-US" sz="1800" b="1"/>
              <a:t>of</a:t>
            </a:r>
          </a:p>
          <a:p>
            <a:pPr algn="ctr"/>
            <a:r>
              <a:rPr lang="en-US" sz="1800" b="1"/>
              <a:t>Product 1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733800" y="3505200"/>
            <a:ext cx="4038600" cy="1295400"/>
            <a:chOff x="2352" y="2208"/>
            <a:chExt cx="2544" cy="816"/>
          </a:xfrm>
        </p:grpSpPr>
        <p:sp>
          <p:nvSpPr>
            <p:cNvPr id="3088" name="Text Box 7"/>
            <p:cNvSpPr txBox="1">
              <a:spLocks noChangeArrowheads="1"/>
            </p:cNvSpPr>
            <p:nvPr/>
          </p:nvSpPr>
          <p:spPr bwMode="auto">
            <a:xfrm>
              <a:off x="3264" y="2208"/>
              <a:ext cx="1632" cy="40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</a:rPr>
                <a:t>“Dilution”</a:t>
              </a:r>
            </a:p>
            <a:p>
              <a:pPr algn="ctr"/>
              <a:r>
                <a:rPr lang="en-US" sz="1600">
                  <a:latin typeface="Arial" pitchFamily="34" charset="0"/>
                </a:rPr>
                <a:t>(shift from bundle to item)</a:t>
              </a:r>
              <a:endParaRPr lang="en-US" sz="2000" u="sng">
                <a:latin typeface="Arial" pitchFamily="34" charset="0"/>
              </a:endParaRPr>
            </a:p>
          </p:txBody>
        </p:sp>
        <p:sp>
          <p:nvSpPr>
            <p:cNvPr id="3089" name="Freeform 8" descr="Wide upward diagonal"/>
            <p:cNvSpPr>
              <a:spLocks/>
            </p:cNvSpPr>
            <p:nvPr/>
          </p:nvSpPr>
          <p:spPr bwMode="auto">
            <a:xfrm>
              <a:off x="2352" y="2688"/>
              <a:ext cx="2400" cy="336"/>
            </a:xfrm>
            <a:custGeom>
              <a:avLst/>
              <a:gdLst>
                <a:gd name="T0" fmla="*/ 0 w 2400"/>
                <a:gd name="T1" fmla="*/ 0 h 336"/>
                <a:gd name="T2" fmla="*/ 384 w 2400"/>
                <a:gd name="T3" fmla="*/ 336 h 336"/>
                <a:gd name="T4" fmla="*/ 2400 w 2400"/>
                <a:gd name="T5" fmla="*/ 336 h 336"/>
                <a:gd name="T6" fmla="*/ 2400 w 2400"/>
                <a:gd name="T7" fmla="*/ 0 h 336"/>
                <a:gd name="T8" fmla="*/ 0 w 240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0"/>
                <a:gd name="T16" fmla="*/ 0 h 336"/>
                <a:gd name="T17" fmla="*/ 2400 w 240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0" h="336">
                  <a:moveTo>
                    <a:pt x="0" y="0"/>
                  </a:moveTo>
                  <a:lnTo>
                    <a:pt x="384" y="336"/>
                  </a:lnTo>
                  <a:lnTo>
                    <a:pt x="2400" y="336"/>
                  </a:lnTo>
                  <a:lnTo>
                    <a:pt x="2400" y="0"/>
                  </a:lnTo>
                  <a:lnTo>
                    <a:pt x="0" y="0"/>
                  </a:lnTo>
                  <a:close/>
                </a:path>
              </a:pathLst>
            </a:custGeom>
            <a:pattFill prst="wdUpDiag">
              <a:fgClr>
                <a:srgbClr val="C0C0C0"/>
              </a:fgClr>
              <a:bgClr>
                <a:srgbClr val="FFFFFF"/>
              </a:bgClr>
            </a:pattFill>
            <a:ln w="9525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190750" y="4281488"/>
            <a:ext cx="2160588" cy="2119312"/>
            <a:chOff x="1380" y="2697"/>
            <a:chExt cx="1361" cy="1335"/>
          </a:xfrm>
        </p:grpSpPr>
        <p:sp>
          <p:nvSpPr>
            <p:cNvPr id="3084" name="Text Box 10"/>
            <p:cNvSpPr txBox="1">
              <a:spLocks noChangeArrowheads="1"/>
            </p:cNvSpPr>
            <p:nvPr/>
          </p:nvSpPr>
          <p:spPr bwMode="auto">
            <a:xfrm>
              <a:off x="1380" y="3198"/>
              <a:ext cx="1014" cy="25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Arial" pitchFamily="34" charset="0"/>
                </a:rPr>
                <a:t>“Stimulation”</a:t>
              </a:r>
              <a:endParaRPr lang="en-US" sz="2000" u="sng">
                <a:latin typeface="Arial" pitchFamily="34" charset="0"/>
              </a:endParaRPr>
            </a:p>
          </p:txBody>
        </p:sp>
        <p:sp>
          <p:nvSpPr>
            <p:cNvPr id="3085" name="Freeform 11"/>
            <p:cNvSpPr>
              <a:spLocks/>
            </p:cNvSpPr>
            <p:nvPr/>
          </p:nvSpPr>
          <p:spPr bwMode="auto">
            <a:xfrm>
              <a:off x="2352" y="2697"/>
              <a:ext cx="389" cy="999"/>
            </a:xfrm>
            <a:custGeom>
              <a:avLst/>
              <a:gdLst>
                <a:gd name="T0" fmla="*/ 0 w 389"/>
                <a:gd name="T1" fmla="*/ 0 h 999"/>
                <a:gd name="T2" fmla="*/ 0 w 389"/>
                <a:gd name="T3" fmla="*/ 839 h 999"/>
                <a:gd name="T4" fmla="*/ 0 w 389"/>
                <a:gd name="T5" fmla="*/ 999 h 999"/>
                <a:gd name="T6" fmla="*/ 384 w 389"/>
                <a:gd name="T7" fmla="*/ 999 h 999"/>
                <a:gd name="T8" fmla="*/ 389 w 389"/>
                <a:gd name="T9" fmla="*/ 336 h 999"/>
                <a:gd name="T10" fmla="*/ 0 w 389"/>
                <a:gd name="T11" fmla="*/ 0 h 9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89"/>
                <a:gd name="T19" fmla="*/ 0 h 999"/>
                <a:gd name="T20" fmla="*/ 389 w 389"/>
                <a:gd name="T21" fmla="*/ 999 h 99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89" h="999">
                  <a:moveTo>
                    <a:pt x="0" y="0"/>
                  </a:moveTo>
                  <a:lnTo>
                    <a:pt x="0" y="839"/>
                  </a:lnTo>
                  <a:lnTo>
                    <a:pt x="0" y="999"/>
                  </a:lnTo>
                  <a:lnTo>
                    <a:pt x="384" y="999"/>
                  </a:lnTo>
                  <a:lnTo>
                    <a:pt x="389" y="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9525">
              <a:noFill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6" name="Text Box 12"/>
            <p:cNvSpPr txBox="1">
              <a:spLocks noChangeArrowheads="1"/>
            </p:cNvSpPr>
            <p:nvPr/>
          </p:nvSpPr>
          <p:spPr bwMode="auto">
            <a:xfrm>
              <a:off x="2300" y="3744"/>
              <a:ext cx="276" cy="250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</a:rPr>
                <a:t>p*</a:t>
              </a:r>
            </a:p>
          </p:txBody>
        </p:sp>
        <p:sp>
          <p:nvSpPr>
            <p:cNvPr id="3087" name="Line 13"/>
            <p:cNvSpPr>
              <a:spLocks noChangeShapeType="1"/>
            </p:cNvSpPr>
            <p:nvPr/>
          </p:nvSpPr>
          <p:spPr bwMode="auto">
            <a:xfrm flipH="1">
              <a:off x="2448" y="4032"/>
              <a:ext cx="19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2" name="Text Box 16"/>
          <p:cNvSpPr txBox="1">
            <a:spLocks noChangeArrowheads="1"/>
          </p:cNvSpPr>
          <p:nvPr/>
        </p:nvSpPr>
        <p:spPr bwMode="auto">
          <a:xfrm>
            <a:off x="6996113" y="5910263"/>
            <a:ext cx="439224" cy="4591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  <a:endParaRPr lang="en-US" b="1" dirty="0"/>
          </a:p>
        </p:txBody>
      </p:sp>
      <p:sp>
        <p:nvSpPr>
          <p:cNvPr id="3083" name="Text Box 17"/>
          <p:cNvSpPr txBox="1">
            <a:spLocks noChangeArrowheads="1"/>
          </p:cNvSpPr>
          <p:nvPr/>
        </p:nvSpPr>
        <p:spPr bwMode="auto">
          <a:xfrm>
            <a:off x="1371600" y="1828800"/>
            <a:ext cx="439224" cy="45910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EF65219A-C000-4A62-8EC5-5C157C0A5250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773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Custom 1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2060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1083311008</TotalTime>
  <Pages>29</Pages>
  <Words>3096</Words>
  <Application>Microsoft Macintosh PowerPoint</Application>
  <PresentationFormat>Letter Paper (8.5x11 in)</PresentationFormat>
  <Paragraphs>705</Paragraphs>
  <Slides>50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Inter</vt:lpstr>
      <vt:lpstr>Retina Light</vt:lpstr>
      <vt:lpstr>TN web use only</vt:lpstr>
      <vt:lpstr>Arial</vt:lpstr>
      <vt:lpstr>Cambria Math</vt:lpstr>
      <vt:lpstr>Monotype Sorts</vt:lpstr>
      <vt:lpstr>Roboto</vt:lpstr>
      <vt:lpstr>Showcard Gothic</vt:lpstr>
      <vt:lpstr>Times New Roman</vt:lpstr>
      <vt:lpstr>Tw Cen MT</vt:lpstr>
      <vt:lpstr>Wingdings</vt:lpstr>
      <vt:lpstr>Wingdings 2</vt:lpstr>
      <vt:lpstr>temp</vt:lpstr>
      <vt:lpstr>Microsoft Drawing</vt:lpstr>
      <vt:lpstr>Bundled Pricing and Metered Pricing</vt:lpstr>
      <vt:lpstr>Overview</vt:lpstr>
      <vt:lpstr>Bundling &amp; Mixed Bundling</vt:lpstr>
      <vt:lpstr>Price Bundling Bundling non-complements</vt:lpstr>
      <vt:lpstr>Price Bundling Bundling non-complements</vt:lpstr>
      <vt:lpstr>Price Bundling Bundling non-complements</vt:lpstr>
      <vt:lpstr>Price Bundling Bundling non-complements</vt:lpstr>
      <vt:lpstr>Price Bundling Bundling non-complements</vt:lpstr>
      <vt:lpstr>Price Bundling Bundling non-complements</vt:lpstr>
      <vt:lpstr>Price Bundling: competitive strategy Microsoft’s launch of MS Office in 1990</vt:lpstr>
      <vt:lpstr>Microsoft still uses some Pure Bundling</vt:lpstr>
      <vt:lpstr>Bundling vs Unbundling</vt:lpstr>
      <vt:lpstr>Unbundling, Partitioned Prices &amp; Salience Consumer Inattention (marketing for good?)</vt:lpstr>
      <vt:lpstr>Public Policy &amp; Regulation are catching on</vt:lpstr>
      <vt:lpstr>Legality of hidden fees Hidden Ticket Fees</vt:lpstr>
      <vt:lpstr>Sustainability of Junk Fees Hotel Resort Fees</vt:lpstr>
      <vt:lpstr>Mixed Bundling</vt:lpstr>
      <vt:lpstr>Mixed Bundling and non-complements</vt:lpstr>
      <vt:lpstr>Mixed Bundling and non-complements</vt:lpstr>
      <vt:lpstr>Mixed Bundling and non-complements</vt:lpstr>
      <vt:lpstr>Mixed Bundling and non-complements</vt:lpstr>
      <vt:lpstr>Mixed Bundling (Tactics &amp; Strategy)</vt:lpstr>
      <vt:lpstr>Metered Pricing</vt:lpstr>
      <vt:lpstr>Metered Pricing:  The Razor &amp; Blades Model</vt:lpstr>
      <vt:lpstr>Metered Pricing Theory</vt:lpstr>
      <vt:lpstr>Metered Pricing Theory Example: Printers &amp; Ink</vt:lpstr>
      <vt:lpstr>Profits and Razor &amp; blades theory Scenario 1 : Printers &amp; ink operated independently</vt:lpstr>
      <vt:lpstr>Profits and Razor &amp; blades theory Scenario 2: Printers &amp; ink tied together</vt:lpstr>
      <vt:lpstr>Profits and Razor &amp; blades theory</vt:lpstr>
      <vt:lpstr>Cloud Computing and Metering?</vt:lpstr>
      <vt:lpstr>B2B Metered Pricing Cloud Computing</vt:lpstr>
      <vt:lpstr>B2B Metered Pricing AI</vt:lpstr>
      <vt:lpstr>Metering over time Vapes &amp; Marketing For Bad</vt:lpstr>
      <vt:lpstr>Metering over time Wi-fi in India &amp; Marketing For Good</vt:lpstr>
      <vt:lpstr>Threats to Metered Pricing</vt:lpstr>
      <vt:lpstr>Threats to Metered Pricing</vt:lpstr>
      <vt:lpstr>Take Away</vt:lpstr>
      <vt:lpstr>Microsoft Office Software</vt:lpstr>
      <vt:lpstr>MS Word take-off in the U.S.</vt:lpstr>
      <vt:lpstr>More examples</vt:lpstr>
      <vt:lpstr>Investing in Retention</vt:lpstr>
      <vt:lpstr>Extra</vt:lpstr>
      <vt:lpstr>Data analytics and bundling</vt:lpstr>
      <vt:lpstr>Data</vt:lpstr>
      <vt:lpstr>Pure Components Strategy</vt:lpstr>
      <vt:lpstr>Pure Bundling Strategy</vt:lpstr>
      <vt:lpstr>Bundle or Items?</vt:lpstr>
      <vt:lpstr>Bundle or Items?</vt:lpstr>
      <vt:lpstr>Mixed Bundling Strategy</vt:lpstr>
      <vt:lpstr>Mixed Bundling Tactics Lower item 1 price from p1 to p*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 Discrimination I</dc:title>
  <dc:creator>JP Dube</dc:creator>
  <cp:lastModifiedBy>Derrick Teo</cp:lastModifiedBy>
  <cp:revision>596</cp:revision>
  <cp:lastPrinted>1996-10-15T16:19:12Z</cp:lastPrinted>
  <dcterms:created xsi:type="dcterms:W3CDTF">1996-09-15T18:44:58Z</dcterms:created>
  <dcterms:modified xsi:type="dcterms:W3CDTF">2025-07-12T01:01:45Z</dcterms:modified>
</cp:coreProperties>
</file>