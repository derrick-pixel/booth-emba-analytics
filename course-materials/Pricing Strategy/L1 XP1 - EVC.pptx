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51" r:id="rId1"/>
  </p:sldMasterIdLst>
  <p:notesMasterIdLst>
    <p:notesMasterId r:id="rId52"/>
  </p:notesMasterIdLst>
  <p:handoutMasterIdLst>
    <p:handoutMasterId r:id="rId53"/>
  </p:handoutMasterIdLst>
  <p:sldIdLst>
    <p:sldId id="256" r:id="rId2"/>
    <p:sldId id="448" r:id="rId3"/>
    <p:sldId id="345" r:id="rId4"/>
    <p:sldId id="403" r:id="rId5"/>
    <p:sldId id="389" r:id="rId6"/>
    <p:sldId id="456" r:id="rId7"/>
    <p:sldId id="390" r:id="rId8"/>
    <p:sldId id="391" r:id="rId9"/>
    <p:sldId id="350" r:id="rId10"/>
    <p:sldId id="388" r:id="rId11"/>
    <p:sldId id="378" r:id="rId12"/>
    <p:sldId id="431" r:id="rId13"/>
    <p:sldId id="449" r:id="rId14"/>
    <p:sldId id="354" r:id="rId15"/>
    <p:sldId id="457" r:id="rId16"/>
    <p:sldId id="464" r:id="rId17"/>
    <p:sldId id="463" r:id="rId18"/>
    <p:sldId id="462" r:id="rId19"/>
    <p:sldId id="451" r:id="rId20"/>
    <p:sldId id="404" r:id="rId21"/>
    <p:sldId id="426" r:id="rId22"/>
    <p:sldId id="379" r:id="rId23"/>
    <p:sldId id="393" r:id="rId24"/>
    <p:sldId id="375" r:id="rId25"/>
    <p:sldId id="394" r:id="rId26"/>
    <p:sldId id="405" r:id="rId27"/>
    <p:sldId id="459" r:id="rId28"/>
    <p:sldId id="439" r:id="rId29"/>
    <p:sldId id="440" r:id="rId30"/>
    <p:sldId id="441" r:id="rId31"/>
    <p:sldId id="442" r:id="rId32"/>
    <p:sldId id="364" r:id="rId33"/>
    <p:sldId id="443" r:id="rId34"/>
    <p:sldId id="444" r:id="rId35"/>
    <p:sldId id="416" r:id="rId36"/>
    <p:sldId id="417" r:id="rId37"/>
    <p:sldId id="418" r:id="rId38"/>
    <p:sldId id="419" r:id="rId39"/>
    <p:sldId id="420" r:id="rId40"/>
    <p:sldId id="460" r:id="rId41"/>
    <p:sldId id="461" r:id="rId42"/>
    <p:sldId id="423" r:id="rId43"/>
    <p:sldId id="424" r:id="rId44"/>
    <p:sldId id="425" r:id="rId45"/>
    <p:sldId id="445" r:id="rId46"/>
    <p:sldId id="446" r:id="rId47"/>
    <p:sldId id="447" r:id="rId48"/>
    <p:sldId id="453" r:id="rId49"/>
    <p:sldId id="454" r:id="rId50"/>
    <p:sldId id="455" r:id="rId51"/>
  </p:sldIdLst>
  <p:sldSz cx="9144000" cy="6858000" type="letter"/>
  <p:notesSz cx="6877050" cy="916305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6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796" autoAdjust="0"/>
  </p:normalViewPr>
  <p:slideViewPr>
    <p:cSldViewPr>
      <p:cViewPr varScale="1">
        <p:scale>
          <a:sx n="76" d="100"/>
          <a:sy n="76" d="100"/>
        </p:scale>
        <p:origin x="10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2082" y="-108"/>
      </p:cViewPr>
      <p:guideLst>
        <p:guide orient="horz" pos="2886"/>
        <p:guide pos="216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08738" y="8767763"/>
            <a:ext cx="3968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72" tIns="44540" rIns="90672" bIns="44540" anchor="ctr">
            <a:spAutoFit/>
          </a:bodyPr>
          <a:lstStyle/>
          <a:p>
            <a:pPr algn="r">
              <a:defRPr/>
            </a:pPr>
            <a:fld id="{98C58099-4907-49AA-BA7C-0E401BEB2C9F}" type="slidenum">
              <a:rPr lang="en-US" sz="1400">
                <a:latin typeface="Arial" charset="0"/>
              </a:rPr>
              <a:pPr algn="r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11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352925"/>
            <a:ext cx="5041900" cy="4121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672" tIns="44540" rIns="90672" bIns="445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7388"/>
            <a:ext cx="4583112" cy="3436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408738" y="8767763"/>
            <a:ext cx="3968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72" tIns="44540" rIns="90672" bIns="44540" anchor="ctr">
            <a:spAutoFit/>
          </a:bodyPr>
          <a:lstStyle/>
          <a:p>
            <a:pPr algn="r">
              <a:defRPr/>
            </a:pPr>
            <a:fld id="{8944A6BC-B846-478B-A111-DE0EBF32213B}" type="slidenum">
              <a:rPr lang="en-US" sz="1400">
                <a:latin typeface="Arial" charset="0"/>
              </a:rPr>
              <a:pPr algn="r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33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4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use value</a:t>
            </a:r>
            <a:r>
              <a:rPr lang="en-US" baseline="0" dirty="0"/>
              <a:t> vs economic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9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60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633" tIns="45817" rIns="91633" bIns="45817"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700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23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4351338"/>
            <a:ext cx="5038725" cy="412273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20" tIns="44960" rIns="89920" bIns="44960"/>
          <a:lstStyle/>
          <a:p>
            <a:r>
              <a:rPr lang="en-US" dirty="0">
                <a:latin typeface="Arial" pitchFamily="34" charset="0"/>
              </a:rPr>
              <a:t>Availability: having the product or service capacity when competitor’s don’t.</a:t>
            </a:r>
          </a:p>
          <a:p>
            <a:r>
              <a:rPr lang="en-US" dirty="0">
                <a:latin typeface="Arial" pitchFamily="34" charset="0"/>
              </a:rPr>
              <a:t>Convenience: allowing the customer to quickly and easily acquire the product or service</a:t>
            </a:r>
          </a:p>
          <a:p>
            <a:r>
              <a:rPr lang="en-US" dirty="0">
                <a:latin typeface="Arial" pitchFamily="34" charset="0"/>
              </a:rPr>
              <a:t>Functionality: product and service features that are unique as well as valued by the customer</a:t>
            </a:r>
          </a:p>
          <a:p>
            <a:r>
              <a:rPr lang="en-US" dirty="0">
                <a:latin typeface="Arial" pitchFamily="34" charset="0"/>
              </a:rPr>
              <a:t>Relationship: vendor features that create trust and satisfaction in the customer</a:t>
            </a:r>
          </a:p>
          <a:p>
            <a:r>
              <a:rPr lang="en-US" dirty="0">
                <a:latin typeface="Arial" pitchFamily="34" charset="0"/>
              </a:rPr>
              <a:t>Exclusivity:</a:t>
            </a:r>
            <a:r>
              <a:rPr lang="en-US" baseline="0" dirty="0">
                <a:latin typeface="Arial" pitchFamily="34" charset="0"/>
              </a:rPr>
              <a:t> exclusive access to products (e.g. unique models, Own Brands </a:t>
            </a:r>
            <a:r>
              <a:rPr lang="en-US" baseline="0" dirty="0" err="1">
                <a:latin typeface="Arial" pitchFamily="34" charset="0"/>
              </a:rPr>
              <a:t>etc</a:t>
            </a:r>
            <a:r>
              <a:rPr lang="en-US" baseline="0">
                <a:latin typeface="Arial" pitchFamily="34" charset="0"/>
              </a:rPr>
              <a:t>)</a:t>
            </a:r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72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0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1" name="Picture 20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E6E90D4-FAAA-4274-A13C-F93D3EA59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183950C-32BC-403F-81E7-FB360C63D0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8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0EFBC7-AC9E-4069-B50B-11C2DC23DE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723B00C-BFD1-482D-A186-3F1A83FFD31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6658A-3405-4CDF-AB50-716EADA485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A8BA77F9-3109-46E5-AC46-EB854A9F76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BBF7D-A75D-4013-A2C0-9F89827483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36224-9F76-45EB-91F7-A8F5491280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qje/article/130/4/1669/191478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qje/article/119/2/403/1894504" TargetMode="External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0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hyperlink" Target="http://faculty.chicagobooth.edu/marianne.bertrand/research/papers/AdContentWorth_mar09Final.pdf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ntrynavigator.com/blog/negotiating-across-cultur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noFill/>
        </p:spPr>
        <p:txBody>
          <a:bodyPr lIns="90488" tIns="44450" rIns="90488" bIns="44450"/>
          <a:lstStyle/>
          <a:p>
            <a:r>
              <a:rPr lang="en-US" sz="4000"/>
              <a:t>Economic Value Analysis</a:t>
            </a:r>
            <a:br>
              <a:rPr lang="en-US" sz="4000"/>
            </a:br>
            <a:r>
              <a:rPr lang="en-US" sz="4000"/>
              <a:t> </a:t>
            </a:r>
            <a:r>
              <a:rPr lang="en-US" sz="4000" i="1"/>
              <a:t>Incorporating ‘value’ into pricing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362200" y="6050037"/>
            <a:ext cx="6705600" cy="6858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Pricing Strategies</a:t>
            </a:r>
          </a:p>
          <a:p>
            <a:r>
              <a:rPr lang="en-US" sz="1400" dirty="0"/>
              <a:t>2025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If you have not already done so, please go to Canvas to review</a:t>
            </a:r>
            <a:endParaRPr lang="en-US" sz="1440" dirty="0"/>
          </a:p>
          <a:p>
            <a:pPr lvl="1">
              <a:spcBef>
                <a:spcPts val="1200"/>
              </a:spcBef>
              <a:spcAft>
                <a:spcPts val="1200"/>
              </a:spcAft>
              <a:buBlip>
                <a:blip r:embed="rId2"/>
              </a:buBlip>
            </a:pPr>
            <a:r>
              <a:rPr lang="en-US" dirty="0"/>
              <a:t>All course documents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Blip>
                <a:blip r:embed="rId2"/>
              </a:buBlip>
            </a:pPr>
            <a:r>
              <a:rPr lang="en-US" dirty="0"/>
              <a:t>Introductory video for course</a:t>
            </a:r>
          </a:p>
        </p:txBody>
      </p:sp>
    </p:spTree>
    <p:extLst>
      <p:ext uri="{BB962C8B-B14F-4D97-AF65-F5344CB8AC3E}">
        <p14:creationId xmlns:p14="http://schemas.microsoft.com/office/powerpoint/2010/main" val="180467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7954963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From the intro video you were reminded that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endParaRPr lang="en-US" dirty="0"/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So now we will discuss: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Bringing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en-US" dirty="0"/>
              <a:t> into pricing decisions with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 </a:t>
            </a:r>
            <a:r>
              <a:rPr lang="en-US" dirty="0"/>
              <a:t>framework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Example: </a:t>
            </a:r>
            <a:r>
              <a:rPr lang="en-US" dirty="0" err="1"/>
              <a:t>Kone</a:t>
            </a:r>
            <a:r>
              <a:rPr lang="en-US" dirty="0"/>
              <a:t> mini-case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447800" y="2438400"/>
            <a:ext cx="62484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coordinates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b="1" dirty="0"/>
              <a:t>ricing</a:t>
            </a:r>
            <a:r>
              <a:rPr lang="en-US" dirty="0"/>
              <a:t> with the value delivered to customers.</a:t>
            </a:r>
          </a:p>
        </p:txBody>
      </p:sp>
    </p:spTree>
    <p:extLst>
      <p:ext uri="{BB962C8B-B14F-4D97-AF65-F5344CB8AC3E}">
        <p14:creationId xmlns:p14="http://schemas.microsoft.com/office/powerpoint/2010/main" val="344651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Value and Willingness-to-Pay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E63171-6165-4521-AF02-4134732E7C5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9218" name="Picture 2" descr="Image result for willingness to p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9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Need </a:t>
            </a:r>
            <a:r>
              <a:rPr lang="en-US" b="1" dirty="0"/>
              <a:t>framework</a:t>
            </a:r>
            <a:r>
              <a:rPr lang="en-US" dirty="0"/>
              <a:t> to put ourselves into customer’s shoes to assess perceived </a:t>
            </a:r>
            <a:r>
              <a:rPr lang="en-US" b="1" dirty="0"/>
              <a:t>value</a:t>
            </a:r>
            <a:r>
              <a:rPr lang="en-US" dirty="0"/>
              <a:t> qualitatively &amp;, possibly, quantitatively</a:t>
            </a:r>
          </a:p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dirty="0"/>
              <a:t>We will use a </a:t>
            </a:r>
            <a:r>
              <a:rPr lang="en-US" b="1" dirty="0">
                <a:solidFill>
                  <a:srgbClr val="00B0F0"/>
                </a:solidFill>
              </a:rPr>
              <a:t>microeconomic theory</a:t>
            </a:r>
            <a:r>
              <a:rPr lang="en-US" dirty="0"/>
              <a:t> to determine value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endParaRPr lang="en-US" sz="3200" dirty="0"/>
          </a:p>
          <a:p>
            <a:pPr lvl="2">
              <a:spcBef>
                <a:spcPts val="1200"/>
              </a:spcBef>
              <a:spcAft>
                <a:spcPts val="1200"/>
              </a:spcAft>
              <a:buClr>
                <a:srgbClr val="94B6D2"/>
              </a:buClr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1200"/>
              </a:spcBef>
              <a:spcAft>
                <a:spcPts val="1200"/>
              </a:spcAft>
              <a:buClr>
                <a:srgbClr val="94B6D2"/>
              </a:buClr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much is the product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worth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buyer?</a:t>
            </a:r>
          </a:p>
          <a:p>
            <a:pPr lvl="2">
              <a:spcBef>
                <a:spcPts val="1200"/>
              </a:spcBef>
              <a:spcAft>
                <a:spcPts val="1200"/>
              </a:spcAft>
              <a:buClr>
                <a:srgbClr val="94B6D2"/>
              </a:buClr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buyer willing to pay?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60248" y="3429000"/>
            <a:ext cx="8305800" cy="1066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Economic Value to the customer (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  <a:r>
              <a:rPr lang="en-US" sz="3600" dirty="0"/>
              <a:t>) </a:t>
            </a:r>
            <a:r>
              <a:rPr lang="en-US" sz="3600" dirty="0">
                <a:solidFill>
                  <a:srgbClr val="00B0F0"/>
                </a:solidFill>
              </a:rPr>
              <a:t>model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5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7"/>
          <p:cNvPicPr>
            <a:picLocks noChangeAspect="1"/>
          </p:cNvPicPr>
          <p:nvPr/>
        </p:nvPicPr>
        <p:blipFill rotWithShape="1">
          <a:blip r:embed="rId3"/>
          <a:srcRect l="23743" t="25423" r="51469" b="35593"/>
          <a:stretch/>
        </p:blipFill>
        <p:spPr bwMode="auto">
          <a:xfrm>
            <a:off x="152400" y="1600200"/>
            <a:ext cx="5867400" cy="5190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i="1" dirty="0">
                <a:solidFill>
                  <a:srgbClr val="00B0F0"/>
                </a:solidFill>
              </a:rPr>
              <a:t>Theory:</a:t>
            </a:r>
            <a:r>
              <a:rPr lang="en-US" sz="4400" i="1" dirty="0"/>
              <a:t> </a:t>
            </a:r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value</a:t>
            </a:r>
            <a:r>
              <a:rPr lang="en-US" sz="4400" i="1" dirty="0"/>
              <a:t> </a:t>
            </a:r>
            <a:r>
              <a:rPr lang="en-US" sz="4400" dirty="0"/>
              <a:t>vs </a:t>
            </a:r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Value</a:t>
            </a:r>
            <a:br>
              <a:rPr lang="en-US" sz="4400" dirty="0"/>
            </a:br>
            <a:r>
              <a:rPr lang="en-US" sz="3600" dirty="0"/>
              <a:t>Coca Cola on the beach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19800" y="1828800"/>
            <a:ext cx="2743200" cy="1981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Suppose your satisfaction from drinking a cold bottle of Coca Cola on the beach is</a:t>
            </a:r>
            <a:r>
              <a:rPr lang="ar-AE" b="1" dirty="0"/>
              <a:t> </a:t>
            </a:r>
            <a:r>
              <a:rPr lang="en-US" b="1" dirty="0"/>
              <a:t>US$35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b="1" dirty="0"/>
              <a:t>HK$270</a:t>
            </a:r>
            <a:r>
              <a:rPr lang="en-US" dirty="0"/>
              <a:t> &amp; </a:t>
            </a:r>
            <a:r>
              <a:rPr lang="en-US" b="1" dirty="0"/>
              <a:t>£27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0" y="4800600"/>
            <a:ext cx="3048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Would you pay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$35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a bottle of Coke?</a:t>
            </a:r>
            <a:endParaRPr lang="ar-A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46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>
            <a:normAutofit/>
          </a:bodyPr>
          <a:lstStyle/>
          <a:p>
            <a:r>
              <a:rPr lang="en-US" dirty="0"/>
              <a:t>Economic Value to the Customer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  <a:r>
              <a:rPr lang="en-US" dirty="0"/>
              <a:t>)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260724" y="2479426"/>
            <a:ext cx="2133600" cy="977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Differentiation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Value</a:t>
            </a:r>
            <a:endParaRPr lang="en-US" u="sng" dirty="0">
              <a:latin typeface="+mj-lt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6413500" y="2136526"/>
            <a:ext cx="2501900" cy="166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Economic Value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to the Customer</a:t>
            </a:r>
          </a:p>
        </p:txBody>
      </p:sp>
      <p:sp>
        <p:nvSpPr>
          <p:cNvPr id="18441" name="TextBox 9"/>
          <p:cNvSpPr txBox="1">
            <a:spLocks noChangeArrowheads="1"/>
          </p:cNvSpPr>
          <p:nvPr/>
        </p:nvSpPr>
        <p:spPr bwMode="auto">
          <a:xfrm>
            <a:off x="3279560" y="3119188"/>
            <a:ext cx="457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</a:rPr>
              <a:t>D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47436" y="2455738"/>
            <a:ext cx="2133600" cy="977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Reference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Value</a:t>
            </a:r>
            <a:endParaRPr lang="en-US" u="sng" dirty="0">
              <a:latin typeface="+mj-lt"/>
            </a:endParaRP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266272" y="3119188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3" name="Plus 2"/>
          <p:cNvSpPr/>
          <p:nvPr/>
        </p:nvSpPr>
        <p:spPr>
          <a:xfrm>
            <a:off x="2363680" y="2555769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qual 3"/>
          <p:cNvSpPr/>
          <p:nvPr/>
        </p:nvSpPr>
        <p:spPr>
          <a:xfrm>
            <a:off x="5403742" y="2555769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9"/>
          <p:cNvSpPr txBox="1">
            <a:spLocks noChangeArrowheads="1"/>
          </p:cNvSpPr>
          <p:nvPr/>
        </p:nvSpPr>
        <p:spPr bwMode="auto">
          <a:xfrm>
            <a:off x="6439841" y="3411867"/>
            <a:ext cx="6158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381000" y="4389090"/>
            <a:ext cx="8534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Reference Value</a:t>
            </a:r>
            <a:r>
              <a:rPr kumimoji="1" lang="en-US" kern="0" dirty="0">
                <a:latin typeface="+mj-lt"/>
              </a:rPr>
              <a:t> - Price of what customer views as best substitute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Differentiation Value</a:t>
            </a:r>
            <a:r>
              <a:rPr kumimoji="1" lang="en-US" b="1" kern="0" dirty="0">
                <a:latin typeface="+mj-lt"/>
              </a:rPr>
              <a:t> </a:t>
            </a:r>
            <a:r>
              <a:rPr kumimoji="1" lang="en-US" kern="0" dirty="0">
                <a:latin typeface="+mj-lt"/>
              </a:rPr>
              <a:t>-Value of differentiating attributes</a:t>
            </a:r>
            <a:endParaRPr kumimoji="1"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40459365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>
            <a:normAutofit/>
          </a:bodyPr>
          <a:lstStyle/>
          <a:p>
            <a:r>
              <a:rPr lang="en-US" dirty="0"/>
              <a:t>Economic Value to the Customer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  <a:r>
              <a:rPr lang="en-US" dirty="0"/>
              <a:t>)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260724" y="2479426"/>
            <a:ext cx="2133600" cy="977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Differentiation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Value</a:t>
            </a:r>
            <a:endParaRPr lang="en-US" u="sng" dirty="0">
              <a:latin typeface="+mj-lt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6413500" y="2136526"/>
            <a:ext cx="2501900" cy="166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Economic Value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to the Customer</a:t>
            </a:r>
          </a:p>
        </p:txBody>
      </p:sp>
      <p:sp>
        <p:nvSpPr>
          <p:cNvPr id="18441" name="TextBox 9"/>
          <p:cNvSpPr txBox="1">
            <a:spLocks noChangeArrowheads="1"/>
          </p:cNvSpPr>
          <p:nvPr/>
        </p:nvSpPr>
        <p:spPr bwMode="auto">
          <a:xfrm>
            <a:off x="3279560" y="3119188"/>
            <a:ext cx="457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</a:rPr>
              <a:t>D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47436" y="2455738"/>
            <a:ext cx="2133600" cy="977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j-lt"/>
              </a:rPr>
              <a:t>Reference</a:t>
            </a:r>
          </a:p>
          <a:p>
            <a:pPr algn="ctr">
              <a:defRPr/>
            </a:pPr>
            <a:r>
              <a:rPr lang="en-US" b="1" dirty="0">
                <a:latin typeface="+mj-lt"/>
              </a:rPr>
              <a:t>Value</a:t>
            </a:r>
            <a:endParaRPr lang="en-US" u="sng" dirty="0">
              <a:latin typeface="+mj-lt"/>
            </a:endParaRP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266272" y="3119188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3" name="Plus 2"/>
          <p:cNvSpPr/>
          <p:nvPr/>
        </p:nvSpPr>
        <p:spPr>
          <a:xfrm>
            <a:off x="2363680" y="2555769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qual 3"/>
          <p:cNvSpPr/>
          <p:nvPr/>
        </p:nvSpPr>
        <p:spPr>
          <a:xfrm>
            <a:off x="5403742" y="2555769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9"/>
          <p:cNvSpPr txBox="1">
            <a:spLocks noChangeArrowheads="1"/>
          </p:cNvSpPr>
          <p:nvPr/>
        </p:nvSpPr>
        <p:spPr bwMode="auto">
          <a:xfrm>
            <a:off x="6439841" y="3411867"/>
            <a:ext cx="6158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25" y="5834657"/>
            <a:ext cx="817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Franklin Gothic Medium" panose="020B0603020102020204" pitchFamily="34" charset="0"/>
              </a:rPr>
              <a:t>Economic value defined “relative” to what </a:t>
            </a:r>
            <a:r>
              <a:rPr lang="en-US" b="1" dirty="0">
                <a:solidFill>
                  <a:srgbClr val="002060"/>
                </a:solidFill>
                <a:latin typeface="Franklin Gothic Medium" panose="020B0603020102020204" pitchFamily="34" charset="0"/>
              </a:rPr>
              <a:t>competition</a:t>
            </a:r>
            <a:r>
              <a:rPr lang="en-US" dirty="0">
                <a:solidFill>
                  <a:srgbClr val="002060"/>
                </a:solidFill>
                <a:latin typeface="Franklin Gothic Medium" panose="020B0603020102020204" pitchFamily="34" charset="0"/>
              </a:rPr>
              <a:t> offers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739" y="5951189"/>
            <a:ext cx="495728" cy="2286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381000" y="4389090"/>
            <a:ext cx="8534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Reference Value</a:t>
            </a:r>
            <a:r>
              <a:rPr kumimoji="1" lang="en-US" kern="0" dirty="0">
                <a:latin typeface="+mj-lt"/>
              </a:rPr>
              <a:t> - Price of what customer views as best substitute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Differentiation Value</a:t>
            </a:r>
            <a:r>
              <a:rPr kumimoji="1" lang="en-US" b="1" kern="0" dirty="0">
                <a:latin typeface="+mj-lt"/>
              </a:rPr>
              <a:t> </a:t>
            </a:r>
            <a:r>
              <a:rPr kumimoji="1" lang="en-US" kern="0" dirty="0">
                <a:latin typeface="+mj-lt"/>
              </a:rPr>
              <a:t>-Value of differentiating attributes</a:t>
            </a:r>
            <a:endParaRPr kumimoji="1"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89511307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TextBox 11"/>
          <p:cNvSpPr txBox="1">
            <a:spLocks noChangeArrowheads="1"/>
          </p:cNvSpPr>
          <p:nvPr/>
        </p:nvSpPr>
        <p:spPr bwMode="auto">
          <a:xfrm>
            <a:off x="990600" y="4876800"/>
            <a:ext cx="7696200" cy="124301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                             [V</a:t>
            </a:r>
            <a:r>
              <a:rPr lang="en-US" baseline="-25000" dirty="0"/>
              <a:t>Us</a:t>
            </a:r>
            <a:r>
              <a:rPr lang="en-US" dirty="0"/>
              <a:t>-P</a:t>
            </a:r>
            <a:r>
              <a:rPr lang="en-US" baseline="-25000" dirty="0"/>
              <a:t>Us</a:t>
            </a:r>
            <a:r>
              <a:rPr lang="en-US" dirty="0"/>
              <a:t>] </a:t>
            </a:r>
            <a:r>
              <a:rPr lang="en-US" dirty="0">
                <a:sym typeface="Symbol" pitchFamily="18" charset="2"/>
              </a:rPr>
              <a:t> [</a:t>
            </a:r>
            <a:r>
              <a:rPr lang="en-US" dirty="0" err="1"/>
              <a:t>V</a:t>
            </a:r>
            <a:r>
              <a:rPr lang="en-US" baseline="-25000" dirty="0" err="1"/>
              <a:t>Them</a:t>
            </a:r>
            <a:r>
              <a:rPr lang="en-US" dirty="0" err="1"/>
              <a:t>-P</a:t>
            </a:r>
            <a:r>
              <a:rPr lang="en-US" baseline="-25000" dirty="0" err="1"/>
              <a:t>Them</a:t>
            </a:r>
            <a:r>
              <a:rPr lang="en-US" dirty="0"/>
              <a:t>]</a:t>
            </a:r>
            <a:endParaRPr lang="en-US" baseline="-25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             (V</a:t>
            </a:r>
            <a:r>
              <a:rPr lang="en-US" baseline="-25000" dirty="0"/>
              <a:t>Us</a:t>
            </a:r>
            <a:r>
              <a:rPr lang="en-US" dirty="0"/>
              <a:t>-</a:t>
            </a:r>
            <a:r>
              <a:rPr lang="en-US" dirty="0" err="1"/>
              <a:t>V</a:t>
            </a:r>
            <a:r>
              <a:rPr lang="en-US" baseline="-25000" dirty="0" err="1"/>
              <a:t>Them</a:t>
            </a:r>
            <a:r>
              <a:rPr lang="en-US" dirty="0"/>
              <a:t>) + </a:t>
            </a:r>
            <a:r>
              <a:rPr lang="en-US" dirty="0" err="1"/>
              <a:t>P</a:t>
            </a:r>
            <a:r>
              <a:rPr lang="en-US" baseline="-25000" dirty="0" err="1"/>
              <a:t>Them</a:t>
            </a:r>
            <a:r>
              <a:rPr lang="en-US" baseline="-25000" dirty="0"/>
              <a:t> </a:t>
            </a:r>
            <a:r>
              <a:rPr lang="en-US" dirty="0">
                <a:sym typeface="Symbol" pitchFamily="18" charset="2"/>
              </a:rPr>
              <a:t> </a:t>
            </a:r>
            <a:r>
              <a:rPr lang="en-US" dirty="0"/>
              <a:t>P</a:t>
            </a:r>
            <a:r>
              <a:rPr lang="en-US" baseline="-25000" dirty="0"/>
              <a:t>Us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Symbol" pitchFamily="18" charset="2"/>
              </a:rPr>
              <a:t>		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</a:rPr>
              <a:t>D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/>
              <a:t>+  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dirty="0"/>
              <a:t>    </a:t>
            </a:r>
            <a:r>
              <a:rPr lang="en-US" dirty="0">
                <a:sym typeface="Symbol" pitchFamily="18" charset="2"/>
              </a:rPr>
              <a:t> P</a:t>
            </a:r>
            <a:r>
              <a:rPr lang="en-US" baseline="-25000" dirty="0"/>
              <a:t>Us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Economics of Buying Behavior</a:t>
            </a:r>
            <a:br>
              <a:rPr lang="en-US" dirty="0"/>
            </a:br>
            <a:r>
              <a:rPr lang="en-US" sz="3600" i="1" dirty="0"/>
              <a:t>The Maximum-Willingness-to-Pay (WTP)</a:t>
            </a:r>
            <a:endParaRPr lang="en-US" sz="3600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990600" y="1981200"/>
            <a:ext cx="795496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kumimoji="1" lang="en-US" kern="0" dirty="0">
                <a:latin typeface="+mj-lt"/>
              </a:rPr>
              <a:t>Assume customers choose based on Net Value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endParaRPr kumimoji="1" lang="en-US" kern="0" dirty="0">
              <a:latin typeface="+mj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endParaRPr kumimoji="1" lang="en-US" kern="0" dirty="0">
              <a:latin typeface="+mj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endParaRPr kumimoji="1" lang="en-US" kern="0" dirty="0">
              <a:latin typeface="+mj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endParaRPr kumimoji="1" lang="en-US" kern="0" dirty="0">
              <a:latin typeface="+mj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endParaRPr kumimoji="1" lang="en-US" kern="0" dirty="0">
              <a:latin typeface="+mj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kumimoji="1" lang="en-US" kern="0" dirty="0">
                <a:latin typeface="+mj-lt"/>
              </a:rPr>
              <a:t>Customer Choice  - Select Our Product if:</a:t>
            </a:r>
            <a:endParaRPr kumimoji="1" lang="en-US" sz="2800" kern="0" baseline="-25000" dirty="0">
              <a:latin typeface="+mn-lt"/>
            </a:endParaRPr>
          </a:p>
        </p:txBody>
      </p:sp>
      <p:sp>
        <p:nvSpPr>
          <p:cNvPr id="17414" name="TextBox 9"/>
          <p:cNvSpPr txBox="1">
            <a:spLocks noChangeArrowheads="1"/>
          </p:cNvSpPr>
          <p:nvPr/>
        </p:nvSpPr>
        <p:spPr bwMode="auto">
          <a:xfrm>
            <a:off x="990600" y="2514600"/>
            <a:ext cx="3402013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Our Product</a:t>
            </a:r>
          </a:p>
          <a:p>
            <a:pPr algn="ctr">
              <a:buFont typeface="Wingdings" pitchFamily="2" charset="2"/>
              <a:buChar char="§"/>
            </a:pPr>
            <a:r>
              <a:rPr lang="en-US"/>
              <a:t>Our Benefits – Our Price</a:t>
            </a:r>
          </a:p>
          <a:p>
            <a:pPr algn="ctr"/>
            <a:r>
              <a:rPr lang="en-US"/>
              <a:t>= </a:t>
            </a:r>
            <a:r>
              <a:rPr lang="en-US" b="1"/>
              <a:t>V</a:t>
            </a:r>
            <a:r>
              <a:rPr lang="en-US" b="1" baseline="-25000"/>
              <a:t>Us </a:t>
            </a:r>
            <a:r>
              <a:rPr lang="en-US" b="1"/>
              <a:t>- P</a:t>
            </a:r>
            <a:r>
              <a:rPr lang="en-US" b="1" baseline="-25000"/>
              <a:t>Us</a:t>
            </a:r>
            <a:endParaRPr lang="en-US" b="1"/>
          </a:p>
        </p:txBody>
      </p:sp>
      <p:sp>
        <p:nvSpPr>
          <p:cNvPr id="17415" name="TextBox 10"/>
          <p:cNvSpPr txBox="1">
            <a:spLocks noChangeArrowheads="1"/>
          </p:cNvSpPr>
          <p:nvPr/>
        </p:nvSpPr>
        <p:spPr bwMode="auto">
          <a:xfrm>
            <a:off x="4953000" y="2514600"/>
            <a:ext cx="3768725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Competitor’s Product</a:t>
            </a:r>
          </a:p>
          <a:p>
            <a:pPr algn="ctr">
              <a:buFont typeface="Wingdings" pitchFamily="2" charset="2"/>
              <a:buChar char="§"/>
            </a:pPr>
            <a:r>
              <a:rPr lang="en-US"/>
              <a:t>Their Benefits – Their Price</a:t>
            </a:r>
          </a:p>
          <a:p>
            <a:pPr algn="ctr"/>
            <a:r>
              <a:rPr lang="en-US"/>
              <a:t>= </a:t>
            </a:r>
            <a:r>
              <a:rPr lang="en-US" b="1"/>
              <a:t>V</a:t>
            </a:r>
            <a:r>
              <a:rPr lang="en-US" b="1" baseline="-25000"/>
              <a:t>Them </a:t>
            </a:r>
            <a:r>
              <a:rPr lang="en-US" b="1"/>
              <a:t>- P</a:t>
            </a:r>
            <a:r>
              <a:rPr lang="en-US" b="1" baseline="-25000"/>
              <a:t>Them</a:t>
            </a:r>
            <a:endParaRPr lang="en-US" b="1"/>
          </a:p>
        </p:txBody>
      </p:sp>
      <p:sp>
        <p:nvSpPr>
          <p:cNvPr id="17417" name="TextBox 12"/>
          <p:cNvSpPr txBox="1">
            <a:spLocks noChangeArrowheads="1"/>
          </p:cNvSpPr>
          <p:nvPr/>
        </p:nvSpPr>
        <p:spPr bwMode="auto">
          <a:xfrm>
            <a:off x="6172200" y="5486400"/>
            <a:ext cx="2459038" cy="58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Symbol" pitchFamily="18" charset="2"/>
              </a:rPr>
              <a:t>D</a:t>
            </a:r>
            <a:r>
              <a:rPr lang="en-US" sz="1600">
                <a:solidFill>
                  <a:srgbClr val="FF0000"/>
                </a:solidFill>
              </a:rPr>
              <a:t>V  </a:t>
            </a:r>
            <a:r>
              <a:rPr lang="en-US" sz="1600"/>
              <a:t>= Differentiation Value</a:t>
            </a:r>
          </a:p>
          <a:p>
            <a:r>
              <a:rPr lang="en-US" sz="1600">
                <a:solidFill>
                  <a:srgbClr val="FF0000"/>
                </a:solidFill>
              </a:rPr>
              <a:t>    R </a:t>
            </a:r>
            <a:r>
              <a:rPr lang="en-US" sz="1600"/>
              <a:t>= Reference Value</a:t>
            </a:r>
          </a:p>
        </p:txBody>
      </p:sp>
      <p:sp>
        <p:nvSpPr>
          <p:cNvPr id="17418" name="Right Arrow 9"/>
          <p:cNvSpPr>
            <a:spLocks noChangeArrowheads="1"/>
          </p:cNvSpPr>
          <p:nvPr/>
        </p:nvSpPr>
        <p:spPr bwMode="auto">
          <a:xfrm>
            <a:off x="1295400" y="5410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7419" name="Right Arrow 10"/>
          <p:cNvSpPr>
            <a:spLocks noChangeArrowheads="1"/>
          </p:cNvSpPr>
          <p:nvPr/>
        </p:nvSpPr>
        <p:spPr bwMode="auto">
          <a:xfrm>
            <a:off x="1295400" y="5791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7420" name="Right Arrow 11"/>
          <p:cNvSpPr>
            <a:spLocks noChangeArrowheads="1"/>
          </p:cNvSpPr>
          <p:nvPr/>
        </p:nvSpPr>
        <p:spPr bwMode="auto">
          <a:xfrm flipH="1">
            <a:off x="1143000" y="54102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7421" name="Right Arrow 13"/>
          <p:cNvSpPr>
            <a:spLocks noChangeArrowheads="1"/>
          </p:cNvSpPr>
          <p:nvPr/>
        </p:nvSpPr>
        <p:spPr bwMode="auto">
          <a:xfrm flipH="1">
            <a:off x="1143000" y="57912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19390" y="62630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EVC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3524250" y="5443946"/>
            <a:ext cx="190501" cy="144779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37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 animBg="1"/>
      <p:bldP spid="17417" grpId="0" animBg="1"/>
      <p:bldP spid="17418" grpId="0" animBg="1"/>
      <p:bldP spid="17419" grpId="0" animBg="1"/>
      <p:bldP spid="17420" grpId="0" animBg="1"/>
      <p:bldP spid="17421" grpId="0" animBg="1"/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Calculating economic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126" y="3588142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562713"/>
            <a:ext cx="2021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Steps Involved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1530878" y="2449527"/>
            <a:ext cx="5083969" cy="76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Identify the cost of the competitive product or best available substitute process (i.e., the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benchmark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or reference value)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1530878" y="3252449"/>
            <a:ext cx="5083969" cy="76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Identify all factors that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differentiate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the new product from the reference product or substitute process (+ or - , objective or subjective)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530879" y="4031313"/>
            <a:ext cx="5083969" cy="53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Determine the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economic value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to the customer of the </a:t>
            </a:r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differentiating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factors</a:t>
            </a:r>
          </a:p>
        </p:txBody>
      </p: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1530879" y="4822206"/>
            <a:ext cx="5083969" cy="53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the reference value and the differentiation value to determine the total economic value to the customer</a:t>
            </a:r>
          </a:p>
        </p:txBody>
      </p:sp>
      <p:sp>
        <p:nvSpPr>
          <p:cNvPr id="31" name="Text Placeholder 1"/>
          <p:cNvSpPr txBox="1">
            <a:spLocks/>
          </p:cNvSpPr>
          <p:nvPr/>
        </p:nvSpPr>
        <p:spPr>
          <a:xfrm>
            <a:off x="987214" y="4082114"/>
            <a:ext cx="403384" cy="403384"/>
          </a:xfrm>
          <a:prstGeom prst="ellipse">
            <a:avLst/>
          </a:prstGeom>
          <a:solidFill>
            <a:srgbClr val="009BC8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2" name="Text Placeholder 2"/>
          <p:cNvSpPr txBox="1">
            <a:spLocks/>
          </p:cNvSpPr>
          <p:nvPr/>
        </p:nvSpPr>
        <p:spPr>
          <a:xfrm>
            <a:off x="987214" y="3291221"/>
            <a:ext cx="403384" cy="403384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ext Placeholder 3"/>
          <p:cNvSpPr txBox="1">
            <a:spLocks/>
          </p:cNvSpPr>
          <p:nvPr/>
        </p:nvSpPr>
        <p:spPr>
          <a:xfrm>
            <a:off x="987214" y="2500328"/>
            <a:ext cx="403384" cy="403384"/>
          </a:xfrm>
          <a:prstGeom prst="ellipse">
            <a:avLst/>
          </a:prstGeom>
          <a:solidFill>
            <a:srgbClr val="CD9A33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4" name="Text Placeholder 1"/>
          <p:cNvSpPr txBox="1">
            <a:spLocks/>
          </p:cNvSpPr>
          <p:nvPr/>
        </p:nvSpPr>
        <p:spPr>
          <a:xfrm>
            <a:off x="987214" y="4873007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063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bs.twimg.com/profile_images/1465141530/KONE_Logo-600sq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0" t="24000" r="800" b="26400"/>
          <a:stretch/>
        </p:blipFill>
        <p:spPr bwMode="auto">
          <a:xfrm>
            <a:off x="1371600" y="1795272"/>
            <a:ext cx="2857500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3352800"/>
            <a:ext cx="4645152" cy="20574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Now we have an EVC framework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How can we use EVC to conduct basic analytics for a new venture?</a:t>
            </a:r>
          </a:p>
        </p:txBody>
      </p:sp>
      <p:pic>
        <p:nvPicPr>
          <p:cNvPr id="6" name="Picture 2" descr="http://img.medicalexpo.com/pdf/repository_me/78068/kone-monospace-500-design-collection-88053_1b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28800"/>
            <a:ext cx="307388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An EVC case study</a:t>
            </a:r>
            <a:br>
              <a:rPr lang="en-US" i="1" dirty="0"/>
            </a:br>
            <a:r>
              <a:rPr lang="en-US" sz="3600" dirty="0" err="1"/>
              <a:t>Kone</a:t>
            </a:r>
            <a:r>
              <a:rPr lang="en-US" sz="3600" dirty="0"/>
              <a:t> - The Monospace Launch</a:t>
            </a:r>
          </a:p>
        </p:txBody>
      </p:sp>
    </p:spTree>
    <p:extLst>
      <p:ext uri="{BB962C8B-B14F-4D97-AF65-F5344CB8AC3E}">
        <p14:creationId xmlns:p14="http://schemas.microsoft.com/office/powerpoint/2010/main" val="3745007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An EVC case study</a:t>
            </a:r>
            <a:br>
              <a:rPr lang="en-US" sz="4400" i="1" dirty="0"/>
            </a:br>
            <a:r>
              <a:rPr lang="en-US" sz="3600" dirty="0" err="1"/>
              <a:t>Kone</a:t>
            </a:r>
            <a:r>
              <a:rPr lang="en-US" sz="3600" dirty="0"/>
              <a:t> - The Monospace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en-US" dirty="0"/>
              <a:t>New Ecologically-friendly elevator</a:t>
            </a:r>
          </a:p>
          <a:p>
            <a:pPr lvl="1"/>
            <a:r>
              <a:rPr lang="en-US" sz="2000" dirty="0"/>
              <a:t>Uses less oil and energy (</a:t>
            </a:r>
            <a:r>
              <a:rPr lang="en-US" sz="2000" dirty="0" err="1">
                <a:solidFill>
                  <a:srgbClr val="FF0000"/>
                </a:solidFill>
              </a:rPr>
              <a:t>Ecodisc</a:t>
            </a:r>
            <a:r>
              <a:rPr lang="en-US" sz="2000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Doesn’t require machine room (</a:t>
            </a:r>
            <a:r>
              <a:rPr lang="en-US" sz="2000" dirty="0">
                <a:solidFill>
                  <a:srgbClr val="FF0000"/>
                </a:solidFill>
              </a:rPr>
              <a:t>Monospace</a:t>
            </a:r>
            <a:r>
              <a:rPr lang="en-US" sz="2000" dirty="0"/>
              <a:t>)</a:t>
            </a:r>
          </a:p>
          <a:p>
            <a:r>
              <a:rPr lang="en-US" dirty="0"/>
              <a:t>Planning launch in Eastern German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2057400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lide Number Placeholder 22"/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1875" t="27777" r="5750" b="25926"/>
          <a:stretch/>
        </p:blipFill>
        <p:spPr>
          <a:xfrm>
            <a:off x="457200" y="3657600"/>
            <a:ext cx="7083552" cy="2548774"/>
          </a:xfrm>
          <a:prstGeom prst="rect">
            <a:avLst/>
          </a:prstGeom>
        </p:spPr>
      </p:pic>
      <p:pic>
        <p:nvPicPr>
          <p:cNvPr id="1026" name="Picture 2" descr="Kone MonoSpace | Elevator Wiki | Fando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5" b="22413"/>
          <a:stretch/>
        </p:blipFill>
        <p:spPr bwMode="auto">
          <a:xfrm>
            <a:off x="6172200" y="1600200"/>
            <a:ext cx="1695450" cy="145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000" y="6562798"/>
            <a:ext cx="1601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See short PDF of Canvas</a:t>
            </a:r>
          </a:p>
        </p:txBody>
      </p:sp>
    </p:spTree>
    <p:extLst>
      <p:ext uri="{BB962C8B-B14F-4D97-AF65-F5344CB8AC3E}">
        <p14:creationId xmlns:p14="http://schemas.microsoft.com/office/powerpoint/2010/main" val="339319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An EVC case study</a:t>
            </a:r>
            <a:br>
              <a:rPr lang="en-US" i="1" dirty="0"/>
            </a:br>
            <a:r>
              <a:rPr lang="en-US" sz="3600" dirty="0" err="1"/>
              <a:t>Kone</a:t>
            </a:r>
            <a:r>
              <a:rPr lang="en-US" sz="3600" dirty="0"/>
              <a:t> - The Monospace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11,500 prospective properties identified</a:t>
            </a:r>
          </a:p>
          <a:p>
            <a:pPr>
              <a:spcAft>
                <a:spcPts val="1200"/>
              </a:spcAft>
            </a:pPr>
            <a:r>
              <a:rPr lang="en-US" dirty="0"/>
              <a:t>Classified into 3 segments (based on reference products)</a:t>
            </a:r>
          </a:p>
          <a:p>
            <a:pPr marL="823913" lvl="1" indent="-457200">
              <a:buSzPct val="90000"/>
              <a:buFont typeface="+mj-lt"/>
              <a:buAutoNum type="arabicPeriod"/>
            </a:pPr>
            <a:r>
              <a:rPr lang="en-US" sz="2000" dirty="0"/>
              <a:t>Hydraulic elevators with machine room on first floor</a:t>
            </a:r>
          </a:p>
          <a:p>
            <a:pPr marL="1098550" lvl="2" indent="-457200">
              <a:spcAft>
                <a:spcPts val="1200"/>
              </a:spcAft>
            </a:pPr>
            <a:r>
              <a:rPr lang="en-US" sz="2000" dirty="0"/>
              <a:t>6,900 planned</a:t>
            </a:r>
          </a:p>
          <a:p>
            <a:pPr marL="823913" lvl="1" indent="-457200">
              <a:spcBef>
                <a:spcPts val="1200"/>
              </a:spcBef>
              <a:buSzPct val="90000"/>
              <a:buFont typeface="+mj-lt"/>
              <a:buAutoNum type="arabicPeriod"/>
            </a:pPr>
            <a:r>
              <a:rPr lang="en-US" sz="2000" dirty="0"/>
              <a:t>Geared elevators with machine room below shaft</a:t>
            </a:r>
          </a:p>
          <a:p>
            <a:pPr marL="1098550" lvl="2" indent="-457200">
              <a:spcAft>
                <a:spcPts val="1200"/>
              </a:spcAft>
            </a:pPr>
            <a:r>
              <a:rPr lang="en-US" sz="2000" dirty="0"/>
              <a:t>1,495 planned</a:t>
            </a:r>
          </a:p>
          <a:p>
            <a:pPr marL="823913" lvl="1" indent="-457200">
              <a:spcBef>
                <a:spcPts val="1200"/>
              </a:spcBef>
              <a:buSzPct val="90000"/>
              <a:buFont typeface="+mj-lt"/>
              <a:buAutoNum type="arabicPeriod"/>
            </a:pPr>
            <a:r>
              <a:rPr lang="en-US" sz="2000" dirty="0"/>
              <a:t>Geared elevators with machine room above shaft</a:t>
            </a:r>
          </a:p>
          <a:p>
            <a:pPr marL="1098550" lvl="2" indent="-457200">
              <a:spcBef>
                <a:spcPts val="1200"/>
              </a:spcBef>
            </a:pPr>
            <a:r>
              <a:rPr lang="en-US" sz="2000" dirty="0"/>
              <a:t>3,105 planned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1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An EVC case study</a:t>
            </a:r>
            <a:br>
              <a:rPr lang="en-US" i="1" dirty="0"/>
            </a:br>
            <a:r>
              <a:rPr lang="en-US" sz="3600" dirty="0" err="1"/>
              <a:t>Kone</a:t>
            </a:r>
            <a:r>
              <a:rPr lang="en-US" sz="3600" dirty="0"/>
              <a:t> - The Monospace Launch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1346124"/>
              </p:ext>
            </p:extLst>
          </p:nvPr>
        </p:nvGraphicFramePr>
        <p:xfrm>
          <a:off x="304800" y="1600200"/>
          <a:ext cx="84613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Segment 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Segment 2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Segment 3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Reference Value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j-lt"/>
                        </a:rPr>
                        <a:t>   Reference Product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Hyrdaulic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1st floor (PH)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Geared</a:t>
                      </a:r>
                    </a:p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top shaft (PT)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Geared</a:t>
                      </a:r>
                    </a:p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bottom shaft (PU)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RV: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of Ref. Product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645880"/>
              </p:ext>
            </p:extLst>
          </p:nvPr>
        </p:nvGraphicFramePr>
        <p:xfrm>
          <a:off x="304800" y="3429000"/>
          <a:ext cx="84613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Differentiation value (10yrs)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Machine room savings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18,750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Energy consumption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42,000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Oil requirements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1,000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Fuses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15,400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7,400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7,400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019639"/>
              </p:ext>
            </p:extLst>
          </p:nvPr>
        </p:nvGraphicFramePr>
        <p:xfrm>
          <a:off x="304800" y="5257800"/>
          <a:ext cx="84613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DV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(DM)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82,400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47,150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48,400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24899"/>
              </p:ext>
            </p:extLst>
          </p:nvPr>
        </p:nvGraphicFramePr>
        <p:xfrm>
          <a:off x="304800" y="5638800"/>
          <a:ext cx="84613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EVC = DV + RV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142,400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122,150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128,400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83103"/>
              </p:ext>
            </p:extLst>
          </p:nvPr>
        </p:nvGraphicFramePr>
        <p:xfrm>
          <a:off x="304800" y="6019800"/>
          <a:ext cx="84613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Market size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6,900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1,495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3,105</a:t>
                      </a: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3276600" y="5257800"/>
            <a:ext cx="152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81600" y="5257800"/>
            <a:ext cx="152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010400" y="5257800"/>
            <a:ext cx="152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124200" y="3124200"/>
            <a:ext cx="5562600" cy="30480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39440" y="5257800"/>
            <a:ext cx="5562600" cy="30480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0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8" r="38549" b="36758"/>
          <a:stretch/>
        </p:blipFill>
        <p:spPr bwMode="auto">
          <a:xfrm>
            <a:off x="228600" y="1559416"/>
            <a:ext cx="5394840" cy="472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30506" y="2286000"/>
            <a:ext cx="1889571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30508" y="3919840"/>
            <a:ext cx="82277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540167" y="4775710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3363" y="228600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4249" y="3928182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6020" y="477571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2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An EVC case study</a:t>
            </a:r>
            <a:br>
              <a:rPr lang="en-US" i="1" dirty="0"/>
            </a:br>
            <a:r>
              <a:rPr lang="en-US" sz="3600" dirty="0" err="1"/>
              <a:t>Kone</a:t>
            </a:r>
            <a:r>
              <a:rPr lang="en-US" sz="3600" dirty="0"/>
              <a:t> - The Monospace Launch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5659654" y="1676400"/>
            <a:ext cx="539846" cy="3429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2371" y="2698402"/>
            <a:ext cx="269922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EVC </a:t>
            </a:r>
            <a:r>
              <a:rPr lang="en-US" b="1" dirty="0">
                <a:solidFill>
                  <a:srgbClr val="FF0000"/>
                </a:solidFill>
                <a:latin typeface="Cambria Math"/>
                <a:ea typeface="Cambria Math"/>
              </a:rPr>
              <a:t>&amp; </a:t>
            </a:r>
            <a:r>
              <a:rPr lang="en-US" b="1" dirty="0">
                <a:solidFill>
                  <a:srgbClr val="FF0000"/>
                </a:solidFill>
              </a:rPr>
              <a:t>crude data 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FF0000"/>
                </a:solidFill>
              </a:rPr>
              <a:t>preliminary analytics on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Objective 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en-US" sz="1400" dirty="0">
                <a:solidFill>
                  <a:srgbClr val="FF0000"/>
                </a:solidFill>
              </a:rPr>
              <a:t> to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pricing power</a:t>
            </a:r>
            <a:r>
              <a:rPr lang="en-US" sz="1400" dirty="0">
                <a:solidFill>
                  <a:srgbClr val="FF0000"/>
                </a:solidFill>
              </a:rPr>
              <a:t> by segment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420077" y="2362200"/>
            <a:ext cx="0" cy="2651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6" idx="3"/>
          </p:cNvCxnSpPr>
          <p:nvPr/>
        </p:nvCxnSpPr>
        <p:spPr>
          <a:xfrm flipV="1">
            <a:off x="2353278" y="3996040"/>
            <a:ext cx="0" cy="1033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1883994" y="4846320"/>
            <a:ext cx="0" cy="182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49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D171-4F2D-402B-A5B0-32E6737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EVC case study</a:t>
            </a:r>
            <a:br>
              <a:rPr lang="en-US" sz="4000" dirty="0"/>
            </a:br>
            <a:r>
              <a:rPr lang="en-US" sz="4000" dirty="0">
                <a:highlight>
                  <a:srgbClr val="FFFF00"/>
                </a:highlight>
              </a:rPr>
              <a:t>B2B tech buyers WANT price transparency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7C145E-C46C-4A2E-B4FB-965E9EF07D2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468290" y="1600200"/>
            <a:ext cx="4442369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EF2D5-F602-4791-B7EC-D049E6FB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41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2364706" y="3143523"/>
            <a:ext cx="1600200" cy="2554545"/>
          </a:xfrm>
          <a:prstGeom prst="rect">
            <a:avLst/>
          </a:prstGeom>
          <a:solidFill>
            <a:srgbClr val="C0C0C0"/>
          </a:solidFill>
          <a:ln w="12700">
            <a:noFill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What </a:t>
            </a:r>
            <a:r>
              <a:rPr lang="en-US" sz="1400" b="1" dirty="0" err="1">
                <a:latin typeface="Arial" pitchFamily="34" charset="0"/>
              </a:rPr>
              <a:t>Kone</a:t>
            </a:r>
            <a:r>
              <a:rPr lang="en-US" sz="1400" b="1" dirty="0">
                <a:latin typeface="Arial" pitchFamily="34" charset="0"/>
              </a:rPr>
              <a:t> can charge</a:t>
            </a:r>
          </a:p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Kone</a:t>
            </a:r>
            <a:r>
              <a:rPr lang="en-US" sz="4000" dirty="0"/>
              <a:t>: Decomposing the Value</a:t>
            </a:r>
            <a:br>
              <a:rPr lang="en-US" sz="4000" dirty="0"/>
            </a:br>
            <a:r>
              <a:rPr lang="en-US" sz="3200" dirty="0"/>
              <a:t>example: segment 1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595811" y="2183356"/>
            <a:ext cx="319789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itchFamily="34" charset="0"/>
              </a:rPr>
              <a:t>   </a:t>
            </a:r>
            <a:r>
              <a:rPr lang="en-US" sz="1600" b="1" dirty="0" err="1">
                <a:latin typeface="Arial" pitchFamily="34" charset="0"/>
              </a:rPr>
              <a:t>Kone</a:t>
            </a:r>
            <a:r>
              <a:rPr lang="en-US" sz="1400" b="1" dirty="0">
                <a:latin typeface="Arial" pitchFamily="34" charset="0"/>
              </a:rPr>
              <a:t>		     </a:t>
            </a:r>
            <a:r>
              <a:rPr lang="en-US" sz="1600" b="1" dirty="0">
                <a:latin typeface="Arial" pitchFamily="34" charset="0"/>
              </a:rPr>
              <a:t>Hydraulic</a:t>
            </a:r>
            <a:endParaRPr lang="en-US" sz="1400" b="1" dirty="0">
              <a:latin typeface="Arial" pitchFamily="34" charset="0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422106" y="2783541"/>
            <a:ext cx="1597695" cy="638636"/>
          </a:xfrm>
          <a:prstGeom prst="rect">
            <a:avLst/>
          </a:prstGeom>
          <a:solidFill>
            <a:srgbClr val="CCFFFF"/>
          </a:solidFill>
          <a:ln w="12700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>
              <a:spcBef>
                <a:spcPct val="50000"/>
              </a:spcBef>
            </a:pPr>
            <a:endParaRPr lang="en-US" sz="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Machine Rm.</a:t>
            </a:r>
          </a:p>
          <a:p>
            <a:pPr>
              <a:spcBef>
                <a:spcPct val="50000"/>
              </a:spcBef>
            </a:pPr>
            <a:endParaRPr lang="en-US" sz="600" b="1" dirty="0">
              <a:latin typeface="Arial" pitchFamily="34" charset="0"/>
            </a:endParaRP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2343262" y="2847217"/>
            <a:ext cx="160020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Energy/oil/fuses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4422106" y="3437747"/>
            <a:ext cx="1597695" cy="6309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Energy/oil/fuses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4422106" y="4404663"/>
            <a:ext cx="1597695" cy="1277273"/>
          </a:xfrm>
          <a:prstGeom prst="rect">
            <a:avLst/>
          </a:prstGeom>
          <a:solidFill>
            <a:srgbClr val="C0C0C0"/>
          </a:solidFill>
          <a:ln w="12700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>
              <a:spcBef>
                <a:spcPct val="50000"/>
              </a:spcBef>
            </a:pPr>
            <a:endParaRPr lang="en-US" sz="300" b="1" dirty="0">
              <a:latin typeface="Arial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Price of Hydraulic</a:t>
            </a:r>
          </a:p>
          <a:p>
            <a:pPr algn="ctr">
              <a:spcBef>
                <a:spcPct val="50000"/>
              </a:spcBef>
            </a:pPr>
            <a:endParaRPr lang="en-US" sz="1400" b="1" dirty="0">
              <a:latin typeface="Arial" pitchFamily="34" charset="0"/>
            </a:endParaRPr>
          </a:p>
          <a:p>
            <a:pPr algn="ctr">
              <a:spcBef>
                <a:spcPct val="50000"/>
              </a:spcBef>
            </a:pPr>
            <a:endParaRPr lang="en-US" sz="1200" b="1" dirty="0">
              <a:latin typeface="Arial" pitchFamily="34" charset="0"/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2364706" y="2792955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2364706" y="2792955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3964906" y="2792955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4422106" y="2792956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4422106" y="2792956"/>
            <a:ext cx="159769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6019801" y="2792956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>
            <a:off x="2364706" y="3135727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>
            <a:off x="4422106" y="3402556"/>
            <a:ext cx="159769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>
            <a:off x="4422106" y="4403018"/>
            <a:ext cx="159769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 flipV="1">
            <a:off x="2138611" y="1878556"/>
            <a:ext cx="0" cy="3810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8" name="Line 30"/>
          <p:cNvSpPr>
            <a:spLocks noChangeShapeType="1"/>
          </p:cNvSpPr>
          <p:nvPr/>
        </p:nvSpPr>
        <p:spPr bwMode="auto">
          <a:xfrm>
            <a:off x="2138611" y="5688556"/>
            <a:ext cx="5102896" cy="95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9" name="Text Box 31"/>
          <p:cNvSpPr txBox="1">
            <a:spLocks noChangeArrowheads="1"/>
          </p:cNvSpPr>
          <p:nvPr/>
        </p:nvSpPr>
        <p:spPr bwMode="auto">
          <a:xfrm>
            <a:off x="3145571" y="5919503"/>
            <a:ext cx="26670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latin typeface="Arial" pitchFamily="34" charset="0"/>
              </a:rPr>
              <a:t>    </a:t>
            </a:r>
            <a:r>
              <a:rPr lang="en-US" sz="1600" b="1" dirty="0">
                <a:latin typeface="Arial" pitchFamily="34" charset="0"/>
              </a:rPr>
              <a:t>Options Available</a:t>
            </a:r>
            <a:endParaRPr lang="en-US" sz="1400" b="1" dirty="0">
              <a:latin typeface="Arial" pitchFamily="34" charset="0"/>
            </a:endParaRPr>
          </a:p>
        </p:txBody>
      </p:sp>
      <p:sp>
        <p:nvSpPr>
          <p:cNvPr id="27680" name="Text Box 32"/>
          <p:cNvSpPr txBox="1">
            <a:spLocks noChangeArrowheads="1"/>
          </p:cNvSpPr>
          <p:nvPr/>
        </p:nvSpPr>
        <p:spPr bwMode="auto">
          <a:xfrm rot="10798709">
            <a:off x="1450807" y="2411956"/>
            <a:ext cx="677108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latin typeface="Arial" pitchFamily="34" charset="0"/>
              </a:rPr>
              <a:t>Economic Value to developer/property </a:t>
            </a:r>
            <a:r>
              <a:rPr lang="en-US" sz="1600" b="1" dirty="0" err="1">
                <a:latin typeface="Arial" pitchFamily="34" charset="0"/>
              </a:rPr>
              <a:t>mgr</a:t>
            </a:r>
            <a:endParaRPr lang="en-US" sz="1600" b="1" dirty="0">
              <a:latin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3" name="Right Brace 22"/>
          <p:cNvSpPr/>
          <p:nvPr/>
        </p:nvSpPr>
        <p:spPr>
          <a:xfrm>
            <a:off x="6324600" y="2183356"/>
            <a:ext cx="539846" cy="3429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864446" y="3154994"/>
            <a:ext cx="2110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Customer insight</a:t>
            </a:r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Sales Material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 rot="16200000">
            <a:off x="3895463" y="3340804"/>
            <a:ext cx="580704" cy="228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3996568" y="3135727"/>
            <a:ext cx="42553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996568" y="4403018"/>
            <a:ext cx="42553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 rot="5400000">
            <a:off x="3871546" y="3945425"/>
            <a:ext cx="628538" cy="228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8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EVC as an analytic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Kone</a:t>
            </a:r>
            <a:r>
              <a:rPr lang="en-US" dirty="0"/>
              <a:t> conducted EVC “by hand:” </a:t>
            </a:r>
            <a:r>
              <a:rPr lang="en-US" i="1" dirty="0"/>
              <a:t>case study approach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EVC case studies more practical in B2B settings, like industrial supply, with small number of measurable performance attributes</a:t>
            </a:r>
          </a:p>
          <a:p>
            <a:pPr>
              <a:spcBef>
                <a:spcPts val="1200"/>
              </a:spcBef>
            </a:pPr>
            <a:r>
              <a:rPr lang="en-US" dirty="0"/>
              <a:t>Consumer goods: product features/benefits often intangible</a:t>
            </a:r>
          </a:p>
          <a:p>
            <a:pPr lvl="1"/>
            <a:r>
              <a:rPr lang="en-US" dirty="0"/>
              <a:t>Brand/reputation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Service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B2C industries: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Conjoint Analysis</a:t>
            </a:r>
            <a:r>
              <a:rPr lang="en-US" dirty="0"/>
              <a:t> is an approach used to measure the differentiation value (also used in services industries)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See </a:t>
            </a:r>
            <a:r>
              <a:rPr lang="en-US" u="sng" dirty="0"/>
              <a:t>extra</a:t>
            </a:r>
            <a:r>
              <a:rPr lang="en-US" dirty="0"/>
              <a:t> slides &amp; lecture on conjoint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4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Coordinating the 4Ps to create EVC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marketing in a nutshell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Marketers use the 4 Ps to create, manage &amp; </a:t>
            </a:r>
            <a:r>
              <a:rPr lang="en-US" b="1" dirty="0"/>
              <a:t>monetize</a:t>
            </a:r>
            <a:r>
              <a:rPr lang="en-US" dirty="0"/>
              <a:t>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56117" y="354936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299983" y="3892268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275283" y="3549368"/>
            <a:ext cx="0" cy="9144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70517" y="3549368"/>
            <a:ext cx="1219200" cy="0"/>
          </a:xfrm>
          <a:prstGeom prst="line">
            <a:avLst/>
          </a:prstGeom>
          <a:ln w="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70517" y="4463768"/>
            <a:ext cx="1219200" cy="0"/>
          </a:xfrm>
          <a:prstGeom prst="line">
            <a:avLst/>
          </a:prstGeom>
          <a:ln w="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0807" y="3544668"/>
            <a:ext cx="1157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ricing</a:t>
            </a:r>
          </a:p>
          <a:p>
            <a:r>
              <a:rPr lang="en-US" b="1" dirty="0"/>
              <a:t>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2853035"/>
            <a:ext cx="1256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5604" y="3733800"/>
            <a:ext cx="159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639270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lace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40213" y="38481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650401">
            <a:off x="3285717" y="2969567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20215732">
            <a:off x="3340213" y="4755802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Why Every Marketing Department Needs A Data Scientist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9" t="20398" r="67450" b="34365"/>
          <a:stretch/>
        </p:blipFill>
        <p:spPr bwMode="auto">
          <a:xfrm>
            <a:off x="183082" y="3149131"/>
            <a:ext cx="1378585" cy="1511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 descr="Understanding the clean label consumer | 2018-05-15 | Food Business New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695" y="3544668"/>
            <a:ext cx="1095715" cy="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667000" y="5843885"/>
            <a:ext cx="3067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4</a:t>
            </a: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dirty="0"/>
              <a:t>s </a:t>
            </a:r>
            <a:r>
              <a:rPr lang="en-US"/>
              <a:t>to drive </a:t>
            </a:r>
            <a:r>
              <a:rPr lang="en-US" dirty="0"/>
              <a:t>WTP!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767" y="6247223"/>
            <a:ext cx="687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 Appendix for examples of 4 </a:t>
            </a: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s and value creation</a:t>
            </a:r>
          </a:p>
        </p:txBody>
      </p:sp>
    </p:spTree>
    <p:extLst>
      <p:ext uri="{BB962C8B-B14F-4D97-AF65-F5344CB8AC3E}">
        <p14:creationId xmlns:p14="http://schemas.microsoft.com/office/powerpoint/2010/main" val="316727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68BE0E-0D81-44E9-8917-C7FB25F9255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/>
          <a:p>
            <a:r>
              <a:rPr lang="en-US" sz="3600" dirty="0"/>
              <a:t>II. EVC, Demand &amp; the </a:t>
            </a:r>
            <a:r>
              <a:rPr lang="en-US" sz="3600" dirty="0" err="1"/>
              <a:t>Monetizable</a:t>
            </a:r>
            <a:r>
              <a:rPr lang="en-US" sz="3600" dirty="0"/>
              <a:t> Opportunity</a:t>
            </a:r>
          </a:p>
        </p:txBody>
      </p:sp>
      <p:pic>
        <p:nvPicPr>
          <p:cNvPr id="9" name="Picture 2" descr="Image result for dema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4" b="8333"/>
          <a:stretch/>
        </p:blipFill>
        <p:spPr bwMode="auto">
          <a:xfrm>
            <a:off x="0" y="2590800"/>
            <a:ext cx="9144000" cy="435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50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EVC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44958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So far, only defined willingness-to-pay (i.e., EVC) of a customer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Suppose unit cost for a </a:t>
            </a:r>
            <a:r>
              <a:rPr lang="en-US" dirty="0" err="1"/>
              <a:t>Kone</a:t>
            </a:r>
            <a:r>
              <a:rPr lang="en-US" dirty="0"/>
              <a:t> elevator is 65,200 DM</a:t>
            </a:r>
          </a:p>
          <a:p>
            <a:pPr>
              <a:spcBef>
                <a:spcPts val="0"/>
              </a:spcBef>
              <a:spcAft>
                <a:spcPts val="0"/>
              </a:spcAft>
              <a:buSzPct val="140000"/>
              <a:buFont typeface="Symbol MT" panose="05050102010706020507" pitchFamily="18" charset="2"/>
              <a:buChar char="Þ"/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buSzPct val="140000"/>
              <a:buFont typeface="Wingdings" panose="05000000000000000000" pitchFamily="2" charset="2"/>
              <a:buChar char="Ø"/>
            </a:pPr>
            <a:r>
              <a:rPr lang="en-US" dirty="0"/>
              <a:t>Let’s use our EVC measures to set the </a:t>
            </a:r>
            <a:r>
              <a:rPr lang="en-US" b="1" dirty="0"/>
              <a:t>Monospace list price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057400" y="4038600"/>
            <a:ext cx="5257800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Uniform Pricing</a:t>
            </a:r>
            <a:r>
              <a:rPr lang="en-US" sz="3200" b="1" dirty="0"/>
              <a:t> </a:t>
            </a:r>
            <a:r>
              <a:rPr lang="en-US" sz="3200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16574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8" r="38549" b="36758"/>
          <a:stretch/>
        </p:blipFill>
        <p:spPr bwMode="auto">
          <a:xfrm>
            <a:off x="466122" y="1559416"/>
            <a:ext cx="5394840" cy="472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68028" y="2286000"/>
            <a:ext cx="1889571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68030" y="3919840"/>
            <a:ext cx="82277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657599" y="2286000"/>
            <a:ext cx="1" cy="2829426"/>
          </a:xfrm>
          <a:prstGeom prst="line">
            <a:avLst/>
          </a:prstGeom>
          <a:ln w="25400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599050" y="3938085"/>
            <a:ext cx="8824" cy="119558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777689" y="4775710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133601" y="4775710"/>
            <a:ext cx="0" cy="33971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EVC &amp; Pricing Trade-offs</a:t>
            </a:r>
            <a:br>
              <a:rPr lang="en-US" i="1" dirty="0"/>
            </a:br>
            <a:r>
              <a:rPr lang="en-US" sz="3600" dirty="0"/>
              <a:t>Example: </a:t>
            </a:r>
            <a:r>
              <a:rPr lang="en-US" sz="3600" dirty="0" err="1"/>
              <a:t>Kone</a:t>
            </a:r>
            <a:r>
              <a:rPr lang="en-US" sz="3600" dirty="0"/>
              <a:t> Monospace Launch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20885" y="228600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31771" y="3928182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3542" y="477571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766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the pricing trade-offs?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9" y="6141883"/>
            <a:ext cx="1369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b="1" dirty="0">
                <a:latin typeface="+mj-lt"/>
              </a:rPr>
              <a:t>unit cost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dirty="0">
                <a:latin typeface="+mj-lt"/>
              </a:rPr>
              <a:t>65,200 DM</a:t>
            </a:r>
          </a:p>
        </p:txBody>
      </p:sp>
    </p:spTree>
    <p:extLst>
      <p:ext uri="{BB962C8B-B14F-4D97-AF65-F5344CB8AC3E}">
        <p14:creationId xmlns:p14="http://schemas.microsoft.com/office/powerpoint/2010/main" val="4176236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8" r="38549" b="36758"/>
          <a:stretch/>
        </p:blipFill>
        <p:spPr bwMode="auto">
          <a:xfrm>
            <a:off x="466122" y="1559416"/>
            <a:ext cx="5394840" cy="472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68028" y="2286000"/>
            <a:ext cx="1889571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68030" y="3919840"/>
            <a:ext cx="82277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657599" y="2286000"/>
            <a:ext cx="1" cy="2829426"/>
          </a:xfrm>
          <a:prstGeom prst="line">
            <a:avLst/>
          </a:prstGeom>
          <a:ln w="25400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599050" y="3938085"/>
            <a:ext cx="8824" cy="119558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777689" y="4775710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133601" y="4775710"/>
            <a:ext cx="0" cy="33971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EVC &amp; Pricing Trade-offs</a:t>
            </a:r>
            <a:br>
              <a:rPr lang="en-US" sz="4400" i="1" dirty="0"/>
            </a:br>
            <a:r>
              <a:rPr lang="en-US" sz="3600" dirty="0"/>
              <a:t>Example: </a:t>
            </a:r>
            <a:r>
              <a:rPr lang="en-US" sz="3600" dirty="0" err="1"/>
              <a:t>Kone</a:t>
            </a:r>
            <a:r>
              <a:rPr lang="en-US" sz="3600" dirty="0"/>
              <a:t> Monospace Launch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20885" y="228600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31771" y="3928182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3542" y="4775710"/>
            <a:ext cx="827315" cy="15240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Segment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39" y="6141883"/>
            <a:ext cx="1369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b="1" dirty="0">
                <a:latin typeface="+mj-lt"/>
              </a:rPr>
              <a:t>unit cost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dirty="0">
                <a:latin typeface="+mj-lt"/>
              </a:rPr>
              <a:t>65,200 DM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0962" y="3355694"/>
            <a:ext cx="2971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does a demand curve look like?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77689" y="4775710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2133601" y="4775710"/>
            <a:ext cx="0" cy="33971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49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Deriving Demand from EVC</a:t>
            </a:r>
            <a:br>
              <a:rPr lang="en-US" i="1" dirty="0"/>
            </a:br>
            <a:r>
              <a:rPr lang="en-US" sz="3600" dirty="0"/>
              <a:t>Example: </a:t>
            </a:r>
            <a:r>
              <a:rPr lang="en-US" sz="3600" dirty="0" err="1"/>
              <a:t>Kone</a:t>
            </a:r>
            <a:r>
              <a:rPr lang="en-US" sz="3600" dirty="0"/>
              <a:t> </a:t>
            </a:r>
            <a:r>
              <a:rPr lang="en-US" sz="3600" dirty="0" err="1"/>
              <a:t>Monospace</a:t>
            </a:r>
            <a:r>
              <a:rPr lang="en-US" sz="3600" dirty="0"/>
              <a:t> Launch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8" r="38549" b="36758"/>
          <a:stretch/>
        </p:blipFill>
        <p:spPr bwMode="auto">
          <a:xfrm>
            <a:off x="466122" y="1559416"/>
            <a:ext cx="5394840" cy="472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768028" y="2286000"/>
            <a:ext cx="1889571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3649013" y="2286000"/>
            <a:ext cx="8588" cy="1710040"/>
          </a:xfrm>
          <a:prstGeom prst="line">
            <a:avLst/>
          </a:prstGeom>
          <a:ln w="25400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493344" y="3919840"/>
            <a:ext cx="8824" cy="119558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77689" y="4775710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33601" y="4775710"/>
            <a:ext cx="0" cy="33971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57601" y="3919840"/>
            <a:ext cx="82277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3239" y="6141883"/>
            <a:ext cx="1369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b="1" dirty="0">
                <a:latin typeface="+mj-lt"/>
              </a:rPr>
              <a:t>unit cost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dirty="0">
                <a:latin typeface="+mj-lt"/>
              </a:rPr>
              <a:t>65,200 DM</a:t>
            </a:r>
          </a:p>
        </p:txBody>
      </p:sp>
    </p:spTree>
    <p:extLst>
      <p:ext uri="{BB962C8B-B14F-4D97-AF65-F5344CB8AC3E}">
        <p14:creationId xmlns:p14="http://schemas.microsoft.com/office/powerpoint/2010/main" val="408419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8" r="38549" b="36758"/>
          <a:stretch/>
        </p:blipFill>
        <p:spPr bwMode="auto">
          <a:xfrm>
            <a:off x="466122" y="1559416"/>
            <a:ext cx="5394840" cy="472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Deriving Demand</a:t>
            </a:r>
            <a:r>
              <a:rPr lang="en-US" dirty="0"/>
              <a:t> from EVC</a:t>
            </a:r>
            <a:br>
              <a:rPr lang="en-US" i="1" dirty="0"/>
            </a:br>
            <a:r>
              <a:rPr lang="en-US" sz="3600" dirty="0"/>
              <a:t>Example: </a:t>
            </a:r>
            <a:r>
              <a:rPr lang="en-US" sz="3600" dirty="0" err="1"/>
              <a:t>Kone</a:t>
            </a:r>
            <a:r>
              <a:rPr lang="en-US" sz="3600" dirty="0"/>
              <a:t> Monospace Launch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"/>
          </p:nvPr>
        </p:nvSpPr>
        <p:spPr>
          <a:xfrm>
            <a:off x="5791200" y="2209800"/>
            <a:ext cx="3124200" cy="17526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True Demand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3733800" y="2476281"/>
            <a:ext cx="2133600" cy="4193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019800" y="5472242"/>
            <a:ext cx="281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chemeClr val="accent1"/>
                </a:solidFill>
              </a:rPr>
              <a:t>EVC approximation of demand</a:t>
            </a:r>
            <a:endParaRPr lang="en-US" sz="2800" dirty="0">
              <a:solidFill>
                <a:schemeClr val="accent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680124" y="4955273"/>
            <a:ext cx="1416952" cy="77232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68028" y="2286000"/>
            <a:ext cx="1889571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3649013" y="2286000"/>
            <a:ext cx="8588" cy="1710040"/>
          </a:xfrm>
          <a:prstGeom prst="line">
            <a:avLst/>
          </a:prstGeom>
          <a:ln w="25400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02168" y="4775278"/>
            <a:ext cx="3559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4862302" y="4785415"/>
            <a:ext cx="0" cy="33971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/>
          <p:cNvSpPr/>
          <p:nvPr/>
        </p:nvSpPr>
        <p:spPr>
          <a:xfrm rot="11030122">
            <a:off x="3651753" y="-446782"/>
            <a:ext cx="6304593" cy="5851101"/>
          </a:xfrm>
          <a:prstGeom prst="arc">
            <a:avLst>
              <a:gd name="adj1" fmla="val 17722360"/>
              <a:gd name="adj2" fmla="val 124052"/>
            </a:avLst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657601" y="3919840"/>
            <a:ext cx="82277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endCxn id="25" idx="1"/>
          </p:cNvCxnSpPr>
          <p:nvPr/>
        </p:nvCxnSpPr>
        <p:spPr>
          <a:xfrm>
            <a:off x="4502168" y="3919840"/>
            <a:ext cx="0" cy="931638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3239" y="6141883"/>
            <a:ext cx="1369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b="1" dirty="0">
                <a:latin typeface="+mj-lt"/>
              </a:rPr>
              <a:t>unit cost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60000"/>
            </a:pPr>
            <a:r>
              <a:rPr lang="en-US" sz="2000" dirty="0">
                <a:latin typeface="+mj-lt"/>
              </a:rPr>
              <a:t>65,200 DM</a:t>
            </a:r>
          </a:p>
        </p:txBody>
      </p:sp>
    </p:spTree>
    <p:extLst>
      <p:ext uri="{BB962C8B-B14F-4D97-AF65-F5344CB8AC3E}">
        <p14:creationId xmlns:p14="http://schemas.microsoft.com/office/powerpoint/2010/main" val="53624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590800"/>
            <a:ext cx="9144000" cy="426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Demand and Optimal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E63171-6165-4521-AF02-4134732E7C5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11266" name="Picture 2" descr="Image result for &quot;optimized pric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27325"/>
            <a:ext cx="4953000" cy="411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55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2362200" y="3045590"/>
                <a:ext cx="4495800" cy="68580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nor/>
                            </m:rPr>
                            <a:rPr lang="en-US" sz="3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60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</a:rPr>
                            <m:t>−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3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</a:rPr>
                        <m:t>Q</m:t>
                      </m:r>
                      <m:d>
                        <m:d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  <a:latin typeface="Baskerville Old Face" panose="02020602080505020303" pitchFamily="18" charset="0"/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045590"/>
                <a:ext cx="4495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The Pricing Decision</a:t>
            </a:r>
            <a:br>
              <a:rPr lang="en-US" sz="4400" dirty="0"/>
            </a:br>
            <a:r>
              <a:rPr lang="en-US" sz="3600" dirty="0">
                <a:solidFill>
                  <a:srgbClr val="00B0F0"/>
                </a:solidFill>
              </a:rPr>
              <a:t>Setting the Profit-Maximizing Price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524500" y="3678932"/>
            <a:ext cx="1524000" cy="12845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19800" y="4963514"/>
                <a:ext cx="2057400" cy="908864"/>
              </a:xfrm>
              <a:prstGeom prst="flowChartTerminator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This is the </a:t>
                </a:r>
                <a:r>
                  <a:rPr lang="en-US" sz="1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demand</a:t>
                </a:r>
                <a:r>
                  <a:rPr lang="en-US" sz="1200" dirty="0">
                    <a:solidFill>
                      <a:srgbClr val="FF0000"/>
                    </a:solidFill>
                  </a:rPr>
                  <a:t> relationship between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963514"/>
                <a:ext cx="2057400" cy="908864"/>
              </a:xfrm>
              <a:prstGeom prst="flowChartTerminator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/>
          <p:cNvSpPr/>
          <p:nvPr/>
        </p:nvSpPr>
        <p:spPr>
          <a:xfrm rot="16200000">
            <a:off x="5507597" y="3222285"/>
            <a:ext cx="45720" cy="85011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053320" y="3733801"/>
            <a:ext cx="137680" cy="18595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76600" y="5593307"/>
            <a:ext cx="1553440" cy="649188"/>
          </a:xfrm>
          <a:prstGeom prst="flowChartTerminator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This is the marginal (i.e., unit) 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</a:p>
        </p:txBody>
      </p:sp>
      <p:sp>
        <p:nvSpPr>
          <p:cNvPr id="23" name="Left Brace 22"/>
          <p:cNvSpPr/>
          <p:nvPr/>
        </p:nvSpPr>
        <p:spPr>
          <a:xfrm>
            <a:off x="2684691" y="4232392"/>
            <a:ext cx="182418" cy="180099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4800" y="4902058"/>
            <a:ext cx="2336018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These are the </a:t>
            </a:r>
            <a:r>
              <a:rPr lang="en-US" sz="1400" b="1" dirty="0">
                <a:solidFill>
                  <a:srgbClr val="FF0000"/>
                </a:solidFill>
              </a:rPr>
              <a:t>data</a:t>
            </a:r>
            <a:r>
              <a:rPr lang="en-US" sz="1400" dirty="0">
                <a:solidFill>
                  <a:srgbClr val="FF0000"/>
                </a:solidFill>
              </a:rPr>
              <a:t> and </a:t>
            </a:r>
            <a:r>
              <a:rPr lang="en-US" sz="1400" b="1" dirty="0">
                <a:solidFill>
                  <a:srgbClr val="FF0000"/>
                </a:solidFill>
              </a:rPr>
              <a:t>quantitative measurements </a:t>
            </a:r>
            <a:r>
              <a:rPr lang="en-US" sz="1400" dirty="0">
                <a:solidFill>
                  <a:srgbClr val="FF0000"/>
                </a:solidFill>
              </a:rPr>
              <a:t>you need for pricing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190647"/>
              </a:xfrm>
            </p:spPr>
            <p:txBody>
              <a:bodyPr/>
              <a:lstStyle/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rgbClr val="00B0F0"/>
                    </a:solidFill>
                  </a:rPr>
                  <a:t>Business Objective</a:t>
                </a:r>
                <a:endParaRPr lang="en-US" sz="2800" b="1" dirty="0">
                  <a:solidFill>
                    <a:srgbClr val="00B0F0"/>
                  </a:solidFill>
                </a:endParaRP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800" dirty="0"/>
                  <a:t> Set price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sz="28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to maximize variable profit: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190647"/>
              </a:xfrm>
              <a:blipFill>
                <a:blip r:embed="rId4"/>
                <a:stretch>
                  <a:fillRect l="-1945" t="-6154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e 12"/>
          <p:cNvSpPr/>
          <p:nvPr/>
        </p:nvSpPr>
        <p:spPr>
          <a:xfrm rot="16200000">
            <a:off x="4168141" y="3561627"/>
            <a:ext cx="45719" cy="18135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6319816"/>
            <a:ext cx="701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200" u="sng" dirty="0"/>
              <a:t>Note</a:t>
            </a:r>
            <a:r>
              <a:rPr lang="en-US" sz="1200" dirty="0"/>
              <a:t>: some firms claim to maximize share. Does that objective make sense?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US" sz="1200" dirty="0"/>
              <a:t>see “New Model: At Ford Motor, High Volume Takes Backseat to Profits” </a:t>
            </a:r>
            <a:r>
              <a:rPr lang="en-US" sz="1200" i="1" dirty="0"/>
              <a:t>WSJ</a:t>
            </a:r>
            <a:r>
              <a:rPr lang="en-US" sz="1200" dirty="0"/>
              <a:t>, May 2004.</a:t>
            </a:r>
          </a:p>
        </p:txBody>
      </p:sp>
    </p:spTree>
    <p:extLst>
      <p:ext uri="{BB962C8B-B14F-4D97-AF65-F5344CB8AC3E}">
        <p14:creationId xmlns:p14="http://schemas.microsoft.com/office/powerpoint/2010/main" val="34810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Kone</a:t>
            </a:r>
            <a:r>
              <a:rPr lang="en-US" sz="4400" dirty="0"/>
              <a:t> Pricing Decision</a:t>
            </a:r>
            <a:endParaRPr lang="en-US" sz="3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77" name="Line 17"/>
          <p:cNvSpPr>
            <a:spLocks noChangeShapeType="1"/>
          </p:cNvSpPr>
          <p:nvPr/>
        </p:nvSpPr>
        <p:spPr bwMode="auto">
          <a:xfrm>
            <a:off x="1845220" y="5219065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Text Box 18"/>
          <p:cNvSpPr txBox="1">
            <a:spLocks noChangeArrowheads="1"/>
          </p:cNvSpPr>
          <p:nvPr/>
        </p:nvSpPr>
        <p:spPr bwMode="auto">
          <a:xfrm>
            <a:off x="6482307" y="5200015"/>
            <a:ext cx="86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Quantity</a:t>
            </a:r>
            <a:endParaRPr lang="en-US" altLang="en-US" b="1" u="sng"/>
          </a:p>
        </p:txBody>
      </p:sp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1162050" y="1598613"/>
            <a:ext cx="579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Price</a:t>
            </a:r>
            <a:endParaRPr lang="en-US" altLang="en-US" b="1" u="sng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Box 20"/>
              <p:cNvSpPr txBox="1">
                <a:spLocks noChangeArrowheads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en-US" sz="1600" dirty="0"/>
                  <a:t>=DM 142,400</a:t>
                </a:r>
              </a:p>
            </p:txBody>
          </p:sp>
        </mc:Choice>
        <mc:Fallback xmlns="">
          <p:sp>
            <p:nvSpPr>
              <p:cNvPr id="8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blipFill>
                <a:blip r:embed="rId2"/>
                <a:stretch>
                  <a:fillRect t="-5357" r="-1901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 Box 21"/>
          <p:cNvSpPr txBox="1">
            <a:spLocks noChangeArrowheads="1"/>
          </p:cNvSpPr>
          <p:nvPr/>
        </p:nvSpPr>
        <p:spPr bwMode="auto">
          <a:xfrm>
            <a:off x="2489171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Box 23"/>
              <p:cNvSpPr txBox="1">
                <a:spLocks noChangeArrowheads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128,400</a:t>
                </a:r>
              </a:p>
            </p:txBody>
          </p:sp>
        </mc:Choice>
        <mc:Fallback xmlns="">
          <p:sp>
            <p:nvSpPr>
              <p:cNvPr id="82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blipFill>
                <a:blip r:embed="rId3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Box 24"/>
              <p:cNvSpPr txBox="1">
                <a:spLocks noChangeArrowheads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122,150</a:t>
                </a:r>
              </a:p>
            </p:txBody>
          </p:sp>
        </mc:Choice>
        <mc:Fallback xmlns="">
          <p:sp>
            <p:nvSpPr>
              <p:cNvPr id="83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4360573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3</a:t>
            </a:r>
            <a:endParaRPr lang="en-US" altLang="en-US" sz="1600" b="1" u="sng" dirty="0"/>
          </a:p>
        </p:txBody>
      </p:sp>
      <p:sp>
        <p:nvSpPr>
          <p:cNvPr id="85" name="Text Box 26"/>
          <p:cNvSpPr txBox="1">
            <a:spLocks noChangeArrowheads="1"/>
          </p:cNvSpPr>
          <p:nvPr/>
        </p:nvSpPr>
        <p:spPr bwMode="auto">
          <a:xfrm>
            <a:off x="5576569" y="5217796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2</a:t>
            </a:r>
            <a:endParaRPr lang="en-US" altLang="en-US" sz="1600" b="1" u="sng" dirty="0"/>
          </a:p>
        </p:txBody>
      </p:sp>
      <p:sp>
        <p:nvSpPr>
          <p:cNvPr id="86" name="TextBox 13"/>
          <p:cNvSpPr txBox="1">
            <a:spLocks noChangeArrowheads="1"/>
          </p:cNvSpPr>
          <p:nvPr/>
        </p:nvSpPr>
        <p:spPr bwMode="auto">
          <a:xfrm>
            <a:off x="7268232" y="4695821"/>
            <a:ext cx="139493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dirty="0"/>
              <a:t>unit cost=DM 65,200</a:t>
            </a:r>
          </a:p>
        </p:txBody>
      </p:sp>
      <p:cxnSp>
        <p:nvCxnSpPr>
          <p:cNvPr id="87" name="Straight Connector 86"/>
          <p:cNvCxnSpPr/>
          <p:nvPr/>
        </p:nvCxnSpPr>
        <p:spPr bwMode="auto">
          <a:xfrm>
            <a:off x="1822222" y="4826626"/>
            <a:ext cx="5301248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Line 16"/>
          <p:cNvSpPr>
            <a:spLocks noChangeShapeType="1"/>
          </p:cNvSpPr>
          <p:nvPr/>
        </p:nvSpPr>
        <p:spPr bwMode="auto">
          <a:xfrm>
            <a:off x="1828799" y="1828800"/>
            <a:ext cx="16421" cy="33832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9" name="Straight Connector 88"/>
          <p:cNvCxnSpPr/>
          <p:nvPr/>
        </p:nvCxnSpPr>
        <p:spPr>
          <a:xfrm>
            <a:off x="3879344" y="3048475"/>
            <a:ext cx="19050" cy="25603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21"/>
          <p:cNvSpPr txBox="1">
            <a:spLocks noChangeArrowheads="1"/>
          </p:cNvSpPr>
          <p:nvPr/>
        </p:nvSpPr>
        <p:spPr bwMode="auto">
          <a:xfrm>
            <a:off x="3352800" y="5648959"/>
            <a:ext cx="114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A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=6,900</a:t>
            </a:r>
          </a:p>
        </p:txBody>
      </p:sp>
      <p:cxnSp>
        <p:nvCxnSpPr>
          <p:cNvPr id="91" name="Straight Connector 90"/>
          <p:cNvCxnSpPr/>
          <p:nvPr/>
        </p:nvCxnSpPr>
        <p:spPr>
          <a:xfrm>
            <a:off x="5486400" y="3524250"/>
            <a:ext cx="7238" cy="21031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25"/>
          <p:cNvSpPr txBox="1">
            <a:spLocks noChangeArrowheads="1"/>
          </p:cNvSpPr>
          <p:nvPr/>
        </p:nvSpPr>
        <p:spPr bwMode="auto">
          <a:xfrm>
            <a:off x="4658261" y="5644634"/>
            <a:ext cx="121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B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=10,005</a:t>
            </a:r>
          </a:p>
        </p:txBody>
      </p:sp>
      <p:cxnSp>
        <p:nvCxnSpPr>
          <p:cNvPr id="93" name="Straight Connector 92"/>
          <p:cNvCxnSpPr>
            <a:endCxn id="94" idx="0"/>
          </p:cNvCxnSpPr>
          <p:nvPr/>
        </p:nvCxnSpPr>
        <p:spPr>
          <a:xfrm>
            <a:off x="6304507" y="3524250"/>
            <a:ext cx="0" cy="213614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31"/>
          <p:cNvSpPr txBox="1">
            <a:spLocks noChangeArrowheads="1"/>
          </p:cNvSpPr>
          <p:nvPr/>
        </p:nvSpPr>
        <p:spPr bwMode="auto">
          <a:xfrm>
            <a:off x="5837782" y="5660390"/>
            <a:ext cx="13250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C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=11,500</a:t>
            </a:r>
          </a:p>
        </p:txBody>
      </p:sp>
      <p:cxnSp>
        <p:nvCxnSpPr>
          <p:cNvPr id="99" name="Straight Connector 98"/>
          <p:cNvCxnSpPr/>
          <p:nvPr/>
        </p:nvCxnSpPr>
        <p:spPr>
          <a:xfrm>
            <a:off x="3872722" y="3053558"/>
            <a:ext cx="161239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480984" y="3535680"/>
            <a:ext cx="7929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3870352" y="2139158"/>
            <a:ext cx="1587" cy="914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5486400" y="3053558"/>
            <a:ext cx="2824" cy="4706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825161" y="3047999"/>
            <a:ext cx="2103120" cy="0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1822222" y="3531344"/>
            <a:ext cx="3749040" cy="17543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827213" y="2133599"/>
            <a:ext cx="2048256" cy="55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831088" y="2130819"/>
            <a:ext cx="2048256" cy="5559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837009" y="2184980"/>
                <a:ext cx="2022626" cy="2641646"/>
              </a:xfrm>
              <a:prstGeom prst="rect">
                <a:avLst/>
              </a:prstGeom>
              <a:solidFill>
                <a:srgbClr val="FF0000">
                  <a:alpha val="1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100" dirty="0"/>
                  <a:t>(142,400-65,200)</a:t>
                </a:r>
                <a14:m>
                  <m:oMath xmlns:m="http://schemas.openxmlformats.org/officeDocument/2006/math">
                    <m:r>
                      <a:rPr lang="en-US" altLang="en-US" sz="11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en-US" sz="1100" dirty="0"/>
                  <a:t>(6,900)</a:t>
                </a:r>
              </a:p>
              <a:p>
                <a:pPr algn="ctr"/>
                <a:r>
                  <a:rPr lang="en-US" altLang="en-US" sz="1800" dirty="0"/>
                  <a:t>= </a:t>
                </a:r>
                <a:r>
                  <a:rPr lang="en-US" altLang="en-US" sz="18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DM 533 </a:t>
                </a:r>
                <a:r>
                  <a:rPr lang="en-US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009" y="2184980"/>
                <a:ext cx="2022626" cy="2641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defRPr/>
                </a:pPr>
                <a:r>
                  <a:rPr kumimoji="1" lang="en-US" sz="1600" b="1" dirty="0">
                    <a:ea typeface="Arial Unicode MS" pitchFamily="34" charset="-128"/>
                    <a:cs typeface="Microsoft Sans Serif" pitchFamily="34" charset="0"/>
                  </a:rPr>
                  <a:t>profit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A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) = 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A 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– 65,200)</a:t>
                </a:r>
                <a:r>
                  <a:rPr kumimoji="1" lang="en-US" sz="1600" dirty="0">
                    <a:ea typeface="Cambria Math" panose="02040503050406030204" pitchFamily="18" charset="0"/>
                    <a:cs typeface="Microsoft Sans Serif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icrosoft Sans Serif" pitchFamily="34" charset="0"/>
                      </a:rPr>
                      <m:t>×</m:t>
                    </m:r>
                  </m:oMath>
                </a14:m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Q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A</a:t>
                </a: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  <a:blipFill>
                <a:blip r:embed="rId6"/>
                <a:stretch>
                  <a:fillRect l="-1172" t="-1346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/>
              <p:cNvSpPr/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most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profitable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</m:oMath>
                </a14:m>
                <a:endParaRPr kumimoji="1" lang="en-US" sz="1800" baseline="30000" dirty="0">
                  <a:ea typeface="Arial Unicode MS" pitchFamily="34" charset="-128"/>
                  <a:cs typeface="Microsoft Sans Serif" pitchFamily="34" charset="0"/>
                </a:endParaRPr>
              </a:p>
            </p:txBody>
          </p:sp>
        </mc:Choice>
        <mc:Fallback xmlns=""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  <a:blipFill>
                <a:blip r:embed="rId7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05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1162050" y="1598613"/>
            <a:ext cx="579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Price</a:t>
            </a:r>
            <a:endParaRPr lang="en-US" altLang="en-US" b="1" u="sng">
              <a:latin typeface="Arial" panose="020B0604020202020204" pitchFamily="34" charset="0"/>
            </a:endParaRPr>
          </a:p>
        </p:txBody>
      </p:sp>
      <p:sp>
        <p:nvSpPr>
          <p:cNvPr id="88" name="Line 16"/>
          <p:cNvSpPr>
            <a:spLocks noChangeShapeType="1"/>
          </p:cNvSpPr>
          <p:nvPr/>
        </p:nvSpPr>
        <p:spPr bwMode="auto">
          <a:xfrm>
            <a:off x="1828799" y="1828800"/>
            <a:ext cx="16421" cy="33832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>
            <a:off x="3872722" y="3053558"/>
            <a:ext cx="161239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3870352" y="2139158"/>
            <a:ext cx="1587" cy="914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825161" y="3047999"/>
            <a:ext cx="2103120" cy="0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827213" y="2133599"/>
            <a:ext cx="2048256" cy="55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851797" y="3030136"/>
            <a:ext cx="3648456" cy="5559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480984" y="3535680"/>
            <a:ext cx="7929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5486400" y="3053558"/>
            <a:ext cx="2824" cy="4706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1822222" y="3531344"/>
            <a:ext cx="3749040" cy="17543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ine 17"/>
          <p:cNvSpPr>
            <a:spLocks noChangeShapeType="1"/>
          </p:cNvSpPr>
          <p:nvPr/>
        </p:nvSpPr>
        <p:spPr bwMode="auto">
          <a:xfrm>
            <a:off x="1845220" y="5219065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18"/>
          <p:cNvSpPr txBox="1">
            <a:spLocks noChangeArrowheads="1"/>
          </p:cNvSpPr>
          <p:nvPr/>
        </p:nvSpPr>
        <p:spPr bwMode="auto">
          <a:xfrm>
            <a:off x="6482307" y="5200015"/>
            <a:ext cx="86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Quantity</a:t>
            </a:r>
            <a:endParaRPr lang="en-US" altLang="en-US" b="1" u="sng"/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2489171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1</a:t>
            </a: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4360573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3</a:t>
            </a:r>
            <a:endParaRPr lang="en-US" altLang="en-US" sz="1600" b="1" u="sng" dirty="0"/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5576569" y="5217796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2</a:t>
            </a:r>
            <a:endParaRPr lang="en-US" altLang="en-US" sz="1600" b="1" u="sng" dirty="0"/>
          </a:p>
        </p:txBody>
      </p:sp>
      <p:sp>
        <p:nvSpPr>
          <p:cNvPr id="53" name="TextBox 13"/>
          <p:cNvSpPr txBox="1">
            <a:spLocks noChangeArrowheads="1"/>
          </p:cNvSpPr>
          <p:nvPr/>
        </p:nvSpPr>
        <p:spPr bwMode="auto">
          <a:xfrm>
            <a:off x="7268232" y="4695821"/>
            <a:ext cx="139493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dirty="0"/>
              <a:t>unit cost=DM 65,200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1822222" y="4826626"/>
            <a:ext cx="5301248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879344" y="3048475"/>
            <a:ext cx="19050" cy="25603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486400" y="3524250"/>
            <a:ext cx="7238" cy="21031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60" idx="0"/>
          </p:cNvCxnSpPr>
          <p:nvPr/>
        </p:nvCxnSpPr>
        <p:spPr>
          <a:xfrm>
            <a:off x="6304507" y="3524250"/>
            <a:ext cx="0" cy="213614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20"/>
              <p:cNvSpPr txBox="1">
                <a:spLocks noChangeArrowheads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en-US" sz="1600" dirty="0"/>
                  <a:t>=DM 142,400</a:t>
                </a:r>
              </a:p>
            </p:txBody>
          </p:sp>
        </mc:Choice>
        <mc:Fallback xmlns="">
          <p:sp>
            <p:nvSpPr>
              <p:cNvPr id="3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blipFill>
                <a:blip r:embed="rId2"/>
                <a:stretch>
                  <a:fillRect t="-5357" r="-1901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3"/>
              <p:cNvSpPr txBox="1">
                <a:spLocks noChangeArrowheads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128,400</a:t>
                </a:r>
              </a:p>
            </p:txBody>
          </p:sp>
        </mc:Choice>
        <mc:Fallback xmlns="">
          <p:sp>
            <p:nvSpPr>
              <p:cNvPr id="3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blipFill>
                <a:blip r:embed="rId3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24"/>
              <p:cNvSpPr txBox="1">
                <a:spLocks noChangeArrowheads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122,150</a:t>
                </a:r>
              </a:p>
            </p:txBody>
          </p:sp>
        </mc:Choice>
        <mc:Fallback xmlns="">
          <p:sp>
            <p:nvSpPr>
              <p:cNvPr id="3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21"/>
          <p:cNvSpPr txBox="1">
            <a:spLocks noChangeArrowheads="1"/>
          </p:cNvSpPr>
          <p:nvPr/>
        </p:nvSpPr>
        <p:spPr bwMode="auto">
          <a:xfrm>
            <a:off x="3352800" y="5648959"/>
            <a:ext cx="114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A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=6,900</a:t>
            </a:r>
          </a:p>
        </p:txBody>
      </p:sp>
      <p:sp>
        <p:nvSpPr>
          <p:cNvPr id="38" name="TextBox 25"/>
          <p:cNvSpPr txBox="1">
            <a:spLocks noChangeArrowheads="1"/>
          </p:cNvSpPr>
          <p:nvPr/>
        </p:nvSpPr>
        <p:spPr bwMode="auto">
          <a:xfrm>
            <a:off x="4658261" y="5644634"/>
            <a:ext cx="121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B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=10,005</a:t>
            </a:r>
          </a:p>
        </p:txBody>
      </p:sp>
      <p:sp>
        <p:nvSpPr>
          <p:cNvPr id="39" name="TextBox 31"/>
          <p:cNvSpPr txBox="1">
            <a:spLocks noChangeArrowheads="1"/>
          </p:cNvSpPr>
          <p:nvPr/>
        </p:nvSpPr>
        <p:spPr bwMode="auto">
          <a:xfrm>
            <a:off x="5837782" y="5660390"/>
            <a:ext cx="13250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C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=11,500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defRPr/>
                </a:pPr>
                <a:r>
                  <a:rPr kumimoji="1" lang="en-US" sz="1600" b="1" dirty="0">
                    <a:ea typeface="Arial Unicode MS" pitchFamily="34" charset="-128"/>
                    <a:cs typeface="Microsoft Sans Serif" pitchFamily="34" charset="0"/>
                  </a:rPr>
                  <a:t>profit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B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) = 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B 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– 65,200)</a:t>
                </a:r>
                <a:r>
                  <a:rPr kumimoji="1" lang="en-US" sz="1600" dirty="0">
                    <a:ea typeface="Cambria Math" panose="02040503050406030204" pitchFamily="18" charset="0"/>
                    <a:cs typeface="Microsoft Sans Serif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icrosoft Sans Serif" pitchFamily="34" charset="0"/>
                      </a:rPr>
                      <m:t>×</m:t>
                    </m:r>
                  </m:oMath>
                </a14:m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Q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B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  <a:blipFill>
                <a:blip r:embed="rId5"/>
                <a:stretch>
                  <a:fillRect l="-1172" t="-1346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/>
              <p:cNvSpPr/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most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profitable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</m:oMath>
                </a14:m>
                <a:endParaRPr kumimoji="1" lang="en-US" sz="1800" baseline="30000" dirty="0">
                  <a:ea typeface="Arial Unicode MS" pitchFamily="34" charset="-128"/>
                  <a:cs typeface="Microsoft Sans Serif" pitchFamily="34" charset="0"/>
                </a:endParaRPr>
              </a:p>
            </p:txBody>
          </p:sp>
        </mc:Choice>
        <mc:Fallback xmlns="">
          <p:sp>
            <p:nvSpPr>
              <p:cNvPr id="41" name="Rounded 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  <a:blipFill>
                <a:blip r:embed="rId6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Kone</a:t>
            </a:r>
            <a:r>
              <a:rPr lang="en-US" sz="4400" dirty="0"/>
              <a:t> Pricing Decision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845220" y="3065862"/>
                <a:ext cx="3632936" cy="1767749"/>
              </a:xfrm>
              <a:prstGeom prst="rect">
                <a:avLst/>
              </a:prstGeom>
              <a:solidFill>
                <a:srgbClr val="FF0000">
                  <a:alpha val="1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100" dirty="0"/>
                  <a:t>(128,400-65,200)</a:t>
                </a:r>
                <a14:m>
                  <m:oMath xmlns:m="http://schemas.openxmlformats.org/officeDocument/2006/math">
                    <m:r>
                      <a:rPr lang="en-US" altLang="en-US" sz="11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en-US" sz="1100" dirty="0"/>
                  <a:t>(10,005)</a:t>
                </a:r>
              </a:p>
              <a:p>
                <a:pPr algn="ctr"/>
                <a:r>
                  <a:rPr lang="en-US" altLang="en-US" sz="1800" dirty="0"/>
                  <a:t>= </a:t>
                </a:r>
                <a:r>
                  <a:rPr lang="en-US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DM 632 M</a:t>
                </a: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220" y="3065862"/>
                <a:ext cx="3632936" cy="17677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77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1162050" y="1598613"/>
            <a:ext cx="579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Price</a:t>
            </a:r>
            <a:endParaRPr lang="en-US" altLang="en-US" b="1" u="sng">
              <a:latin typeface="Arial" panose="020B0604020202020204" pitchFamily="34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3872722" y="3053558"/>
            <a:ext cx="161239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3870352" y="2139158"/>
            <a:ext cx="1587" cy="914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825161" y="3047999"/>
            <a:ext cx="2103120" cy="0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827213" y="2133599"/>
            <a:ext cx="2048256" cy="55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851730" y="3540549"/>
            <a:ext cx="4434840" cy="5559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480984" y="3535680"/>
            <a:ext cx="7929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5486400" y="3053558"/>
            <a:ext cx="2824" cy="4706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822222" y="3531344"/>
            <a:ext cx="3749040" cy="17543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ne 17"/>
          <p:cNvSpPr>
            <a:spLocks noChangeShapeType="1"/>
          </p:cNvSpPr>
          <p:nvPr/>
        </p:nvSpPr>
        <p:spPr bwMode="auto">
          <a:xfrm>
            <a:off x="1845220" y="5219065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6482307" y="5200015"/>
            <a:ext cx="86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Quantity</a:t>
            </a:r>
            <a:endParaRPr lang="en-US" altLang="en-US" b="1" u="sng"/>
          </a:p>
        </p:txBody>
      </p:sp>
      <p:sp>
        <p:nvSpPr>
          <p:cNvPr id="65" name="Text Box 21"/>
          <p:cNvSpPr txBox="1">
            <a:spLocks noChangeArrowheads="1"/>
          </p:cNvSpPr>
          <p:nvPr/>
        </p:nvSpPr>
        <p:spPr bwMode="auto">
          <a:xfrm>
            <a:off x="2489171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1</a:t>
            </a:r>
          </a:p>
        </p:txBody>
      </p:sp>
      <p:sp>
        <p:nvSpPr>
          <p:cNvPr id="66" name="Text Box 25"/>
          <p:cNvSpPr txBox="1">
            <a:spLocks noChangeArrowheads="1"/>
          </p:cNvSpPr>
          <p:nvPr/>
        </p:nvSpPr>
        <p:spPr bwMode="auto">
          <a:xfrm>
            <a:off x="4360573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3</a:t>
            </a:r>
            <a:endParaRPr lang="en-US" altLang="en-US" sz="1600" b="1" u="sng" dirty="0"/>
          </a:p>
        </p:txBody>
      </p:sp>
      <p:sp>
        <p:nvSpPr>
          <p:cNvPr id="67" name="Text Box 26"/>
          <p:cNvSpPr txBox="1">
            <a:spLocks noChangeArrowheads="1"/>
          </p:cNvSpPr>
          <p:nvPr/>
        </p:nvSpPr>
        <p:spPr bwMode="auto">
          <a:xfrm>
            <a:off x="5576569" y="5217796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2</a:t>
            </a:r>
            <a:endParaRPr lang="en-US" altLang="en-US" sz="1600" b="1" u="sng" dirty="0"/>
          </a:p>
        </p:txBody>
      </p:sp>
      <p:sp>
        <p:nvSpPr>
          <p:cNvPr id="68" name="TextBox 13"/>
          <p:cNvSpPr txBox="1">
            <a:spLocks noChangeArrowheads="1"/>
          </p:cNvSpPr>
          <p:nvPr/>
        </p:nvSpPr>
        <p:spPr bwMode="auto">
          <a:xfrm>
            <a:off x="7268232" y="4695821"/>
            <a:ext cx="139493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dirty="0"/>
              <a:t>unit cost=DM 65,200</a:t>
            </a:r>
          </a:p>
        </p:txBody>
      </p:sp>
      <p:cxnSp>
        <p:nvCxnSpPr>
          <p:cNvPr id="69" name="Straight Connector 68"/>
          <p:cNvCxnSpPr/>
          <p:nvPr/>
        </p:nvCxnSpPr>
        <p:spPr bwMode="auto">
          <a:xfrm>
            <a:off x="1822222" y="4826626"/>
            <a:ext cx="5301248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879344" y="3048475"/>
            <a:ext cx="19050" cy="25603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5486400" y="3524250"/>
            <a:ext cx="7238" cy="21031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75" idx="0"/>
          </p:cNvCxnSpPr>
          <p:nvPr/>
        </p:nvCxnSpPr>
        <p:spPr>
          <a:xfrm>
            <a:off x="6304507" y="3524250"/>
            <a:ext cx="0" cy="213614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ine 16"/>
          <p:cNvSpPr>
            <a:spLocks noChangeShapeType="1"/>
          </p:cNvSpPr>
          <p:nvPr/>
        </p:nvSpPr>
        <p:spPr bwMode="auto">
          <a:xfrm>
            <a:off x="1828799" y="1828800"/>
            <a:ext cx="16421" cy="33832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20"/>
              <p:cNvSpPr txBox="1">
                <a:spLocks noChangeArrowheads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en-US" sz="1600" dirty="0"/>
                  <a:t>=DM 142,400</a:t>
                </a:r>
              </a:p>
            </p:txBody>
          </p:sp>
        </mc:Choice>
        <mc:Fallback xmlns="">
          <p:sp>
            <p:nvSpPr>
              <p:cNvPr id="3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blipFill>
                <a:blip r:embed="rId2"/>
                <a:stretch>
                  <a:fillRect t="-5357" r="-1901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23"/>
              <p:cNvSpPr txBox="1">
                <a:spLocks noChangeArrowheads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128,400</a:t>
                </a:r>
              </a:p>
            </p:txBody>
          </p:sp>
        </mc:Choice>
        <mc:Fallback xmlns="">
          <p:sp>
            <p:nvSpPr>
              <p:cNvPr id="38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blipFill>
                <a:blip r:embed="rId3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24"/>
              <p:cNvSpPr txBox="1">
                <a:spLocks noChangeArrowheads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122,150</a:t>
                </a:r>
              </a:p>
            </p:txBody>
          </p:sp>
        </mc:Choice>
        <mc:Fallback xmlns="">
          <p:sp>
            <p:nvSpPr>
              <p:cNvPr id="39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21"/>
          <p:cNvSpPr txBox="1">
            <a:spLocks noChangeArrowheads="1"/>
          </p:cNvSpPr>
          <p:nvPr/>
        </p:nvSpPr>
        <p:spPr bwMode="auto">
          <a:xfrm>
            <a:off x="3352800" y="5648959"/>
            <a:ext cx="114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A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=6,900</a:t>
            </a:r>
          </a:p>
        </p:txBody>
      </p:sp>
      <p:sp>
        <p:nvSpPr>
          <p:cNvPr id="44" name="TextBox 25"/>
          <p:cNvSpPr txBox="1">
            <a:spLocks noChangeArrowheads="1"/>
          </p:cNvSpPr>
          <p:nvPr/>
        </p:nvSpPr>
        <p:spPr bwMode="auto">
          <a:xfrm>
            <a:off x="4658261" y="5644634"/>
            <a:ext cx="121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B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=10,005</a:t>
            </a:r>
          </a:p>
        </p:txBody>
      </p:sp>
      <p:sp>
        <p:nvSpPr>
          <p:cNvPr id="45" name="TextBox 31"/>
          <p:cNvSpPr txBox="1">
            <a:spLocks noChangeArrowheads="1"/>
          </p:cNvSpPr>
          <p:nvPr/>
        </p:nvSpPr>
        <p:spPr bwMode="auto">
          <a:xfrm>
            <a:off x="5837782" y="5660390"/>
            <a:ext cx="13250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C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=11,500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defRPr/>
                </a:pPr>
                <a:r>
                  <a:rPr kumimoji="1" lang="en-US" sz="1600" b="1" dirty="0">
                    <a:ea typeface="Arial Unicode MS" pitchFamily="34" charset="-128"/>
                    <a:cs typeface="Microsoft Sans Serif" pitchFamily="34" charset="0"/>
                  </a:rPr>
                  <a:t>profit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C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) = (P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C </a:t>
                </a:r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– 65,200)</a:t>
                </a:r>
                <a:r>
                  <a:rPr kumimoji="1" lang="en-US" sz="1600" dirty="0">
                    <a:ea typeface="Cambria Math" panose="02040503050406030204" pitchFamily="18" charset="0"/>
                    <a:cs typeface="Microsoft Sans Serif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icrosoft Sans Serif" pitchFamily="34" charset="0"/>
                      </a:rPr>
                      <m:t>×</m:t>
                    </m:r>
                  </m:oMath>
                </a14:m>
                <a:r>
                  <a:rPr kumimoji="1" lang="en-US" sz="1600" dirty="0">
                    <a:ea typeface="Arial Unicode MS" pitchFamily="34" charset="-128"/>
                    <a:cs typeface="Microsoft Sans Serif" pitchFamily="34" charset="0"/>
                  </a:rPr>
                  <a:t>Q</a:t>
                </a:r>
                <a:r>
                  <a:rPr kumimoji="1" lang="en-US" sz="1600" baseline="30000" dirty="0">
                    <a:ea typeface="Arial Unicode MS" pitchFamily="34" charset="-128"/>
                    <a:cs typeface="Microsoft Sans Serif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107" y="6523340"/>
                <a:ext cx="3118893" cy="313932"/>
              </a:xfrm>
              <a:prstGeom prst="rect">
                <a:avLst/>
              </a:prstGeom>
              <a:blipFill>
                <a:blip r:embed="rId5"/>
                <a:stretch>
                  <a:fillRect l="-1172" t="-1346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/>
              <p:cNvSpPr/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most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profitable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</m:oMath>
                </a14:m>
                <a:endParaRPr kumimoji="1" lang="en-US" sz="1800" baseline="30000" dirty="0">
                  <a:ea typeface="Arial Unicode MS" pitchFamily="34" charset="-128"/>
                  <a:cs typeface="Microsoft Sans Serif" pitchFamily="34" charset="0"/>
                </a:endParaRPr>
              </a:p>
            </p:txBody>
          </p:sp>
        </mc:Choice>
        <mc:Fallback xmlns="">
          <p:sp>
            <p:nvSpPr>
              <p:cNvPr id="47" name="Rounded 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6137886"/>
                <a:ext cx="3886201" cy="401598"/>
              </a:xfrm>
              <a:prstGeom prst="roundRect">
                <a:avLst/>
              </a:prstGeom>
              <a:blipFill>
                <a:blip r:embed="rId6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Kone</a:t>
            </a:r>
            <a:r>
              <a:rPr lang="en-US" sz="4400" dirty="0"/>
              <a:t> Pricing Decision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43267" y="3565158"/>
                <a:ext cx="4434802" cy="1261468"/>
              </a:xfrm>
              <a:prstGeom prst="rect">
                <a:avLst/>
              </a:prstGeom>
              <a:solidFill>
                <a:srgbClr val="FF0000">
                  <a:alpha val="1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100" dirty="0"/>
                  <a:t>(122,150-65,200)</a:t>
                </a:r>
                <a14:m>
                  <m:oMath xmlns:m="http://schemas.openxmlformats.org/officeDocument/2006/math">
                    <m:r>
                      <a:rPr lang="en-US" altLang="en-US" sz="11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en-US" sz="1100" dirty="0"/>
                  <a:t>(11,500)</a:t>
                </a:r>
              </a:p>
              <a:p>
                <a:pPr algn="ctr"/>
                <a:r>
                  <a:rPr lang="en-US" altLang="en-US" sz="1800" dirty="0"/>
                  <a:t>= </a:t>
                </a:r>
                <a:r>
                  <a:rPr lang="en-US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DM 655 M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267" y="3565158"/>
                <a:ext cx="4434802" cy="12614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7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43267" y="3565158"/>
            <a:ext cx="4434802" cy="126146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100" dirty="0"/>
              <a:t>(122,150-65,200)(11,500)</a:t>
            </a:r>
          </a:p>
          <a:p>
            <a:pPr algn="ctr"/>
            <a:r>
              <a:rPr lang="en-US" altLang="en-US" sz="1800" dirty="0"/>
              <a:t>= 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655 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1162050" y="1598613"/>
            <a:ext cx="579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Price</a:t>
            </a:r>
            <a:endParaRPr lang="en-US" altLang="en-US" b="1" u="sng">
              <a:latin typeface="Arial" panose="020B0604020202020204" pitchFamily="34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3872722" y="3053558"/>
            <a:ext cx="161239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3870352" y="2139158"/>
            <a:ext cx="1587" cy="914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825161" y="3047999"/>
            <a:ext cx="2103120" cy="0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827213" y="2133599"/>
            <a:ext cx="2048256" cy="55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851730" y="3540549"/>
            <a:ext cx="4434840" cy="5559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24"/>
              <p:cNvSpPr txBox="1">
                <a:spLocks noChangeArrowheads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1600" dirty="0">
                    <a:solidFill>
                      <a:srgbClr val="FF0000"/>
                    </a:solidFill>
                  </a:rPr>
                  <a:t>=DM 122,150</a:t>
                </a:r>
              </a:p>
            </p:txBody>
          </p:sp>
        </mc:Choice>
        <mc:Fallback xmlns="">
          <p:sp>
            <p:nvSpPr>
              <p:cNvPr id="35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3367832"/>
                <a:ext cx="1822657" cy="339388"/>
              </a:xfrm>
              <a:prstGeom prst="rect">
                <a:avLst/>
              </a:prstGeom>
              <a:blipFill>
                <a:blip r:embed="rId2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>
            <a:off x="5480984" y="3535680"/>
            <a:ext cx="79295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5486400" y="3053558"/>
            <a:ext cx="2824" cy="4706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822222" y="3531344"/>
            <a:ext cx="3749040" cy="17543"/>
          </a:xfrm>
          <a:prstGeom prst="line">
            <a:avLst/>
          </a:prstGeom>
          <a:ln w="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ne 17"/>
          <p:cNvSpPr>
            <a:spLocks noChangeShapeType="1"/>
          </p:cNvSpPr>
          <p:nvPr/>
        </p:nvSpPr>
        <p:spPr bwMode="auto">
          <a:xfrm>
            <a:off x="1845220" y="5219065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6482307" y="5200015"/>
            <a:ext cx="86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/>
              <a:t>Quantity</a:t>
            </a:r>
            <a:endParaRPr lang="en-US" altLang="en-US" b="1" u="sng"/>
          </a:p>
        </p:txBody>
      </p:sp>
      <p:sp>
        <p:nvSpPr>
          <p:cNvPr id="65" name="Text Box 21"/>
          <p:cNvSpPr txBox="1">
            <a:spLocks noChangeArrowheads="1"/>
          </p:cNvSpPr>
          <p:nvPr/>
        </p:nvSpPr>
        <p:spPr bwMode="auto">
          <a:xfrm>
            <a:off x="2489171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1</a:t>
            </a:r>
          </a:p>
        </p:txBody>
      </p:sp>
      <p:sp>
        <p:nvSpPr>
          <p:cNvPr id="66" name="Text Box 25"/>
          <p:cNvSpPr txBox="1">
            <a:spLocks noChangeArrowheads="1"/>
          </p:cNvSpPr>
          <p:nvPr/>
        </p:nvSpPr>
        <p:spPr bwMode="auto">
          <a:xfrm>
            <a:off x="4360573" y="5219065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3</a:t>
            </a:r>
            <a:endParaRPr lang="en-US" altLang="en-US" sz="1600" b="1" u="sng" dirty="0"/>
          </a:p>
        </p:txBody>
      </p:sp>
      <p:sp>
        <p:nvSpPr>
          <p:cNvPr id="67" name="Text Box 26"/>
          <p:cNvSpPr txBox="1">
            <a:spLocks noChangeArrowheads="1"/>
          </p:cNvSpPr>
          <p:nvPr/>
        </p:nvSpPr>
        <p:spPr bwMode="auto">
          <a:xfrm>
            <a:off x="5576569" y="5217796"/>
            <a:ext cx="8066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50" b="1" dirty="0"/>
              <a:t>Segment 2</a:t>
            </a:r>
            <a:endParaRPr lang="en-US" altLang="en-US" sz="1600" b="1" u="sng" dirty="0"/>
          </a:p>
        </p:txBody>
      </p:sp>
      <p:sp>
        <p:nvSpPr>
          <p:cNvPr id="68" name="TextBox 13"/>
          <p:cNvSpPr txBox="1">
            <a:spLocks noChangeArrowheads="1"/>
          </p:cNvSpPr>
          <p:nvPr/>
        </p:nvSpPr>
        <p:spPr bwMode="auto">
          <a:xfrm>
            <a:off x="7268232" y="4695821"/>
            <a:ext cx="139493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 dirty="0"/>
              <a:t>unit cost=DM 65,200</a:t>
            </a:r>
          </a:p>
        </p:txBody>
      </p:sp>
      <p:cxnSp>
        <p:nvCxnSpPr>
          <p:cNvPr id="69" name="Straight Connector 68"/>
          <p:cNvCxnSpPr/>
          <p:nvPr/>
        </p:nvCxnSpPr>
        <p:spPr bwMode="auto">
          <a:xfrm>
            <a:off x="1822222" y="4826626"/>
            <a:ext cx="5301248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879344" y="3048475"/>
            <a:ext cx="19050" cy="25603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5486400" y="3524250"/>
            <a:ext cx="7238" cy="210312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75" idx="0"/>
          </p:cNvCxnSpPr>
          <p:nvPr/>
        </p:nvCxnSpPr>
        <p:spPr>
          <a:xfrm>
            <a:off x="6304507" y="3524250"/>
            <a:ext cx="0" cy="213614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ine 16"/>
          <p:cNvSpPr>
            <a:spLocks noChangeShapeType="1"/>
          </p:cNvSpPr>
          <p:nvPr/>
        </p:nvSpPr>
        <p:spPr bwMode="auto">
          <a:xfrm>
            <a:off x="1828799" y="1828800"/>
            <a:ext cx="16421" cy="33832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3400" y="6151418"/>
            <a:ext cx="4633804" cy="471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 Price</a:t>
            </a:r>
            <a:r>
              <a:rPr lang="en-US" altLang="en-US" b="1" dirty="0">
                <a:solidFill>
                  <a:srgbClr val="FF0000"/>
                </a:solidFill>
              </a:rPr>
              <a:t>:</a:t>
            </a:r>
            <a:r>
              <a:rPr lang="en-US" altLang="en-US" dirty="0">
                <a:solidFill>
                  <a:srgbClr val="FF0000"/>
                </a:solidFill>
              </a:rPr>
              <a:t> DM 122,150</a:t>
            </a:r>
            <a:endParaRPr lang="en-US" alt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20"/>
              <p:cNvSpPr txBox="1">
                <a:spLocks noChangeArrowheads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altLang="en-US" sz="1600" dirty="0"/>
                  <a:t>=DM 142,400</a:t>
                </a:r>
              </a:p>
            </p:txBody>
          </p:sp>
        </mc:Choice>
        <mc:Fallback xmlns="">
          <p:sp>
            <p:nvSpPr>
              <p:cNvPr id="3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81995"/>
                <a:ext cx="1604169" cy="339260"/>
              </a:xfrm>
              <a:prstGeom prst="rect">
                <a:avLst/>
              </a:prstGeom>
              <a:blipFill>
                <a:blip r:embed="rId3"/>
                <a:stretch>
                  <a:fillRect t="-5357" r="-1901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3"/>
              <p:cNvSpPr txBox="1">
                <a:spLocks noChangeArrowheads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altLang="en-US" sz="1600" dirty="0"/>
                  <a:t>=DM 128,400</a:t>
                </a:r>
              </a:p>
            </p:txBody>
          </p:sp>
        </mc:Choice>
        <mc:Fallback xmlns="">
          <p:sp>
            <p:nvSpPr>
              <p:cNvPr id="3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2895243"/>
                <a:ext cx="1749311" cy="338554"/>
              </a:xfrm>
              <a:prstGeom prst="rect">
                <a:avLst/>
              </a:prstGeom>
              <a:blipFill>
                <a:blip r:embed="rId4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21"/>
          <p:cNvSpPr txBox="1">
            <a:spLocks noChangeArrowheads="1"/>
          </p:cNvSpPr>
          <p:nvPr/>
        </p:nvSpPr>
        <p:spPr bwMode="auto">
          <a:xfrm>
            <a:off x="3352800" y="5648959"/>
            <a:ext cx="114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A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=6,900</a:t>
            </a:r>
          </a:p>
        </p:txBody>
      </p:sp>
      <p:sp>
        <p:nvSpPr>
          <p:cNvPr id="39" name="TextBox 25"/>
          <p:cNvSpPr txBox="1">
            <a:spLocks noChangeArrowheads="1"/>
          </p:cNvSpPr>
          <p:nvPr/>
        </p:nvSpPr>
        <p:spPr bwMode="auto">
          <a:xfrm>
            <a:off x="4658261" y="5644634"/>
            <a:ext cx="121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B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=10,005</a:t>
            </a:r>
          </a:p>
        </p:txBody>
      </p:sp>
      <p:sp>
        <p:nvSpPr>
          <p:cNvPr id="43" name="TextBox 31"/>
          <p:cNvSpPr txBox="1">
            <a:spLocks noChangeArrowheads="1"/>
          </p:cNvSpPr>
          <p:nvPr/>
        </p:nvSpPr>
        <p:spPr bwMode="auto">
          <a:xfrm>
            <a:off x="5837782" y="5660390"/>
            <a:ext cx="13250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kumimoji="1" lang="en-US" sz="1800" baseline="30000" dirty="0">
                <a:solidFill>
                  <a:schemeClr val="bg2">
                    <a:lumMod val="75000"/>
                  </a:schemeClr>
                </a:solidFill>
                <a:ea typeface="Arial Unicode MS" pitchFamily="34" charset="-128"/>
                <a:cs typeface="Microsoft Sans Serif" pitchFamily="34" charset="0"/>
              </a:rPr>
              <a:t>C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</a:rPr>
              <a:t>=11,500</a:t>
            </a:r>
          </a:p>
        </p:txBody>
      </p: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Kone</a:t>
            </a:r>
            <a:r>
              <a:rPr lang="en-US" sz="4400" dirty="0"/>
              <a:t> Pricing Decision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5715000" y="2308943"/>
            <a:ext cx="3355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7030A0"/>
                </a:solidFill>
              </a:rPr>
              <a:t>See Appendix for visuals on </a:t>
            </a:r>
            <a:r>
              <a:rPr lang="en-US" sz="1050" i="1" dirty="0">
                <a:solidFill>
                  <a:srgbClr val="7030A0"/>
                </a:solidFill>
              </a:rPr>
              <a:t>selling</a:t>
            </a:r>
            <a:r>
              <a:rPr lang="en-US" sz="1050" dirty="0">
                <a:solidFill>
                  <a:srgbClr val="7030A0"/>
                </a:solidFill>
              </a:rPr>
              <a:t> the price to a customer</a:t>
            </a:r>
          </a:p>
        </p:txBody>
      </p:sp>
    </p:spTree>
    <p:extLst>
      <p:ext uri="{BB962C8B-B14F-4D97-AF65-F5344CB8AC3E}">
        <p14:creationId xmlns:p14="http://schemas.microsoft.com/office/powerpoint/2010/main" val="152917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&amp; </a:t>
            </a:r>
            <a:r>
              <a:rPr lang="en-US" dirty="0"/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Our pricing decision balanced: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en-US" dirty="0"/>
              <a:t> (via EVC)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</a:t>
            </a:r>
            <a:r>
              <a:rPr lang="en-US" dirty="0"/>
              <a:t> (via EVC)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75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  <a:defRPr/>
            </a:pPr>
            <a:r>
              <a:rPr lang="en-US" sz="2200" dirty="0"/>
              <a:t>Demand measurement is major obstacle to </a:t>
            </a:r>
            <a:r>
              <a:rPr lang="en-US" sz="2200" b="1" i="1" dirty="0"/>
              <a:t>optimized</a:t>
            </a:r>
            <a:r>
              <a:rPr lang="en-US" sz="2200" i="1" dirty="0"/>
              <a:t> </a:t>
            </a:r>
            <a:r>
              <a:rPr lang="en-US" sz="2200" dirty="0"/>
              <a:t>pricing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There are alternative </a:t>
            </a:r>
            <a:r>
              <a:rPr lang="en-US" sz="2200" dirty="0">
                <a:solidFill>
                  <a:srgbClr val="00B0F0"/>
                </a:solidFill>
              </a:rPr>
              <a:t>methods</a:t>
            </a:r>
            <a:r>
              <a:rPr lang="en-US" sz="2200" dirty="0"/>
              <a:t>: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Measure EVC via expert judgment &amp; case study </a:t>
            </a:r>
          </a:p>
          <a:p>
            <a:pPr marL="366713" lvl="1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200" dirty="0"/>
              <a:t>	(today, CMI Case)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200" dirty="0"/>
              <a:t>Regression analysis of point-of-sale data</a:t>
            </a:r>
          </a:p>
          <a:p>
            <a:pPr marL="366713" lvl="1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200" dirty="0"/>
              <a:t>	(module 2 &amp; </a:t>
            </a:r>
            <a:r>
              <a:rPr lang="en-US" sz="2200" b="1" dirty="0"/>
              <a:t>extra</a:t>
            </a:r>
            <a:r>
              <a:rPr lang="en-US" sz="2200" dirty="0"/>
              <a:t> slides, </a:t>
            </a:r>
            <a:r>
              <a:rPr lang="en-US" sz="2200"/>
              <a:t>stats course)</a:t>
            </a:r>
            <a:endParaRPr lang="en-US" sz="2200" dirty="0"/>
          </a:p>
          <a:p>
            <a:pPr lvl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200" dirty="0"/>
              <a:t>Price Experiments</a:t>
            </a:r>
          </a:p>
          <a:p>
            <a:pPr marL="366713" lvl="1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200" dirty="0"/>
              <a:t>	(module 2)</a:t>
            </a:r>
          </a:p>
          <a:p>
            <a:pPr lvl="1">
              <a:defRPr/>
            </a:pPr>
            <a:r>
              <a:rPr lang="en-US" sz="2200" dirty="0"/>
              <a:t>Conjoint Analysis</a:t>
            </a:r>
          </a:p>
          <a:p>
            <a:pPr marL="366713" lvl="1" indent="0">
              <a:spcBef>
                <a:spcPts val="0"/>
              </a:spcBef>
              <a:buNone/>
              <a:defRPr/>
            </a:pPr>
            <a:r>
              <a:rPr lang="en-US" sz="2200" dirty="0"/>
              <a:t>	(</a:t>
            </a:r>
            <a:r>
              <a:rPr lang="en-US" sz="2200" b="1" dirty="0"/>
              <a:t>extra</a:t>
            </a:r>
            <a:r>
              <a:rPr lang="en-US" sz="2200" dirty="0"/>
              <a:t> slides)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65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 Away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  <a:r>
              <a:rPr lang="en-US" dirty="0"/>
              <a:t> is a conceptual framework for the </a:t>
            </a:r>
            <a:r>
              <a:rPr lang="en-US" b="1" dirty="0"/>
              <a:t>Value Proposition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/>
              <a:t>Highly useful qualitatively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/>
              <a:t>In some instances, also useful quantitatively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We will use EVC throughout modules to guide our thinking</a:t>
            </a: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Uniform Pricing</a:t>
            </a:r>
            <a:r>
              <a:rPr lang="en-US" b="1" dirty="0"/>
              <a:t> </a:t>
            </a:r>
            <a:r>
              <a:rPr lang="en-US" dirty="0"/>
              <a:t>structure</a:t>
            </a:r>
            <a:endParaRPr lang="en-US" b="1" dirty="0"/>
          </a:p>
          <a:p>
            <a:pPr lvl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dirty="0"/>
              <a:t>To tie marketing decisions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en-US" dirty="0"/>
              <a:t>, you must know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</a:t>
            </a:r>
          </a:p>
          <a:p>
            <a:pPr lvl="2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/>
              <a:t>E.g., use demand to set profit-maximizing price!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Balancing act: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en-US" dirty="0"/>
              <a:t>, costs &amp; competition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68507" y="5631414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day 2</a:t>
            </a:r>
          </a:p>
        </p:txBody>
      </p:sp>
      <p:sp>
        <p:nvSpPr>
          <p:cNvPr id="6" name="Right Brace 5"/>
          <p:cNvSpPr/>
          <p:nvPr/>
        </p:nvSpPr>
        <p:spPr>
          <a:xfrm rot="5400000">
            <a:off x="4185504" y="5321118"/>
            <a:ext cx="145012" cy="4755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49297" y="5635439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day 3</a:t>
            </a:r>
          </a:p>
        </p:txBody>
      </p:sp>
      <p:sp>
        <p:nvSpPr>
          <p:cNvPr id="8" name="Right Brace 7"/>
          <p:cNvSpPr/>
          <p:nvPr/>
        </p:nvSpPr>
        <p:spPr>
          <a:xfrm rot="5400000">
            <a:off x="5566295" y="4873107"/>
            <a:ext cx="145010" cy="1371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8127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Appendix</a:t>
            </a:r>
            <a:r>
              <a:rPr lang="en-US" sz="3600" dirty="0"/>
              <a:t>: Identifying and Measuring Differentiation Value &amp; the 4P’s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6E90D4-FAAA-4274-A13C-F93D3EA598E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1026" name="Picture 2" descr="Image result for measur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21381"/>
            <a:ext cx="6151052" cy="409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417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Customer Value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676400" y="1752600"/>
          <a:ext cx="6692901" cy="3112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Segment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Segment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Convenience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Exclusivity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26077" y="1752600"/>
            <a:ext cx="2789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There may be more than 2 segments</a:t>
            </a:r>
          </a:p>
        </p:txBody>
      </p:sp>
      <p:cxnSp>
        <p:nvCxnSpPr>
          <p:cNvPr id="25" name="Straight Arrow Connector 24"/>
          <p:cNvCxnSpPr>
            <a:stCxn id="24" idx="3"/>
          </p:cNvCxnSpPr>
          <p:nvPr/>
        </p:nvCxnSpPr>
        <p:spPr>
          <a:xfrm flipV="1">
            <a:off x="3115623" y="1906488"/>
            <a:ext cx="626754" cy="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594518" y="4953000"/>
            <a:ext cx="79549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kern="0" dirty="0">
                <a:latin typeface="+mj-lt"/>
              </a:rPr>
              <a:t>Ideally, measure in $ equivalents (contribution to total WTP)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kern="0" dirty="0">
                <a:latin typeface="+mj-lt"/>
              </a:rPr>
              <a:t>Many firms use conjoint analysis (see extra slides)</a:t>
            </a:r>
            <a:endParaRPr kumimoji="1" lang="en-US" sz="2800" kern="0" baseline="-250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8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57200" y="5257800"/>
            <a:ext cx="795496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kern="0" dirty="0">
                <a:latin typeface="+mj-lt"/>
              </a:rPr>
              <a:t>Be sure to account for EVC inhibitors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/>
            </a:pPr>
            <a:r>
              <a:rPr kumimoji="1" lang="en-US" kern="0" dirty="0">
                <a:latin typeface="+mj-lt"/>
              </a:rPr>
              <a:t>Again these could be expressed in $ equivalents</a:t>
            </a:r>
            <a:endParaRPr kumimoji="1" lang="en-US" sz="2800" kern="0" baseline="-25000" dirty="0">
              <a:latin typeface="Tw Cen MT (Headings)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 Inhibitors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219200" y="1660722"/>
          <a:ext cx="6692901" cy="3112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Segment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Segment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/>
                        <a:t>Place/Search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/>
                        <a:t>Design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/>
                        <a:t>Learning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2700" y="1598711"/>
            <a:ext cx="2789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There may be more than 2 segments</a:t>
            </a:r>
          </a:p>
        </p:txBody>
      </p:sp>
      <p:cxnSp>
        <p:nvCxnSpPr>
          <p:cNvPr id="23" name="Straight Arrow Connector 22"/>
          <p:cNvCxnSpPr>
            <a:stCxn id="22" idx="3"/>
          </p:cNvCxnSpPr>
          <p:nvPr/>
        </p:nvCxnSpPr>
        <p:spPr>
          <a:xfrm flipV="1">
            <a:off x="2802246" y="1752599"/>
            <a:ext cx="626754" cy="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70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Coordinating the 4Ps to create EVC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marketing in a nutshell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Marketers use the 4 Ps to create, manage &amp; </a:t>
            </a:r>
            <a:r>
              <a:rPr lang="en-US" b="1" dirty="0"/>
              <a:t>monetize</a:t>
            </a:r>
            <a:r>
              <a:rPr lang="en-US" dirty="0"/>
              <a:t>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56117" y="354936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299983" y="3892268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275283" y="3549368"/>
            <a:ext cx="0" cy="9144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70517" y="3549368"/>
            <a:ext cx="1219200" cy="0"/>
          </a:xfrm>
          <a:prstGeom prst="line">
            <a:avLst/>
          </a:prstGeom>
          <a:ln w="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70517" y="4463768"/>
            <a:ext cx="1219200" cy="0"/>
          </a:xfrm>
          <a:prstGeom prst="line">
            <a:avLst/>
          </a:prstGeom>
          <a:ln w="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0807" y="3544668"/>
            <a:ext cx="1157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ricing</a:t>
            </a:r>
          </a:p>
          <a:p>
            <a:r>
              <a:rPr lang="en-US" b="1" dirty="0"/>
              <a:t>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2853035"/>
            <a:ext cx="1256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5604" y="3733800"/>
            <a:ext cx="159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639270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/>
              <a:t>lace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40213" y="3848100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650401">
            <a:off x="3285717" y="2969567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20215732">
            <a:off x="3340213" y="4755802"/>
            <a:ext cx="533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Why Every Marketing Department Needs A Data Scientist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9" t="20398" r="67450" b="34365"/>
          <a:stretch/>
        </p:blipFill>
        <p:spPr bwMode="auto">
          <a:xfrm>
            <a:off x="183082" y="3149131"/>
            <a:ext cx="1378585" cy="1511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 descr="Understanding the clean label consumer | 2018-05-15 | Food Business New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695" y="3544668"/>
            <a:ext cx="1095715" cy="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667000" y="5843885"/>
            <a:ext cx="3545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4</a:t>
            </a: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dirty="0"/>
              <a:t>s to influence WTP!</a:t>
            </a:r>
          </a:p>
        </p:txBody>
      </p:sp>
    </p:spTree>
    <p:extLst>
      <p:ext uri="{BB962C8B-B14F-4D97-AF65-F5344CB8AC3E}">
        <p14:creationId xmlns:p14="http://schemas.microsoft.com/office/powerpoint/2010/main" val="4024463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Brand Reputation and Perceived Value</a:t>
            </a:r>
            <a:br>
              <a:rPr lang="en-US" dirty="0"/>
            </a:br>
            <a:r>
              <a:rPr lang="en-US" sz="3200" dirty="0"/>
              <a:t>Example: Large online Qatari pharmacy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22"/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6322367"/>
            <a:ext cx="6588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How much of this </a:t>
            </a:r>
            <a:r>
              <a:rPr lang="en-US" sz="2000" b="1" dirty="0">
                <a:solidFill>
                  <a:srgbClr val="0070C0"/>
                </a:solidFill>
              </a:rPr>
              <a:t>74%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price premium is just misinformation?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192" b="8642"/>
          <a:stretch/>
        </p:blipFill>
        <p:spPr>
          <a:xfrm>
            <a:off x="628366" y="1600200"/>
            <a:ext cx="7546849" cy="365785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286000" y="2954801"/>
            <a:ext cx="2244011" cy="2236581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2977953" y="4931295"/>
            <a:ext cx="374847" cy="650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267200" y="4931295"/>
            <a:ext cx="381000" cy="707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33599" y="5562600"/>
            <a:ext cx="4607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Copycat store brand has same active ingredient &amp; similar packaging as Bayer brand.</a:t>
            </a:r>
          </a:p>
        </p:txBody>
      </p:sp>
    </p:spTree>
    <p:extLst>
      <p:ext uri="{BB962C8B-B14F-4D97-AF65-F5344CB8AC3E}">
        <p14:creationId xmlns:p14="http://schemas.microsoft.com/office/powerpoint/2010/main" val="137748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12648" y="544321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Pharmacists buy 91% unbranded headache medicines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Average non-healthcare worker buys only 74% unbranded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6456744"/>
            <a:ext cx="5715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Bronnenberg, </a:t>
            </a:r>
            <a:r>
              <a:rPr lang="en-US" sz="1100" dirty="0" err="1">
                <a:hlinkClick r:id="rId3"/>
              </a:rPr>
              <a:t>Dubé</a:t>
            </a:r>
            <a:r>
              <a:rPr lang="en-US" sz="1100" dirty="0">
                <a:hlinkClick r:id="rId3"/>
              </a:rPr>
              <a:t>, Gentzkow &amp; Shapiro (2015)</a:t>
            </a: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25000" t="33334" r="24305" b="3703"/>
          <a:stretch/>
        </p:blipFill>
        <p:spPr>
          <a:xfrm>
            <a:off x="1371600" y="1557010"/>
            <a:ext cx="5562600" cy="38862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en-US" dirty="0"/>
              <a:t>Brand Reputation &amp; Perceived Value</a:t>
            </a:r>
            <a:br>
              <a:rPr lang="en-US" dirty="0"/>
            </a:br>
            <a:r>
              <a:rPr lang="en-US" sz="3200" dirty="0"/>
              <a:t>Experts aren’t fooled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0" y="2971800"/>
            <a:ext cx="24961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Big Data </a:t>
            </a:r>
          </a:p>
          <a:p>
            <a:pPr algn="ctr"/>
            <a:r>
              <a:rPr lang="en-US" sz="1050" dirty="0"/>
              <a:t>purchases for over 100,000 US households</a:t>
            </a:r>
          </a:p>
        </p:txBody>
      </p:sp>
    </p:spTree>
    <p:extLst>
      <p:ext uri="{BB962C8B-B14F-4D97-AF65-F5344CB8AC3E}">
        <p14:creationId xmlns:p14="http://schemas.microsoft.com/office/powerpoint/2010/main" val="20779522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Brand Reputation &amp; Perceived Value</a:t>
            </a:r>
            <a:br>
              <a:rPr lang="en-US" sz="4400" dirty="0"/>
            </a:br>
            <a:r>
              <a:rPr lang="en-US" sz="3600" dirty="0"/>
              <a:t>Brands also matter in Financial Services!</a:t>
            </a:r>
            <a:endParaRPr lang="en-US" sz="4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3080" y="1606367"/>
            <a:ext cx="5250804" cy="31324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31101" y="4700215"/>
            <a:ext cx="4135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Prices for Retail and Institutional S&amp;P 500 Index Funds in 2000</a:t>
            </a:r>
          </a:p>
          <a:p>
            <a:pPr algn="ctr"/>
            <a:r>
              <a:rPr lang="en-US" sz="1200" dirty="0"/>
              <a:t>(annual fees + 1/7</a:t>
            </a:r>
            <a:r>
              <a:rPr lang="en-US" sz="1200" baseline="30000" dirty="0"/>
              <a:t>th</a:t>
            </a:r>
            <a:r>
              <a:rPr lang="en-US" sz="1200" dirty="0"/>
              <a:t> of total loads)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96390"/>
            <a:ext cx="2326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Hortacsu &amp; Syverson (2004)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 bwMode="auto">
              <a:xfrm>
                <a:off x="457200" y="5410201"/>
                <a:ext cx="4953000" cy="1186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/>
              </a:bodyPr>
              <a:lstStyle>
                <a:lvl1pPr marL="319088" indent="-319088" algn="l" rtl="0" eaLnBrk="1" fontAlgn="base" hangingPunct="1">
                  <a:spcBef>
                    <a:spcPts val="7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"/>
                  <a:defRPr sz="2400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39763" indent="-273050" algn="l" rtl="0" eaLnBrk="1" fontAlgn="base" hangingPunct="1">
                  <a:spcBef>
                    <a:spcPts val="550"/>
                  </a:spcBef>
                  <a:spcAft>
                    <a:spcPct val="0"/>
                  </a:spcAft>
                  <a:buClr>
                    <a:schemeClr val="accent1"/>
                  </a:buClr>
                  <a:buSzPct val="70000"/>
                  <a:buFont typeface="Wingdings 2" pitchFamily="18" charset="2"/>
                  <a:buChar char=""/>
                  <a:defRPr sz="2400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914400" indent="-228600" algn="l" rtl="0" eaLnBrk="1" fontAlgn="base" hangingPunct="1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5000"/>
                  <a:buFont typeface="Wingdings" pitchFamily="2" charset="2"/>
                  <a:buChar char=""/>
                  <a:defRPr sz="2400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371600" indent="-228600" algn="l" rtl="0" eaLnBrk="1" fontAlgn="base" hangingPunct="1">
                  <a:spcBef>
                    <a:spcPts val="400"/>
                  </a:spcBef>
                  <a:spcAft>
                    <a:spcPct val="0"/>
                  </a:spcAft>
                  <a:buClr>
                    <a:srgbClr val="A5AB81"/>
                  </a:buClr>
                  <a:buSzPct val="75000"/>
                  <a:buFont typeface="Wingdings" pitchFamily="2" charset="2"/>
                  <a:buChar char=""/>
                  <a:defRPr sz="2400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1828800" indent="-228600" algn="l" rtl="0" eaLnBrk="1" fontAlgn="base" hangingPunct="1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itchFamily="2" charset="2"/>
                  <a:buChar char=""/>
                  <a:defRPr sz="2400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FF0000"/>
                            </a:solidFill>
                          </a:rPr>
                          <m:t>90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𝑝𝑒𝑟𝑐𝑒𝑛𝑡𝑖𝑙𝑒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𝑝𝑟𝑖𝑐𝑒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FF0000"/>
                            </a:solidFill>
                          </a:rPr>
                          <m:t>10</m:t>
                        </m:r>
                      </m:e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𝑝𝑒𝑟𝑐𝑒𝑛𝑡𝑖𝑙𝑒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FF0000"/>
                        </a:solidFill>
                      </a:rPr>
                      <m:t>𝑝𝑟𝑖𝑐𝑒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Top decile share grew 5 </a:t>
                </a:r>
                <a:r>
                  <a:rPr lang="en-US" sz="1600" dirty="0" err="1"/>
                  <a:t>pct</a:t>
                </a:r>
                <a:r>
                  <a:rPr lang="en-US" sz="1600" dirty="0"/>
                  <a:t> points from 1995 to 2000 (lowest decile fell 10 </a:t>
                </a:r>
                <a:r>
                  <a:rPr lang="en-US" sz="1600" dirty="0" err="1"/>
                  <a:t>pct</a:t>
                </a:r>
                <a:r>
                  <a:rPr lang="en-US" sz="1600" dirty="0"/>
                  <a:t> points!)</a:t>
                </a:r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410201"/>
                <a:ext cx="4953000" cy="1186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943600" y="2286000"/>
            <a:ext cx="32623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82 </a:t>
            </a:r>
            <a:r>
              <a:rPr lang="en-US" sz="1400" u="sng" dirty="0"/>
              <a:t>undifferentiated</a:t>
            </a:r>
            <a:r>
              <a:rPr lang="en-US" sz="1400" dirty="0"/>
              <a:t> products in US in 2000</a:t>
            </a:r>
          </a:p>
        </p:txBody>
      </p:sp>
      <p:sp>
        <p:nvSpPr>
          <p:cNvPr id="8" name="Right Brace 7"/>
          <p:cNvSpPr/>
          <p:nvPr/>
        </p:nvSpPr>
        <p:spPr>
          <a:xfrm rot="5400000">
            <a:off x="4757570" y="3462170"/>
            <a:ext cx="238460" cy="1828800"/>
          </a:xfrm>
          <a:prstGeom prst="rightBrace">
            <a:avLst>
              <a:gd name="adj1" fmla="val 8333"/>
              <a:gd name="adj2" fmla="val 48678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191000" y="4475533"/>
            <a:ext cx="1371600" cy="302143"/>
          </a:xfrm>
          <a:prstGeom prst="ellipse">
            <a:avLst/>
          </a:prstGeom>
          <a:solidFill>
            <a:srgbClr val="FF0000">
              <a:alpha val="11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Brands</a:t>
            </a:r>
          </a:p>
        </p:txBody>
      </p:sp>
      <p:pic>
        <p:nvPicPr>
          <p:cNvPr id="12" name="Picture 2" descr="Top 10 Best Index Funds, Reviewed for 2020 | Banks.c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416" y="3935238"/>
            <a:ext cx="1093962" cy="109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15 Best Fidelity Funds for the Next Bull Market | Kiplinge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41578"/>
            <a:ext cx="1577978" cy="88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12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Packaging</a:t>
            </a:r>
            <a:r>
              <a:rPr lang="en-US" sz="4400" dirty="0"/>
              <a:t> can Communicate Value</a:t>
            </a:r>
            <a:br>
              <a:rPr lang="en-US" dirty="0"/>
            </a:br>
            <a:r>
              <a:rPr lang="en-US" sz="3600" dirty="0"/>
              <a:t>Plain Packaging in Australia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/>
              <a:t>Packaging can affect perceptions and WTP</a:t>
            </a:r>
          </a:p>
          <a:p>
            <a:r>
              <a:rPr lang="en-US" sz="2000" dirty="0"/>
              <a:t>$150,000 (1950s) on research to reposition Marlboro cigarette packaging to male consumers</a:t>
            </a:r>
          </a:p>
          <a:p>
            <a:pPr lvl="1"/>
            <a:r>
              <a:rPr lang="en-US" sz="1600" dirty="0"/>
              <a:t>120 designs were researched and tested</a:t>
            </a:r>
          </a:p>
          <a:p>
            <a:pPr lvl="1"/>
            <a:r>
              <a:rPr lang="en-US" sz="1600" dirty="0"/>
              <a:t>“red packs connote strong flavor …white packs suggest that a cigarette is low tar”</a:t>
            </a:r>
          </a:p>
          <a:p>
            <a:r>
              <a:rPr lang="en-US" sz="2000" dirty="0"/>
              <a:t>Australia plain packaging law (2012): all tobacco packaging color is “drab brown”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pic>
        <p:nvPicPr>
          <p:cNvPr id="1026" name="Picture 2" descr="http://a.fastcompany.net/multisite_files/coexist/imagecache/slideshow_large/slideshow/2013/07/1682655-slide-marlboro2006cf201200-lungca-front-org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267200"/>
            <a:ext cx="4082210" cy="255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57600" y="4267200"/>
            <a:ext cx="1981200" cy="2558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09800" y="377258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78444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Packaging</a:t>
            </a:r>
            <a:r>
              <a:rPr lang="en-US" sz="4400" dirty="0"/>
              <a:t> can Communicate Value</a:t>
            </a:r>
            <a:br>
              <a:rPr lang="en-US" dirty="0"/>
            </a:br>
            <a:r>
              <a:rPr lang="en-US" sz="3600" dirty="0"/>
              <a:t>Plain Packaging in Australia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/>
              <a:t>Packaging can affect perceptions and WTP</a:t>
            </a:r>
          </a:p>
          <a:p>
            <a:r>
              <a:rPr lang="en-US" sz="2000" dirty="0"/>
              <a:t>$150,000 (1950s) on research to reposition Marlboro cigarette packaging to male consumers</a:t>
            </a:r>
          </a:p>
          <a:p>
            <a:pPr lvl="1"/>
            <a:r>
              <a:rPr lang="en-US" sz="1600" dirty="0"/>
              <a:t>120 designs were researched and tested</a:t>
            </a:r>
          </a:p>
          <a:p>
            <a:pPr lvl="1"/>
            <a:r>
              <a:rPr lang="en-US" sz="1600" dirty="0"/>
              <a:t>“red packs connote strong flavor …white packs suggest that a cigarette is low tar”</a:t>
            </a:r>
          </a:p>
          <a:p>
            <a:r>
              <a:rPr lang="en-US" sz="2000" dirty="0"/>
              <a:t>Australia plain packaging law (2012): all tobacco packaging color is “drab brown”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10" name="Picture 2" descr="http://a.fastcompany.net/multisite_files/coexist/imagecache/slideshow_large/slideshow/2013/07/1682655-slide-marlboro2006cf201200-lungca-front-org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267200"/>
            <a:ext cx="4082210" cy="255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209800" y="377258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377258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after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5867400" y="4267200"/>
            <a:ext cx="2895600" cy="1371600"/>
          </a:xfrm>
          <a:prstGeom prst="wedgeEllipseCallout">
            <a:avLst>
              <a:gd name="adj1" fmla="val 21180"/>
              <a:gd name="adj2" fmla="val 589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“Customers are continually complaining about the taste of their cigarettes and refuse to believe that the tobacco has not changed.”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160" y="5814755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The Australian Retail Tobacconist, 2013</a:t>
            </a:r>
          </a:p>
          <a:p>
            <a:r>
              <a:rPr lang="en-US" sz="800" dirty="0"/>
              <a:t>Months after PP was enacted.</a:t>
            </a:r>
          </a:p>
        </p:txBody>
      </p:sp>
    </p:spTree>
    <p:extLst>
      <p:ext uri="{BB962C8B-B14F-4D97-AF65-F5344CB8AC3E}">
        <p14:creationId xmlns:p14="http://schemas.microsoft.com/office/powerpoint/2010/main" val="1231091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Marketing can Communicate Value </a:t>
            </a:r>
            <a:r>
              <a:rPr lang="en-US" sz="3600" dirty="0"/>
              <a:t>Persuasive Advertising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676400"/>
          </a:xfrm>
        </p:spPr>
        <p:txBody>
          <a:bodyPr>
            <a:normAutofit fontScale="92500"/>
          </a:bodyPr>
          <a:lstStyle/>
          <a:p>
            <a:r>
              <a:rPr lang="en-US" dirty="0"/>
              <a:t>Persuasive advertising can affect WTP</a:t>
            </a:r>
          </a:p>
          <a:p>
            <a:r>
              <a:rPr lang="en-US" dirty="0"/>
              <a:t>A Direct Mail field experiment with South African Bank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Switch to “</a:t>
            </a:r>
            <a:r>
              <a:rPr lang="en-US" i="1" dirty="0">
                <a:solidFill>
                  <a:srgbClr val="FF0000"/>
                </a:solidFill>
              </a:rPr>
              <a:t>attractive woman</a:t>
            </a:r>
            <a:r>
              <a:rPr lang="en-US" dirty="0">
                <a:solidFill>
                  <a:srgbClr val="FF0000"/>
                </a:solidFill>
              </a:rPr>
              <a:t>” increased loan applications by same amount as a 25% reduction in the interest rate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0" r="6558" b="2714"/>
          <a:stretch/>
        </p:blipFill>
        <p:spPr bwMode="auto">
          <a:xfrm>
            <a:off x="2895600" y="3276600"/>
            <a:ext cx="3297723" cy="34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40"/>
          <a:stretch/>
        </p:blipFill>
        <p:spPr bwMode="auto">
          <a:xfrm>
            <a:off x="7162800" y="4990944"/>
            <a:ext cx="697117" cy="10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5334000" y="5486400"/>
            <a:ext cx="9906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324600" y="5791200"/>
            <a:ext cx="615258" cy="228600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939858" y="4844249"/>
            <a:ext cx="1143000" cy="14041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423592"/>
            <a:ext cx="286452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hlinkClick r:id="rId4"/>
              </a:rPr>
              <a:t>Source: Bertrand et al (2010)</a:t>
            </a:r>
            <a:endParaRPr lang="en-US" sz="1100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40"/>
          <a:stretch/>
        </p:blipFill>
        <p:spPr bwMode="auto">
          <a:xfrm>
            <a:off x="5480741" y="5604301"/>
            <a:ext cx="697117" cy="111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" t="2028" r="13113" b="2147"/>
          <a:stretch/>
        </p:blipFill>
        <p:spPr bwMode="auto">
          <a:xfrm>
            <a:off x="7193872" y="4971125"/>
            <a:ext cx="712560" cy="115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68390" y="4264241"/>
            <a:ext cx="2674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Randomly switch image</a:t>
            </a:r>
          </a:p>
        </p:txBody>
      </p:sp>
    </p:spTree>
    <p:extLst>
      <p:ext uri="{BB962C8B-B14F-4D97-AF65-F5344CB8AC3E}">
        <p14:creationId xmlns:p14="http://schemas.microsoft.com/office/powerpoint/2010/main" val="117084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Selling</a:t>
            </a:r>
            <a:r>
              <a:rPr lang="en-US" dirty="0"/>
              <a:t> the Price DM 122,150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Kone</a:t>
            </a:r>
            <a:r>
              <a:rPr lang="en-US" dirty="0"/>
              <a:t> Elevator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6E90D4-FAAA-4274-A13C-F93D3EA598E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00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"/>
          <p:cNvSpPr txBox="1">
            <a:spLocks noChangeAspect="1"/>
          </p:cNvSpPr>
          <p:nvPr/>
        </p:nvSpPr>
        <p:spPr>
          <a:xfrm>
            <a:off x="4172497" y="2469121"/>
            <a:ext cx="189405" cy="189405"/>
          </a:xfrm>
          <a:prstGeom prst="ellipse">
            <a:avLst/>
          </a:prstGeom>
          <a:solidFill>
            <a:srgbClr val="00B0F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0" y="2332990"/>
            <a:ext cx="2244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142,400 (EVC)</a:t>
            </a:r>
          </a:p>
        </p:txBody>
      </p:sp>
      <p:sp>
        <p:nvSpPr>
          <p:cNvPr id="26" name="Text Placeholder 2"/>
          <p:cNvSpPr txBox="1">
            <a:spLocks noChangeAspect="1"/>
          </p:cNvSpPr>
          <p:nvPr/>
        </p:nvSpPr>
        <p:spPr>
          <a:xfrm>
            <a:off x="4172497" y="4383132"/>
            <a:ext cx="189405" cy="189405"/>
          </a:xfrm>
          <a:prstGeom prst="ellipse">
            <a:avLst/>
          </a:prstGeom>
          <a:solidFill>
            <a:srgbClr val="FF000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4247001"/>
            <a:ext cx="2241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122,150 (price)</a:t>
            </a:r>
          </a:p>
        </p:txBody>
      </p:sp>
      <p:sp>
        <p:nvSpPr>
          <p:cNvPr id="24" name="Text Placeholder 2"/>
          <p:cNvSpPr txBox="1">
            <a:spLocks noChangeAspect="1"/>
          </p:cNvSpPr>
          <p:nvPr/>
        </p:nvSpPr>
        <p:spPr>
          <a:xfrm>
            <a:off x="4172497" y="5181600"/>
            <a:ext cx="189405" cy="189405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 flipV="1">
            <a:off x="4267200" y="1888068"/>
            <a:ext cx="0" cy="451273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“</a:t>
            </a:r>
            <a:r>
              <a:rPr lang="en-US" sz="4000" i="1" dirty="0"/>
              <a:t>Selling</a:t>
            </a:r>
            <a:r>
              <a:rPr lang="en-US" sz="4000" dirty="0"/>
              <a:t>” the price of DM122,150</a:t>
            </a:r>
            <a:br>
              <a:rPr lang="en-US" sz="4000" dirty="0"/>
            </a:br>
            <a:r>
              <a:rPr lang="en-US" sz="3200" dirty="0"/>
              <a:t>segment 1 (PH)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20" name="Line 30"/>
          <p:cNvSpPr>
            <a:spLocks noChangeShapeType="1"/>
          </p:cNvSpPr>
          <p:nvPr/>
        </p:nvSpPr>
        <p:spPr bwMode="auto">
          <a:xfrm>
            <a:off x="3561801" y="6400800"/>
            <a:ext cx="160020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572000" y="5045469"/>
            <a:ext cx="2475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65,200 (unit cost)</a:t>
            </a:r>
          </a:p>
        </p:txBody>
      </p:sp>
      <p:sp>
        <p:nvSpPr>
          <p:cNvPr id="32" name="Left Brace 31"/>
          <p:cNvSpPr/>
          <p:nvPr/>
        </p:nvSpPr>
        <p:spPr>
          <a:xfrm>
            <a:off x="3657600" y="4495799"/>
            <a:ext cx="210098" cy="87520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80517" y="4471736"/>
            <a:ext cx="2422523" cy="923330"/>
          </a:xfrm>
          <a:prstGeom prst="rect">
            <a:avLst/>
          </a:prstGeom>
          <a:solidFill>
            <a:schemeClr val="accent2">
              <a:alpha val="1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Kone’s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incentive to sell</a:t>
            </a:r>
            <a:r>
              <a:rPr lang="en-US" sz="1800" dirty="0"/>
              <a:t>:</a:t>
            </a:r>
          </a:p>
          <a:p>
            <a:r>
              <a:rPr lang="en-US" sz="1800" dirty="0"/>
              <a:t>= price – cost</a:t>
            </a:r>
          </a:p>
          <a:p>
            <a:r>
              <a:rPr lang="en-US" sz="1800" dirty="0"/>
              <a:t>=122,150-65,200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2800" y="4970895"/>
            <a:ext cx="1219200" cy="1429904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Reference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Value</a:t>
            </a:r>
          </a:p>
          <a:p>
            <a:pPr algn="ctr"/>
            <a:endParaRPr lang="en-US" sz="1200" dirty="0">
              <a:solidFill>
                <a:srgbClr val="0070C0"/>
              </a:solidFill>
            </a:endParaRP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80,000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3045" y="4038599"/>
            <a:ext cx="1219200" cy="93229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Machine Room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20,000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62800" y="3243952"/>
            <a:ext cx="1219200" cy="794647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Energy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20,000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2800" y="2906855"/>
            <a:ext cx="1219200" cy="29354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070C0"/>
                </a:solidFill>
              </a:rPr>
              <a:t>Oil</a:t>
            </a:r>
          </a:p>
          <a:p>
            <a:pPr algn="ctr"/>
            <a:r>
              <a:rPr lang="en-US" sz="1050" dirty="0">
                <a:solidFill>
                  <a:srgbClr val="0070C0"/>
                </a:solidFill>
              </a:rPr>
              <a:t>DM 1,000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2800" y="2469121"/>
            <a:ext cx="1219200" cy="40132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Fuses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7,400</a:t>
            </a:r>
          </a:p>
        </p:txBody>
      </p:sp>
    </p:spTree>
    <p:extLst>
      <p:ext uri="{BB962C8B-B14F-4D97-AF65-F5344CB8AC3E}">
        <p14:creationId xmlns:p14="http://schemas.microsoft.com/office/powerpoint/2010/main" val="152915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4" grpId="0" animBg="1"/>
      <p:bldP spid="25" grpId="0"/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"/>
          <p:cNvSpPr txBox="1">
            <a:spLocks noChangeAspect="1"/>
          </p:cNvSpPr>
          <p:nvPr/>
        </p:nvSpPr>
        <p:spPr>
          <a:xfrm>
            <a:off x="4172497" y="3403720"/>
            <a:ext cx="189405" cy="189405"/>
          </a:xfrm>
          <a:prstGeom prst="ellipse">
            <a:avLst/>
          </a:prstGeom>
          <a:solidFill>
            <a:srgbClr val="7030A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3267589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(perceived value)</a:t>
            </a:r>
          </a:p>
        </p:txBody>
      </p:sp>
      <p:sp>
        <p:nvSpPr>
          <p:cNvPr id="28" name="Text Placeholder 2"/>
          <p:cNvSpPr txBox="1">
            <a:spLocks noChangeAspect="1"/>
          </p:cNvSpPr>
          <p:nvPr/>
        </p:nvSpPr>
        <p:spPr>
          <a:xfrm>
            <a:off x="4172497" y="2469121"/>
            <a:ext cx="189405" cy="189405"/>
          </a:xfrm>
          <a:prstGeom prst="ellipse">
            <a:avLst/>
          </a:prstGeom>
          <a:solidFill>
            <a:srgbClr val="00B0F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0" y="2332990"/>
            <a:ext cx="2244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142,400 (EVC)</a:t>
            </a:r>
          </a:p>
        </p:txBody>
      </p:sp>
      <p:sp>
        <p:nvSpPr>
          <p:cNvPr id="26" name="Text Placeholder 2"/>
          <p:cNvSpPr txBox="1">
            <a:spLocks noChangeAspect="1"/>
          </p:cNvSpPr>
          <p:nvPr/>
        </p:nvSpPr>
        <p:spPr>
          <a:xfrm>
            <a:off x="4172497" y="4383132"/>
            <a:ext cx="189405" cy="189405"/>
          </a:xfrm>
          <a:prstGeom prst="ellipse">
            <a:avLst/>
          </a:prstGeom>
          <a:solidFill>
            <a:srgbClr val="FF000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4247001"/>
            <a:ext cx="2241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122,150 (price)</a:t>
            </a:r>
          </a:p>
        </p:txBody>
      </p:sp>
      <p:sp>
        <p:nvSpPr>
          <p:cNvPr id="24" name="Text Placeholder 2"/>
          <p:cNvSpPr txBox="1">
            <a:spLocks noChangeAspect="1"/>
          </p:cNvSpPr>
          <p:nvPr/>
        </p:nvSpPr>
        <p:spPr>
          <a:xfrm>
            <a:off x="4172497" y="5181600"/>
            <a:ext cx="189405" cy="189405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 flipV="1">
            <a:off x="4267200" y="1888068"/>
            <a:ext cx="0" cy="451273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“</a:t>
            </a:r>
            <a:r>
              <a:rPr lang="en-US" sz="4000" i="1" dirty="0"/>
              <a:t>Selling</a:t>
            </a:r>
            <a:r>
              <a:rPr lang="en-US" sz="4000" dirty="0"/>
              <a:t>” the price of DM122,150</a:t>
            </a:r>
            <a:br>
              <a:rPr lang="en-US" sz="4000" dirty="0"/>
            </a:br>
            <a:r>
              <a:rPr lang="en-US" sz="3200" dirty="0"/>
              <a:t>segment 1 (PH)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20" name="Line 30"/>
          <p:cNvSpPr>
            <a:spLocks noChangeShapeType="1"/>
          </p:cNvSpPr>
          <p:nvPr/>
        </p:nvSpPr>
        <p:spPr bwMode="auto">
          <a:xfrm>
            <a:off x="3561801" y="6400800"/>
            <a:ext cx="160020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572000" y="5045469"/>
            <a:ext cx="2475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 65,200 (unit cost)</a:t>
            </a:r>
          </a:p>
        </p:txBody>
      </p:sp>
      <p:sp>
        <p:nvSpPr>
          <p:cNvPr id="32" name="Left Brace 31"/>
          <p:cNvSpPr/>
          <p:nvPr/>
        </p:nvSpPr>
        <p:spPr>
          <a:xfrm>
            <a:off x="3657600" y="4495799"/>
            <a:ext cx="210098" cy="87520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80517" y="4471736"/>
            <a:ext cx="2422523" cy="923330"/>
          </a:xfrm>
          <a:prstGeom prst="rect">
            <a:avLst/>
          </a:prstGeom>
          <a:solidFill>
            <a:schemeClr val="accent2">
              <a:alpha val="1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Kone’s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incentive to sell</a:t>
            </a:r>
            <a:r>
              <a:rPr lang="en-US" sz="1800" dirty="0"/>
              <a:t>:</a:t>
            </a:r>
          </a:p>
          <a:p>
            <a:r>
              <a:rPr lang="en-US" sz="1800" dirty="0"/>
              <a:t>= price – cost</a:t>
            </a:r>
          </a:p>
          <a:p>
            <a:r>
              <a:rPr lang="en-US" sz="1800" dirty="0"/>
              <a:t>=122,150-65,200</a:t>
            </a:r>
          </a:p>
        </p:txBody>
      </p:sp>
      <p:sp>
        <p:nvSpPr>
          <p:cNvPr id="34" name="Left Brace 33"/>
          <p:cNvSpPr/>
          <p:nvPr/>
        </p:nvSpPr>
        <p:spPr>
          <a:xfrm>
            <a:off x="3657600" y="3505199"/>
            <a:ext cx="210098" cy="910203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7988" y="3636425"/>
            <a:ext cx="2867580" cy="646331"/>
          </a:xfrm>
          <a:prstGeom prst="rect">
            <a:avLst/>
          </a:prstGeom>
          <a:solidFill>
            <a:schemeClr val="accent2">
              <a:alpha val="1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Customer’s incentive to buy</a:t>
            </a:r>
            <a:r>
              <a:rPr lang="en-US" sz="1800" dirty="0"/>
              <a:t>:</a:t>
            </a:r>
          </a:p>
          <a:p>
            <a:r>
              <a:rPr lang="en-US" sz="1800" dirty="0"/>
              <a:t>= perceived value - price</a:t>
            </a:r>
          </a:p>
        </p:txBody>
      </p:sp>
      <p:sp>
        <p:nvSpPr>
          <p:cNvPr id="21" name="Left Brace 20"/>
          <p:cNvSpPr/>
          <p:nvPr/>
        </p:nvSpPr>
        <p:spPr>
          <a:xfrm>
            <a:off x="3657599" y="2559705"/>
            <a:ext cx="210098" cy="910203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51676" y="2830140"/>
            <a:ext cx="2973892" cy="369332"/>
          </a:xfrm>
          <a:prstGeom prst="rect">
            <a:avLst/>
          </a:prstGeom>
          <a:solidFill>
            <a:schemeClr val="accent2">
              <a:alpha val="1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 of your marketing</a:t>
            </a:r>
            <a:endParaRPr lang="en-US" sz="1800" dirty="0"/>
          </a:p>
        </p:txBody>
      </p:sp>
      <p:sp>
        <p:nvSpPr>
          <p:cNvPr id="40" name="Rectangle 39"/>
          <p:cNvSpPr/>
          <p:nvPr/>
        </p:nvSpPr>
        <p:spPr>
          <a:xfrm>
            <a:off x="7162800" y="4970895"/>
            <a:ext cx="1219200" cy="1429904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Reference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Value</a:t>
            </a:r>
          </a:p>
          <a:p>
            <a:pPr algn="ctr"/>
            <a:endParaRPr lang="en-US" sz="1200" dirty="0">
              <a:solidFill>
                <a:srgbClr val="0070C0"/>
              </a:solidFill>
            </a:endParaRP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80,000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63045" y="4038599"/>
            <a:ext cx="1219200" cy="93229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Machine Room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20,000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2800" y="3243952"/>
            <a:ext cx="1219200" cy="794647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Energy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20,000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62800" y="2906855"/>
            <a:ext cx="1219200" cy="29354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070C0"/>
                </a:solidFill>
              </a:rPr>
              <a:t>Oil</a:t>
            </a:r>
          </a:p>
          <a:p>
            <a:pPr algn="ctr"/>
            <a:r>
              <a:rPr lang="en-US" sz="1050" dirty="0">
                <a:solidFill>
                  <a:srgbClr val="0070C0"/>
                </a:solidFill>
              </a:rPr>
              <a:t>DM 1,000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2800" y="2469121"/>
            <a:ext cx="1219200" cy="401325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Fuses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DM 7,400</a:t>
            </a:r>
          </a:p>
        </p:txBody>
      </p:sp>
    </p:spTree>
    <p:extLst>
      <p:ext uri="{BB962C8B-B14F-4D97-AF65-F5344CB8AC3E}">
        <p14:creationId xmlns:p14="http://schemas.microsoft.com/office/powerpoint/2010/main" val="342885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21" grpId="0" animBg="1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Etiquette, culture and price increases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996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Price increases should consider social norms and etiquette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Norms and etiquette vary across countries and cultures</a:t>
            </a:r>
          </a:p>
          <a:p>
            <a:r>
              <a:rPr lang="en-US" dirty="0"/>
              <a:t>In Japan, price increases often require “apology” advertising: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	“Inflation Means Never Having to Say You’re Sorry”</a:t>
            </a:r>
          </a:p>
          <a:p>
            <a:pPr marL="0" indent="0" algn="r">
              <a:buNone/>
            </a:pPr>
            <a:r>
              <a:rPr lang="en-US" sz="1100" dirty="0"/>
              <a:t>Miho Inada, </a:t>
            </a:r>
            <a:r>
              <a:rPr lang="en-US" sz="1100" i="1" dirty="0"/>
              <a:t>Wall Street Journal, August 10, 2022</a:t>
            </a:r>
            <a:endParaRPr lang="en-US" sz="1100" dirty="0"/>
          </a:p>
          <a:p>
            <a:endParaRPr lang="en-US" dirty="0"/>
          </a:p>
          <a:p>
            <a:r>
              <a:rPr lang="en-US" dirty="0"/>
              <a:t>Some cultures expect to </a:t>
            </a:r>
            <a:r>
              <a:rPr lang="en-US" i="1" dirty="0"/>
              <a:t>barter</a:t>
            </a:r>
            <a:r>
              <a:rPr lang="en-US" dirty="0"/>
              <a:t>.  So start high with a number you can afford to lose.</a:t>
            </a:r>
          </a:p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b="1" dirty="0"/>
              <a:t>Negotiating with a Customer You Can’t Afford to Lose”</a:t>
            </a:r>
          </a:p>
          <a:p>
            <a:pPr marL="0" indent="0" algn="r">
              <a:buNone/>
            </a:pPr>
            <a:r>
              <a:rPr lang="en-US" sz="1100" dirty="0"/>
              <a:t>Thomas C. Keiser, </a:t>
            </a:r>
            <a:r>
              <a:rPr lang="en-US" sz="1100" i="1" dirty="0"/>
              <a:t>Harvard Business Review</a:t>
            </a:r>
            <a:r>
              <a:rPr lang="en-US" sz="1100" dirty="0"/>
              <a:t>, Nov. 1988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Etiquette, culture and price increases</a:t>
            </a:r>
          </a:p>
        </p:txBody>
      </p:sp>
    </p:spTree>
    <p:extLst>
      <p:ext uri="{BB962C8B-B14F-4D97-AF65-F5344CB8AC3E}">
        <p14:creationId xmlns:p14="http://schemas.microsoft.com/office/powerpoint/2010/main" val="12442772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40000" lnSpcReduction="2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400" dirty="0"/>
              <a:t>Negotiation Styles: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USA</a:t>
            </a:r>
            <a:r>
              <a:rPr lang="en-US" sz="6400" dirty="0"/>
              <a:t>: Speed, cost and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Canada</a:t>
            </a:r>
            <a:r>
              <a:rPr lang="en-US" sz="6400" dirty="0"/>
              <a:t>: Information sharing and problem solving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China</a:t>
            </a:r>
            <a:r>
              <a:rPr lang="en-US" sz="6400" dirty="0"/>
              <a:t>: A soft sell and a hard buy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Norway</a:t>
            </a:r>
            <a:r>
              <a:rPr lang="en-US" sz="6400" dirty="0"/>
              <a:t>: Collaboration and consensus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United Arab Emirates</a:t>
            </a:r>
            <a:r>
              <a:rPr lang="en-US" sz="6400" dirty="0"/>
              <a:t>: Price and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Australia</a:t>
            </a:r>
            <a:r>
              <a:rPr lang="en-US" sz="6400" dirty="0"/>
              <a:t>: A sense of fair play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6400" u="sng" dirty="0"/>
              <a:t>Zambia</a:t>
            </a:r>
            <a:r>
              <a:rPr lang="en-US" sz="6400" dirty="0"/>
              <a:t>: Flexibility and commitment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700" b="1" dirty="0"/>
              <a:t>Source</a:t>
            </a:r>
            <a:r>
              <a:rPr lang="en-US" sz="3700" dirty="0"/>
              <a:t>: “Differences In Negotiating Across Cultures,” </a:t>
            </a:r>
            <a:r>
              <a:rPr lang="en-US" sz="3700" i="1" dirty="0"/>
              <a:t>Country Navigator</a:t>
            </a:r>
            <a:r>
              <a:rPr lang="en-US" sz="3700" dirty="0"/>
              <a:t>, August 2, 2021.</a:t>
            </a:r>
          </a:p>
          <a:p>
            <a:pPr marL="0" indent="0">
              <a:buNone/>
            </a:pPr>
            <a:r>
              <a:rPr lang="en-US" sz="3700" dirty="0">
                <a:hlinkClick r:id="rId2"/>
              </a:rPr>
              <a:t>https://www.countrynavigator.com/blog/negotiating-across-cultures/</a:t>
            </a:r>
            <a:r>
              <a:rPr lang="en-US" sz="37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Price Negotiations across cultures</a:t>
            </a:r>
          </a:p>
        </p:txBody>
      </p:sp>
    </p:spTree>
    <p:extLst>
      <p:ext uri="{BB962C8B-B14F-4D97-AF65-F5344CB8AC3E}">
        <p14:creationId xmlns:p14="http://schemas.microsoft.com/office/powerpoint/2010/main" val="404854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8801519</TotalTime>
  <Pages>12</Pages>
  <Words>2514</Words>
  <Application>Microsoft Office PowerPoint</Application>
  <PresentationFormat>Letter Paper (8.5x11 in)</PresentationFormat>
  <Paragraphs>526</Paragraphs>
  <Slides>50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Arial</vt:lpstr>
      <vt:lpstr>Baskerville Old Face</vt:lpstr>
      <vt:lpstr>Cambria Math</vt:lpstr>
      <vt:lpstr>Franklin Gothic Medium</vt:lpstr>
      <vt:lpstr>Monotype Sorts</vt:lpstr>
      <vt:lpstr>Showcard Gothic</vt:lpstr>
      <vt:lpstr>Symbol</vt:lpstr>
      <vt:lpstr>Symbol MT</vt:lpstr>
      <vt:lpstr>Times New Roman</vt:lpstr>
      <vt:lpstr>Tw Cen MT</vt:lpstr>
      <vt:lpstr>Tw Cen MT (Headings)</vt:lpstr>
      <vt:lpstr>Wingdings</vt:lpstr>
      <vt:lpstr>Wingdings 2</vt:lpstr>
      <vt:lpstr>temp</vt:lpstr>
      <vt:lpstr>Economic Value Analysis  Incorporating ‘value’ into pricing</vt:lpstr>
      <vt:lpstr>Canvas</vt:lpstr>
      <vt:lpstr>Overview</vt:lpstr>
      <vt:lpstr>I. Value and Willingness-to-Pay</vt:lpstr>
      <vt:lpstr>The EVC Framework</vt:lpstr>
      <vt:lpstr>Theory: Use value vs Economic Value Coca Cola on the beach</vt:lpstr>
      <vt:lpstr>Economic Value to the Customer (EVC)</vt:lpstr>
      <vt:lpstr>Economic Value to the Customer (EVC)</vt:lpstr>
      <vt:lpstr>Economics of Buying Behavior The Maximum-Willingness-to-Pay (WTP)</vt:lpstr>
      <vt:lpstr>Calculating economic value</vt:lpstr>
      <vt:lpstr>An EVC case study Kone - The Monospace Launch</vt:lpstr>
      <vt:lpstr>An EVC case study Kone - The Monospace Launch</vt:lpstr>
      <vt:lpstr>An EVC case study Kone - The Monospace Launch</vt:lpstr>
      <vt:lpstr>An EVC case study Kone - The Monospace Launch</vt:lpstr>
      <vt:lpstr>An EVC case study Kone - The Monospace Launch</vt:lpstr>
      <vt:lpstr>EVC case study B2B tech buyers WANT price transparency</vt:lpstr>
      <vt:lpstr>Kone: Decomposing the Value example: segment 1</vt:lpstr>
      <vt:lpstr>EVC as an analytic tool</vt:lpstr>
      <vt:lpstr>Coordinating the 4Ps to create EVC This is marketing in a nutshell</vt:lpstr>
      <vt:lpstr>II. EVC, Demand &amp; the Monetizable Opportunity</vt:lpstr>
      <vt:lpstr>EVC and Demand</vt:lpstr>
      <vt:lpstr>EVC &amp; Pricing Trade-offs Example: Kone Monospace Launch</vt:lpstr>
      <vt:lpstr>EVC &amp; Pricing Trade-offs Example: Kone Monospace Launch</vt:lpstr>
      <vt:lpstr>Deriving Demand from EVC Example: Kone Monospace Launch</vt:lpstr>
      <vt:lpstr>Deriving Demand from EVC Example: Kone Monospace Launch</vt:lpstr>
      <vt:lpstr>III. Demand and Optimal Pricing</vt:lpstr>
      <vt:lpstr>The Pricing Decision Setting the Profit-Maximizing Price</vt:lpstr>
      <vt:lpstr>The Kone Pricing Decision</vt:lpstr>
      <vt:lpstr>The Kone Pricing Decision</vt:lpstr>
      <vt:lpstr>The Kone Pricing Decision</vt:lpstr>
      <vt:lpstr>The Kone Pricing Decision</vt:lpstr>
      <vt:lpstr>Pricing &amp; Value</vt:lpstr>
      <vt:lpstr>Demand Measurement</vt:lpstr>
      <vt:lpstr>Take Away</vt:lpstr>
      <vt:lpstr>Appendix: Identifying and Measuring Differentiation Value &amp; the 4P’s</vt:lpstr>
      <vt:lpstr>Sources of Customer Value</vt:lpstr>
      <vt:lpstr>Value Inhibitors</vt:lpstr>
      <vt:lpstr>Coordinating the 4Ps to create EVC This is marketing in a nutshell</vt:lpstr>
      <vt:lpstr>Brand Reputation and Perceived Value Example: Large online Qatari pharmacy</vt:lpstr>
      <vt:lpstr>Brand Reputation &amp; Perceived Value Experts aren’t fooled</vt:lpstr>
      <vt:lpstr>Brand Reputation &amp; Perceived Value Brands also matter in Financial Services!</vt:lpstr>
      <vt:lpstr>Packaging can Communicate Value Plain Packaging in Australia</vt:lpstr>
      <vt:lpstr>Packaging can Communicate Value Plain Packaging in Australia</vt:lpstr>
      <vt:lpstr>Direct Marketing can Communicate Value Persuasive Advertising</vt:lpstr>
      <vt:lpstr>Kone Elevator</vt:lpstr>
      <vt:lpstr>“Selling” the price of DM122,150 segment 1 (PH)</vt:lpstr>
      <vt:lpstr>“Selling” the price of DM122,150 segment 1 (PH)</vt:lpstr>
      <vt:lpstr>Etiquette, culture and price increases</vt:lpstr>
      <vt:lpstr>Etiquette, culture and price increases</vt:lpstr>
      <vt:lpstr>Price Negotiations across cultures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Value</dc:title>
  <dc:creator>JP Dube</dc:creator>
  <cp:lastModifiedBy>Dube, Jean-Pierre</cp:lastModifiedBy>
  <cp:revision>416</cp:revision>
  <cp:lastPrinted>1998-01-22T16:04:16Z</cp:lastPrinted>
  <dcterms:created xsi:type="dcterms:W3CDTF">1996-09-13T14:45:12Z</dcterms:created>
  <dcterms:modified xsi:type="dcterms:W3CDTF">2025-06-11T08:01:46Z</dcterms:modified>
</cp:coreProperties>
</file>