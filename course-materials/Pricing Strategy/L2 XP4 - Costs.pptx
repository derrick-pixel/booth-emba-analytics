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802" r:id="rId1"/>
  </p:sldMasterIdLst>
  <p:notesMasterIdLst>
    <p:notesMasterId r:id="rId78"/>
  </p:notesMasterIdLst>
  <p:handoutMasterIdLst>
    <p:handoutMasterId r:id="rId79"/>
  </p:handoutMasterIdLst>
  <p:sldIdLst>
    <p:sldId id="256" r:id="rId2"/>
    <p:sldId id="372" r:id="rId3"/>
    <p:sldId id="351" r:id="rId4"/>
    <p:sldId id="352" r:id="rId5"/>
    <p:sldId id="436" r:id="rId6"/>
    <p:sldId id="353" r:id="rId7"/>
    <p:sldId id="390" r:id="rId8"/>
    <p:sldId id="355" r:id="rId9"/>
    <p:sldId id="391" r:id="rId10"/>
    <p:sldId id="373" r:id="rId11"/>
    <p:sldId id="335" r:id="rId12"/>
    <p:sldId id="374" r:id="rId13"/>
    <p:sldId id="403" r:id="rId14"/>
    <p:sldId id="375" r:id="rId15"/>
    <p:sldId id="437" r:id="rId16"/>
    <p:sldId id="392" r:id="rId17"/>
    <p:sldId id="462" r:id="rId18"/>
    <p:sldId id="384" r:id="rId19"/>
    <p:sldId id="453" r:id="rId20"/>
    <p:sldId id="459" r:id="rId21"/>
    <p:sldId id="461" r:id="rId22"/>
    <p:sldId id="463" r:id="rId23"/>
    <p:sldId id="450" r:id="rId24"/>
    <p:sldId id="440" r:id="rId25"/>
    <p:sldId id="448" r:id="rId26"/>
    <p:sldId id="441" r:id="rId27"/>
    <p:sldId id="464" r:id="rId28"/>
    <p:sldId id="457" r:id="rId29"/>
    <p:sldId id="465" r:id="rId30"/>
    <p:sldId id="367" r:id="rId31"/>
    <p:sldId id="456" r:id="rId32"/>
    <p:sldId id="368" r:id="rId33"/>
    <p:sldId id="466" r:id="rId34"/>
    <p:sldId id="446" r:id="rId35"/>
    <p:sldId id="460" r:id="rId36"/>
    <p:sldId id="404" r:id="rId37"/>
    <p:sldId id="370" r:id="rId38"/>
    <p:sldId id="381" r:id="rId39"/>
    <p:sldId id="382" r:id="rId40"/>
    <p:sldId id="447" r:id="rId41"/>
    <p:sldId id="383" r:id="rId42"/>
    <p:sldId id="385" r:id="rId43"/>
    <p:sldId id="386" r:id="rId44"/>
    <p:sldId id="387" r:id="rId45"/>
    <p:sldId id="388" r:id="rId46"/>
    <p:sldId id="389" r:id="rId47"/>
    <p:sldId id="406" r:id="rId48"/>
    <p:sldId id="408" r:id="rId49"/>
    <p:sldId id="409" r:id="rId50"/>
    <p:sldId id="410" r:id="rId51"/>
    <p:sldId id="411" r:id="rId52"/>
    <p:sldId id="412" r:id="rId53"/>
    <p:sldId id="413" r:id="rId54"/>
    <p:sldId id="414" r:id="rId55"/>
    <p:sldId id="415" r:id="rId56"/>
    <p:sldId id="416" r:id="rId57"/>
    <p:sldId id="417" r:id="rId58"/>
    <p:sldId id="418" r:id="rId59"/>
    <p:sldId id="419" r:id="rId60"/>
    <p:sldId id="420" r:id="rId61"/>
    <p:sldId id="421" r:id="rId62"/>
    <p:sldId id="422" r:id="rId63"/>
    <p:sldId id="423" r:id="rId64"/>
    <p:sldId id="424" r:id="rId65"/>
    <p:sldId id="428" r:id="rId66"/>
    <p:sldId id="425" r:id="rId67"/>
    <p:sldId id="426" r:id="rId68"/>
    <p:sldId id="427" r:id="rId69"/>
    <p:sldId id="433" r:id="rId70"/>
    <p:sldId id="431" r:id="rId71"/>
    <p:sldId id="432" r:id="rId72"/>
    <p:sldId id="429" r:id="rId73"/>
    <p:sldId id="449" r:id="rId74"/>
    <p:sldId id="434" r:id="rId75"/>
    <p:sldId id="430" r:id="rId76"/>
    <p:sldId id="435" r:id="rId77"/>
  </p:sldIdLst>
  <p:sldSz cx="9144000" cy="6858000" type="letter"/>
  <p:notesSz cx="6877050" cy="916305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6">
          <p15:clr>
            <a:srgbClr val="A4A3A4"/>
          </p15:clr>
        </p15:guide>
        <p15:guide id="2" pos="216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70" autoAdjust="0"/>
  </p:normalViewPr>
  <p:slideViewPr>
    <p:cSldViewPr>
      <p:cViewPr varScale="1">
        <p:scale>
          <a:sx n="155" d="100"/>
          <a:sy n="155" d="100"/>
        </p:scale>
        <p:origin x="1960" y="80"/>
      </p:cViewPr>
      <p:guideLst>
        <p:guide orient="horz" pos="2160"/>
        <p:guide pos="2880"/>
      </p:guideLst>
    </p:cSldViewPr>
  </p:slideViewPr>
  <p:outlineViewPr>
    <p:cViewPr>
      <p:scale>
        <a:sx n="33" d="100"/>
        <a:sy n="33" d="100"/>
      </p:scale>
      <p:origin x="34" y="1838"/>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5" d="100"/>
          <a:sy n="85" d="100"/>
        </p:scale>
        <p:origin x="-3816" y="-90"/>
      </p:cViewPr>
      <p:guideLst>
        <p:guide orient="horz" pos="2886"/>
        <p:guide pos="216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rts/_rels/chart1.xml.rels><?xml version="1.0" encoding="UTF-8" standalone="yes"?>
<Relationships xmlns="http://schemas.openxmlformats.org/package/2006/relationships"><Relationship Id="rId1" Type="http://schemas.openxmlformats.org/officeDocument/2006/relationships/oleObject" Target="file:///C:\jp\courses\pricing\kone\KONE_solutions.xls"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jp\courses\pricing\kone\KONE_solutions.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2000" b="1" i="0" u="sng" strike="noStrike" baseline="0">
                <a:solidFill>
                  <a:srgbClr val="000000"/>
                </a:solidFill>
                <a:latin typeface="Arial"/>
                <a:ea typeface="Arial"/>
                <a:cs typeface="Arial"/>
              </a:defRPr>
            </a:pPr>
            <a:r>
              <a:rPr lang="en-US"/>
              <a:t>Profit curve for MonoSpace</a:t>
            </a:r>
          </a:p>
        </c:rich>
      </c:tx>
      <c:layout>
        <c:manualLayout>
          <c:xMode val="edge"/>
          <c:yMode val="edge"/>
          <c:x val="0.29633740795188324"/>
          <c:y val="5.0571028444765957E-2"/>
        </c:manualLayout>
      </c:layout>
      <c:overlay val="0"/>
      <c:spPr>
        <a:noFill/>
        <a:ln w="25400">
          <a:noFill/>
        </a:ln>
      </c:spPr>
    </c:title>
    <c:autoTitleDeleted val="0"/>
    <c:plotArea>
      <c:layout>
        <c:manualLayout>
          <c:layoutTarget val="inner"/>
          <c:xMode val="edge"/>
          <c:yMode val="edge"/>
          <c:x val="0.23573272650381619"/>
          <c:y val="0.15968430460419708"/>
          <c:w val="0.61820199778024421"/>
          <c:h val="0.69657422512234912"/>
        </c:manualLayout>
      </c:layout>
      <c:scatterChart>
        <c:scatterStyle val="smoothMarker"/>
        <c:varyColors val="0"/>
        <c:ser>
          <c:idx val="3"/>
          <c:order val="0"/>
          <c:tx>
            <c:strRef>
              <c:f>KONE!$K$18</c:f>
              <c:strCache>
                <c:ptCount val="1"/>
                <c:pt idx="0">
                  <c:v>Profit (0 dev. cost)</c:v>
                </c:pt>
              </c:strCache>
            </c:strRef>
          </c:tx>
          <c:xVal>
            <c:numRef>
              <c:f>KONE!$F$20:$F$23</c:f>
              <c:numCache>
                <c:formatCode>#,##0</c:formatCode>
                <c:ptCount val="4"/>
                <c:pt idx="0">
                  <c:v>142400</c:v>
                </c:pt>
                <c:pt idx="1">
                  <c:v>128400</c:v>
                </c:pt>
                <c:pt idx="2">
                  <c:v>122150</c:v>
                </c:pt>
                <c:pt idx="3">
                  <c:v>110000</c:v>
                </c:pt>
              </c:numCache>
            </c:numRef>
          </c:xVal>
          <c:yVal>
            <c:numRef>
              <c:f>KONE!$K$20:$K$23</c:f>
              <c:numCache>
                <c:formatCode>General</c:formatCode>
                <c:ptCount val="4"/>
                <c:pt idx="0">
                  <c:v>532680000</c:v>
                </c:pt>
                <c:pt idx="1">
                  <c:v>632316000</c:v>
                </c:pt>
                <c:pt idx="2">
                  <c:v>654925000</c:v>
                </c:pt>
                <c:pt idx="3">
                  <c:v>515200000</c:v>
                </c:pt>
              </c:numCache>
            </c:numRef>
          </c:yVal>
          <c:smooth val="1"/>
          <c:extLst>
            <c:ext xmlns:c16="http://schemas.microsoft.com/office/drawing/2014/chart" uri="{C3380CC4-5D6E-409C-BE32-E72D297353CC}">
              <c16:uniqueId val="{00000000-93A5-4D43-BD47-2D9F8D6EB190}"/>
            </c:ext>
          </c:extLst>
        </c:ser>
        <c:dLbls>
          <c:showLegendKey val="0"/>
          <c:showVal val="0"/>
          <c:showCatName val="0"/>
          <c:showSerName val="0"/>
          <c:showPercent val="0"/>
          <c:showBubbleSize val="0"/>
        </c:dLbls>
        <c:axId val="221423824"/>
        <c:axId val="221419344"/>
      </c:scatterChart>
      <c:valAx>
        <c:axId val="221423824"/>
        <c:scaling>
          <c:orientation val="minMax"/>
          <c:min val="100000"/>
        </c:scaling>
        <c:delete val="0"/>
        <c:axPos val="b"/>
        <c:title>
          <c:tx>
            <c:rich>
              <a:bodyPr/>
              <a:lstStyle/>
              <a:p>
                <a:pPr>
                  <a:defRPr sz="2000" b="1" i="0" u="none" strike="noStrike" baseline="0">
                    <a:solidFill>
                      <a:srgbClr val="000000"/>
                    </a:solidFill>
                    <a:latin typeface="Arial"/>
                    <a:ea typeface="Arial"/>
                    <a:cs typeface="Arial"/>
                  </a:defRPr>
                </a:pPr>
                <a:r>
                  <a:rPr lang="en-US"/>
                  <a:t>Price (DM)</a:t>
                </a:r>
              </a:p>
            </c:rich>
          </c:tx>
          <c:layout>
            <c:manualLayout>
              <c:xMode val="edge"/>
              <c:yMode val="edge"/>
              <c:x val="0.51961589839633215"/>
              <c:y val="0.93037329697745386"/>
            </c:manualLayout>
          </c:layout>
          <c:overlay val="0"/>
          <c:spPr>
            <a:noFill/>
            <a:ln w="25400">
              <a:noFill/>
            </a:ln>
          </c:spPr>
        </c:title>
        <c:numFmt formatCode="#,##0" sourceLinked="1"/>
        <c:majorTickMark val="out"/>
        <c:minorTickMark val="none"/>
        <c:tickLblPos val="nextTo"/>
        <c:spPr>
          <a:ln w="3175">
            <a:solidFill>
              <a:srgbClr val="000000"/>
            </a:solidFill>
            <a:prstDash val="solid"/>
          </a:ln>
        </c:spPr>
        <c:txPr>
          <a:bodyPr rot="0" vert="horz"/>
          <a:lstStyle/>
          <a:p>
            <a:pPr>
              <a:defRPr sz="1200" b="0" i="0" u="none" strike="noStrike" baseline="0">
                <a:solidFill>
                  <a:srgbClr val="000000"/>
                </a:solidFill>
                <a:latin typeface="Arial"/>
                <a:ea typeface="Arial"/>
                <a:cs typeface="Arial"/>
              </a:defRPr>
            </a:pPr>
            <a:endParaRPr lang="en-US"/>
          </a:p>
        </c:txPr>
        <c:crossAx val="221419344"/>
        <c:crosses val="autoZero"/>
        <c:crossBetween val="midCat"/>
      </c:valAx>
      <c:valAx>
        <c:axId val="221419344"/>
        <c:scaling>
          <c:orientation val="minMax"/>
          <c:min val="450000000"/>
        </c:scaling>
        <c:delete val="0"/>
        <c:axPos val="l"/>
        <c:majorGridlines>
          <c:spPr>
            <a:ln w="3175">
              <a:solidFill>
                <a:srgbClr val="000000"/>
              </a:solidFill>
              <a:prstDash val="solid"/>
            </a:ln>
          </c:spPr>
        </c:majorGridlines>
        <c:title>
          <c:tx>
            <c:rich>
              <a:bodyPr/>
              <a:lstStyle/>
              <a:p>
                <a:pPr>
                  <a:defRPr sz="2000" b="1" i="0" u="none" strike="noStrike" baseline="0">
                    <a:solidFill>
                      <a:srgbClr val="000000"/>
                    </a:solidFill>
                    <a:latin typeface="Arial"/>
                    <a:ea typeface="Arial"/>
                    <a:cs typeface="Arial"/>
                  </a:defRPr>
                </a:pPr>
                <a:r>
                  <a:rPr lang="en-US"/>
                  <a:t>Profit (DM)</a:t>
                </a:r>
              </a:p>
            </c:rich>
          </c:tx>
          <c:layout>
            <c:manualLayout>
              <c:xMode val="edge"/>
              <c:yMode val="edge"/>
              <c:x val="3.6638003369783383E-4"/>
              <c:y val="0.4371941051538169"/>
            </c:manualLayout>
          </c:layout>
          <c:overlay val="0"/>
          <c:spPr>
            <a:noFill/>
            <a:ln w="25400">
              <a:noFill/>
            </a:ln>
          </c:spPr>
        </c:title>
        <c:numFmt formatCode="#,##0.00" sourceLinked="0"/>
        <c:majorTickMark val="out"/>
        <c:minorTickMark val="none"/>
        <c:tickLblPos val="nextTo"/>
        <c:spPr>
          <a:noFill/>
          <a:ln w="3175">
            <a:solidFill>
              <a:srgbClr val="000000"/>
            </a:solidFill>
            <a:prstDash val="solid"/>
          </a:ln>
        </c:spPr>
        <c:txPr>
          <a:bodyPr rot="0" vert="horz"/>
          <a:lstStyle/>
          <a:p>
            <a:pPr>
              <a:defRPr sz="1200" b="0" i="0" u="none" strike="noStrike" baseline="0">
                <a:solidFill>
                  <a:srgbClr val="000000"/>
                </a:solidFill>
                <a:latin typeface="Arial"/>
                <a:ea typeface="Arial"/>
                <a:cs typeface="Arial"/>
              </a:defRPr>
            </a:pPr>
            <a:endParaRPr lang="en-US"/>
          </a:p>
        </c:txPr>
        <c:crossAx val="221423824"/>
        <c:crosses val="autoZero"/>
        <c:crossBetween val="midCat"/>
      </c:valAx>
      <c:spPr>
        <a:noFill/>
        <a:ln w="12700">
          <a:solidFill>
            <a:srgbClr val="808080"/>
          </a:solidFill>
          <a:prstDash val="solid"/>
        </a:ln>
      </c:spPr>
    </c:plotArea>
    <c:legend>
      <c:legendPos val="r"/>
      <c:layout>
        <c:manualLayout>
          <c:xMode val="edge"/>
          <c:yMode val="edge"/>
          <c:x val="0.65405708048176225"/>
          <c:y val="0.15464856087904266"/>
          <c:w val="0.16681519366153996"/>
          <c:h val="4.6634859201921793E-2"/>
        </c:manualLayout>
      </c:layout>
      <c:overlay val="0"/>
    </c:legend>
    <c:plotVisOnly val="1"/>
    <c:dispBlanksAs val="gap"/>
    <c:showDLblsOverMax val="0"/>
  </c:chart>
  <c:spPr>
    <a:noFill/>
    <a:ln w="9525">
      <a:noFill/>
    </a:ln>
  </c:spPr>
  <c:txPr>
    <a:bodyPr/>
    <a:lstStyle/>
    <a:p>
      <a:pPr>
        <a:defRPr sz="950" b="0" i="0" u="none" strike="noStrike" baseline="0">
          <a:solidFill>
            <a:srgbClr val="000000"/>
          </a:solidFill>
          <a:latin typeface="Arial"/>
          <a:ea typeface="Arial"/>
          <a:cs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2000" b="1" i="0" u="sng" strike="noStrike" baseline="0">
                <a:solidFill>
                  <a:srgbClr val="000000"/>
                </a:solidFill>
                <a:latin typeface="Arial"/>
                <a:ea typeface="Arial"/>
                <a:cs typeface="Arial"/>
              </a:defRPr>
            </a:pPr>
            <a:r>
              <a:rPr lang="en-US"/>
              <a:t>Profit curve for MonoSpace</a:t>
            </a:r>
          </a:p>
        </c:rich>
      </c:tx>
      <c:layout>
        <c:manualLayout>
          <c:xMode val="edge"/>
          <c:yMode val="edge"/>
          <c:x val="0.29633740795188324"/>
          <c:y val="5.0571028444765957E-2"/>
        </c:manualLayout>
      </c:layout>
      <c:overlay val="0"/>
      <c:spPr>
        <a:noFill/>
        <a:ln w="25400">
          <a:noFill/>
        </a:ln>
      </c:spPr>
    </c:title>
    <c:autoTitleDeleted val="0"/>
    <c:plotArea>
      <c:layout>
        <c:manualLayout>
          <c:layoutTarget val="inner"/>
          <c:xMode val="edge"/>
          <c:yMode val="edge"/>
          <c:x val="0.23573272650381619"/>
          <c:y val="0.15968430460419708"/>
          <c:w val="0.61820199778024421"/>
          <c:h val="0.69657422512234912"/>
        </c:manualLayout>
      </c:layout>
      <c:scatterChart>
        <c:scatterStyle val="smoothMarker"/>
        <c:varyColors val="0"/>
        <c:ser>
          <c:idx val="3"/>
          <c:order val="0"/>
          <c:tx>
            <c:strRef>
              <c:f>KONE!$K$18</c:f>
              <c:strCache>
                <c:ptCount val="1"/>
                <c:pt idx="0">
                  <c:v>Profit (0 dev. cost)</c:v>
                </c:pt>
              </c:strCache>
            </c:strRef>
          </c:tx>
          <c:xVal>
            <c:numRef>
              <c:f>KONE!$F$20:$F$23</c:f>
              <c:numCache>
                <c:formatCode>#,##0</c:formatCode>
                <c:ptCount val="4"/>
                <c:pt idx="0">
                  <c:v>142400</c:v>
                </c:pt>
                <c:pt idx="1">
                  <c:v>128400</c:v>
                </c:pt>
                <c:pt idx="2">
                  <c:v>122150</c:v>
                </c:pt>
                <c:pt idx="3">
                  <c:v>110000</c:v>
                </c:pt>
              </c:numCache>
            </c:numRef>
          </c:xVal>
          <c:yVal>
            <c:numRef>
              <c:f>KONE!$K$20:$K$23</c:f>
              <c:numCache>
                <c:formatCode>General</c:formatCode>
                <c:ptCount val="4"/>
                <c:pt idx="0">
                  <c:v>532680000</c:v>
                </c:pt>
                <c:pt idx="1">
                  <c:v>632316000</c:v>
                </c:pt>
                <c:pt idx="2">
                  <c:v>654925000</c:v>
                </c:pt>
                <c:pt idx="3">
                  <c:v>515200000</c:v>
                </c:pt>
              </c:numCache>
            </c:numRef>
          </c:yVal>
          <c:smooth val="1"/>
          <c:extLst>
            <c:ext xmlns:c16="http://schemas.microsoft.com/office/drawing/2014/chart" uri="{C3380CC4-5D6E-409C-BE32-E72D297353CC}">
              <c16:uniqueId val="{00000000-F661-4E63-A3E2-F73882FB737C}"/>
            </c:ext>
          </c:extLst>
        </c:ser>
        <c:ser>
          <c:idx val="0"/>
          <c:order val="1"/>
          <c:tx>
            <c:strRef>
              <c:f>KONE!$H$18</c:f>
              <c:strCache>
                <c:ptCount val="1"/>
                <c:pt idx="0">
                  <c:v>Profit (10 M dev. Cost)</c:v>
                </c:pt>
              </c:strCache>
            </c:strRef>
          </c:tx>
          <c:xVal>
            <c:numRef>
              <c:f>KONE!$F$20:$F$23</c:f>
              <c:numCache>
                <c:formatCode>#,##0</c:formatCode>
                <c:ptCount val="4"/>
                <c:pt idx="0">
                  <c:v>142400</c:v>
                </c:pt>
                <c:pt idx="1">
                  <c:v>128400</c:v>
                </c:pt>
                <c:pt idx="2">
                  <c:v>122150</c:v>
                </c:pt>
                <c:pt idx="3">
                  <c:v>110000</c:v>
                </c:pt>
              </c:numCache>
            </c:numRef>
          </c:xVal>
          <c:yVal>
            <c:numRef>
              <c:f>KONE!$H$20:$H$23</c:f>
              <c:numCache>
                <c:formatCode>General</c:formatCode>
                <c:ptCount val="4"/>
                <c:pt idx="0">
                  <c:v>522680000</c:v>
                </c:pt>
                <c:pt idx="1">
                  <c:v>622316000</c:v>
                </c:pt>
                <c:pt idx="2">
                  <c:v>644925000</c:v>
                </c:pt>
                <c:pt idx="3">
                  <c:v>505200000</c:v>
                </c:pt>
              </c:numCache>
            </c:numRef>
          </c:yVal>
          <c:smooth val="1"/>
          <c:extLst>
            <c:ext xmlns:c16="http://schemas.microsoft.com/office/drawing/2014/chart" uri="{C3380CC4-5D6E-409C-BE32-E72D297353CC}">
              <c16:uniqueId val="{00000001-F661-4E63-A3E2-F73882FB737C}"/>
            </c:ext>
          </c:extLst>
        </c:ser>
        <c:ser>
          <c:idx val="1"/>
          <c:order val="2"/>
          <c:tx>
            <c:strRef>
              <c:f>KONE!$I$18</c:f>
              <c:strCache>
                <c:ptCount val="1"/>
                <c:pt idx="0">
                  <c:v>Profit (30 M dev. Cost)</c:v>
                </c:pt>
              </c:strCache>
            </c:strRef>
          </c:tx>
          <c:xVal>
            <c:numRef>
              <c:f>KONE!$F$20:$F$23</c:f>
              <c:numCache>
                <c:formatCode>#,##0</c:formatCode>
                <c:ptCount val="4"/>
                <c:pt idx="0">
                  <c:v>142400</c:v>
                </c:pt>
                <c:pt idx="1">
                  <c:v>128400</c:v>
                </c:pt>
                <c:pt idx="2">
                  <c:v>122150</c:v>
                </c:pt>
                <c:pt idx="3">
                  <c:v>110000</c:v>
                </c:pt>
              </c:numCache>
            </c:numRef>
          </c:xVal>
          <c:yVal>
            <c:numRef>
              <c:f>KONE!$I$20:$I$23</c:f>
              <c:numCache>
                <c:formatCode>General</c:formatCode>
                <c:ptCount val="4"/>
                <c:pt idx="0">
                  <c:v>502680000</c:v>
                </c:pt>
                <c:pt idx="1">
                  <c:v>602316000</c:v>
                </c:pt>
                <c:pt idx="2">
                  <c:v>624925000</c:v>
                </c:pt>
                <c:pt idx="3">
                  <c:v>485200000</c:v>
                </c:pt>
              </c:numCache>
            </c:numRef>
          </c:yVal>
          <c:smooth val="1"/>
          <c:extLst>
            <c:ext xmlns:c16="http://schemas.microsoft.com/office/drawing/2014/chart" uri="{C3380CC4-5D6E-409C-BE32-E72D297353CC}">
              <c16:uniqueId val="{00000002-F661-4E63-A3E2-F73882FB737C}"/>
            </c:ext>
          </c:extLst>
        </c:ser>
        <c:ser>
          <c:idx val="2"/>
          <c:order val="3"/>
          <c:tx>
            <c:strRef>
              <c:f>KONE!$J$18</c:f>
              <c:strCache>
                <c:ptCount val="1"/>
                <c:pt idx="0">
                  <c:v>Profit (80 M dev. cost)</c:v>
                </c:pt>
              </c:strCache>
            </c:strRef>
          </c:tx>
          <c:xVal>
            <c:numRef>
              <c:f>KONE!$F$20:$F$23</c:f>
              <c:numCache>
                <c:formatCode>#,##0</c:formatCode>
                <c:ptCount val="4"/>
                <c:pt idx="0">
                  <c:v>142400</c:v>
                </c:pt>
                <c:pt idx="1">
                  <c:v>128400</c:v>
                </c:pt>
                <c:pt idx="2">
                  <c:v>122150</c:v>
                </c:pt>
                <c:pt idx="3">
                  <c:v>110000</c:v>
                </c:pt>
              </c:numCache>
            </c:numRef>
          </c:xVal>
          <c:yVal>
            <c:numRef>
              <c:f>KONE!$J$20:$J$23</c:f>
              <c:numCache>
                <c:formatCode>General</c:formatCode>
                <c:ptCount val="4"/>
                <c:pt idx="0">
                  <c:v>452680000</c:v>
                </c:pt>
                <c:pt idx="1">
                  <c:v>552316000</c:v>
                </c:pt>
                <c:pt idx="2">
                  <c:v>574925000</c:v>
                </c:pt>
                <c:pt idx="3">
                  <c:v>435200000</c:v>
                </c:pt>
              </c:numCache>
            </c:numRef>
          </c:yVal>
          <c:smooth val="1"/>
          <c:extLst>
            <c:ext xmlns:c16="http://schemas.microsoft.com/office/drawing/2014/chart" uri="{C3380CC4-5D6E-409C-BE32-E72D297353CC}">
              <c16:uniqueId val="{00000003-F661-4E63-A3E2-F73882FB737C}"/>
            </c:ext>
          </c:extLst>
        </c:ser>
        <c:dLbls>
          <c:showLegendKey val="0"/>
          <c:showVal val="0"/>
          <c:showCatName val="0"/>
          <c:showSerName val="0"/>
          <c:showPercent val="0"/>
          <c:showBubbleSize val="0"/>
        </c:dLbls>
        <c:axId val="420035904"/>
        <c:axId val="420037024"/>
      </c:scatterChart>
      <c:valAx>
        <c:axId val="420035904"/>
        <c:scaling>
          <c:orientation val="minMax"/>
          <c:min val="100000"/>
        </c:scaling>
        <c:delete val="0"/>
        <c:axPos val="b"/>
        <c:title>
          <c:tx>
            <c:rich>
              <a:bodyPr/>
              <a:lstStyle/>
              <a:p>
                <a:pPr>
                  <a:defRPr sz="2000" b="1" i="0" u="none" strike="noStrike" baseline="0">
                    <a:solidFill>
                      <a:srgbClr val="000000"/>
                    </a:solidFill>
                    <a:latin typeface="Arial"/>
                    <a:ea typeface="Arial"/>
                    <a:cs typeface="Arial"/>
                  </a:defRPr>
                </a:pPr>
                <a:r>
                  <a:rPr lang="en-US"/>
                  <a:t>Price (DM)</a:t>
                </a:r>
              </a:p>
            </c:rich>
          </c:tx>
          <c:layout>
            <c:manualLayout>
              <c:xMode val="edge"/>
              <c:yMode val="edge"/>
              <c:x val="0.51961589839633215"/>
              <c:y val="0.93037329697745386"/>
            </c:manualLayout>
          </c:layout>
          <c:overlay val="0"/>
          <c:spPr>
            <a:noFill/>
            <a:ln w="25400">
              <a:noFill/>
            </a:ln>
          </c:spPr>
        </c:title>
        <c:numFmt formatCode="#,##0" sourceLinked="1"/>
        <c:majorTickMark val="out"/>
        <c:minorTickMark val="none"/>
        <c:tickLblPos val="nextTo"/>
        <c:spPr>
          <a:ln w="3175">
            <a:solidFill>
              <a:srgbClr val="000000"/>
            </a:solidFill>
            <a:prstDash val="solid"/>
          </a:ln>
        </c:spPr>
        <c:txPr>
          <a:bodyPr rot="0" vert="horz"/>
          <a:lstStyle/>
          <a:p>
            <a:pPr>
              <a:defRPr sz="1200" b="0" i="0" u="none" strike="noStrike" baseline="0">
                <a:solidFill>
                  <a:srgbClr val="000000"/>
                </a:solidFill>
                <a:latin typeface="Arial"/>
                <a:ea typeface="Arial"/>
                <a:cs typeface="Arial"/>
              </a:defRPr>
            </a:pPr>
            <a:endParaRPr lang="en-US"/>
          </a:p>
        </c:txPr>
        <c:crossAx val="420037024"/>
        <c:crosses val="autoZero"/>
        <c:crossBetween val="midCat"/>
      </c:valAx>
      <c:valAx>
        <c:axId val="420037024"/>
        <c:scaling>
          <c:orientation val="minMax"/>
          <c:min val="450000000"/>
        </c:scaling>
        <c:delete val="0"/>
        <c:axPos val="l"/>
        <c:majorGridlines>
          <c:spPr>
            <a:ln w="3175">
              <a:solidFill>
                <a:srgbClr val="000000"/>
              </a:solidFill>
              <a:prstDash val="solid"/>
            </a:ln>
          </c:spPr>
        </c:majorGridlines>
        <c:title>
          <c:tx>
            <c:rich>
              <a:bodyPr/>
              <a:lstStyle/>
              <a:p>
                <a:pPr>
                  <a:defRPr sz="2000" b="1" i="0" u="none" strike="noStrike" baseline="0">
                    <a:solidFill>
                      <a:srgbClr val="000000"/>
                    </a:solidFill>
                    <a:latin typeface="Arial"/>
                    <a:ea typeface="Arial"/>
                    <a:cs typeface="Arial"/>
                  </a:defRPr>
                </a:pPr>
                <a:r>
                  <a:rPr lang="en-US"/>
                  <a:t>Profit (DM)</a:t>
                </a:r>
              </a:p>
            </c:rich>
          </c:tx>
          <c:layout>
            <c:manualLayout>
              <c:xMode val="edge"/>
              <c:yMode val="edge"/>
              <c:x val="3.6638003369783383E-4"/>
              <c:y val="0.4371941051538169"/>
            </c:manualLayout>
          </c:layout>
          <c:overlay val="0"/>
          <c:spPr>
            <a:noFill/>
            <a:ln w="25400">
              <a:noFill/>
            </a:ln>
          </c:spPr>
        </c:title>
        <c:numFmt formatCode="#,##0.00" sourceLinked="0"/>
        <c:majorTickMark val="out"/>
        <c:minorTickMark val="none"/>
        <c:tickLblPos val="nextTo"/>
        <c:spPr>
          <a:noFill/>
          <a:ln w="3175">
            <a:solidFill>
              <a:srgbClr val="000000"/>
            </a:solidFill>
            <a:prstDash val="solid"/>
          </a:ln>
        </c:spPr>
        <c:txPr>
          <a:bodyPr rot="0" vert="horz"/>
          <a:lstStyle/>
          <a:p>
            <a:pPr>
              <a:defRPr sz="1200" b="0" i="0" u="none" strike="noStrike" baseline="0">
                <a:solidFill>
                  <a:srgbClr val="000000"/>
                </a:solidFill>
                <a:latin typeface="Arial"/>
                <a:ea typeface="Arial"/>
                <a:cs typeface="Arial"/>
              </a:defRPr>
            </a:pPr>
            <a:endParaRPr lang="en-US"/>
          </a:p>
        </c:txPr>
        <c:crossAx val="420035904"/>
        <c:crosses val="autoZero"/>
        <c:crossBetween val="midCat"/>
      </c:valAx>
      <c:spPr>
        <a:noFill/>
        <a:ln w="12700">
          <a:solidFill>
            <a:srgbClr val="808080"/>
          </a:solidFill>
          <a:prstDash val="solid"/>
        </a:ln>
      </c:spPr>
    </c:plotArea>
    <c:legend>
      <c:legendPos val="r"/>
      <c:layout>
        <c:manualLayout>
          <c:xMode val="edge"/>
          <c:yMode val="edge"/>
          <c:x val="0.64034520608236845"/>
          <c:y val="0.16070701203333188"/>
          <c:w val="0.21309719337230085"/>
          <c:h val="0.15035282474936534"/>
        </c:manualLayout>
      </c:layout>
      <c:overlay val="0"/>
    </c:legend>
    <c:plotVisOnly val="1"/>
    <c:dispBlanksAs val="gap"/>
    <c:showDLblsOverMax val="0"/>
  </c:chart>
  <c:spPr>
    <a:noFill/>
    <a:ln w="9525">
      <a:noFill/>
    </a:ln>
  </c:spPr>
  <c:txPr>
    <a:bodyPr/>
    <a:lstStyle/>
    <a:p>
      <a:pPr>
        <a:defRPr sz="950" b="0" i="0" u="none" strike="noStrike" baseline="0">
          <a:solidFill>
            <a:srgbClr val="000000"/>
          </a:solidFill>
          <a:latin typeface="Arial"/>
          <a:ea typeface="Arial"/>
          <a:cs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6408738" y="8767763"/>
            <a:ext cx="400050" cy="304800"/>
          </a:xfrm>
          <a:prstGeom prst="rect">
            <a:avLst/>
          </a:prstGeom>
          <a:noFill/>
          <a:ln w="12700">
            <a:noFill/>
            <a:miter lim="800000"/>
            <a:headEnd/>
            <a:tailEnd/>
          </a:ln>
          <a:effectLst/>
        </p:spPr>
        <p:txBody>
          <a:bodyPr wrap="none" lIns="90689" tIns="44548" rIns="90689" bIns="44548" anchor="ctr">
            <a:spAutoFit/>
          </a:bodyPr>
          <a:lstStyle/>
          <a:p>
            <a:pPr algn="r">
              <a:defRPr/>
            </a:pPr>
            <a:fld id="{545EA4F8-C901-406A-ADA7-B205A7D849DB}" type="slidenum">
              <a:rPr lang="en-US" sz="1400">
                <a:latin typeface="Arial" charset="0"/>
              </a:rPr>
              <a:pPr algn="r">
                <a:defRPr/>
              </a:pPr>
              <a:t>‹#›</a:t>
            </a:fld>
            <a:endParaRPr lang="en-US" sz="1400">
              <a:latin typeface="Arial" charset="0"/>
            </a:endParaRPr>
          </a:p>
        </p:txBody>
      </p:sp>
    </p:spTree>
    <p:extLst>
      <p:ext uri="{BB962C8B-B14F-4D97-AF65-F5344CB8AC3E}">
        <p14:creationId xmlns:p14="http://schemas.microsoft.com/office/powerpoint/2010/main" val="40803389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5988" y="4352925"/>
            <a:ext cx="5045075" cy="4121150"/>
          </a:xfrm>
          <a:prstGeom prst="rect">
            <a:avLst/>
          </a:prstGeom>
          <a:noFill/>
          <a:ln w="12700">
            <a:noFill/>
            <a:miter lim="800000"/>
            <a:headEnd/>
            <a:tailEnd/>
          </a:ln>
          <a:effectLst/>
        </p:spPr>
        <p:txBody>
          <a:bodyPr vert="horz" wrap="square" lIns="90689" tIns="44548" rIns="90689" bIns="44548"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603" name="Rectangle 3"/>
          <p:cNvSpPr>
            <a:spLocks noGrp="1" noRot="1" noChangeAspect="1" noChangeArrowheads="1" noTextEdit="1"/>
          </p:cNvSpPr>
          <p:nvPr>
            <p:ph type="sldImg" idx="2"/>
          </p:nvPr>
        </p:nvSpPr>
        <p:spPr bwMode="auto">
          <a:xfrm>
            <a:off x="1146175" y="687388"/>
            <a:ext cx="4583113" cy="3436937"/>
          </a:xfrm>
          <a:prstGeom prst="rect">
            <a:avLst/>
          </a:prstGeom>
          <a:noFill/>
          <a:ln w="12700">
            <a:solidFill>
              <a:schemeClr val="tx1"/>
            </a:solidFill>
            <a:miter lim="800000"/>
            <a:headEnd/>
            <a:tailEnd/>
          </a:ln>
        </p:spPr>
      </p:sp>
      <p:sp>
        <p:nvSpPr>
          <p:cNvPr id="2052" name="Rectangle 4"/>
          <p:cNvSpPr>
            <a:spLocks noChangeArrowheads="1"/>
          </p:cNvSpPr>
          <p:nvPr/>
        </p:nvSpPr>
        <p:spPr bwMode="auto">
          <a:xfrm>
            <a:off x="6408738" y="8767763"/>
            <a:ext cx="400050" cy="304800"/>
          </a:xfrm>
          <a:prstGeom prst="rect">
            <a:avLst/>
          </a:prstGeom>
          <a:noFill/>
          <a:ln w="12700">
            <a:noFill/>
            <a:miter lim="800000"/>
            <a:headEnd/>
            <a:tailEnd/>
          </a:ln>
          <a:effectLst/>
        </p:spPr>
        <p:txBody>
          <a:bodyPr wrap="none" lIns="90689" tIns="44548" rIns="90689" bIns="44548" anchor="ctr">
            <a:spAutoFit/>
          </a:bodyPr>
          <a:lstStyle/>
          <a:p>
            <a:pPr algn="r">
              <a:defRPr/>
            </a:pPr>
            <a:fld id="{EE1DCAAE-A381-4D93-B9E0-DA67818F7C2A}" type="slidenum">
              <a:rPr lang="en-US" sz="1400">
                <a:latin typeface="Arial" charset="0"/>
              </a:rPr>
              <a:pPr algn="r">
                <a:defRPr/>
              </a:pPr>
              <a:t>‹#›</a:t>
            </a:fld>
            <a:endParaRPr lang="en-US" sz="1400">
              <a:latin typeface="Arial" charset="0"/>
            </a:endParaRPr>
          </a:p>
        </p:txBody>
      </p:sp>
    </p:spTree>
    <p:extLst>
      <p:ext uri="{BB962C8B-B14F-4D97-AF65-F5344CB8AC3E}">
        <p14:creationId xmlns:p14="http://schemas.microsoft.com/office/powerpoint/2010/main" val="26350176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39623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err="1"/>
              <a:t>CoGS</a:t>
            </a:r>
            <a:r>
              <a:rPr lang="en-US" dirty="0"/>
              <a:t> = Cost</a:t>
            </a:r>
            <a:r>
              <a:rPr lang="en-US" baseline="0" dirty="0"/>
              <a:t> of Goods Sold = direct production costs (e.g., materials, payroll, inventory, Factory Overhead)</a:t>
            </a:r>
            <a:endParaRPr lang="en-US" dirty="0"/>
          </a:p>
        </p:txBody>
      </p:sp>
    </p:spTree>
    <p:extLst>
      <p:ext uri="{BB962C8B-B14F-4D97-AF65-F5344CB8AC3E}">
        <p14:creationId xmlns:p14="http://schemas.microsoft.com/office/powerpoint/2010/main" val="2753345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err="1"/>
              <a:t>CoGS</a:t>
            </a:r>
            <a:r>
              <a:rPr lang="en-US" dirty="0"/>
              <a:t> = Cost</a:t>
            </a:r>
            <a:r>
              <a:rPr lang="en-US" baseline="0" dirty="0"/>
              <a:t> of Goods Sold = direct production costs (e.g., materials, payroll, inventory, Factory Overhead)</a:t>
            </a:r>
            <a:endParaRPr lang="en-US" dirty="0"/>
          </a:p>
        </p:txBody>
      </p:sp>
    </p:spTree>
    <p:extLst>
      <p:ext uri="{BB962C8B-B14F-4D97-AF65-F5344CB8AC3E}">
        <p14:creationId xmlns:p14="http://schemas.microsoft.com/office/powerpoint/2010/main" val="4149665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Tree>
    <p:extLst>
      <p:ext uri="{BB962C8B-B14F-4D97-AF65-F5344CB8AC3E}">
        <p14:creationId xmlns:p14="http://schemas.microsoft.com/office/powerpoint/2010/main" val="1040673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19005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1572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84291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eaLnBrk="0" hangingPunct="0">
              <a:defRPr sz="2400">
                <a:solidFill>
                  <a:schemeClr val="tx1"/>
                </a:solidFill>
                <a:latin typeface="Times New Roman" pitchFamily="18" charset="0"/>
              </a:defRPr>
            </a:lvl1pPr>
            <a:lvl2pPr marL="742950" indent="-285750" defTabSz="915988" eaLnBrk="0" hangingPunct="0">
              <a:defRPr sz="2400">
                <a:solidFill>
                  <a:schemeClr val="tx1"/>
                </a:solidFill>
                <a:latin typeface="Times New Roman" pitchFamily="18" charset="0"/>
              </a:defRPr>
            </a:lvl2pPr>
            <a:lvl3pPr marL="1143000" indent="-228600" defTabSz="915988" eaLnBrk="0" hangingPunct="0">
              <a:defRPr sz="2400">
                <a:solidFill>
                  <a:schemeClr val="tx1"/>
                </a:solidFill>
                <a:latin typeface="Times New Roman" pitchFamily="18" charset="0"/>
              </a:defRPr>
            </a:lvl3pPr>
            <a:lvl4pPr marL="1600200" indent="-228600" defTabSz="915988" eaLnBrk="0" hangingPunct="0">
              <a:defRPr sz="2400">
                <a:solidFill>
                  <a:schemeClr val="tx1"/>
                </a:solidFill>
                <a:latin typeface="Times New Roman" pitchFamily="18" charset="0"/>
              </a:defRPr>
            </a:lvl4pPr>
            <a:lvl5pPr marL="2057400" indent="-228600" defTabSz="915988" eaLnBrk="0" hangingPunct="0">
              <a:defRPr sz="2400">
                <a:solidFill>
                  <a:schemeClr val="tx1"/>
                </a:solidFill>
                <a:latin typeface="Times New Roman" pitchFamily="18" charset="0"/>
              </a:defRPr>
            </a:lvl5pPr>
            <a:lvl6pPr marL="2514600" indent="-228600" defTabSz="915988" eaLnBrk="0" fontAlgn="base" hangingPunct="0">
              <a:spcBef>
                <a:spcPct val="0"/>
              </a:spcBef>
              <a:spcAft>
                <a:spcPct val="0"/>
              </a:spcAft>
              <a:defRPr sz="2400">
                <a:solidFill>
                  <a:schemeClr val="tx1"/>
                </a:solidFill>
                <a:latin typeface="Times New Roman" pitchFamily="18" charset="0"/>
              </a:defRPr>
            </a:lvl6pPr>
            <a:lvl7pPr marL="2971800" indent="-228600" defTabSz="915988" eaLnBrk="0" fontAlgn="base" hangingPunct="0">
              <a:spcBef>
                <a:spcPct val="0"/>
              </a:spcBef>
              <a:spcAft>
                <a:spcPct val="0"/>
              </a:spcAft>
              <a:defRPr sz="2400">
                <a:solidFill>
                  <a:schemeClr val="tx1"/>
                </a:solidFill>
                <a:latin typeface="Times New Roman" pitchFamily="18" charset="0"/>
              </a:defRPr>
            </a:lvl7pPr>
            <a:lvl8pPr marL="3429000" indent="-228600" defTabSz="915988" eaLnBrk="0" fontAlgn="base" hangingPunct="0">
              <a:spcBef>
                <a:spcPct val="0"/>
              </a:spcBef>
              <a:spcAft>
                <a:spcPct val="0"/>
              </a:spcAft>
              <a:defRPr sz="2400">
                <a:solidFill>
                  <a:schemeClr val="tx1"/>
                </a:solidFill>
                <a:latin typeface="Times New Roman" pitchFamily="18" charset="0"/>
              </a:defRPr>
            </a:lvl8pPr>
            <a:lvl9pPr marL="3886200" indent="-228600" defTabSz="915988" eaLnBrk="0" fontAlgn="base" hangingPunct="0">
              <a:spcBef>
                <a:spcPct val="0"/>
              </a:spcBef>
              <a:spcAft>
                <a:spcPct val="0"/>
              </a:spcAft>
              <a:defRPr sz="2400">
                <a:solidFill>
                  <a:schemeClr val="tx1"/>
                </a:solidFill>
                <a:latin typeface="Times New Roman" pitchFamily="18" charset="0"/>
              </a:defRPr>
            </a:lvl9pPr>
          </a:lstStyle>
          <a:p>
            <a:pPr eaLnBrk="1" hangingPunct="1"/>
            <a:fld id="{66B1C9B7-8E6B-446E-BFF9-63525225BB99}" type="slidenum">
              <a:rPr lang="en-US" sz="1200" smtClean="0"/>
              <a:pPr eaLnBrk="1" hangingPunct="1"/>
              <a:t>50</a:t>
            </a:fld>
            <a:endParaRPr lang="en-US" sz="1200"/>
          </a:p>
        </p:txBody>
      </p:sp>
      <p:sp>
        <p:nvSpPr>
          <p:cNvPr id="81923" name="Rectangle 2"/>
          <p:cNvSpPr>
            <a:spLocks noGrp="1" noRot="1" noChangeAspect="1" noChangeArrowheads="1" noTextEdit="1"/>
          </p:cNvSpPr>
          <p:nvPr>
            <p:ph type="sldImg"/>
          </p:nvPr>
        </p:nvSpPr>
        <p:spPr>
          <a:xfrm>
            <a:off x="1158875" y="693738"/>
            <a:ext cx="4562475" cy="3422650"/>
          </a:xfrm>
          <a:ln w="12700" cap="flat">
            <a:solidFill>
              <a:schemeClr val="tx1"/>
            </a:solidFill>
          </a:ln>
        </p:spPr>
      </p:sp>
      <p:sp>
        <p:nvSpPr>
          <p:cNvPr id="81924" name="Rectangle 3"/>
          <p:cNvSpPr>
            <a:spLocks noGrp="1" noChangeArrowheads="1"/>
          </p:cNvSpPr>
          <p:nvPr>
            <p:ph type="body" idx="1"/>
          </p:nvPr>
        </p:nvSpPr>
        <p:spPr>
          <a:xfrm>
            <a:off x="917575" y="4351338"/>
            <a:ext cx="5041900" cy="41227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651" tIns="47619" rIns="93651" bIns="47619"/>
          <a:lstStyle/>
          <a:p>
            <a:pPr eaLnBrk="1" hangingPunct="1"/>
            <a:endParaRPr lang="en-US"/>
          </a:p>
        </p:txBody>
      </p:sp>
    </p:spTree>
    <p:extLst>
      <p:ext uri="{BB962C8B-B14F-4D97-AF65-F5344CB8AC3E}">
        <p14:creationId xmlns:p14="http://schemas.microsoft.com/office/powerpoint/2010/main" val="27783782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pic>
        <p:nvPicPr>
          <p:cNvPr id="12" name="Picture 11" descr="Lg-Ghosted-Shield-offset_red.jpg"/>
          <p:cNvPicPr>
            <a:picLocks noChangeAspect="1"/>
          </p:cNvPicPr>
          <p:nvPr userDrawn="1"/>
        </p:nvPicPr>
        <p:blipFill>
          <a:blip r:embed="rId3"/>
          <a:stretch>
            <a:fillRect/>
          </a:stretch>
        </p:blipFill>
        <p:spPr>
          <a:xfrm>
            <a:off x="0" y="0"/>
            <a:ext cx="9144000" cy="6858000"/>
          </a:xfrm>
          <a:prstGeom prst="rect">
            <a:avLst/>
          </a:prstGeom>
        </p:spPr>
      </p:pic>
      <p:sp>
        <p:nvSpPr>
          <p:cNvPr id="13" name="Rectangle 12"/>
          <p:cNvSpPr/>
          <p:nvPr userDrawn="1"/>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Rectangle 13"/>
          <p:cNvSpPr/>
          <p:nvPr userDrawn="1"/>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Rectangle 14"/>
          <p:cNvSpPr/>
          <p:nvPr userDrawn="1"/>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6" name="Title 7"/>
          <p:cNvSpPr>
            <a:spLocks noGrp="1"/>
          </p:cNvSpPr>
          <p:nvPr>
            <p:ph type="ctrTitle"/>
          </p:nvPr>
        </p:nvSpPr>
        <p:spPr>
          <a:xfrm>
            <a:off x="2362200" y="4038600"/>
            <a:ext cx="6477000" cy="1828800"/>
          </a:xfrm>
        </p:spPr>
        <p:txBody>
          <a:bodyPr anchor="b"/>
          <a:lstStyle>
            <a:lvl1pPr>
              <a:defRPr cap="all" baseline="0"/>
            </a:lvl1pPr>
          </a:lstStyle>
          <a:p>
            <a:r>
              <a:rPr lang="en-US"/>
              <a:t>Click to edit Master title style</a:t>
            </a:r>
          </a:p>
        </p:txBody>
      </p:sp>
      <p:sp>
        <p:nvSpPr>
          <p:cNvPr id="19"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endParaRPr lang="en-US"/>
          </a:p>
        </p:txBody>
      </p:sp>
      <p:sp>
        <p:nvSpPr>
          <p:cNvPr id="20"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7E7CF4D2-22D1-48E5-82E4-BFA1B2240848}" type="slidenum">
              <a:rPr lang="en-US" smtClean="0"/>
              <a:pPr>
                <a:defRPr/>
              </a:pPr>
              <a:t>‹#›</a:t>
            </a:fld>
            <a:endParaRPr lang="en-US"/>
          </a:p>
        </p:txBody>
      </p:sp>
      <p:pic>
        <p:nvPicPr>
          <p:cNvPr id="21" name="Picture 20" descr="Logo-for-gray-bg-ppt-whitemaroon.png"/>
          <p:cNvPicPr>
            <a:picLocks noChangeAspect="1"/>
          </p:cNvPicPr>
          <p:nvPr userDrawn="1"/>
        </p:nvPicPr>
        <p:blipFill>
          <a:blip r:embed="rId4"/>
          <a:stretch>
            <a:fillRect/>
          </a:stretch>
        </p:blipFill>
        <p:spPr>
          <a:xfrm>
            <a:off x="7429166" y="6194310"/>
            <a:ext cx="1591121" cy="439967"/>
          </a:xfrm>
          <a:prstGeom prst="rect">
            <a:avLst/>
          </a:prstGeom>
        </p:spPr>
      </p:pic>
    </p:spTree>
    <p:extLst>
      <p:ext uri="{BB962C8B-B14F-4D97-AF65-F5344CB8AC3E}">
        <p14:creationId xmlns:p14="http://schemas.microsoft.com/office/powerpoint/2010/main" val="162850780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normAutofit/>
          </a:bodyPr>
          <a:lstStyle>
            <a:lvl1pPr>
              <a:defRPr sz="4000" baseline="0">
                <a:latin typeface="+mj-lt"/>
              </a:defRPr>
            </a:lvl1pPr>
          </a:lstStyle>
          <a:p>
            <a:r>
              <a:rPr lang="en-US" dirty="0"/>
              <a:t>Click to edit Master title style</a:t>
            </a:r>
          </a:p>
        </p:txBody>
      </p:sp>
      <p:sp>
        <p:nvSpPr>
          <p:cNvPr id="8" name="Content Placeholder 7"/>
          <p:cNvSpPr>
            <a:spLocks noGrp="1"/>
          </p:cNvSpPr>
          <p:nvPr>
            <p:ph sz="quarter" idx="1"/>
          </p:nvPr>
        </p:nvSpPr>
        <p:spPr>
          <a:xfrm>
            <a:off x="612648" y="1600200"/>
            <a:ext cx="8153400" cy="4495800"/>
          </a:xfrm>
        </p:spPr>
        <p:txBody>
          <a:bodyPr>
            <a:normAutofit/>
          </a:bodyPr>
          <a:lstStyle>
            <a:lvl1pPr>
              <a:defRPr sz="2400" baseline="0">
                <a:latin typeface="+mj-lt"/>
              </a:defRPr>
            </a:lvl1pPr>
            <a:lvl2pPr>
              <a:defRPr sz="2400" baseline="0">
                <a:latin typeface="+mj-lt"/>
              </a:defRPr>
            </a:lvl2pPr>
            <a:lvl3pPr>
              <a:defRPr sz="2400" baseline="0">
                <a:latin typeface="+mj-lt"/>
              </a:defRPr>
            </a:lvl3pPr>
            <a:lvl4pPr>
              <a:defRPr sz="2400" baseline="0">
                <a:latin typeface="+mj-lt"/>
              </a:defRPr>
            </a:lvl4pPr>
            <a:lvl5pPr>
              <a:defRPr sz="2400"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4C167419-3E17-4805-8141-C5724BC9AF66}" type="slidenum">
              <a:rPr lang="en-US"/>
              <a:pPr>
                <a:defRPr/>
              </a:pPr>
              <a:t>‹#›</a:t>
            </a:fld>
            <a:endParaRPr lang="en-US"/>
          </a:p>
        </p:txBody>
      </p:sp>
      <p:pic>
        <p:nvPicPr>
          <p:cNvPr id="7" name="Picture 29" descr="LOGOs_430+202_just_110508.png"/>
          <p:cNvPicPr>
            <a:picLocks noChangeAspect="1"/>
          </p:cNvPicPr>
          <p:nvPr userDrawn="1"/>
        </p:nvPicPr>
        <p:blipFill>
          <a:blip r:embed="rId2" cstate="print"/>
          <a:srcRect/>
          <a:stretch>
            <a:fillRect/>
          </a:stretch>
        </p:blipFill>
        <p:spPr bwMode="auto">
          <a:xfrm>
            <a:off x="7148513" y="6324600"/>
            <a:ext cx="1690687" cy="461963"/>
          </a:xfrm>
          <a:prstGeom prst="rect">
            <a:avLst/>
          </a:prstGeom>
          <a:noFill/>
          <a:ln w="9525">
            <a:noFill/>
            <a:miter lim="800000"/>
            <a:headEnd/>
            <a:tailEnd/>
          </a:ln>
        </p:spPr>
      </p:pic>
    </p:spTree>
    <p:extLst>
      <p:ext uri="{BB962C8B-B14F-4D97-AF65-F5344CB8AC3E}">
        <p14:creationId xmlns:p14="http://schemas.microsoft.com/office/powerpoint/2010/main" val="1407788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endParaRPr 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D47E556B-1B27-4C7A-B8CA-7336E48AB80A}" type="slidenum">
              <a:rPr lang="en-US" smtClean="0"/>
              <a:pPr>
                <a:defRPr/>
              </a:pPr>
              <a:t>‹#›</a:t>
            </a:fld>
            <a:endParaRPr lang="en-US"/>
          </a:p>
        </p:txBody>
      </p:sp>
      <p:sp>
        <p:nvSpPr>
          <p:cNvPr id="9" name="Footer Placeholder 13"/>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5316989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endParaRPr lang="en-US"/>
          </a:p>
        </p:txBody>
      </p:sp>
      <p:sp>
        <p:nvSpPr>
          <p:cNvPr id="6" name="Slide Number Placeholder 9"/>
          <p:cNvSpPr>
            <a:spLocks noGrp="1"/>
          </p:cNvSpPr>
          <p:nvPr>
            <p:ph type="sldNum" sz="quarter" idx="11"/>
          </p:nvPr>
        </p:nvSpPr>
        <p:spPr/>
        <p:txBody>
          <a:bodyPr rtlCol="0"/>
          <a:lstStyle>
            <a:lvl1pPr>
              <a:defRPr/>
            </a:lvl1pPr>
          </a:lstStyle>
          <a:p>
            <a:pPr>
              <a:defRPr/>
            </a:pPr>
            <a:fld id="{5D5C4793-2FA4-493A-AA1E-234D284A850D}" type="slidenum">
              <a:rPr lang="en-US" smtClean="0"/>
              <a:pPr>
                <a:defRPr/>
              </a:pPr>
              <a:t>‹#›</a:t>
            </a:fld>
            <a:endParaRPr lang="en-US"/>
          </a:p>
        </p:txBody>
      </p:sp>
      <p:sp>
        <p:nvSpPr>
          <p:cNvPr id="7" name="Footer Placeholder 11"/>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4162840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endParaRPr lang="en-US"/>
          </a:p>
        </p:txBody>
      </p:sp>
      <p:sp>
        <p:nvSpPr>
          <p:cNvPr id="8" name="Slide Number Placeholder 11"/>
          <p:cNvSpPr>
            <a:spLocks noGrp="1"/>
          </p:cNvSpPr>
          <p:nvPr>
            <p:ph type="sldNum" sz="quarter" idx="11"/>
          </p:nvPr>
        </p:nvSpPr>
        <p:spPr/>
        <p:txBody>
          <a:bodyPr rtlCol="0"/>
          <a:lstStyle>
            <a:lvl1pPr>
              <a:defRPr/>
            </a:lvl1pPr>
          </a:lstStyle>
          <a:p>
            <a:pPr>
              <a:defRPr/>
            </a:pPr>
            <a:fld id="{7F62379A-1D06-43CD-8728-4034E5FF988E}" type="slidenum">
              <a:rPr lang="en-US" smtClean="0"/>
              <a:pPr>
                <a:defRPr/>
              </a:pPr>
              <a:t>‹#›</a:t>
            </a:fld>
            <a:endParaRPr lang="en-US"/>
          </a:p>
        </p:txBody>
      </p:sp>
      <p:sp>
        <p:nvSpPr>
          <p:cNvPr id="9" name="Footer Placeholder 13"/>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2991452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E57F843F-9B66-4D57-967E-F7A9433F7ABE}" type="slidenum">
              <a:rPr lang="en-US" smtClean="0"/>
              <a:pPr>
                <a:defRPr/>
              </a:pPr>
              <a:t>‹#›</a:t>
            </a:fld>
            <a:endParaRPr lang="en-US"/>
          </a:p>
        </p:txBody>
      </p:sp>
    </p:spTree>
    <p:extLst>
      <p:ext uri="{BB962C8B-B14F-4D97-AF65-F5344CB8AC3E}">
        <p14:creationId xmlns:p14="http://schemas.microsoft.com/office/powerpoint/2010/main" val="1723866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B42D7B8A-0F13-4F6F-B04F-8873CCC0B557}" type="slidenum">
              <a:rPr lang="en-US" smtClean="0"/>
              <a:pPr>
                <a:defRPr/>
              </a:pPr>
              <a:t>‹#›</a:t>
            </a:fld>
            <a:endParaRPr lang="en-US"/>
          </a:p>
        </p:txBody>
      </p:sp>
      <p:pic>
        <p:nvPicPr>
          <p:cNvPr id="5" name="Picture 29" descr="LOGOs_430+202_just_110508.png"/>
          <p:cNvPicPr>
            <a:picLocks noChangeAspect="1"/>
          </p:cNvPicPr>
          <p:nvPr userDrawn="1"/>
        </p:nvPicPr>
        <p:blipFill>
          <a:blip r:embed="rId2" cstate="print"/>
          <a:srcRect/>
          <a:stretch>
            <a:fillRect/>
          </a:stretch>
        </p:blipFill>
        <p:spPr bwMode="auto">
          <a:xfrm>
            <a:off x="7148513" y="6324600"/>
            <a:ext cx="1690687" cy="461963"/>
          </a:xfrm>
          <a:prstGeom prst="rect">
            <a:avLst/>
          </a:prstGeom>
          <a:noFill/>
          <a:ln w="9525">
            <a:noFill/>
            <a:miter lim="800000"/>
            <a:headEnd/>
            <a:tailEnd/>
          </a:ln>
        </p:spPr>
      </p:pic>
    </p:spTree>
    <p:extLst>
      <p:ext uri="{BB962C8B-B14F-4D97-AF65-F5344CB8AC3E}">
        <p14:creationId xmlns:p14="http://schemas.microsoft.com/office/powerpoint/2010/main" val="1799341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18BD2488-5095-47FA-9FF9-1F8A125E151A}" type="slidenum">
              <a:rPr lang="en-US" smtClean="0"/>
              <a:pPr>
                <a:defRPr/>
              </a:pPr>
              <a:t>‹#›</a:t>
            </a:fld>
            <a:endParaRPr lang="en-US"/>
          </a:p>
        </p:txBody>
      </p:sp>
    </p:spTree>
    <p:extLst>
      <p:ext uri="{BB962C8B-B14F-4D97-AF65-F5344CB8AC3E}">
        <p14:creationId xmlns:p14="http://schemas.microsoft.com/office/powerpoint/2010/main" val="646837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endParaRPr 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40D29ACF-21B0-46C3-8CA3-B1F2674D0DB7}" type="slidenum">
              <a:rPr lang="en-US" smtClean="0"/>
              <a:pPr>
                <a:defRPr/>
              </a:pPr>
              <a:t>‹#›</a:t>
            </a:fld>
            <a:endParaRPr 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endParaRPr lang="en-US"/>
          </a:p>
        </p:txBody>
      </p:sp>
    </p:spTree>
    <p:extLst>
      <p:ext uri="{BB962C8B-B14F-4D97-AF65-F5344CB8AC3E}">
        <p14:creationId xmlns:p14="http://schemas.microsoft.com/office/powerpoint/2010/main" val="311457203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45F042D7-35EB-4EE1-B9BD-2FCD3C93672F}" type="slidenum">
              <a:rPr lang="en-US" smtClean="0"/>
              <a:pPr>
                <a:defRPr/>
              </a:pPr>
              <a:t>‹#›</a:t>
            </a:fld>
            <a:endParaRPr lang="en-US"/>
          </a:p>
        </p:txBody>
      </p:sp>
    </p:spTree>
    <p:extLst>
      <p:ext uri="{BB962C8B-B14F-4D97-AF65-F5344CB8AC3E}">
        <p14:creationId xmlns:p14="http://schemas.microsoft.com/office/powerpoint/2010/main" val="318219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endParaRPr 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endParaRPr lang="en-US"/>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33489D07-C7FC-48C2-8C13-CAB180BA9077}" type="slidenum">
              <a:rPr lang="en-US" smtClean="0"/>
              <a:pPr>
                <a:defRPr/>
              </a:pPr>
              <a:t>‹#›</a:t>
            </a:fld>
            <a:endParaRPr lang="en-US"/>
          </a:p>
        </p:txBody>
      </p:sp>
    </p:spTree>
    <p:extLst>
      <p:ext uri="{BB962C8B-B14F-4D97-AF65-F5344CB8AC3E}">
        <p14:creationId xmlns:p14="http://schemas.microsoft.com/office/powerpoint/2010/main" val="320469787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pic>
        <p:nvPicPr>
          <p:cNvPr id="4" name="Picture 29" descr="LOGOs_430+202_just_110508.png"/>
          <p:cNvPicPr>
            <a:picLocks noChangeAspect="1"/>
          </p:cNvPicPr>
          <p:nvPr userDrawn="1"/>
        </p:nvPicPr>
        <p:blipFill>
          <a:blip r:embed="rId2" cstate="print"/>
          <a:srcRect/>
          <a:stretch>
            <a:fillRect/>
          </a:stretch>
        </p:blipFill>
        <p:spPr bwMode="auto">
          <a:xfrm>
            <a:off x="7148513" y="6324600"/>
            <a:ext cx="1690687" cy="461963"/>
          </a:xfrm>
          <a:prstGeom prst="rect">
            <a:avLst/>
          </a:prstGeom>
          <a:noFill/>
          <a:ln w="9525">
            <a:noFill/>
            <a:miter lim="800000"/>
            <a:headEnd/>
            <a:tailEnd/>
          </a:ln>
        </p:spPr>
      </p:pic>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SmartArt Placeholder 2"/>
          <p:cNvSpPr>
            <a:spLocks noGrp="1"/>
          </p:cNvSpPr>
          <p:nvPr>
            <p:ph type="dgm" idx="1"/>
          </p:nvPr>
        </p:nvSpPr>
        <p:spPr>
          <a:xfrm>
            <a:off x="1173163" y="1981200"/>
            <a:ext cx="7772400" cy="4114800"/>
          </a:xfrm>
        </p:spPr>
        <p:txBody>
          <a:bodyPr/>
          <a:lstStyle/>
          <a:p>
            <a:pPr lvl="0"/>
            <a:endParaRPr lang="en-US" noProof="0"/>
          </a:p>
        </p:txBody>
      </p:sp>
      <p:sp>
        <p:nvSpPr>
          <p:cNvPr id="5" name="Rectangle 27"/>
          <p:cNvSpPr>
            <a:spLocks noGrp="1" noChangeArrowheads="1"/>
          </p:cNvSpPr>
          <p:nvPr>
            <p:ph type="dt" sz="half" idx="10"/>
          </p:nvPr>
        </p:nvSpPr>
        <p:spPr/>
        <p:txBody>
          <a:bodyPr/>
          <a:lstStyle>
            <a:lvl1pPr>
              <a:defRPr/>
            </a:lvl1pPr>
          </a:lstStyle>
          <a:p>
            <a:pPr>
              <a:defRPr/>
            </a:pPr>
            <a:endParaRPr lang="en-US"/>
          </a:p>
        </p:txBody>
      </p:sp>
      <p:sp>
        <p:nvSpPr>
          <p:cNvPr id="6" name="Rectangle 28"/>
          <p:cNvSpPr>
            <a:spLocks noGrp="1" noChangeArrowheads="1"/>
          </p:cNvSpPr>
          <p:nvPr>
            <p:ph type="ftr" sz="quarter" idx="11"/>
          </p:nvPr>
        </p:nvSpPr>
        <p:spPr/>
        <p:txBody>
          <a:bodyPr/>
          <a:lstStyle>
            <a:lvl1pPr>
              <a:defRPr/>
            </a:lvl1pPr>
          </a:lstStyle>
          <a:p>
            <a:pPr>
              <a:defRPr/>
            </a:pPr>
            <a:endParaRPr lang="en-US"/>
          </a:p>
        </p:txBody>
      </p:sp>
      <p:sp>
        <p:nvSpPr>
          <p:cNvPr id="7" name="Rectangle 29"/>
          <p:cNvSpPr>
            <a:spLocks noGrp="1" noChangeArrowheads="1"/>
          </p:cNvSpPr>
          <p:nvPr>
            <p:ph type="sldNum" sz="quarter" idx="12"/>
          </p:nvPr>
        </p:nvSpPr>
        <p:spPr/>
        <p:txBody>
          <a:bodyPr/>
          <a:lstStyle>
            <a:lvl1pPr>
              <a:defRPr/>
            </a:lvl1pPr>
          </a:lstStyle>
          <a:p>
            <a:pPr>
              <a:defRPr/>
            </a:pPr>
            <a:fld id="{D9219BF5-AC01-449D-8985-67686E0E5883}" type="slidenum">
              <a:rPr lang="en-US"/>
              <a:pPr>
                <a:defRPr/>
              </a:pPr>
              <a:t>‹#›</a:t>
            </a:fld>
            <a:endParaRPr lang="en-US"/>
          </a:p>
        </p:txBody>
      </p:sp>
    </p:spTree>
    <p:extLst>
      <p:ext uri="{BB962C8B-B14F-4D97-AF65-F5344CB8AC3E}">
        <p14:creationId xmlns:p14="http://schemas.microsoft.com/office/powerpoint/2010/main" val="537312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12"/>
          <p:cNvSpPr>
            <a:spLocks noGrp="1"/>
          </p:cNvSpPr>
          <p:nvPr>
            <p:ph type="body" idx="1"/>
          </p:nvPr>
        </p:nvSpPr>
        <p:spPr bwMode="auto">
          <a:xfrm>
            <a:off x="612775" y="1600200"/>
            <a:ext cx="8153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a:defRPr/>
            </a:pPr>
            <a:endParaRPr lang="en-US"/>
          </a:p>
        </p:txBody>
      </p:sp>
      <p:sp>
        <p:nvSpPr>
          <p:cNvPr id="3" name="Footer Placeholder 2"/>
          <p:cNvSpPr>
            <a:spLocks noGrp="1"/>
          </p:cNvSpPr>
          <p:nvPr>
            <p:ph type="ftr" sz="quarter" idx="3"/>
          </p:nvPr>
        </p:nvSpPr>
        <p:spPr>
          <a:xfrm>
            <a:off x="609600" y="6248400"/>
            <a:ext cx="5421313" cy="365125"/>
          </a:xfrm>
          <a:prstGeom prst="rect">
            <a:avLst/>
          </a:prstGeom>
        </p:spPr>
        <p:txBody>
          <a:bodyPr vert="horz" anchor="ctr"/>
          <a:lstStyle>
            <a:lvl1pPr algn="r" eaLnBrk="1" latinLnBrk="0" hangingPunct="1">
              <a:defRPr kumimoji="0" sz="1400">
                <a:solidFill>
                  <a:schemeClr val="tx2"/>
                </a:solidFill>
              </a:defRPr>
            </a:lvl1pPr>
          </a:lstStyle>
          <a:p>
            <a:pPr>
              <a:defRPr/>
            </a:pPr>
            <a:endParaRPr lang="en-US"/>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0" y="1271588"/>
            <a:ext cx="533400" cy="244475"/>
          </a:xfrm>
          <a:prstGeom prst="rect">
            <a:avLst/>
          </a:prstGeom>
        </p:spPr>
        <p:txBody>
          <a:bodyPr vert="horz" anchor="ctr" anchorCtr="0">
            <a:normAutofit/>
          </a:bodyPr>
          <a:lstStyle>
            <a:lvl1pPr algn="ctr" eaLnBrk="1" latinLnBrk="0" hangingPunct="1">
              <a:defRPr kumimoji="0" sz="1400" b="1">
                <a:solidFill>
                  <a:srgbClr val="FFFFFF"/>
                </a:solidFill>
              </a:defRPr>
            </a:lvl1pPr>
          </a:lstStyle>
          <a:p>
            <a:pPr>
              <a:defRPr/>
            </a:pPr>
            <a:fld id="{664C2810-4A6F-4B1E-8F19-B2A75D6DD6F6}"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Lst>
  <p:hf hdr="0" ftr="0" dt="0"/>
  <p:txStyles>
    <p:titleStyle>
      <a:lvl1pPr algn="l" rtl="0" eaLnBrk="1" fontAlgn="base" hangingPunct="1">
        <a:spcBef>
          <a:spcPct val="0"/>
        </a:spcBef>
        <a:spcAft>
          <a:spcPct val="0"/>
        </a:spcAft>
        <a:defRPr sz="4400" kern="12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w Cen MT" pitchFamily="34" charset="0"/>
        </a:defRPr>
      </a:lvl2pPr>
      <a:lvl3pPr algn="l" rtl="0" eaLnBrk="1" fontAlgn="base" hangingPunct="1">
        <a:spcBef>
          <a:spcPct val="0"/>
        </a:spcBef>
        <a:spcAft>
          <a:spcPct val="0"/>
        </a:spcAft>
        <a:defRPr sz="4400">
          <a:solidFill>
            <a:schemeClr val="tx2"/>
          </a:solidFill>
          <a:latin typeface="Tw Cen MT" pitchFamily="34" charset="0"/>
        </a:defRPr>
      </a:lvl3pPr>
      <a:lvl4pPr algn="l" rtl="0" eaLnBrk="1" fontAlgn="base" hangingPunct="1">
        <a:spcBef>
          <a:spcPct val="0"/>
        </a:spcBef>
        <a:spcAft>
          <a:spcPct val="0"/>
        </a:spcAft>
        <a:defRPr sz="4400">
          <a:solidFill>
            <a:schemeClr val="tx2"/>
          </a:solidFill>
          <a:latin typeface="Tw Cen MT" pitchFamily="34" charset="0"/>
        </a:defRPr>
      </a:lvl4pPr>
      <a:lvl5pPr algn="l" rtl="0" eaLnBrk="1" fontAlgn="base" hangingPunct="1">
        <a:spcBef>
          <a:spcPct val="0"/>
        </a:spcBef>
        <a:spcAft>
          <a:spcPct val="0"/>
        </a:spcAft>
        <a:defRPr sz="4400">
          <a:solidFill>
            <a:schemeClr val="tx2"/>
          </a:solidFill>
          <a:latin typeface="Tw Cen MT" pitchFamily="34" charset="0"/>
        </a:defRPr>
      </a:lvl5pPr>
      <a:lvl6pPr marL="457200" algn="l" rtl="0" eaLnBrk="1" fontAlgn="base" hangingPunct="1">
        <a:spcBef>
          <a:spcPct val="0"/>
        </a:spcBef>
        <a:spcAft>
          <a:spcPct val="0"/>
        </a:spcAft>
        <a:defRPr sz="4400">
          <a:solidFill>
            <a:schemeClr val="tx2"/>
          </a:solidFill>
          <a:latin typeface="Tw Cen MT" pitchFamily="34" charset="0"/>
        </a:defRPr>
      </a:lvl6pPr>
      <a:lvl7pPr marL="914400" algn="l" rtl="0" eaLnBrk="1" fontAlgn="base" hangingPunct="1">
        <a:spcBef>
          <a:spcPct val="0"/>
        </a:spcBef>
        <a:spcAft>
          <a:spcPct val="0"/>
        </a:spcAft>
        <a:defRPr sz="4400">
          <a:solidFill>
            <a:schemeClr val="tx2"/>
          </a:solidFill>
          <a:latin typeface="Tw Cen MT" pitchFamily="34" charset="0"/>
        </a:defRPr>
      </a:lvl7pPr>
      <a:lvl8pPr marL="1371600" algn="l" rtl="0" eaLnBrk="1" fontAlgn="base" hangingPunct="1">
        <a:spcBef>
          <a:spcPct val="0"/>
        </a:spcBef>
        <a:spcAft>
          <a:spcPct val="0"/>
        </a:spcAft>
        <a:defRPr sz="4400">
          <a:solidFill>
            <a:schemeClr val="tx2"/>
          </a:solidFill>
          <a:latin typeface="Tw Cen MT" pitchFamily="34" charset="0"/>
        </a:defRPr>
      </a:lvl8pPr>
      <a:lvl9pPr marL="1828800" algn="l" rtl="0" eaLnBrk="1" fontAlgn="base" hangingPunct="1">
        <a:spcBef>
          <a:spcPct val="0"/>
        </a:spcBef>
        <a:spcAft>
          <a:spcPct val="0"/>
        </a:spcAft>
        <a:defRPr sz="4400">
          <a:solidFill>
            <a:schemeClr val="tx2"/>
          </a:solidFill>
          <a:latin typeface="Tw Cen MT" pitchFamily="34" charset="0"/>
        </a:defRPr>
      </a:lvl9pPr>
    </p:titleStyle>
    <p:bodyStyle>
      <a:lvl1pPr marL="319088" indent="-319088" algn="l" rtl="0" eaLnBrk="1" fontAlgn="base" hangingPunct="1">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online.hbs.edu/blog/post/financial-performance-measure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1.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hyperlink" Target="https://online.hbs.edu/blog/post/financial-performance-measure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51.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8" Type="http://schemas.openxmlformats.org/officeDocument/2006/relationships/hyperlink" Target="https://www.cnbc.com/2025/04/03/trump-tariffs-will-impact-apples-non-china-supply-chains.html" TargetMode="External"/><Relationship Id="rId3" Type="http://schemas.openxmlformats.org/officeDocument/2006/relationships/hyperlink" Target="https://www.latimes.com/business/story/2025-04-05/apple-iphones-trump-tariffs-china-india-silicon-valley-meta-google" TargetMode="External"/><Relationship Id="rId7" Type="http://schemas.openxmlformats.org/officeDocument/2006/relationships/hyperlink" Target="https://www.cnet.com/personal-finance/banking/should-you-buy-a-new-iphone-this-weekend-before-tariffs-send-prices-soaring/"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forbes.com/sites/tylerroush/2025/04/03/heres-what-will-cost-more-after-trumps-tariffs-coffee-cars-and-possibly-a-2300-iphone/" TargetMode="External"/><Relationship Id="rId5" Type="http://schemas.openxmlformats.org/officeDocument/2006/relationships/image" Target="../media/image19.jpeg"/><Relationship Id="rId4" Type="http://schemas.openxmlformats.org/officeDocument/2006/relationships/hyperlink" Target="https://www.bloomberg.com/news/newsletters/2025-04-06/will-apple-raise-iphone-prices-in-the-us-after-trump-tariffs-iphone-17-details"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www.wsj.com/economy/trade/how-do-tariffs-affect-prices-trump-plan-009aa14e?st=jxnxNC&amp;reflink=article_email_share" TargetMode="Externa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nytimes.com/2025/02/04/business/waffle-house-egg-surcharge.html" TargetMode="Externa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www.nytimes.com/2024/04/19/business/france-economy-food-prices-shrinkflation.html?smid=nytcore-ios-share&amp;referringSource=articleShare" TargetMode="Externa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hyperlink" Target="https://www.grocerygazette.co.uk/2024/02/20/tesco-unit-pricing-clubcard/"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hyperlink" Target="https://www.wsj.com/business/retail/dior-armani-italy-supply-chain-labor-36b14a85?st=50tyd4s2pvto0gb&amp;reflink=article_email_share" TargetMode="Externa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topclassactions.com/lawsuit-settlements/closed-settlements/mccormick-black-pepper-slack-fill-class-action-settlement/"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jpeg"/><Relationship Id="rId4" Type="http://schemas.openxmlformats.org/officeDocument/2006/relationships/image" Target="../media/image48.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s://wccftech.com/apple-watch-series-6-costs-136-to-make/" TargetMode="External"/><Relationship Id="rId2" Type="http://schemas.openxmlformats.org/officeDocument/2006/relationships/image" Target="../media/image300.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2362200" y="4038600"/>
            <a:ext cx="6477000" cy="1828800"/>
          </a:xfrm>
          <a:noFill/>
        </p:spPr>
        <p:txBody>
          <a:bodyPr lIns="90488" tIns="44450" rIns="90488" bIns="44450"/>
          <a:lstStyle/>
          <a:p>
            <a:r>
              <a:rPr lang="en-US"/>
              <a:t>CostS</a:t>
            </a:r>
            <a:endParaRPr lang="en-US" i="1" dirty="0"/>
          </a:p>
        </p:txBody>
      </p:sp>
      <p:sp>
        <p:nvSpPr>
          <p:cNvPr id="5" name="Rectangle 3"/>
          <p:cNvSpPr txBox="1">
            <a:spLocks noChangeArrowheads="1"/>
          </p:cNvSpPr>
          <p:nvPr/>
        </p:nvSpPr>
        <p:spPr bwMode="auto">
          <a:xfrm>
            <a:off x="2362200" y="6050037"/>
            <a:ext cx="6705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normAutofit lnSpcReduction="10000"/>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buFont typeface="Wingdings" pitchFamily="2" charset="2"/>
              <a:buNone/>
            </a:pPr>
            <a:r>
              <a:rPr lang="en-US" sz="2800" dirty="0"/>
              <a:t>Jean-Pierre </a:t>
            </a:r>
            <a:r>
              <a:rPr lang="en-US" sz="2800" dirty="0" err="1"/>
              <a:t>Dubé</a:t>
            </a:r>
            <a:endParaRPr lang="en-US" sz="2800" dirty="0"/>
          </a:p>
          <a:p>
            <a:pPr marL="0" indent="0">
              <a:buFont typeface="Wingdings" pitchFamily="2" charset="2"/>
              <a:buNone/>
            </a:pPr>
            <a:r>
              <a:rPr lang="en-US" sz="900" b="1" dirty="0">
                <a:latin typeface="Arial" pitchFamily="34" charset="0"/>
                <a:sym typeface="Symbol" pitchFamily="18" charset="2"/>
              </a:rPr>
              <a:t></a:t>
            </a:r>
            <a:r>
              <a:rPr lang="en-US" sz="900" b="1" dirty="0">
                <a:latin typeface="Arial" pitchFamily="34" charset="0"/>
              </a:rPr>
              <a:t> Copyright 2025</a:t>
            </a:r>
          </a:p>
        </p:txBody>
      </p:sp>
      <p:sp>
        <p:nvSpPr>
          <p:cNvPr id="6" name="TextBox 5"/>
          <p:cNvSpPr txBox="1"/>
          <p:nvPr/>
        </p:nvSpPr>
        <p:spPr>
          <a:xfrm>
            <a:off x="152400" y="6137369"/>
            <a:ext cx="1455848" cy="523220"/>
          </a:xfrm>
          <a:prstGeom prst="rect">
            <a:avLst/>
          </a:prstGeom>
          <a:noFill/>
        </p:spPr>
        <p:txBody>
          <a:bodyPr wrap="none" rtlCol="0">
            <a:spAutoFit/>
          </a:bodyPr>
          <a:lstStyle/>
          <a:p>
            <a:r>
              <a:rPr lang="en-US" sz="1400" dirty="0"/>
              <a:t>Pricing Strategies</a:t>
            </a:r>
          </a:p>
          <a:p>
            <a:r>
              <a:rPr lang="en-US" sz="1400" dirty="0"/>
              <a:t>2025</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8"/>
          <p:cNvSpPr>
            <a:spLocks noGrp="1" noChangeArrowheads="1"/>
          </p:cNvSpPr>
          <p:nvPr>
            <p:ph type="title"/>
          </p:nvPr>
        </p:nvSpPr>
        <p:spPr/>
        <p:txBody>
          <a:bodyPr/>
          <a:lstStyle/>
          <a:p>
            <a:r>
              <a:rPr lang="en-US" dirty="0"/>
              <a:t>Overview</a:t>
            </a:r>
          </a:p>
        </p:txBody>
      </p:sp>
      <p:sp>
        <p:nvSpPr>
          <p:cNvPr id="33797" name="Rectangle 1029"/>
          <p:cNvSpPr>
            <a:spLocks noGrp="1" noChangeArrowheads="1"/>
          </p:cNvSpPr>
          <p:nvPr>
            <p:ph sz="quarter" idx="1"/>
          </p:nvPr>
        </p:nvSpPr>
        <p:spPr>
          <a:xfrm>
            <a:off x="612648" y="1600200"/>
            <a:ext cx="8153400" cy="4953000"/>
          </a:xfrm>
        </p:spPr>
        <p:txBody>
          <a:bodyPr>
            <a:normAutofit fontScale="92500" lnSpcReduction="20000"/>
          </a:bodyPr>
          <a:lstStyle/>
          <a:p>
            <a:pPr marL="0" indent="0" algn="ctr">
              <a:spcBef>
                <a:spcPts val="0"/>
              </a:spcBef>
              <a:spcAft>
                <a:spcPts val="1200"/>
              </a:spcAft>
              <a:buNone/>
              <a:defRPr/>
            </a:pPr>
            <a:r>
              <a:rPr lang="en-US" b="1" dirty="0"/>
              <a:t>Pricing </a:t>
            </a:r>
            <a:r>
              <a:rPr lang="en-US" dirty="0"/>
              <a:t>is a balancing act: </a:t>
            </a:r>
            <a:r>
              <a:rPr lang="en-US" b="1" dirty="0">
                <a:effectLst>
                  <a:outerShdw blurRad="38100" dist="38100" dir="2700000" algn="tl">
                    <a:srgbClr val="000000">
                      <a:alpha val="43137"/>
                    </a:srgbClr>
                  </a:outerShdw>
                </a:effectLst>
              </a:rPr>
              <a:t>value</a:t>
            </a:r>
            <a:r>
              <a:rPr lang="en-US" dirty="0"/>
              <a:t>, </a:t>
            </a:r>
            <a:r>
              <a:rPr lang="en-US" sz="3500" b="1" dirty="0">
                <a:solidFill>
                  <a:srgbClr val="FF0000"/>
                </a:solidFill>
                <a:effectLst>
                  <a:outerShdw blurRad="38100" dist="38100" dir="2700000" algn="tl">
                    <a:srgbClr val="000000">
                      <a:alpha val="43137"/>
                    </a:srgbClr>
                  </a:outerShdw>
                </a:effectLst>
              </a:rPr>
              <a:t>costs</a:t>
            </a:r>
            <a:r>
              <a:rPr lang="en-US" dirty="0"/>
              <a:t> &amp; </a:t>
            </a:r>
            <a:r>
              <a:rPr lang="en-US" b="1" dirty="0">
                <a:effectLst>
                  <a:outerShdw blurRad="38100" dist="38100" dir="2700000" algn="tl">
                    <a:srgbClr val="000000">
                      <a:alpha val="43137"/>
                    </a:srgbClr>
                  </a:outerShdw>
                </a:effectLst>
              </a:rPr>
              <a:t>competition</a:t>
            </a:r>
          </a:p>
          <a:p>
            <a:pPr marL="0" indent="0">
              <a:spcBef>
                <a:spcPts val="4800"/>
              </a:spcBef>
              <a:spcAft>
                <a:spcPts val="0"/>
              </a:spcAft>
              <a:buNone/>
              <a:defRPr/>
            </a:pPr>
            <a:r>
              <a:rPr lang="en-US" u="sng" dirty="0"/>
              <a:t>This lecture</a:t>
            </a:r>
          </a:p>
          <a:p>
            <a:pPr lvl="1">
              <a:spcAft>
                <a:spcPts val="1200"/>
              </a:spcAft>
              <a:defRPr/>
            </a:pPr>
            <a:r>
              <a:rPr lang="en-US" dirty="0"/>
              <a:t>Delegation of </a:t>
            </a:r>
            <a:r>
              <a:rPr lang="en-US" b="1" dirty="0">
                <a:solidFill>
                  <a:srgbClr val="FF0000"/>
                </a:solidFill>
                <a:effectLst>
                  <a:outerShdw blurRad="38100" dist="38100" dir="2700000" algn="tl">
                    <a:srgbClr val="000000">
                      <a:alpha val="43137"/>
                    </a:srgbClr>
                  </a:outerShdw>
                </a:effectLst>
                <a:latin typeface="Showcard Gothic" panose="04020904020102020604" pitchFamily="82" charset="0"/>
              </a:rPr>
              <a:t>P</a:t>
            </a:r>
            <a:r>
              <a:rPr lang="en-US" dirty="0"/>
              <a:t>ricing : accounting/finance vs marketing</a:t>
            </a:r>
          </a:p>
          <a:p>
            <a:pPr lvl="2">
              <a:spcAft>
                <a:spcPts val="1200"/>
              </a:spcAft>
              <a:defRPr/>
            </a:pPr>
            <a:r>
              <a:rPr lang="en-US" dirty="0"/>
              <a:t>Misspecification of pricing objectives</a:t>
            </a:r>
          </a:p>
          <a:p>
            <a:pPr lvl="2">
              <a:spcAft>
                <a:spcPts val="1200"/>
              </a:spcAft>
              <a:defRPr/>
            </a:pPr>
            <a:r>
              <a:rPr lang="en-US" dirty="0"/>
              <a:t>Adverse effects on pricing decisions</a:t>
            </a:r>
          </a:p>
          <a:p>
            <a:pPr lvl="1">
              <a:spcBef>
                <a:spcPts val="1200"/>
              </a:spcBef>
              <a:spcAft>
                <a:spcPts val="0"/>
              </a:spcAft>
              <a:defRPr/>
            </a:pPr>
            <a:r>
              <a:rPr lang="en-US" dirty="0"/>
              <a:t>Review of </a:t>
            </a:r>
            <a:r>
              <a:rPr lang="en-US" b="1" dirty="0">
                <a:effectLst>
                  <a:outerShdw blurRad="38100" dist="38100" dir="2700000" algn="tl">
                    <a:srgbClr val="000000">
                      <a:alpha val="43137"/>
                    </a:srgbClr>
                  </a:outerShdw>
                </a:effectLst>
              </a:rPr>
              <a:t>costing</a:t>
            </a:r>
            <a:r>
              <a:rPr lang="en-US" dirty="0"/>
              <a:t> theory</a:t>
            </a:r>
          </a:p>
          <a:p>
            <a:pPr lvl="2">
              <a:spcAft>
                <a:spcPts val="1200"/>
              </a:spcAft>
              <a:defRPr/>
            </a:pPr>
            <a:r>
              <a:rPr lang="en-US" dirty="0"/>
              <a:t>What firms do in practice? Why?</a:t>
            </a:r>
          </a:p>
          <a:p>
            <a:pPr lvl="2">
              <a:spcAft>
                <a:spcPts val="1200"/>
              </a:spcAft>
              <a:defRPr/>
            </a:pPr>
            <a:r>
              <a:rPr lang="en-US" dirty="0"/>
              <a:t>Identify costs relevant to </a:t>
            </a:r>
            <a:r>
              <a:rPr lang="en-US" b="1" dirty="0">
                <a:solidFill>
                  <a:srgbClr val="FF0000"/>
                </a:solidFill>
                <a:effectLst>
                  <a:outerShdw blurRad="38100" dist="38100" dir="2700000" algn="tl">
                    <a:srgbClr val="000000">
                      <a:alpha val="43137"/>
                    </a:srgbClr>
                  </a:outerShdw>
                </a:effectLst>
                <a:latin typeface="Showcard Gothic" panose="04020904020102020604" pitchFamily="82" charset="0"/>
              </a:rPr>
              <a:t>P</a:t>
            </a:r>
            <a:r>
              <a:rPr lang="en-US" dirty="0"/>
              <a:t>ricing</a:t>
            </a:r>
          </a:p>
          <a:p>
            <a:pPr lvl="1">
              <a:spcAft>
                <a:spcPts val="1200"/>
              </a:spcAft>
              <a:defRPr/>
            </a:pPr>
            <a:r>
              <a:rPr lang="en-US" dirty="0"/>
              <a:t>Correct Costing as </a:t>
            </a:r>
            <a:r>
              <a:rPr lang="en-US" b="1" dirty="0">
                <a:solidFill>
                  <a:srgbClr val="FF0000"/>
                </a:solidFill>
                <a:effectLst>
                  <a:outerShdw blurRad="38100" dist="38100" dir="2700000" algn="tl">
                    <a:srgbClr val="000000">
                      <a:alpha val="43137"/>
                    </a:srgbClr>
                  </a:outerShdw>
                </a:effectLst>
              </a:rPr>
              <a:t>GROWTH</a:t>
            </a:r>
            <a:r>
              <a:rPr lang="en-US" dirty="0"/>
              <a:t>!</a:t>
            </a:r>
          </a:p>
        </p:txBody>
      </p:sp>
      <p:sp>
        <p:nvSpPr>
          <p:cNvPr id="2" name="Slide Number Placeholder 1"/>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a:t>
            </a:fld>
            <a:endParaRPr lang="en-US"/>
          </a:p>
        </p:txBody>
      </p:sp>
      <p:sp>
        <p:nvSpPr>
          <p:cNvPr id="7" name="TextBox 6"/>
          <p:cNvSpPr txBox="1"/>
          <p:nvPr/>
        </p:nvSpPr>
        <p:spPr>
          <a:xfrm>
            <a:off x="4520287" y="2278612"/>
            <a:ext cx="834942" cy="307777"/>
          </a:xfrm>
          <a:prstGeom prst="rect">
            <a:avLst/>
          </a:prstGeom>
          <a:noFill/>
        </p:spPr>
        <p:txBody>
          <a:bodyPr wrap="square" rtlCol="0">
            <a:spAutoFit/>
          </a:bodyPr>
          <a:lstStyle/>
          <a:p>
            <a:pPr algn="ctr"/>
            <a:r>
              <a:rPr lang="en-US" sz="1400" dirty="0">
                <a:solidFill>
                  <a:srgbClr val="0070C0"/>
                </a:solidFill>
              </a:rPr>
              <a:t>day 1</a:t>
            </a:r>
          </a:p>
        </p:txBody>
      </p:sp>
      <p:sp>
        <p:nvSpPr>
          <p:cNvPr id="8" name="Right Brace 7"/>
          <p:cNvSpPr/>
          <p:nvPr/>
        </p:nvSpPr>
        <p:spPr>
          <a:xfrm rot="5400000">
            <a:off x="4842394" y="1863206"/>
            <a:ext cx="145012" cy="685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6483864" y="2278612"/>
            <a:ext cx="1577113" cy="307777"/>
          </a:xfrm>
          <a:prstGeom prst="rect">
            <a:avLst/>
          </a:prstGeom>
          <a:noFill/>
        </p:spPr>
        <p:txBody>
          <a:bodyPr wrap="square" rtlCol="0">
            <a:spAutoFit/>
          </a:bodyPr>
          <a:lstStyle/>
          <a:p>
            <a:pPr algn="ctr"/>
            <a:r>
              <a:rPr lang="en-US" sz="1400" dirty="0">
                <a:solidFill>
                  <a:srgbClr val="0070C0"/>
                </a:solidFill>
              </a:rPr>
              <a:t>day 3</a:t>
            </a:r>
          </a:p>
        </p:txBody>
      </p:sp>
      <p:sp>
        <p:nvSpPr>
          <p:cNvPr id="10" name="Right Brace 9"/>
          <p:cNvSpPr/>
          <p:nvPr/>
        </p:nvSpPr>
        <p:spPr>
          <a:xfrm rot="5400000">
            <a:off x="7110772" y="1558406"/>
            <a:ext cx="145012" cy="1295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3836215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79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79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79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79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79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79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bwMode="auto">
          <a:xfrm>
            <a:off x="612648" y="1600200"/>
            <a:ext cx="8153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400" kern="1200" baseline="0">
                <a:solidFill>
                  <a:schemeClr val="tx1"/>
                </a:solidFill>
                <a:latin typeface="+mj-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400" kern="1200" baseline="0">
                <a:solidFill>
                  <a:schemeClr val="tx1"/>
                </a:solidFill>
                <a:latin typeface="+mj-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400" kern="1200" baseline="0">
                <a:solidFill>
                  <a:schemeClr val="tx1"/>
                </a:solidFill>
                <a:latin typeface="+mj-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400" kern="1200" baseline="0">
                <a:solidFill>
                  <a:schemeClr val="tx1"/>
                </a:solidFill>
                <a:latin typeface="+mj-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400" kern="1200" baseline="0">
                <a:solidFill>
                  <a:schemeClr val="tx1"/>
                </a:solidFill>
                <a:latin typeface="+mj-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lgn="ctr">
              <a:spcAft>
                <a:spcPts val="1200"/>
              </a:spcAft>
              <a:buFont typeface="Wingdings" pitchFamily="2" charset="2"/>
              <a:buNone/>
            </a:pPr>
            <a:r>
              <a:rPr lang="en-US" i="1" dirty="0"/>
              <a:t>Pricing should balance customer’s demand for value and firm’s need to cover costs and make profits.</a:t>
            </a:r>
            <a:endParaRPr lang="en-US" dirty="0">
              <a:solidFill>
                <a:schemeClr val="bg1"/>
              </a:solidFill>
            </a:endParaRPr>
          </a:p>
        </p:txBody>
      </p:sp>
      <p:sp>
        <p:nvSpPr>
          <p:cNvPr id="2" name="Title 1"/>
          <p:cNvSpPr>
            <a:spLocks noGrp="1"/>
          </p:cNvSpPr>
          <p:nvPr>
            <p:ph type="title"/>
          </p:nvPr>
        </p:nvSpPr>
        <p:spPr/>
        <p:txBody>
          <a:bodyPr>
            <a:normAutofit fontScale="90000"/>
          </a:bodyPr>
          <a:lstStyle/>
          <a:p>
            <a:r>
              <a:rPr lang="en-US" sz="4400" dirty="0"/>
              <a:t>Pricing in the Organization</a:t>
            </a:r>
            <a:br>
              <a:rPr lang="en-US" sz="4400" dirty="0"/>
            </a:br>
            <a:r>
              <a:rPr lang="en-US" sz="3600" dirty="0"/>
              <a:t>Delegating Pricing Decisions</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F523A3-701C-4BA0-B4BF-4EED50634A3D}" type="slidenum">
              <a:rPr lang="en-US" smtClean="0"/>
              <a:pPr>
                <a:defRPr/>
              </a:pPr>
              <a:t>3</a:t>
            </a:fld>
            <a:endParaRPr lang="en-US"/>
          </a:p>
        </p:txBody>
      </p:sp>
      <p:pic>
        <p:nvPicPr>
          <p:cNvPr id="1026" name="Picture 2" descr="Marketing vs Finance Comparison Career Guideline Jobs | Reading Ma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514600"/>
            <a:ext cx="3689697" cy="260794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p:cNvSpPr>
            <a:spLocks noGrp="1"/>
          </p:cNvSpPr>
          <p:nvPr>
            <p:ph sz="quarter" idx="1"/>
          </p:nvPr>
        </p:nvSpPr>
        <p:spPr>
          <a:xfrm>
            <a:off x="612648" y="5334000"/>
            <a:ext cx="8153400" cy="1371600"/>
          </a:xfrm>
        </p:spPr>
        <p:txBody>
          <a:bodyPr>
            <a:normAutofit/>
          </a:bodyPr>
          <a:lstStyle/>
          <a:p>
            <a:pPr>
              <a:spcBef>
                <a:spcPts val="1200"/>
              </a:spcBef>
              <a:spcAft>
                <a:spcPts val="600"/>
              </a:spcAft>
            </a:pPr>
            <a:r>
              <a:rPr lang="en-US" u="sng" dirty="0"/>
              <a:t>All</a:t>
            </a:r>
            <a:r>
              <a:rPr lang="en-US" dirty="0"/>
              <a:t> costs are </a:t>
            </a:r>
            <a:r>
              <a:rPr lang="en-US" i="1" dirty="0">
                <a:latin typeface="Times New Roman" panose="02020603050405020304" pitchFamily="18" charset="0"/>
                <a:cs typeface="Times New Roman" panose="02020603050405020304" pitchFamily="18" charset="0"/>
              </a:rPr>
              <a:t>financially</a:t>
            </a:r>
            <a:r>
              <a:rPr lang="en-US" dirty="0"/>
              <a:t> relevant</a:t>
            </a:r>
            <a:r>
              <a:rPr lang="en-US" i="1" dirty="0"/>
              <a:t>. </a:t>
            </a:r>
          </a:p>
          <a:p>
            <a:pPr>
              <a:spcBef>
                <a:spcPts val="1200"/>
              </a:spcBef>
              <a:spcAft>
                <a:spcPts val="1200"/>
              </a:spcAft>
            </a:pPr>
            <a:r>
              <a:rPr lang="en-US" dirty="0">
                <a:latin typeface="Arial Black" panose="020B0A04020102020204" pitchFamily="34" charset="0"/>
              </a:rPr>
              <a:t>But, not all costs are relevant to pricing!</a:t>
            </a:r>
          </a:p>
        </p:txBody>
      </p:sp>
    </p:spTree>
    <p:extLst>
      <p:ext uri="{BB962C8B-B14F-4D97-AF65-F5344CB8AC3E}">
        <p14:creationId xmlns:p14="http://schemas.microsoft.com/office/powerpoint/2010/main" val="2855220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Margins and Financial Performance</a:t>
            </a:r>
            <a:br>
              <a:rPr lang="en-US" sz="4400" dirty="0"/>
            </a:br>
            <a:r>
              <a:rPr lang="en-US" sz="3600" dirty="0"/>
              <a:t>Finance tracks margins to measure performance</a:t>
            </a:r>
            <a:endParaRPr lang="en-US" dirty="0"/>
          </a:p>
        </p:txBody>
      </p:sp>
      <mc:AlternateContent xmlns:mc="http://schemas.openxmlformats.org/markup-compatibility/2006" xmlns:a14="http://schemas.microsoft.com/office/drawing/2010/main">
        <mc:Choice Requires="a14">
          <p:sp>
            <p:nvSpPr>
              <p:cNvPr id="4" name="Content Placeholder 2"/>
              <p:cNvSpPr>
                <a:spLocks noGrp="1"/>
              </p:cNvSpPr>
              <p:nvPr>
                <p:ph sz="quarter" idx="1"/>
              </p:nvPr>
            </p:nvSpPr>
            <p:spPr>
              <a:xfrm>
                <a:off x="612648" y="1600200"/>
                <a:ext cx="8153400" cy="5181600"/>
              </a:xfrm>
            </p:spPr>
            <p:txBody>
              <a:bodyPr>
                <a:normAutofit fontScale="92500" lnSpcReduction="10000"/>
              </a:bodyPr>
              <a:lstStyle/>
              <a:p>
                <a:pPr>
                  <a:spcAft>
                    <a:spcPts val="3600"/>
                  </a:spcAft>
                </a:pPr>
                <a:r>
                  <a:rPr lang="en-US" sz="2600" b="1" dirty="0"/>
                  <a:t>Net Margin </a:t>
                </a:r>
                <a:r>
                  <a:rPr lang="en-US" sz="2600" dirty="0"/>
                  <a:t>(bottom line)</a:t>
                </a:r>
              </a:p>
              <a:p>
                <a:pPr marL="0" indent="0">
                  <a:spcBef>
                    <a:spcPts val="1800"/>
                  </a:spcBef>
                  <a:spcAft>
                    <a:spcPts val="1200"/>
                  </a:spcAft>
                  <a:buNone/>
                </a:pPr>
                <a14:m>
                  <m:oMathPara xmlns:m="http://schemas.openxmlformats.org/officeDocument/2006/math">
                    <m:oMathParaPr>
                      <m:jc m:val="centerGroup"/>
                    </m:oMathParaPr>
                    <m:oMath xmlns:m="http://schemas.openxmlformats.org/officeDocument/2006/math">
                      <m:r>
                        <a:rPr lang="en-US" sz="2200" b="1" i="1" smtClean="0">
                          <a:solidFill>
                            <a:srgbClr val="0070C0"/>
                          </a:solidFill>
                          <a:latin typeface="Cambria Math" panose="02040503050406030204" pitchFamily="18" charset="0"/>
                        </a:rPr>
                        <m:t>𝑵</m:t>
                      </m:r>
                      <m:r>
                        <a:rPr lang="en-US" sz="2200" b="1" i="1">
                          <a:solidFill>
                            <a:srgbClr val="0070C0"/>
                          </a:solidFill>
                          <a:latin typeface="Cambria Math"/>
                        </a:rPr>
                        <m:t>𝑴</m:t>
                      </m:r>
                      <m:r>
                        <a:rPr lang="en-US" sz="2200" i="1">
                          <a:latin typeface="Cambria Math"/>
                        </a:rPr>
                        <m:t>=</m:t>
                      </m:r>
                      <m:f>
                        <m:fPr>
                          <m:ctrlPr>
                            <a:rPr lang="en-US" sz="2200" i="1">
                              <a:latin typeface="Cambria Math" panose="02040503050406030204" pitchFamily="18" charset="0"/>
                            </a:rPr>
                          </m:ctrlPr>
                        </m:fPr>
                        <m:num>
                          <m:r>
                            <a:rPr lang="en-US" sz="2200" b="0" i="1" smtClean="0">
                              <a:latin typeface="Cambria Math" panose="02040503050406030204" pitchFamily="18" charset="0"/>
                            </a:rPr>
                            <m:t>𝑆𝑎𝑙𝑒</m:t>
                          </m:r>
                          <m:r>
                            <a:rPr lang="en-US" sz="2200" i="1">
                              <a:latin typeface="Cambria Math"/>
                            </a:rPr>
                            <m:t>𝑠</m:t>
                          </m:r>
                          <m:r>
                            <a:rPr lang="en-US" sz="2200" i="1">
                              <a:latin typeface="Cambria Math"/>
                            </a:rPr>
                            <m:t>−</m:t>
                          </m:r>
                          <m:r>
                            <a:rPr lang="en-US" sz="2200" i="1">
                              <a:latin typeface="Cambria Math"/>
                            </a:rPr>
                            <m:t>𝐶𝑜𝐺𝑆</m:t>
                          </m:r>
                          <m:r>
                            <a:rPr lang="en-US" sz="2200" b="0" i="1" smtClean="0">
                              <a:latin typeface="Cambria Math" panose="02040503050406030204" pitchFamily="18" charset="0"/>
                            </a:rPr>
                            <m:t>−</m:t>
                          </m:r>
                          <m:r>
                            <a:rPr lang="en-US" sz="2200" b="0" i="1" smtClean="0">
                              <a:latin typeface="Cambria Math" panose="02040503050406030204" pitchFamily="18" charset="0"/>
                            </a:rPr>
                            <m:t>𝑂𝐸</m:t>
                          </m:r>
                          <m:r>
                            <a:rPr lang="en-US" sz="2200" b="0" i="1" smtClean="0">
                              <a:latin typeface="Cambria Math" panose="02040503050406030204" pitchFamily="18" charset="0"/>
                            </a:rPr>
                            <m:t>−</m:t>
                          </m:r>
                          <m:r>
                            <a:rPr lang="en-US" sz="2200" b="0" i="1" smtClean="0">
                              <a:latin typeface="Cambria Math" panose="02040503050406030204" pitchFamily="18" charset="0"/>
                            </a:rPr>
                            <m:t>𝐷𝑒𝑏𝑡</m:t>
                          </m:r>
                          <m:r>
                            <a:rPr lang="en-US" sz="2200" b="0" i="1" smtClean="0">
                              <a:latin typeface="Cambria Math" panose="02040503050406030204" pitchFamily="18" charset="0"/>
                            </a:rPr>
                            <m:t>−</m:t>
                          </m:r>
                          <m:r>
                            <a:rPr lang="en-US" sz="2200" b="0" i="1" smtClean="0">
                              <a:latin typeface="Cambria Math" panose="02040503050406030204" pitchFamily="18" charset="0"/>
                            </a:rPr>
                            <m:t>𝑡𝑎𝑥𝑒𝑠</m:t>
                          </m:r>
                        </m:num>
                        <m:den>
                          <m:r>
                            <a:rPr lang="en-US" sz="2200" i="1">
                              <a:latin typeface="Cambria Math"/>
                            </a:rPr>
                            <m:t>𝑆𝑎𝑙𝑒𝑠</m:t>
                          </m:r>
                        </m:den>
                      </m:f>
                    </m:oMath>
                  </m:oMathPara>
                </a14:m>
                <a:endParaRPr lang="en-US" sz="2600" dirty="0"/>
              </a:p>
              <a:p>
                <a:pPr marL="0" indent="0">
                  <a:spcAft>
                    <a:spcPts val="1200"/>
                  </a:spcAft>
                  <a:buNone/>
                </a:pPr>
                <a:r>
                  <a:rPr lang="en-US" sz="2000" dirty="0"/>
                  <a:t>Measures business’s overall financial health: management’s ability to convert revenues into enough profit to cover operating costs &amp; overhead.</a:t>
                </a:r>
              </a:p>
              <a:p>
                <a:pPr marL="0" indent="0">
                  <a:spcBef>
                    <a:spcPts val="0"/>
                  </a:spcBef>
                  <a:spcAft>
                    <a:spcPts val="0"/>
                  </a:spcAft>
                  <a:buNone/>
                </a:pPr>
                <a:endParaRPr lang="en-US" sz="2000" dirty="0"/>
              </a:p>
              <a:p>
                <a:pPr>
                  <a:spcBef>
                    <a:spcPts val="0"/>
                  </a:spcBef>
                  <a:spcAft>
                    <a:spcPts val="1900"/>
                  </a:spcAft>
                </a:pPr>
                <a:r>
                  <a:rPr lang="en-US" sz="2600" b="1" dirty="0"/>
                  <a:t>Gross Margin</a:t>
                </a:r>
                <a:r>
                  <a:rPr lang="en-US" sz="2600" dirty="0"/>
                  <a:t> (of business unit)</a:t>
                </a:r>
              </a:p>
              <a:p>
                <a:pPr marL="0" indent="0">
                  <a:spcBef>
                    <a:spcPts val="1800"/>
                  </a:spcBef>
                  <a:spcAft>
                    <a:spcPts val="1200"/>
                  </a:spcAft>
                  <a:buNone/>
                </a:pPr>
                <a14:m>
                  <m:oMathPara xmlns:m="http://schemas.openxmlformats.org/officeDocument/2006/math">
                    <m:oMathParaPr>
                      <m:jc m:val="centerGroup"/>
                    </m:oMathParaPr>
                    <m:oMath xmlns:m="http://schemas.openxmlformats.org/officeDocument/2006/math">
                      <m:r>
                        <a:rPr lang="en-US" sz="2200" b="1" i="1" smtClean="0">
                          <a:solidFill>
                            <a:srgbClr val="0070C0"/>
                          </a:solidFill>
                          <a:latin typeface="Cambria Math"/>
                        </a:rPr>
                        <m:t>𝑮𝑴</m:t>
                      </m:r>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𝑆𝑎𝑙𝑒𝑠</m:t>
                          </m:r>
                          <m:r>
                            <a:rPr lang="en-US" sz="2200" b="0" i="1" smtClean="0">
                              <a:latin typeface="Cambria Math"/>
                            </a:rPr>
                            <m:t>−</m:t>
                          </m:r>
                          <m:r>
                            <a:rPr lang="en-US" sz="2200" b="0" i="1" smtClean="0">
                              <a:latin typeface="Cambria Math"/>
                            </a:rPr>
                            <m:t>𝐶𝑜𝐺𝑆</m:t>
                          </m:r>
                        </m:num>
                        <m:den>
                          <m:r>
                            <a:rPr lang="en-US" sz="2200" b="0" i="1" smtClean="0">
                              <a:latin typeface="Cambria Math"/>
                            </a:rPr>
                            <m:t>𝑆𝑎𝑙𝑒𝑠</m:t>
                          </m:r>
                        </m:den>
                      </m:f>
                      <m:r>
                        <a:rPr lang="en-US" sz="2200" b="0" i="1" smtClean="0">
                          <a:solidFill>
                            <a:schemeClr val="bg1"/>
                          </a:solidFill>
                          <a:latin typeface="Cambria Math"/>
                        </a:rPr>
                        <m:t>=</m:t>
                      </m:r>
                      <m:f>
                        <m:fPr>
                          <m:ctrlPr>
                            <a:rPr lang="en-US" sz="2200" i="1">
                              <a:solidFill>
                                <a:schemeClr val="bg1"/>
                              </a:solidFill>
                              <a:latin typeface="Cambria Math" panose="02040503050406030204" pitchFamily="18" charset="0"/>
                            </a:rPr>
                          </m:ctrlPr>
                        </m:fPr>
                        <m:num>
                          <m:r>
                            <a:rPr lang="en-US" sz="2200" b="0" i="1" smtClean="0">
                              <a:solidFill>
                                <a:schemeClr val="bg1"/>
                              </a:solidFill>
                              <a:latin typeface="Cambria Math"/>
                            </a:rPr>
                            <m:t>𝑝𝑄</m:t>
                          </m:r>
                          <m:r>
                            <a:rPr lang="en-US" sz="2200" i="1">
                              <a:solidFill>
                                <a:schemeClr val="bg1"/>
                              </a:solidFill>
                              <a:latin typeface="Cambria Math"/>
                            </a:rPr>
                            <m:t>−</m:t>
                          </m:r>
                          <m:r>
                            <a:rPr lang="en-US" sz="2200" b="0" i="1" smtClean="0">
                              <a:solidFill>
                                <a:schemeClr val="bg1"/>
                              </a:solidFill>
                              <a:latin typeface="Cambria Math"/>
                            </a:rPr>
                            <m:t>𝑐𝑄</m:t>
                          </m:r>
                          <m:r>
                            <a:rPr lang="en-US" sz="2200" b="0" i="1" smtClean="0">
                              <a:solidFill>
                                <a:schemeClr val="bg1"/>
                              </a:solidFill>
                              <a:latin typeface="Cambria Math"/>
                            </a:rPr>
                            <m:t>−</m:t>
                          </m:r>
                          <m:r>
                            <a:rPr lang="en-US" sz="2200" b="0" i="1" smtClean="0">
                              <a:solidFill>
                                <a:schemeClr val="bg1"/>
                              </a:solidFill>
                              <a:latin typeface="Cambria Math"/>
                            </a:rPr>
                            <m:t>𝐹</m:t>
                          </m:r>
                        </m:num>
                        <m:den>
                          <m:r>
                            <a:rPr lang="en-US" sz="2200" b="0" i="1" smtClean="0">
                              <a:solidFill>
                                <a:schemeClr val="bg1"/>
                              </a:solidFill>
                              <a:latin typeface="Cambria Math"/>
                            </a:rPr>
                            <m:t>𝑝𝑄</m:t>
                          </m:r>
                        </m:den>
                      </m:f>
                      <m:r>
                        <a:rPr lang="en-US" sz="2200" b="0" i="1" smtClean="0">
                          <a:solidFill>
                            <a:schemeClr val="bg1"/>
                          </a:solidFill>
                          <a:latin typeface="Cambria Math"/>
                        </a:rPr>
                        <m:t>=</m:t>
                      </m:r>
                      <m:f>
                        <m:fPr>
                          <m:ctrlPr>
                            <a:rPr lang="en-US" sz="2200" i="1">
                              <a:solidFill>
                                <a:schemeClr val="bg1"/>
                              </a:solidFill>
                              <a:latin typeface="Cambria Math" panose="02040503050406030204" pitchFamily="18" charset="0"/>
                            </a:rPr>
                          </m:ctrlPr>
                        </m:fPr>
                        <m:num>
                          <m:r>
                            <a:rPr lang="en-US" sz="2200" b="0" i="1" smtClean="0">
                              <a:solidFill>
                                <a:schemeClr val="bg1"/>
                              </a:solidFill>
                              <a:latin typeface="Cambria Math"/>
                            </a:rPr>
                            <m:t>𝑝</m:t>
                          </m:r>
                          <m:r>
                            <a:rPr lang="en-US" sz="2200" i="1">
                              <a:solidFill>
                                <a:schemeClr val="bg1"/>
                              </a:solidFill>
                              <a:latin typeface="Cambria Math"/>
                            </a:rPr>
                            <m:t>−</m:t>
                          </m:r>
                          <m:r>
                            <a:rPr lang="en-US" sz="2200" b="0" i="1" smtClean="0">
                              <a:solidFill>
                                <a:schemeClr val="bg1"/>
                              </a:solidFill>
                              <a:latin typeface="Cambria Math" panose="02040503050406030204" pitchFamily="18" charset="0"/>
                            </a:rPr>
                            <m:t>𝐴𝐶</m:t>
                          </m:r>
                        </m:num>
                        <m:den>
                          <m:r>
                            <a:rPr lang="en-US" sz="2200" b="0" i="1" smtClean="0">
                              <a:solidFill>
                                <a:schemeClr val="bg1"/>
                              </a:solidFill>
                              <a:latin typeface="Cambria Math"/>
                            </a:rPr>
                            <m:t>𝑝</m:t>
                          </m:r>
                        </m:den>
                      </m:f>
                    </m:oMath>
                  </m:oMathPara>
                </a14:m>
                <a:endParaRPr lang="en-US" sz="2200" dirty="0"/>
              </a:p>
              <a:p>
                <a:pPr marL="0" indent="0">
                  <a:spcAft>
                    <a:spcPts val="1200"/>
                  </a:spcAft>
                  <a:buNone/>
                </a:pPr>
                <a:r>
                  <a:rPr lang="en-US" sz="2000" dirty="0"/>
                  <a:t>Measures business unit’s ability to generate profit from production of goods/services (excludes overhead like rent, taxes, interest …)</a:t>
                </a:r>
              </a:p>
              <a:p>
                <a:pPr marL="0" indent="0">
                  <a:spcBef>
                    <a:spcPts val="1800"/>
                  </a:spcBef>
                  <a:spcAft>
                    <a:spcPts val="1200"/>
                  </a:spcAft>
                  <a:buNone/>
                </a:pPr>
                <a:r>
                  <a:rPr lang="en-US" sz="1500" dirty="0"/>
                  <a:t>See </a:t>
                </a:r>
                <a:r>
                  <a:rPr lang="en-US" sz="1500" dirty="0">
                    <a:hlinkClick r:id="rId3"/>
                  </a:rPr>
                  <a:t>“13 Financial Performance Measures Managers Should Monitor,” HBS, May 2020</a:t>
                </a:r>
                <a:endParaRPr lang="en-US" sz="1500" dirty="0"/>
              </a:p>
            </p:txBody>
          </p:sp>
        </mc:Choice>
        <mc:Fallback xmlns="">
          <p:sp>
            <p:nvSpPr>
              <p:cNvPr id="4" name="Content Placeholder 2"/>
              <p:cNvSpPr>
                <a:spLocks noGrp="1" noRot="1" noChangeAspect="1" noMove="1" noResize="1" noEditPoints="1" noAdjustHandles="1" noChangeArrowheads="1" noChangeShapeType="1" noTextEdit="1"/>
              </p:cNvSpPr>
              <p:nvPr>
                <p:ph sz="quarter" idx="1"/>
              </p:nvPr>
            </p:nvSpPr>
            <p:spPr>
              <a:xfrm>
                <a:off x="612648" y="1600200"/>
                <a:ext cx="8153400" cy="5181600"/>
              </a:xfrm>
              <a:blipFill>
                <a:blip r:embed="rId4"/>
                <a:stretch>
                  <a:fillRect l="-748" t="-1647" b="-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550441" y="1978219"/>
                <a:ext cx="1219012" cy="307777"/>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FF0000"/>
                          </a:solidFill>
                          <a:latin typeface="Cambria Math" panose="02040503050406030204" pitchFamily="18" charset="0"/>
                        </a:rPr>
                        <m:t>𝑛𝑒𝑡</m:t>
                      </m:r>
                      <m:r>
                        <a:rPr lang="en-US" sz="1400" b="0" i="1" smtClean="0">
                          <a:solidFill>
                            <a:srgbClr val="FF0000"/>
                          </a:solidFill>
                          <a:latin typeface="Cambria Math" panose="02040503050406030204" pitchFamily="18" charset="0"/>
                        </a:rPr>
                        <m:t> </m:t>
                      </m:r>
                      <m:r>
                        <a:rPr lang="en-US" sz="1400" b="0" i="1" smtClean="0">
                          <a:solidFill>
                            <a:srgbClr val="FF0000"/>
                          </a:solidFill>
                          <a:latin typeface="Cambria Math" panose="02040503050406030204" pitchFamily="18" charset="0"/>
                        </a:rPr>
                        <m:t>𝑖𝑛𝑐𝑜𝑚𝑒</m:t>
                      </m:r>
                    </m:oMath>
                  </m:oMathPara>
                </a14:m>
                <a:endParaRPr lang="en-US" sz="1400" dirty="0">
                  <a:solidFill>
                    <a:srgbClr val="FF0000"/>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4550441" y="1978219"/>
                <a:ext cx="1219012" cy="307777"/>
              </a:xfrm>
              <a:prstGeom prst="rect">
                <a:avLst/>
              </a:prstGeom>
              <a:blipFill>
                <a:blip r:embed="rId5"/>
                <a:stretch>
                  <a:fillRect/>
                </a:stretch>
              </a:blipFill>
              <a:ln>
                <a:noFill/>
              </a:ln>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4</a:t>
            </a:fld>
            <a:endParaRPr lang="en-US"/>
          </a:p>
        </p:txBody>
      </p:sp>
      <p:sp>
        <p:nvSpPr>
          <p:cNvPr id="6" name="Right Brace 5"/>
          <p:cNvSpPr/>
          <p:nvPr/>
        </p:nvSpPr>
        <p:spPr>
          <a:xfrm rot="16200000">
            <a:off x="4959305" y="222291"/>
            <a:ext cx="238972" cy="4366383"/>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p:cNvSpPr txBox="1"/>
              <p:nvPr/>
            </p:nvSpPr>
            <p:spPr>
              <a:xfrm>
                <a:off x="3124200" y="4428902"/>
                <a:ext cx="1219012" cy="307777"/>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FF0000"/>
                          </a:solidFill>
                          <a:latin typeface="Cambria Math" panose="02040503050406030204" pitchFamily="18" charset="0"/>
                        </a:rPr>
                        <m:t>𝑔𝑟𝑜𝑠𝑠</m:t>
                      </m:r>
                      <m:r>
                        <a:rPr lang="en-US" sz="1400" b="0" i="1" smtClean="0">
                          <a:solidFill>
                            <a:srgbClr val="FF0000"/>
                          </a:solidFill>
                          <a:latin typeface="Cambria Math" panose="02040503050406030204" pitchFamily="18" charset="0"/>
                        </a:rPr>
                        <m:t> </m:t>
                      </m:r>
                      <m:r>
                        <a:rPr lang="en-US" sz="1400" b="0" i="1" smtClean="0">
                          <a:solidFill>
                            <a:srgbClr val="FF0000"/>
                          </a:solidFill>
                          <a:latin typeface="Cambria Math" panose="02040503050406030204" pitchFamily="18" charset="0"/>
                        </a:rPr>
                        <m:t>𝑖𝑛𝑐𝑜𝑚𝑒</m:t>
                      </m:r>
                    </m:oMath>
                  </m:oMathPara>
                </a14:m>
                <a:endParaRPr lang="en-US" sz="1400" dirty="0">
                  <a:solidFill>
                    <a:srgbClr val="FF000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3124200" y="4428902"/>
                <a:ext cx="1219012" cy="307777"/>
              </a:xfrm>
              <a:prstGeom prst="rect">
                <a:avLst/>
              </a:prstGeom>
              <a:blipFill>
                <a:blip r:embed="rId6"/>
                <a:stretch>
                  <a:fillRect r="-503" b="-4000"/>
                </a:stretch>
              </a:blipFill>
              <a:ln>
                <a:noFill/>
              </a:ln>
            </p:spPr>
            <p:txBody>
              <a:bodyPr/>
              <a:lstStyle/>
              <a:p>
                <a:r>
                  <a:rPr lang="en-US">
                    <a:noFill/>
                  </a:rPr>
                  <a:t> </a:t>
                </a:r>
              </a:p>
            </p:txBody>
          </p:sp>
        </mc:Fallback>
      </mc:AlternateContent>
      <p:sp>
        <p:nvSpPr>
          <p:cNvPr id="16" name="Right Brace 15"/>
          <p:cNvSpPr/>
          <p:nvPr/>
        </p:nvSpPr>
        <p:spPr>
          <a:xfrm rot="16200000">
            <a:off x="3555580" y="3860378"/>
            <a:ext cx="127844" cy="1752602"/>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640196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6" grpId="0" animBg="1"/>
      <p:bldP spid="15" grpId="0"/>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Margins and Financial Performance</a:t>
            </a:r>
            <a:br>
              <a:rPr lang="en-US" sz="4400" dirty="0"/>
            </a:br>
            <a:r>
              <a:rPr lang="en-US" sz="3600" dirty="0"/>
              <a:t>Finance tracks margins to measure performance</a:t>
            </a:r>
            <a:endParaRPr lang="en-US" dirty="0"/>
          </a:p>
        </p:txBody>
      </p:sp>
      <mc:AlternateContent xmlns:mc="http://schemas.openxmlformats.org/markup-compatibility/2006" xmlns:a14="http://schemas.microsoft.com/office/drawing/2010/main">
        <mc:Choice Requires="a14">
          <p:sp>
            <p:nvSpPr>
              <p:cNvPr id="4" name="Content Placeholder 2"/>
              <p:cNvSpPr>
                <a:spLocks noGrp="1"/>
              </p:cNvSpPr>
              <p:nvPr>
                <p:ph sz="quarter" idx="1"/>
              </p:nvPr>
            </p:nvSpPr>
            <p:spPr>
              <a:xfrm>
                <a:off x="612648" y="1600200"/>
                <a:ext cx="8153400" cy="5181600"/>
              </a:xfrm>
            </p:spPr>
            <p:txBody>
              <a:bodyPr>
                <a:normAutofit fontScale="92500" lnSpcReduction="10000"/>
              </a:bodyPr>
              <a:lstStyle/>
              <a:p>
                <a:pPr>
                  <a:spcAft>
                    <a:spcPts val="3600"/>
                  </a:spcAft>
                </a:pPr>
                <a:r>
                  <a:rPr lang="en-US" sz="2600" b="1" dirty="0"/>
                  <a:t>Net Margin </a:t>
                </a:r>
                <a:r>
                  <a:rPr lang="en-US" sz="2600" dirty="0"/>
                  <a:t>(bottom line)</a:t>
                </a:r>
              </a:p>
              <a:p>
                <a:pPr marL="0" indent="0">
                  <a:spcBef>
                    <a:spcPts val="1800"/>
                  </a:spcBef>
                  <a:spcAft>
                    <a:spcPts val="1200"/>
                  </a:spcAft>
                  <a:buNone/>
                </a:pPr>
                <a14:m>
                  <m:oMathPara xmlns:m="http://schemas.openxmlformats.org/officeDocument/2006/math">
                    <m:oMathParaPr>
                      <m:jc m:val="centerGroup"/>
                    </m:oMathParaPr>
                    <m:oMath xmlns:m="http://schemas.openxmlformats.org/officeDocument/2006/math">
                      <m:r>
                        <a:rPr lang="en-US" sz="2200" b="1" i="1" smtClean="0">
                          <a:solidFill>
                            <a:srgbClr val="0070C0"/>
                          </a:solidFill>
                          <a:latin typeface="Cambria Math" panose="02040503050406030204" pitchFamily="18" charset="0"/>
                        </a:rPr>
                        <m:t>𝑵</m:t>
                      </m:r>
                      <m:r>
                        <a:rPr lang="en-US" sz="2200" b="1" i="1">
                          <a:solidFill>
                            <a:srgbClr val="0070C0"/>
                          </a:solidFill>
                          <a:latin typeface="Cambria Math"/>
                        </a:rPr>
                        <m:t>𝑴</m:t>
                      </m:r>
                      <m:r>
                        <a:rPr lang="en-US" sz="2200" i="1">
                          <a:latin typeface="Cambria Math"/>
                        </a:rPr>
                        <m:t>=</m:t>
                      </m:r>
                      <m:f>
                        <m:fPr>
                          <m:ctrlPr>
                            <a:rPr lang="en-US" sz="2200" i="1">
                              <a:latin typeface="Cambria Math" panose="02040503050406030204" pitchFamily="18" charset="0"/>
                            </a:rPr>
                          </m:ctrlPr>
                        </m:fPr>
                        <m:num>
                          <m:r>
                            <a:rPr lang="en-US" sz="2200" b="0" i="1" smtClean="0">
                              <a:latin typeface="Cambria Math" panose="02040503050406030204" pitchFamily="18" charset="0"/>
                            </a:rPr>
                            <m:t>𝑆𝑎𝑙𝑒</m:t>
                          </m:r>
                          <m:r>
                            <a:rPr lang="en-US" sz="2200" i="1">
                              <a:latin typeface="Cambria Math"/>
                            </a:rPr>
                            <m:t>𝑠</m:t>
                          </m:r>
                          <m:r>
                            <a:rPr lang="en-US" sz="2200" i="1">
                              <a:latin typeface="Cambria Math"/>
                            </a:rPr>
                            <m:t>−</m:t>
                          </m:r>
                          <m:r>
                            <a:rPr lang="en-US" sz="2200" i="1">
                              <a:latin typeface="Cambria Math"/>
                            </a:rPr>
                            <m:t>𝐶𝑜𝐺𝑆</m:t>
                          </m:r>
                          <m:r>
                            <a:rPr lang="en-US" sz="2200" b="0" i="1" smtClean="0">
                              <a:latin typeface="Cambria Math" panose="02040503050406030204" pitchFamily="18" charset="0"/>
                            </a:rPr>
                            <m:t>−</m:t>
                          </m:r>
                          <m:r>
                            <a:rPr lang="en-US" sz="2200" b="0" i="1" smtClean="0">
                              <a:latin typeface="Cambria Math" panose="02040503050406030204" pitchFamily="18" charset="0"/>
                            </a:rPr>
                            <m:t>𝑂𝐸</m:t>
                          </m:r>
                          <m:r>
                            <a:rPr lang="en-US" sz="2200" b="0" i="1" smtClean="0">
                              <a:latin typeface="Cambria Math" panose="02040503050406030204" pitchFamily="18" charset="0"/>
                            </a:rPr>
                            <m:t>−</m:t>
                          </m:r>
                          <m:r>
                            <a:rPr lang="en-US" sz="2200" b="0" i="1" smtClean="0">
                              <a:latin typeface="Cambria Math" panose="02040503050406030204" pitchFamily="18" charset="0"/>
                            </a:rPr>
                            <m:t>𝐷𝑒𝑏𝑡</m:t>
                          </m:r>
                          <m:r>
                            <a:rPr lang="en-US" sz="2200" b="0" i="1" smtClean="0">
                              <a:latin typeface="Cambria Math" panose="02040503050406030204" pitchFamily="18" charset="0"/>
                            </a:rPr>
                            <m:t>−</m:t>
                          </m:r>
                          <m:r>
                            <a:rPr lang="en-US" sz="2200" b="0" i="1" smtClean="0">
                              <a:latin typeface="Cambria Math" panose="02040503050406030204" pitchFamily="18" charset="0"/>
                            </a:rPr>
                            <m:t>𝑡𝑎𝑥𝑒𝑠</m:t>
                          </m:r>
                        </m:num>
                        <m:den>
                          <m:r>
                            <a:rPr lang="en-US" sz="2200" i="1">
                              <a:latin typeface="Cambria Math"/>
                            </a:rPr>
                            <m:t>𝑆𝑎𝑙𝑒𝑠</m:t>
                          </m:r>
                        </m:den>
                      </m:f>
                    </m:oMath>
                  </m:oMathPara>
                </a14:m>
                <a:endParaRPr lang="en-US" sz="2600" dirty="0"/>
              </a:p>
              <a:p>
                <a:pPr marL="0" indent="0">
                  <a:spcAft>
                    <a:spcPts val="1200"/>
                  </a:spcAft>
                  <a:buNone/>
                </a:pPr>
                <a:r>
                  <a:rPr lang="en-US" sz="2000" dirty="0"/>
                  <a:t>Measures business’s overall financial health: management’s ability to convert revenues into enough profit to cover operating costs &amp; overhead.</a:t>
                </a:r>
              </a:p>
              <a:p>
                <a:pPr marL="0" indent="0">
                  <a:spcBef>
                    <a:spcPts val="0"/>
                  </a:spcBef>
                  <a:spcAft>
                    <a:spcPts val="0"/>
                  </a:spcAft>
                  <a:buNone/>
                </a:pPr>
                <a:endParaRPr lang="en-US" sz="2000" dirty="0"/>
              </a:p>
              <a:p>
                <a:pPr>
                  <a:spcBef>
                    <a:spcPts val="0"/>
                  </a:spcBef>
                  <a:spcAft>
                    <a:spcPts val="1900"/>
                  </a:spcAft>
                </a:pPr>
                <a:r>
                  <a:rPr lang="en-US" sz="2600" b="1" dirty="0"/>
                  <a:t>Gross Margin</a:t>
                </a:r>
                <a:r>
                  <a:rPr lang="en-US" sz="2600" dirty="0"/>
                  <a:t> (of business unit)</a:t>
                </a:r>
              </a:p>
              <a:p>
                <a:pPr marL="0" indent="0">
                  <a:spcBef>
                    <a:spcPts val="1800"/>
                  </a:spcBef>
                  <a:spcAft>
                    <a:spcPts val="1200"/>
                  </a:spcAft>
                  <a:buNone/>
                </a:pPr>
                <a14:m>
                  <m:oMathPara xmlns:m="http://schemas.openxmlformats.org/officeDocument/2006/math">
                    <m:oMathParaPr>
                      <m:jc m:val="centerGroup"/>
                    </m:oMathParaPr>
                    <m:oMath xmlns:m="http://schemas.openxmlformats.org/officeDocument/2006/math">
                      <m:r>
                        <a:rPr lang="en-US" sz="2200" b="1" i="1" smtClean="0">
                          <a:solidFill>
                            <a:srgbClr val="0070C0"/>
                          </a:solidFill>
                          <a:latin typeface="Cambria Math"/>
                        </a:rPr>
                        <m:t>𝑮𝑴</m:t>
                      </m:r>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𝑆𝑎𝑙𝑒𝑠</m:t>
                          </m:r>
                          <m:r>
                            <a:rPr lang="en-US" sz="2200" b="0" i="1" smtClean="0">
                              <a:latin typeface="Cambria Math"/>
                            </a:rPr>
                            <m:t>−</m:t>
                          </m:r>
                          <m:r>
                            <a:rPr lang="en-US" sz="2200" b="0" i="1" smtClean="0">
                              <a:latin typeface="Cambria Math"/>
                            </a:rPr>
                            <m:t>𝐶𝑜𝐺𝑆</m:t>
                          </m:r>
                        </m:num>
                        <m:den>
                          <m:r>
                            <a:rPr lang="en-US" sz="2200" b="0" i="1" smtClean="0">
                              <a:latin typeface="Cambria Math"/>
                            </a:rPr>
                            <m:t>𝑆𝑎𝑙𝑒𝑠</m:t>
                          </m:r>
                        </m:den>
                      </m:f>
                      <m:r>
                        <a:rPr lang="en-US" sz="2200" b="0" i="1" smtClean="0">
                          <a:latin typeface="Cambria Math"/>
                        </a:rPr>
                        <m:t>=</m:t>
                      </m:r>
                      <m:f>
                        <m:fPr>
                          <m:ctrlPr>
                            <a:rPr lang="en-US" sz="2200" i="1">
                              <a:latin typeface="Cambria Math" panose="02040503050406030204" pitchFamily="18" charset="0"/>
                            </a:rPr>
                          </m:ctrlPr>
                        </m:fPr>
                        <m:num>
                          <m:r>
                            <a:rPr lang="en-US" sz="2200" b="0" i="1" smtClean="0">
                              <a:latin typeface="Cambria Math"/>
                            </a:rPr>
                            <m:t>𝑝𝑄</m:t>
                          </m:r>
                          <m:r>
                            <a:rPr lang="en-US" sz="2200" i="1">
                              <a:latin typeface="Cambria Math"/>
                            </a:rPr>
                            <m:t>−</m:t>
                          </m:r>
                          <m:r>
                            <a:rPr lang="en-US" sz="2200" b="0" i="1" smtClean="0">
                              <a:latin typeface="Cambria Math"/>
                            </a:rPr>
                            <m:t>𝑐𝑄</m:t>
                          </m:r>
                          <m:r>
                            <a:rPr lang="en-US" sz="2200" b="0" i="1" smtClean="0">
                              <a:latin typeface="Cambria Math"/>
                            </a:rPr>
                            <m:t>−</m:t>
                          </m:r>
                          <m:r>
                            <a:rPr lang="en-US" sz="2200" b="0" i="1" smtClean="0">
                              <a:latin typeface="Cambria Math"/>
                            </a:rPr>
                            <m:t>𝐹</m:t>
                          </m:r>
                        </m:num>
                        <m:den>
                          <m:r>
                            <a:rPr lang="en-US" sz="2200" b="0" i="1" smtClean="0">
                              <a:latin typeface="Cambria Math"/>
                            </a:rPr>
                            <m:t>𝑝𝑄</m:t>
                          </m:r>
                        </m:den>
                      </m:f>
                      <m:r>
                        <a:rPr lang="en-US" sz="2200" b="0" i="1" smtClean="0">
                          <a:latin typeface="Cambria Math"/>
                        </a:rPr>
                        <m:t>=</m:t>
                      </m:r>
                      <m:f>
                        <m:fPr>
                          <m:ctrlPr>
                            <a:rPr lang="en-US" sz="2200" i="1">
                              <a:latin typeface="Cambria Math" panose="02040503050406030204" pitchFamily="18" charset="0"/>
                            </a:rPr>
                          </m:ctrlPr>
                        </m:fPr>
                        <m:num>
                          <m:r>
                            <a:rPr lang="en-US" sz="2200" b="0" i="1" smtClean="0">
                              <a:solidFill>
                                <a:srgbClr val="00B050"/>
                              </a:solidFill>
                              <a:latin typeface="Cambria Math"/>
                            </a:rPr>
                            <m:t>𝑝</m:t>
                          </m:r>
                          <m:r>
                            <a:rPr lang="en-US" sz="2200" i="1">
                              <a:latin typeface="Cambria Math"/>
                            </a:rPr>
                            <m:t>−</m:t>
                          </m:r>
                          <m:r>
                            <a:rPr lang="en-US" sz="2200" b="0" i="1" smtClean="0">
                              <a:latin typeface="Cambria Math" panose="02040503050406030204" pitchFamily="18" charset="0"/>
                            </a:rPr>
                            <m:t>𝐴𝐶</m:t>
                          </m:r>
                        </m:num>
                        <m:den>
                          <m:r>
                            <a:rPr lang="en-US" sz="2200" b="0" i="1" smtClean="0">
                              <a:solidFill>
                                <a:srgbClr val="00B050"/>
                              </a:solidFill>
                              <a:latin typeface="Cambria Math"/>
                            </a:rPr>
                            <m:t>𝑝</m:t>
                          </m:r>
                        </m:den>
                      </m:f>
                    </m:oMath>
                  </m:oMathPara>
                </a14:m>
                <a:endParaRPr lang="en-US" sz="2200" dirty="0"/>
              </a:p>
              <a:p>
                <a:pPr marL="0" indent="0">
                  <a:spcAft>
                    <a:spcPts val="1200"/>
                  </a:spcAft>
                  <a:buNone/>
                </a:pPr>
                <a:r>
                  <a:rPr lang="en-US" sz="2000" dirty="0"/>
                  <a:t>Measures business unit’s ability to generate profit from production of goods/services (excludes overhead like rent, taxes, interest …)</a:t>
                </a:r>
              </a:p>
              <a:p>
                <a:pPr marL="0" indent="0">
                  <a:spcBef>
                    <a:spcPts val="1800"/>
                  </a:spcBef>
                  <a:spcAft>
                    <a:spcPts val="1200"/>
                  </a:spcAft>
                  <a:buNone/>
                </a:pPr>
                <a:r>
                  <a:rPr lang="en-US" sz="1500" dirty="0"/>
                  <a:t>See </a:t>
                </a:r>
                <a:r>
                  <a:rPr lang="en-US" sz="1500" dirty="0">
                    <a:hlinkClick r:id="rId3"/>
                  </a:rPr>
                  <a:t>“13 Financial Performance Measures Managers Should Monitor,” HBS, May 2020</a:t>
                </a:r>
                <a:endParaRPr lang="en-US" sz="1500" dirty="0"/>
              </a:p>
            </p:txBody>
          </p:sp>
        </mc:Choice>
        <mc:Fallback xmlns="">
          <p:sp>
            <p:nvSpPr>
              <p:cNvPr id="4" name="Content Placeholder 2"/>
              <p:cNvSpPr>
                <a:spLocks noGrp="1" noRot="1" noChangeAspect="1" noMove="1" noResize="1" noEditPoints="1" noAdjustHandles="1" noChangeArrowheads="1" noChangeShapeType="1" noTextEdit="1"/>
              </p:cNvSpPr>
              <p:nvPr>
                <p:ph sz="quarter" idx="1"/>
              </p:nvPr>
            </p:nvSpPr>
            <p:spPr>
              <a:xfrm>
                <a:off x="612648" y="1600200"/>
                <a:ext cx="8153400" cy="5181600"/>
              </a:xfrm>
              <a:blipFill>
                <a:blip r:embed="rId4"/>
                <a:stretch>
                  <a:fillRect l="-748" t="-1647" b="-941"/>
                </a:stretch>
              </a:blipFill>
            </p:spPr>
            <p:txBody>
              <a:bodyPr/>
              <a:lstStyle/>
              <a:p>
                <a:r>
                  <a:rPr lang="en-US">
                    <a:noFill/>
                  </a:rPr>
                  <a:t> </a:t>
                </a:r>
              </a:p>
            </p:txBody>
          </p:sp>
        </mc:Fallback>
      </mc:AlternateContent>
      <p:sp>
        <p:nvSpPr>
          <p:cNvPr id="9" name="Oval 8"/>
          <p:cNvSpPr/>
          <p:nvPr/>
        </p:nvSpPr>
        <p:spPr>
          <a:xfrm>
            <a:off x="6872079" y="4716240"/>
            <a:ext cx="414288"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flipH="1">
            <a:off x="7327182" y="4497978"/>
            <a:ext cx="325769" cy="28567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4550441" y="1978219"/>
                <a:ext cx="1219012" cy="307777"/>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FF0000"/>
                          </a:solidFill>
                          <a:latin typeface="Cambria Math" panose="02040503050406030204" pitchFamily="18" charset="0"/>
                        </a:rPr>
                        <m:t>𝑛𝑒𝑡</m:t>
                      </m:r>
                      <m:r>
                        <a:rPr lang="en-US" sz="1400" b="0" i="1" smtClean="0">
                          <a:solidFill>
                            <a:srgbClr val="FF0000"/>
                          </a:solidFill>
                          <a:latin typeface="Cambria Math" panose="02040503050406030204" pitchFamily="18" charset="0"/>
                        </a:rPr>
                        <m:t> </m:t>
                      </m:r>
                      <m:r>
                        <a:rPr lang="en-US" sz="1400" b="0" i="1" smtClean="0">
                          <a:solidFill>
                            <a:srgbClr val="FF0000"/>
                          </a:solidFill>
                          <a:latin typeface="Cambria Math" panose="02040503050406030204" pitchFamily="18" charset="0"/>
                        </a:rPr>
                        <m:t>𝑖𝑛𝑐𝑜𝑚𝑒</m:t>
                      </m:r>
                    </m:oMath>
                  </m:oMathPara>
                </a14:m>
                <a:endParaRPr lang="en-US" sz="1400" dirty="0">
                  <a:solidFill>
                    <a:srgbClr val="FF0000"/>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4550441" y="1978219"/>
                <a:ext cx="1219012" cy="307777"/>
              </a:xfrm>
              <a:prstGeom prst="rect">
                <a:avLst/>
              </a:prstGeom>
              <a:blipFill>
                <a:blip r:embed="rId5"/>
                <a:stretch>
                  <a:fillRect/>
                </a:stretch>
              </a:blipFill>
              <a:ln>
                <a:noFill/>
              </a:ln>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5</a:t>
            </a:fld>
            <a:endParaRPr lang="en-US"/>
          </a:p>
        </p:txBody>
      </p:sp>
      <mc:AlternateContent xmlns:mc="http://schemas.openxmlformats.org/markup-compatibility/2006" xmlns:a14="http://schemas.microsoft.com/office/drawing/2010/main">
        <mc:Choice Requires="a14">
          <p:sp>
            <p:nvSpPr>
              <p:cNvPr id="11" name="TextBox 10"/>
              <p:cNvSpPr txBox="1"/>
              <p:nvPr/>
            </p:nvSpPr>
            <p:spPr>
              <a:xfrm>
                <a:off x="7162800" y="4113105"/>
                <a:ext cx="1123641" cy="527709"/>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FF0000"/>
                          </a:solidFill>
                          <a:latin typeface="Cambria Math"/>
                        </a:rPr>
                        <m:t>𝐴𝐶</m:t>
                      </m:r>
                      <m:r>
                        <a:rPr lang="en-US" sz="1400" b="0" i="1" smtClean="0">
                          <a:solidFill>
                            <a:srgbClr val="FF0000"/>
                          </a:solidFill>
                          <a:latin typeface="Cambria Math"/>
                        </a:rPr>
                        <m:t>=</m:t>
                      </m:r>
                      <m:r>
                        <a:rPr lang="en-US" sz="1400" b="0" i="1" smtClean="0">
                          <a:solidFill>
                            <a:srgbClr val="FF0000"/>
                          </a:solidFill>
                          <a:latin typeface="Cambria Math"/>
                        </a:rPr>
                        <m:t>𝑐</m:t>
                      </m:r>
                      <m:r>
                        <a:rPr lang="en-US" sz="1400" b="0" i="1" smtClean="0">
                          <a:solidFill>
                            <a:srgbClr val="FF0000"/>
                          </a:solidFill>
                          <a:latin typeface="Cambria Math"/>
                        </a:rPr>
                        <m:t>+</m:t>
                      </m:r>
                      <m:f>
                        <m:fPr>
                          <m:ctrlPr>
                            <a:rPr lang="en-US" sz="1400" i="1">
                              <a:solidFill>
                                <a:srgbClr val="FF0000"/>
                              </a:solidFill>
                              <a:latin typeface="Cambria Math" panose="02040503050406030204" pitchFamily="18" charset="0"/>
                            </a:rPr>
                          </m:ctrlPr>
                        </m:fPr>
                        <m:num>
                          <m:r>
                            <a:rPr lang="en-US" sz="1400" b="0" i="1" smtClean="0">
                              <a:solidFill>
                                <a:srgbClr val="FF0000"/>
                              </a:solidFill>
                              <a:latin typeface="Cambria Math"/>
                            </a:rPr>
                            <m:t>𝐹</m:t>
                          </m:r>
                        </m:num>
                        <m:den>
                          <m:r>
                            <a:rPr lang="en-US" sz="1400" b="0" i="1" smtClean="0">
                              <a:solidFill>
                                <a:srgbClr val="FF0000"/>
                              </a:solidFill>
                              <a:latin typeface="Cambria Math"/>
                            </a:rPr>
                            <m:t>𝑄</m:t>
                          </m:r>
                        </m:den>
                      </m:f>
                    </m:oMath>
                  </m:oMathPara>
                </a14:m>
                <a:endParaRPr lang="en-US" sz="1400" dirty="0">
                  <a:solidFill>
                    <a:srgbClr val="FF000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7162800" y="4113105"/>
                <a:ext cx="1123641" cy="527709"/>
              </a:xfrm>
              <a:prstGeom prst="rect">
                <a:avLst/>
              </a:prstGeom>
              <a:blipFill>
                <a:blip r:embed="rId6"/>
                <a:stretch>
                  <a:fillRect b="-5814"/>
                </a:stretch>
              </a:blipFill>
              <a:ln>
                <a:noFill/>
              </a:ln>
            </p:spPr>
            <p:txBody>
              <a:bodyPr/>
              <a:lstStyle/>
              <a:p>
                <a:r>
                  <a:rPr lang="en-US">
                    <a:noFill/>
                  </a:rPr>
                  <a:t> </a:t>
                </a:r>
              </a:p>
            </p:txBody>
          </p:sp>
        </mc:Fallback>
      </mc:AlternateContent>
      <p:sp>
        <p:nvSpPr>
          <p:cNvPr id="6" name="Right Brace 5"/>
          <p:cNvSpPr/>
          <p:nvPr/>
        </p:nvSpPr>
        <p:spPr>
          <a:xfrm rot="16200000">
            <a:off x="4959305" y="222291"/>
            <a:ext cx="238972" cy="4366383"/>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5488331" y="4113105"/>
            <a:ext cx="1143000" cy="523220"/>
          </a:xfrm>
          <a:prstGeom prst="rect">
            <a:avLst/>
          </a:prstGeom>
          <a:noFill/>
          <a:ln>
            <a:noFill/>
          </a:ln>
        </p:spPr>
        <p:txBody>
          <a:bodyPr wrap="square" rtlCol="0">
            <a:spAutoFit/>
          </a:bodyPr>
          <a:lstStyle/>
          <a:p>
            <a:pPr algn="ctr"/>
            <a:r>
              <a:rPr lang="en-US" sz="1400" i="1" dirty="0">
                <a:solidFill>
                  <a:srgbClr val="FF0000"/>
                </a:solidFill>
              </a:rPr>
              <a:t>Direct Fixed Costs</a:t>
            </a:r>
          </a:p>
        </p:txBody>
      </p:sp>
      <p:sp>
        <p:nvSpPr>
          <p:cNvPr id="14" name="Right Brace 13"/>
          <p:cNvSpPr/>
          <p:nvPr/>
        </p:nvSpPr>
        <p:spPr>
          <a:xfrm rot="16200000">
            <a:off x="5917116" y="4618874"/>
            <a:ext cx="238971" cy="22859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p:cNvSpPr txBox="1"/>
              <p:nvPr/>
            </p:nvSpPr>
            <p:spPr>
              <a:xfrm>
                <a:off x="3124200" y="4428902"/>
                <a:ext cx="1219012" cy="307777"/>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FF0000"/>
                          </a:solidFill>
                          <a:latin typeface="Cambria Math" panose="02040503050406030204" pitchFamily="18" charset="0"/>
                        </a:rPr>
                        <m:t>𝑔𝑟𝑜𝑠𝑠</m:t>
                      </m:r>
                      <m:r>
                        <a:rPr lang="en-US" sz="1400" b="0" i="1" smtClean="0">
                          <a:solidFill>
                            <a:srgbClr val="FF0000"/>
                          </a:solidFill>
                          <a:latin typeface="Cambria Math" panose="02040503050406030204" pitchFamily="18" charset="0"/>
                        </a:rPr>
                        <m:t> </m:t>
                      </m:r>
                      <m:r>
                        <a:rPr lang="en-US" sz="1400" b="0" i="1" smtClean="0">
                          <a:solidFill>
                            <a:srgbClr val="FF0000"/>
                          </a:solidFill>
                          <a:latin typeface="Cambria Math" panose="02040503050406030204" pitchFamily="18" charset="0"/>
                        </a:rPr>
                        <m:t>𝑖𝑛𝑐𝑜𝑚𝑒</m:t>
                      </m:r>
                    </m:oMath>
                  </m:oMathPara>
                </a14:m>
                <a:endParaRPr lang="en-US" sz="1400" dirty="0">
                  <a:solidFill>
                    <a:srgbClr val="FF000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3124200" y="4428902"/>
                <a:ext cx="1219012" cy="307777"/>
              </a:xfrm>
              <a:prstGeom prst="rect">
                <a:avLst/>
              </a:prstGeom>
              <a:blipFill>
                <a:blip r:embed="rId6"/>
                <a:stretch>
                  <a:fillRect r="-503" b="-4000"/>
                </a:stretch>
              </a:blipFill>
              <a:ln>
                <a:noFill/>
              </a:ln>
            </p:spPr>
            <p:txBody>
              <a:bodyPr/>
              <a:lstStyle/>
              <a:p>
                <a:r>
                  <a:rPr lang="en-US">
                    <a:noFill/>
                  </a:rPr>
                  <a:t> </a:t>
                </a:r>
              </a:p>
            </p:txBody>
          </p:sp>
        </mc:Fallback>
      </mc:AlternateContent>
      <p:sp>
        <p:nvSpPr>
          <p:cNvPr id="16" name="Right Brace 15"/>
          <p:cNvSpPr/>
          <p:nvPr/>
        </p:nvSpPr>
        <p:spPr>
          <a:xfrm rot="16200000">
            <a:off x="3555580" y="3860378"/>
            <a:ext cx="127844" cy="1752602"/>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522079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noFill/>
        </p:spPr>
        <p:txBody>
          <a:bodyPr lIns="90488" tIns="44450" rIns="90488" bIns="44450" anchor="b">
            <a:normAutofit fontScale="90000"/>
          </a:bodyPr>
          <a:lstStyle/>
          <a:p>
            <a:r>
              <a:rPr lang="en-US" sz="4400" dirty="0"/>
              <a:t>Fully-Loaded Costing</a:t>
            </a:r>
            <a:br>
              <a:rPr lang="en-US" sz="4400" dirty="0"/>
            </a:br>
            <a:r>
              <a:rPr lang="en-US" sz="3600" dirty="0"/>
              <a:t>Evidence that firms allocate all costs to prices</a:t>
            </a:r>
          </a:p>
        </p:txBody>
      </p:sp>
      <p:sp>
        <p:nvSpPr>
          <p:cNvPr id="9219" name="Rectangle 3"/>
          <p:cNvSpPr>
            <a:spLocks noGrp="1" noChangeArrowheads="1"/>
          </p:cNvSpPr>
          <p:nvPr>
            <p:ph sz="quarter" idx="1"/>
          </p:nvPr>
        </p:nvSpPr>
        <p:spPr>
          <a:xfrm>
            <a:off x="612648" y="4257040"/>
            <a:ext cx="8455152" cy="1838960"/>
          </a:xfrm>
        </p:spPr>
        <p:txBody>
          <a:bodyPr lIns="90488" tIns="44450" rIns="90488" bIns="44450">
            <a:normAutofit lnSpcReduction="10000"/>
          </a:bodyPr>
          <a:lstStyle/>
          <a:p>
            <a:pPr>
              <a:buFont typeface="Monotype Sorts" pitchFamily="2" charset="2"/>
              <a:buNone/>
              <a:defRPr/>
            </a:pPr>
            <a:r>
              <a:rPr lang="en-US" sz="2800" dirty="0">
                <a:latin typeface="+mj-lt"/>
              </a:rPr>
              <a:t>	</a:t>
            </a:r>
            <a:r>
              <a:rPr lang="en-US" dirty="0"/>
              <a:t>A recent survey of 14,000 European firms: 75% use “full cost pricing”</a:t>
            </a:r>
          </a:p>
          <a:p>
            <a:pPr algn="r">
              <a:spcBef>
                <a:spcPts val="0"/>
              </a:spcBef>
              <a:buFont typeface="Monotype Sorts" pitchFamily="2" charset="2"/>
              <a:buNone/>
              <a:defRPr/>
            </a:pPr>
            <a:r>
              <a:rPr lang="en-US" sz="1200" dirty="0" err="1">
                <a:latin typeface="+mj-lt"/>
              </a:rPr>
              <a:t>Altomonte</a:t>
            </a:r>
            <a:r>
              <a:rPr lang="en-US" sz="1200" dirty="0">
                <a:latin typeface="+mj-lt"/>
              </a:rPr>
              <a:t>, </a:t>
            </a:r>
            <a:r>
              <a:rPr lang="en-US" sz="1200" dirty="0" err="1">
                <a:latin typeface="+mj-lt"/>
              </a:rPr>
              <a:t>Barattieri</a:t>
            </a:r>
            <a:r>
              <a:rPr lang="en-US" sz="1200" dirty="0">
                <a:latin typeface="+mj-lt"/>
              </a:rPr>
              <a:t> and </a:t>
            </a:r>
            <a:r>
              <a:rPr lang="en-US" sz="1200" dirty="0" err="1">
                <a:latin typeface="+mj-lt"/>
              </a:rPr>
              <a:t>Basu</a:t>
            </a:r>
            <a:r>
              <a:rPr lang="en-US" sz="1200" dirty="0">
                <a:latin typeface="+mj-lt"/>
              </a:rPr>
              <a:t> (2015)</a:t>
            </a:r>
            <a:endParaRPr lang="en-US" sz="1600" dirty="0">
              <a:latin typeface="+mj-lt"/>
            </a:endParaRPr>
          </a:p>
          <a:p>
            <a:pPr>
              <a:spcBef>
                <a:spcPts val="1200"/>
              </a:spcBef>
              <a:defRPr/>
            </a:pPr>
            <a:r>
              <a:rPr lang="en-US" sz="2400" dirty="0">
                <a:latin typeface="+mj-lt"/>
              </a:rPr>
              <a:t>So most companies worldwide are on the spectrum between GM pricing and NM pricing …</a:t>
            </a:r>
          </a:p>
        </p:txBody>
      </p:sp>
      <p:sp>
        <p:nvSpPr>
          <p:cNvPr id="2" name="Slide Number Placeholder 1"/>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6</a:t>
            </a:fld>
            <a:endParaRPr lang="en-US"/>
          </a:p>
        </p:txBody>
      </p:sp>
      <p:graphicFrame>
        <p:nvGraphicFramePr>
          <p:cNvPr id="3" name="Table 2"/>
          <p:cNvGraphicFramePr>
            <a:graphicFrameLocks noGrp="1"/>
          </p:cNvGraphicFramePr>
          <p:nvPr/>
        </p:nvGraphicFramePr>
        <p:xfrm>
          <a:off x="1230956" y="1676400"/>
          <a:ext cx="6916783" cy="21234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606789734"/>
                    </a:ext>
                  </a:extLst>
                </a:gridCol>
                <a:gridCol w="1188720">
                  <a:extLst>
                    <a:ext uri="{9D8B030D-6E8A-4147-A177-3AD203B41FA5}">
                      <a16:colId xmlns:a16="http://schemas.microsoft.com/office/drawing/2014/main" val="572469508"/>
                    </a:ext>
                  </a:extLst>
                </a:gridCol>
                <a:gridCol w="870857">
                  <a:extLst>
                    <a:ext uri="{9D8B030D-6E8A-4147-A177-3AD203B41FA5}">
                      <a16:colId xmlns:a16="http://schemas.microsoft.com/office/drawing/2014/main" val="3642317006"/>
                    </a:ext>
                  </a:extLst>
                </a:gridCol>
                <a:gridCol w="365760">
                  <a:extLst>
                    <a:ext uri="{9D8B030D-6E8A-4147-A177-3AD203B41FA5}">
                      <a16:colId xmlns:a16="http://schemas.microsoft.com/office/drawing/2014/main" val="4272695426"/>
                    </a:ext>
                  </a:extLst>
                </a:gridCol>
                <a:gridCol w="1199606">
                  <a:extLst>
                    <a:ext uri="{9D8B030D-6E8A-4147-A177-3AD203B41FA5}">
                      <a16:colId xmlns:a16="http://schemas.microsoft.com/office/drawing/2014/main" val="3967744839"/>
                    </a:ext>
                  </a:extLst>
                </a:gridCol>
                <a:gridCol w="1188720">
                  <a:extLst>
                    <a:ext uri="{9D8B030D-6E8A-4147-A177-3AD203B41FA5}">
                      <a16:colId xmlns:a16="http://schemas.microsoft.com/office/drawing/2014/main" val="600658405"/>
                    </a:ext>
                  </a:extLst>
                </a:gridCol>
              </a:tblGrid>
              <a:tr h="370840">
                <a:tc>
                  <a:txBody>
                    <a:bodyPr/>
                    <a:lstStyle/>
                    <a:p>
                      <a:pPr algn="ctr"/>
                      <a:endParaRPr lang="en-US" dirty="0"/>
                    </a:p>
                  </a:txBody>
                  <a:tcPr anchor="ctr">
                    <a:solidFill>
                      <a:schemeClr val="accent1">
                        <a:lumMod val="20000"/>
                        <a:lumOff val="80000"/>
                      </a:schemeClr>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Shim &amp; </a:t>
                      </a:r>
                      <a:r>
                        <a:rPr lang="en-US" dirty="0" err="1"/>
                        <a:t>Sudit</a:t>
                      </a:r>
                      <a:r>
                        <a:rPr lang="en-US" dirty="0"/>
                        <a:t> (1995)</a:t>
                      </a:r>
                    </a:p>
                  </a:txBody>
                  <a:tcPr anchor="ctr">
                    <a:lnR w="12700" cmpd="sng">
                      <a:noFill/>
                    </a:lnR>
                  </a:tcPr>
                </a:tc>
                <a:tc hMerge="1">
                  <a:txBody>
                    <a:bodyPr/>
                    <a:lstStyle/>
                    <a:p>
                      <a:endParaRPr lang="en-US" dirty="0"/>
                    </a:p>
                  </a:txBody>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gridSpan="2">
                  <a:txBody>
                    <a:bodyPr/>
                    <a:lstStyle/>
                    <a:p>
                      <a:pPr algn="ctr"/>
                      <a:r>
                        <a:rPr lang="en-US" dirty="0" err="1"/>
                        <a:t>Govindarajan</a:t>
                      </a:r>
                      <a:r>
                        <a:rPr lang="en-US" dirty="0"/>
                        <a:t> and Anthony (1983)</a:t>
                      </a:r>
                    </a:p>
                  </a:txBody>
                  <a:tcPr>
                    <a:lnL w="12700" cmpd="sng">
                      <a:noFill/>
                    </a:lnL>
                  </a:tcPr>
                </a:tc>
                <a:tc hMerge="1">
                  <a:txBody>
                    <a:bodyPr/>
                    <a:lstStyle/>
                    <a:p>
                      <a:endParaRPr lang="en-US" dirty="0"/>
                    </a:p>
                  </a:txBody>
                  <a:tcPr/>
                </a:tc>
                <a:extLst>
                  <a:ext uri="{0D108BD9-81ED-4DB2-BD59-A6C34878D82A}">
                    <a16:rowId xmlns:a16="http://schemas.microsoft.com/office/drawing/2014/main" val="1973625367"/>
                  </a:ext>
                </a:extLst>
              </a:tr>
              <a:tr h="370840">
                <a:tc>
                  <a:txBody>
                    <a:bodyPr/>
                    <a:lstStyle/>
                    <a:p>
                      <a:r>
                        <a:rPr lang="en-US" b="1" u="sng" dirty="0"/>
                        <a:t>Pricing Method</a:t>
                      </a:r>
                    </a:p>
                  </a:txBody>
                  <a:tcPr/>
                </a:tc>
                <a:tc>
                  <a:txBody>
                    <a:bodyPr/>
                    <a:lstStyle/>
                    <a:p>
                      <a:pPr algn="ctr"/>
                      <a:r>
                        <a:rPr lang="en-US" b="1" dirty="0"/>
                        <a:t>Frequency</a:t>
                      </a:r>
                    </a:p>
                  </a:txBody>
                  <a:tcPr anchor="ctr"/>
                </a:tc>
                <a:tc>
                  <a:txBody>
                    <a:bodyPr/>
                    <a:lstStyle/>
                    <a:p>
                      <a:pPr algn="ctr"/>
                      <a:r>
                        <a:rPr lang="en-US" b="1" dirty="0"/>
                        <a:t>%</a:t>
                      </a:r>
                    </a:p>
                  </a:txBody>
                  <a:tcPr anchor="ctr">
                    <a:lnR w="12700" cmpd="sng">
                      <a:noFill/>
                    </a:lnR>
                  </a:tcPr>
                </a:tc>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b="1" dirty="0"/>
                        <a:t>Frequency</a:t>
                      </a:r>
                    </a:p>
                  </a:txBody>
                  <a:tcPr>
                    <a:lnL w="12700" cmpd="sng">
                      <a:noFill/>
                    </a:lnL>
                  </a:tcPr>
                </a:tc>
                <a:tc>
                  <a:txBody>
                    <a:bodyPr/>
                    <a:lstStyle/>
                    <a:p>
                      <a:pPr algn="ctr"/>
                      <a:r>
                        <a:rPr lang="en-US" b="1" dirty="0"/>
                        <a:t>%</a:t>
                      </a:r>
                    </a:p>
                  </a:txBody>
                  <a:tcPr/>
                </a:tc>
                <a:extLst>
                  <a:ext uri="{0D108BD9-81ED-4DB2-BD59-A6C34878D82A}">
                    <a16:rowId xmlns:a16="http://schemas.microsoft.com/office/drawing/2014/main" val="3973075516"/>
                  </a:ext>
                </a:extLst>
              </a:tr>
              <a:tr h="370840">
                <a:tc>
                  <a:txBody>
                    <a:bodyPr/>
                    <a:lstStyle/>
                    <a:p>
                      <a:r>
                        <a:rPr lang="en-US" dirty="0"/>
                        <a:t>Full Cost</a:t>
                      </a:r>
                    </a:p>
                  </a:txBody>
                  <a:tcPr/>
                </a:tc>
                <a:tc>
                  <a:txBody>
                    <a:bodyPr/>
                    <a:lstStyle/>
                    <a:p>
                      <a:pPr algn="ctr"/>
                      <a:r>
                        <a:rPr lang="en-US" dirty="0"/>
                        <a:t>98</a:t>
                      </a:r>
                    </a:p>
                  </a:txBody>
                  <a:tcPr anchor="ctr"/>
                </a:tc>
                <a:tc>
                  <a:txBody>
                    <a:bodyPr/>
                    <a:lstStyle/>
                    <a:p>
                      <a:pPr algn="ctr"/>
                      <a:r>
                        <a:rPr lang="en-US" dirty="0"/>
                        <a:t>69.5</a:t>
                      </a:r>
                    </a:p>
                  </a:txBody>
                  <a:tcPr anchor="ctr">
                    <a:lnR w="12700" cmpd="sng">
                      <a:noFill/>
                    </a:ln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dirty="0"/>
                        <a:t>417</a:t>
                      </a:r>
                    </a:p>
                  </a:txBody>
                  <a:tcPr>
                    <a:lnL w="12700" cmpd="sng">
                      <a:noFill/>
                    </a:lnL>
                  </a:tcPr>
                </a:tc>
                <a:tc>
                  <a:txBody>
                    <a:bodyPr/>
                    <a:lstStyle/>
                    <a:p>
                      <a:pPr algn="ctr"/>
                      <a:r>
                        <a:rPr lang="en-US" dirty="0"/>
                        <a:t>82</a:t>
                      </a:r>
                    </a:p>
                  </a:txBody>
                  <a:tcPr/>
                </a:tc>
                <a:extLst>
                  <a:ext uri="{0D108BD9-81ED-4DB2-BD59-A6C34878D82A}">
                    <a16:rowId xmlns:a16="http://schemas.microsoft.com/office/drawing/2014/main" val="4106777748"/>
                  </a:ext>
                </a:extLst>
              </a:tr>
              <a:tr h="370840">
                <a:tc>
                  <a:txBody>
                    <a:bodyPr/>
                    <a:lstStyle/>
                    <a:p>
                      <a:r>
                        <a:rPr lang="en-US" dirty="0"/>
                        <a:t>Variable</a:t>
                      </a:r>
                      <a:r>
                        <a:rPr lang="en-US" baseline="0" dirty="0"/>
                        <a:t> Cost</a:t>
                      </a:r>
                      <a:endParaRPr lang="en-US" dirty="0"/>
                    </a:p>
                  </a:txBody>
                  <a:tcPr/>
                </a:tc>
                <a:tc>
                  <a:txBody>
                    <a:bodyPr/>
                    <a:lstStyle/>
                    <a:p>
                      <a:pPr algn="ctr"/>
                      <a:r>
                        <a:rPr lang="en-US" dirty="0"/>
                        <a:t>15</a:t>
                      </a:r>
                    </a:p>
                  </a:txBody>
                  <a:tcPr anchor="ctr"/>
                </a:tc>
                <a:tc>
                  <a:txBody>
                    <a:bodyPr/>
                    <a:lstStyle/>
                    <a:p>
                      <a:pPr algn="ctr"/>
                      <a:r>
                        <a:rPr lang="en-US" dirty="0"/>
                        <a:t>12.1</a:t>
                      </a:r>
                    </a:p>
                  </a:txBody>
                  <a:tcPr anchor="ctr">
                    <a:lnR w="12700" cmpd="sng">
                      <a:noFill/>
                    </a:ln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dirty="0"/>
                        <a:t>84</a:t>
                      </a:r>
                    </a:p>
                  </a:txBody>
                  <a:tcPr>
                    <a:lnL w="12700" cmpd="sng">
                      <a:noFill/>
                    </a:lnL>
                  </a:tcPr>
                </a:tc>
                <a:tc>
                  <a:txBody>
                    <a:bodyPr/>
                    <a:lstStyle/>
                    <a:p>
                      <a:pPr algn="ctr"/>
                      <a:r>
                        <a:rPr lang="en-US" dirty="0"/>
                        <a:t>17</a:t>
                      </a:r>
                    </a:p>
                  </a:txBody>
                  <a:tcPr/>
                </a:tc>
                <a:extLst>
                  <a:ext uri="{0D108BD9-81ED-4DB2-BD59-A6C34878D82A}">
                    <a16:rowId xmlns:a16="http://schemas.microsoft.com/office/drawing/2014/main" val="3889640698"/>
                  </a:ext>
                </a:extLst>
              </a:tr>
              <a:tr h="370840">
                <a:tc>
                  <a:txBody>
                    <a:bodyPr/>
                    <a:lstStyle/>
                    <a:p>
                      <a:r>
                        <a:rPr lang="en-US" dirty="0"/>
                        <a:t>Competitor Pricing</a:t>
                      </a:r>
                    </a:p>
                  </a:txBody>
                  <a:tcPr/>
                </a:tc>
                <a:tc>
                  <a:txBody>
                    <a:bodyPr/>
                    <a:lstStyle/>
                    <a:p>
                      <a:pPr algn="ctr"/>
                      <a:r>
                        <a:rPr lang="en-US" dirty="0"/>
                        <a:t>25</a:t>
                      </a:r>
                    </a:p>
                  </a:txBody>
                  <a:tcPr anchor="ctr"/>
                </a:tc>
                <a:tc>
                  <a:txBody>
                    <a:bodyPr/>
                    <a:lstStyle/>
                    <a:p>
                      <a:pPr algn="ctr"/>
                      <a:r>
                        <a:rPr lang="en-US" dirty="0"/>
                        <a:t>17.7</a:t>
                      </a:r>
                    </a:p>
                  </a:txBody>
                  <a:tcPr anchor="ctr">
                    <a:lnR w="12700" cmpd="sng">
                      <a:noFill/>
                    </a:ln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US" dirty="0"/>
                    </a:p>
                  </a:txBody>
                  <a:tcPr>
                    <a:lnL w="12700" cmpd="sng">
                      <a:noFill/>
                    </a:lnL>
                  </a:tcPr>
                </a:tc>
                <a:tc>
                  <a:txBody>
                    <a:bodyPr/>
                    <a:lstStyle/>
                    <a:p>
                      <a:endParaRPr lang="en-US" dirty="0"/>
                    </a:p>
                  </a:txBody>
                  <a:tcPr/>
                </a:tc>
                <a:extLst>
                  <a:ext uri="{0D108BD9-81ED-4DB2-BD59-A6C34878D82A}">
                    <a16:rowId xmlns:a16="http://schemas.microsoft.com/office/drawing/2014/main" val="889498969"/>
                  </a:ext>
                </a:extLst>
              </a:tr>
            </a:tbl>
          </a:graphicData>
        </a:graphic>
      </p:graphicFrame>
      <p:sp>
        <p:nvSpPr>
          <p:cNvPr id="6" name="TextBox 5"/>
          <p:cNvSpPr txBox="1"/>
          <p:nvPr/>
        </p:nvSpPr>
        <p:spPr>
          <a:xfrm>
            <a:off x="2057400" y="6172200"/>
            <a:ext cx="5028171" cy="461665"/>
          </a:xfrm>
          <a:prstGeom prst="rect">
            <a:avLst/>
          </a:prstGeom>
          <a:noFill/>
        </p:spPr>
        <p:txBody>
          <a:bodyPr wrap="none" rtlCol="0">
            <a:spAutoFit/>
          </a:bodyPr>
          <a:lstStyle/>
          <a:p>
            <a:r>
              <a:rPr lang="en-US" dirty="0">
                <a:solidFill>
                  <a:srgbClr val="0070C0"/>
                </a:solidFill>
              </a:rPr>
              <a:t>So which margin is relevant to pricing?</a:t>
            </a:r>
          </a:p>
        </p:txBody>
      </p:sp>
    </p:spTree>
    <p:extLst>
      <p:ext uri="{BB962C8B-B14F-4D97-AF65-F5344CB8AC3E}">
        <p14:creationId xmlns:p14="http://schemas.microsoft.com/office/powerpoint/2010/main" val="25508890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
          </p:nvPr>
        </p:nvSpPr>
        <p:spPr>
          <a:xfrm>
            <a:off x="612648" y="1600200"/>
            <a:ext cx="8378952" cy="5181600"/>
          </a:xfrm>
        </p:spPr>
        <p:txBody>
          <a:bodyPr>
            <a:normAutofit fontScale="92500"/>
          </a:bodyPr>
          <a:lstStyle/>
          <a:p>
            <a:pPr>
              <a:spcBef>
                <a:spcPts val="1200"/>
              </a:spcBef>
              <a:spcAft>
                <a:spcPts val="1200"/>
              </a:spcAft>
            </a:pPr>
            <a:r>
              <a:rPr lang="en-US" dirty="0"/>
              <a:t>It was a trick question!  Typically, neither GM nor NM are appropriate</a:t>
            </a:r>
          </a:p>
          <a:p>
            <a:pPr lvl="1">
              <a:spcBef>
                <a:spcPts val="1200"/>
              </a:spcBef>
              <a:spcAft>
                <a:spcPts val="1200"/>
              </a:spcAft>
            </a:pPr>
            <a:r>
              <a:rPr lang="en-US" dirty="0"/>
              <a:t>Some companies use </a:t>
            </a:r>
            <a:r>
              <a:rPr lang="en-US" dirty="0">
                <a:solidFill>
                  <a:srgbClr val="0070C0"/>
                </a:solidFill>
              </a:rPr>
              <a:t>NM</a:t>
            </a:r>
            <a:r>
              <a:rPr lang="en-US" dirty="0"/>
              <a:t>. But, it includes </a:t>
            </a:r>
            <a:r>
              <a:rPr lang="en-US" u="sng" dirty="0"/>
              <a:t>all</a:t>
            </a:r>
            <a:r>
              <a:rPr lang="en-US" dirty="0"/>
              <a:t> costs across all products/services produced as well as broad operating expenses.</a:t>
            </a:r>
          </a:p>
          <a:p>
            <a:pPr lvl="1">
              <a:spcBef>
                <a:spcPts val="1200"/>
              </a:spcBef>
              <a:spcAft>
                <a:spcPts val="1200"/>
              </a:spcAft>
            </a:pPr>
            <a:r>
              <a:rPr lang="en-US" dirty="0">
                <a:solidFill>
                  <a:srgbClr val="0070C0"/>
                </a:solidFill>
              </a:rPr>
              <a:t>GM</a:t>
            </a:r>
            <a:r>
              <a:rPr lang="en-US" dirty="0"/>
              <a:t> uses </a:t>
            </a:r>
            <a:r>
              <a:rPr lang="en-US" dirty="0" err="1">
                <a:solidFill>
                  <a:srgbClr val="0070C0"/>
                </a:solidFill>
              </a:rPr>
              <a:t>CoGS</a:t>
            </a:r>
            <a:r>
              <a:rPr lang="en-US" dirty="0"/>
              <a:t>, which typically includes fixed factory overhead, inventory, payroll.</a:t>
            </a:r>
          </a:p>
          <a:p>
            <a:pPr marL="0" indent="0">
              <a:spcBef>
                <a:spcPts val="1800"/>
              </a:spcBef>
              <a:spcAft>
                <a:spcPts val="1800"/>
              </a:spcAft>
              <a:buNone/>
            </a:pPr>
            <a:r>
              <a:rPr lang="en-US" sz="2800" b="1" dirty="0"/>
              <a:t>Contribution Margin</a:t>
            </a:r>
          </a:p>
          <a:p>
            <a:pPr marL="0" indent="0">
              <a:spcBef>
                <a:spcPts val="1800"/>
              </a:spcBef>
              <a:spcAft>
                <a:spcPts val="1200"/>
              </a:spcAft>
              <a:buNone/>
            </a:pPr>
            <a:endParaRPr lang="en-US" sz="2800" dirty="0"/>
          </a:p>
          <a:p>
            <a:pPr marL="0" indent="0">
              <a:spcAft>
                <a:spcPts val="1200"/>
              </a:spcAft>
              <a:buNone/>
            </a:pPr>
            <a:r>
              <a:rPr lang="en-US" sz="2200" dirty="0"/>
              <a:t>Measures profit contribution of each unit sold of individual product/service.</a:t>
            </a:r>
          </a:p>
          <a:p>
            <a:pPr marL="0" indent="0">
              <a:spcAft>
                <a:spcPts val="1200"/>
              </a:spcAft>
              <a:buNone/>
            </a:pPr>
            <a:r>
              <a:rPr lang="en-US" sz="2200" dirty="0"/>
              <a:t>Recall the </a:t>
            </a:r>
            <a:r>
              <a:rPr lang="en-US" sz="2200" i="1" dirty="0">
                <a:solidFill>
                  <a:srgbClr val="FF0000"/>
                </a:solidFill>
                <a:effectLst>
                  <a:outerShdw blurRad="38100" dist="38100" dir="2700000" algn="tl">
                    <a:srgbClr val="000000">
                      <a:alpha val="43137"/>
                    </a:srgbClr>
                  </a:outerShdw>
                </a:effectLst>
              </a:rPr>
              <a:t>inverse-elasticity rule</a:t>
            </a:r>
            <a:r>
              <a:rPr lang="en-US" sz="2200" i="1" dirty="0">
                <a:solidFill>
                  <a:srgbClr val="FF0000"/>
                </a:solidFill>
              </a:rPr>
              <a:t>…</a:t>
            </a:r>
            <a:endParaRPr lang="en-US" sz="2200" dirty="0">
              <a:solidFill>
                <a:srgbClr val="FF0000"/>
              </a:solidFill>
            </a:endParaRPr>
          </a:p>
        </p:txBody>
      </p:sp>
      <p:sp>
        <p:nvSpPr>
          <p:cNvPr id="3" name="Slide Number Placeholder 2"/>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7</a:t>
            </a:fld>
            <a:endParaRPr lang="en-US"/>
          </a:p>
        </p:txBody>
      </p:sp>
      <p:sp>
        <p:nvSpPr>
          <p:cNvPr id="11" name="Title 1"/>
          <p:cNvSpPr>
            <a:spLocks noGrp="1"/>
          </p:cNvSpPr>
          <p:nvPr>
            <p:ph type="title"/>
          </p:nvPr>
        </p:nvSpPr>
        <p:spPr>
          <a:xfrm>
            <a:off x="612648" y="228600"/>
            <a:ext cx="8153400" cy="990600"/>
          </a:xfrm>
        </p:spPr>
        <p:txBody>
          <a:bodyPr>
            <a:normAutofit fontScale="90000"/>
          </a:bodyPr>
          <a:lstStyle/>
          <a:p>
            <a:r>
              <a:rPr lang="en-US" sz="4400" dirty="0"/>
              <a:t>Margins and Financial Performance</a:t>
            </a:r>
            <a:br>
              <a:rPr lang="en-US" sz="4400" dirty="0"/>
            </a:br>
            <a:r>
              <a:rPr lang="en-US" sz="3600" dirty="0"/>
              <a:t>Finance tracks margins to measure performance</a:t>
            </a:r>
            <a:endParaRPr lang="en-US" dirty="0"/>
          </a:p>
        </p:txBody>
      </p:sp>
      <mc:AlternateContent xmlns:mc="http://schemas.openxmlformats.org/markup-compatibility/2006" xmlns:a14="http://schemas.microsoft.com/office/drawing/2010/main">
        <mc:Choice Requires="a14">
          <p:sp>
            <p:nvSpPr>
              <p:cNvPr id="2" name="Rounded Rectangle 1"/>
              <p:cNvSpPr/>
              <p:nvPr/>
            </p:nvSpPr>
            <p:spPr>
              <a:xfrm>
                <a:off x="1066800" y="4800600"/>
                <a:ext cx="7086600" cy="83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a:solidFill>
                            <a:srgbClr val="0070C0"/>
                          </a:solidFill>
                          <a:latin typeface="Cambria Math"/>
                        </a:rPr>
                        <m:t>𝑪𝑴</m:t>
                      </m:r>
                      <m:r>
                        <a:rPr lang="en-US" i="1" smtClean="0">
                          <a:solidFill>
                            <a:schemeClr val="tx1"/>
                          </a:solidFill>
                          <a:latin typeface="Cambria Math"/>
                        </a:rPr>
                        <m:t>=</m:t>
                      </m:r>
                      <m:f>
                        <m:fPr>
                          <m:ctrlPr>
                            <a:rPr lang="en-US" i="1">
                              <a:solidFill>
                                <a:schemeClr val="tx1"/>
                              </a:solidFill>
                              <a:latin typeface="Cambria Math" panose="02040503050406030204" pitchFamily="18" charset="0"/>
                            </a:rPr>
                          </m:ctrlPr>
                        </m:fPr>
                        <m:num>
                          <m:r>
                            <a:rPr lang="en-US" i="1">
                              <a:solidFill>
                                <a:schemeClr val="tx1"/>
                              </a:solidFill>
                              <a:latin typeface="Cambria Math"/>
                            </a:rPr>
                            <m:t>𝑆𝑎𝑙𝑒𝑠</m:t>
                          </m:r>
                          <m:r>
                            <a:rPr lang="en-US" i="1">
                              <a:solidFill>
                                <a:schemeClr val="tx1"/>
                              </a:solidFill>
                              <a:latin typeface="Cambria Math"/>
                            </a:rPr>
                            <m:t>−</m:t>
                          </m:r>
                          <m:r>
                            <a:rPr lang="en-US" i="1">
                              <a:solidFill>
                                <a:schemeClr val="tx1"/>
                              </a:solidFill>
                              <a:latin typeface="Cambria Math"/>
                            </a:rPr>
                            <m:t>𝑉𝑎𝑟𝑖𝑎𝑏𝑙𝑒</m:t>
                          </m:r>
                          <m:r>
                            <a:rPr lang="en-US" i="1">
                              <a:solidFill>
                                <a:schemeClr val="tx1"/>
                              </a:solidFill>
                              <a:latin typeface="Cambria Math"/>
                            </a:rPr>
                            <m:t> </m:t>
                          </m:r>
                          <m:r>
                            <a:rPr lang="en-US" i="1">
                              <a:solidFill>
                                <a:schemeClr val="tx1"/>
                              </a:solidFill>
                              <a:latin typeface="Cambria Math"/>
                            </a:rPr>
                            <m:t>𝐶𝑜𝑠𝑡𝑠</m:t>
                          </m:r>
                        </m:num>
                        <m:den>
                          <m:r>
                            <a:rPr lang="en-US" i="1">
                              <a:solidFill>
                                <a:schemeClr val="tx1"/>
                              </a:solidFill>
                              <a:latin typeface="Cambria Math"/>
                            </a:rPr>
                            <m:t>𝑆𝑎𝑙𝑒𝑠</m:t>
                          </m:r>
                        </m:den>
                      </m:f>
                      <m:r>
                        <a:rPr lang="en-US" i="1">
                          <a:solidFill>
                            <a:schemeClr val="tx1"/>
                          </a:solidFill>
                          <a:latin typeface="Cambria Math"/>
                        </a:rPr>
                        <m:t>=</m:t>
                      </m:r>
                      <m:f>
                        <m:fPr>
                          <m:ctrlPr>
                            <a:rPr lang="en-US" i="1">
                              <a:solidFill>
                                <a:schemeClr val="tx1"/>
                              </a:solidFill>
                              <a:latin typeface="Cambria Math" panose="02040503050406030204" pitchFamily="18" charset="0"/>
                            </a:rPr>
                          </m:ctrlPr>
                        </m:fPr>
                        <m:num>
                          <m:r>
                            <a:rPr lang="en-US" i="1">
                              <a:solidFill>
                                <a:schemeClr val="tx1"/>
                              </a:solidFill>
                              <a:latin typeface="Cambria Math"/>
                            </a:rPr>
                            <m:t>𝑝𝑄</m:t>
                          </m:r>
                          <m:r>
                            <a:rPr lang="en-US" i="1">
                              <a:solidFill>
                                <a:schemeClr val="tx1"/>
                              </a:solidFill>
                              <a:latin typeface="Cambria Math"/>
                            </a:rPr>
                            <m:t>−</m:t>
                          </m:r>
                          <m:r>
                            <a:rPr lang="en-US" i="1">
                              <a:solidFill>
                                <a:schemeClr val="tx1"/>
                              </a:solidFill>
                              <a:latin typeface="Cambria Math"/>
                            </a:rPr>
                            <m:t>𝑐𝑄</m:t>
                          </m:r>
                        </m:num>
                        <m:den>
                          <m:r>
                            <a:rPr lang="en-US" i="1">
                              <a:solidFill>
                                <a:schemeClr val="tx1"/>
                              </a:solidFill>
                              <a:latin typeface="Cambria Math"/>
                            </a:rPr>
                            <m:t>𝑝𝑄</m:t>
                          </m:r>
                        </m:den>
                      </m:f>
                      <m:r>
                        <a:rPr lang="en-US" i="1">
                          <a:solidFill>
                            <a:schemeClr val="tx1"/>
                          </a:solidFill>
                          <a:latin typeface="Cambria Math"/>
                        </a:rPr>
                        <m:t>=</m:t>
                      </m:r>
                      <m:f>
                        <m:fPr>
                          <m:ctrlPr>
                            <a:rPr lang="en-US" i="1" smtClean="0">
                              <a:solidFill>
                                <a:schemeClr val="tx1"/>
                              </a:solidFill>
                              <a:latin typeface="Cambria Math" panose="02040503050406030204" pitchFamily="18" charset="0"/>
                            </a:rPr>
                          </m:ctrlPr>
                        </m:fPr>
                        <m:num>
                          <m:r>
                            <a:rPr lang="en-US" i="1" smtClean="0">
                              <a:solidFill>
                                <a:srgbClr val="00B050"/>
                              </a:solidFill>
                              <a:effectLst>
                                <a:outerShdw blurRad="38100" dist="38100" dir="2700000" algn="tl">
                                  <a:srgbClr val="000000">
                                    <a:alpha val="43137"/>
                                  </a:srgbClr>
                                </a:outerShdw>
                              </a:effectLst>
                              <a:latin typeface="Cambria Math"/>
                            </a:rPr>
                            <m:t>𝑝</m:t>
                          </m:r>
                          <m:r>
                            <a:rPr lang="en-US" i="1" smtClean="0">
                              <a:solidFill>
                                <a:schemeClr val="tx1"/>
                              </a:solidFill>
                              <a:latin typeface="Cambria Math"/>
                            </a:rPr>
                            <m:t>−</m:t>
                          </m:r>
                          <m:r>
                            <a:rPr lang="en-US" b="1" i="1" smtClean="0">
                              <a:solidFill>
                                <a:srgbClr val="FF0000"/>
                              </a:solidFill>
                              <a:effectLst>
                                <a:outerShdw blurRad="38100" dist="38100" dir="2700000" algn="tl">
                                  <a:srgbClr val="000000">
                                    <a:alpha val="43137"/>
                                  </a:srgbClr>
                                </a:outerShdw>
                              </a:effectLst>
                              <a:latin typeface="Cambria Math"/>
                            </a:rPr>
                            <m:t>𝒄</m:t>
                          </m:r>
                        </m:num>
                        <m:den>
                          <m:r>
                            <a:rPr lang="en-US" i="1" smtClean="0">
                              <a:solidFill>
                                <a:srgbClr val="00B050"/>
                              </a:solidFill>
                              <a:effectLst>
                                <a:outerShdw blurRad="38100" dist="38100" dir="2700000" algn="tl">
                                  <a:srgbClr val="000000">
                                    <a:alpha val="43137"/>
                                  </a:srgbClr>
                                </a:outerShdw>
                              </a:effectLst>
                              <a:latin typeface="Cambria Math"/>
                            </a:rPr>
                            <m:t>𝑝</m:t>
                          </m:r>
                        </m:den>
                      </m:f>
                    </m:oMath>
                  </m:oMathPara>
                </a14:m>
                <a:endParaRPr lang="en-US" dirty="0">
                  <a:solidFill>
                    <a:schemeClr val="tx1"/>
                  </a:solidFill>
                </a:endParaRPr>
              </a:p>
            </p:txBody>
          </p:sp>
        </mc:Choice>
        <mc:Fallback xmlns="">
          <p:sp>
            <p:nvSpPr>
              <p:cNvPr id="2" name="Rounded Rectangle 1"/>
              <p:cNvSpPr>
                <a:spLocks noRot="1" noChangeAspect="1" noMove="1" noResize="1" noEditPoints="1" noAdjustHandles="1" noChangeArrowheads="1" noChangeShapeType="1" noTextEdit="1"/>
              </p:cNvSpPr>
              <p:nvPr/>
            </p:nvSpPr>
            <p:spPr>
              <a:xfrm>
                <a:off x="1066800" y="4800600"/>
                <a:ext cx="7086600" cy="838200"/>
              </a:xfrm>
              <a:prstGeom prst="roundRect">
                <a:avLst/>
              </a:prstGeom>
              <a:blipFill>
                <a:blip r:embed="rId3"/>
                <a:stretch>
                  <a:fillRect b="-714"/>
                </a:stretch>
              </a:blipFill>
            </p:spPr>
            <p:txBody>
              <a:bodyPr/>
              <a:lstStyle/>
              <a:p>
                <a:r>
                  <a:rPr lang="en-US">
                    <a:noFill/>
                  </a:rPr>
                  <a:t> </a:t>
                </a:r>
              </a:p>
            </p:txBody>
          </p:sp>
        </mc:Fallback>
      </mc:AlternateContent>
      <p:sp>
        <p:nvSpPr>
          <p:cNvPr id="5" name="Right Arrow 4"/>
          <p:cNvSpPr/>
          <p:nvPr/>
        </p:nvSpPr>
        <p:spPr>
          <a:xfrm>
            <a:off x="76200" y="4648200"/>
            <a:ext cx="609600" cy="1143000"/>
          </a:xfrm>
          <a:prstGeom prst="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415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normAutofit fontScale="90000"/>
          </a:bodyPr>
          <a:lstStyle/>
          <a:p>
            <a:r>
              <a:rPr lang="en-US" sz="4400" dirty="0"/>
              <a:t>Variable versus Fixed Costs</a:t>
            </a:r>
            <a:br>
              <a:rPr lang="en-US" sz="4400" dirty="0"/>
            </a:br>
            <a:r>
              <a:rPr lang="en-US" sz="3600" dirty="0"/>
              <a:t>Incremental vs unavoidable costs</a:t>
            </a:r>
            <a:endParaRPr lang="en-US" dirty="0"/>
          </a:p>
        </p:txBody>
      </p:sp>
      <mc:AlternateContent xmlns:mc="http://schemas.openxmlformats.org/markup-compatibility/2006" xmlns:a14="http://schemas.microsoft.com/office/drawing/2010/main">
        <mc:Choice Requires="a14">
          <p:sp>
            <p:nvSpPr>
              <p:cNvPr id="5" name="Content Placeholder 2"/>
              <p:cNvSpPr>
                <a:spLocks noGrp="1"/>
              </p:cNvSpPr>
              <p:nvPr>
                <p:ph sz="quarter" idx="1"/>
              </p:nvPr>
            </p:nvSpPr>
            <p:spPr>
              <a:xfrm>
                <a:off x="612648" y="1600200"/>
                <a:ext cx="8153400" cy="4953000"/>
              </a:xfrm>
            </p:spPr>
            <p:txBody>
              <a:bodyPr>
                <a:normAutofit/>
              </a:bodyPr>
              <a:lstStyle/>
              <a:p>
                <a:pPr>
                  <a:defRPr/>
                </a:pPr>
                <a:r>
                  <a:rPr lang="en-US" dirty="0"/>
                  <a:t>Let’s start by looking at a firm’s costs</a:t>
                </a:r>
              </a:p>
              <a:p>
                <a:pPr>
                  <a:defRPr/>
                </a:pPr>
                <a:endParaRPr lang="en-US" dirty="0"/>
              </a:p>
              <a:p>
                <a:pPr algn="ctr">
                  <a:buFont typeface="Monotype Sorts" pitchFamily="2" charset="2"/>
                  <a:buNone/>
                  <a:defRPr/>
                </a:pPr>
                <a:r>
                  <a:rPr lang="en-US" dirty="0"/>
                  <a:t>Total Costs = Variable Costs + Fixed Costs</a:t>
                </a:r>
              </a:p>
              <a:p>
                <a:pPr algn="ctr">
                  <a:buFont typeface="Monotype Sorts" pitchFamily="2" charset="2"/>
                  <a:buNone/>
                  <a:defRPr/>
                </a:pPr>
                <a14:m>
                  <m:oMathPara xmlns:m="http://schemas.openxmlformats.org/officeDocument/2006/math">
                    <m:oMathParaPr>
                      <m:jc m:val="centerGroup"/>
                    </m:oMathParaPr>
                    <m:oMath xmlns:m="http://schemas.openxmlformats.org/officeDocument/2006/math">
                      <m:r>
                        <a:rPr lang="en-US" b="0" i="1" smtClean="0">
                          <a:latin typeface="Cambria Math"/>
                        </a:rPr>
                        <m:t>=</m:t>
                      </m:r>
                      <m:r>
                        <a:rPr lang="en-US" b="1" i="1" smtClean="0">
                          <a:solidFill>
                            <a:srgbClr val="FF0000"/>
                          </a:solidFill>
                          <a:effectLst>
                            <a:outerShdw blurRad="38100" dist="38100" dir="2700000" algn="tl">
                              <a:srgbClr val="000000">
                                <a:alpha val="43137"/>
                              </a:srgbClr>
                            </a:outerShdw>
                          </a:effectLst>
                          <a:latin typeface="Cambria Math"/>
                        </a:rPr>
                        <m:t>𝒄</m:t>
                      </m:r>
                      <m:r>
                        <a:rPr lang="en-US" b="0" i="1" smtClean="0">
                          <a:latin typeface="Cambria Math"/>
                        </a:rPr>
                        <m:t>𝑄</m:t>
                      </m:r>
                      <m:r>
                        <a:rPr lang="en-US" b="0" i="1" smtClean="0">
                          <a:latin typeface="Cambria Math"/>
                        </a:rPr>
                        <m:t>+</m:t>
                      </m:r>
                      <m:r>
                        <a:rPr lang="en-US" b="1" i="1" smtClean="0">
                          <a:solidFill>
                            <a:srgbClr val="FF0000"/>
                          </a:solidFill>
                          <a:effectLst>
                            <a:outerShdw blurRad="38100" dist="38100" dir="2700000" algn="tl">
                              <a:srgbClr val="000000">
                                <a:alpha val="43137"/>
                              </a:srgbClr>
                            </a:outerShdw>
                          </a:effectLst>
                          <a:latin typeface="Cambria Math"/>
                        </a:rPr>
                        <m:t>𝑭</m:t>
                      </m:r>
                      <m:r>
                        <a:rPr lang="en-US" b="0" i="1" smtClean="0">
                          <a:latin typeface="Cambria Math"/>
                        </a:rPr>
                        <m:t>                  </m:t>
                      </m:r>
                    </m:oMath>
                  </m:oMathPara>
                </a14:m>
                <a:endParaRPr lang="en-US" dirty="0"/>
              </a:p>
              <a:p>
                <a:pPr>
                  <a:defRPr/>
                </a:pPr>
                <a:endParaRPr lang="en-US" dirty="0"/>
              </a:p>
              <a:p>
                <a:pPr>
                  <a:spcBef>
                    <a:spcPts val="1800"/>
                  </a:spcBef>
                  <a:defRPr/>
                </a:pPr>
                <a:r>
                  <a:rPr lang="en-US" b="1" i="1" dirty="0"/>
                  <a:t>Variable Costs</a:t>
                </a:r>
                <a:r>
                  <a:rPr lang="en-US" i="1" dirty="0"/>
                  <a:t>:</a:t>
                </a:r>
                <a:r>
                  <a:rPr lang="en-US" dirty="0"/>
                  <a:t> vary with the quantity sold</a:t>
                </a:r>
              </a:p>
              <a:p>
                <a:pPr lvl="1">
                  <a:spcAft>
                    <a:spcPts val="1200"/>
                  </a:spcAft>
                  <a:defRPr/>
                </a:pPr>
                <a:r>
                  <a:rPr lang="en-US" sz="2000" i="1" dirty="0"/>
                  <a:t>Incremental (Marginal) costs:</a:t>
                </a:r>
                <a:r>
                  <a:rPr lang="en-US" sz="2000" dirty="0"/>
                  <a:t> increase/decrease in costs from one more or one less unit of output</a:t>
                </a:r>
                <a:endParaRPr lang="en-US" sz="2000" i="1" dirty="0"/>
              </a:p>
              <a:p>
                <a:pPr>
                  <a:spcBef>
                    <a:spcPts val="1200"/>
                  </a:spcBef>
                  <a:spcAft>
                    <a:spcPts val="1200"/>
                  </a:spcAft>
                  <a:defRPr/>
                </a:pPr>
                <a:r>
                  <a:rPr lang="en-US" b="1" i="1" dirty="0"/>
                  <a:t>Fixed Costs</a:t>
                </a:r>
                <a:r>
                  <a:rPr lang="en-US" dirty="0"/>
                  <a:t>: must be paid irrespective of quantity sold</a:t>
                </a:r>
              </a:p>
              <a:p>
                <a:pPr>
                  <a:spcBef>
                    <a:spcPts val="1200"/>
                  </a:spcBef>
                  <a:spcAft>
                    <a:spcPts val="1200"/>
                  </a:spcAft>
                  <a:defRPr/>
                </a:pPr>
                <a:r>
                  <a:rPr lang="en-US" dirty="0"/>
                  <a:t>Does this distinction matter for pricing?</a:t>
                </a:r>
              </a:p>
            </p:txBody>
          </p:sp>
        </mc:Choice>
        <mc:Fallback xmlns="">
          <p:sp>
            <p:nvSpPr>
              <p:cNvPr id="5" name="Content Placeholder 2"/>
              <p:cNvSpPr>
                <a:spLocks noGrp="1" noRot="1" noChangeAspect="1" noMove="1" noResize="1" noEditPoints="1" noAdjustHandles="1" noChangeArrowheads="1" noChangeShapeType="1" noTextEdit="1"/>
              </p:cNvSpPr>
              <p:nvPr>
                <p:ph sz="quarter" idx="1"/>
              </p:nvPr>
            </p:nvSpPr>
            <p:spPr>
              <a:xfrm>
                <a:off x="612648" y="1600200"/>
                <a:ext cx="8153400" cy="4953000"/>
              </a:xfrm>
              <a:blipFill>
                <a:blip r:embed="rId2"/>
                <a:stretch>
                  <a:fillRect l="-150" t="-985"/>
                </a:stretch>
              </a:blipFill>
            </p:spPr>
            <p:txBody>
              <a:bodyPr/>
              <a:lstStyle/>
              <a:p>
                <a:r>
                  <a:rPr lang="en-US">
                    <a:noFill/>
                  </a:rPr>
                  <a:t> </a:t>
                </a:r>
              </a:p>
            </p:txBody>
          </p:sp>
        </mc:Fallback>
      </mc:AlternateContent>
      <p:sp>
        <p:nvSpPr>
          <p:cNvPr id="4" name="Oval 3"/>
          <p:cNvSpPr/>
          <p:nvPr/>
        </p:nvSpPr>
        <p:spPr>
          <a:xfrm>
            <a:off x="3702050" y="2996087"/>
            <a:ext cx="292683" cy="2446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a:endCxn id="4" idx="3"/>
          </p:cNvCxnSpPr>
          <p:nvPr/>
        </p:nvCxnSpPr>
        <p:spPr>
          <a:xfrm flipV="1">
            <a:off x="3489325" y="3204902"/>
            <a:ext cx="255587" cy="3152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p:cNvSpPr txBox="1"/>
              <p:nvPr/>
            </p:nvSpPr>
            <p:spPr>
              <a:xfrm>
                <a:off x="2433760" y="3435682"/>
                <a:ext cx="1714059" cy="369332"/>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FF0000"/>
                          </a:solidFill>
                          <a:latin typeface="Cambria Math"/>
                        </a:rPr>
                        <m:t>𝑚𝑎𝑟𝑔𝑖𝑛𝑎𝑙</m:t>
                      </m:r>
                      <m:r>
                        <a:rPr lang="en-US" sz="1800" b="0" i="1" smtClean="0">
                          <a:solidFill>
                            <a:srgbClr val="FF0000"/>
                          </a:solidFill>
                          <a:latin typeface="Cambria Math"/>
                        </a:rPr>
                        <m:t> </m:t>
                      </m:r>
                      <m:r>
                        <a:rPr lang="en-US" sz="1800" b="0" i="1" smtClean="0">
                          <a:solidFill>
                            <a:srgbClr val="FF0000"/>
                          </a:solidFill>
                          <a:latin typeface="Cambria Math"/>
                        </a:rPr>
                        <m:t>𝑐𝑜𝑠𝑡</m:t>
                      </m:r>
                    </m:oMath>
                  </m:oMathPara>
                </a14:m>
                <a:endParaRPr lang="en-US" sz="1800" dirty="0">
                  <a:solidFill>
                    <a:srgbClr val="FF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433760" y="3435682"/>
                <a:ext cx="1714059" cy="369332"/>
              </a:xfrm>
              <a:prstGeom prst="rect">
                <a:avLst/>
              </a:prstGeom>
              <a:blipFill rotWithShape="1">
                <a:blip r:embed="rId3"/>
                <a:stretch>
                  <a:fillRect b="-15000"/>
                </a:stretch>
              </a:blipFill>
              <a:ln>
                <a:noFill/>
              </a:ln>
            </p:spPr>
            <p:txBody>
              <a:bodyPr/>
              <a:lstStyle/>
              <a:p>
                <a:r>
                  <a:rPr lang="en-US">
                    <a:noFill/>
                  </a:rPr>
                  <a:t> </a:t>
                </a:r>
              </a:p>
            </p:txBody>
          </p:sp>
        </mc:Fallback>
      </mc:AlternateContent>
      <p:sp>
        <p:nvSpPr>
          <p:cNvPr id="14" name="Oval 13"/>
          <p:cNvSpPr/>
          <p:nvPr/>
        </p:nvSpPr>
        <p:spPr>
          <a:xfrm>
            <a:off x="4471205" y="2833253"/>
            <a:ext cx="292683"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p:nvPr/>
        </p:nvCxnSpPr>
        <p:spPr>
          <a:xfrm flipH="1" flipV="1">
            <a:off x="4763888" y="3118408"/>
            <a:ext cx="476472" cy="31727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4829256" y="3435682"/>
                <a:ext cx="1426224" cy="369332"/>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FF0000"/>
                          </a:solidFill>
                          <a:latin typeface="Cambria Math"/>
                        </a:rPr>
                        <m:t>𝐹𝑖𝑥𝑒𝑑</m:t>
                      </m:r>
                      <m:r>
                        <a:rPr lang="en-US" sz="1800" b="0" i="1" smtClean="0">
                          <a:solidFill>
                            <a:srgbClr val="FF0000"/>
                          </a:solidFill>
                          <a:latin typeface="Cambria Math"/>
                        </a:rPr>
                        <m:t> </m:t>
                      </m:r>
                      <m:r>
                        <a:rPr lang="en-US" sz="1800" b="0" i="1" smtClean="0">
                          <a:solidFill>
                            <a:srgbClr val="FF0000"/>
                          </a:solidFill>
                          <a:latin typeface="Cambria Math"/>
                        </a:rPr>
                        <m:t>𝑐𝑜𝑠𝑡𝑠</m:t>
                      </m:r>
                    </m:oMath>
                  </m:oMathPara>
                </a14:m>
                <a:endParaRPr lang="en-US" sz="1800" dirty="0">
                  <a:solidFill>
                    <a:srgbClr val="FF0000"/>
                  </a:solidFill>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4829256" y="3435682"/>
                <a:ext cx="1426224" cy="369332"/>
              </a:xfrm>
              <a:prstGeom prst="rect">
                <a:avLst/>
              </a:prstGeom>
              <a:blipFill>
                <a:blip r:embed="rId4"/>
                <a:stretch>
                  <a:fillRect/>
                </a:stretch>
              </a:blipFill>
              <a:ln>
                <a:noFill/>
              </a:ln>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8</a:t>
            </a:fld>
            <a:endParaRPr lang="en-US"/>
          </a:p>
        </p:txBody>
      </p:sp>
    </p:spTree>
    <p:extLst>
      <p:ext uri="{BB962C8B-B14F-4D97-AF65-F5344CB8AC3E}">
        <p14:creationId xmlns:p14="http://schemas.microsoft.com/office/powerpoint/2010/main" val="2591715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14" grpId="0" animBg="1"/>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noFill/>
        </p:spPr>
        <p:txBody>
          <a:bodyPr lIns="90488" tIns="44450" rIns="90488" bIns="44450" anchor="b">
            <a:normAutofit fontScale="90000"/>
          </a:bodyPr>
          <a:lstStyle/>
          <a:p>
            <a:r>
              <a:rPr lang="en-US" sz="4400" dirty="0"/>
              <a:t>Incremental versus Fixed Costs</a:t>
            </a:r>
            <a:br>
              <a:rPr lang="en-US" sz="4400" dirty="0"/>
            </a:br>
            <a:r>
              <a:rPr lang="en-US" sz="3600" dirty="0"/>
              <a:t>Fully Allocated Costing</a:t>
            </a:r>
          </a:p>
        </p:txBody>
      </p:sp>
      <p:sp>
        <p:nvSpPr>
          <p:cNvPr id="8195" name="Rectangle 3"/>
          <p:cNvSpPr>
            <a:spLocks noGrp="1" noChangeArrowheads="1"/>
          </p:cNvSpPr>
          <p:nvPr>
            <p:ph sz="quarter" idx="1"/>
          </p:nvPr>
        </p:nvSpPr>
        <p:spPr>
          <a:xfrm>
            <a:off x="612648" y="1600200"/>
            <a:ext cx="8153400" cy="4953000"/>
          </a:xfrm>
        </p:spPr>
        <p:txBody>
          <a:bodyPr lIns="90488" tIns="44450" rIns="90488" bIns="44450">
            <a:normAutofit lnSpcReduction="10000"/>
          </a:bodyPr>
          <a:lstStyle/>
          <a:p>
            <a:pPr marL="0" indent="0">
              <a:spcBef>
                <a:spcPts val="1200"/>
              </a:spcBef>
              <a:spcAft>
                <a:spcPts val="1200"/>
              </a:spcAft>
              <a:buNone/>
              <a:defRPr/>
            </a:pPr>
            <a:r>
              <a:rPr lang="en-US" i="1" dirty="0"/>
              <a:t>After all, at some point the business has to cover the fixed and the allocated cost - why not use them both for pricing to ensure that this is the case</a:t>
            </a:r>
            <a:r>
              <a:rPr lang="en-US" dirty="0"/>
              <a:t>?</a:t>
            </a:r>
          </a:p>
          <a:p>
            <a:pPr>
              <a:spcBef>
                <a:spcPts val="1200"/>
              </a:spcBef>
              <a:spcAft>
                <a:spcPts val="1200"/>
              </a:spcAft>
              <a:defRPr/>
            </a:pPr>
            <a:r>
              <a:rPr lang="en-US" sz="2000" dirty="0">
                <a:latin typeface="+mj-lt"/>
              </a:rPr>
              <a:t>This is why many firms price via Gross Margin targets</a:t>
            </a:r>
          </a:p>
          <a:p>
            <a:pPr>
              <a:spcBef>
                <a:spcPts val="1200"/>
              </a:spcBef>
              <a:spcAft>
                <a:spcPts val="0"/>
              </a:spcAft>
              <a:defRPr/>
            </a:pPr>
            <a:r>
              <a:rPr lang="en-US" sz="2000" b="1" dirty="0">
                <a:latin typeface="+mj-lt"/>
              </a:rPr>
              <a:t>Should fully allocated unit cost be used for pricing?</a:t>
            </a:r>
          </a:p>
          <a:p>
            <a:pPr marL="320675" lvl="1" indent="0">
              <a:spcBef>
                <a:spcPts val="0"/>
              </a:spcBef>
              <a:spcAft>
                <a:spcPts val="1200"/>
              </a:spcAft>
              <a:buNone/>
              <a:defRPr/>
            </a:pPr>
            <a:r>
              <a:rPr lang="en-US" sz="1600" dirty="0"/>
              <a:t>i.e., set prices based on Average Costs (versus Marginal Costs)</a:t>
            </a:r>
          </a:p>
          <a:p>
            <a:pPr>
              <a:spcBef>
                <a:spcPts val="1800"/>
              </a:spcBef>
              <a:buFont typeface="Monotype Sorts" pitchFamily="2" charset="2"/>
              <a:buNone/>
              <a:defRPr/>
            </a:pPr>
            <a:r>
              <a:rPr lang="en-US" sz="2400" dirty="0">
                <a:latin typeface="+mj-lt"/>
              </a:rPr>
              <a:t>   </a:t>
            </a:r>
            <a:endParaRPr lang="en-US" dirty="0"/>
          </a:p>
          <a:p>
            <a:pPr>
              <a:buFont typeface="Monotype Sorts" pitchFamily="2" charset="2"/>
              <a:buNone/>
              <a:defRPr/>
            </a:pPr>
            <a:r>
              <a:rPr lang="en-US" dirty="0"/>
              <a:t>		i.e., mark up price	</a:t>
            </a:r>
          </a:p>
          <a:p>
            <a:pPr>
              <a:buFont typeface="Monotype Sorts" pitchFamily="2" charset="2"/>
              <a:buNone/>
              <a:defRPr/>
            </a:pPr>
            <a:r>
              <a:rPr lang="en-US" dirty="0"/>
              <a:t>			over </a:t>
            </a:r>
            <a:r>
              <a:rPr lang="en-US" dirty="0">
                <a:solidFill>
                  <a:srgbClr val="FF0000"/>
                </a:solidFill>
              </a:rPr>
              <a:t>AC = c + AFC</a:t>
            </a:r>
          </a:p>
          <a:p>
            <a:pPr>
              <a:buFont typeface="Monotype Sorts" pitchFamily="2" charset="2"/>
              <a:buNone/>
              <a:defRPr/>
            </a:pPr>
            <a:r>
              <a:rPr lang="en-US" sz="1400" dirty="0"/>
              <a:t>			  vs</a:t>
            </a:r>
          </a:p>
          <a:p>
            <a:pPr>
              <a:buFont typeface="Monotype Sorts" pitchFamily="2" charset="2"/>
              <a:buNone/>
              <a:defRPr/>
            </a:pPr>
            <a:r>
              <a:rPr lang="en-US" dirty="0"/>
              <a:t>			over </a:t>
            </a:r>
            <a:r>
              <a:rPr lang="en-US" dirty="0">
                <a:solidFill>
                  <a:srgbClr val="FF0000"/>
                </a:solidFill>
              </a:rPr>
              <a:t>c</a:t>
            </a:r>
            <a:r>
              <a:rPr lang="en-US" sz="2400" dirty="0">
                <a:solidFill>
                  <a:srgbClr val="FF0000"/>
                </a:solidFill>
                <a:latin typeface="+mj-lt"/>
              </a:rPr>
              <a:t> </a:t>
            </a:r>
            <a:r>
              <a:rPr lang="en-US" sz="2400" dirty="0">
                <a:latin typeface="+mj-lt"/>
              </a:rPr>
              <a:t>                                      </a:t>
            </a:r>
          </a:p>
        </p:txBody>
      </p:sp>
      <p:sp>
        <p:nvSpPr>
          <p:cNvPr id="2" name="Slide Number Placeholder 1"/>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9</a:t>
            </a:fld>
            <a:endParaRPr lang="en-US"/>
          </a:p>
        </p:txBody>
      </p:sp>
      <p:sp>
        <p:nvSpPr>
          <p:cNvPr id="3" name="Oval 2"/>
          <p:cNvSpPr/>
          <p:nvPr/>
        </p:nvSpPr>
        <p:spPr>
          <a:xfrm>
            <a:off x="3048000" y="5803612"/>
            <a:ext cx="533400" cy="609600"/>
          </a:xfrm>
          <a:prstGeom prst="ellipse">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p:cNvCxnSpPr/>
          <p:nvPr/>
        </p:nvCxnSpPr>
        <p:spPr>
          <a:xfrm flipH="1" flipV="1">
            <a:off x="3581400" y="6159774"/>
            <a:ext cx="685800" cy="7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267200" y="5867400"/>
            <a:ext cx="2926819" cy="615553"/>
          </a:xfrm>
          <a:prstGeom prst="rect">
            <a:avLst/>
          </a:prstGeom>
          <a:noFill/>
        </p:spPr>
        <p:txBody>
          <a:bodyPr wrap="square" rtlCol="0">
            <a:spAutoFit/>
          </a:bodyPr>
          <a:lstStyle/>
          <a:p>
            <a:r>
              <a:rPr lang="en-US" sz="2000" dirty="0">
                <a:solidFill>
                  <a:schemeClr val="accent1"/>
                </a:solidFill>
              </a:rPr>
              <a:t>Many firms use </a:t>
            </a:r>
            <a:r>
              <a:rPr lang="en-US" sz="2000" dirty="0" err="1">
                <a:solidFill>
                  <a:schemeClr val="accent1"/>
                </a:solidFill>
              </a:rPr>
              <a:t>CoGS</a:t>
            </a:r>
            <a:endParaRPr lang="en-US" sz="2000" dirty="0">
              <a:solidFill>
                <a:schemeClr val="accent1"/>
              </a:solidFill>
            </a:endParaRPr>
          </a:p>
          <a:p>
            <a:r>
              <a:rPr lang="en-US" sz="1400" dirty="0">
                <a:solidFill>
                  <a:schemeClr val="accent1"/>
                </a:solidFill>
              </a:rPr>
              <a:t>Should use </a:t>
            </a:r>
            <a:r>
              <a:rPr lang="en-US" sz="1400" i="1" dirty="0">
                <a:solidFill>
                  <a:schemeClr val="accent1"/>
                </a:solidFill>
              </a:rPr>
              <a:t>marginal/incremental</a:t>
            </a:r>
            <a:r>
              <a:rPr lang="en-US" sz="1400" dirty="0">
                <a:solidFill>
                  <a:schemeClr val="accent1"/>
                </a:solidFill>
              </a:rPr>
              <a:t> cost</a:t>
            </a:r>
          </a:p>
        </p:txBody>
      </p:sp>
      <p:pic>
        <p:nvPicPr>
          <p:cNvPr id="1026" name="Picture 2" descr="Need for Activity Based Costing in Manufacturing"/>
          <p:cNvPicPr>
            <a:picLocks noChangeAspect="1" noChangeArrowheads="1"/>
          </p:cNvPicPr>
          <p:nvPr/>
        </p:nvPicPr>
        <p:blipFill rotWithShape="1">
          <a:blip r:embed="rId2">
            <a:extLst>
              <a:ext uri="{28A0092B-C50C-407E-A947-70E740481C1C}">
                <a14:useLocalDpi xmlns:a14="http://schemas.microsoft.com/office/drawing/2010/main" val="0"/>
              </a:ext>
            </a:extLst>
          </a:blip>
          <a:srcRect t="15740"/>
          <a:stretch/>
        </p:blipFill>
        <p:spPr bwMode="auto">
          <a:xfrm>
            <a:off x="6861567" y="2362200"/>
            <a:ext cx="2143125" cy="1805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7826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Rounded Rectangle 10"/>
              <p:cNvSpPr/>
              <p:nvPr/>
            </p:nvSpPr>
            <p:spPr>
              <a:xfrm>
                <a:off x="2488704" y="2066936"/>
                <a:ext cx="4495800" cy="6858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Aft>
                    <a:spcPts val="1200"/>
                  </a:spcAft>
                  <a:buNone/>
                </a:pPr>
                <a14:m>
                  <m:oMathPara xmlns:m="http://schemas.openxmlformats.org/officeDocument/2006/math">
                    <m:oMathParaPr>
                      <m:jc m:val="centerGroup"/>
                    </m:oMathParaPr>
                    <m:oMath xmlns:m="http://schemas.openxmlformats.org/officeDocument/2006/math">
                      <m:d>
                        <m:dPr>
                          <m:ctrlPr>
                            <a:rPr lang="en-US" i="1" smtClean="0">
                              <a:solidFill>
                                <a:schemeClr val="tx1"/>
                              </a:solidFill>
                              <a:latin typeface="Cambria Math" panose="02040503050406030204" pitchFamily="18" charset="0"/>
                            </a:rPr>
                          </m:ctrlPr>
                        </m:dPr>
                        <m:e>
                          <m:r>
                            <a:rPr lang="en-US" b="1" i="1">
                              <a:solidFill>
                                <a:schemeClr val="tx1"/>
                              </a:solidFill>
                              <a:effectLst>
                                <a:outerShdw blurRad="38100" dist="38100" dir="2700000" algn="tl">
                                  <a:srgbClr val="000000">
                                    <a:alpha val="43137"/>
                                  </a:srgbClr>
                                </a:outerShdw>
                              </a:effectLst>
                              <a:latin typeface="Cambria Math" panose="02040503050406030204" pitchFamily="18" charset="0"/>
                            </a:rPr>
                            <m:t>𝒑</m:t>
                          </m:r>
                          <m:r>
                            <a:rPr lang="en-US" i="1">
                              <a:solidFill>
                                <a:schemeClr val="tx1"/>
                              </a:solidFill>
                              <a:latin typeface="Cambria Math"/>
                            </a:rPr>
                            <m:t>−</m:t>
                          </m:r>
                          <m:r>
                            <a:rPr lang="en-US" b="1" i="1" smtClean="0">
                              <a:solidFill>
                                <a:srgbClr val="FF0000"/>
                              </a:solidFill>
                              <a:effectLst>
                                <a:outerShdw blurRad="38100" dist="38100" dir="2700000" algn="tl">
                                  <a:srgbClr val="000000">
                                    <a:alpha val="43137"/>
                                  </a:srgbClr>
                                </a:outerShdw>
                              </a:effectLst>
                              <a:latin typeface="Cambria Math"/>
                            </a:rPr>
                            <m:t>𝒄</m:t>
                          </m:r>
                        </m:e>
                      </m:d>
                      <m:r>
                        <a:rPr lang="en-US" i="1">
                          <a:solidFill>
                            <a:schemeClr val="tx1"/>
                          </a:solidFill>
                          <a:latin typeface="Cambria Math"/>
                        </a:rPr>
                        <m:t>𝑄</m:t>
                      </m:r>
                      <m:d>
                        <m:dPr>
                          <m:ctrlPr>
                            <a:rPr lang="en-US" i="1">
                              <a:solidFill>
                                <a:schemeClr val="tx1"/>
                              </a:solidFill>
                              <a:latin typeface="Cambria Math" panose="02040503050406030204" pitchFamily="18" charset="0"/>
                            </a:rPr>
                          </m:ctrlPr>
                        </m:dPr>
                        <m:e>
                          <m:r>
                            <a:rPr lang="en-US" b="1" i="1">
                              <a:solidFill>
                                <a:schemeClr val="tx1"/>
                              </a:solidFill>
                              <a:effectLst>
                                <a:outerShdw blurRad="38100" dist="38100" dir="2700000" algn="tl">
                                  <a:srgbClr val="000000">
                                    <a:alpha val="43137"/>
                                  </a:srgbClr>
                                </a:outerShdw>
                              </a:effectLst>
                              <a:latin typeface="Cambria Math" panose="02040503050406030204" pitchFamily="18" charset="0"/>
                            </a:rPr>
                            <m:t>𝒑</m:t>
                          </m:r>
                        </m:e>
                      </m:d>
                      <m:r>
                        <a:rPr lang="en-US" i="1">
                          <a:solidFill>
                            <a:schemeClr val="tx1"/>
                          </a:solidFill>
                          <a:latin typeface="Cambria Math"/>
                        </a:rPr>
                        <m:t>−</m:t>
                      </m:r>
                      <m:r>
                        <a:rPr lang="en-US" b="1" i="1" smtClean="0">
                          <a:solidFill>
                            <a:srgbClr val="FF0000"/>
                          </a:solidFill>
                          <a:effectLst>
                            <a:outerShdw blurRad="38100" dist="38100" dir="2700000" algn="tl">
                              <a:srgbClr val="000000">
                                <a:alpha val="43137"/>
                              </a:srgbClr>
                            </a:outerShdw>
                          </a:effectLst>
                          <a:latin typeface="Cambria Math"/>
                        </a:rPr>
                        <m:t>𝑭</m:t>
                      </m:r>
                    </m:oMath>
                  </m:oMathPara>
                </a14:m>
                <a:endParaRPr lang="en-US" b="1" dirty="0">
                  <a:solidFill>
                    <a:schemeClr val="tx1"/>
                  </a:solidFill>
                </a:endParaRPr>
              </a:p>
            </p:txBody>
          </p:sp>
        </mc:Choice>
        <mc:Fallback xmlns="">
          <p:sp>
            <p:nvSpPr>
              <p:cNvPr id="11" name="Rounded Rectangle 10"/>
              <p:cNvSpPr>
                <a:spLocks noRot="1" noChangeAspect="1" noMove="1" noResize="1" noEditPoints="1" noAdjustHandles="1" noChangeArrowheads="1" noChangeShapeType="1" noTextEdit="1"/>
              </p:cNvSpPr>
              <p:nvPr/>
            </p:nvSpPr>
            <p:spPr>
              <a:xfrm>
                <a:off x="2488704" y="2066936"/>
                <a:ext cx="4495800" cy="685800"/>
              </a:xfrm>
              <a:prstGeom prst="round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569360"/>
                <a:ext cx="8153400" cy="479431"/>
              </a:xfrm>
            </p:spPr>
            <p:txBody>
              <a:bodyPr>
                <a:normAutofit/>
              </a:bodyPr>
              <a:lstStyle/>
              <a:p>
                <a:pPr>
                  <a:spcAft>
                    <a:spcPts val="1200"/>
                  </a:spcAft>
                </a:pPr>
                <a:r>
                  <a:rPr lang="en-US" dirty="0"/>
                  <a:t>Recall: formal pricing problem sets price </a:t>
                </a:r>
                <a14:m>
                  <m:oMath xmlns:m="http://schemas.openxmlformats.org/officeDocument/2006/math">
                    <m:r>
                      <a:rPr lang="en-US" b="1" i="1" smtClean="0">
                        <a:effectLst>
                          <a:outerShdw blurRad="38100" dist="38100" dir="2700000" algn="tl">
                            <a:srgbClr val="000000">
                              <a:alpha val="43137"/>
                            </a:srgbClr>
                          </a:outerShdw>
                        </a:effectLst>
                        <a:latin typeface="Cambria Math" panose="02040503050406030204" pitchFamily="18" charset="0"/>
                      </a:rPr>
                      <m:t>𝒑</m:t>
                    </m:r>
                    <m:r>
                      <a:rPr lang="en-US" i="1">
                        <a:latin typeface="Cambria Math" panose="02040503050406030204" pitchFamily="18" charset="0"/>
                      </a:rPr>
                      <m:t> </m:t>
                    </m:r>
                  </m:oMath>
                </a14:m>
                <a:r>
                  <a:rPr lang="en-US" dirty="0"/>
                  <a:t>to </a:t>
                </a:r>
                <a:r>
                  <a:rPr lang="en-US" dirty="0">
                    <a:solidFill>
                      <a:srgbClr val="0070C0"/>
                    </a:solidFill>
                  </a:rPr>
                  <a:t>maximize</a:t>
                </a:r>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569360"/>
                <a:ext cx="8153400" cy="479431"/>
              </a:xfrm>
              <a:blipFill>
                <a:blip r:embed="rId3"/>
                <a:stretch>
                  <a:fillRect l="-150" t="-10127" b="-24051"/>
                </a:stretch>
              </a:blipFill>
            </p:spPr>
            <p:txBody>
              <a:bodyPr/>
              <a:lstStyle/>
              <a:p>
                <a:r>
                  <a:rPr lang="en-US">
                    <a:noFill/>
                  </a:rPr>
                  <a:t> </a:t>
                </a:r>
              </a:p>
            </p:txBody>
          </p:sp>
        </mc:Fallback>
      </mc:AlternateContent>
      <p:sp>
        <p:nvSpPr>
          <p:cNvPr id="2" name="Title 1"/>
          <p:cNvSpPr>
            <a:spLocks noGrp="1"/>
          </p:cNvSpPr>
          <p:nvPr>
            <p:ph type="title"/>
          </p:nvPr>
        </p:nvSpPr>
        <p:spPr/>
        <p:txBody>
          <a:bodyPr>
            <a:normAutofit fontScale="90000"/>
          </a:bodyPr>
          <a:lstStyle/>
          <a:p>
            <a:r>
              <a:rPr lang="en-US" sz="4400" dirty="0"/>
              <a:t>A Mathematical Argument</a:t>
            </a:r>
            <a:br>
              <a:rPr lang="en-US" sz="4400" dirty="0"/>
            </a:br>
            <a:r>
              <a:rPr lang="en-US" sz="3600" dirty="0"/>
              <a:t>What’s the pricing objective?</a:t>
            </a:r>
            <a:endParaRPr lang="en-US" dirty="0"/>
          </a:p>
        </p:txBody>
      </p:sp>
      <p:cxnSp>
        <p:nvCxnSpPr>
          <p:cNvPr id="8" name="Straight Arrow Connector 7"/>
          <p:cNvCxnSpPr>
            <a:stCxn id="9" idx="0"/>
          </p:cNvCxnSpPr>
          <p:nvPr/>
        </p:nvCxnSpPr>
        <p:spPr>
          <a:xfrm flipV="1">
            <a:off x="3572477" y="2462990"/>
            <a:ext cx="753077" cy="113634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572954" y="3599338"/>
            <a:ext cx="1999046" cy="1015663"/>
          </a:xfrm>
          <a:prstGeom prst="rect">
            <a:avLst/>
          </a:prstGeom>
          <a:noFill/>
          <a:ln>
            <a:solidFill>
              <a:srgbClr val="FF0000"/>
            </a:solidFill>
          </a:ln>
        </p:spPr>
        <p:txBody>
          <a:bodyPr wrap="square" rtlCol="0">
            <a:spAutoFit/>
          </a:bodyPr>
          <a:lstStyle/>
          <a:p>
            <a:pPr algn="ctr"/>
            <a:r>
              <a:rPr lang="en-US" sz="2000" dirty="0">
                <a:solidFill>
                  <a:srgbClr val="FF0000"/>
                </a:solidFill>
              </a:rPr>
              <a:t>This is the </a:t>
            </a:r>
            <a:r>
              <a:rPr lang="en-US" sz="2000" b="1" dirty="0">
                <a:solidFill>
                  <a:srgbClr val="FF0000"/>
                </a:solidFill>
              </a:rPr>
              <a:t>incremental unit</a:t>
            </a:r>
            <a:r>
              <a:rPr lang="en-US" sz="2000" dirty="0">
                <a:solidFill>
                  <a:srgbClr val="FF0000"/>
                </a:solidFill>
              </a:rPr>
              <a:t> (</a:t>
            </a:r>
            <a:r>
              <a:rPr lang="en-US" sz="2000" b="1" dirty="0">
                <a:solidFill>
                  <a:srgbClr val="FF0000"/>
                </a:solidFill>
              </a:rPr>
              <a:t>marginal) cost</a:t>
            </a:r>
          </a:p>
        </p:txBody>
      </p:sp>
      <p:cxnSp>
        <p:nvCxnSpPr>
          <p:cNvPr id="20" name="Straight Arrow Connector 19"/>
          <p:cNvCxnSpPr>
            <a:stCxn id="21" idx="0"/>
          </p:cNvCxnSpPr>
          <p:nvPr/>
        </p:nvCxnSpPr>
        <p:spPr>
          <a:xfrm flipV="1">
            <a:off x="5638800" y="2467907"/>
            <a:ext cx="0" cy="113143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724400" y="3599338"/>
            <a:ext cx="1828800" cy="707886"/>
          </a:xfrm>
          <a:prstGeom prst="rect">
            <a:avLst/>
          </a:prstGeom>
          <a:noFill/>
          <a:ln>
            <a:solidFill>
              <a:srgbClr val="FF0000"/>
            </a:solidFill>
          </a:ln>
        </p:spPr>
        <p:txBody>
          <a:bodyPr wrap="square" rtlCol="0">
            <a:spAutoFit/>
          </a:bodyPr>
          <a:lstStyle/>
          <a:p>
            <a:pPr algn="ctr"/>
            <a:r>
              <a:rPr lang="en-US" sz="2000" dirty="0">
                <a:solidFill>
                  <a:srgbClr val="FF0000"/>
                </a:solidFill>
              </a:rPr>
              <a:t>This is the</a:t>
            </a:r>
          </a:p>
          <a:p>
            <a:pPr algn="ctr"/>
            <a:r>
              <a:rPr lang="en-US" sz="2000" b="1" dirty="0">
                <a:solidFill>
                  <a:srgbClr val="FF0000"/>
                </a:solidFill>
              </a:rPr>
              <a:t>total fixed cost</a:t>
            </a:r>
          </a:p>
        </p:txBody>
      </p:sp>
      <p:sp>
        <p:nvSpPr>
          <p:cNvPr id="43" name="Rectangle 42"/>
          <p:cNvSpPr/>
          <p:nvPr/>
        </p:nvSpPr>
        <p:spPr>
          <a:xfrm>
            <a:off x="614310" y="5029200"/>
            <a:ext cx="8531352" cy="1138773"/>
          </a:xfrm>
          <a:prstGeom prst="rect">
            <a:avLst/>
          </a:prstGeom>
        </p:spPr>
        <p:txBody>
          <a:bodyPr wrap="square">
            <a:spAutoFit/>
          </a:bodyPr>
          <a:lstStyle/>
          <a:p>
            <a:pPr marL="342900" indent="-342900">
              <a:spcBef>
                <a:spcPts val="1200"/>
              </a:spcBef>
              <a:spcAft>
                <a:spcPts val="1200"/>
              </a:spcAft>
              <a:buClr>
                <a:schemeClr val="accent2"/>
              </a:buClr>
              <a:buSzPct val="60000"/>
              <a:buFont typeface="Wingdings" pitchFamily="2" charset="2"/>
              <a:buChar char="q"/>
            </a:pPr>
            <a:r>
              <a:rPr lang="en-US" u="sng" dirty="0">
                <a:latin typeface="+mn-lt"/>
              </a:rPr>
              <a:t>Calculus</a:t>
            </a:r>
            <a:r>
              <a:rPr lang="en-US" dirty="0">
                <a:latin typeface="+mn-lt"/>
              </a:rPr>
              <a:t>: </a:t>
            </a:r>
            <a:r>
              <a:rPr lang="en-US" b="1" dirty="0">
                <a:solidFill>
                  <a:srgbClr val="FF0000"/>
                </a:solidFill>
                <a:effectLst>
                  <a:outerShdw blurRad="38100" dist="38100" dir="2700000" algn="tl">
                    <a:srgbClr val="000000">
                      <a:alpha val="43137"/>
                    </a:srgbClr>
                  </a:outerShdw>
                </a:effectLst>
                <a:latin typeface="+mn-lt"/>
              </a:rPr>
              <a:t>F</a:t>
            </a:r>
            <a:r>
              <a:rPr lang="en-US" dirty="0">
                <a:latin typeface="+mn-lt"/>
              </a:rPr>
              <a:t> drops out of derivative b/c doesn’t interact with price!</a:t>
            </a:r>
          </a:p>
          <a:p>
            <a:pPr marL="342900" indent="-342900">
              <a:spcBef>
                <a:spcPts val="1200"/>
              </a:spcBef>
              <a:spcAft>
                <a:spcPts val="1200"/>
              </a:spcAft>
              <a:buClr>
                <a:schemeClr val="accent2"/>
              </a:buClr>
              <a:buSzPct val="60000"/>
              <a:buFont typeface="Wingdings" pitchFamily="2" charset="2"/>
              <a:buChar char="q"/>
            </a:pPr>
            <a:r>
              <a:rPr lang="en-US" u="sng" dirty="0">
                <a:latin typeface="+mn-lt"/>
              </a:rPr>
              <a:t>Intuition</a:t>
            </a:r>
            <a:r>
              <a:rPr lang="en-US" dirty="0">
                <a:latin typeface="+mn-lt"/>
              </a:rPr>
              <a:t>: price decision cannot help you avoid paying fixed cost</a:t>
            </a:r>
            <a:r>
              <a:rPr lang="en-US" dirty="0">
                <a:latin typeface="+mj-lt"/>
              </a:rPr>
              <a:t> </a:t>
            </a:r>
            <a:r>
              <a:rPr lang="en-US" b="1" dirty="0">
                <a:solidFill>
                  <a:srgbClr val="FF0000"/>
                </a:solidFill>
                <a:effectLst>
                  <a:outerShdw blurRad="38100" dist="38100" dir="2700000" algn="tl">
                    <a:srgbClr val="000000">
                      <a:alpha val="43137"/>
                    </a:srgbClr>
                  </a:outerShdw>
                </a:effectLst>
                <a:latin typeface="+mj-lt"/>
              </a:rPr>
              <a:t>F</a:t>
            </a:r>
            <a:r>
              <a:rPr lang="en-US" b="1" dirty="0">
                <a:latin typeface="+mn-lt"/>
              </a:rPr>
              <a:t>.</a:t>
            </a:r>
            <a:endParaRPr lang="en-US" dirty="0">
              <a:latin typeface="+mn-lt"/>
            </a:endParaRPr>
          </a:p>
        </p:txBody>
      </p:sp>
      <p:sp>
        <p:nvSpPr>
          <p:cNvPr id="5" name="Slide Number Placeholder 4"/>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10</a:t>
            </a:fld>
            <a:endParaRPr lang="en-US"/>
          </a:p>
        </p:txBody>
      </p:sp>
    </p:spTree>
    <p:extLst>
      <p:ext uri="{BB962C8B-B14F-4D97-AF65-F5344CB8AC3E}">
        <p14:creationId xmlns:p14="http://schemas.microsoft.com/office/powerpoint/2010/main" val="3064595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1" grpId="0" animBg="1"/>
      <p:bldP spid="4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11</a:t>
            </a:fld>
            <a:endParaRPr lang="en-US"/>
          </a:p>
        </p:txBody>
      </p:sp>
      <p:graphicFrame>
        <p:nvGraphicFramePr>
          <p:cNvPr id="16" name="Content Placeholder 15"/>
          <p:cNvGraphicFramePr>
            <a:graphicFrameLocks noGrp="1"/>
          </p:cNvGraphicFramePr>
          <p:nvPr>
            <p:ph sz="quarter" idx="1"/>
          </p:nvPr>
        </p:nvGraphicFramePr>
        <p:xfrm>
          <a:off x="612775" y="1600200"/>
          <a:ext cx="8153400" cy="4495800"/>
        </p:xfrm>
        <a:graphic>
          <a:graphicData uri="http://schemas.openxmlformats.org/drawingml/2006/chart">
            <c:chart xmlns:c="http://schemas.openxmlformats.org/drawingml/2006/chart" xmlns:r="http://schemas.openxmlformats.org/officeDocument/2006/relationships" r:id="rId2"/>
          </a:graphicData>
        </a:graphic>
      </p:graphicFrame>
      <p:sp>
        <p:nvSpPr>
          <p:cNvPr id="18" name="Title 1"/>
          <p:cNvSpPr>
            <a:spLocks noGrp="1"/>
          </p:cNvSpPr>
          <p:nvPr>
            <p:ph type="title"/>
          </p:nvPr>
        </p:nvSpPr>
        <p:spPr/>
        <p:txBody>
          <a:bodyPr>
            <a:normAutofit fontScale="90000"/>
          </a:bodyPr>
          <a:lstStyle/>
          <a:p>
            <a:r>
              <a:rPr lang="en-US" sz="4400" dirty="0"/>
              <a:t>A graphical approach to the math</a:t>
            </a:r>
            <a:br>
              <a:rPr lang="en-US" sz="4400" dirty="0"/>
            </a:br>
            <a:r>
              <a:rPr lang="en-US" sz="3600" dirty="0"/>
              <a:t>Recall the </a:t>
            </a:r>
            <a:r>
              <a:rPr lang="en-US" sz="3600" dirty="0" err="1"/>
              <a:t>Kone</a:t>
            </a:r>
            <a:r>
              <a:rPr lang="en-US" sz="3600" dirty="0"/>
              <a:t> case</a:t>
            </a:r>
          </a:p>
        </p:txBody>
      </p:sp>
    </p:spTree>
    <p:extLst>
      <p:ext uri="{BB962C8B-B14F-4D97-AF65-F5344CB8AC3E}">
        <p14:creationId xmlns:p14="http://schemas.microsoft.com/office/powerpoint/2010/main" val="318722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quarter" idx="1"/>
          </p:nvPr>
        </p:nvGraphicFramePr>
        <p:xfrm>
          <a:off x="612775" y="1600200"/>
          <a:ext cx="8153400" cy="4495800"/>
        </p:xfrm>
        <a:graphic>
          <a:graphicData uri="http://schemas.openxmlformats.org/drawingml/2006/chart">
            <c:chart xmlns:c="http://schemas.openxmlformats.org/drawingml/2006/chart" xmlns:r="http://schemas.openxmlformats.org/officeDocument/2006/relationships" r:id="rId2"/>
          </a:graphicData>
        </a:graphic>
      </p:graphicFrame>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12</a:t>
            </a:fld>
            <a:endParaRPr lang="en-US"/>
          </a:p>
        </p:txBody>
      </p:sp>
      <p:sp>
        <p:nvSpPr>
          <p:cNvPr id="6" name="Title 1"/>
          <p:cNvSpPr>
            <a:spLocks noGrp="1"/>
          </p:cNvSpPr>
          <p:nvPr>
            <p:ph type="title"/>
          </p:nvPr>
        </p:nvSpPr>
        <p:spPr/>
        <p:txBody>
          <a:bodyPr>
            <a:normAutofit fontScale="90000"/>
          </a:bodyPr>
          <a:lstStyle/>
          <a:p>
            <a:r>
              <a:rPr lang="en-US" sz="4400" dirty="0"/>
              <a:t>A graphical approach to the math</a:t>
            </a:r>
            <a:br>
              <a:rPr lang="en-US" sz="4400" dirty="0"/>
            </a:br>
            <a:r>
              <a:rPr lang="en-US" sz="3600" dirty="0"/>
              <a:t>Recall the </a:t>
            </a:r>
            <a:r>
              <a:rPr lang="en-US" sz="3600" dirty="0" err="1"/>
              <a:t>Kone</a:t>
            </a:r>
            <a:r>
              <a:rPr lang="en-US" sz="3600" dirty="0"/>
              <a:t> case</a:t>
            </a:r>
          </a:p>
        </p:txBody>
      </p:sp>
      <p:sp>
        <p:nvSpPr>
          <p:cNvPr id="7" name="TextBox 6"/>
          <p:cNvSpPr txBox="1">
            <a:spLocks noChangeArrowheads="1"/>
          </p:cNvSpPr>
          <p:nvPr/>
        </p:nvSpPr>
        <p:spPr bwMode="auto">
          <a:xfrm>
            <a:off x="7620000" y="3124200"/>
            <a:ext cx="1371600" cy="1938992"/>
          </a:xfrm>
          <a:prstGeom prst="rect">
            <a:avLst/>
          </a:prstGeom>
          <a:noFill/>
          <a:ln w="9525">
            <a:solidFill>
              <a:srgbClr val="FF0000"/>
            </a:solidFill>
            <a:miter lim="800000"/>
            <a:headEnd/>
            <a:tailEnd/>
          </a:ln>
        </p:spPr>
        <p:txBody>
          <a:bodyPr wrap="square">
            <a:spAutoFit/>
          </a:bodyPr>
          <a:lstStyle/>
          <a:p>
            <a:pPr algn="ctr"/>
            <a:r>
              <a:rPr lang="en-US" sz="2000" dirty="0">
                <a:solidFill>
                  <a:srgbClr val="FF0000"/>
                </a:solidFill>
              </a:rPr>
              <a:t>Fixed costs don’t </a:t>
            </a:r>
          </a:p>
          <a:p>
            <a:pPr algn="ctr"/>
            <a:r>
              <a:rPr lang="en-US" sz="2000" dirty="0">
                <a:solidFill>
                  <a:srgbClr val="FF0000"/>
                </a:solidFill>
              </a:rPr>
              <a:t>affect optimal </a:t>
            </a:r>
          </a:p>
          <a:p>
            <a:pPr algn="ctr"/>
            <a:r>
              <a:rPr lang="en-US" sz="2000" dirty="0">
                <a:solidFill>
                  <a:srgbClr val="FF0000"/>
                </a:solidFill>
              </a:rPr>
              <a:t>price level!!!</a:t>
            </a:r>
          </a:p>
        </p:txBody>
      </p:sp>
      <p:cxnSp>
        <p:nvCxnSpPr>
          <p:cNvPr id="8" name="Straight Arrow Connector 7"/>
          <p:cNvCxnSpPr>
            <a:cxnSpLocks noChangeShapeType="1"/>
          </p:cNvCxnSpPr>
          <p:nvPr/>
        </p:nvCxnSpPr>
        <p:spPr bwMode="auto">
          <a:xfrm flipH="1" flipV="1">
            <a:off x="7543800" y="2743200"/>
            <a:ext cx="641350" cy="350520"/>
          </a:xfrm>
          <a:prstGeom prst="straightConnector1">
            <a:avLst/>
          </a:prstGeom>
          <a:noFill/>
          <a:ln w="12700" algn="ctr">
            <a:solidFill>
              <a:srgbClr val="FF0000"/>
            </a:solidFill>
            <a:round/>
            <a:headEnd/>
            <a:tailEnd type="arrow" w="med" len="med"/>
          </a:ln>
        </p:spPr>
      </p:cxnSp>
      <p:cxnSp>
        <p:nvCxnSpPr>
          <p:cNvPr id="9" name="Straight Connector 8"/>
          <p:cNvCxnSpPr/>
          <p:nvPr/>
        </p:nvCxnSpPr>
        <p:spPr>
          <a:xfrm>
            <a:off x="4937760" y="2514600"/>
            <a:ext cx="38100" cy="3962400"/>
          </a:xfrm>
          <a:prstGeom prst="line">
            <a:avLst/>
          </a:prstGeom>
          <a:ln w="349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689348" y="6416388"/>
            <a:ext cx="510076" cy="461665"/>
          </a:xfrm>
          <a:prstGeom prst="rect">
            <a:avLst/>
          </a:prstGeom>
          <a:noFill/>
        </p:spPr>
        <p:txBody>
          <a:bodyPr wrap="none" rtlCol="0">
            <a:spAutoFit/>
          </a:bodyPr>
          <a:lstStyle/>
          <a:p>
            <a:r>
              <a:rPr lang="en-US" b="1" dirty="0">
                <a:solidFill>
                  <a:srgbClr val="FF0000"/>
                </a:solidFill>
                <a:effectLst>
                  <a:outerShdw blurRad="38100" dist="38100" dir="2700000" algn="tl">
                    <a:srgbClr val="000000">
                      <a:alpha val="43137"/>
                    </a:srgbClr>
                  </a:outerShdw>
                </a:effectLst>
              </a:rPr>
              <a:t>p</a:t>
            </a:r>
            <a:r>
              <a:rPr lang="en-US" dirty="0">
                <a:solidFill>
                  <a:srgbClr val="FF0000"/>
                </a:solidFill>
              </a:rPr>
              <a:t>*</a:t>
            </a:r>
          </a:p>
        </p:txBody>
      </p:sp>
    </p:spTree>
    <p:extLst>
      <p:ext uri="{BB962C8B-B14F-4D97-AF65-F5344CB8AC3E}">
        <p14:creationId xmlns:p14="http://schemas.microsoft.com/office/powerpoint/2010/main" val="3358329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6"/>
          <p:cNvSpPr>
            <a:spLocks noChangeArrowheads="1"/>
          </p:cNvSpPr>
          <p:nvPr/>
        </p:nvSpPr>
        <p:spPr bwMode="auto">
          <a:xfrm>
            <a:off x="3301448" y="1828801"/>
            <a:ext cx="3494088" cy="541338"/>
          </a:xfrm>
          <a:prstGeom prst="rect">
            <a:avLst/>
          </a:prstGeom>
          <a:solidFill>
            <a:srgbClr val="CCFFFF"/>
          </a:solidFill>
          <a:ln w="9525">
            <a:noFill/>
            <a:miter lim="800000"/>
            <a:headEnd/>
            <a:tailEnd/>
          </a:ln>
        </p:spPr>
        <p:txBody>
          <a:bodyPr/>
          <a:lstStyle/>
          <a:p>
            <a:endParaRPr lang="en-US"/>
          </a:p>
        </p:txBody>
      </p:sp>
      <p:sp>
        <p:nvSpPr>
          <p:cNvPr id="18435" name="Rectangle 29"/>
          <p:cNvSpPr>
            <a:spLocks noChangeArrowheads="1"/>
          </p:cNvSpPr>
          <p:nvPr/>
        </p:nvSpPr>
        <p:spPr bwMode="auto">
          <a:xfrm>
            <a:off x="3301448" y="1828801"/>
            <a:ext cx="3494088" cy="541338"/>
          </a:xfrm>
          <a:prstGeom prst="rect">
            <a:avLst/>
          </a:prstGeom>
          <a:solidFill>
            <a:srgbClr val="CCFFFF"/>
          </a:solidFill>
          <a:ln w="12700">
            <a:solidFill>
              <a:srgbClr val="5490A8"/>
            </a:solidFill>
            <a:miter lim="800000"/>
            <a:headEnd/>
            <a:tailEnd/>
          </a:ln>
        </p:spPr>
        <p:txBody>
          <a:bodyPr/>
          <a:lstStyle/>
          <a:p>
            <a:endParaRPr lang="en-US"/>
          </a:p>
        </p:txBody>
      </p:sp>
      <p:sp>
        <p:nvSpPr>
          <p:cNvPr id="18436" name="Rectangle 2"/>
          <p:cNvSpPr>
            <a:spLocks noGrp="1" noChangeArrowheads="1"/>
          </p:cNvSpPr>
          <p:nvPr>
            <p:ph type="title"/>
          </p:nvPr>
        </p:nvSpPr>
        <p:spPr>
          <a:xfrm>
            <a:off x="612648" y="228600"/>
            <a:ext cx="7772400" cy="1143000"/>
          </a:xfrm>
          <a:noFill/>
        </p:spPr>
        <p:txBody>
          <a:bodyPr lIns="90488" tIns="44450" rIns="90488" bIns="44450" anchor="b"/>
          <a:lstStyle/>
          <a:p>
            <a:r>
              <a:rPr lang="en-US" sz="4000" dirty="0"/>
              <a:t>So what about those Fixed Costs?</a:t>
            </a:r>
            <a:br>
              <a:rPr lang="en-US" sz="4000" dirty="0"/>
            </a:br>
            <a:r>
              <a:rPr lang="en-US" sz="3200" dirty="0"/>
              <a:t>Two-Stage Decision Process</a:t>
            </a:r>
          </a:p>
        </p:txBody>
      </p:sp>
      <p:sp>
        <p:nvSpPr>
          <p:cNvPr id="18437" name="Line 4"/>
          <p:cNvSpPr>
            <a:spLocks noChangeShapeType="1"/>
          </p:cNvSpPr>
          <p:nvPr/>
        </p:nvSpPr>
        <p:spPr bwMode="auto">
          <a:xfrm>
            <a:off x="5046111" y="2370138"/>
            <a:ext cx="0" cy="607720"/>
          </a:xfrm>
          <a:prstGeom prst="line">
            <a:avLst/>
          </a:prstGeom>
          <a:noFill/>
          <a:ln w="12700">
            <a:solidFill>
              <a:srgbClr val="000000"/>
            </a:solidFill>
            <a:round/>
            <a:headEnd/>
            <a:tailEnd/>
          </a:ln>
        </p:spPr>
        <p:txBody>
          <a:bodyPr/>
          <a:lstStyle/>
          <a:p>
            <a:endParaRPr lang="en-US" dirty="0"/>
          </a:p>
        </p:txBody>
      </p:sp>
      <p:sp>
        <p:nvSpPr>
          <p:cNvPr id="18438" name="Line 5"/>
          <p:cNvSpPr>
            <a:spLocks noChangeShapeType="1"/>
          </p:cNvSpPr>
          <p:nvPr/>
        </p:nvSpPr>
        <p:spPr bwMode="auto">
          <a:xfrm>
            <a:off x="3234773" y="2977858"/>
            <a:ext cx="1588" cy="141287"/>
          </a:xfrm>
          <a:prstGeom prst="line">
            <a:avLst/>
          </a:prstGeom>
          <a:noFill/>
          <a:ln w="12700">
            <a:solidFill>
              <a:srgbClr val="000000"/>
            </a:solidFill>
            <a:round/>
            <a:headEnd/>
            <a:tailEnd/>
          </a:ln>
        </p:spPr>
        <p:txBody>
          <a:bodyPr/>
          <a:lstStyle/>
          <a:p>
            <a:endParaRPr lang="en-US"/>
          </a:p>
        </p:txBody>
      </p:sp>
      <p:sp>
        <p:nvSpPr>
          <p:cNvPr id="18439" name="Line 6"/>
          <p:cNvSpPr>
            <a:spLocks noChangeShapeType="1"/>
          </p:cNvSpPr>
          <p:nvPr/>
        </p:nvSpPr>
        <p:spPr bwMode="auto">
          <a:xfrm>
            <a:off x="6874911" y="2977858"/>
            <a:ext cx="1587" cy="141287"/>
          </a:xfrm>
          <a:prstGeom prst="line">
            <a:avLst/>
          </a:prstGeom>
          <a:noFill/>
          <a:ln w="12700">
            <a:solidFill>
              <a:srgbClr val="000000"/>
            </a:solidFill>
            <a:round/>
            <a:headEnd/>
            <a:tailEnd/>
          </a:ln>
        </p:spPr>
        <p:txBody>
          <a:bodyPr/>
          <a:lstStyle/>
          <a:p>
            <a:endParaRPr lang="en-US"/>
          </a:p>
        </p:txBody>
      </p:sp>
      <p:sp>
        <p:nvSpPr>
          <p:cNvPr id="18440" name="Line 7"/>
          <p:cNvSpPr>
            <a:spLocks noChangeShapeType="1"/>
          </p:cNvSpPr>
          <p:nvPr/>
        </p:nvSpPr>
        <p:spPr bwMode="auto">
          <a:xfrm>
            <a:off x="3234773" y="2977858"/>
            <a:ext cx="1811338" cy="1587"/>
          </a:xfrm>
          <a:prstGeom prst="line">
            <a:avLst/>
          </a:prstGeom>
          <a:noFill/>
          <a:ln w="12700">
            <a:solidFill>
              <a:srgbClr val="000000"/>
            </a:solidFill>
            <a:round/>
            <a:headEnd/>
            <a:tailEnd/>
          </a:ln>
        </p:spPr>
        <p:txBody>
          <a:bodyPr/>
          <a:lstStyle/>
          <a:p>
            <a:endParaRPr lang="en-US"/>
          </a:p>
        </p:txBody>
      </p:sp>
      <p:sp>
        <p:nvSpPr>
          <p:cNvPr id="18441" name="Line 8"/>
          <p:cNvSpPr>
            <a:spLocks noChangeShapeType="1"/>
          </p:cNvSpPr>
          <p:nvPr/>
        </p:nvSpPr>
        <p:spPr bwMode="auto">
          <a:xfrm>
            <a:off x="5046111" y="2982100"/>
            <a:ext cx="1828800" cy="1587"/>
          </a:xfrm>
          <a:prstGeom prst="line">
            <a:avLst/>
          </a:prstGeom>
          <a:noFill/>
          <a:ln w="12700">
            <a:solidFill>
              <a:srgbClr val="000000"/>
            </a:solidFill>
            <a:round/>
            <a:headEnd/>
            <a:tailEnd/>
          </a:ln>
        </p:spPr>
        <p:txBody>
          <a:bodyPr/>
          <a:lstStyle/>
          <a:p>
            <a:endParaRPr lang="en-US"/>
          </a:p>
        </p:txBody>
      </p:sp>
      <p:sp>
        <p:nvSpPr>
          <p:cNvPr id="18442" name="Line 9"/>
          <p:cNvSpPr>
            <a:spLocks noChangeShapeType="1"/>
          </p:cNvSpPr>
          <p:nvPr/>
        </p:nvSpPr>
        <p:spPr bwMode="auto">
          <a:xfrm>
            <a:off x="3234773" y="4090695"/>
            <a:ext cx="0" cy="722824"/>
          </a:xfrm>
          <a:prstGeom prst="line">
            <a:avLst/>
          </a:prstGeom>
          <a:noFill/>
          <a:ln w="12700">
            <a:solidFill>
              <a:srgbClr val="000000"/>
            </a:solidFill>
            <a:round/>
            <a:headEnd/>
            <a:tailEnd/>
          </a:ln>
        </p:spPr>
        <p:txBody>
          <a:bodyPr/>
          <a:lstStyle/>
          <a:p>
            <a:endParaRPr lang="en-US"/>
          </a:p>
        </p:txBody>
      </p:sp>
      <p:sp>
        <p:nvSpPr>
          <p:cNvPr id="18443" name="Rectangle 10"/>
          <p:cNvSpPr>
            <a:spLocks noChangeArrowheads="1"/>
          </p:cNvSpPr>
          <p:nvPr/>
        </p:nvSpPr>
        <p:spPr bwMode="auto">
          <a:xfrm>
            <a:off x="1475823" y="4795545"/>
            <a:ext cx="3517900" cy="766762"/>
          </a:xfrm>
          <a:prstGeom prst="rect">
            <a:avLst/>
          </a:prstGeom>
          <a:solidFill>
            <a:srgbClr val="CCFFFF"/>
          </a:solidFill>
          <a:ln w="9525">
            <a:noFill/>
            <a:miter lim="800000"/>
            <a:headEnd/>
            <a:tailEnd/>
          </a:ln>
        </p:spPr>
        <p:txBody>
          <a:bodyPr/>
          <a:lstStyle/>
          <a:p>
            <a:endParaRPr lang="en-US"/>
          </a:p>
        </p:txBody>
      </p:sp>
      <p:sp>
        <p:nvSpPr>
          <p:cNvPr id="18444" name="Rectangle 11"/>
          <p:cNvSpPr>
            <a:spLocks noChangeArrowheads="1"/>
          </p:cNvSpPr>
          <p:nvPr/>
        </p:nvSpPr>
        <p:spPr bwMode="auto">
          <a:xfrm>
            <a:off x="2818848" y="4857457"/>
            <a:ext cx="904875" cy="273050"/>
          </a:xfrm>
          <a:prstGeom prst="rect">
            <a:avLst/>
          </a:prstGeom>
          <a:noFill/>
          <a:ln w="9525">
            <a:noFill/>
            <a:miter lim="800000"/>
            <a:headEnd/>
            <a:tailEnd/>
          </a:ln>
        </p:spPr>
        <p:txBody>
          <a:bodyPr wrap="none" lIns="0" tIns="0" rIns="0" bIns="0">
            <a:spAutoFit/>
          </a:bodyPr>
          <a:lstStyle/>
          <a:p>
            <a:r>
              <a:rPr lang="en-US" sz="1500" b="1">
                <a:solidFill>
                  <a:srgbClr val="000000"/>
                </a:solidFill>
                <a:latin typeface="Arial" pitchFamily="34" charset="0"/>
              </a:rPr>
              <a:t>STAGE 2</a:t>
            </a:r>
            <a:endParaRPr lang="en-US"/>
          </a:p>
        </p:txBody>
      </p:sp>
      <p:sp>
        <p:nvSpPr>
          <p:cNvPr id="18445" name="Rectangle 12"/>
          <p:cNvSpPr>
            <a:spLocks noChangeArrowheads="1"/>
          </p:cNvSpPr>
          <p:nvPr/>
        </p:nvSpPr>
        <p:spPr bwMode="auto">
          <a:xfrm>
            <a:off x="1542498" y="5087645"/>
            <a:ext cx="3409950" cy="236537"/>
          </a:xfrm>
          <a:prstGeom prst="rect">
            <a:avLst/>
          </a:prstGeom>
          <a:noFill/>
          <a:ln w="9525">
            <a:noFill/>
            <a:miter lim="800000"/>
            <a:headEnd/>
            <a:tailEnd/>
          </a:ln>
        </p:spPr>
        <p:txBody>
          <a:bodyPr wrap="none" lIns="0" tIns="0" rIns="0" bIns="0">
            <a:spAutoFit/>
          </a:bodyPr>
          <a:lstStyle/>
          <a:p>
            <a:r>
              <a:rPr lang="en-US" sz="1300">
                <a:solidFill>
                  <a:srgbClr val="000000"/>
                </a:solidFill>
                <a:latin typeface="Arial" pitchFamily="34" charset="0"/>
              </a:rPr>
              <a:t>Identify the relevant costs for pricing decision</a:t>
            </a:r>
            <a:endParaRPr lang="en-US"/>
          </a:p>
        </p:txBody>
      </p:sp>
      <p:sp>
        <p:nvSpPr>
          <p:cNvPr id="18446" name="Rectangle 13"/>
          <p:cNvSpPr>
            <a:spLocks noChangeArrowheads="1"/>
          </p:cNvSpPr>
          <p:nvPr/>
        </p:nvSpPr>
        <p:spPr bwMode="auto">
          <a:xfrm>
            <a:off x="2350536" y="5287670"/>
            <a:ext cx="1784143" cy="200055"/>
          </a:xfrm>
          <a:prstGeom prst="rect">
            <a:avLst/>
          </a:prstGeom>
          <a:noFill/>
          <a:ln w="9525">
            <a:noFill/>
            <a:miter lim="800000"/>
            <a:headEnd/>
            <a:tailEnd/>
          </a:ln>
        </p:spPr>
        <p:txBody>
          <a:bodyPr wrap="none" lIns="0" tIns="0" rIns="0" bIns="0">
            <a:spAutoFit/>
          </a:bodyPr>
          <a:lstStyle/>
          <a:p>
            <a:r>
              <a:rPr lang="en-US" sz="1300" dirty="0">
                <a:solidFill>
                  <a:srgbClr val="000000"/>
                </a:solidFill>
                <a:latin typeface="Arial" pitchFamily="34" charset="0"/>
              </a:rPr>
              <a:t>(e.g., ignore fixed costs)</a:t>
            </a:r>
            <a:endParaRPr lang="en-US" dirty="0"/>
          </a:p>
        </p:txBody>
      </p:sp>
      <p:sp>
        <p:nvSpPr>
          <p:cNvPr id="18447" name="Rectangle 14"/>
          <p:cNvSpPr>
            <a:spLocks noChangeArrowheads="1"/>
          </p:cNvSpPr>
          <p:nvPr/>
        </p:nvSpPr>
        <p:spPr bwMode="auto">
          <a:xfrm>
            <a:off x="1475823" y="4795545"/>
            <a:ext cx="3517900" cy="766762"/>
          </a:xfrm>
          <a:prstGeom prst="rect">
            <a:avLst/>
          </a:prstGeom>
          <a:noFill/>
          <a:ln w="20701">
            <a:solidFill>
              <a:srgbClr val="5490A8"/>
            </a:solidFill>
            <a:miter lim="800000"/>
            <a:headEnd/>
            <a:tailEnd/>
          </a:ln>
        </p:spPr>
        <p:txBody>
          <a:bodyPr/>
          <a:lstStyle/>
          <a:p>
            <a:endParaRPr lang="en-US"/>
          </a:p>
        </p:txBody>
      </p:sp>
      <p:sp>
        <p:nvSpPr>
          <p:cNvPr id="18448" name="Rectangle 15"/>
          <p:cNvSpPr>
            <a:spLocks noChangeArrowheads="1"/>
          </p:cNvSpPr>
          <p:nvPr/>
        </p:nvSpPr>
        <p:spPr bwMode="auto">
          <a:xfrm>
            <a:off x="1504950" y="3149307"/>
            <a:ext cx="3494088" cy="941388"/>
          </a:xfrm>
          <a:prstGeom prst="rect">
            <a:avLst/>
          </a:prstGeom>
          <a:solidFill>
            <a:srgbClr val="CCFFFF"/>
          </a:solidFill>
          <a:ln w="9525">
            <a:noFill/>
            <a:miter lim="800000"/>
            <a:headEnd/>
            <a:tailEnd/>
          </a:ln>
        </p:spPr>
        <p:txBody>
          <a:bodyPr/>
          <a:lstStyle/>
          <a:p>
            <a:endParaRPr lang="en-US"/>
          </a:p>
        </p:txBody>
      </p:sp>
      <p:sp>
        <p:nvSpPr>
          <p:cNvPr id="18449" name="Rectangle 16"/>
          <p:cNvSpPr>
            <a:spLocks noChangeArrowheads="1"/>
          </p:cNvSpPr>
          <p:nvPr/>
        </p:nvSpPr>
        <p:spPr bwMode="auto">
          <a:xfrm>
            <a:off x="3054350" y="3196932"/>
            <a:ext cx="474663" cy="273050"/>
          </a:xfrm>
          <a:prstGeom prst="rect">
            <a:avLst/>
          </a:prstGeom>
          <a:noFill/>
          <a:ln w="9525">
            <a:noFill/>
            <a:miter lim="800000"/>
            <a:headEnd/>
            <a:tailEnd/>
          </a:ln>
        </p:spPr>
        <p:txBody>
          <a:bodyPr wrap="none" lIns="0" tIns="0" rIns="0" bIns="0">
            <a:spAutoFit/>
          </a:bodyPr>
          <a:lstStyle/>
          <a:p>
            <a:r>
              <a:rPr lang="en-US" sz="1500" b="1">
                <a:solidFill>
                  <a:srgbClr val="000000"/>
                </a:solidFill>
                <a:latin typeface="Arial" pitchFamily="34" charset="0"/>
              </a:rPr>
              <a:t>YES</a:t>
            </a:r>
            <a:endParaRPr lang="en-US"/>
          </a:p>
        </p:txBody>
      </p:sp>
      <p:sp>
        <p:nvSpPr>
          <p:cNvPr id="18450" name="Rectangle 17"/>
          <p:cNvSpPr>
            <a:spLocks noChangeArrowheads="1"/>
          </p:cNvSpPr>
          <p:nvPr/>
        </p:nvSpPr>
        <p:spPr bwMode="auto">
          <a:xfrm>
            <a:off x="3048000" y="3427120"/>
            <a:ext cx="468313" cy="236537"/>
          </a:xfrm>
          <a:prstGeom prst="rect">
            <a:avLst/>
          </a:prstGeom>
          <a:noFill/>
          <a:ln w="9525">
            <a:noFill/>
            <a:miter lim="800000"/>
            <a:headEnd/>
            <a:tailEnd/>
          </a:ln>
        </p:spPr>
        <p:txBody>
          <a:bodyPr wrap="none" lIns="0" tIns="0" rIns="0" bIns="0">
            <a:spAutoFit/>
          </a:bodyPr>
          <a:lstStyle/>
          <a:p>
            <a:r>
              <a:rPr lang="en-US" sz="1300">
                <a:solidFill>
                  <a:srgbClr val="000000"/>
                </a:solidFill>
                <a:latin typeface="Arial" pitchFamily="34" charset="0"/>
              </a:rPr>
              <a:t>Enter</a:t>
            </a:r>
            <a:endParaRPr lang="en-US"/>
          </a:p>
        </p:txBody>
      </p:sp>
      <p:sp>
        <p:nvSpPr>
          <p:cNvPr id="18451" name="Rectangle 18"/>
          <p:cNvSpPr>
            <a:spLocks noChangeArrowheads="1"/>
          </p:cNvSpPr>
          <p:nvPr/>
        </p:nvSpPr>
        <p:spPr bwMode="auto">
          <a:xfrm>
            <a:off x="2074863" y="3628732"/>
            <a:ext cx="2400300" cy="236538"/>
          </a:xfrm>
          <a:prstGeom prst="rect">
            <a:avLst/>
          </a:prstGeom>
          <a:noFill/>
          <a:ln w="9525">
            <a:noFill/>
            <a:miter lim="800000"/>
            <a:headEnd/>
            <a:tailEnd/>
          </a:ln>
        </p:spPr>
        <p:txBody>
          <a:bodyPr wrap="none" lIns="0" tIns="0" rIns="0" bIns="0">
            <a:spAutoFit/>
          </a:bodyPr>
          <a:lstStyle/>
          <a:p>
            <a:r>
              <a:rPr lang="en-US" sz="1300">
                <a:solidFill>
                  <a:srgbClr val="000000"/>
                </a:solidFill>
                <a:latin typeface="Arial" pitchFamily="34" charset="0"/>
              </a:rPr>
              <a:t>Incur fixed costs (startup costs)</a:t>
            </a:r>
            <a:endParaRPr lang="en-US"/>
          </a:p>
        </p:txBody>
      </p:sp>
      <p:sp>
        <p:nvSpPr>
          <p:cNvPr id="18452" name="Rectangle 19"/>
          <p:cNvSpPr>
            <a:spLocks noChangeArrowheads="1"/>
          </p:cNvSpPr>
          <p:nvPr/>
        </p:nvSpPr>
        <p:spPr bwMode="auto">
          <a:xfrm>
            <a:off x="1504950" y="3149307"/>
            <a:ext cx="3494088" cy="941388"/>
          </a:xfrm>
          <a:prstGeom prst="rect">
            <a:avLst/>
          </a:prstGeom>
          <a:noFill/>
          <a:ln w="12700">
            <a:solidFill>
              <a:srgbClr val="5490A8"/>
            </a:solidFill>
            <a:miter lim="800000"/>
            <a:headEnd/>
            <a:tailEnd/>
          </a:ln>
        </p:spPr>
        <p:txBody>
          <a:bodyPr/>
          <a:lstStyle/>
          <a:p>
            <a:endParaRPr lang="en-US"/>
          </a:p>
        </p:txBody>
      </p:sp>
      <p:sp>
        <p:nvSpPr>
          <p:cNvPr id="18453" name="Rectangle 20"/>
          <p:cNvSpPr>
            <a:spLocks noChangeArrowheads="1"/>
          </p:cNvSpPr>
          <p:nvPr/>
        </p:nvSpPr>
        <p:spPr bwMode="auto">
          <a:xfrm>
            <a:off x="5145088" y="3149307"/>
            <a:ext cx="3494087" cy="941388"/>
          </a:xfrm>
          <a:prstGeom prst="rect">
            <a:avLst/>
          </a:prstGeom>
          <a:solidFill>
            <a:srgbClr val="CCFFFF"/>
          </a:solidFill>
          <a:ln w="9525">
            <a:noFill/>
            <a:miter lim="800000"/>
            <a:headEnd/>
            <a:tailEnd/>
          </a:ln>
        </p:spPr>
        <p:txBody>
          <a:bodyPr/>
          <a:lstStyle/>
          <a:p>
            <a:endParaRPr lang="en-US"/>
          </a:p>
        </p:txBody>
      </p:sp>
      <p:sp>
        <p:nvSpPr>
          <p:cNvPr id="18454" name="Rectangle 21"/>
          <p:cNvSpPr>
            <a:spLocks noChangeArrowheads="1"/>
          </p:cNvSpPr>
          <p:nvPr/>
        </p:nvSpPr>
        <p:spPr bwMode="auto">
          <a:xfrm>
            <a:off x="6742113" y="3196932"/>
            <a:ext cx="376237" cy="273050"/>
          </a:xfrm>
          <a:prstGeom prst="rect">
            <a:avLst/>
          </a:prstGeom>
          <a:noFill/>
          <a:ln w="9525">
            <a:noFill/>
            <a:miter lim="800000"/>
            <a:headEnd/>
            <a:tailEnd/>
          </a:ln>
        </p:spPr>
        <p:txBody>
          <a:bodyPr wrap="none" lIns="0" tIns="0" rIns="0" bIns="0">
            <a:spAutoFit/>
          </a:bodyPr>
          <a:lstStyle/>
          <a:p>
            <a:r>
              <a:rPr lang="en-US" sz="1500" b="1">
                <a:solidFill>
                  <a:srgbClr val="000000"/>
                </a:solidFill>
                <a:latin typeface="Arial" pitchFamily="34" charset="0"/>
              </a:rPr>
              <a:t>NO</a:t>
            </a:r>
            <a:endParaRPr lang="en-US"/>
          </a:p>
        </p:txBody>
      </p:sp>
      <p:sp>
        <p:nvSpPr>
          <p:cNvPr id="18455" name="Rectangle 22"/>
          <p:cNvSpPr>
            <a:spLocks noChangeArrowheads="1"/>
          </p:cNvSpPr>
          <p:nvPr/>
        </p:nvSpPr>
        <p:spPr bwMode="auto">
          <a:xfrm>
            <a:off x="6183313" y="3427120"/>
            <a:ext cx="1465262" cy="236537"/>
          </a:xfrm>
          <a:prstGeom prst="rect">
            <a:avLst/>
          </a:prstGeom>
          <a:noFill/>
          <a:ln w="9525">
            <a:noFill/>
            <a:miter lim="800000"/>
            <a:headEnd/>
            <a:tailEnd/>
          </a:ln>
        </p:spPr>
        <p:txBody>
          <a:bodyPr wrap="none" lIns="0" tIns="0" rIns="0" bIns="0">
            <a:spAutoFit/>
          </a:bodyPr>
          <a:lstStyle/>
          <a:p>
            <a:r>
              <a:rPr lang="en-US" sz="1300">
                <a:solidFill>
                  <a:srgbClr val="000000"/>
                </a:solidFill>
                <a:latin typeface="Arial" pitchFamily="34" charset="0"/>
              </a:rPr>
              <a:t>Do Not Enter / Exit</a:t>
            </a:r>
            <a:endParaRPr lang="en-US"/>
          </a:p>
        </p:txBody>
      </p:sp>
      <p:sp>
        <p:nvSpPr>
          <p:cNvPr id="18456" name="Rectangle 23"/>
          <p:cNvSpPr>
            <a:spLocks noChangeArrowheads="1"/>
          </p:cNvSpPr>
          <p:nvPr/>
        </p:nvSpPr>
        <p:spPr bwMode="auto">
          <a:xfrm>
            <a:off x="5776913" y="3628732"/>
            <a:ext cx="2266950" cy="236538"/>
          </a:xfrm>
          <a:prstGeom prst="rect">
            <a:avLst/>
          </a:prstGeom>
          <a:noFill/>
          <a:ln w="9525">
            <a:noFill/>
            <a:miter lim="800000"/>
            <a:headEnd/>
            <a:tailEnd/>
          </a:ln>
        </p:spPr>
        <p:txBody>
          <a:bodyPr wrap="none" lIns="0" tIns="0" rIns="0" bIns="0">
            <a:spAutoFit/>
          </a:bodyPr>
          <a:lstStyle/>
          <a:p>
            <a:r>
              <a:rPr lang="en-US" sz="1300">
                <a:solidFill>
                  <a:srgbClr val="000000"/>
                </a:solidFill>
                <a:latin typeface="Arial" pitchFamily="34" charset="0"/>
              </a:rPr>
              <a:t>Do Not Incur Additional Costs</a:t>
            </a:r>
            <a:endParaRPr lang="en-US"/>
          </a:p>
        </p:txBody>
      </p:sp>
      <p:sp>
        <p:nvSpPr>
          <p:cNvPr id="18457" name="Rectangle 24"/>
          <p:cNvSpPr>
            <a:spLocks noChangeArrowheads="1"/>
          </p:cNvSpPr>
          <p:nvPr/>
        </p:nvSpPr>
        <p:spPr bwMode="auto">
          <a:xfrm>
            <a:off x="6189663" y="3828757"/>
            <a:ext cx="1433512" cy="236538"/>
          </a:xfrm>
          <a:prstGeom prst="rect">
            <a:avLst/>
          </a:prstGeom>
          <a:noFill/>
          <a:ln w="9525">
            <a:noFill/>
            <a:miter lim="800000"/>
            <a:headEnd/>
            <a:tailEnd/>
          </a:ln>
        </p:spPr>
        <p:txBody>
          <a:bodyPr wrap="none" lIns="0" tIns="0" rIns="0" bIns="0">
            <a:spAutoFit/>
          </a:bodyPr>
          <a:lstStyle/>
          <a:p>
            <a:r>
              <a:rPr lang="en-US" sz="1300">
                <a:solidFill>
                  <a:srgbClr val="000000"/>
                </a:solidFill>
                <a:latin typeface="Arial" pitchFamily="34" charset="0"/>
              </a:rPr>
              <a:t>(Fixed or Variable)</a:t>
            </a:r>
            <a:endParaRPr lang="en-US"/>
          </a:p>
        </p:txBody>
      </p:sp>
      <p:sp>
        <p:nvSpPr>
          <p:cNvPr id="18458" name="Rectangle 25"/>
          <p:cNvSpPr>
            <a:spLocks noChangeArrowheads="1"/>
          </p:cNvSpPr>
          <p:nvPr/>
        </p:nvSpPr>
        <p:spPr bwMode="auto">
          <a:xfrm>
            <a:off x="5145088" y="3149307"/>
            <a:ext cx="3494087" cy="941388"/>
          </a:xfrm>
          <a:prstGeom prst="rect">
            <a:avLst/>
          </a:prstGeom>
          <a:noFill/>
          <a:ln w="12700">
            <a:solidFill>
              <a:srgbClr val="5490A8"/>
            </a:solidFill>
            <a:miter lim="800000"/>
            <a:headEnd/>
            <a:tailEnd/>
          </a:ln>
        </p:spPr>
        <p:txBody>
          <a:bodyPr/>
          <a:lstStyle/>
          <a:p>
            <a:endParaRPr lang="en-US"/>
          </a:p>
        </p:txBody>
      </p:sp>
      <p:sp>
        <p:nvSpPr>
          <p:cNvPr id="18459" name="Rectangle 27"/>
          <p:cNvSpPr>
            <a:spLocks noChangeArrowheads="1"/>
          </p:cNvSpPr>
          <p:nvPr/>
        </p:nvSpPr>
        <p:spPr bwMode="auto">
          <a:xfrm>
            <a:off x="4633361" y="1878014"/>
            <a:ext cx="904875" cy="273050"/>
          </a:xfrm>
          <a:prstGeom prst="rect">
            <a:avLst/>
          </a:prstGeom>
          <a:noFill/>
          <a:ln w="9525">
            <a:noFill/>
            <a:miter lim="800000"/>
            <a:headEnd/>
            <a:tailEnd/>
          </a:ln>
        </p:spPr>
        <p:txBody>
          <a:bodyPr wrap="none" lIns="0" tIns="0" rIns="0" bIns="0">
            <a:spAutoFit/>
          </a:bodyPr>
          <a:lstStyle/>
          <a:p>
            <a:r>
              <a:rPr lang="en-US" sz="1500" b="1">
                <a:solidFill>
                  <a:srgbClr val="000000"/>
                </a:solidFill>
                <a:latin typeface="Arial" pitchFamily="34" charset="0"/>
              </a:rPr>
              <a:t>STAGE 1</a:t>
            </a:r>
            <a:endParaRPr lang="en-US"/>
          </a:p>
        </p:txBody>
      </p:sp>
      <p:sp>
        <p:nvSpPr>
          <p:cNvPr id="18460" name="Rectangle 28"/>
          <p:cNvSpPr>
            <a:spLocks noChangeArrowheads="1"/>
          </p:cNvSpPr>
          <p:nvPr/>
        </p:nvSpPr>
        <p:spPr bwMode="auto">
          <a:xfrm>
            <a:off x="3642761" y="2108201"/>
            <a:ext cx="2838450" cy="236538"/>
          </a:xfrm>
          <a:prstGeom prst="rect">
            <a:avLst/>
          </a:prstGeom>
          <a:noFill/>
          <a:ln w="9525">
            <a:noFill/>
            <a:miter lim="800000"/>
            <a:headEnd/>
            <a:tailEnd/>
          </a:ln>
        </p:spPr>
        <p:txBody>
          <a:bodyPr wrap="none" lIns="0" tIns="0" rIns="0" bIns="0">
            <a:spAutoFit/>
          </a:bodyPr>
          <a:lstStyle/>
          <a:p>
            <a:r>
              <a:rPr lang="en-US" sz="1300" dirty="0">
                <a:solidFill>
                  <a:srgbClr val="000000"/>
                </a:solidFill>
                <a:latin typeface="Arial" pitchFamily="34" charset="0"/>
              </a:rPr>
              <a:t>Decide whether to be in this business</a:t>
            </a:r>
            <a:endParaRPr lang="en-US" dirty="0"/>
          </a:p>
        </p:txBody>
      </p:sp>
      <p:sp>
        <p:nvSpPr>
          <p:cNvPr id="18461" name="TextBox 28"/>
          <p:cNvSpPr txBox="1">
            <a:spLocks noChangeArrowheads="1"/>
          </p:cNvSpPr>
          <p:nvPr/>
        </p:nvSpPr>
        <p:spPr bwMode="auto">
          <a:xfrm>
            <a:off x="1143000" y="6096000"/>
            <a:ext cx="3673475" cy="461963"/>
          </a:xfrm>
          <a:prstGeom prst="rect">
            <a:avLst/>
          </a:prstGeom>
          <a:noFill/>
          <a:ln w="9525">
            <a:noFill/>
            <a:miter lim="800000"/>
            <a:headEnd/>
            <a:tailEnd/>
          </a:ln>
        </p:spPr>
        <p:txBody>
          <a:bodyPr wrap="none">
            <a:spAutoFit/>
          </a:bodyPr>
          <a:lstStyle/>
          <a:p>
            <a:r>
              <a:rPr lang="en-US"/>
              <a:t>Short-Run versus Long-Run</a:t>
            </a:r>
          </a:p>
        </p:txBody>
      </p:sp>
      <p:sp>
        <p:nvSpPr>
          <p:cNvPr id="2" name="Slide Number Placeholder 1"/>
          <p:cNvSpPr>
            <a:spLocks noGrp="1"/>
          </p:cNvSpPr>
          <p:nvPr>
            <p:ph type="sldNum" sz="quarter" idx="12"/>
          </p:nvPr>
        </p:nvSpPr>
        <p:spPr/>
        <p:txBody>
          <a:bodyPr>
            <a:normAutofit fontScale="85000" lnSpcReduction="20000"/>
          </a:bodyPr>
          <a:lstStyle/>
          <a:p>
            <a:pPr>
              <a:defRPr/>
            </a:pPr>
            <a:fld id="{D9219BF5-AC01-449D-8985-67686E0E5883}" type="slidenum">
              <a:rPr lang="en-US" smtClean="0"/>
              <a:pPr>
                <a:defRPr/>
              </a:pPr>
              <a:t>13</a:t>
            </a:fld>
            <a:endParaRPr lang="en-US"/>
          </a:p>
        </p:txBody>
      </p:sp>
      <p:sp>
        <p:nvSpPr>
          <p:cNvPr id="3" name="TextBox 2"/>
          <p:cNvSpPr txBox="1"/>
          <p:nvPr/>
        </p:nvSpPr>
        <p:spPr>
          <a:xfrm>
            <a:off x="125092" y="2443293"/>
            <a:ext cx="2444750" cy="630942"/>
          </a:xfrm>
          <a:prstGeom prst="rect">
            <a:avLst/>
          </a:prstGeom>
          <a:noFill/>
        </p:spPr>
        <p:txBody>
          <a:bodyPr wrap="square" rtlCol="0">
            <a:spAutoFit/>
          </a:bodyPr>
          <a:lstStyle/>
          <a:p>
            <a:r>
              <a:rPr lang="en-US" sz="1200" dirty="0">
                <a:solidFill>
                  <a:srgbClr val="7030A0"/>
                </a:solidFill>
              </a:rPr>
              <a:t>$1 billion to bring new drug to market b/c many failures</a:t>
            </a:r>
            <a:endParaRPr lang="en-US" sz="1400" dirty="0">
              <a:solidFill>
                <a:srgbClr val="7030A0"/>
              </a:solidFill>
            </a:endParaRPr>
          </a:p>
          <a:p>
            <a:pPr algn="ctr"/>
            <a:r>
              <a:rPr lang="en-US" sz="1100" dirty="0">
                <a:solidFill>
                  <a:srgbClr val="7030A0"/>
                </a:solidFill>
              </a:rPr>
              <a:t>(see appendix)</a:t>
            </a:r>
            <a:endParaRPr lang="en-US" sz="1200" dirty="0">
              <a:solidFill>
                <a:srgbClr val="7030A0"/>
              </a:solidFill>
            </a:endParaRPr>
          </a:p>
        </p:txBody>
      </p:sp>
      <p:sp>
        <p:nvSpPr>
          <p:cNvPr id="33" name="TextBox 32"/>
          <p:cNvSpPr txBox="1"/>
          <p:nvPr/>
        </p:nvSpPr>
        <p:spPr>
          <a:xfrm>
            <a:off x="102084" y="4167188"/>
            <a:ext cx="2444750" cy="646331"/>
          </a:xfrm>
          <a:prstGeom prst="rect">
            <a:avLst/>
          </a:prstGeom>
          <a:noFill/>
        </p:spPr>
        <p:txBody>
          <a:bodyPr wrap="square" rtlCol="0">
            <a:spAutoFit/>
          </a:bodyPr>
          <a:lstStyle/>
          <a:p>
            <a:r>
              <a:rPr lang="en-US" sz="1200" dirty="0">
                <a:solidFill>
                  <a:srgbClr val="7030A0"/>
                </a:solidFill>
              </a:rPr>
              <a:t>Big pharma uses patent law to protect monopoly margins</a:t>
            </a:r>
            <a:endParaRPr lang="en-US" sz="1400" dirty="0">
              <a:solidFill>
                <a:srgbClr val="7030A0"/>
              </a:solidFill>
            </a:endParaRPr>
          </a:p>
          <a:p>
            <a:pPr algn="ctr"/>
            <a:r>
              <a:rPr lang="en-US" sz="1200" dirty="0">
                <a:solidFill>
                  <a:srgbClr val="7030A0"/>
                </a:solidFill>
              </a:rPr>
              <a:t>(see appendix)</a:t>
            </a:r>
          </a:p>
        </p:txBody>
      </p:sp>
      <p:sp>
        <p:nvSpPr>
          <p:cNvPr id="4" name="Left Brace 3"/>
          <p:cNvSpPr/>
          <p:nvPr/>
        </p:nvSpPr>
        <p:spPr>
          <a:xfrm>
            <a:off x="2389876" y="2438400"/>
            <a:ext cx="152400" cy="610101"/>
          </a:xfrm>
          <a:prstGeom prst="leftBrace">
            <a:avLst/>
          </a:prstGeom>
          <a:ln>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Left Brace 35"/>
          <p:cNvSpPr/>
          <p:nvPr/>
        </p:nvSpPr>
        <p:spPr>
          <a:xfrm>
            <a:off x="2466076" y="4133809"/>
            <a:ext cx="124724" cy="585244"/>
          </a:xfrm>
          <a:prstGeom prst="leftBrace">
            <a:avLst/>
          </a:prstGeom>
          <a:ln>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8779070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3" grpId="0"/>
      <p:bldP spid="4" grpId="0" animBg="1"/>
      <p:bldP spid="3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Pricing and Marginal costs</a:t>
            </a:r>
          </a:p>
        </p:txBody>
      </p:sp>
      <p:sp>
        <p:nvSpPr>
          <p:cNvPr id="3" name="Content Placeholder 2"/>
          <p:cNvSpPr>
            <a:spLocks noGrp="1"/>
          </p:cNvSpPr>
          <p:nvPr>
            <p:ph sz="quarter" idx="1"/>
          </p:nvPr>
        </p:nvSpPr>
        <p:spPr/>
        <p:txBody>
          <a:bodyPr/>
          <a:lstStyle/>
          <a:p>
            <a:pPr marL="0" indent="0" algn="ctr">
              <a:buNone/>
            </a:pPr>
            <a:endParaRPr lang="en-US" dirty="0"/>
          </a:p>
          <a:p>
            <a:pPr marL="0" indent="0" algn="ctr">
              <a:buNone/>
            </a:pPr>
            <a:endParaRPr lang="en-US" dirty="0"/>
          </a:p>
          <a:p>
            <a:pPr marL="0" indent="0" algn="ctr">
              <a:buNone/>
            </a:pPr>
            <a:r>
              <a:rPr lang="en-US" dirty="0"/>
              <a:t>Why don’t large, experienced firms always follow this optimization rule?</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14</a:t>
            </a:fld>
            <a:endParaRPr lang="en-US"/>
          </a:p>
        </p:txBody>
      </p:sp>
    </p:spTree>
    <p:extLst>
      <p:ext uri="{BB962C8B-B14F-4D97-AF65-F5344CB8AC3E}">
        <p14:creationId xmlns:p14="http://schemas.microsoft.com/office/powerpoint/2010/main" val="4140311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839200" cy="990600"/>
          </a:xfrm>
        </p:spPr>
        <p:txBody>
          <a:bodyPr>
            <a:normAutofit fontScale="90000"/>
          </a:bodyPr>
          <a:lstStyle/>
          <a:p>
            <a:r>
              <a:rPr lang="en-US" sz="4400" dirty="0"/>
              <a:t>Fully-loaded costing: naïve/opportunistic?</a:t>
            </a:r>
            <a:br>
              <a:rPr lang="en-US" sz="4400" dirty="0"/>
            </a:br>
            <a:r>
              <a:rPr lang="en-US" sz="3600" dirty="0"/>
              <a:t>Starbucks &amp; local rents</a:t>
            </a:r>
          </a:p>
        </p:txBody>
      </p:sp>
      <p:sp>
        <p:nvSpPr>
          <p:cNvPr id="3" name="Content Placeholder 2"/>
          <p:cNvSpPr>
            <a:spLocks noGrp="1"/>
          </p:cNvSpPr>
          <p:nvPr>
            <p:ph sz="quarter" idx="1"/>
          </p:nvPr>
        </p:nvSpPr>
        <p:spPr>
          <a:xfrm>
            <a:off x="612648" y="3200400"/>
            <a:ext cx="8153400" cy="3352800"/>
          </a:xfrm>
        </p:spPr>
        <p:txBody>
          <a:bodyPr>
            <a:normAutofit fontScale="92500" lnSpcReduction="10000"/>
          </a:bodyPr>
          <a:lstStyle/>
          <a:p>
            <a:pPr marL="0" indent="0">
              <a:spcBef>
                <a:spcPts val="600"/>
              </a:spcBef>
              <a:spcAft>
                <a:spcPts val="1200"/>
              </a:spcAft>
              <a:buNone/>
            </a:pPr>
            <a:r>
              <a:rPr lang="en-US" i="1" dirty="0"/>
              <a:t>“The Seattle company, like other coffee purveyors, often raises prices for its products when coffee prices increase, but the latest move comes despite a decline of about 42% in Arabica futures prices from a peak late last year.”</a:t>
            </a:r>
          </a:p>
          <a:p>
            <a:r>
              <a:rPr lang="en-US" dirty="0"/>
              <a:t>Is this naïve, fully-loaded costing?</a:t>
            </a:r>
          </a:p>
          <a:p>
            <a:r>
              <a:rPr lang="en-US" dirty="0"/>
              <a:t>Is rent </a:t>
            </a:r>
            <a:r>
              <a:rPr lang="en-US" dirty="0" err="1"/>
              <a:t>rationalizable</a:t>
            </a:r>
            <a:r>
              <a:rPr lang="en-US" dirty="0"/>
              <a:t> as an incremental cost?</a:t>
            </a:r>
          </a:p>
          <a:p>
            <a:r>
              <a:rPr lang="en-US" dirty="0"/>
              <a:t>Is this price </a:t>
            </a:r>
            <a:r>
              <a:rPr lang="en-US" b="1" dirty="0">
                <a:solidFill>
                  <a:srgbClr val="FF0000"/>
                </a:solidFill>
                <a:effectLst>
                  <a:outerShdw blurRad="38100" dist="38100" dir="2700000" algn="tl">
                    <a:srgbClr val="000000">
                      <a:alpha val="43137"/>
                    </a:srgbClr>
                  </a:outerShdw>
                </a:effectLst>
              </a:rPr>
              <a:t>opportunism</a:t>
            </a:r>
            <a:r>
              <a:rPr lang="en-US" dirty="0"/>
              <a:t>?</a:t>
            </a:r>
          </a:p>
          <a:p>
            <a:pPr marL="366713" lvl="1" indent="0">
              <a:buNone/>
            </a:pPr>
            <a:r>
              <a:rPr lang="en-US" sz="1900" dirty="0"/>
              <a:t>(i.e., exploit media buzz about inflation in minimum wage and commercial land values to raises prices without customer </a:t>
            </a:r>
            <a:r>
              <a:rPr lang="en-US" sz="1900" i="1" dirty="0"/>
              <a:t>fairness</a:t>
            </a:r>
            <a:r>
              <a:rPr lang="en-US" sz="1900" dirty="0"/>
              <a:t> backlash)</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15</a:t>
            </a:fld>
            <a:endParaRPr lang="en-US"/>
          </a:p>
        </p:txBody>
      </p:sp>
      <p:pic>
        <p:nvPicPr>
          <p:cNvPr id="7173" name="Picture 5" descr="http://si.wsj.net/public/resources/images/BN-JG208_0706st_P_2015070614063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1981200"/>
            <a:ext cx="1258138" cy="838199"/>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le 5"/>
          <p:cNvSpPr/>
          <p:nvPr/>
        </p:nvSpPr>
        <p:spPr>
          <a:xfrm>
            <a:off x="1524000" y="1676400"/>
            <a:ext cx="7315200" cy="1447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t>Starbucks Raises Prices Despite Declining Coffee Costs</a:t>
            </a:r>
          </a:p>
          <a:p>
            <a:pPr>
              <a:spcAft>
                <a:spcPts val="1200"/>
              </a:spcAft>
            </a:pPr>
            <a:r>
              <a:rPr lang="en-US" sz="1400" dirty="0"/>
              <a:t>Coffee purveyor increases average price by about 1% to cover rising wages, rent</a:t>
            </a:r>
          </a:p>
          <a:p>
            <a:pPr algn="r"/>
            <a:r>
              <a:rPr lang="en-US" sz="1000" dirty="0"/>
              <a:t>By </a:t>
            </a:r>
            <a:r>
              <a:rPr lang="en-US" sz="1000" cap="all" dirty="0"/>
              <a:t>J</a:t>
            </a:r>
            <a:r>
              <a:rPr lang="en-US" sz="1000" dirty="0"/>
              <a:t>ulie Jargon</a:t>
            </a:r>
            <a:r>
              <a:rPr lang="en-US" sz="1000" b="1" cap="all" dirty="0"/>
              <a:t>, </a:t>
            </a:r>
            <a:r>
              <a:rPr lang="en-US" sz="1000" i="1" dirty="0"/>
              <a:t>WSJ, </a:t>
            </a:r>
            <a:r>
              <a:rPr lang="en-US" sz="1000" dirty="0"/>
              <a:t>July 6, 2015</a:t>
            </a:r>
          </a:p>
        </p:txBody>
      </p:sp>
      <p:sp>
        <p:nvSpPr>
          <p:cNvPr id="5" name="Rectangle 4"/>
          <p:cNvSpPr/>
          <p:nvPr/>
        </p:nvSpPr>
        <p:spPr>
          <a:xfrm>
            <a:off x="7924800" y="3581400"/>
            <a:ext cx="762000" cy="304800"/>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2648" y="3886200"/>
            <a:ext cx="5407152" cy="304800"/>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1973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Risks from </a:t>
            </a:r>
            <a:r>
              <a:rPr lang="en-US"/>
              <a:t>Fully-Loaded Costs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600200"/>
                <a:ext cx="8074152" cy="5105400"/>
              </a:xfrm>
            </p:spPr>
            <p:txBody>
              <a:bodyPr>
                <a:normAutofit fontScale="62500" lnSpcReduction="20000"/>
              </a:bodyPr>
              <a:lstStyle/>
              <a:p>
                <a:pPr marL="0" indent="0">
                  <a:spcBef>
                    <a:spcPts val="0"/>
                  </a:spcBef>
                  <a:buNone/>
                </a:pPr>
                <a:endParaRPr lang="en-US" sz="3400" dirty="0"/>
              </a:p>
              <a:p>
                <a:pPr>
                  <a:spcBef>
                    <a:spcPts val="0"/>
                  </a:spcBef>
                </a:pPr>
                <a:r>
                  <a:rPr lang="en-US" sz="4000" b="0" dirty="0"/>
                  <a:t>Impact of GM Pricing (i.e., loading FC changes into pricing):</a:t>
                </a:r>
              </a:p>
              <a:p>
                <a:pPr marL="0" indent="0">
                  <a:buNone/>
                </a:pPr>
                <a14:m>
                  <m:oMathPara xmlns:m="http://schemas.openxmlformats.org/officeDocument/2006/math">
                    <m:oMathParaPr>
                      <m:jc m:val="centerGroup"/>
                    </m:oMathParaPr>
                    <m:oMath xmlns:m="http://schemas.openxmlformats.org/officeDocument/2006/math">
                      <m:r>
                        <a:rPr lang="en-US" sz="3800" b="0" i="1" smtClean="0">
                          <a:latin typeface="Cambria Math"/>
                        </a:rPr>
                        <m:t>𝐹</m:t>
                      </m:r>
                      <m:r>
                        <a:rPr lang="en-US" sz="3800" b="0" i="1" smtClean="0">
                          <a:latin typeface="Cambria Math"/>
                          <a:ea typeface="Cambria Math"/>
                        </a:rPr>
                        <m:t>↑</m:t>
                      </m:r>
                      <m:groupChr>
                        <m:groupChrPr>
                          <m:chr m:val="⇒"/>
                          <m:pos m:val="top"/>
                          <m:ctrlPr>
                            <a:rPr lang="en-US" sz="3800" b="0" i="1" smtClean="0">
                              <a:latin typeface="Cambria Math" panose="02040503050406030204" pitchFamily="18" charset="0"/>
                              <a:ea typeface="Cambria Math"/>
                            </a:rPr>
                          </m:ctrlPr>
                        </m:groupChrPr>
                        <m:e/>
                      </m:groupChr>
                      <m:f>
                        <m:fPr>
                          <m:ctrlPr>
                            <a:rPr lang="en-US" sz="3800" b="0" i="1" smtClean="0">
                              <a:latin typeface="Cambria Math" panose="02040503050406030204" pitchFamily="18" charset="0"/>
                              <a:ea typeface="Cambria Math"/>
                            </a:rPr>
                          </m:ctrlPr>
                        </m:fPr>
                        <m:num>
                          <m:r>
                            <a:rPr lang="en-US" sz="3800" b="0" i="1" smtClean="0">
                              <a:latin typeface="Cambria Math"/>
                              <a:ea typeface="Cambria Math"/>
                            </a:rPr>
                            <m:t>𝐹</m:t>
                          </m:r>
                        </m:num>
                        <m:den>
                          <m:r>
                            <a:rPr lang="en-US" sz="3800" b="0" i="1" smtClean="0">
                              <a:latin typeface="Cambria Math"/>
                              <a:ea typeface="Cambria Math"/>
                            </a:rPr>
                            <m:t>𝑄</m:t>
                          </m:r>
                        </m:den>
                      </m:f>
                      <m:r>
                        <a:rPr lang="en-US" sz="3800" i="1">
                          <a:latin typeface="Cambria Math"/>
                          <a:ea typeface="Cambria Math"/>
                        </a:rPr>
                        <m:t>↑</m:t>
                      </m:r>
                    </m:oMath>
                  </m:oMathPara>
                </a14:m>
                <a:endParaRPr lang="en-US" sz="3400" dirty="0">
                  <a:ea typeface="Cambria Math"/>
                </a:endParaRPr>
              </a:p>
              <a:p>
                <a:pPr marL="0" indent="0">
                  <a:buNone/>
                </a:pPr>
                <a:br>
                  <a:rPr lang="en-US" sz="200" dirty="0">
                    <a:ea typeface="Cambria Math"/>
                  </a:rPr>
                </a:br>
                <a14:m>
                  <m:oMathPara xmlns:m="http://schemas.openxmlformats.org/officeDocument/2006/math">
                    <m:oMathParaPr>
                      <m:jc m:val="centerGroup"/>
                    </m:oMathParaPr>
                    <m:oMath xmlns:m="http://schemas.openxmlformats.org/officeDocument/2006/math">
                      <m:r>
                        <a:rPr lang="en-US" sz="3800" b="0" i="0" smtClean="0">
                          <a:latin typeface="Cambria Math"/>
                          <a:ea typeface="Cambria Math"/>
                        </a:rPr>
                        <m:t>       </m:t>
                      </m:r>
                      <m:groupChr>
                        <m:groupChrPr>
                          <m:chr m:val="⇒"/>
                          <m:pos m:val="top"/>
                          <m:ctrlPr>
                            <a:rPr lang="en-US" sz="3800" i="1">
                              <a:latin typeface="Cambria Math" panose="02040503050406030204" pitchFamily="18" charset="0"/>
                              <a:ea typeface="Cambria Math"/>
                            </a:rPr>
                          </m:ctrlPr>
                        </m:groupChrPr>
                        <m:e/>
                      </m:groupChr>
                      <m:r>
                        <a:rPr lang="en-US" sz="3800" i="1">
                          <a:latin typeface="Cambria Math"/>
                          <a:ea typeface="Cambria Math"/>
                        </a:rPr>
                        <m:t>𝐴𝐶</m:t>
                      </m:r>
                      <m:r>
                        <a:rPr lang="en-US" sz="3800" i="1">
                          <a:latin typeface="Cambria Math"/>
                          <a:ea typeface="Cambria Math"/>
                        </a:rPr>
                        <m:t>↑</m:t>
                      </m:r>
                    </m:oMath>
                  </m:oMathPara>
                </a14:m>
                <a:endParaRPr lang="en-US" sz="3400" dirty="0">
                  <a:ea typeface="Cambria Math"/>
                </a:endParaRPr>
              </a:p>
              <a:p>
                <a:pPr marL="0" indent="0">
                  <a:buNone/>
                </a:pPr>
                <a14:m>
                  <m:oMathPara xmlns:m="http://schemas.openxmlformats.org/officeDocument/2006/math">
                    <m:oMathParaPr>
                      <m:jc m:val="centerGroup"/>
                    </m:oMathParaPr>
                    <m:oMath xmlns:m="http://schemas.openxmlformats.org/officeDocument/2006/math">
                      <m:r>
                        <a:rPr lang="en-US" sz="3600">
                          <a:latin typeface="Cambria Math"/>
                          <a:ea typeface="Cambria Math"/>
                        </a:rPr>
                        <m:t> </m:t>
                      </m:r>
                      <m:r>
                        <a:rPr lang="en-US" sz="3600" b="0" i="1" smtClean="0">
                          <a:latin typeface="Cambria Math"/>
                          <a:ea typeface="Cambria Math"/>
                        </a:rPr>
                        <m:t>      </m:t>
                      </m:r>
                      <m:groupChr>
                        <m:groupChrPr>
                          <m:chr m:val="⇒"/>
                          <m:pos m:val="top"/>
                          <m:ctrlPr>
                            <a:rPr lang="en-US" sz="3600" i="1">
                              <a:latin typeface="Cambria Math" panose="02040503050406030204" pitchFamily="18" charset="0"/>
                              <a:ea typeface="Cambria Math"/>
                            </a:rPr>
                          </m:ctrlPr>
                        </m:groupChrPr>
                        <m:e/>
                      </m:groupChr>
                      <m:r>
                        <a:rPr lang="en-US" sz="3600" b="0" i="1" smtClean="0">
                          <a:latin typeface="Cambria Math"/>
                          <a:ea typeface="Cambria Math"/>
                        </a:rPr>
                        <m:t>𝐺𝑀</m:t>
                      </m:r>
                      <m:r>
                        <a:rPr lang="en-US" sz="3600" i="1" smtClean="0">
                          <a:latin typeface="Cambria Math"/>
                          <a:ea typeface="Cambria Math"/>
                        </a:rPr>
                        <m:t>↓</m:t>
                      </m:r>
                    </m:oMath>
                  </m:oMathPara>
                </a14:m>
                <a:endParaRPr lang="en-US" sz="3400" dirty="0">
                  <a:ea typeface="Cambria Math"/>
                </a:endParaRPr>
              </a:p>
              <a:p>
                <a:pPr marL="0" indent="0">
                  <a:buNone/>
                </a:pPr>
                <a:br>
                  <a:rPr lang="en-US" sz="200" dirty="0">
                    <a:ea typeface="Cambria Math"/>
                  </a:rPr>
                </a:br>
                <a14:m>
                  <m:oMathPara xmlns:m="http://schemas.openxmlformats.org/officeDocument/2006/math">
                    <m:oMathParaPr>
                      <m:jc m:val="centerGroup"/>
                    </m:oMathParaPr>
                    <m:oMath xmlns:m="http://schemas.openxmlformats.org/officeDocument/2006/math">
                      <m:r>
                        <a:rPr lang="en-US" sz="3800">
                          <a:latin typeface="Cambria Math"/>
                          <a:ea typeface="Cambria Math"/>
                        </a:rPr>
                        <m:t>    </m:t>
                      </m:r>
                      <m:groupChr>
                        <m:groupChrPr>
                          <m:chr m:val="⇒"/>
                          <m:pos m:val="top"/>
                          <m:ctrlPr>
                            <a:rPr lang="en-US" sz="3800" i="1">
                              <a:latin typeface="Cambria Math" panose="02040503050406030204" pitchFamily="18" charset="0"/>
                              <a:ea typeface="Cambria Math"/>
                            </a:rPr>
                          </m:ctrlPr>
                        </m:groupChrPr>
                        <m:e/>
                      </m:groupChr>
                      <m:r>
                        <a:rPr lang="en-US" sz="3800" b="0" i="1" smtClean="0">
                          <a:latin typeface="Cambria Math"/>
                          <a:ea typeface="Cambria Math"/>
                        </a:rPr>
                        <m:t>𝑃</m:t>
                      </m:r>
                      <m:r>
                        <a:rPr lang="en-US" sz="3800" i="1">
                          <a:latin typeface="Cambria Math"/>
                          <a:ea typeface="Cambria Math"/>
                        </a:rPr>
                        <m:t>↑</m:t>
                      </m:r>
                    </m:oMath>
                  </m:oMathPara>
                </a14:m>
                <a:endParaRPr lang="en-US" sz="3400" dirty="0">
                  <a:ea typeface="Cambria Math"/>
                </a:endParaRPr>
              </a:p>
              <a:p>
                <a:pPr marL="0" indent="0">
                  <a:buNone/>
                </a:pPr>
                <a:br>
                  <a:rPr lang="en-US" sz="200" dirty="0">
                    <a:ea typeface="Cambria Math"/>
                  </a:rPr>
                </a:br>
                <a14:m>
                  <m:oMathPara xmlns:m="http://schemas.openxmlformats.org/officeDocument/2006/math">
                    <m:oMathParaPr>
                      <m:jc m:val="centerGroup"/>
                    </m:oMathParaPr>
                    <m:oMath xmlns:m="http://schemas.openxmlformats.org/officeDocument/2006/math">
                      <m:r>
                        <a:rPr lang="en-US" sz="3800" b="0" i="0" smtClean="0">
                          <a:latin typeface="Cambria Math"/>
                          <a:ea typeface="Cambria Math"/>
                        </a:rPr>
                        <m:t>     </m:t>
                      </m:r>
                      <m:groupChr>
                        <m:groupChrPr>
                          <m:chr m:val="⇒"/>
                          <m:pos m:val="top"/>
                          <m:ctrlPr>
                            <a:rPr lang="en-US" sz="3800" i="1">
                              <a:latin typeface="Cambria Math" panose="02040503050406030204" pitchFamily="18" charset="0"/>
                              <a:ea typeface="Cambria Math"/>
                            </a:rPr>
                          </m:ctrlPr>
                        </m:groupChrPr>
                        <m:e/>
                      </m:groupChr>
                      <m:r>
                        <a:rPr lang="en-US" sz="3800" b="0" i="1" smtClean="0">
                          <a:latin typeface="Cambria Math"/>
                          <a:ea typeface="Cambria Math"/>
                        </a:rPr>
                        <m:t>𝑄</m:t>
                      </m:r>
                      <m:r>
                        <a:rPr lang="en-US" sz="3800" i="1" smtClean="0">
                          <a:latin typeface="Cambria Math"/>
                          <a:ea typeface="Cambria Math"/>
                        </a:rPr>
                        <m:t>↓</m:t>
                      </m:r>
                    </m:oMath>
                  </m:oMathPara>
                </a14:m>
                <a:endParaRPr lang="en-US" sz="3400" dirty="0">
                  <a:ea typeface="Cambria Math"/>
                </a:endParaRPr>
              </a:p>
              <a:p>
                <a:pPr marL="0" indent="0">
                  <a:buNone/>
                </a:pPr>
                <a:endParaRPr lang="en-US" sz="200" dirty="0">
                  <a:ea typeface="Cambria Math"/>
                </a:endParaRPr>
              </a:p>
              <a:p>
                <a:pPr marL="0" indent="0">
                  <a:buNone/>
                </a:pPr>
                <a14:m>
                  <m:oMathPara xmlns:m="http://schemas.openxmlformats.org/officeDocument/2006/math">
                    <m:oMathParaPr>
                      <m:jc m:val="centerGroup"/>
                    </m:oMathParaPr>
                    <m:oMath xmlns:m="http://schemas.openxmlformats.org/officeDocument/2006/math">
                      <m:r>
                        <a:rPr lang="en-US" sz="3800" b="0" i="1" smtClean="0">
                          <a:latin typeface="Cambria Math"/>
                          <a:ea typeface="Cambria Math"/>
                        </a:rPr>
                        <m:t>       </m:t>
                      </m:r>
                      <m:groupChr>
                        <m:groupChrPr>
                          <m:chr m:val="⇒"/>
                          <m:pos m:val="top"/>
                          <m:ctrlPr>
                            <a:rPr lang="en-US" sz="3800" i="1">
                              <a:latin typeface="Cambria Math" panose="02040503050406030204" pitchFamily="18" charset="0"/>
                              <a:ea typeface="Cambria Math"/>
                            </a:rPr>
                          </m:ctrlPr>
                        </m:groupChrPr>
                        <m:e/>
                      </m:groupChr>
                      <m:r>
                        <a:rPr lang="en-US" sz="3800" b="0" i="1" smtClean="0">
                          <a:latin typeface="Cambria Math"/>
                          <a:ea typeface="Cambria Math"/>
                        </a:rPr>
                        <m:t>𝐴𝐶</m:t>
                      </m:r>
                      <m:r>
                        <a:rPr lang="en-US" sz="3800" i="1">
                          <a:latin typeface="Cambria Math"/>
                          <a:ea typeface="Cambria Math"/>
                        </a:rPr>
                        <m:t>↑</m:t>
                      </m:r>
                    </m:oMath>
                  </m:oMathPara>
                </a14:m>
                <a:endParaRPr lang="en-US" sz="3800" dirty="0"/>
              </a:p>
              <a:p>
                <a:pPr marL="0" indent="0">
                  <a:buNone/>
                </a:pPr>
                <a:endParaRPr lang="en-US" sz="200" dirty="0"/>
              </a:p>
              <a:p>
                <a:pPr marL="0" indent="0">
                  <a:buNone/>
                </a:pPr>
                <a14:m>
                  <m:oMathPara xmlns:m="http://schemas.openxmlformats.org/officeDocument/2006/math">
                    <m:oMathParaPr>
                      <m:jc m:val="centerGroup"/>
                    </m:oMathParaPr>
                    <m:oMath xmlns:m="http://schemas.openxmlformats.org/officeDocument/2006/math">
                      <m:r>
                        <a:rPr lang="en-US" sz="3800">
                          <a:latin typeface="Cambria Math"/>
                          <a:ea typeface="Cambria Math"/>
                        </a:rPr>
                        <m:t> </m:t>
                      </m:r>
                      <m:r>
                        <a:rPr lang="en-US" sz="3800" b="0" i="1" smtClean="0">
                          <a:latin typeface="Cambria Math"/>
                          <a:ea typeface="Cambria Math"/>
                        </a:rPr>
                        <m:t>   </m:t>
                      </m:r>
                      <m:groupChr>
                        <m:groupChrPr>
                          <m:chr m:val="⇒"/>
                          <m:pos m:val="top"/>
                          <m:ctrlPr>
                            <a:rPr lang="en-US" sz="3800" i="1">
                              <a:latin typeface="Cambria Math" panose="02040503050406030204" pitchFamily="18" charset="0"/>
                              <a:ea typeface="Cambria Math"/>
                            </a:rPr>
                          </m:ctrlPr>
                        </m:groupChrPr>
                        <m:e/>
                      </m:groupChr>
                      <m:r>
                        <a:rPr lang="en-US" sz="3800" i="1">
                          <a:latin typeface="Cambria Math"/>
                          <a:ea typeface="Cambria Math"/>
                        </a:rPr>
                        <m:t>𝑃</m:t>
                      </m:r>
                      <m:r>
                        <a:rPr lang="en-US" sz="3800" i="1">
                          <a:latin typeface="Cambria Math"/>
                          <a:ea typeface="Cambria Math"/>
                        </a:rPr>
                        <m:t>↑</m:t>
                      </m:r>
                    </m:oMath>
                  </m:oMathPara>
                </a14:m>
                <a:endParaRPr lang="en-US" sz="3800" dirty="0"/>
              </a:p>
              <a:p>
                <a:pPr marL="0" indent="0">
                  <a:buNone/>
                </a:pPr>
                <a14:m>
                  <m:oMathPara xmlns:m="http://schemas.openxmlformats.org/officeDocument/2006/math">
                    <m:oMathParaPr>
                      <m:jc m:val="centerGroup"/>
                    </m:oMathParaPr>
                    <m:oMath xmlns:m="http://schemas.openxmlformats.org/officeDocument/2006/math">
                      <m:r>
                        <a:rPr lang="en-US" sz="3400" b="0" i="1" smtClean="0">
                          <a:latin typeface="Cambria Math"/>
                          <a:ea typeface="Cambria Math"/>
                        </a:rPr>
                        <m:t>…</m:t>
                      </m:r>
                    </m:oMath>
                  </m:oMathPara>
                </a14:m>
                <a:endParaRPr lang="en-US" sz="34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600200"/>
                <a:ext cx="8074152" cy="5105400"/>
              </a:xfrm>
              <a:blipFill>
                <a:blip r:embed="rId2"/>
                <a:stretch>
                  <a:fillRect l="-227" r="-680"/>
                </a:stretch>
              </a:blipFill>
            </p:spPr>
            <p:txBody>
              <a:bodyPr/>
              <a:lstStyle/>
              <a:p>
                <a:r>
                  <a:rPr lang="en-US">
                    <a:noFill/>
                  </a:rPr>
                  <a:t> </a:t>
                </a:r>
              </a:p>
            </p:txBody>
          </p:sp>
        </mc:Fallback>
      </mc:AlternateContent>
      <p:sp>
        <p:nvSpPr>
          <p:cNvPr id="7" name="Left Brace 6"/>
          <p:cNvSpPr/>
          <p:nvPr/>
        </p:nvSpPr>
        <p:spPr>
          <a:xfrm>
            <a:off x="3048000" y="2743200"/>
            <a:ext cx="381000" cy="381000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16</a:t>
            </a:fld>
            <a:endParaRPr lang="en-US"/>
          </a:p>
        </p:txBody>
      </p:sp>
      <p:sp>
        <p:nvSpPr>
          <p:cNvPr id="6" name="Rounded Rectangle 5"/>
          <p:cNvSpPr/>
          <p:nvPr/>
        </p:nvSpPr>
        <p:spPr>
          <a:xfrm>
            <a:off x="381000" y="4294257"/>
            <a:ext cx="2438400" cy="707886"/>
          </a:xfrm>
          <a:prstGeom prst="roundRect">
            <a:avLst/>
          </a:prstGeom>
          <a:solidFill>
            <a:srgbClr val="FF0000">
              <a:alpha val="7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The Average Cost </a:t>
            </a:r>
          </a:p>
          <a:p>
            <a:pPr algn="ctr"/>
            <a:r>
              <a:rPr lang="en-US" b="1" i="1" dirty="0">
                <a:solidFill>
                  <a:srgbClr val="FF0000"/>
                </a:solidFill>
              </a:rPr>
              <a:t>Death Spiral</a:t>
            </a:r>
          </a:p>
        </p:txBody>
      </p:sp>
      <p:pic>
        <p:nvPicPr>
          <p:cNvPr id="2052" name="Picture 4" descr="Image result for death spira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48300" y="3673078"/>
            <a:ext cx="3467100" cy="1950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6570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E50370-30BB-4572-B6BE-9ACB25876FC3}"/>
              </a:ext>
            </a:extLst>
          </p:cNvPr>
          <p:cNvSpPr>
            <a:spLocks noGrp="1"/>
          </p:cNvSpPr>
          <p:nvPr>
            <p:ph type="title"/>
          </p:nvPr>
        </p:nvSpPr>
        <p:spPr/>
        <p:txBody>
          <a:bodyPr/>
          <a:lstStyle/>
          <a:p>
            <a:r>
              <a:rPr lang="en-US" dirty="0"/>
              <a:t>Inflation and now tariffs …</a:t>
            </a:r>
          </a:p>
        </p:txBody>
      </p:sp>
      <p:sp>
        <p:nvSpPr>
          <p:cNvPr id="4" name="Slide Number Placeholder 3">
            <a:extLst>
              <a:ext uri="{FF2B5EF4-FFF2-40B4-BE49-F238E27FC236}">
                <a16:creationId xmlns:a16="http://schemas.microsoft.com/office/drawing/2014/main" id="{9D2F0ECF-614F-4645-8E1E-4AA79F308A92}"/>
              </a:ext>
            </a:extLst>
          </p:cNvPr>
          <p:cNvSpPr>
            <a:spLocks noGrp="1"/>
          </p:cNvSpPr>
          <p:nvPr>
            <p:ph type="sldNum" sz="quarter" idx="11"/>
          </p:nvPr>
        </p:nvSpPr>
        <p:spPr/>
        <p:txBody>
          <a:bodyPr/>
          <a:lstStyle/>
          <a:p>
            <a:pPr>
              <a:defRPr/>
            </a:pPr>
            <a:fld id="{D47E556B-1B27-4C7A-B8CA-7336E48AB80A}" type="slidenum">
              <a:rPr lang="en-US" smtClean="0"/>
              <a:pPr>
                <a:defRPr/>
              </a:pPr>
              <a:t>17</a:t>
            </a:fld>
            <a:endParaRPr lang="en-US"/>
          </a:p>
        </p:txBody>
      </p:sp>
      <p:pic>
        <p:nvPicPr>
          <p:cNvPr id="1028" name="Picture 4" descr="Tariffs News | Today's Latest Stories | Reuters">
            <a:extLst>
              <a:ext uri="{FF2B5EF4-FFF2-40B4-BE49-F238E27FC236}">
                <a16:creationId xmlns:a16="http://schemas.microsoft.com/office/drawing/2014/main" id="{94FAA9DC-9596-47F5-8EC9-E7FE8DC63E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743201"/>
            <a:ext cx="3200399" cy="213359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causes inflation? | Stanford Report">
            <a:extLst>
              <a:ext uri="{FF2B5EF4-FFF2-40B4-BE49-F238E27FC236}">
                <a16:creationId xmlns:a16="http://schemas.microsoft.com/office/drawing/2014/main" id="{DB2CBA11-4C1B-4F94-8509-8D17E8BC5D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3962400"/>
            <a:ext cx="3206228" cy="2133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5505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Inflation &amp; variable cost pass-through</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18</a:t>
            </a:fld>
            <a:endParaRPr lang="en-US"/>
          </a:p>
        </p:txBody>
      </p:sp>
      <p:sp>
        <p:nvSpPr>
          <p:cNvPr id="9" name="AutoShape 10" descr="https://assets-global.website-files.com/62137861fa1d2b19482bbe20/63edcfdb6d25e17b62fca244_What%20is%20Stagflation.webp"/>
          <p:cNvSpPr>
            <a:spLocks noGrp="1" noChangeAspect="1" noChangeArrowheads="1"/>
          </p:cNvSpPr>
          <p:nvPr>
            <p:ph sz="quarter" idx="1"/>
          </p:nvPr>
        </p:nvSpPr>
        <p:spPr bwMode="auto">
          <a:xfrm>
            <a:off x="612648" y="4648200"/>
            <a:ext cx="8153400" cy="1905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77500" lnSpcReduction="20000"/>
          </a:bodyPr>
          <a:lstStyle/>
          <a:p>
            <a:r>
              <a:rPr lang="en-US" dirty="0"/>
              <a:t>Under cost-plus pricing, most companies would pass 100% of variable cost changes through to customers</a:t>
            </a:r>
          </a:p>
          <a:p>
            <a:endParaRPr lang="en-US" dirty="0"/>
          </a:p>
          <a:p>
            <a:r>
              <a:rPr lang="en-US" dirty="0"/>
              <a:t>Many firms </a:t>
            </a:r>
            <a:r>
              <a:rPr lang="en-US" i="1" dirty="0"/>
              <a:t>tactically</a:t>
            </a:r>
            <a:r>
              <a:rPr lang="en-US" dirty="0"/>
              <a:t> react to inflation with ad hoc price increases</a:t>
            </a:r>
          </a:p>
          <a:p>
            <a:endParaRPr lang="en-US" dirty="0"/>
          </a:p>
          <a:p>
            <a:pPr marL="0" indent="0">
              <a:buNone/>
            </a:pPr>
            <a:r>
              <a:rPr lang="en-US" dirty="0"/>
              <a:t>	</a:t>
            </a:r>
            <a:r>
              <a:rPr lang="en-US" sz="3100" dirty="0"/>
              <a:t>This should be a </a:t>
            </a:r>
            <a:r>
              <a:rPr lang="en-US" sz="3100" b="1" i="1" dirty="0">
                <a:solidFill>
                  <a:srgbClr val="0070C0"/>
                </a:solidFill>
                <a:effectLst>
                  <a:outerShdw blurRad="38100" dist="38100" dir="2700000" algn="tl">
                    <a:srgbClr val="000000">
                      <a:alpha val="43137"/>
                    </a:srgbClr>
                  </a:outerShdw>
                </a:effectLst>
              </a:rPr>
              <a:t>re-optimization</a:t>
            </a:r>
            <a:r>
              <a:rPr lang="en-US" sz="3100" dirty="0"/>
              <a:t> problem!</a:t>
            </a:r>
          </a:p>
        </p:txBody>
      </p:sp>
      <p:pic>
        <p:nvPicPr>
          <p:cNvPr id="11" name="Picture 10"/>
          <p:cNvPicPr>
            <a:picLocks noChangeAspect="1"/>
          </p:cNvPicPr>
          <p:nvPr/>
        </p:nvPicPr>
        <p:blipFill>
          <a:blip r:embed="rId2"/>
          <a:stretch>
            <a:fillRect/>
          </a:stretch>
        </p:blipFill>
        <p:spPr>
          <a:xfrm>
            <a:off x="1498600" y="1709264"/>
            <a:ext cx="4436638" cy="2862736"/>
          </a:xfrm>
          <a:prstGeom prst="rect">
            <a:avLst/>
          </a:prstGeom>
        </p:spPr>
      </p:pic>
      <p:sp>
        <p:nvSpPr>
          <p:cNvPr id="3" name="Right Arrow 2"/>
          <p:cNvSpPr/>
          <p:nvPr/>
        </p:nvSpPr>
        <p:spPr>
          <a:xfrm>
            <a:off x="1066800" y="6096000"/>
            <a:ext cx="4572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descr="inflation commercial real estat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624" t="13839" r="38759"/>
          <a:stretch/>
        </p:blipFill>
        <p:spPr bwMode="auto">
          <a:xfrm>
            <a:off x="6781800" y="1821419"/>
            <a:ext cx="1958579" cy="2638425"/>
          </a:xfrm>
          <a:prstGeom prst="rect">
            <a:avLst/>
          </a:prstGeom>
          <a:noFill/>
          <a:extLst>
            <a:ext uri="{909E8E84-426E-40DD-AFC4-6F175D3DCCD1}">
              <a14:hiddenFill xmlns:a14="http://schemas.microsoft.com/office/drawing/2010/main">
                <a:solidFill>
                  <a:srgbClr val="FFFFFF"/>
                </a:solidFill>
              </a14:hiddenFill>
            </a:ext>
          </a:extLst>
        </p:spPr>
      </p:pic>
      <p:sp>
        <p:nvSpPr>
          <p:cNvPr id="5" name="Oval Callout 4"/>
          <p:cNvSpPr/>
          <p:nvPr/>
        </p:nvSpPr>
        <p:spPr>
          <a:xfrm>
            <a:off x="5867400" y="5062063"/>
            <a:ext cx="3276600" cy="914400"/>
          </a:xfrm>
          <a:prstGeom prst="wedgeEllipseCallout">
            <a:avLst>
              <a:gd name="adj1" fmla="val -44643"/>
              <a:gd name="adj2" fmla="val 7731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t>Amount to pass through depends on the shape of demand!</a:t>
            </a:r>
          </a:p>
        </p:txBody>
      </p:sp>
    </p:spTree>
    <p:extLst>
      <p:ext uri="{BB962C8B-B14F-4D97-AF65-F5344CB8AC3E}">
        <p14:creationId xmlns:p14="http://schemas.microsoft.com/office/powerpoint/2010/main" val="309142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12648" y="1600200"/>
            <a:ext cx="8153400" cy="4800600"/>
          </a:xfrm>
        </p:spPr>
        <p:txBody>
          <a:bodyPr>
            <a:normAutofit fontScale="85000" lnSpcReduction="10000"/>
          </a:bodyPr>
          <a:lstStyle/>
          <a:p>
            <a:pPr marL="0" indent="0" algn="ctr">
              <a:buNone/>
            </a:pPr>
            <a:r>
              <a:rPr lang="en-US" sz="3200" b="1" dirty="0"/>
              <a:t>Chinese businesses figured this out two years ago!</a:t>
            </a:r>
          </a:p>
          <a:p>
            <a:pPr marL="0" indent="0" algn="ctr">
              <a:buNone/>
            </a:pPr>
            <a:endParaRPr lang="en-US" sz="3200" b="1" dirty="0"/>
          </a:p>
          <a:p>
            <a:pPr marL="0" indent="0" algn="ctr">
              <a:buNone/>
            </a:pPr>
            <a:endParaRPr lang="en-US" sz="3200" b="1" dirty="0"/>
          </a:p>
          <a:p>
            <a:pPr marL="0" indent="0" algn="ctr">
              <a:buNone/>
            </a:pPr>
            <a:endParaRPr lang="en-US" sz="3200" b="1" dirty="0"/>
          </a:p>
          <a:p>
            <a:pPr marL="0" indent="0" algn="ctr">
              <a:buNone/>
            </a:pPr>
            <a:endParaRPr lang="en-US" sz="3200" b="1" dirty="0"/>
          </a:p>
          <a:p>
            <a:pPr marL="0" indent="0" algn="ctr">
              <a:buNone/>
            </a:pPr>
            <a:endParaRPr lang="en-US" sz="3200" b="1" dirty="0"/>
          </a:p>
          <a:p>
            <a:pPr marL="0" indent="0" algn="ctr">
              <a:buNone/>
            </a:pPr>
            <a:endParaRPr lang="en-US" sz="1300" dirty="0"/>
          </a:p>
          <a:p>
            <a:pPr marL="0" indent="0" algn="ctr">
              <a:buNone/>
            </a:pPr>
            <a:endParaRPr lang="en-US" dirty="0"/>
          </a:p>
          <a:p>
            <a:pPr marL="0" indent="0" algn="ctr">
              <a:buNone/>
            </a:pPr>
            <a:r>
              <a:rPr lang="en-US" sz="1900" dirty="0"/>
              <a:t>“We try to absorb this commodity price increase, with … full utilization of the chicken,” Wat said with a laugh. That means using every part of the chicken, “except the feather, I guess.”</a:t>
            </a:r>
          </a:p>
          <a:p>
            <a:pPr marL="0" indent="0" algn="ctr">
              <a:buNone/>
            </a:pPr>
            <a:endParaRPr lang="en-US" sz="1900" dirty="0"/>
          </a:p>
          <a:p>
            <a:pPr marL="0" indent="0" algn="ctr">
              <a:buNone/>
            </a:pPr>
            <a:r>
              <a:rPr lang="en-US" sz="1900" dirty="0"/>
              <a:t>“[Yum China] has also held off from raising prices on meals. Instead, it’s decided to go the other direction: </a:t>
            </a:r>
            <a:r>
              <a:rPr lang="en-US" sz="1900" dirty="0">
                <a:solidFill>
                  <a:srgbClr val="FF0000"/>
                </a:solidFill>
              </a:rPr>
              <a:t>trying to hook more customers with better deals</a:t>
            </a:r>
            <a:r>
              <a:rPr lang="en-US" sz="1900" dirty="0"/>
              <a:t>.”</a:t>
            </a:r>
            <a:endParaRPr lang="en-US" sz="2600" b="1"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19</a:t>
            </a:fld>
            <a:endParaRPr lang="en-US"/>
          </a:p>
        </p:txBody>
      </p:sp>
      <p:pic>
        <p:nvPicPr>
          <p:cNvPr id="5" name="Picture 4"/>
          <p:cNvPicPr>
            <a:picLocks noChangeAspect="1"/>
          </p:cNvPicPr>
          <p:nvPr/>
        </p:nvPicPr>
        <p:blipFill>
          <a:blip r:embed="rId2"/>
          <a:stretch>
            <a:fillRect/>
          </a:stretch>
        </p:blipFill>
        <p:spPr>
          <a:xfrm>
            <a:off x="137652" y="2438400"/>
            <a:ext cx="8923666" cy="2286000"/>
          </a:xfrm>
          <a:prstGeom prst="rect">
            <a:avLst/>
          </a:prstGeom>
        </p:spPr>
      </p:pic>
      <p:sp>
        <p:nvSpPr>
          <p:cNvPr id="6" name="Title 1"/>
          <p:cNvSpPr>
            <a:spLocks noGrp="1"/>
          </p:cNvSpPr>
          <p:nvPr>
            <p:ph type="title"/>
          </p:nvPr>
        </p:nvSpPr>
        <p:spPr>
          <a:xfrm>
            <a:off x="612648" y="228600"/>
            <a:ext cx="8153400" cy="990600"/>
          </a:xfrm>
        </p:spPr>
        <p:txBody>
          <a:bodyPr>
            <a:normAutofit fontScale="90000"/>
          </a:bodyPr>
          <a:lstStyle/>
          <a:p>
            <a:r>
              <a:rPr lang="en-US" sz="4400" dirty="0"/>
              <a:t>Lessons from recent wave of inflation</a:t>
            </a:r>
            <a:br>
              <a:rPr lang="en-US" sz="4400" dirty="0"/>
            </a:br>
            <a:r>
              <a:rPr lang="en-US" sz="3600" dirty="0"/>
              <a:t>Pivot when possible</a:t>
            </a:r>
            <a:endParaRPr lang="en-US" dirty="0"/>
          </a:p>
        </p:txBody>
      </p:sp>
    </p:spTree>
    <p:extLst>
      <p:ext uri="{BB962C8B-B14F-4D97-AF65-F5344CB8AC3E}">
        <p14:creationId xmlns:p14="http://schemas.microsoft.com/office/powerpoint/2010/main" val="3841756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3CDB-BC36-409B-9239-D49C3A9F1A58}"/>
              </a:ext>
            </a:extLst>
          </p:cNvPr>
          <p:cNvSpPr>
            <a:spLocks noGrp="1"/>
          </p:cNvSpPr>
          <p:nvPr>
            <p:ph type="title"/>
          </p:nvPr>
        </p:nvSpPr>
        <p:spPr/>
        <p:txBody>
          <a:bodyPr>
            <a:normAutofit fontScale="90000"/>
          </a:bodyPr>
          <a:lstStyle/>
          <a:p>
            <a:r>
              <a:rPr lang="en-US" sz="4400" dirty="0"/>
              <a:t>Tariffs &amp; variable cost pass-through</a:t>
            </a:r>
            <a:br>
              <a:rPr lang="en-US" sz="4400" dirty="0"/>
            </a:br>
            <a:r>
              <a:rPr lang="en-US" sz="3600" dirty="0"/>
              <a:t>Pivots may be difficult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F29F20-A2D5-485C-B462-CA165ED7B103}"/>
                  </a:ext>
                </a:extLst>
              </p:cNvPr>
              <p:cNvSpPr>
                <a:spLocks noGrp="1"/>
              </p:cNvSpPr>
              <p:nvPr>
                <p:ph sz="quarter" idx="1"/>
              </p:nvPr>
            </p:nvSpPr>
            <p:spPr>
              <a:xfrm>
                <a:off x="612648" y="1600200"/>
                <a:ext cx="8153400" cy="5105400"/>
              </a:xfrm>
            </p:spPr>
            <p:txBody>
              <a:bodyPr>
                <a:normAutofit fontScale="92500" lnSpcReduction="20000"/>
              </a:bodyPr>
              <a:lstStyle/>
              <a:p>
                <a:pPr marL="0" indent="0" algn="ctr">
                  <a:buNone/>
                </a:pPr>
                <a:r>
                  <a:rPr lang="en-US" dirty="0"/>
                  <a:t>Consider section 232 tariffs on steel and </a:t>
                </a:r>
                <a:r>
                  <a:rPr lang="en-US" b="1" dirty="0">
                    <a:effectLst>
                      <a:outerShdw blurRad="38100" dist="38100" dir="2700000" algn="tl">
                        <a:srgbClr val="000000">
                          <a:alpha val="43137"/>
                        </a:srgbClr>
                      </a:outerShdw>
                    </a:effectLst>
                  </a:rPr>
                  <a:t>aluminum</a:t>
                </a:r>
                <a:endParaRPr lang="en-US" dirty="0">
                  <a:effectLst>
                    <a:outerShdw blurRad="38100" dist="38100" dir="2700000" algn="tl">
                      <a:srgbClr val="000000">
                        <a:alpha val="43137"/>
                      </a:srgbClr>
                    </a:outerShdw>
                  </a:effectLst>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40% of aluminum billets from Canada</a:t>
                </a:r>
              </a:p>
              <a:p>
                <a:pPr lvl="1"/>
                <a:r>
                  <a:rPr lang="en-US" sz="1800" dirty="0">
                    <a:effectLst/>
                    <a:latin typeface="Calibri" panose="020F0502020204030204" pitchFamily="34" charset="0"/>
                    <a:ea typeface="Calibri" panose="020F0502020204030204" pitchFamily="34" charset="0"/>
                    <a:cs typeface="Times New Roman" panose="02020603050405020304" pitchFamily="18" charset="0"/>
                  </a:rPr>
                  <a:t>Used to manufacture final aluminum goods</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Limited on-shoring potential for billet production</a:t>
                </a:r>
              </a:p>
              <a:p>
                <a:pPr lvl="1"/>
                <a:r>
                  <a:rPr lang="en-US" sz="1800" dirty="0">
                    <a:effectLst/>
                    <a:latin typeface="Calibri" panose="020F0502020204030204" pitchFamily="34" charset="0"/>
                    <a:ea typeface="Calibri" panose="020F0502020204030204" pitchFamily="34" charset="0"/>
                    <a:cs typeface="Times New Roman" panose="02020603050405020304" pitchFamily="18" charset="0"/>
                  </a:rPr>
                  <a:t>$15-$20 fixed cost for smelting operation</a:t>
                </a:r>
              </a:p>
              <a:p>
                <a:pPr lvl="1"/>
                <a:r>
                  <a:rPr lang="en-US" sz="1800" dirty="0">
                    <a:latin typeface="Calibri" panose="020F0502020204030204" pitchFamily="34" charset="0"/>
                    <a:ea typeface="Calibri" panose="020F0502020204030204" pitchFamily="34" charset="0"/>
                    <a:cs typeface="Times New Roman" panose="02020603050405020304" pitchFamily="18" charset="0"/>
                  </a:rPr>
                  <a:t>Electricity </a:t>
                </a:r>
                <a14:m>
                  <m:oMath xmlns:m="http://schemas.openxmlformats.org/officeDocument/2006/math">
                    <m:r>
                      <a:rPr lang="en-US" sz="1800" b="0" i="1" smtClean="0">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latin typeface="Calibri" panose="020F0502020204030204" pitchFamily="34" charset="0"/>
                    <a:ea typeface="Calibri" panose="020F0502020204030204" pitchFamily="34" charset="0"/>
                    <a:cs typeface="Times New Roman" panose="02020603050405020304" pitchFamily="18" charset="0"/>
                  </a:rPr>
                  <a:t> 20-40% of variable cost </a:t>
                </a:r>
              </a:p>
              <a:p>
                <a:pPr lvl="2"/>
                <a:r>
                  <a:rPr lang="en-US" sz="1800" dirty="0">
                    <a:latin typeface="Calibri" panose="020F0502020204030204" pitchFamily="34" charset="0"/>
                    <a:ea typeface="Calibri" panose="020F0502020204030204" pitchFamily="34" charset="0"/>
                    <a:cs typeface="Times New Roman" panose="02020603050405020304" pitchFamily="18" charset="0"/>
                  </a:rPr>
                  <a:t>US lacks Canada’s access to abundant </a:t>
                </a:r>
                <a:r>
                  <a:rPr lang="en-US" sz="1800" u="sng" dirty="0">
                    <a:latin typeface="Calibri" panose="020F0502020204030204" pitchFamily="34" charset="0"/>
                    <a:ea typeface="Calibri" panose="020F0502020204030204" pitchFamily="34" charset="0"/>
                    <a:cs typeface="Times New Roman" panose="02020603050405020304" pitchFamily="18" charset="0"/>
                  </a:rPr>
                  <a:t>cheap</a:t>
                </a:r>
                <a:r>
                  <a:rPr lang="en-US" sz="1800" dirty="0">
                    <a:latin typeface="Calibri" panose="020F0502020204030204" pitchFamily="34" charset="0"/>
                    <a:ea typeface="Calibri" panose="020F0502020204030204" pitchFamily="34" charset="0"/>
                    <a:cs typeface="Times New Roman" panose="02020603050405020304" pitchFamily="18" charset="0"/>
                  </a:rPr>
                  <a:t> hydro</a:t>
                </a:r>
              </a:p>
              <a:p>
                <a:pPr lvl="2"/>
                <a:endParaRPr lang="en-US" sz="1800" dirty="0">
                  <a:latin typeface="Calibri" panose="020F0502020204030204" pitchFamily="34" charset="0"/>
                  <a:ea typeface="Calibri" panose="020F0502020204030204" pitchFamily="34" charset="0"/>
                  <a:cs typeface="Times New Roman" panose="02020603050405020304" pitchFamily="18" charset="0"/>
                </a:endParaRPr>
              </a:p>
              <a:p>
                <a:r>
                  <a:rPr lang="en-US" sz="1800" dirty="0">
                    <a:latin typeface="Calibri" panose="020F0502020204030204" pitchFamily="34" charset="0"/>
                    <a:ea typeface="Calibri" panose="020F0502020204030204" pitchFamily="34" charset="0"/>
                    <a:cs typeface="Times New Roman" panose="02020603050405020304" pitchFamily="18" charset="0"/>
                  </a:rPr>
                  <a:t>Automobiles one of top customers for US-made </a:t>
                </a:r>
              </a:p>
              <a:p>
                <a:pPr marL="0" indent="0">
                  <a:spcBef>
                    <a:spcPts val="0"/>
                  </a:spcBef>
                  <a:buNone/>
                </a:pPr>
                <a:r>
                  <a:rPr lang="en-US" sz="1800" dirty="0">
                    <a:latin typeface="Calibri" panose="020F0502020204030204" pitchFamily="34" charset="0"/>
                    <a:ea typeface="Calibri" panose="020F0502020204030204" pitchFamily="34" charset="0"/>
                    <a:cs typeface="Times New Roman" panose="02020603050405020304" pitchFamily="18" charset="0"/>
                  </a:rPr>
                  <a:t>	aluminum goods (very inelastic demand)</a:t>
                </a: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25% tariff could cause US car prices to increase 5-8% </a:t>
                </a:r>
              </a:p>
              <a:p>
                <a:pPr marL="0" indent="0" algn="ctr">
                  <a:buNone/>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(aluminum &amp; steel </a:t>
                </a:r>
                <a14:m>
                  <m:oMath xmlns:m="http://schemas.openxmlformats.org/officeDocument/2006/math">
                    <m:r>
                      <a:rPr lang="en-US" sz="2200" b="0" i="1"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60% of weight of car)</a:t>
                </a:r>
              </a:p>
              <a:p>
                <a:pPr marL="0" indent="0" algn="ctr">
                  <a:buNone/>
                </a:pPr>
                <a:endPar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OEMs and consumers will share most of the tariff cost!</a:t>
                </a:r>
              </a:p>
            </p:txBody>
          </p:sp>
        </mc:Choice>
        <mc:Fallback xmlns="">
          <p:sp>
            <p:nvSpPr>
              <p:cNvPr id="3" name="Content Placeholder 2">
                <a:extLst>
                  <a:ext uri="{FF2B5EF4-FFF2-40B4-BE49-F238E27FC236}">
                    <a16:creationId xmlns:a16="http://schemas.microsoft.com/office/drawing/2014/main" id="{55F29F20-A2D5-485C-B462-CA165ED7B103}"/>
                  </a:ext>
                </a:extLst>
              </p:cNvPr>
              <p:cNvSpPr>
                <a:spLocks noGrp="1" noRot="1" noChangeAspect="1" noMove="1" noResize="1" noEditPoints="1" noAdjustHandles="1" noChangeArrowheads="1" noChangeShapeType="1" noTextEdit="1"/>
              </p:cNvSpPr>
              <p:nvPr>
                <p:ph sz="quarter" idx="1"/>
              </p:nvPr>
            </p:nvSpPr>
            <p:spPr>
              <a:xfrm>
                <a:off x="612648" y="1600200"/>
                <a:ext cx="8153400" cy="5105400"/>
              </a:xfrm>
              <a:blipFill>
                <a:blip r:embed="rId3"/>
                <a:stretch>
                  <a:fillRect l="-823" t="-2151" b="-143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9249AD9-20F7-4746-8362-0891580D2B6C}"/>
              </a:ext>
            </a:extLst>
          </p:cNvPr>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20</a:t>
            </a:fld>
            <a:endParaRPr lang="en-US"/>
          </a:p>
        </p:txBody>
      </p:sp>
      <p:pic>
        <p:nvPicPr>
          <p:cNvPr id="7" name="Picture 6">
            <a:extLst>
              <a:ext uri="{FF2B5EF4-FFF2-40B4-BE49-F238E27FC236}">
                <a16:creationId xmlns:a16="http://schemas.microsoft.com/office/drawing/2014/main" id="{4822D874-EACB-4F7C-9EA8-00130AC573B5}"/>
              </a:ext>
            </a:extLst>
          </p:cNvPr>
          <p:cNvPicPr>
            <a:picLocks noChangeAspect="1"/>
          </p:cNvPicPr>
          <p:nvPr/>
        </p:nvPicPr>
        <p:blipFill>
          <a:blip r:embed="rId4"/>
          <a:stretch>
            <a:fillRect/>
          </a:stretch>
        </p:blipFill>
        <p:spPr>
          <a:xfrm>
            <a:off x="5715000" y="2057401"/>
            <a:ext cx="1295400" cy="1031610"/>
          </a:xfrm>
          <a:prstGeom prst="rect">
            <a:avLst/>
          </a:prstGeom>
        </p:spPr>
      </p:pic>
      <p:sp>
        <p:nvSpPr>
          <p:cNvPr id="8" name="Arrow: Right 7">
            <a:extLst>
              <a:ext uri="{FF2B5EF4-FFF2-40B4-BE49-F238E27FC236}">
                <a16:creationId xmlns:a16="http://schemas.microsoft.com/office/drawing/2014/main" id="{CFFF1D14-3BCB-4A41-9A6D-163FE60A3CFF}"/>
              </a:ext>
            </a:extLst>
          </p:cNvPr>
          <p:cNvSpPr/>
          <p:nvPr/>
        </p:nvSpPr>
        <p:spPr>
          <a:xfrm>
            <a:off x="914400" y="5334000"/>
            <a:ext cx="914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5D615670-96D1-45EB-B06F-08A7F2F675A0}"/>
              </a:ext>
            </a:extLst>
          </p:cNvPr>
          <p:cNvPicPr>
            <a:picLocks noChangeAspect="1"/>
          </p:cNvPicPr>
          <p:nvPr/>
        </p:nvPicPr>
        <p:blipFill>
          <a:blip r:embed="rId5"/>
          <a:stretch>
            <a:fillRect/>
          </a:stretch>
        </p:blipFill>
        <p:spPr>
          <a:xfrm>
            <a:off x="5486400" y="4176574"/>
            <a:ext cx="1970452" cy="1134503"/>
          </a:xfrm>
          <a:prstGeom prst="rect">
            <a:avLst/>
          </a:prstGeom>
        </p:spPr>
      </p:pic>
      <p:pic>
        <p:nvPicPr>
          <p:cNvPr id="15" name="Picture 14">
            <a:extLst>
              <a:ext uri="{FF2B5EF4-FFF2-40B4-BE49-F238E27FC236}">
                <a16:creationId xmlns:a16="http://schemas.microsoft.com/office/drawing/2014/main" id="{75A9A916-AE0D-489E-A84D-E9802F7B0FFA}"/>
              </a:ext>
            </a:extLst>
          </p:cNvPr>
          <p:cNvPicPr>
            <a:picLocks noChangeAspect="1"/>
          </p:cNvPicPr>
          <p:nvPr/>
        </p:nvPicPr>
        <p:blipFill>
          <a:blip r:embed="rId6"/>
          <a:stretch>
            <a:fillRect/>
          </a:stretch>
        </p:blipFill>
        <p:spPr>
          <a:xfrm>
            <a:off x="7162800" y="3054980"/>
            <a:ext cx="1709086" cy="1051017"/>
          </a:xfrm>
          <a:prstGeom prst="rect">
            <a:avLst/>
          </a:prstGeom>
        </p:spPr>
      </p:pic>
    </p:spTree>
    <p:extLst>
      <p:ext uri="{BB962C8B-B14F-4D97-AF65-F5344CB8AC3E}">
        <p14:creationId xmlns:p14="http://schemas.microsoft.com/office/powerpoint/2010/main" val="198519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0E9DAFD-C2E9-4049-B2B0-6D993CC1F0D7}"/>
              </a:ext>
            </a:extLst>
          </p:cNvPr>
          <p:cNvSpPr/>
          <p:nvPr/>
        </p:nvSpPr>
        <p:spPr>
          <a:xfrm>
            <a:off x="685800" y="4114800"/>
            <a:ext cx="8153400" cy="2133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5F29F20-A2D5-485C-B462-CA165ED7B103}"/>
              </a:ext>
            </a:extLst>
          </p:cNvPr>
          <p:cNvSpPr>
            <a:spLocks noGrp="1"/>
          </p:cNvSpPr>
          <p:nvPr>
            <p:ph sz="quarter" idx="1"/>
          </p:nvPr>
        </p:nvSpPr>
        <p:spPr>
          <a:xfrm>
            <a:off x="612648" y="1600200"/>
            <a:ext cx="8153400" cy="5105400"/>
          </a:xfrm>
        </p:spPr>
        <p:txBody>
          <a:bodyPr>
            <a:normAutofit/>
          </a:bodyPr>
          <a:lstStyle/>
          <a:p>
            <a:pPr marL="0" indent="0">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a:t>Vietnam, where the company now makes some </a:t>
            </a:r>
            <a:r>
              <a:rPr lang="en-US" sz="1800" dirty="0" err="1"/>
              <a:t>AirPods</a:t>
            </a:r>
            <a:r>
              <a:rPr lang="en-US" sz="1800" dirty="0"/>
              <a:t>, iPads, Apple Watches and Macs, will be hit with a </a:t>
            </a:r>
            <a:r>
              <a:rPr lang="en-US" sz="1800" dirty="0">
                <a:highlight>
                  <a:srgbClr val="FFFF00"/>
                </a:highlight>
              </a:rPr>
              <a:t>46% levy</a:t>
            </a:r>
            <a:r>
              <a:rPr lang="en-US" sz="1800" dirty="0"/>
              <a:t>.</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marL="0" indent="0">
              <a:buNone/>
            </a:pPr>
            <a:endParaRPr lang="en-US" sz="22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a:t>Daniel Ives, a managing director at Wedbush Securities, said that </a:t>
            </a:r>
            <a:r>
              <a:rPr lang="en-US" sz="1800" dirty="0">
                <a:highlight>
                  <a:srgbClr val="FFFF00"/>
                </a:highlight>
              </a:rPr>
              <a:t>it would take Apple three years and $30 billion to move just 10% of its supply chain from Asia to the U.S</a:t>
            </a:r>
            <a:r>
              <a:rPr lang="en-US" sz="1800" dirty="0"/>
              <a:t>. Plus, the iPhone’s price tag would grow to $3,500, he estimated.</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49249AD9-20F7-4746-8362-0891580D2B6C}"/>
              </a:ext>
            </a:extLst>
          </p:cNvPr>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21</a:t>
            </a:fld>
            <a:endParaRPr lang="en-US"/>
          </a:p>
        </p:txBody>
      </p:sp>
      <p:sp>
        <p:nvSpPr>
          <p:cNvPr id="10" name="TextBox 9">
            <a:extLst>
              <a:ext uri="{FF2B5EF4-FFF2-40B4-BE49-F238E27FC236}">
                <a16:creationId xmlns:a16="http://schemas.microsoft.com/office/drawing/2014/main" id="{0D970019-DFE3-4557-A59F-2A87788D4B85}"/>
              </a:ext>
            </a:extLst>
          </p:cNvPr>
          <p:cNvSpPr txBox="1"/>
          <p:nvPr/>
        </p:nvSpPr>
        <p:spPr>
          <a:xfrm>
            <a:off x="3810000" y="3657600"/>
            <a:ext cx="4824492" cy="338554"/>
          </a:xfrm>
          <a:prstGeom prst="rect">
            <a:avLst/>
          </a:prstGeom>
          <a:noFill/>
        </p:spPr>
        <p:txBody>
          <a:bodyPr wrap="square">
            <a:spAutoFit/>
          </a:bodyPr>
          <a:lstStyle/>
          <a:p>
            <a:pPr marL="0" indent="0">
              <a:buNone/>
            </a:pPr>
            <a:r>
              <a:rPr lang="en-US" sz="800" b="1" dirty="0">
                <a:latin typeface="Calibri" panose="020F0502020204030204" pitchFamily="34" charset="0"/>
                <a:ea typeface="Calibri" panose="020F0502020204030204" pitchFamily="34" charset="0"/>
                <a:cs typeface="Times New Roman" panose="02020603050405020304" pitchFamily="18" charset="0"/>
              </a:rPr>
              <a:t>Source</a:t>
            </a:r>
            <a:r>
              <a:rPr lang="en-US" sz="800" dirty="0">
                <a:latin typeface="Calibri" panose="020F0502020204030204" pitchFamily="34" charset="0"/>
                <a:ea typeface="Calibri" panose="020F0502020204030204" pitchFamily="34" charset="0"/>
                <a:cs typeface="Times New Roman" panose="02020603050405020304" pitchFamily="18" charset="0"/>
              </a:rPr>
              <a:t>: </a:t>
            </a:r>
            <a:r>
              <a:rPr lang="en-US" sz="800" dirty="0">
                <a:latin typeface="Calibri" panose="020F0502020204030204" pitchFamily="34" charset="0"/>
                <a:ea typeface="Calibri" panose="020F0502020204030204" pitchFamily="34" charset="0"/>
                <a:cs typeface="Times New Roman" panose="02020603050405020304" pitchFamily="18" charset="0"/>
                <a:hlinkClick r:id="rId3"/>
              </a:rPr>
              <a:t>“‘Nowhere to hide.’ How Apple and others in Silicon Valley are bracing for Trump tariffs,” By Queenie Wong and Wendy Lee, </a:t>
            </a:r>
            <a:r>
              <a:rPr lang="en-US" sz="800" i="1" dirty="0">
                <a:latin typeface="Calibri" panose="020F0502020204030204" pitchFamily="34" charset="0"/>
                <a:ea typeface="Calibri" panose="020F0502020204030204" pitchFamily="34" charset="0"/>
                <a:cs typeface="Times New Roman" panose="02020603050405020304" pitchFamily="18" charset="0"/>
                <a:hlinkClick r:id="rId3"/>
              </a:rPr>
              <a:t>LA Times</a:t>
            </a:r>
            <a:r>
              <a:rPr lang="en-US" sz="800" dirty="0">
                <a:latin typeface="Calibri" panose="020F0502020204030204" pitchFamily="34" charset="0"/>
                <a:ea typeface="Calibri" panose="020F0502020204030204" pitchFamily="34" charset="0"/>
                <a:cs typeface="Times New Roman" panose="02020603050405020304" pitchFamily="18" charset="0"/>
                <a:hlinkClick r:id="rId3"/>
              </a:rPr>
              <a:t>, 04-05-2025</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DE0E894C-28A8-49CC-B3F1-2E5FFAC589BC}"/>
              </a:ext>
            </a:extLst>
          </p:cNvPr>
          <p:cNvSpPr txBox="1"/>
          <p:nvPr/>
        </p:nvSpPr>
        <p:spPr>
          <a:xfrm>
            <a:off x="3810000" y="2291029"/>
            <a:ext cx="4933154" cy="215444"/>
          </a:xfrm>
          <a:prstGeom prst="rect">
            <a:avLst/>
          </a:prstGeom>
          <a:noFill/>
        </p:spPr>
        <p:txBody>
          <a:bodyPr wrap="square">
            <a:spAutoFit/>
          </a:bodyPr>
          <a:lstStyle/>
          <a:p>
            <a:pPr algn="l"/>
            <a:r>
              <a:rPr lang="en-US" sz="800" b="1" i="0" dirty="0">
                <a:solidFill>
                  <a:srgbClr val="000000"/>
                </a:solidFill>
                <a:effectLst/>
                <a:latin typeface="BWHaasGroteskWeb"/>
              </a:rPr>
              <a:t>Source</a:t>
            </a:r>
            <a:r>
              <a:rPr lang="en-US" sz="800" i="0" dirty="0">
                <a:solidFill>
                  <a:srgbClr val="000000"/>
                </a:solidFill>
                <a:effectLst/>
                <a:latin typeface="BWHaasGroteskWeb"/>
              </a:rPr>
              <a:t>: </a:t>
            </a:r>
            <a:r>
              <a:rPr lang="en-US" sz="800" i="0" dirty="0">
                <a:solidFill>
                  <a:srgbClr val="000000"/>
                </a:solidFill>
                <a:effectLst/>
                <a:latin typeface="BWHaasGroteskWeb"/>
                <a:hlinkClick r:id="rId4"/>
              </a:rPr>
              <a:t>“Apple iPhone Price Hikes Are Now Looking Possible in the US,” By Mark </a:t>
            </a:r>
            <a:r>
              <a:rPr lang="en-US" sz="800" i="0" dirty="0" err="1">
                <a:solidFill>
                  <a:srgbClr val="000000"/>
                </a:solidFill>
                <a:effectLst/>
                <a:latin typeface="BWHaasGroteskWeb"/>
                <a:hlinkClick r:id="rId4"/>
              </a:rPr>
              <a:t>Gurman</a:t>
            </a:r>
            <a:r>
              <a:rPr lang="en-US" sz="800" i="0" dirty="0">
                <a:solidFill>
                  <a:srgbClr val="000000"/>
                </a:solidFill>
                <a:effectLst/>
                <a:latin typeface="BWHaasGroteskWeb"/>
                <a:hlinkClick r:id="rId4"/>
              </a:rPr>
              <a:t>, </a:t>
            </a:r>
            <a:r>
              <a:rPr lang="en-US" sz="800" i="1" dirty="0">
                <a:solidFill>
                  <a:srgbClr val="000000"/>
                </a:solidFill>
                <a:effectLst/>
                <a:latin typeface="BWHaasGroteskWeb"/>
                <a:hlinkClick r:id="rId4"/>
              </a:rPr>
              <a:t>Bloomberg</a:t>
            </a:r>
            <a:r>
              <a:rPr lang="en-US" sz="800" dirty="0">
                <a:solidFill>
                  <a:srgbClr val="000000"/>
                </a:solidFill>
                <a:effectLst/>
                <a:latin typeface="BWHaasGroteskWeb"/>
                <a:hlinkClick r:id="rId4"/>
              </a:rPr>
              <a:t>, 04-06-2025</a:t>
            </a:r>
            <a:r>
              <a:rPr lang="en-US" sz="800" dirty="0">
                <a:solidFill>
                  <a:srgbClr val="000000"/>
                </a:solidFill>
                <a:effectLst/>
                <a:latin typeface="BWHaasGroteskWeb"/>
              </a:rPr>
              <a:t>.</a:t>
            </a:r>
            <a:endParaRPr lang="en-US" sz="800" i="0" dirty="0">
              <a:solidFill>
                <a:srgbClr val="000000"/>
              </a:solidFill>
              <a:effectLst/>
              <a:latin typeface="BWHaasGroteskWeb"/>
            </a:endParaRPr>
          </a:p>
        </p:txBody>
      </p:sp>
      <p:sp>
        <p:nvSpPr>
          <p:cNvPr id="8" name="Title 1">
            <a:extLst>
              <a:ext uri="{FF2B5EF4-FFF2-40B4-BE49-F238E27FC236}">
                <a16:creationId xmlns:a16="http://schemas.microsoft.com/office/drawing/2014/main" id="{03DB45DF-356B-4B7A-A0E8-76E3856971AC}"/>
              </a:ext>
            </a:extLst>
          </p:cNvPr>
          <p:cNvSpPr>
            <a:spLocks noGrp="1"/>
          </p:cNvSpPr>
          <p:nvPr>
            <p:ph type="title"/>
          </p:nvPr>
        </p:nvSpPr>
        <p:spPr>
          <a:xfrm>
            <a:off x="612648" y="228600"/>
            <a:ext cx="8153400" cy="990600"/>
          </a:xfrm>
        </p:spPr>
        <p:txBody>
          <a:bodyPr>
            <a:normAutofit fontScale="90000"/>
          </a:bodyPr>
          <a:lstStyle/>
          <a:p>
            <a:r>
              <a:rPr lang="en-US" sz="4400" dirty="0"/>
              <a:t>Tariffs &amp; variable cost pass-through</a:t>
            </a:r>
            <a:br>
              <a:rPr lang="en-US" sz="4400" dirty="0"/>
            </a:br>
            <a:r>
              <a:rPr lang="en-US" sz="3600" dirty="0"/>
              <a:t>Pivots may be difficult</a:t>
            </a:r>
            <a:endParaRPr lang="en-US" dirty="0"/>
          </a:p>
        </p:txBody>
      </p:sp>
      <p:pic>
        <p:nvPicPr>
          <p:cNvPr id="2050" name="Picture 2" descr="Apple's stock takes a nosedive as tariff relief buzz fizzles—what's next  for tech giants? Apple stock is experiencing a significant decline due to  new tariffs and technical pressure. Investors should be wary">
            <a:extLst>
              <a:ext uri="{FF2B5EF4-FFF2-40B4-BE49-F238E27FC236}">
                <a16:creationId xmlns:a16="http://schemas.microsoft.com/office/drawing/2014/main" id="{1352603B-968A-467F-8706-9C4A5DE61D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1062" y="4183312"/>
            <a:ext cx="1981200" cy="19812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C19302E-8176-44EA-B239-8C21CEAEDE26}"/>
              </a:ext>
            </a:extLst>
          </p:cNvPr>
          <p:cNvSpPr txBox="1"/>
          <p:nvPr/>
        </p:nvSpPr>
        <p:spPr>
          <a:xfrm>
            <a:off x="2939986" y="4336435"/>
            <a:ext cx="5867400" cy="1631216"/>
          </a:xfrm>
          <a:prstGeom prst="rect">
            <a:avLst/>
          </a:prstGeom>
          <a:noFill/>
        </p:spPr>
        <p:txBody>
          <a:bodyPr wrap="square">
            <a:spAutoFit/>
          </a:bodyPr>
          <a:lstStyle/>
          <a:p>
            <a:pPr>
              <a:spcBef>
                <a:spcPts val="1200"/>
              </a:spcBef>
              <a:spcAft>
                <a:spcPts val="1200"/>
              </a:spcAft>
            </a:pPr>
            <a:r>
              <a:rPr lang="en-US" sz="1500" b="0" i="0" dirty="0">
                <a:solidFill>
                  <a:srgbClr val="333333"/>
                </a:solidFill>
                <a:effectLst/>
                <a:latin typeface="+mj-lt"/>
                <a:cs typeface="Times New Roman" panose="02020603050405020304" pitchFamily="18" charset="0"/>
                <a:hlinkClick r:id="rId6"/>
              </a:rPr>
              <a:t>Rosenblatt Securities</a:t>
            </a:r>
            <a:r>
              <a:rPr lang="en-US" sz="1500" b="0" i="0" dirty="0">
                <a:solidFill>
                  <a:srgbClr val="333333"/>
                </a:solidFill>
                <a:effectLst/>
                <a:latin typeface="+mj-lt"/>
                <a:cs typeface="Times New Roman" panose="02020603050405020304" pitchFamily="18" charset="0"/>
              </a:rPr>
              <a:t>: 43% price increase for </a:t>
            </a:r>
            <a:r>
              <a:rPr lang="en-US" sz="1500" i="0" dirty="0">
                <a:solidFill>
                  <a:srgbClr val="333333"/>
                </a:solidFill>
                <a:effectLst/>
                <a:latin typeface="+mj-lt"/>
                <a:cs typeface="Times New Roman" panose="02020603050405020304" pitchFamily="18" charset="0"/>
              </a:rPr>
              <a:t>iPhones and Apple Watches</a:t>
            </a:r>
          </a:p>
          <a:p>
            <a:pPr>
              <a:spcBef>
                <a:spcPts val="1200"/>
              </a:spcBef>
              <a:spcAft>
                <a:spcPts val="1200"/>
              </a:spcAft>
            </a:pPr>
            <a:r>
              <a:rPr lang="en-US" sz="1500" b="0" i="0" dirty="0">
                <a:solidFill>
                  <a:srgbClr val="020203"/>
                </a:solidFill>
                <a:effectLst/>
                <a:latin typeface="+mj-lt"/>
                <a:cs typeface="Times New Roman" panose="02020603050405020304" pitchFamily="18" charset="0"/>
                <a:hlinkClick r:id="rId7"/>
              </a:rPr>
              <a:t>Scholar Financial Advising</a:t>
            </a:r>
            <a:r>
              <a:rPr lang="en-US" sz="1500" b="0" i="0" dirty="0">
                <a:solidFill>
                  <a:srgbClr val="020203"/>
                </a:solidFill>
                <a:effectLst/>
                <a:latin typeface="+mj-lt"/>
                <a:cs typeface="Times New Roman" panose="02020603050405020304" pitchFamily="18" charset="0"/>
              </a:rPr>
              <a:t>: 10% increase for Apple product prices</a:t>
            </a:r>
          </a:p>
          <a:p>
            <a:pPr>
              <a:spcBef>
                <a:spcPts val="1200"/>
              </a:spcBef>
              <a:spcAft>
                <a:spcPts val="1200"/>
              </a:spcAft>
            </a:pPr>
            <a:r>
              <a:rPr lang="en-US" sz="1500" dirty="0">
                <a:solidFill>
                  <a:srgbClr val="020203"/>
                </a:solidFill>
                <a:latin typeface="+mj-lt"/>
                <a:cs typeface="Times New Roman" panose="02020603050405020304" pitchFamily="18" charset="0"/>
                <a:hlinkClick r:id="rId8"/>
              </a:rPr>
              <a:t>Morgan Stanley</a:t>
            </a:r>
            <a:r>
              <a:rPr lang="en-US" sz="1500" dirty="0">
                <a:solidFill>
                  <a:srgbClr val="020203"/>
                </a:solidFill>
                <a:latin typeface="+mj-lt"/>
                <a:cs typeface="Times New Roman" panose="02020603050405020304" pitchFamily="18" charset="0"/>
              </a:rPr>
              <a:t>: </a:t>
            </a:r>
            <a:r>
              <a:rPr lang="en-US" sz="1500" dirty="0">
                <a:solidFill>
                  <a:srgbClr val="171717"/>
                </a:solidFill>
                <a:latin typeface="+mj-lt"/>
                <a:cs typeface="Times New Roman" panose="02020603050405020304" pitchFamily="18" charset="0"/>
              </a:rPr>
              <a:t>17% to 18% </a:t>
            </a:r>
            <a:r>
              <a:rPr lang="en-US" sz="1500" b="0" i="0" dirty="0">
                <a:solidFill>
                  <a:srgbClr val="171717"/>
                </a:solidFill>
                <a:effectLst/>
                <a:latin typeface="+mj-lt"/>
                <a:cs typeface="Times New Roman" panose="02020603050405020304" pitchFamily="18" charset="0"/>
              </a:rPr>
              <a:t>price increase across Apple’s product lines in the U.S</a:t>
            </a:r>
            <a:endParaRPr lang="en-US" sz="2400" dirty="0">
              <a:latin typeface="+mj-lt"/>
              <a:cs typeface="Times New Roman" panose="02020603050405020304" pitchFamily="18" charset="0"/>
            </a:endParaRPr>
          </a:p>
        </p:txBody>
      </p:sp>
      <p:sp>
        <p:nvSpPr>
          <p:cNvPr id="11" name="TextBox 10">
            <a:extLst>
              <a:ext uri="{FF2B5EF4-FFF2-40B4-BE49-F238E27FC236}">
                <a16:creationId xmlns:a16="http://schemas.microsoft.com/office/drawing/2014/main" id="{B4D893A7-339B-44E0-B1B3-009CEF179472}"/>
              </a:ext>
            </a:extLst>
          </p:cNvPr>
          <p:cNvSpPr txBox="1"/>
          <p:nvPr/>
        </p:nvSpPr>
        <p:spPr>
          <a:xfrm>
            <a:off x="533400" y="6362581"/>
            <a:ext cx="6611105" cy="461665"/>
          </a:xfrm>
          <a:prstGeom prst="rect">
            <a:avLst/>
          </a:prstGeom>
          <a:noFill/>
        </p:spPr>
        <p:txBody>
          <a:bodyPr wrap="none" rtlCol="0">
            <a:spAutoFit/>
          </a:bodyPr>
          <a:lstStyle/>
          <a:p>
            <a:r>
              <a:rPr lang="en-US" dirty="0">
                <a:solidFill>
                  <a:srgbClr val="FF0000"/>
                </a:solidFill>
              </a:rPr>
              <a:t>Expert predictions are all over the place on this one!</a:t>
            </a:r>
          </a:p>
        </p:txBody>
      </p:sp>
    </p:spTree>
    <p:extLst>
      <p:ext uri="{BB962C8B-B14F-4D97-AF65-F5344CB8AC3E}">
        <p14:creationId xmlns:p14="http://schemas.microsoft.com/office/powerpoint/2010/main" val="1495599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612648" y="1600200"/>
            <a:ext cx="8153400" cy="4495800"/>
          </a:xfrm>
          <a:prstGeom prst="rect">
            <a:avLst/>
          </a:prstGeom>
        </p:spPr>
        <p:txBody>
          <a:bodyPr>
            <a:normAutofit/>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a:spcBef>
                <a:spcPts val="1200"/>
              </a:spcBef>
              <a:spcAft>
                <a:spcPts val="1200"/>
              </a:spcAft>
            </a:pPr>
            <a:r>
              <a:rPr lang="en-US" sz="2400" dirty="0"/>
              <a:t>Market simulation of effects of inflation on prices</a:t>
            </a:r>
          </a:p>
          <a:p>
            <a:pPr>
              <a:spcBef>
                <a:spcPts val="1200"/>
              </a:spcBef>
              <a:spcAft>
                <a:spcPts val="1200"/>
              </a:spcAft>
            </a:pPr>
            <a:r>
              <a:rPr lang="en-US" sz="2400" dirty="0"/>
              <a:t>Based on conjoint estimates of demand for the Apple Smartwatch Series 8</a:t>
            </a:r>
          </a:p>
          <a:p>
            <a:pPr>
              <a:spcBef>
                <a:spcPts val="1200"/>
              </a:spcBef>
              <a:spcAft>
                <a:spcPts val="1200"/>
              </a:spcAft>
            </a:pPr>
            <a:r>
              <a:rPr lang="en-US" sz="2400" dirty="0"/>
              <a:t>See “extra” slides for details</a:t>
            </a:r>
          </a:p>
        </p:txBody>
      </p:sp>
      <p:sp>
        <p:nvSpPr>
          <p:cNvPr id="2" name="Title 1"/>
          <p:cNvSpPr>
            <a:spLocks noGrp="1"/>
          </p:cNvSpPr>
          <p:nvPr>
            <p:ph type="title"/>
          </p:nvPr>
        </p:nvSpPr>
        <p:spPr/>
        <p:txBody>
          <a:bodyPr/>
          <a:lstStyle/>
          <a:p>
            <a:r>
              <a:rPr lang="en-US" dirty="0"/>
              <a:t>Tariff pass-through at Apple</a:t>
            </a:r>
          </a:p>
        </p:txBody>
      </p:sp>
      <p:sp>
        <p:nvSpPr>
          <p:cNvPr id="3" name="Slide Number Placeholder 2"/>
          <p:cNvSpPr>
            <a:spLocks noGrp="1"/>
          </p:cNvSpPr>
          <p:nvPr>
            <p:ph type="sldNum" sz="quarter" idx="12"/>
          </p:nvPr>
        </p:nvSpPr>
        <p:spPr/>
        <p:txBody>
          <a:bodyPr>
            <a:normAutofit fontScale="85000" lnSpcReduction="20000"/>
          </a:bodyPr>
          <a:lstStyle/>
          <a:p>
            <a:pPr>
              <a:defRPr/>
            </a:pPr>
            <a:fld id="{E57F843F-9B66-4D57-967E-F7A9433F7ABE}" type="slidenum">
              <a:rPr lang="en-US" smtClean="0"/>
              <a:pPr>
                <a:defRPr/>
              </a:pPr>
              <a:t>22</a:t>
            </a:fld>
            <a:endParaRPr lang="en-US"/>
          </a:p>
        </p:txBody>
      </p:sp>
      <p:pic>
        <p:nvPicPr>
          <p:cNvPr id="4" name="Picture 3" descr="apple-watch"/>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3276600"/>
            <a:ext cx="2514600" cy="2514600"/>
          </a:xfrm>
          <a:prstGeom prst="rect">
            <a:avLst/>
          </a:prstGeom>
          <a:noFill/>
          <a:ln>
            <a:noFill/>
          </a:ln>
        </p:spPr>
      </p:pic>
      <p:pic>
        <p:nvPicPr>
          <p:cNvPr id="5" name="Picture 4"/>
          <p:cNvPicPr>
            <a:picLocks noChangeAspect="1"/>
          </p:cNvPicPr>
          <p:nvPr/>
        </p:nvPicPr>
        <p:blipFill>
          <a:blip r:embed="rId3"/>
          <a:stretch>
            <a:fillRect/>
          </a:stretch>
        </p:blipFill>
        <p:spPr>
          <a:xfrm>
            <a:off x="5562600" y="5889435"/>
            <a:ext cx="2957765" cy="667130"/>
          </a:xfrm>
          <a:prstGeom prst="rect">
            <a:avLst/>
          </a:prstGeom>
        </p:spPr>
      </p:pic>
    </p:spTree>
    <p:extLst>
      <p:ext uri="{BB962C8B-B14F-4D97-AF65-F5344CB8AC3E}">
        <p14:creationId xmlns:p14="http://schemas.microsoft.com/office/powerpoint/2010/main" val="2117643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355C8CF-DE50-40DE-BDEA-35942765015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800" y="1879806"/>
            <a:ext cx="6292324" cy="3841515"/>
          </a:xfrm>
          <a:prstGeom prst="rect">
            <a:avLst/>
          </a:prstGeom>
        </p:spPr>
      </p:pic>
      <p:sp>
        <p:nvSpPr>
          <p:cNvPr id="2" name="Title 1"/>
          <p:cNvSpPr>
            <a:spLocks noGrp="1"/>
          </p:cNvSpPr>
          <p:nvPr>
            <p:ph type="title"/>
          </p:nvPr>
        </p:nvSpPr>
        <p:spPr/>
        <p:txBody>
          <a:bodyPr>
            <a:normAutofit fontScale="90000"/>
          </a:bodyPr>
          <a:lstStyle/>
          <a:p>
            <a:r>
              <a:rPr lang="en-US" dirty="0"/>
              <a:t>Cost pass-through at Apple</a:t>
            </a:r>
            <a:br>
              <a:rPr lang="en-US" dirty="0"/>
            </a:br>
            <a:r>
              <a:rPr lang="en-US" sz="3600" dirty="0"/>
              <a:t>Estimated Demand</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276F96D9-8525-4139-BFB1-EF38FC0A35D4}" type="slidenum">
              <a:rPr lang="en-US" smtClean="0"/>
              <a:pPr>
                <a:defRPr/>
              </a:pPr>
              <a:t>23</a:t>
            </a:fld>
            <a:endParaRPr lang="en-US"/>
          </a:p>
        </p:txBody>
      </p:sp>
      <p:sp>
        <p:nvSpPr>
          <p:cNvPr id="13" name="Left Brace 12"/>
          <p:cNvSpPr/>
          <p:nvPr/>
        </p:nvSpPr>
        <p:spPr>
          <a:xfrm>
            <a:off x="1371600" y="1905000"/>
            <a:ext cx="304800" cy="36576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304801" y="3200400"/>
            <a:ext cx="938774" cy="1200329"/>
          </a:xfrm>
          <a:prstGeom prst="rect">
            <a:avLst/>
          </a:prstGeom>
          <a:noFill/>
        </p:spPr>
        <p:txBody>
          <a:bodyPr wrap="square" rtlCol="0">
            <a:spAutoFit/>
          </a:bodyPr>
          <a:lstStyle/>
          <a:p>
            <a:pPr algn="ctr"/>
            <a:r>
              <a:rPr lang="en-US" sz="1200" dirty="0">
                <a:solidFill>
                  <a:schemeClr val="accent1">
                    <a:lumMod val="50000"/>
                  </a:schemeClr>
                </a:solidFill>
              </a:rPr>
              <a:t>Demand based on competing Fitbit &amp; Samsung watches</a:t>
            </a:r>
          </a:p>
        </p:txBody>
      </p:sp>
    </p:spTree>
    <p:extLst>
      <p:ext uri="{BB962C8B-B14F-4D97-AF65-F5344CB8AC3E}">
        <p14:creationId xmlns:p14="http://schemas.microsoft.com/office/powerpoint/2010/main" val="786789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24</a:t>
            </a:fld>
            <a:endParaRPr lang="en-US"/>
          </a:p>
        </p:txBody>
      </p:sp>
      <p:sp>
        <p:nvSpPr>
          <p:cNvPr id="7" name="TextBox 6"/>
          <p:cNvSpPr txBox="1"/>
          <p:nvPr/>
        </p:nvSpPr>
        <p:spPr>
          <a:xfrm>
            <a:off x="381000" y="5715000"/>
            <a:ext cx="7320722" cy="830997"/>
          </a:xfrm>
          <a:prstGeom prst="rect">
            <a:avLst/>
          </a:prstGeom>
          <a:noFill/>
        </p:spPr>
        <p:txBody>
          <a:bodyPr wrap="none" rtlCol="0">
            <a:spAutoFit/>
          </a:bodyPr>
          <a:lstStyle/>
          <a:p>
            <a:r>
              <a:rPr lang="en-US" sz="1600" b="1" dirty="0"/>
              <a:t>Assume </a:t>
            </a:r>
          </a:p>
          <a:p>
            <a:pPr marL="285750" indent="-285750">
              <a:buFont typeface="Arial" panose="020B0604020202020204" pitchFamily="34" charset="0"/>
              <a:buChar char="•"/>
            </a:pPr>
            <a:r>
              <a:rPr lang="en-US" sz="1600" dirty="0"/>
              <a:t>Apple, Samsung &amp; Fitbit are all exposed to the 46% tariff, driving costs up to </a:t>
            </a:r>
            <a:r>
              <a:rPr lang="en-US" sz="1600" b="1" dirty="0">
                <a:effectLst>
                  <a:outerShdw blurRad="38100" dist="38100" dir="2700000" algn="tl">
                    <a:srgbClr val="000000">
                      <a:alpha val="43137"/>
                    </a:srgbClr>
                  </a:outerShdw>
                </a:effectLst>
              </a:rPr>
              <a:t>$199</a:t>
            </a:r>
          </a:p>
          <a:p>
            <a:pPr marL="285750" indent="-285750">
              <a:buFont typeface="Arial" panose="020B0604020202020204" pitchFamily="34" charset="0"/>
              <a:buChar char="•"/>
            </a:pPr>
            <a:r>
              <a:rPr lang="en-US" sz="1600" dirty="0"/>
              <a:t>Samsung &amp; Fitbit pass through the entire tariff</a:t>
            </a:r>
            <a:endParaRPr lang="en-US" sz="1100" dirty="0"/>
          </a:p>
        </p:txBody>
      </p:sp>
      <p:sp>
        <p:nvSpPr>
          <p:cNvPr id="9" name="TextBox 8"/>
          <p:cNvSpPr txBox="1"/>
          <p:nvPr/>
        </p:nvSpPr>
        <p:spPr>
          <a:xfrm>
            <a:off x="33867" y="2699394"/>
            <a:ext cx="2253630" cy="830997"/>
          </a:xfrm>
          <a:prstGeom prst="rect">
            <a:avLst/>
          </a:prstGeom>
          <a:noFill/>
        </p:spPr>
        <p:txBody>
          <a:bodyPr wrap="none" rtlCol="0">
            <a:spAutoFit/>
          </a:bodyPr>
          <a:lstStyle/>
          <a:p>
            <a:r>
              <a:rPr lang="en-US" sz="1600" dirty="0">
                <a:solidFill>
                  <a:srgbClr val="0066FF"/>
                </a:solidFill>
              </a:rPr>
              <a:t>Marginal cost: $136</a:t>
            </a:r>
          </a:p>
          <a:p>
            <a:endParaRPr lang="en-US" sz="1600" dirty="0">
              <a:solidFill>
                <a:srgbClr val="0066FF"/>
              </a:solidFill>
            </a:endParaRPr>
          </a:p>
          <a:p>
            <a:r>
              <a:rPr lang="en-US" sz="1600" dirty="0">
                <a:solidFill>
                  <a:schemeClr val="bg1"/>
                </a:solidFill>
              </a:rPr>
              <a:t>New marginal cost: $163</a:t>
            </a:r>
          </a:p>
        </p:txBody>
      </p:sp>
      <p:sp>
        <p:nvSpPr>
          <p:cNvPr id="10" name="Title 1"/>
          <p:cNvSpPr>
            <a:spLocks noGrp="1"/>
          </p:cNvSpPr>
          <p:nvPr>
            <p:ph type="title"/>
          </p:nvPr>
        </p:nvSpPr>
        <p:spPr>
          <a:xfrm>
            <a:off x="612648" y="228600"/>
            <a:ext cx="8153400" cy="990600"/>
          </a:xfrm>
        </p:spPr>
        <p:txBody>
          <a:bodyPr>
            <a:normAutofit fontScale="90000"/>
          </a:bodyPr>
          <a:lstStyle/>
          <a:p>
            <a:r>
              <a:rPr lang="en-US" dirty="0"/>
              <a:t>Cost pass-through at Apple</a:t>
            </a:r>
            <a:br>
              <a:rPr lang="en-US" dirty="0"/>
            </a:br>
            <a:r>
              <a:rPr lang="en-US" sz="3600" dirty="0"/>
              <a:t>Profit &amp; pricing</a:t>
            </a:r>
            <a:endParaRPr lang="en-US" dirty="0"/>
          </a:p>
        </p:txBody>
      </p:sp>
      <p:pic>
        <p:nvPicPr>
          <p:cNvPr id="12" name="Picture 11">
            <a:extLst>
              <a:ext uri="{FF2B5EF4-FFF2-40B4-BE49-F238E27FC236}">
                <a16:creationId xmlns:a16="http://schemas.microsoft.com/office/drawing/2014/main" id="{2849DB9D-3954-49F1-AAFD-25CF887615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800" y="1883664"/>
            <a:ext cx="6292324" cy="3841515"/>
          </a:xfrm>
          <a:prstGeom prst="rect">
            <a:avLst/>
          </a:prstGeom>
        </p:spPr>
      </p:pic>
    </p:spTree>
    <p:extLst>
      <p:ext uri="{BB962C8B-B14F-4D97-AF65-F5344CB8AC3E}">
        <p14:creationId xmlns:p14="http://schemas.microsoft.com/office/powerpoint/2010/main" val="1669062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D08616-32DB-4C55-A6C0-158EEC629E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800" y="1883664"/>
            <a:ext cx="6292324" cy="3841515"/>
          </a:xfrm>
          <a:prstGeom prst="rect">
            <a:avLst/>
          </a:prstGeom>
        </p:spPr>
      </p:pic>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25</a:t>
            </a:fld>
            <a:endParaRPr lang="en-US"/>
          </a:p>
        </p:txBody>
      </p:sp>
      <p:sp>
        <p:nvSpPr>
          <p:cNvPr id="6" name="TextBox 5"/>
          <p:cNvSpPr txBox="1"/>
          <p:nvPr/>
        </p:nvSpPr>
        <p:spPr>
          <a:xfrm>
            <a:off x="152400" y="2971800"/>
            <a:ext cx="1451038" cy="738664"/>
          </a:xfrm>
          <a:prstGeom prst="rect">
            <a:avLst/>
          </a:prstGeom>
          <a:noFill/>
        </p:spPr>
        <p:txBody>
          <a:bodyPr wrap="none" rtlCol="0">
            <a:spAutoFit/>
          </a:bodyPr>
          <a:lstStyle/>
          <a:p>
            <a:r>
              <a:rPr lang="en-US" sz="1400" dirty="0"/>
              <a:t>Demand shifts</a:t>
            </a:r>
          </a:p>
          <a:p>
            <a:r>
              <a:rPr lang="en-US" sz="1400" dirty="0"/>
              <a:t>due to competitor</a:t>
            </a:r>
          </a:p>
          <a:p>
            <a:r>
              <a:rPr lang="en-US" sz="1400" dirty="0"/>
              <a:t>price changes</a:t>
            </a:r>
          </a:p>
        </p:txBody>
      </p:sp>
      <p:sp>
        <p:nvSpPr>
          <p:cNvPr id="10" name="Right Arrow 9"/>
          <p:cNvSpPr/>
          <p:nvPr/>
        </p:nvSpPr>
        <p:spPr>
          <a:xfrm rot="18499661">
            <a:off x="3023428" y="3081287"/>
            <a:ext cx="271188"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p:cNvSpPr>
            <a:spLocks noGrp="1"/>
          </p:cNvSpPr>
          <p:nvPr>
            <p:ph type="title"/>
          </p:nvPr>
        </p:nvSpPr>
        <p:spPr>
          <a:xfrm>
            <a:off x="612648" y="228600"/>
            <a:ext cx="8153400" cy="990600"/>
          </a:xfrm>
        </p:spPr>
        <p:txBody>
          <a:bodyPr>
            <a:normAutofit fontScale="90000"/>
          </a:bodyPr>
          <a:lstStyle/>
          <a:p>
            <a:r>
              <a:rPr lang="en-US" dirty="0"/>
              <a:t>Cost pass-through at Apple</a:t>
            </a:r>
            <a:br>
              <a:rPr lang="en-US" dirty="0"/>
            </a:br>
            <a:r>
              <a:rPr lang="en-US" sz="3600" dirty="0"/>
              <a:t>Demand Shift due to competitor pass-through</a:t>
            </a:r>
            <a:endParaRPr lang="en-US" dirty="0"/>
          </a:p>
        </p:txBody>
      </p:sp>
      <p:sp>
        <p:nvSpPr>
          <p:cNvPr id="13" name="TextBox 12">
            <a:extLst>
              <a:ext uri="{FF2B5EF4-FFF2-40B4-BE49-F238E27FC236}">
                <a16:creationId xmlns:a16="http://schemas.microsoft.com/office/drawing/2014/main" id="{FDFB3A01-765F-4216-845E-6DC46B8170D5}"/>
              </a:ext>
            </a:extLst>
          </p:cNvPr>
          <p:cNvSpPr txBox="1"/>
          <p:nvPr/>
        </p:nvSpPr>
        <p:spPr>
          <a:xfrm>
            <a:off x="381000" y="5715000"/>
            <a:ext cx="7320722" cy="830997"/>
          </a:xfrm>
          <a:prstGeom prst="rect">
            <a:avLst/>
          </a:prstGeom>
          <a:noFill/>
        </p:spPr>
        <p:txBody>
          <a:bodyPr wrap="none" rtlCol="0">
            <a:spAutoFit/>
          </a:bodyPr>
          <a:lstStyle/>
          <a:p>
            <a:r>
              <a:rPr lang="en-US" sz="1600" b="1" dirty="0"/>
              <a:t>Assume </a:t>
            </a:r>
          </a:p>
          <a:p>
            <a:pPr marL="285750" indent="-285750">
              <a:buFont typeface="Arial" panose="020B0604020202020204" pitchFamily="34" charset="0"/>
              <a:buChar char="•"/>
            </a:pPr>
            <a:r>
              <a:rPr lang="en-US" sz="1600" dirty="0"/>
              <a:t>Apple, Samsung &amp; Fitbit are all exposed to the 46% tariff, driving costs up to </a:t>
            </a:r>
            <a:r>
              <a:rPr lang="en-US" sz="1600" b="1" dirty="0">
                <a:effectLst>
                  <a:outerShdw blurRad="38100" dist="38100" dir="2700000" algn="tl">
                    <a:srgbClr val="000000">
                      <a:alpha val="43137"/>
                    </a:srgbClr>
                  </a:outerShdw>
                </a:effectLst>
              </a:rPr>
              <a:t>$199</a:t>
            </a:r>
            <a:endParaRPr lang="en-US" sz="1600" dirty="0"/>
          </a:p>
          <a:p>
            <a:pPr marL="285750" indent="-285750">
              <a:buFont typeface="Arial" panose="020B0604020202020204" pitchFamily="34" charset="0"/>
              <a:buChar char="•"/>
            </a:pPr>
            <a:r>
              <a:rPr lang="en-US" sz="1600" dirty="0"/>
              <a:t>Samsung &amp; Fitbit pass through the entire tariff</a:t>
            </a:r>
            <a:endParaRPr lang="en-US" sz="1100" dirty="0"/>
          </a:p>
        </p:txBody>
      </p:sp>
    </p:spTree>
    <p:extLst>
      <p:ext uri="{BB962C8B-B14F-4D97-AF65-F5344CB8AC3E}">
        <p14:creationId xmlns:p14="http://schemas.microsoft.com/office/powerpoint/2010/main" val="126956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D6EBB1-4E86-43D1-83FB-5B71B88A13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800" y="1883664"/>
            <a:ext cx="6292324" cy="3841515"/>
          </a:xfrm>
          <a:prstGeom prst="rect">
            <a:avLst/>
          </a:prstGeom>
        </p:spPr>
      </p:pic>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26</a:t>
            </a:fld>
            <a:endParaRPr lang="en-US"/>
          </a:p>
        </p:txBody>
      </p:sp>
      <p:sp>
        <p:nvSpPr>
          <p:cNvPr id="6" name="TextBox 5"/>
          <p:cNvSpPr txBox="1"/>
          <p:nvPr/>
        </p:nvSpPr>
        <p:spPr>
          <a:xfrm>
            <a:off x="33867" y="2699394"/>
            <a:ext cx="1838452" cy="1077218"/>
          </a:xfrm>
          <a:prstGeom prst="rect">
            <a:avLst/>
          </a:prstGeom>
          <a:noFill/>
        </p:spPr>
        <p:txBody>
          <a:bodyPr wrap="none" rtlCol="0">
            <a:spAutoFit/>
          </a:bodyPr>
          <a:lstStyle/>
          <a:p>
            <a:r>
              <a:rPr lang="en-US" sz="1600" dirty="0">
                <a:solidFill>
                  <a:srgbClr val="0066FF"/>
                </a:solidFill>
              </a:rPr>
              <a:t>Marginal cost: $136</a:t>
            </a:r>
          </a:p>
          <a:p>
            <a:endParaRPr lang="en-US" sz="1600" dirty="0">
              <a:solidFill>
                <a:srgbClr val="0066FF"/>
              </a:solidFill>
            </a:endParaRPr>
          </a:p>
          <a:p>
            <a:r>
              <a:rPr lang="en-US" sz="1600" dirty="0">
                <a:solidFill>
                  <a:srgbClr val="FF0000"/>
                </a:solidFill>
              </a:rPr>
              <a:t>Post-tariff</a:t>
            </a:r>
          </a:p>
          <a:p>
            <a:r>
              <a:rPr lang="en-US" sz="1600" dirty="0">
                <a:solidFill>
                  <a:srgbClr val="FF0000"/>
                </a:solidFill>
              </a:rPr>
              <a:t>marginal cost: $199</a:t>
            </a:r>
          </a:p>
        </p:txBody>
      </p:sp>
      <p:sp>
        <p:nvSpPr>
          <p:cNvPr id="8" name="Title 1"/>
          <p:cNvSpPr>
            <a:spLocks noGrp="1"/>
          </p:cNvSpPr>
          <p:nvPr>
            <p:ph type="title"/>
          </p:nvPr>
        </p:nvSpPr>
        <p:spPr>
          <a:xfrm>
            <a:off x="612648" y="228600"/>
            <a:ext cx="8153400" cy="990600"/>
          </a:xfrm>
        </p:spPr>
        <p:txBody>
          <a:bodyPr>
            <a:normAutofit fontScale="90000"/>
          </a:bodyPr>
          <a:lstStyle/>
          <a:p>
            <a:r>
              <a:rPr lang="en-US" dirty="0"/>
              <a:t>Cost pass-through at Apple</a:t>
            </a:r>
            <a:br>
              <a:rPr lang="en-US" dirty="0"/>
            </a:br>
            <a:r>
              <a:rPr lang="en-US" sz="3600" dirty="0"/>
              <a:t>Profit &amp; pricing</a:t>
            </a:r>
            <a:endParaRPr lang="en-US" dirty="0"/>
          </a:p>
        </p:txBody>
      </p:sp>
      <p:sp>
        <p:nvSpPr>
          <p:cNvPr id="12" name="TextBox 11"/>
          <p:cNvSpPr txBox="1"/>
          <p:nvPr/>
        </p:nvSpPr>
        <p:spPr>
          <a:xfrm>
            <a:off x="882175" y="1478466"/>
            <a:ext cx="7379649" cy="400110"/>
          </a:xfrm>
          <a:prstGeom prst="rect">
            <a:avLst/>
          </a:prstGeom>
          <a:noFill/>
        </p:spPr>
        <p:txBody>
          <a:bodyPr wrap="none" rtlCol="0">
            <a:spAutoFit/>
          </a:bodyPr>
          <a:lstStyle/>
          <a:p>
            <a:r>
              <a:rPr lang="en-US" sz="1600" b="1" dirty="0">
                <a:solidFill>
                  <a:srgbClr val="FF0000"/>
                </a:solidFill>
              </a:rPr>
              <a:t>          Apple optimally passes through </a:t>
            </a:r>
            <a:r>
              <a:rPr lang="en-US" sz="2000" b="1" u="sng" dirty="0">
                <a:solidFill>
                  <a:srgbClr val="FF0000"/>
                </a:solidFill>
                <a:effectLst>
                  <a:outerShdw blurRad="38100" dist="38100" dir="2700000" algn="tl">
                    <a:srgbClr val="000000">
                      <a:alpha val="43137"/>
                    </a:srgbClr>
                  </a:outerShdw>
                </a:effectLst>
              </a:rPr>
              <a:t>113%</a:t>
            </a:r>
            <a:r>
              <a:rPr lang="en-US" sz="1600" b="1" dirty="0">
                <a:solidFill>
                  <a:srgbClr val="FF0000"/>
                </a:solidFill>
              </a:rPr>
              <a:t> of cost change! (16% price increase)</a:t>
            </a:r>
          </a:p>
        </p:txBody>
      </p:sp>
      <p:sp>
        <p:nvSpPr>
          <p:cNvPr id="2" name="Arrow: Right 1">
            <a:extLst>
              <a:ext uri="{FF2B5EF4-FFF2-40B4-BE49-F238E27FC236}">
                <a16:creationId xmlns:a16="http://schemas.microsoft.com/office/drawing/2014/main" id="{DBBFAEE8-307E-4749-B694-43AE762E4EA5}"/>
              </a:ext>
            </a:extLst>
          </p:cNvPr>
          <p:cNvSpPr/>
          <p:nvPr/>
        </p:nvSpPr>
        <p:spPr>
          <a:xfrm>
            <a:off x="4768121" y="2879507"/>
            <a:ext cx="152400" cy="304800"/>
          </a:xfrm>
          <a:prstGeom prst="rightArrow">
            <a:avLst/>
          </a:prstGeom>
          <a:solidFill>
            <a:srgbClr val="5782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6434E5E5-2316-4806-84F6-881C58B75FCA}"/>
              </a:ext>
            </a:extLst>
          </p:cNvPr>
          <p:cNvSpPr/>
          <p:nvPr/>
        </p:nvSpPr>
        <p:spPr>
          <a:xfrm>
            <a:off x="4768121" y="3606454"/>
            <a:ext cx="152400" cy="304800"/>
          </a:xfrm>
          <a:prstGeom prst="rightArrow">
            <a:avLst/>
          </a:prstGeom>
          <a:solidFill>
            <a:srgbClr val="5782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D8793D0-F8B2-406D-AC75-F58F722DDF5E}"/>
              </a:ext>
            </a:extLst>
          </p:cNvPr>
          <p:cNvSpPr txBox="1"/>
          <p:nvPr/>
        </p:nvSpPr>
        <p:spPr>
          <a:xfrm>
            <a:off x="381000" y="5715000"/>
            <a:ext cx="7320722" cy="830997"/>
          </a:xfrm>
          <a:prstGeom prst="rect">
            <a:avLst/>
          </a:prstGeom>
          <a:noFill/>
        </p:spPr>
        <p:txBody>
          <a:bodyPr wrap="none" rtlCol="0">
            <a:spAutoFit/>
          </a:bodyPr>
          <a:lstStyle/>
          <a:p>
            <a:r>
              <a:rPr lang="en-US" sz="1600" b="1" dirty="0"/>
              <a:t>Assume </a:t>
            </a:r>
          </a:p>
          <a:p>
            <a:pPr marL="285750" indent="-285750">
              <a:buFont typeface="Arial" panose="020B0604020202020204" pitchFamily="34" charset="0"/>
              <a:buChar char="•"/>
            </a:pPr>
            <a:r>
              <a:rPr lang="en-US" sz="1600" dirty="0"/>
              <a:t>Apple, Samsung &amp; Fitbit are all exposed to the 46% tariff, driving costs up to </a:t>
            </a:r>
            <a:r>
              <a:rPr lang="en-US" sz="1600" b="1" dirty="0">
                <a:effectLst>
                  <a:outerShdw blurRad="38100" dist="38100" dir="2700000" algn="tl">
                    <a:srgbClr val="000000">
                      <a:alpha val="43137"/>
                    </a:srgbClr>
                  </a:outerShdw>
                </a:effectLst>
              </a:rPr>
              <a:t>$199</a:t>
            </a:r>
            <a:endParaRPr lang="en-US" sz="1600" dirty="0"/>
          </a:p>
          <a:p>
            <a:pPr marL="285750" indent="-285750">
              <a:buFont typeface="Arial" panose="020B0604020202020204" pitchFamily="34" charset="0"/>
              <a:buChar char="•"/>
            </a:pPr>
            <a:r>
              <a:rPr lang="en-US" sz="1600" dirty="0"/>
              <a:t>Samsung &amp; Fitbit pass through the entire tariff</a:t>
            </a:r>
            <a:endParaRPr lang="en-US" sz="1100" dirty="0"/>
          </a:p>
        </p:txBody>
      </p:sp>
    </p:spTree>
    <p:extLst>
      <p:ext uri="{BB962C8B-B14F-4D97-AF65-F5344CB8AC3E}">
        <p14:creationId xmlns:p14="http://schemas.microsoft.com/office/powerpoint/2010/main" val="3422041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Tariffs &amp; variable cost pass-through</a:t>
            </a:r>
          </a:p>
        </p:txBody>
      </p:sp>
      <p:sp>
        <p:nvSpPr>
          <p:cNvPr id="3" name="Content Placeholder 2"/>
          <p:cNvSpPr>
            <a:spLocks noGrp="1"/>
          </p:cNvSpPr>
          <p:nvPr>
            <p:ph sz="quarter" idx="1"/>
          </p:nvPr>
        </p:nvSpPr>
        <p:spPr/>
        <p:txBody>
          <a:bodyPr>
            <a:normAutofit fontScale="92500"/>
          </a:bodyPr>
          <a:lstStyle/>
          <a:p>
            <a:r>
              <a:rPr lang="en-US" dirty="0"/>
              <a:t>So cost pass-through depends on:</a:t>
            </a:r>
          </a:p>
          <a:p>
            <a:endParaRPr lang="en-US" dirty="0"/>
          </a:p>
          <a:p>
            <a:pPr marL="366713" lvl="1" indent="0">
              <a:buNone/>
            </a:pPr>
            <a:r>
              <a:rPr lang="en-US" dirty="0"/>
              <a:t>	Shape of your demand curve</a:t>
            </a:r>
          </a:p>
          <a:p>
            <a:pPr marL="823913" lvl="1" indent="-457200">
              <a:buFont typeface="+mj-lt"/>
              <a:buAutoNum type="arabicPeriod"/>
            </a:pPr>
            <a:endParaRPr lang="en-US" dirty="0"/>
          </a:p>
          <a:p>
            <a:pPr marL="366713" lvl="1" indent="0">
              <a:buNone/>
            </a:pPr>
            <a:r>
              <a:rPr lang="en-US" dirty="0"/>
              <a:t>	Extent to which cost increases affect competitors and whether 	competitors also pass these increases through to customers</a:t>
            </a:r>
          </a:p>
          <a:p>
            <a:endParaRPr lang="en-US" dirty="0"/>
          </a:p>
          <a:p>
            <a:r>
              <a:rPr lang="en-US" dirty="0"/>
              <a:t>“optimal” pass-through rate is solution to re-optimization problem!</a:t>
            </a:r>
          </a:p>
          <a:p>
            <a:endParaRPr lang="en-US" dirty="0"/>
          </a:p>
          <a:p>
            <a:r>
              <a:rPr lang="en-US" dirty="0"/>
              <a:t>In a competitive market, it may also require strategic considerations about market “equilibrium” (see next lecture)</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27</a:t>
            </a:fld>
            <a:endParaRPr lang="en-US"/>
          </a:p>
        </p:txBody>
      </p:sp>
      <p:sp>
        <p:nvSpPr>
          <p:cNvPr id="5" name="Text Placeholder 2"/>
          <p:cNvSpPr txBox="1">
            <a:spLocks/>
          </p:cNvSpPr>
          <p:nvPr/>
        </p:nvSpPr>
        <p:spPr>
          <a:xfrm>
            <a:off x="1066800" y="3276600"/>
            <a:ext cx="403384" cy="403384"/>
          </a:xfrm>
          <a:prstGeom prst="ellipse">
            <a:avLst/>
          </a:prstGeom>
          <a:solidFill>
            <a:srgbClr val="92D050"/>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2</a:t>
            </a:r>
          </a:p>
        </p:txBody>
      </p:sp>
      <p:sp>
        <p:nvSpPr>
          <p:cNvPr id="6" name="Text Placeholder 3"/>
          <p:cNvSpPr txBox="1">
            <a:spLocks/>
          </p:cNvSpPr>
          <p:nvPr/>
        </p:nvSpPr>
        <p:spPr>
          <a:xfrm>
            <a:off x="1066800" y="2438400"/>
            <a:ext cx="403384" cy="403384"/>
          </a:xfrm>
          <a:prstGeom prst="ellipse">
            <a:avLst/>
          </a:prstGeom>
          <a:solidFill>
            <a:srgbClr val="CD9A33"/>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3195444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3CDB-BC36-409B-9239-D49C3A9F1A58}"/>
              </a:ext>
            </a:extLst>
          </p:cNvPr>
          <p:cNvSpPr>
            <a:spLocks noGrp="1"/>
          </p:cNvSpPr>
          <p:nvPr>
            <p:ph type="title"/>
          </p:nvPr>
        </p:nvSpPr>
        <p:spPr/>
        <p:txBody>
          <a:bodyPr>
            <a:normAutofit fontScale="90000"/>
          </a:bodyPr>
          <a:lstStyle/>
          <a:p>
            <a:r>
              <a:rPr lang="en-US" dirty="0"/>
              <a:t>Tariffs &amp; variable cost pass-through</a:t>
            </a:r>
            <a:br>
              <a:rPr lang="en-US" dirty="0"/>
            </a:br>
            <a:r>
              <a:rPr lang="en-US" sz="3600" dirty="0"/>
              <a:t>Business-to-consumer</a:t>
            </a:r>
            <a:endParaRPr lang="en-US" dirty="0"/>
          </a:p>
        </p:txBody>
      </p:sp>
      <p:sp>
        <p:nvSpPr>
          <p:cNvPr id="3" name="Content Placeholder 2">
            <a:extLst>
              <a:ext uri="{FF2B5EF4-FFF2-40B4-BE49-F238E27FC236}">
                <a16:creationId xmlns:a16="http://schemas.microsoft.com/office/drawing/2014/main" id="{55F29F20-A2D5-485C-B462-CA165ED7B103}"/>
              </a:ext>
            </a:extLst>
          </p:cNvPr>
          <p:cNvSpPr>
            <a:spLocks noGrp="1"/>
          </p:cNvSpPr>
          <p:nvPr>
            <p:ph sz="quarter" idx="1"/>
          </p:nvPr>
        </p:nvSpPr>
        <p:spPr/>
        <p:txBody>
          <a:bodyPr/>
          <a:lstStyle/>
          <a:p>
            <a:r>
              <a:rPr lang="en-US" dirty="0"/>
              <a:t>Tariffs pass-through complexities: </a:t>
            </a:r>
          </a:p>
          <a:p>
            <a:pPr lvl="1"/>
            <a:r>
              <a:rPr lang="en-US" dirty="0"/>
              <a:t>direct effect on goods from affected countries; &amp; </a:t>
            </a:r>
          </a:p>
          <a:p>
            <a:pPr lvl="1"/>
            <a:r>
              <a:rPr lang="en-US" dirty="0"/>
              <a:t>indirect effect from </a:t>
            </a:r>
            <a:r>
              <a:rPr lang="en-US"/>
              <a:t>unaffected competitors</a:t>
            </a:r>
            <a:endParaRPr lang="en-US" dirty="0"/>
          </a:p>
          <a:p>
            <a:pPr marL="0" indent="0">
              <a:spcBef>
                <a:spcPts val="1800"/>
              </a:spcBef>
              <a:buNone/>
            </a:pPr>
            <a:r>
              <a:rPr lang="en-US" dirty="0"/>
              <a:t>	Differential tariff effects across industries</a:t>
            </a:r>
          </a:p>
          <a:p>
            <a:endParaRPr lang="en-US" dirty="0"/>
          </a:p>
        </p:txBody>
      </p:sp>
      <p:sp>
        <p:nvSpPr>
          <p:cNvPr id="4" name="Slide Number Placeholder 3">
            <a:extLst>
              <a:ext uri="{FF2B5EF4-FFF2-40B4-BE49-F238E27FC236}">
                <a16:creationId xmlns:a16="http://schemas.microsoft.com/office/drawing/2014/main" id="{49249AD9-20F7-4746-8362-0891580D2B6C}"/>
              </a:ext>
            </a:extLst>
          </p:cNvPr>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28</a:t>
            </a:fld>
            <a:endParaRPr lang="en-US"/>
          </a:p>
        </p:txBody>
      </p:sp>
      <p:pic>
        <p:nvPicPr>
          <p:cNvPr id="6" name="Picture 5">
            <a:hlinkClick r:id="rId2"/>
            <a:extLst>
              <a:ext uri="{FF2B5EF4-FFF2-40B4-BE49-F238E27FC236}">
                <a16:creationId xmlns:a16="http://schemas.microsoft.com/office/drawing/2014/main" id="{BC76496D-9B33-42F6-91B5-655EDCE22FC3}"/>
              </a:ext>
            </a:extLst>
          </p:cNvPr>
          <p:cNvPicPr>
            <a:picLocks noChangeAspect="1"/>
          </p:cNvPicPr>
          <p:nvPr/>
        </p:nvPicPr>
        <p:blipFill>
          <a:blip r:embed="rId3"/>
          <a:stretch>
            <a:fillRect/>
          </a:stretch>
        </p:blipFill>
        <p:spPr>
          <a:xfrm>
            <a:off x="612648" y="3729971"/>
            <a:ext cx="3351726" cy="1917316"/>
          </a:xfrm>
          <a:prstGeom prst="rect">
            <a:avLst/>
          </a:prstGeom>
        </p:spPr>
      </p:pic>
      <p:sp>
        <p:nvSpPr>
          <p:cNvPr id="9" name="Arrow: Right 8">
            <a:extLst>
              <a:ext uri="{FF2B5EF4-FFF2-40B4-BE49-F238E27FC236}">
                <a16:creationId xmlns:a16="http://schemas.microsoft.com/office/drawing/2014/main" id="{7DA22DF6-40D3-466A-87DC-203895876EAD}"/>
              </a:ext>
            </a:extLst>
          </p:cNvPr>
          <p:cNvSpPr/>
          <p:nvPr/>
        </p:nvSpPr>
        <p:spPr>
          <a:xfrm>
            <a:off x="1000395" y="3124200"/>
            <a:ext cx="3810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hlinkClick r:id="rId2"/>
            <a:extLst>
              <a:ext uri="{FF2B5EF4-FFF2-40B4-BE49-F238E27FC236}">
                <a16:creationId xmlns:a16="http://schemas.microsoft.com/office/drawing/2014/main" id="{AFB551F4-3DC7-4791-A2D2-28FA5DF3F03C}"/>
              </a:ext>
            </a:extLst>
          </p:cNvPr>
          <p:cNvPicPr>
            <a:picLocks noChangeAspect="1"/>
          </p:cNvPicPr>
          <p:nvPr/>
        </p:nvPicPr>
        <p:blipFill>
          <a:blip r:embed="rId4"/>
          <a:stretch>
            <a:fillRect/>
          </a:stretch>
        </p:blipFill>
        <p:spPr>
          <a:xfrm>
            <a:off x="4876800" y="3729971"/>
            <a:ext cx="3200400" cy="1915443"/>
          </a:xfrm>
          <a:prstGeom prst="rect">
            <a:avLst/>
          </a:prstGeom>
        </p:spPr>
      </p:pic>
      <p:sp>
        <p:nvSpPr>
          <p:cNvPr id="12" name="TextBox 11">
            <a:extLst>
              <a:ext uri="{FF2B5EF4-FFF2-40B4-BE49-F238E27FC236}">
                <a16:creationId xmlns:a16="http://schemas.microsoft.com/office/drawing/2014/main" id="{406A3AC1-6914-4C67-BFBA-A8D4BF207C19}"/>
              </a:ext>
            </a:extLst>
          </p:cNvPr>
          <p:cNvSpPr txBox="1"/>
          <p:nvPr/>
        </p:nvSpPr>
        <p:spPr>
          <a:xfrm>
            <a:off x="457200" y="6172200"/>
            <a:ext cx="5044714" cy="276999"/>
          </a:xfrm>
          <a:prstGeom prst="rect">
            <a:avLst/>
          </a:prstGeom>
          <a:noFill/>
        </p:spPr>
        <p:txBody>
          <a:bodyPr wrap="none" rtlCol="0">
            <a:spAutoFit/>
          </a:bodyPr>
          <a:lstStyle/>
          <a:p>
            <a:r>
              <a:rPr lang="en-US" sz="1200" b="1" dirty="0"/>
              <a:t>Source</a:t>
            </a:r>
            <a:r>
              <a:rPr lang="en-US" sz="1200" dirty="0"/>
              <a:t>: “</a:t>
            </a:r>
            <a:r>
              <a:rPr lang="en-US" sz="1200" dirty="0">
                <a:hlinkClick r:id="rId2"/>
              </a:rPr>
              <a:t>How Much Do Tariffs Raise Prices?” Douglas et al, </a:t>
            </a:r>
            <a:r>
              <a:rPr lang="en-US" sz="1200" i="1" dirty="0">
                <a:hlinkClick r:id="rId2"/>
              </a:rPr>
              <a:t>WSJ, </a:t>
            </a:r>
            <a:r>
              <a:rPr lang="en-US" sz="1200" dirty="0">
                <a:hlinkClick r:id="rId2"/>
              </a:rPr>
              <a:t>03/02/2025</a:t>
            </a:r>
            <a:endParaRPr lang="en-US" sz="1200" dirty="0"/>
          </a:p>
        </p:txBody>
      </p:sp>
    </p:spTree>
    <p:extLst>
      <p:ext uri="{BB962C8B-B14F-4D97-AF65-F5344CB8AC3E}">
        <p14:creationId xmlns:p14="http://schemas.microsoft.com/office/powerpoint/2010/main" val="11460567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7E14BF-69FE-4D41-A793-CA1285A4DF79}"/>
              </a:ext>
            </a:extLst>
          </p:cNvPr>
          <p:cNvSpPr>
            <a:spLocks noGrp="1"/>
          </p:cNvSpPr>
          <p:nvPr>
            <p:ph type="title"/>
          </p:nvPr>
        </p:nvSpPr>
        <p:spPr/>
        <p:txBody>
          <a:bodyPr/>
          <a:lstStyle/>
          <a:p>
            <a:r>
              <a:rPr lang="en-US" sz="3600" dirty="0"/>
              <a:t>Cost pass-through &amp; Marketing For Good</a:t>
            </a:r>
          </a:p>
        </p:txBody>
      </p:sp>
      <p:sp>
        <p:nvSpPr>
          <p:cNvPr id="4" name="Slide Number Placeholder 3">
            <a:extLst>
              <a:ext uri="{FF2B5EF4-FFF2-40B4-BE49-F238E27FC236}">
                <a16:creationId xmlns:a16="http://schemas.microsoft.com/office/drawing/2014/main" id="{42C895B3-419E-4F8D-81AB-394DEA1E2CA4}"/>
              </a:ext>
            </a:extLst>
          </p:cNvPr>
          <p:cNvSpPr>
            <a:spLocks noGrp="1"/>
          </p:cNvSpPr>
          <p:nvPr>
            <p:ph type="sldNum" sz="quarter" idx="11"/>
          </p:nvPr>
        </p:nvSpPr>
        <p:spPr/>
        <p:txBody>
          <a:bodyPr/>
          <a:lstStyle/>
          <a:p>
            <a:pPr>
              <a:defRPr/>
            </a:pPr>
            <a:fld id="{D47E556B-1B27-4C7A-B8CA-7336E48AB80A}" type="slidenum">
              <a:rPr lang="en-US" smtClean="0"/>
              <a:pPr>
                <a:defRPr/>
              </a:pPr>
              <a:t>29</a:t>
            </a:fld>
            <a:endParaRPr lang="en-US"/>
          </a:p>
        </p:txBody>
      </p:sp>
      <p:pic>
        <p:nvPicPr>
          <p:cNvPr id="3076" name="Picture 4">
            <a:extLst>
              <a:ext uri="{FF2B5EF4-FFF2-40B4-BE49-F238E27FC236}">
                <a16:creationId xmlns:a16="http://schemas.microsoft.com/office/drawing/2014/main" id="{EEBAE212-862C-4FE5-8469-BC4249112E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743200"/>
            <a:ext cx="6172200" cy="4112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784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fontScale="92500" lnSpcReduction="10000"/>
          </a:bodyPr>
          <a:lstStyle/>
          <a:p>
            <a:pPr marL="0" indent="0" algn="ctr">
              <a:buNone/>
            </a:pPr>
            <a:r>
              <a:rPr lang="en-US" sz="2800" dirty="0"/>
              <a:t>“</a:t>
            </a:r>
            <a:r>
              <a:rPr lang="en-US" sz="2800" b="1" dirty="0"/>
              <a:t>The Hidden Ways Companies Raise Prices</a:t>
            </a:r>
            <a:r>
              <a:rPr lang="en-US" sz="2800" dirty="0"/>
              <a:t>”</a:t>
            </a:r>
          </a:p>
          <a:p>
            <a:pPr marL="0" indent="0" algn="r">
              <a:spcBef>
                <a:spcPts val="0"/>
              </a:spcBef>
              <a:buNone/>
            </a:pPr>
            <a:r>
              <a:rPr lang="en-US" sz="1050" dirty="0" err="1"/>
              <a:t>Gasparo</a:t>
            </a:r>
            <a:r>
              <a:rPr lang="en-US" sz="1050" dirty="0"/>
              <a:t> and Rubin, </a:t>
            </a:r>
            <a:r>
              <a:rPr lang="en-US" sz="1050" i="1" dirty="0"/>
              <a:t>WSJ</a:t>
            </a:r>
            <a:r>
              <a:rPr lang="en-US" sz="1050" dirty="0"/>
              <a:t>, Feb. 12 2022</a:t>
            </a:r>
          </a:p>
          <a:p>
            <a:r>
              <a:rPr lang="en-US" sz="2000" dirty="0"/>
              <a:t>Marginal cost inflation in 2021/2022 </a:t>
            </a:r>
            <a:r>
              <a:rPr lang="en-US" sz="2000" i="1" dirty="0"/>
              <a:t>should</a:t>
            </a:r>
            <a:r>
              <a:rPr lang="en-US" sz="2000" dirty="0"/>
              <a:t> cause higher prices</a:t>
            </a:r>
          </a:p>
          <a:p>
            <a:pPr>
              <a:spcBef>
                <a:spcPts val="1200"/>
              </a:spcBef>
              <a:spcAft>
                <a:spcPts val="1200"/>
              </a:spcAft>
            </a:pPr>
            <a:r>
              <a:rPr lang="en-US" sz="2000" dirty="0"/>
              <a:t>But many companies are </a:t>
            </a:r>
            <a:r>
              <a:rPr lang="en-US" sz="2000" b="1" i="1" u="sng" dirty="0"/>
              <a:t>obfuscating</a:t>
            </a:r>
            <a:r>
              <a:rPr lang="en-US" sz="2000" dirty="0"/>
              <a:t> price hikes</a:t>
            </a:r>
          </a:p>
          <a:p>
            <a:pPr lvl="1">
              <a:spcBef>
                <a:spcPts val="1200"/>
              </a:spcBef>
              <a:spcAft>
                <a:spcPts val="1200"/>
              </a:spcAft>
            </a:pPr>
            <a:r>
              <a:rPr lang="en-US" sz="2000" dirty="0"/>
              <a:t>Hidden fees at resorts, restaurants and retail</a:t>
            </a:r>
          </a:p>
          <a:p>
            <a:pPr lvl="1">
              <a:spcBef>
                <a:spcPts val="1200"/>
              </a:spcBef>
              <a:spcAft>
                <a:spcPts val="1200"/>
              </a:spcAft>
            </a:pPr>
            <a:r>
              <a:rPr lang="en-US" sz="2000" dirty="0"/>
              <a:t>Deteriorated service (e.g., hotels only clean sheets at end of stay, no free shuttles for resorts)</a:t>
            </a:r>
          </a:p>
          <a:p>
            <a:pPr lvl="1">
              <a:spcBef>
                <a:spcPts val="1200"/>
              </a:spcBef>
              <a:spcAft>
                <a:spcPts val="1200"/>
              </a:spcAft>
            </a:pPr>
            <a:r>
              <a:rPr lang="en-US" sz="2000" dirty="0"/>
              <a:t>Smaller pack sizes (</a:t>
            </a:r>
            <a:r>
              <a:rPr lang="en-US" sz="2000" b="1" i="1" dirty="0" err="1">
                <a:effectLst>
                  <a:outerShdw blurRad="38100" dist="38100" dir="2700000" algn="tl">
                    <a:srgbClr val="000000">
                      <a:alpha val="43137"/>
                    </a:srgbClr>
                  </a:outerShdw>
                </a:effectLst>
              </a:rPr>
              <a:t>shrinkflation</a:t>
            </a:r>
            <a:r>
              <a:rPr lang="en-US" sz="2000" dirty="0"/>
              <a:t>)</a:t>
            </a:r>
          </a:p>
          <a:p>
            <a:pPr lvl="1">
              <a:spcBef>
                <a:spcPts val="1200"/>
              </a:spcBef>
              <a:spcAft>
                <a:spcPts val="1200"/>
              </a:spcAft>
            </a:pPr>
            <a:endParaRPr lang="en-US" sz="2000" dirty="0"/>
          </a:p>
          <a:p>
            <a:pPr>
              <a:spcBef>
                <a:spcPts val="1200"/>
              </a:spcBef>
              <a:spcAft>
                <a:spcPts val="1200"/>
              </a:spcAft>
            </a:pPr>
            <a:r>
              <a:rPr lang="en-US" dirty="0"/>
              <a:t>Firms are taxing consumer inattention!</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30</a:t>
            </a:fld>
            <a:endParaRPr lang="en-US"/>
          </a:p>
        </p:txBody>
      </p:sp>
      <p:sp>
        <p:nvSpPr>
          <p:cNvPr id="6" name="Title 1"/>
          <p:cNvSpPr>
            <a:spLocks noGrp="1"/>
          </p:cNvSpPr>
          <p:nvPr>
            <p:ph type="title"/>
          </p:nvPr>
        </p:nvSpPr>
        <p:spPr>
          <a:xfrm>
            <a:off x="612648" y="228600"/>
            <a:ext cx="8153400" cy="990600"/>
          </a:xfrm>
        </p:spPr>
        <p:txBody>
          <a:bodyPr>
            <a:normAutofit fontScale="90000"/>
          </a:bodyPr>
          <a:lstStyle/>
          <a:p>
            <a:r>
              <a:rPr lang="en-US" sz="4400" dirty="0"/>
              <a:t>Prices, costs &amp; </a:t>
            </a:r>
            <a:r>
              <a:rPr lang="en-US" sz="4400" b="1" dirty="0">
                <a:effectLst>
                  <a:outerShdw blurRad="38100" dist="38100" dir="2700000" algn="tl">
                    <a:srgbClr val="000000">
                      <a:alpha val="43137"/>
                    </a:srgbClr>
                  </a:outerShdw>
                </a:effectLst>
              </a:rPr>
              <a:t>marketing for good</a:t>
            </a:r>
            <a:r>
              <a:rPr lang="en-US" sz="4400" dirty="0"/>
              <a:t>?</a:t>
            </a:r>
            <a:br>
              <a:rPr lang="en-US" sz="4400" dirty="0"/>
            </a:br>
            <a:r>
              <a:rPr lang="en-US" sz="3600" b="1" i="1" u="sng" dirty="0" err="1">
                <a:effectLst>
                  <a:outerShdw blurRad="38100" dist="38100" dir="2700000" algn="tl">
                    <a:srgbClr val="000000">
                      <a:alpha val="43137"/>
                    </a:srgbClr>
                  </a:outerShdw>
                </a:effectLst>
              </a:rPr>
              <a:t>Shrinkflation</a:t>
            </a:r>
            <a:r>
              <a:rPr lang="en-US" sz="3600" dirty="0"/>
              <a:t> &amp; consumer </a:t>
            </a:r>
            <a:r>
              <a:rPr lang="en-US" sz="3600" b="1" dirty="0">
                <a:effectLst>
                  <a:outerShdw blurRad="38100" dist="38100" dir="2700000" algn="tl">
                    <a:srgbClr val="000000">
                      <a:alpha val="43137"/>
                    </a:srgbClr>
                  </a:outerShdw>
                </a:effectLst>
              </a:rPr>
              <a:t>inattention</a:t>
            </a: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269525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004430" y="4495800"/>
            <a:ext cx="4953000" cy="1371600"/>
          </a:xfrm>
        </p:spPr>
        <p:txBody>
          <a:bodyPr>
            <a:normAutofit fontScale="77500" lnSpcReduction="20000"/>
          </a:bodyPr>
          <a:lstStyle/>
          <a:p>
            <a:pPr>
              <a:spcBef>
                <a:spcPts val="600"/>
              </a:spcBef>
              <a:spcAft>
                <a:spcPts val="600"/>
              </a:spcAft>
            </a:pPr>
            <a:r>
              <a:rPr lang="en-US" sz="1800" b="0" i="0" dirty="0">
                <a:effectLst/>
                <a:latin typeface="TwitterChirp"/>
              </a:rPr>
              <a:t>egg prices up </a:t>
            </a:r>
            <a:r>
              <a:rPr lang="en-US" sz="1800" b="1" i="0" dirty="0">
                <a:solidFill>
                  <a:srgbClr val="FF0000"/>
                </a:solidFill>
                <a:effectLst/>
                <a:latin typeface="TwitterChirp"/>
              </a:rPr>
              <a:t>$0.24/egg</a:t>
            </a:r>
            <a:r>
              <a:rPr lang="en-US" sz="1800" b="0" i="0" dirty="0">
                <a:effectLst/>
                <a:latin typeface="TwitterChirp"/>
              </a:rPr>
              <a:t>:</a:t>
            </a:r>
          </a:p>
          <a:p>
            <a:pPr lvl="1">
              <a:spcBef>
                <a:spcPts val="600"/>
              </a:spcBef>
              <a:spcAft>
                <a:spcPts val="600"/>
              </a:spcAft>
            </a:pPr>
            <a:r>
              <a:rPr lang="en-US" sz="1800" b="0" i="0" dirty="0">
                <a:effectLst/>
                <a:latin typeface="TwitterChirp"/>
              </a:rPr>
              <a:t>$0.35/egg (Dec ‘24) vs $0.59/egg (Feb ‘25)</a:t>
            </a:r>
          </a:p>
          <a:p>
            <a:pPr>
              <a:spcBef>
                <a:spcPts val="600"/>
              </a:spcBef>
              <a:spcAft>
                <a:spcPts val="600"/>
              </a:spcAft>
            </a:pPr>
            <a:r>
              <a:rPr lang="en-US" sz="1800" b="0" i="0" dirty="0">
                <a:effectLst/>
                <a:latin typeface="TwitterChirp"/>
              </a:rPr>
              <a:t>That's a big increase </a:t>
            </a:r>
          </a:p>
          <a:p>
            <a:pPr>
              <a:spcBef>
                <a:spcPts val="600"/>
              </a:spcBef>
              <a:spcAft>
                <a:spcPts val="600"/>
              </a:spcAft>
            </a:pPr>
            <a:r>
              <a:rPr lang="en-US" sz="1800" b="0" i="0" dirty="0">
                <a:effectLst/>
                <a:latin typeface="TwitterChirp"/>
              </a:rPr>
              <a:t>BUT, passing through 208% of cost increase to consumers??!!</a:t>
            </a:r>
            <a:endParaRPr lang="en-US" sz="1800"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31</a:t>
            </a:fld>
            <a:endParaRPr lang="en-US"/>
          </a:p>
        </p:txBody>
      </p:sp>
      <p:sp>
        <p:nvSpPr>
          <p:cNvPr id="6" name="Title 1"/>
          <p:cNvSpPr>
            <a:spLocks noGrp="1"/>
          </p:cNvSpPr>
          <p:nvPr>
            <p:ph type="title"/>
          </p:nvPr>
        </p:nvSpPr>
        <p:spPr>
          <a:xfrm>
            <a:off x="612648" y="228600"/>
            <a:ext cx="8153400" cy="990600"/>
          </a:xfrm>
        </p:spPr>
        <p:txBody>
          <a:bodyPr>
            <a:normAutofit fontScale="90000"/>
          </a:bodyPr>
          <a:lstStyle/>
          <a:p>
            <a:r>
              <a:rPr lang="en-US" sz="4400" dirty="0"/>
              <a:t>Prices, costs &amp; </a:t>
            </a:r>
            <a:r>
              <a:rPr lang="en-US" sz="4400" b="1" dirty="0">
                <a:effectLst>
                  <a:outerShdw blurRad="38100" dist="38100" dir="2700000" algn="tl">
                    <a:srgbClr val="000000">
                      <a:alpha val="43137"/>
                    </a:srgbClr>
                  </a:outerShdw>
                </a:effectLst>
              </a:rPr>
              <a:t>marketing for good</a:t>
            </a:r>
            <a:r>
              <a:rPr lang="en-US" sz="4400" dirty="0"/>
              <a:t>?</a:t>
            </a:r>
            <a:br>
              <a:rPr lang="en-US" sz="4400" dirty="0"/>
            </a:br>
            <a:r>
              <a:rPr lang="en-US" sz="3600" b="1" i="1" u="sng" dirty="0" err="1">
                <a:effectLst>
                  <a:outerShdw blurRad="38100" dist="38100" dir="2700000" algn="tl">
                    <a:srgbClr val="000000">
                      <a:alpha val="43137"/>
                    </a:srgbClr>
                  </a:outerShdw>
                </a:effectLst>
              </a:rPr>
              <a:t>Shrinkflation</a:t>
            </a:r>
            <a:r>
              <a:rPr lang="en-US" sz="3600" dirty="0"/>
              <a:t> &amp; consumer </a:t>
            </a:r>
            <a:r>
              <a:rPr lang="en-US" sz="3600" b="1" dirty="0">
                <a:effectLst>
                  <a:outerShdw blurRad="38100" dist="38100" dir="2700000" algn="tl">
                    <a:srgbClr val="000000">
                      <a:alpha val="43137"/>
                    </a:srgbClr>
                  </a:outerShdw>
                </a:effectLst>
              </a:rPr>
              <a:t>inattention</a:t>
            </a:r>
            <a:endParaRPr lang="en-US" b="1" dirty="0">
              <a:effectLst>
                <a:outerShdw blurRad="38100" dist="38100" dir="2700000" algn="tl">
                  <a:srgbClr val="000000">
                    <a:alpha val="43137"/>
                  </a:srgbClr>
                </a:outerShdw>
              </a:effectLst>
            </a:endParaRPr>
          </a:p>
        </p:txBody>
      </p:sp>
      <p:pic>
        <p:nvPicPr>
          <p:cNvPr id="5" name="Picture 4">
            <a:hlinkClick r:id="rId2"/>
            <a:extLst>
              <a:ext uri="{FF2B5EF4-FFF2-40B4-BE49-F238E27FC236}">
                <a16:creationId xmlns:a16="http://schemas.microsoft.com/office/drawing/2014/main" id="{5B6DE9CD-42E8-4C50-9944-8AFC07C8C623}"/>
              </a:ext>
            </a:extLst>
          </p:cNvPr>
          <p:cNvPicPr>
            <a:picLocks noChangeAspect="1"/>
          </p:cNvPicPr>
          <p:nvPr/>
        </p:nvPicPr>
        <p:blipFill>
          <a:blip r:embed="rId3"/>
          <a:stretch>
            <a:fillRect/>
          </a:stretch>
        </p:blipFill>
        <p:spPr>
          <a:xfrm>
            <a:off x="611281" y="2286000"/>
            <a:ext cx="2959071" cy="3962400"/>
          </a:xfrm>
          <a:prstGeom prst="rect">
            <a:avLst/>
          </a:prstGeom>
        </p:spPr>
      </p:pic>
      <p:pic>
        <p:nvPicPr>
          <p:cNvPr id="1030" name="Picture 6" descr="No alt text provided for this image">
            <a:extLst>
              <a:ext uri="{FF2B5EF4-FFF2-40B4-BE49-F238E27FC236}">
                <a16:creationId xmlns:a16="http://schemas.microsoft.com/office/drawing/2014/main" id="{01C79A29-EA5A-4BA0-8EDC-91FF195EA2D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90337" y="1785888"/>
            <a:ext cx="4049525" cy="23685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6F692F2-10B4-4084-B1B9-092CB073C413}"/>
              </a:ext>
            </a:extLst>
          </p:cNvPr>
          <p:cNvSpPr txBox="1"/>
          <p:nvPr/>
        </p:nvSpPr>
        <p:spPr>
          <a:xfrm>
            <a:off x="1981200" y="1676400"/>
            <a:ext cx="2284023" cy="461665"/>
          </a:xfrm>
          <a:prstGeom prst="rect">
            <a:avLst/>
          </a:prstGeom>
          <a:noFill/>
        </p:spPr>
        <p:txBody>
          <a:bodyPr wrap="none" rtlCol="0">
            <a:spAutoFit/>
          </a:bodyPr>
          <a:lstStyle/>
          <a:p>
            <a:r>
              <a:rPr lang="en-US" dirty="0">
                <a:solidFill>
                  <a:srgbClr val="FF0000"/>
                </a:solidFill>
              </a:rPr>
              <a:t>Wait a minute …</a:t>
            </a:r>
          </a:p>
        </p:txBody>
      </p:sp>
      <p:sp>
        <p:nvSpPr>
          <p:cNvPr id="11" name="TextBox 10">
            <a:extLst>
              <a:ext uri="{FF2B5EF4-FFF2-40B4-BE49-F238E27FC236}">
                <a16:creationId xmlns:a16="http://schemas.microsoft.com/office/drawing/2014/main" id="{5B04CDE2-9393-40A7-BE3D-A6EFCD557C90}"/>
              </a:ext>
            </a:extLst>
          </p:cNvPr>
          <p:cNvSpPr txBox="1"/>
          <p:nvPr/>
        </p:nvSpPr>
        <p:spPr>
          <a:xfrm>
            <a:off x="4034500" y="6052492"/>
            <a:ext cx="1464055" cy="461665"/>
          </a:xfrm>
          <a:prstGeom prst="rect">
            <a:avLst/>
          </a:prstGeom>
          <a:noFill/>
        </p:spPr>
        <p:txBody>
          <a:bodyPr wrap="none" rtlCol="0">
            <a:spAutoFit/>
          </a:bodyPr>
          <a:lstStyle/>
          <a:p>
            <a:r>
              <a:rPr lang="en-US" dirty="0">
                <a:solidFill>
                  <a:srgbClr val="FF0000"/>
                </a:solidFill>
              </a:rPr>
              <a:t>Math Tax!</a:t>
            </a:r>
          </a:p>
        </p:txBody>
      </p:sp>
    </p:spTree>
    <p:extLst>
      <p:ext uri="{BB962C8B-B14F-4D97-AF65-F5344CB8AC3E}">
        <p14:creationId xmlns:p14="http://schemas.microsoft.com/office/powerpoint/2010/main" val="3841726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Prices, costs &amp; </a:t>
            </a:r>
            <a:r>
              <a:rPr lang="en-US" sz="4400" b="1" dirty="0">
                <a:effectLst>
                  <a:outerShdw blurRad="38100" dist="38100" dir="2700000" algn="tl">
                    <a:srgbClr val="000000">
                      <a:alpha val="43137"/>
                    </a:srgbClr>
                  </a:outerShdw>
                </a:effectLst>
              </a:rPr>
              <a:t>marketing for good</a:t>
            </a:r>
            <a:r>
              <a:rPr lang="en-US" sz="4400" dirty="0"/>
              <a:t>?</a:t>
            </a:r>
            <a:br>
              <a:rPr lang="en-US" sz="4400" dirty="0"/>
            </a:br>
            <a:r>
              <a:rPr lang="en-US" sz="3600" b="1" i="1" u="sng" dirty="0" err="1">
                <a:effectLst>
                  <a:outerShdw blurRad="38100" dist="38100" dir="2700000" algn="tl">
                    <a:srgbClr val="000000">
                      <a:alpha val="43137"/>
                    </a:srgbClr>
                  </a:outerShdw>
                </a:effectLst>
              </a:rPr>
              <a:t>Shrinkflation</a:t>
            </a:r>
            <a:r>
              <a:rPr lang="en-US" sz="3600" dirty="0"/>
              <a:t> &amp; consumer </a:t>
            </a:r>
            <a:r>
              <a:rPr lang="en-US" sz="3600" b="1" dirty="0">
                <a:effectLst>
                  <a:outerShdw blurRad="38100" dist="38100" dir="2700000" algn="tl">
                    <a:srgbClr val="000000">
                      <a:alpha val="43137"/>
                    </a:srgbClr>
                  </a:outerShdw>
                </a:effectLst>
              </a:rPr>
              <a:t>inattention</a:t>
            </a:r>
            <a:endParaRPr lang="en-US" b="1" dirty="0">
              <a:effectLst>
                <a:outerShdw blurRad="38100" dist="38100" dir="2700000" algn="tl">
                  <a:srgbClr val="000000">
                    <a:alpha val="43137"/>
                  </a:srgbClr>
                </a:outerShdw>
              </a:effectLst>
            </a:endParaRP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32</a:t>
            </a:fld>
            <a:endParaRPr lang="en-US"/>
          </a:p>
        </p:txBody>
      </p:sp>
      <p:sp>
        <p:nvSpPr>
          <p:cNvPr id="5" name="Rounded Rectangle 4"/>
          <p:cNvSpPr/>
          <p:nvPr/>
        </p:nvSpPr>
        <p:spPr>
          <a:xfrm>
            <a:off x="1295400" y="1676399"/>
            <a:ext cx="7543800" cy="15918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t>One way companies are concealing higher prices: Smaller packages</a:t>
            </a:r>
          </a:p>
          <a:p>
            <a:pPr>
              <a:spcAft>
                <a:spcPts val="1200"/>
              </a:spcAft>
            </a:pPr>
            <a:r>
              <a:rPr lang="en-US" sz="1400" dirty="0"/>
              <a:t>"Consumers check the price every time they buy, but they don't check the net weight. When the price of raw materials, like coffee beans or paper pulp goes up, manufacturers are faced with a choice: Do we raise the price knowing consumers will see it and grumble about it? Or do we give them a little bit less and accomplish the same thing? Often it's easier to do the latter."</a:t>
            </a:r>
          </a:p>
          <a:p>
            <a:pPr algn="r"/>
            <a:r>
              <a:rPr lang="en-US" sz="1000" dirty="0"/>
              <a:t>By </a:t>
            </a:r>
            <a:r>
              <a:rPr lang="en-US" sz="1000" dirty="0" err="1"/>
              <a:t>Abha</a:t>
            </a:r>
            <a:r>
              <a:rPr lang="en-US" sz="1000" dirty="0"/>
              <a:t> </a:t>
            </a:r>
            <a:r>
              <a:rPr lang="en-US" sz="1000" dirty="0" err="1"/>
              <a:t>Bhattarai</a:t>
            </a:r>
            <a:r>
              <a:rPr lang="en-US" sz="1000" dirty="0"/>
              <a:t>, </a:t>
            </a:r>
            <a:r>
              <a:rPr lang="en-US" sz="1000" i="1" dirty="0"/>
              <a:t>Washington Post</a:t>
            </a:r>
            <a:r>
              <a:rPr lang="en-US" sz="1000" dirty="0"/>
              <a:t>, June 1, 2021</a:t>
            </a:r>
          </a:p>
        </p:txBody>
      </p:sp>
      <p:pic>
        <p:nvPicPr>
          <p:cNvPr id="6" name="Picture 4" descr="The Best Paper Towels of 2021 - Review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8339" y="3840598"/>
            <a:ext cx="3225685" cy="226917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Great Value Ultra Strong Paper Towels, Split Sheets, 12 Double Rolls -  Walmart.com - Walmart.com"/>
          <p:cNvPicPr>
            <a:picLocks noChangeAspect="1"/>
          </p:cNvPicPr>
          <p:nvPr/>
        </p:nvPicPr>
        <p:blipFill rotWithShape="1">
          <a:blip r:embed="rId3" cstate="print">
            <a:extLst>
              <a:ext uri="{28A0092B-C50C-407E-A947-70E740481C1C}">
                <a14:useLocalDpi xmlns:a14="http://schemas.microsoft.com/office/drawing/2010/main" val="0"/>
              </a:ext>
            </a:extLst>
          </a:blip>
          <a:srcRect t="7692" b="30769"/>
          <a:stretch/>
        </p:blipFill>
        <p:spPr bwMode="auto">
          <a:xfrm>
            <a:off x="428976" y="3904001"/>
            <a:ext cx="3462191" cy="2130579"/>
          </a:xfrm>
          <a:prstGeom prst="rect">
            <a:avLst/>
          </a:prstGeom>
          <a:noFill/>
          <a:ln>
            <a:noFill/>
          </a:ln>
        </p:spPr>
      </p:pic>
      <p:pic>
        <p:nvPicPr>
          <p:cNvPr id="13" name="Picture 12"/>
          <p:cNvPicPr>
            <a:picLocks noChangeAspect="1"/>
          </p:cNvPicPr>
          <p:nvPr/>
        </p:nvPicPr>
        <p:blipFill rotWithShape="1">
          <a:blip r:embed="rId4"/>
          <a:srcRect l="34036" t="6649" r="41144" b="88662"/>
          <a:stretch/>
        </p:blipFill>
        <p:spPr bwMode="auto">
          <a:xfrm>
            <a:off x="2791176" y="3379034"/>
            <a:ext cx="4343400" cy="461564"/>
          </a:xfrm>
          <a:prstGeom prst="rect">
            <a:avLst/>
          </a:prstGeom>
          <a:ln>
            <a:noFill/>
          </a:ln>
          <a:extLst>
            <a:ext uri="{53640926-AAD7-44D8-BBD7-CCE9431645EC}">
              <a14:shadowObscured xmlns:a14="http://schemas.microsoft.com/office/drawing/2010/main"/>
            </a:ext>
          </a:extLst>
        </p:spPr>
      </p:pic>
      <p:sp>
        <p:nvSpPr>
          <p:cNvPr id="7" name="TextBox 6"/>
          <p:cNvSpPr txBox="1"/>
          <p:nvPr/>
        </p:nvSpPr>
        <p:spPr>
          <a:xfrm>
            <a:off x="4221798" y="4602598"/>
            <a:ext cx="1031051" cy="461665"/>
          </a:xfrm>
          <a:prstGeom prst="rect">
            <a:avLst/>
          </a:prstGeom>
          <a:noFill/>
        </p:spPr>
        <p:txBody>
          <a:bodyPr wrap="none" rtlCol="0">
            <a:spAutoFit/>
          </a:bodyPr>
          <a:lstStyle/>
          <a:p>
            <a:r>
              <a:rPr lang="en-US" b="1" dirty="0">
                <a:solidFill>
                  <a:srgbClr val="7030A0"/>
                </a:solidFill>
                <a:effectLst>
                  <a:outerShdw blurRad="38100" dist="38100" dir="2700000" algn="tl">
                    <a:srgbClr val="000000">
                      <a:alpha val="43137"/>
                    </a:srgbClr>
                  </a:outerShdw>
                </a:effectLst>
              </a:rPr>
              <a:t>$14.97</a:t>
            </a:r>
          </a:p>
        </p:txBody>
      </p:sp>
      <p:cxnSp>
        <p:nvCxnSpPr>
          <p:cNvPr id="9" name="Straight Arrow Connector 8"/>
          <p:cNvCxnSpPr/>
          <p:nvPr/>
        </p:nvCxnSpPr>
        <p:spPr>
          <a:xfrm flipH="1">
            <a:off x="2410176" y="4983598"/>
            <a:ext cx="1905000" cy="91440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2160071" y="5826263"/>
            <a:ext cx="260641" cy="283508"/>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p:nvPr/>
        </p:nvCxnSpPr>
        <p:spPr>
          <a:xfrm>
            <a:off x="5164330" y="4983598"/>
            <a:ext cx="2046446" cy="84266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7286976" y="5756244"/>
            <a:ext cx="260641" cy="283508"/>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952923" y="6202003"/>
            <a:ext cx="6320961" cy="369332"/>
          </a:xfrm>
          <a:prstGeom prst="rect">
            <a:avLst/>
          </a:prstGeom>
          <a:noFill/>
        </p:spPr>
        <p:txBody>
          <a:bodyPr wrap="none" rtlCol="0">
            <a:spAutoFit/>
          </a:bodyPr>
          <a:lstStyle/>
          <a:p>
            <a:r>
              <a:rPr lang="en-US" sz="1800" dirty="0">
                <a:solidFill>
                  <a:srgbClr val="7030A0"/>
                </a:solidFill>
              </a:rPr>
              <a:t>Same price </a:t>
            </a:r>
            <a:r>
              <a:rPr lang="en-US" sz="1800" b="1" u="sng" dirty="0">
                <a:solidFill>
                  <a:srgbClr val="7030A0"/>
                </a:solidFill>
              </a:rPr>
              <a:t>but</a:t>
            </a:r>
            <a:r>
              <a:rPr lang="en-US" sz="1800" dirty="0">
                <a:solidFill>
                  <a:srgbClr val="7030A0"/>
                </a:solidFill>
              </a:rPr>
              <a:t> pack reduced from 168 to 120 ply (30% reduction)</a:t>
            </a:r>
          </a:p>
        </p:txBody>
      </p:sp>
      <p:sp>
        <p:nvSpPr>
          <p:cNvPr id="3" name="TextBox 2"/>
          <p:cNvSpPr txBox="1"/>
          <p:nvPr/>
        </p:nvSpPr>
        <p:spPr>
          <a:xfrm>
            <a:off x="0" y="6645183"/>
            <a:ext cx="1983235" cy="253916"/>
          </a:xfrm>
          <a:prstGeom prst="rect">
            <a:avLst/>
          </a:prstGeom>
          <a:noFill/>
        </p:spPr>
        <p:txBody>
          <a:bodyPr wrap="none" rtlCol="0">
            <a:spAutoFit/>
          </a:bodyPr>
          <a:lstStyle/>
          <a:p>
            <a:r>
              <a:rPr lang="en-US" sz="1050" dirty="0"/>
              <a:t>See Appendix for more examples</a:t>
            </a:r>
          </a:p>
        </p:txBody>
      </p:sp>
    </p:spTree>
    <p:extLst>
      <p:ext uri="{BB962C8B-B14F-4D97-AF65-F5344CB8AC3E}">
        <p14:creationId xmlns:p14="http://schemas.microsoft.com/office/powerpoint/2010/main" val="32044057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F0FDB64-F959-47FF-8203-0E5DF7491A4C}"/>
              </a:ext>
            </a:extLst>
          </p:cNvPr>
          <p:cNvPicPr>
            <a:picLocks noGrp="1" noChangeAspect="1"/>
          </p:cNvPicPr>
          <p:nvPr>
            <p:ph sz="quarter" idx="1"/>
          </p:nvPr>
        </p:nvPicPr>
        <p:blipFill>
          <a:blip r:embed="rId2"/>
          <a:stretch>
            <a:fillRect/>
          </a:stretch>
        </p:blipFill>
        <p:spPr>
          <a:xfrm>
            <a:off x="2422865" y="1600200"/>
            <a:ext cx="4533220" cy="4495800"/>
          </a:xfrm>
        </p:spPr>
      </p:pic>
      <p:sp>
        <p:nvSpPr>
          <p:cNvPr id="4" name="Slide Number Placeholder 3">
            <a:extLst>
              <a:ext uri="{FF2B5EF4-FFF2-40B4-BE49-F238E27FC236}">
                <a16:creationId xmlns:a16="http://schemas.microsoft.com/office/drawing/2014/main" id="{4C9BB824-02D0-48E3-8B4B-66E00EBD13E1}"/>
              </a:ext>
            </a:extLst>
          </p:cNvPr>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33</a:t>
            </a:fld>
            <a:endParaRPr lang="en-US"/>
          </a:p>
        </p:txBody>
      </p:sp>
      <p:sp>
        <p:nvSpPr>
          <p:cNvPr id="5" name="Title 1">
            <a:extLst>
              <a:ext uri="{FF2B5EF4-FFF2-40B4-BE49-F238E27FC236}">
                <a16:creationId xmlns:a16="http://schemas.microsoft.com/office/drawing/2014/main" id="{CD6F26A2-9077-4394-BEF8-6978CE5E15E5}"/>
              </a:ext>
            </a:extLst>
          </p:cNvPr>
          <p:cNvSpPr>
            <a:spLocks noGrp="1"/>
          </p:cNvSpPr>
          <p:nvPr>
            <p:ph type="title"/>
          </p:nvPr>
        </p:nvSpPr>
        <p:spPr>
          <a:xfrm>
            <a:off x="612648" y="228600"/>
            <a:ext cx="8153400" cy="990600"/>
          </a:xfrm>
        </p:spPr>
        <p:txBody>
          <a:bodyPr>
            <a:normAutofit fontScale="90000"/>
          </a:bodyPr>
          <a:lstStyle/>
          <a:p>
            <a:r>
              <a:rPr lang="en-US" sz="4400" dirty="0"/>
              <a:t>Prices, costs &amp; </a:t>
            </a:r>
            <a:r>
              <a:rPr lang="en-US" sz="4400" b="1" dirty="0">
                <a:effectLst>
                  <a:outerShdw blurRad="38100" dist="38100" dir="2700000" algn="tl">
                    <a:srgbClr val="000000">
                      <a:alpha val="43137"/>
                    </a:srgbClr>
                  </a:outerShdw>
                </a:effectLst>
              </a:rPr>
              <a:t>marketing for good</a:t>
            </a:r>
            <a:r>
              <a:rPr lang="en-US" sz="4400" dirty="0"/>
              <a:t>? </a:t>
            </a:r>
            <a:r>
              <a:rPr lang="en-US" sz="3600" dirty="0"/>
              <a:t>Transparency demand</a:t>
            </a:r>
          </a:p>
        </p:txBody>
      </p:sp>
    </p:spTree>
    <p:extLst>
      <p:ext uri="{BB962C8B-B14F-4D97-AF65-F5344CB8AC3E}">
        <p14:creationId xmlns:p14="http://schemas.microsoft.com/office/powerpoint/2010/main" val="22626549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Prices, costs &amp; </a:t>
            </a:r>
            <a:r>
              <a:rPr lang="en-US" sz="4400" b="1" dirty="0">
                <a:effectLst>
                  <a:outerShdw blurRad="38100" dist="38100" dir="2700000" algn="tl">
                    <a:srgbClr val="000000">
                      <a:alpha val="43137"/>
                    </a:srgbClr>
                  </a:outerShdw>
                </a:effectLst>
              </a:rPr>
              <a:t>marketing for good</a:t>
            </a:r>
            <a:r>
              <a:rPr lang="en-US" sz="4400" dirty="0"/>
              <a:t>? </a:t>
            </a:r>
            <a:r>
              <a:rPr lang="en-US" sz="3600" dirty="0"/>
              <a:t>Transparency Laws &amp; Self-Policing</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34</a:t>
            </a:fld>
            <a:endParaRPr lang="en-US"/>
          </a:p>
        </p:txBody>
      </p:sp>
      <p:pic>
        <p:nvPicPr>
          <p:cNvPr id="5" name="Picture 4">
            <a:hlinkClick r:id="rId2"/>
          </p:cNvPr>
          <p:cNvPicPr>
            <a:picLocks noChangeAspect="1"/>
          </p:cNvPicPr>
          <p:nvPr/>
        </p:nvPicPr>
        <p:blipFill rotWithShape="1">
          <a:blip r:embed="rId3"/>
          <a:srcRect b="78275"/>
          <a:stretch/>
        </p:blipFill>
        <p:spPr>
          <a:xfrm>
            <a:off x="533400" y="1548816"/>
            <a:ext cx="4158600" cy="1219200"/>
          </a:xfrm>
          <a:prstGeom prst="rect">
            <a:avLst/>
          </a:prstGeom>
        </p:spPr>
      </p:pic>
      <p:pic>
        <p:nvPicPr>
          <p:cNvPr id="6" name="Picture 5">
            <a:hlinkClick r:id="rId2"/>
          </p:cNvPr>
          <p:cNvPicPr>
            <a:picLocks noChangeAspect="1"/>
          </p:cNvPicPr>
          <p:nvPr/>
        </p:nvPicPr>
        <p:blipFill rotWithShape="1">
          <a:blip r:embed="rId3"/>
          <a:srcRect t="32587"/>
          <a:stretch/>
        </p:blipFill>
        <p:spPr>
          <a:xfrm>
            <a:off x="533400" y="2852153"/>
            <a:ext cx="4158600" cy="3783165"/>
          </a:xfrm>
          <a:prstGeom prst="rect">
            <a:avLst/>
          </a:prstGeom>
        </p:spPr>
      </p:pic>
      <p:pic>
        <p:nvPicPr>
          <p:cNvPr id="9" name="Picture 8">
            <a:hlinkClick r:id="rId4"/>
            <a:extLst>
              <a:ext uri="{FF2B5EF4-FFF2-40B4-BE49-F238E27FC236}">
                <a16:creationId xmlns:a16="http://schemas.microsoft.com/office/drawing/2014/main" id="{CDC17959-C2FC-4305-9496-D089CD9BBFD5}"/>
              </a:ext>
            </a:extLst>
          </p:cNvPr>
          <p:cNvPicPr>
            <a:picLocks noChangeAspect="1"/>
          </p:cNvPicPr>
          <p:nvPr/>
        </p:nvPicPr>
        <p:blipFill>
          <a:blip r:embed="rId5"/>
          <a:stretch>
            <a:fillRect/>
          </a:stretch>
        </p:blipFill>
        <p:spPr>
          <a:xfrm>
            <a:off x="5029200" y="3048000"/>
            <a:ext cx="3978529" cy="2043331"/>
          </a:xfrm>
          <a:prstGeom prst="rect">
            <a:avLst/>
          </a:prstGeom>
        </p:spPr>
      </p:pic>
      <p:pic>
        <p:nvPicPr>
          <p:cNvPr id="11" name="Picture 10">
            <a:extLst>
              <a:ext uri="{FF2B5EF4-FFF2-40B4-BE49-F238E27FC236}">
                <a16:creationId xmlns:a16="http://schemas.microsoft.com/office/drawing/2014/main" id="{979ED97F-056B-4374-AEF7-74335A625396}"/>
              </a:ext>
            </a:extLst>
          </p:cNvPr>
          <p:cNvPicPr>
            <a:picLocks noChangeAspect="1"/>
          </p:cNvPicPr>
          <p:nvPr/>
        </p:nvPicPr>
        <p:blipFill rotWithShape="1">
          <a:blip r:embed="rId6"/>
          <a:srcRect l="1674" t="33332" r="1626" b="26668"/>
          <a:stretch/>
        </p:blipFill>
        <p:spPr>
          <a:xfrm>
            <a:off x="5029200" y="5181600"/>
            <a:ext cx="2362199" cy="224971"/>
          </a:xfrm>
          <a:prstGeom prst="rect">
            <a:avLst/>
          </a:prstGeom>
        </p:spPr>
      </p:pic>
    </p:spTree>
    <p:extLst>
      <p:ext uri="{BB962C8B-B14F-4D97-AF65-F5344CB8AC3E}">
        <p14:creationId xmlns:p14="http://schemas.microsoft.com/office/powerpoint/2010/main" val="40061128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Prices, costs &amp; </a:t>
            </a:r>
            <a:r>
              <a:rPr lang="en-US" sz="4400" b="1" dirty="0">
                <a:effectLst>
                  <a:outerShdw blurRad="38100" dist="38100" dir="2700000" algn="tl">
                    <a:srgbClr val="000000">
                      <a:alpha val="43137"/>
                    </a:srgbClr>
                  </a:outerShdw>
                </a:effectLst>
              </a:rPr>
              <a:t>marketing for good</a:t>
            </a:r>
            <a:r>
              <a:rPr lang="en-US" sz="4400" dirty="0"/>
              <a:t>?</a:t>
            </a:r>
            <a:br>
              <a:rPr lang="en-US" sz="4400" dirty="0"/>
            </a:br>
            <a:r>
              <a:rPr lang="en-US" sz="3600" dirty="0"/>
              <a:t>Litigation, Consumer Protection &amp; slave labor</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600200"/>
                <a:ext cx="8153400" cy="5105400"/>
              </a:xfrm>
            </p:spPr>
            <p:txBody>
              <a:bodyPr>
                <a:normAutofit fontScale="92500" lnSpcReduction="20000"/>
              </a:bodyPr>
              <a:lstStyle/>
              <a:p>
                <a:r>
                  <a:rPr lang="en-US" dirty="0"/>
                  <a:t>Italian luxury designers represent products as “</a:t>
                </a:r>
                <a:r>
                  <a:rPr lang="en-US" i="1" dirty="0"/>
                  <a:t>Made in Italy”</a:t>
                </a:r>
              </a:p>
              <a:p>
                <a:pPr marL="0" indent="0">
                  <a:buNone/>
                </a:pPr>
                <a:endParaRPr lang="en-US" dirty="0"/>
              </a:p>
              <a:p>
                <a:r>
                  <a:rPr lang="en-US" sz="2100" dirty="0">
                    <a:solidFill>
                      <a:srgbClr val="FF0000"/>
                    </a:solidFill>
                  </a:rPr>
                  <a:t>A </a:t>
                </a:r>
                <a14:m>
                  <m:oMath xmlns:m="http://schemas.openxmlformats.org/officeDocument/2006/math">
                    <m:r>
                      <a:rPr lang="en-US" sz="2100" i="1">
                        <a:solidFill>
                          <a:srgbClr val="FF0000"/>
                        </a:solidFill>
                        <a:latin typeface="Cambria Math" panose="02040503050406030204" pitchFamily="18" charset="0"/>
                      </a:rPr>
                      <m:t>€</m:t>
                    </m:r>
                  </m:oMath>
                </a14:m>
                <a:r>
                  <a:rPr lang="en-US" sz="2100" dirty="0">
                    <a:solidFill>
                      <a:srgbClr val="FF0000"/>
                    </a:solidFill>
                  </a:rPr>
                  <a:t>2,600 </a:t>
                </a:r>
                <a:r>
                  <a:rPr lang="en-US" sz="2100" b="1" u="sng" dirty="0">
                    <a:solidFill>
                      <a:srgbClr val="FF0000"/>
                    </a:solidFill>
                    <a:effectLst>
                      <a:outerShdw blurRad="38100" dist="38100" dir="2700000" algn="tl">
                        <a:srgbClr val="000000">
                          <a:alpha val="43137"/>
                        </a:srgbClr>
                      </a:outerShdw>
                    </a:effectLst>
                  </a:rPr>
                  <a:t>Dior</a:t>
                </a:r>
                <a:r>
                  <a:rPr lang="en-US" sz="2100" dirty="0">
                    <a:solidFill>
                      <a:srgbClr val="FF0000"/>
                    </a:solidFill>
                  </a:rPr>
                  <a:t> handbag has supplier price </a:t>
                </a:r>
                <a14:m>
                  <m:oMath xmlns:m="http://schemas.openxmlformats.org/officeDocument/2006/math">
                    <m:r>
                      <a:rPr lang="en-US" sz="2100" i="1">
                        <a:solidFill>
                          <a:srgbClr val="FF0000"/>
                        </a:solidFill>
                        <a:latin typeface="Cambria Math" panose="02040503050406030204" pitchFamily="18" charset="0"/>
                      </a:rPr>
                      <m:t>€</m:t>
                    </m:r>
                  </m:oMath>
                </a14:m>
                <a:r>
                  <a:rPr lang="en-US" sz="2100" dirty="0">
                    <a:solidFill>
                      <a:srgbClr val="FF0000"/>
                    </a:solidFill>
                  </a:rPr>
                  <a:t>53</a:t>
                </a:r>
              </a:p>
              <a:p>
                <a:pPr lvl="1"/>
                <a:r>
                  <a:rPr lang="en-US" sz="2100" dirty="0"/>
                  <a:t>Contribution margin</a:t>
                </a:r>
                <a14:m>
                  <m:oMath xmlns:m="http://schemas.openxmlformats.org/officeDocument/2006/math">
                    <m:r>
                      <a:rPr lang="en-US" sz="2100" b="0" i="1" smtClean="0">
                        <a:latin typeface="Cambria Math" panose="02040503050406030204" pitchFamily="18" charset="0"/>
                      </a:rPr>
                      <m:t>:</m:t>
                    </m:r>
                    <m:r>
                      <a:rPr lang="en-US" sz="2100" i="1">
                        <a:latin typeface="Cambria Math" panose="02040503050406030204" pitchFamily="18" charset="0"/>
                      </a:rPr>
                      <m:t>98%</m:t>
                    </m:r>
                  </m:oMath>
                </a14:m>
                <a:r>
                  <a:rPr lang="en-US" sz="2100" dirty="0"/>
                  <a:t> </a:t>
                </a:r>
                <a:endParaRPr lang="en-US" sz="2100" dirty="0">
                  <a:sym typeface="Wingdings" panose="05000000000000000000" pitchFamily="2" charset="2"/>
                </a:endParaRPr>
              </a:p>
              <a:p>
                <a:pPr lvl="1"/>
                <a:r>
                  <a:rPr lang="en-US" sz="2100" dirty="0"/>
                  <a:t>i.e., implies </a:t>
                </a:r>
                <a14:m>
                  <m:oMath xmlns:m="http://schemas.openxmlformats.org/officeDocument/2006/math">
                    <m:r>
                      <a:rPr lang="en-US" sz="2100" i="1">
                        <a:latin typeface="Cambria Math" panose="02040503050406030204" pitchFamily="18" charset="0"/>
                      </a:rPr>
                      <m:t>𝛽</m:t>
                    </m:r>
                    <m:r>
                      <a:rPr lang="en-US" sz="2100" i="1">
                        <a:latin typeface="Cambria Math" panose="02040503050406030204" pitchFamily="18" charset="0"/>
                      </a:rPr>
                      <m:t>=−1.02</m:t>
                    </m:r>
                  </m:oMath>
                </a14:m>
                <a:endParaRPr lang="en-US" sz="2100" dirty="0"/>
              </a:p>
              <a:p>
                <a:r>
                  <a:rPr lang="en-US" sz="2100" dirty="0">
                    <a:solidFill>
                      <a:srgbClr val="FF0000"/>
                    </a:solidFill>
                  </a:rPr>
                  <a:t>A </a:t>
                </a:r>
                <a14:m>
                  <m:oMath xmlns:m="http://schemas.openxmlformats.org/officeDocument/2006/math">
                    <m:r>
                      <a:rPr lang="en-US" sz="2100" i="1">
                        <a:solidFill>
                          <a:srgbClr val="FF0000"/>
                        </a:solidFill>
                        <a:latin typeface="Cambria Math" panose="02040503050406030204" pitchFamily="18" charset="0"/>
                      </a:rPr>
                      <m:t>€</m:t>
                    </m:r>
                  </m:oMath>
                </a14:m>
                <a:r>
                  <a:rPr lang="en-US" sz="2100" dirty="0">
                    <a:solidFill>
                      <a:srgbClr val="FF0000"/>
                    </a:solidFill>
                  </a:rPr>
                  <a:t>1,800 </a:t>
                </a:r>
                <a:r>
                  <a:rPr lang="en-US" sz="2100" b="1" u="sng" dirty="0">
                    <a:solidFill>
                      <a:srgbClr val="FF0000"/>
                    </a:solidFill>
                    <a:effectLst>
                      <a:outerShdw blurRad="38100" dist="38100" dir="2700000" algn="tl">
                        <a:srgbClr val="000000">
                          <a:alpha val="43137"/>
                        </a:srgbClr>
                      </a:outerShdw>
                    </a:effectLst>
                  </a:rPr>
                  <a:t>Armani</a:t>
                </a:r>
                <a:r>
                  <a:rPr lang="en-US" sz="2100" dirty="0">
                    <a:solidFill>
                      <a:srgbClr val="FF0000"/>
                    </a:solidFill>
                  </a:rPr>
                  <a:t> handbag has supplier price </a:t>
                </a:r>
                <a14:m>
                  <m:oMath xmlns:m="http://schemas.openxmlformats.org/officeDocument/2006/math">
                    <m:r>
                      <a:rPr lang="en-US" sz="2100" i="1">
                        <a:solidFill>
                          <a:srgbClr val="FF0000"/>
                        </a:solidFill>
                        <a:latin typeface="Cambria Math" panose="02040503050406030204" pitchFamily="18" charset="0"/>
                      </a:rPr>
                      <m:t>€</m:t>
                    </m:r>
                  </m:oMath>
                </a14:m>
                <a:r>
                  <a:rPr lang="en-US" sz="2100" dirty="0">
                    <a:solidFill>
                      <a:srgbClr val="FF0000"/>
                    </a:solidFill>
                  </a:rPr>
                  <a:t>250</a:t>
                </a:r>
              </a:p>
              <a:p>
                <a:pPr lvl="1"/>
                <a:r>
                  <a:rPr lang="en-US" sz="2100" dirty="0"/>
                  <a:t>Contribution margin: </a:t>
                </a:r>
                <a14:m>
                  <m:oMath xmlns:m="http://schemas.openxmlformats.org/officeDocument/2006/math">
                    <m:r>
                      <a:rPr lang="en-US" sz="2100" i="1">
                        <a:latin typeface="Cambria Math" panose="02040503050406030204" pitchFamily="18" charset="0"/>
                      </a:rPr>
                      <m:t>8</m:t>
                    </m:r>
                    <m:r>
                      <a:rPr lang="en-US" sz="2100" b="0" i="1" smtClean="0">
                        <a:latin typeface="Cambria Math" panose="02040503050406030204" pitchFamily="18" charset="0"/>
                      </a:rPr>
                      <m:t>6</m:t>
                    </m:r>
                    <m:r>
                      <a:rPr lang="en-US" sz="2100" i="1">
                        <a:latin typeface="Cambria Math" panose="02040503050406030204" pitchFamily="18" charset="0"/>
                      </a:rPr>
                      <m:t>%</m:t>
                    </m:r>
                  </m:oMath>
                </a14:m>
                <a:r>
                  <a:rPr lang="en-US" sz="2100" dirty="0"/>
                  <a:t> </a:t>
                </a:r>
                <a:endParaRPr lang="en-US" sz="2100" dirty="0">
                  <a:sym typeface="Wingdings" panose="05000000000000000000" pitchFamily="2" charset="2"/>
                </a:endParaRPr>
              </a:p>
              <a:p>
                <a:pPr lvl="1"/>
                <a:r>
                  <a:rPr lang="en-US" sz="2100" dirty="0"/>
                  <a:t>i.e., implies </a:t>
                </a:r>
                <a14:m>
                  <m:oMath xmlns:m="http://schemas.openxmlformats.org/officeDocument/2006/math">
                    <m:r>
                      <a:rPr lang="en-US" sz="2100" i="1">
                        <a:latin typeface="Cambria Math" panose="02040503050406030204" pitchFamily="18" charset="0"/>
                      </a:rPr>
                      <m:t>𝛽</m:t>
                    </m:r>
                    <m:r>
                      <a:rPr lang="en-US" sz="2100" i="1">
                        <a:latin typeface="Cambria Math" panose="02040503050406030204" pitchFamily="18" charset="0"/>
                      </a:rPr>
                      <m:t>=−1.16</m:t>
                    </m:r>
                  </m:oMath>
                </a14:m>
                <a:endParaRPr lang="en-US" sz="2100" b="0" dirty="0"/>
              </a:p>
              <a:p>
                <a:pPr marL="366713" lvl="1" indent="0">
                  <a:buNone/>
                </a:pPr>
                <a:endParaRPr lang="en-US" sz="1800" dirty="0"/>
              </a:p>
              <a:p>
                <a:r>
                  <a:rPr lang="en-US" dirty="0"/>
                  <a:t>How are the costs so low?  </a:t>
                </a:r>
              </a:p>
              <a:p>
                <a:r>
                  <a:rPr lang="en-US" dirty="0"/>
                  <a:t>Milan prosecutors discovered via 2024 raids that both firms subcontract to suppliers that exploit foreign labor</a:t>
                </a:r>
              </a:p>
              <a:p>
                <a:pPr lvl="1"/>
                <a:r>
                  <a:rPr lang="en-US" dirty="0"/>
                  <a:t>Undocumented workers, unhygienic conditions, safety risks…</a:t>
                </a:r>
              </a:p>
              <a:p>
                <a:pPr marL="0" indent="0">
                  <a:buNone/>
                </a:pPr>
                <a:endParaRPr lang="en-US" dirty="0"/>
              </a:p>
              <a:p>
                <a:pPr marL="0" indent="0">
                  <a:buNone/>
                </a:pPr>
                <a:r>
                  <a:rPr lang="en-US" sz="1300" b="1" dirty="0"/>
                  <a:t>See:</a:t>
                </a:r>
                <a:r>
                  <a:rPr lang="en-US" sz="1300" dirty="0"/>
                  <a:t> </a:t>
                </a:r>
                <a:r>
                  <a:rPr lang="en-US" sz="1300" dirty="0">
                    <a:hlinkClick r:id="rId2"/>
                  </a:rPr>
                  <a:t>“Raids Find Luxury Handbags Being Made by Exploited Workers in Italy,” by Nick </a:t>
                </a:r>
                <a:r>
                  <a:rPr lang="en-US" sz="1300" dirty="0" err="1">
                    <a:hlinkClick r:id="rId2"/>
                  </a:rPr>
                  <a:t>Kostov</a:t>
                </a:r>
                <a:r>
                  <a:rPr lang="en-US" sz="1300" dirty="0">
                    <a:hlinkClick r:id="rId2"/>
                  </a:rPr>
                  <a:t>, </a:t>
                </a:r>
                <a:r>
                  <a:rPr lang="en-US" sz="1300" i="1" dirty="0">
                    <a:hlinkClick r:id="rId2"/>
                  </a:rPr>
                  <a:t>WSJ, </a:t>
                </a:r>
                <a:r>
                  <a:rPr lang="en-US" sz="1300" dirty="0">
                    <a:hlinkClick r:id="rId2"/>
                  </a:rPr>
                  <a:t>7-2-2024</a:t>
                </a:r>
                <a:endParaRPr lang="en-US" sz="1500"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600200"/>
                <a:ext cx="8153400" cy="5105400"/>
              </a:xfrm>
              <a:blipFill>
                <a:blip r:embed="rId3"/>
                <a:stretch>
                  <a:fillRect l="-75" t="-203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4343AAED-02DD-4D31-9CFB-19D10387CA6E}" type="slidenum">
              <a:rPr lang="en-US" smtClean="0"/>
              <a:pPr>
                <a:defRPr/>
              </a:pPr>
              <a:t>35</a:t>
            </a:fld>
            <a:endParaRPr lang="en-US"/>
          </a:p>
        </p:txBody>
      </p:sp>
      <p:pic>
        <p:nvPicPr>
          <p:cNvPr id="5" name="Picture 4"/>
          <p:cNvPicPr>
            <a:picLocks noChangeAspect="1"/>
          </p:cNvPicPr>
          <p:nvPr/>
        </p:nvPicPr>
        <p:blipFill>
          <a:blip r:embed="rId4"/>
          <a:stretch>
            <a:fillRect/>
          </a:stretch>
        </p:blipFill>
        <p:spPr>
          <a:xfrm>
            <a:off x="6172200" y="2133600"/>
            <a:ext cx="2820850" cy="2234062"/>
          </a:xfrm>
          <a:prstGeom prst="rect">
            <a:avLst/>
          </a:prstGeom>
        </p:spPr>
      </p:pic>
    </p:spTree>
    <p:extLst>
      <p:ext uri="{BB962C8B-B14F-4D97-AF65-F5344CB8AC3E}">
        <p14:creationId xmlns:p14="http://schemas.microsoft.com/office/powerpoint/2010/main" val="4197387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dirty="0"/>
              <a:t>Watch out for historical costs</a:t>
            </a:r>
          </a:p>
        </p:txBody>
      </p:sp>
      <p:sp>
        <p:nvSpPr>
          <p:cNvPr id="34819" name="Rectangle 3"/>
          <p:cNvSpPr>
            <a:spLocks noGrp="1" noChangeArrowheads="1"/>
          </p:cNvSpPr>
          <p:nvPr>
            <p:ph sz="quarter" idx="1"/>
          </p:nvPr>
        </p:nvSpPr>
        <p:spPr>
          <a:xfrm>
            <a:off x="612648" y="1600200"/>
            <a:ext cx="8378952" cy="4724400"/>
          </a:xfrm>
        </p:spPr>
        <p:txBody>
          <a:bodyPr>
            <a:normAutofit/>
          </a:bodyPr>
          <a:lstStyle/>
          <a:p>
            <a:pPr>
              <a:spcBef>
                <a:spcPts val="1200"/>
              </a:spcBef>
              <a:spcAft>
                <a:spcPts val="1200"/>
              </a:spcAft>
              <a:defRPr/>
            </a:pPr>
            <a:r>
              <a:rPr lang="en-US" sz="2400" dirty="0">
                <a:latin typeface="+mj-lt"/>
              </a:rPr>
              <a:t>The cost of a sale includes </a:t>
            </a:r>
            <a:r>
              <a:rPr lang="en-US" sz="2400" b="1" i="1" dirty="0">
                <a:effectLst>
                  <a:outerShdw blurRad="38100" dist="38100" dir="2700000" algn="tl">
                    <a:srgbClr val="000000">
                      <a:alpha val="43137"/>
                    </a:srgbClr>
                  </a:outerShdw>
                </a:effectLst>
                <a:latin typeface="+mj-lt"/>
              </a:rPr>
              <a:t>opportunity cost</a:t>
            </a:r>
            <a:r>
              <a:rPr lang="en-US" sz="2400" dirty="0">
                <a:latin typeface="+mj-lt"/>
              </a:rPr>
              <a:t> of the sold units</a:t>
            </a:r>
          </a:p>
          <a:p>
            <a:pPr>
              <a:spcBef>
                <a:spcPts val="1200"/>
              </a:spcBef>
              <a:spcAft>
                <a:spcPts val="1200"/>
              </a:spcAft>
              <a:defRPr/>
            </a:pPr>
            <a:r>
              <a:rPr lang="en-US" i="1" dirty="0"/>
              <a:t>Opportunity Cost</a:t>
            </a:r>
            <a:r>
              <a:rPr lang="en-US" dirty="0"/>
              <a:t>: Next best use of a resource</a:t>
            </a:r>
          </a:p>
          <a:p>
            <a:pPr>
              <a:spcBef>
                <a:spcPts val="1200"/>
              </a:spcBef>
              <a:spcAft>
                <a:spcPts val="1200"/>
              </a:spcAft>
              <a:defRPr/>
            </a:pPr>
            <a:r>
              <a:rPr lang="en-US" dirty="0"/>
              <a:t>What you paid in past to acquire a resource is irrelevant.</a:t>
            </a:r>
          </a:p>
          <a:p>
            <a:pPr>
              <a:spcBef>
                <a:spcPts val="1200"/>
              </a:spcBef>
              <a:spcAft>
                <a:spcPts val="1200"/>
              </a:spcAft>
              <a:defRPr/>
            </a:pPr>
            <a:r>
              <a:rPr lang="en-US" dirty="0"/>
              <a:t>Focus instead on current alternative uses:</a:t>
            </a:r>
          </a:p>
          <a:p>
            <a:pPr lvl="1">
              <a:spcAft>
                <a:spcPts val="600"/>
              </a:spcAft>
              <a:defRPr/>
            </a:pPr>
            <a:r>
              <a:rPr lang="en-US" dirty="0"/>
              <a:t>Coffee Beans			(reading)</a:t>
            </a:r>
          </a:p>
          <a:p>
            <a:pPr lvl="1">
              <a:spcAft>
                <a:spcPts val="1200"/>
              </a:spcAft>
              <a:defRPr/>
            </a:pPr>
            <a:r>
              <a:rPr lang="en-US" dirty="0"/>
              <a:t>Vintage Bordeaux		(reading)</a:t>
            </a:r>
          </a:p>
        </p:txBody>
      </p:sp>
      <p:sp>
        <p:nvSpPr>
          <p:cNvPr id="2" name="Slide Number Placeholder 1"/>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36</a:t>
            </a:fld>
            <a:endParaRPr lang="en-US"/>
          </a:p>
        </p:txBody>
      </p:sp>
    </p:spTree>
    <p:extLst>
      <p:ext uri="{BB962C8B-B14F-4D97-AF65-F5344CB8AC3E}">
        <p14:creationId xmlns:p14="http://schemas.microsoft.com/office/powerpoint/2010/main" val="2131894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8"/>
          <p:cNvSpPr>
            <a:spLocks noGrp="1" noChangeArrowheads="1"/>
          </p:cNvSpPr>
          <p:nvPr>
            <p:ph type="title"/>
          </p:nvPr>
        </p:nvSpPr>
        <p:spPr/>
        <p:txBody>
          <a:bodyPr/>
          <a:lstStyle/>
          <a:p>
            <a:r>
              <a:rPr lang="en-US"/>
              <a:t>Take Away</a:t>
            </a:r>
          </a:p>
        </p:txBody>
      </p:sp>
      <p:sp>
        <p:nvSpPr>
          <p:cNvPr id="41989" name="Rectangle 1029"/>
          <p:cNvSpPr>
            <a:spLocks noGrp="1" noChangeArrowheads="1"/>
          </p:cNvSpPr>
          <p:nvPr>
            <p:ph sz="quarter" idx="1"/>
          </p:nvPr>
        </p:nvSpPr>
        <p:spPr>
          <a:xfrm>
            <a:off x="612648" y="1600200"/>
            <a:ext cx="8153400" cy="4800600"/>
          </a:xfrm>
        </p:spPr>
        <p:txBody>
          <a:bodyPr>
            <a:normAutofit/>
          </a:bodyPr>
          <a:lstStyle/>
          <a:p>
            <a:pPr>
              <a:spcBef>
                <a:spcPts val="1200"/>
              </a:spcBef>
              <a:spcAft>
                <a:spcPts val="1200"/>
              </a:spcAft>
              <a:defRPr/>
            </a:pPr>
            <a:r>
              <a:rPr lang="en-US" dirty="0"/>
              <a:t>Tying Pricing to financial objectives requires careful thinking!</a:t>
            </a:r>
          </a:p>
          <a:p>
            <a:pPr>
              <a:spcBef>
                <a:spcPts val="1200"/>
              </a:spcBef>
              <a:defRPr/>
            </a:pPr>
            <a:r>
              <a:rPr lang="en-US" dirty="0"/>
              <a:t>Clearly identify the decision</a:t>
            </a:r>
          </a:p>
          <a:p>
            <a:pPr lvl="1">
              <a:spcAft>
                <a:spcPts val="1200"/>
              </a:spcAft>
              <a:defRPr/>
            </a:pPr>
            <a:r>
              <a:rPr lang="en-US" dirty="0"/>
              <a:t>Identify </a:t>
            </a:r>
            <a:r>
              <a:rPr lang="en-US" b="1" dirty="0">
                <a:effectLst>
                  <a:outerShdw blurRad="38100" dist="38100" dir="2700000" algn="tl">
                    <a:srgbClr val="000000">
                      <a:alpha val="43137"/>
                    </a:srgbClr>
                  </a:outerShdw>
                </a:effectLst>
              </a:rPr>
              <a:t>marginal costs</a:t>
            </a:r>
            <a:r>
              <a:rPr lang="en-US" dirty="0"/>
              <a:t> (incremental, avoidable) with respect to this decision.</a:t>
            </a:r>
          </a:p>
          <a:p>
            <a:pPr>
              <a:spcBef>
                <a:spcPts val="1200"/>
              </a:spcBef>
              <a:spcAft>
                <a:spcPts val="1200"/>
              </a:spcAft>
              <a:defRPr/>
            </a:pPr>
            <a:r>
              <a:rPr lang="en-US" dirty="0"/>
              <a:t>Set pricing objectives using </a:t>
            </a:r>
            <a:r>
              <a:rPr lang="en-US" b="1" dirty="0">
                <a:effectLst>
                  <a:outerShdw blurRad="38100" dist="38100" dir="2700000" algn="tl">
                    <a:srgbClr val="000000">
                      <a:alpha val="43137"/>
                    </a:srgbClr>
                  </a:outerShdw>
                </a:effectLst>
              </a:rPr>
              <a:t>contribution margin</a:t>
            </a:r>
            <a:endParaRPr lang="en-US" dirty="0"/>
          </a:p>
          <a:p>
            <a:pPr>
              <a:spcBef>
                <a:spcPts val="1200"/>
              </a:spcBef>
              <a:defRPr/>
            </a:pPr>
            <a:r>
              <a:rPr lang="en-US" dirty="0"/>
              <a:t>Opportunistic price increases vs optimization</a:t>
            </a:r>
          </a:p>
          <a:p>
            <a:pPr>
              <a:spcBef>
                <a:spcPts val="1200"/>
              </a:spcBef>
              <a:defRPr/>
            </a:pPr>
            <a:r>
              <a:rPr lang="en-US" dirty="0"/>
              <a:t>Hidden cost pass-through is unethical and </a:t>
            </a:r>
            <a:r>
              <a:rPr lang="en-US"/>
              <a:t>is causing regulation</a:t>
            </a:r>
            <a:r>
              <a:rPr lang="en-US" dirty="0"/>
              <a:t>!</a:t>
            </a:r>
          </a:p>
          <a:p>
            <a:pPr>
              <a:defRPr/>
            </a:pPr>
            <a:endParaRPr lang="en-US" dirty="0"/>
          </a:p>
          <a:p>
            <a:pPr marL="0" indent="0">
              <a:buNone/>
              <a:defRPr/>
            </a:pPr>
            <a:endParaRPr lang="en-US" dirty="0"/>
          </a:p>
        </p:txBody>
      </p:sp>
      <p:sp>
        <p:nvSpPr>
          <p:cNvPr id="2" name="Slide Number Placeholder 1"/>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37</a:t>
            </a:fld>
            <a:endParaRPr lang="en-US"/>
          </a:p>
        </p:txBody>
      </p:sp>
      <p:sp>
        <p:nvSpPr>
          <p:cNvPr id="3" name="Right Arrow 2"/>
          <p:cNvSpPr/>
          <p:nvPr/>
        </p:nvSpPr>
        <p:spPr>
          <a:xfrm>
            <a:off x="990600" y="5983933"/>
            <a:ext cx="533400"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24000" y="6019800"/>
            <a:ext cx="4871911" cy="461665"/>
          </a:xfrm>
          <a:prstGeom prst="rect">
            <a:avLst/>
          </a:prstGeom>
          <a:noFill/>
        </p:spPr>
        <p:txBody>
          <a:bodyPr wrap="none" rtlCol="0">
            <a:spAutoFit/>
          </a:bodyPr>
          <a:lstStyle/>
          <a:p>
            <a:r>
              <a:rPr lang="en-US" b="1" dirty="0">
                <a:solidFill>
                  <a:schemeClr val="accent1">
                    <a:lumMod val="75000"/>
                  </a:schemeClr>
                </a:solidFill>
                <a:effectLst>
                  <a:outerShdw blurRad="38100" dist="38100" dir="2700000" algn="tl">
                    <a:srgbClr val="000000">
                      <a:alpha val="43137"/>
                    </a:srgbClr>
                  </a:outerShdw>
                </a:effectLst>
              </a:rPr>
              <a:t>Not all costs are relevant to pricing!</a:t>
            </a:r>
          </a:p>
        </p:txBody>
      </p:sp>
    </p:spTree>
    <p:extLst>
      <p:ext uri="{BB962C8B-B14F-4D97-AF65-F5344CB8AC3E}">
        <p14:creationId xmlns:p14="http://schemas.microsoft.com/office/powerpoint/2010/main" val="245936414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p:txBody>
          <a:bodyPr/>
          <a:lstStyle/>
          <a:p>
            <a:r>
              <a:rPr lang="en-US" dirty="0" err="1"/>
              <a:t>Shrinkflation</a:t>
            </a:r>
            <a:endParaRPr lang="en-US" dirty="0"/>
          </a:p>
        </p:txBody>
      </p:sp>
      <p:sp>
        <p:nvSpPr>
          <p:cNvPr id="4" name="Slide Number Placeholder 3"/>
          <p:cNvSpPr>
            <a:spLocks noGrp="1"/>
          </p:cNvSpPr>
          <p:nvPr>
            <p:ph type="sldNum" sz="quarter" idx="11"/>
          </p:nvPr>
        </p:nvSpPr>
        <p:spPr/>
        <p:txBody>
          <a:bodyPr/>
          <a:lstStyle/>
          <a:p>
            <a:pPr>
              <a:defRPr/>
            </a:pPr>
            <a:fld id="{D47E556B-1B27-4C7A-B8CA-7336E48AB80A}" type="slidenum">
              <a:rPr lang="en-US" smtClean="0"/>
              <a:pPr>
                <a:defRPr/>
              </a:pPr>
              <a:t>38</a:t>
            </a:fld>
            <a:endParaRPr lang="en-US"/>
          </a:p>
        </p:txBody>
      </p:sp>
    </p:spTree>
    <p:extLst>
      <p:ext uri="{BB962C8B-B14F-4D97-AF65-F5344CB8AC3E}">
        <p14:creationId xmlns:p14="http://schemas.microsoft.com/office/powerpoint/2010/main" val="42413359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Examples from 2024</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39</a:t>
            </a:fld>
            <a:endParaRPr lang="en-US"/>
          </a:p>
        </p:txBody>
      </p:sp>
      <p:sp>
        <p:nvSpPr>
          <p:cNvPr id="3" name="Content Placeholder 2"/>
          <p:cNvSpPr>
            <a:spLocks noGrp="1"/>
          </p:cNvSpPr>
          <p:nvPr>
            <p:ph sz="quarter" idx="1"/>
          </p:nvPr>
        </p:nvSpPr>
        <p:spPr/>
        <p:txBody>
          <a:bodyPr/>
          <a:lstStyle/>
          <a:p>
            <a:endParaRPr lang="en-US" dirty="0"/>
          </a:p>
        </p:txBody>
      </p:sp>
      <p:pic>
        <p:nvPicPr>
          <p:cNvPr id="5" name="Picture 4"/>
          <p:cNvPicPr>
            <a:picLocks noChangeAspect="1"/>
          </p:cNvPicPr>
          <p:nvPr/>
        </p:nvPicPr>
        <p:blipFill rotWithShape="1">
          <a:blip r:embed="rId2"/>
          <a:srcRect t="1976" b="547"/>
          <a:stretch/>
        </p:blipFill>
        <p:spPr>
          <a:xfrm>
            <a:off x="76200" y="1600201"/>
            <a:ext cx="4407960" cy="3048000"/>
          </a:xfrm>
          <a:prstGeom prst="rect">
            <a:avLst/>
          </a:prstGeom>
        </p:spPr>
      </p:pic>
      <p:pic>
        <p:nvPicPr>
          <p:cNvPr id="6" name="Picture 5"/>
          <p:cNvPicPr>
            <a:picLocks noChangeAspect="1"/>
          </p:cNvPicPr>
          <p:nvPr/>
        </p:nvPicPr>
        <p:blipFill>
          <a:blip r:embed="rId3"/>
          <a:stretch>
            <a:fillRect/>
          </a:stretch>
        </p:blipFill>
        <p:spPr>
          <a:xfrm>
            <a:off x="6403309" y="1560709"/>
            <a:ext cx="2693999" cy="3782612"/>
          </a:xfrm>
          <a:prstGeom prst="rect">
            <a:avLst/>
          </a:prstGeom>
        </p:spPr>
      </p:pic>
      <p:pic>
        <p:nvPicPr>
          <p:cNvPr id="7" name="Picture 6"/>
          <p:cNvPicPr>
            <a:picLocks noChangeAspect="1"/>
          </p:cNvPicPr>
          <p:nvPr/>
        </p:nvPicPr>
        <p:blipFill rotWithShape="1">
          <a:blip r:embed="rId4"/>
          <a:srcRect t="4368"/>
          <a:stretch/>
        </p:blipFill>
        <p:spPr>
          <a:xfrm>
            <a:off x="381000" y="4648200"/>
            <a:ext cx="2667000" cy="2204182"/>
          </a:xfrm>
          <a:prstGeom prst="rect">
            <a:avLst/>
          </a:prstGeom>
        </p:spPr>
      </p:pic>
    </p:spTree>
    <p:extLst>
      <p:ext uri="{BB962C8B-B14F-4D97-AF65-F5344CB8AC3E}">
        <p14:creationId xmlns:p14="http://schemas.microsoft.com/office/powerpoint/2010/main" val="19977894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Examples from 2021</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40</a:t>
            </a:fld>
            <a:endParaRPr lang="en-US"/>
          </a:p>
        </p:txBody>
      </p:sp>
      <p:pic>
        <p:nvPicPr>
          <p:cNvPr id="8" name="Content Placeholder 7"/>
          <p:cNvPicPr>
            <a:picLocks noGrp="1" noChangeAspect="1"/>
          </p:cNvPicPr>
          <p:nvPr>
            <p:ph sz="quarter" idx="1"/>
          </p:nvPr>
        </p:nvPicPr>
        <p:blipFill rotWithShape="1">
          <a:blip r:embed="rId2"/>
          <a:srcRect l="36806" t="37037" r="39583" b="17284"/>
          <a:stretch/>
        </p:blipFill>
        <p:spPr>
          <a:xfrm>
            <a:off x="304800" y="1676400"/>
            <a:ext cx="4131257" cy="4495800"/>
          </a:xfrm>
          <a:prstGeom prst="rect">
            <a:avLst/>
          </a:prstGeom>
        </p:spPr>
      </p:pic>
      <p:pic>
        <p:nvPicPr>
          <p:cNvPr id="1026" name="Picture 2" descr="Photo of 32 oz. Gatorade now in a 28 oz. bott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905000"/>
            <a:ext cx="2114550" cy="2821414"/>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p:cNvCxnSpPr/>
          <p:nvPr/>
        </p:nvCxnSpPr>
        <p:spPr>
          <a:xfrm flipV="1">
            <a:off x="5562600" y="3581400"/>
            <a:ext cx="1066800" cy="6858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105400" y="4189029"/>
            <a:ext cx="579005" cy="307777"/>
          </a:xfrm>
          <a:prstGeom prst="rect">
            <a:avLst/>
          </a:prstGeom>
          <a:noFill/>
        </p:spPr>
        <p:txBody>
          <a:bodyPr wrap="none" rtlCol="0">
            <a:spAutoFit/>
          </a:bodyPr>
          <a:lstStyle/>
          <a:p>
            <a:r>
              <a:rPr lang="en-US" sz="1400" dirty="0">
                <a:solidFill>
                  <a:srgbClr val="FF0000"/>
                </a:solidFill>
              </a:rPr>
              <a:t>32 </a:t>
            </a:r>
            <a:r>
              <a:rPr lang="en-US" sz="1400" dirty="0" err="1">
                <a:solidFill>
                  <a:srgbClr val="FF0000"/>
                </a:solidFill>
              </a:rPr>
              <a:t>oz</a:t>
            </a:r>
            <a:endParaRPr lang="en-US" sz="1400" dirty="0">
              <a:solidFill>
                <a:srgbClr val="FF0000"/>
              </a:solidFill>
            </a:endParaRPr>
          </a:p>
        </p:txBody>
      </p:sp>
      <p:cxnSp>
        <p:nvCxnSpPr>
          <p:cNvPr id="13" name="Straight Arrow Connector 12"/>
          <p:cNvCxnSpPr/>
          <p:nvPr/>
        </p:nvCxnSpPr>
        <p:spPr>
          <a:xfrm flipH="1" flipV="1">
            <a:off x="7620000" y="3657600"/>
            <a:ext cx="1096376" cy="6096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259176" y="4189029"/>
            <a:ext cx="579005" cy="307777"/>
          </a:xfrm>
          <a:prstGeom prst="rect">
            <a:avLst/>
          </a:prstGeom>
          <a:noFill/>
        </p:spPr>
        <p:txBody>
          <a:bodyPr wrap="square" rtlCol="0">
            <a:spAutoFit/>
          </a:bodyPr>
          <a:lstStyle/>
          <a:p>
            <a:r>
              <a:rPr lang="en-US" sz="1400" dirty="0">
                <a:solidFill>
                  <a:srgbClr val="FF0000"/>
                </a:solidFill>
              </a:rPr>
              <a:t>28 </a:t>
            </a:r>
            <a:r>
              <a:rPr lang="en-US" sz="1400" dirty="0" err="1">
                <a:solidFill>
                  <a:srgbClr val="FF0000"/>
                </a:solidFill>
              </a:rPr>
              <a:t>oz</a:t>
            </a:r>
            <a:endParaRPr lang="en-US" sz="1400" dirty="0">
              <a:solidFill>
                <a:srgbClr val="FF0000"/>
              </a:solidFill>
            </a:endParaRPr>
          </a:p>
        </p:txBody>
      </p:sp>
      <p:sp>
        <p:nvSpPr>
          <p:cNvPr id="16" name="TextBox 15"/>
          <p:cNvSpPr txBox="1"/>
          <p:nvPr/>
        </p:nvSpPr>
        <p:spPr>
          <a:xfrm>
            <a:off x="5717973" y="4724400"/>
            <a:ext cx="2590800" cy="307777"/>
          </a:xfrm>
          <a:prstGeom prst="rect">
            <a:avLst/>
          </a:prstGeom>
          <a:noFill/>
        </p:spPr>
        <p:txBody>
          <a:bodyPr wrap="square" rtlCol="0">
            <a:spAutoFit/>
          </a:bodyPr>
          <a:lstStyle/>
          <a:p>
            <a:r>
              <a:rPr lang="en-US" sz="1400" dirty="0">
                <a:solidFill>
                  <a:srgbClr val="FF0000"/>
                </a:solidFill>
              </a:rPr>
              <a:t>Equivalent to 14% price increase</a:t>
            </a:r>
          </a:p>
        </p:txBody>
      </p:sp>
      <p:sp>
        <p:nvSpPr>
          <p:cNvPr id="15" name="Rounded Rectangular Callout 14"/>
          <p:cNvSpPr/>
          <p:nvPr/>
        </p:nvSpPr>
        <p:spPr>
          <a:xfrm>
            <a:off x="5334000" y="5257843"/>
            <a:ext cx="3276600" cy="914357"/>
          </a:xfrm>
          <a:prstGeom prst="wedgeRoundRectCallout">
            <a:avLst>
              <a:gd name="adj1" fmla="val -3622"/>
              <a:gd name="adj2" fmla="val -7847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“Basically we redesigned the bottle, it’s more aerodynamic and it’s easier to grab,” said a company representative. “The redesign generates a new cost and the bottles are a little bit more expensive…this is only a matter of design.”</a:t>
            </a:r>
          </a:p>
        </p:txBody>
      </p:sp>
    </p:spTree>
    <p:extLst>
      <p:ext uri="{BB962C8B-B14F-4D97-AF65-F5344CB8AC3E}">
        <p14:creationId xmlns:p14="http://schemas.microsoft.com/office/powerpoint/2010/main" val="37079296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Legal vs Ethical</a:t>
            </a:r>
          </a:p>
        </p:txBody>
      </p:sp>
      <p:sp>
        <p:nvSpPr>
          <p:cNvPr id="3" name="Content Placeholder 2"/>
          <p:cNvSpPr>
            <a:spLocks noGrp="1"/>
          </p:cNvSpPr>
          <p:nvPr>
            <p:ph sz="quarter" idx="1"/>
          </p:nvPr>
        </p:nvSpPr>
        <p:spPr/>
        <p:txBody>
          <a:bodyPr>
            <a:normAutofit/>
          </a:bodyPr>
          <a:lstStyle/>
          <a:p>
            <a:r>
              <a:rPr lang="en-US" b="1" i="1" dirty="0" err="1">
                <a:effectLst>
                  <a:outerShdw blurRad="38100" dist="38100" dir="2700000" algn="tl">
                    <a:srgbClr val="000000">
                      <a:alpha val="43137"/>
                    </a:srgbClr>
                  </a:outerShdw>
                </a:effectLst>
              </a:rPr>
              <a:t>Shrinkflation</a:t>
            </a:r>
            <a:r>
              <a:rPr lang="en-US" dirty="0"/>
              <a:t> </a:t>
            </a:r>
            <a:r>
              <a:rPr lang="en-US" i="1" dirty="0"/>
              <a:t>legal</a:t>
            </a:r>
            <a:r>
              <a:rPr lang="en-US" dirty="0"/>
              <a:t> so long as “empty space” in pack is defensible:</a:t>
            </a:r>
          </a:p>
          <a:p>
            <a:pPr lvl="1"/>
            <a:r>
              <a:rPr lang="en-US" dirty="0"/>
              <a:t>E.g., bottle of aspirin needs space for machinery to fill it</a:t>
            </a:r>
          </a:p>
          <a:p>
            <a:pPr lvl="1"/>
            <a:r>
              <a:rPr lang="en-US" dirty="0"/>
              <a:t>New packaging is expensive and might require new machinery (reducing quantity offsets these costs)</a:t>
            </a:r>
          </a:p>
          <a:p>
            <a:pPr lvl="1"/>
            <a:r>
              <a:rPr lang="en-US" dirty="0"/>
              <a:t>McCormick </a:t>
            </a:r>
            <a:r>
              <a:rPr lang="en-US" dirty="0">
                <a:hlinkClick r:id="rId2"/>
              </a:rPr>
              <a:t>fined $2.5 million</a:t>
            </a:r>
            <a:r>
              <a:rPr lang="en-US" dirty="0"/>
              <a:t> for </a:t>
            </a:r>
            <a:r>
              <a:rPr lang="en-US" b="1" i="1" dirty="0"/>
              <a:t>slack-fill</a:t>
            </a:r>
            <a:r>
              <a:rPr lang="en-US" dirty="0"/>
              <a:t> in its ground pepper</a:t>
            </a:r>
          </a:p>
          <a:p>
            <a:endParaRPr lang="en-US" dirty="0"/>
          </a:p>
          <a:p>
            <a:r>
              <a:rPr lang="en-US" i="1" dirty="0"/>
              <a:t>Ethical</a:t>
            </a:r>
            <a:r>
              <a:rPr lang="en-US" dirty="0"/>
              <a:t> issue is whether firms genuinely communicate </a:t>
            </a:r>
            <a:r>
              <a:rPr lang="en-US" dirty="0" err="1"/>
              <a:t>shrinkflation</a:t>
            </a:r>
            <a:r>
              <a:rPr lang="en-US" dirty="0"/>
              <a:t> to consumers, even if downsizing is legal.</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41</a:t>
            </a:fld>
            <a:endParaRPr lang="en-US"/>
          </a:p>
        </p:txBody>
      </p:sp>
    </p:spTree>
    <p:extLst>
      <p:ext uri="{BB962C8B-B14F-4D97-AF65-F5344CB8AC3E}">
        <p14:creationId xmlns:p14="http://schemas.microsoft.com/office/powerpoint/2010/main" val="17782761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p:txBody>
          <a:bodyPr/>
          <a:lstStyle/>
          <a:p>
            <a:r>
              <a:rPr lang="en-US" dirty="0"/>
              <a:t>Intuition for variable margin logic</a:t>
            </a:r>
          </a:p>
        </p:txBody>
      </p:sp>
      <p:sp>
        <p:nvSpPr>
          <p:cNvPr id="4" name="Slide Number Placeholder 3"/>
          <p:cNvSpPr>
            <a:spLocks noGrp="1"/>
          </p:cNvSpPr>
          <p:nvPr>
            <p:ph type="sldNum" sz="quarter" idx="11"/>
          </p:nvPr>
        </p:nvSpPr>
        <p:spPr/>
        <p:txBody>
          <a:bodyPr/>
          <a:lstStyle/>
          <a:p>
            <a:pPr>
              <a:defRPr/>
            </a:pPr>
            <a:fld id="{D47E556B-1B27-4C7A-B8CA-7336E48AB80A}" type="slidenum">
              <a:rPr lang="en-US" smtClean="0"/>
              <a:pPr>
                <a:defRPr/>
              </a:pPr>
              <a:t>42</a:t>
            </a:fld>
            <a:endParaRPr lang="en-US"/>
          </a:p>
        </p:txBody>
      </p:sp>
    </p:spTree>
    <p:extLst>
      <p:ext uri="{BB962C8B-B14F-4D97-AF65-F5344CB8AC3E}">
        <p14:creationId xmlns:p14="http://schemas.microsoft.com/office/powerpoint/2010/main" val="12684003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normAutofit fontScale="90000"/>
          </a:bodyPr>
          <a:lstStyle/>
          <a:p>
            <a:r>
              <a:rPr lang="en-US" sz="4400" dirty="0"/>
              <a:t>Incremental versus Fixed Costs</a:t>
            </a:r>
            <a:br>
              <a:rPr lang="en-US" sz="4400" dirty="0"/>
            </a:br>
            <a:r>
              <a:rPr lang="en-US" sz="3600" dirty="0"/>
              <a:t>PROJECT XYZ</a:t>
            </a:r>
            <a:endParaRPr lang="en-US" dirty="0"/>
          </a:p>
        </p:txBody>
      </p:sp>
      <p:sp>
        <p:nvSpPr>
          <p:cNvPr id="4" name="Text Box 3"/>
          <p:cNvSpPr txBox="1">
            <a:spLocks noChangeArrowheads="1"/>
          </p:cNvSpPr>
          <p:nvPr/>
        </p:nvSpPr>
        <p:spPr bwMode="auto">
          <a:xfrm>
            <a:off x="304800" y="1828800"/>
            <a:ext cx="8839200" cy="3781035"/>
          </a:xfrm>
          <a:prstGeom prst="rect">
            <a:avLst/>
          </a:prstGeom>
          <a:solidFill>
            <a:schemeClr val="bg1"/>
          </a:solidFill>
          <a:ln w="9525">
            <a:noFill/>
            <a:miter lim="800000"/>
            <a:headEnd/>
            <a:tailEnd/>
          </a:ln>
          <a:effectLst/>
        </p:spPr>
        <p:txBody>
          <a:bodyPr>
            <a:spAutoFit/>
          </a:bodyPr>
          <a:lstStyle/>
          <a:p>
            <a:pPr eaLnBrk="1" hangingPunct="1">
              <a:spcBef>
                <a:spcPct val="50000"/>
              </a:spcBef>
              <a:defRPr/>
            </a:pPr>
            <a:r>
              <a:rPr lang="en-US" sz="1800" b="1" u="sng" dirty="0">
                <a:latin typeface="+mj-lt"/>
              </a:rPr>
              <a:t>PRICE OF THE PROJECT</a:t>
            </a:r>
            <a:r>
              <a:rPr lang="en-US" sz="2000" b="1" dirty="0">
                <a:latin typeface="+mj-lt"/>
              </a:rPr>
              <a:t>         $143,000</a:t>
            </a:r>
          </a:p>
          <a:p>
            <a:pPr eaLnBrk="1" hangingPunct="1">
              <a:spcBef>
                <a:spcPct val="50000"/>
              </a:spcBef>
              <a:defRPr/>
            </a:pPr>
            <a:r>
              <a:rPr lang="en-US" sz="1800" b="1" u="sng" dirty="0">
                <a:latin typeface="+mj-lt"/>
              </a:rPr>
              <a:t>COMPONENTS OF COST:</a:t>
            </a:r>
            <a:r>
              <a:rPr lang="en-US" sz="2000" b="1" dirty="0">
                <a:latin typeface="+mj-lt"/>
              </a:rPr>
              <a:t>		     </a:t>
            </a:r>
            <a:r>
              <a:rPr lang="en-US" sz="1800" b="1" dirty="0">
                <a:latin typeface="+mj-lt"/>
              </a:rPr>
              <a:t>(All dollar amounts are per hour)</a:t>
            </a:r>
          </a:p>
          <a:p>
            <a:pPr eaLnBrk="1" hangingPunct="1">
              <a:spcBef>
                <a:spcPct val="50000"/>
              </a:spcBef>
              <a:defRPr/>
            </a:pPr>
            <a:endParaRPr lang="en-US" sz="1800" b="1" dirty="0">
              <a:latin typeface="+mj-lt"/>
            </a:endParaRPr>
          </a:p>
          <a:p>
            <a:pPr eaLnBrk="1" hangingPunct="1">
              <a:lnSpc>
                <a:spcPct val="55000"/>
              </a:lnSpc>
              <a:spcBef>
                <a:spcPct val="50000"/>
              </a:spcBef>
              <a:defRPr/>
            </a:pPr>
            <a:r>
              <a:rPr lang="en-US" sz="2000" b="1" dirty="0">
                <a:latin typeface="+mj-lt"/>
              </a:rPr>
              <a:t>Material			$43,200		Direct Labor		$  25.40/h</a:t>
            </a:r>
          </a:p>
          <a:p>
            <a:pPr eaLnBrk="1" hangingPunct="1">
              <a:lnSpc>
                <a:spcPct val="55000"/>
              </a:lnSpc>
              <a:spcBef>
                <a:spcPct val="50000"/>
              </a:spcBef>
              <a:defRPr/>
            </a:pPr>
            <a:r>
              <a:rPr lang="en-US" sz="2000" b="1" dirty="0">
                <a:latin typeface="+mj-lt"/>
              </a:rPr>
              <a:t>Labor			       415 h	Variable Overhead	$  67.90/h</a:t>
            </a:r>
          </a:p>
          <a:p>
            <a:pPr eaLnBrk="1" hangingPunct="1">
              <a:lnSpc>
                <a:spcPct val="60000"/>
              </a:lnSpc>
              <a:spcBef>
                <a:spcPct val="50000"/>
              </a:spcBef>
              <a:defRPr/>
            </a:pPr>
            <a:r>
              <a:rPr lang="en-US" sz="2000" b="1" dirty="0">
                <a:latin typeface="+mj-lt"/>
              </a:rPr>
              <a:t>Commission rate		        5.0%	Fixed Overhead		</a:t>
            </a:r>
            <a:r>
              <a:rPr lang="en-US" sz="2000" b="1" u="sng" dirty="0">
                <a:latin typeface="+mj-lt"/>
              </a:rPr>
              <a:t>$115.20/h</a:t>
            </a:r>
            <a:r>
              <a:rPr lang="en-US" sz="2000" b="1" dirty="0">
                <a:latin typeface="+mj-lt"/>
              </a:rPr>
              <a:t>        </a:t>
            </a:r>
          </a:p>
          <a:p>
            <a:pPr eaLnBrk="1" hangingPunct="1">
              <a:lnSpc>
                <a:spcPct val="55000"/>
              </a:lnSpc>
              <a:spcBef>
                <a:spcPct val="50000"/>
              </a:spcBef>
              <a:defRPr/>
            </a:pPr>
            <a:r>
              <a:rPr lang="en-US" sz="2000" b="1" dirty="0">
                <a:latin typeface="+mj-lt"/>
              </a:rPr>
              <a:t>Engineering hours	         83 h	Total Burdened Rate	$208.50/h</a:t>
            </a:r>
          </a:p>
          <a:p>
            <a:pPr eaLnBrk="1" hangingPunct="1">
              <a:lnSpc>
                <a:spcPct val="55000"/>
              </a:lnSpc>
              <a:spcBef>
                <a:spcPct val="50000"/>
              </a:spcBef>
              <a:defRPr/>
            </a:pPr>
            <a:r>
              <a:rPr lang="en-US" sz="2000" b="1" dirty="0">
                <a:latin typeface="+mj-lt"/>
              </a:rPr>
              <a:t>Freight			         0.8%</a:t>
            </a:r>
          </a:p>
          <a:p>
            <a:pPr eaLnBrk="1" hangingPunct="1">
              <a:lnSpc>
                <a:spcPct val="55000"/>
              </a:lnSpc>
              <a:spcBef>
                <a:spcPct val="50000"/>
              </a:spcBef>
              <a:defRPr/>
            </a:pPr>
            <a:r>
              <a:rPr lang="en-US" sz="2000" b="1" dirty="0">
                <a:latin typeface="+mj-lt"/>
              </a:rPr>
              <a:t>Warranty		         1.6%	Engineering Rate		$  75.30/h</a:t>
            </a:r>
          </a:p>
          <a:p>
            <a:pPr eaLnBrk="1" hangingPunct="1">
              <a:lnSpc>
                <a:spcPct val="55000"/>
              </a:lnSpc>
              <a:spcBef>
                <a:spcPct val="50000"/>
              </a:spcBef>
              <a:defRPr/>
            </a:pPr>
            <a:endParaRPr lang="en-US" sz="2000" b="1" dirty="0">
              <a:latin typeface="+mj-lt"/>
            </a:endParaRPr>
          </a:p>
          <a:p>
            <a:pPr eaLnBrk="1" hangingPunct="1">
              <a:lnSpc>
                <a:spcPct val="55000"/>
              </a:lnSpc>
              <a:spcBef>
                <a:spcPct val="50000"/>
              </a:spcBef>
              <a:defRPr/>
            </a:pPr>
            <a:r>
              <a:rPr lang="en-US" sz="1400" b="1" dirty="0">
                <a:latin typeface="+mj-lt"/>
              </a:rPr>
              <a:t>		          				</a:t>
            </a:r>
            <a:endParaRPr lang="en-US" sz="1400" b="1" u="sng" dirty="0">
              <a:latin typeface="+mj-lt"/>
            </a:endParaRPr>
          </a:p>
        </p:txBody>
      </p:sp>
      <p:sp>
        <p:nvSpPr>
          <p:cNvPr id="2" name="Slide Number Placeholder 1"/>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43</a:t>
            </a:fld>
            <a:endParaRPr lang="en-US"/>
          </a:p>
        </p:txBody>
      </p:sp>
    </p:spTree>
    <p:extLst>
      <p:ext uri="{BB962C8B-B14F-4D97-AF65-F5344CB8AC3E}">
        <p14:creationId xmlns:p14="http://schemas.microsoft.com/office/powerpoint/2010/main" val="16432681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
          <p:cNvSpPr txBox="1">
            <a:spLocks noChangeArrowheads="1"/>
          </p:cNvSpPr>
          <p:nvPr/>
        </p:nvSpPr>
        <p:spPr bwMode="auto">
          <a:xfrm>
            <a:off x="1219200" y="1554480"/>
            <a:ext cx="5791200" cy="5113708"/>
          </a:xfrm>
          <a:prstGeom prst="rect">
            <a:avLst/>
          </a:prstGeom>
          <a:solidFill>
            <a:schemeClr val="bg1"/>
          </a:solidFill>
          <a:ln w="9525">
            <a:noFill/>
            <a:miter lim="800000"/>
            <a:headEnd/>
            <a:tailEnd/>
          </a:ln>
        </p:spPr>
        <p:txBody>
          <a:bodyPr>
            <a:spAutoFit/>
          </a:bodyPr>
          <a:lstStyle/>
          <a:p>
            <a:pPr eaLnBrk="1" hangingPunct="1">
              <a:lnSpc>
                <a:spcPct val="55000"/>
              </a:lnSpc>
              <a:spcBef>
                <a:spcPct val="50000"/>
              </a:spcBef>
            </a:pPr>
            <a:r>
              <a:rPr lang="en-US" sz="1400" b="1" dirty="0"/>
              <a:t>		          </a:t>
            </a:r>
          </a:p>
          <a:p>
            <a:pPr algn="ctr" eaLnBrk="1" hangingPunct="1">
              <a:lnSpc>
                <a:spcPct val="55000"/>
              </a:lnSpc>
              <a:spcBef>
                <a:spcPct val="50000"/>
              </a:spcBef>
            </a:pPr>
            <a:r>
              <a:rPr lang="en-US" sz="2000" b="1" dirty="0"/>
              <a:t>CALCULATION OF PROJECT MARGINS</a:t>
            </a:r>
          </a:p>
          <a:p>
            <a:pPr eaLnBrk="1" hangingPunct="1">
              <a:lnSpc>
                <a:spcPct val="55000"/>
              </a:lnSpc>
              <a:spcBef>
                <a:spcPct val="50000"/>
              </a:spcBef>
            </a:pPr>
            <a:endParaRPr lang="en-US" sz="2000" b="1" dirty="0"/>
          </a:p>
          <a:p>
            <a:pPr eaLnBrk="1" hangingPunct="1">
              <a:lnSpc>
                <a:spcPct val="55000"/>
              </a:lnSpc>
              <a:spcBef>
                <a:spcPct val="50000"/>
              </a:spcBef>
            </a:pPr>
            <a:r>
              <a:rPr lang="en-US" sz="1400" b="1" dirty="0"/>
              <a:t>			    </a:t>
            </a:r>
            <a:r>
              <a:rPr lang="en-US" sz="2000" b="1" dirty="0"/>
              <a:t>VM		    GM</a:t>
            </a:r>
          </a:p>
          <a:p>
            <a:pPr eaLnBrk="1" hangingPunct="1">
              <a:lnSpc>
                <a:spcPct val="55000"/>
              </a:lnSpc>
              <a:spcBef>
                <a:spcPct val="50000"/>
              </a:spcBef>
            </a:pPr>
            <a:r>
              <a:rPr lang="en-US" sz="1800" b="1" dirty="0"/>
              <a:t>Material			$43,200		 $43,200</a:t>
            </a:r>
          </a:p>
          <a:p>
            <a:pPr eaLnBrk="1" hangingPunct="1">
              <a:lnSpc>
                <a:spcPct val="55000"/>
              </a:lnSpc>
              <a:spcBef>
                <a:spcPct val="50000"/>
              </a:spcBef>
            </a:pPr>
            <a:r>
              <a:rPr lang="en-US" sz="1800" b="1" dirty="0"/>
              <a:t>Labor			$10,541		 $10,541</a:t>
            </a:r>
          </a:p>
          <a:p>
            <a:pPr eaLnBrk="1" hangingPunct="1">
              <a:lnSpc>
                <a:spcPct val="55000"/>
              </a:lnSpc>
              <a:spcBef>
                <a:spcPct val="50000"/>
              </a:spcBef>
            </a:pPr>
            <a:r>
              <a:rPr lang="en-US" sz="1800" b="1" dirty="0"/>
              <a:t>Variable Overhead	$28,179		 $28,179</a:t>
            </a:r>
          </a:p>
          <a:p>
            <a:pPr eaLnBrk="1" hangingPunct="1">
              <a:lnSpc>
                <a:spcPct val="55000"/>
              </a:lnSpc>
              <a:spcBef>
                <a:spcPct val="50000"/>
              </a:spcBef>
            </a:pPr>
            <a:r>
              <a:rPr lang="en-US" sz="1800" b="1" dirty="0"/>
              <a:t>Fixed Overhead				 $47,808</a:t>
            </a:r>
          </a:p>
          <a:p>
            <a:pPr eaLnBrk="1" hangingPunct="1">
              <a:lnSpc>
                <a:spcPct val="55000"/>
              </a:lnSpc>
              <a:spcBef>
                <a:spcPct val="50000"/>
              </a:spcBef>
            </a:pPr>
            <a:r>
              <a:rPr lang="en-US" sz="1800" b="1" dirty="0"/>
              <a:t>Freight			 $1,144		  $1,144</a:t>
            </a:r>
          </a:p>
          <a:p>
            <a:pPr eaLnBrk="1" hangingPunct="1">
              <a:lnSpc>
                <a:spcPct val="55000"/>
              </a:lnSpc>
              <a:spcBef>
                <a:spcPct val="50000"/>
              </a:spcBef>
            </a:pPr>
            <a:r>
              <a:rPr lang="en-US" sz="1800" b="1" dirty="0"/>
              <a:t>Warranty		 $2,288		  $2,288</a:t>
            </a:r>
          </a:p>
          <a:p>
            <a:pPr eaLnBrk="1" hangingPunct="1">
              <a:lnSpc>
                <a:spcPct val="55000"/>
              </a:lnSpc>
              <a:spcBef>
                <a:spcPct val="50000"/>
              </a:spcBef>
            </a:pPr>
            <a:r>
              <a:rPr lang="en-US" sz="1800" b="1" dirty="0"/>
              <a:t>Commission		 $7,150                      $7,150</a:t>
            </a:r>
          </a:p>
          <a:p>
            <a:pPr eaLnBrk="1" hangingPunct="1">
              <a:lnSpc>
                <a:spcPct val="55000"/>
              </a:lnSpc>
              <a:spcBef>
                <a:spcPct val="50000"/>
              </a:spcBef>
            </a:pPr>
            <a:r>
              <a:rPr lang="en-US" sz="1800" b="1" dirty="0"/>
              <a:t>Engineering				  $6,250</a:t>
            </a:r>
          </a:p>
          <a:p>
            <a:pPr eaLnBrk="1" hangingPunct="1">
              <a:lnSpc>
                <a:spcPct val="55000"/>
              </a:lnSpc>
              <a:spcBef>
                <a:spcPct val="50000"/>
              </a:spcBef>
            </a:pPr>
            <a:endParaRPr lang="en-US" sz="1800" b="1" dirty="0"/>
          </a:p>
          <a:p>
            <a:pPr eaLnBrk="1" hangingPunct="1">
              <a:lnSpc>
                <a:spcPct val="55000"/>
              </a:lnSpc>
              <a:spcBef>
                <a:spcPct val="50000"/>
              </a:spcBef>
            </a:pPr>
            <a:r>
              <a:rPr lang="en-US" sz="1800" b="1" dirty="0"/>
              <a:t>Total Costs		$92,502	                 $146,559</a:t>
            </a:r>
          </a:p>
          <a:p>
            <a:pPr eaLnBrk="1" hangingPunct="1">
              <a:lnSpc>
                <a:spcPct val="55000"/>
              </a:lnSpc>
              <a:spcBef>
                <a:spcPct val="50000"/>
              </a:spcBef>
            </a:pPr>
            <a:endParaRPr lang="en-US" sz="1800" b="1" dirty="0"/>
          </a:p>
          <a:p>
            <a:pPr eaLnBrk="1" hangingPunct="1">
              <a:lnSpc>
                <a:spcPct val="55000"/>
              </a:lnSpc>
              <a:spcBef>
                <a:spcPct val="50000"/>
              </a:spcBef>
            </a:pPr>
            <a:r>
              <a:rPr lang="en-US" sz="1800" b="1" dirty="0"/>
              <a:t>Margin			$50,499	                 ($3,559) </a:t>
            </a:r>
            <a:endParaRPr lang="en-US" sz="1600" b="1" dirty="0"/>
          </a:p>
          <a:p>
            <a:pPr eaLnBrk="1" hangingPunct="1">
              <a:lnSpc>
                <a:spcPct val="55000"/>
              </a:lnSpc>
              <a:spcBef>
                <a:spcPct val="50000"/>
              </a:spcBef>
            </a:pPr>
            <a:r>
              <a:rPr lang="en-US" sz="1800" b="1" dirty="0"/>
              <a:t>Margin %		35.3%		   -2.5%			</a:t>
            </a:r>
            <a:r>
              <a:rPr lang="en-US" sz="1400" b="1" dirty="0"/>
              <a:t>   </a:t>
            </a:r>
            <a:endParaRPr lang="en-US" sz="1400" b="1" u="sng" dirty="0"/>
          </a:p>
        </p:txBody>
      </p:sp>
      <p:sp>
        <p:nvSpPr>
          <p:cNvPr id="15363" name="Title 1"/>
          <p:cNvSpPr>
            <a:spLocks noGrp="1"/>
          </p:cNvSpPr>
          <p:nvPr>
            <p:ph type="title"/>
          </p:nvPr>
        </p:nvSpPr>
        <p:spPr/>
        <p:txBody>
          <a:bodyPr>
            <a:normAutofit fontScale="90000"/>
          </a:bodyPr>
          <a:lstStyle/>
          <a:p>
            <a:r>
              <a:rPr lang="en-US" sz="4400" dirty="0"/>
              <a:t>Incremental versus Fixed Costs</a:t>
            </a:r>
            <a:br>
              <a:rPr lang="en-US" dirty="0"/>
            </a:br>
            <a:r>
              <a:rPr lang="en-US" sz="3600" dirty="0"/>
              <a:t>PROJECT XYZ</a:t>
            </a:r>
            <a:endParaRPr lang="en-US" dirty="0"/>
          </a:p>
        </p:txBody>
      </p:sp>
      <p:sp>
        <p:nvSpPr>
          <p:cNvPr id="2" name="Slide Number Placeholder 1"/>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44</a:t>
            </a:fld>
            <a:endParaRPr lang="en-US"/>
          </a:p>
        </p:txBody>
      </p:sp>
      <p:pic>
        <p:nvPicPr>
          <p:cNvPr id="2050" name="Picture 2" descr="Focus on gross margins for profitabili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6600" y="1676400"/>
            <a:ext cx="1959150" cy="1205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16868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Incremental versus Fixed Costs</a:t>
            </a:r>
            <a:br>
              <a:rPr lang="en-US" sz="4400" dirty="0"/>
            </a:br>
            <a:r>
              <a:rPr lang="en-US" sz="3600" dirty="0"/>
              <a:t>PROJECT XYZ</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45</a:t>
            </a:fld>
            <a:endParaRPr lang="en-US"/>
          </a:p>
        </p:txBody>
      </p:sp>
      <p:sp>
        <p:nvSpPr>
          <p:cNvPr id="5" name="Text Box 2050"/>
          <p:cNvSpPr txBox="1">
            <a:spLocks noChangeArrowheads="1"/>
          </p:cNvSpPr>
          <p:nvPr/>
        </p:nvSpPr>
        <p:spPr bwMode="auto">
          <a:xfrm>
            <a:off x="304800" y="2362200"/>
            <a:ext cx="2590800" cy="366713"/>
          </a:xfrm>
          <a:prstGeom prst="rect">
            <a:avLst/>
          </a:prstGeom>
          <a:solidFill>
            <a:schemeClr val="bg1"/>
          </a:solidFill>
          <a:ln w="9525">
            <a:noFill/>
            <a:miter lim="800000"/>
            <a:headEnd/>
            <a:tailEnd/>
          </a:ln>
        </p:spPr>
        <p:txBody>
          <a:bodyPr>
            <a:spAutoFit/>
          </a:bodyPr>
          <a:lstStyle/>
          <a:p>
            <a:pPr eaLnBrk="1" hangingPunct="1">
              <a:spcBef>
                <a:spcPct val="50000"/>
              </a:spcBef>
            </a:pPr>
            <a:r>
              <a:rPr lang="en-US" sz="1800" b="1"/>
              <a:t>VM logic thinking</a:t>
            </a:r>
          </a:p>
        </p:txBody>
      </p:sp>
      <p:sp>
        <p:nvSpPr>
          <p:cNvPr id="6" name="Text Box 2051"/>
          <p:cNvSpPr txBox="1">
            <a:spLocks noChangeArrowheads="1"/>
          </p:cNvSpPr>
          <p:nvPr/>
        </p:nvSpPr>
        <p:spPr bwMode="auto">
          <a:xfrm>
            <a:off x="304800" y="3200400"/>
            <a:ext cx="2057400" cy="1384300"/>
          </a:xfrm>
          <a:prstGeom prst="rect">
            <a:avLst/>
          </a:prstGeom>
          <a:solidFill>
            <a:schemeClr val="bg1"/>
          </a:solidFill>
          <a:ln w="9525">
            <a:solidFill>
              <a:schemeClr val="tx1"/>
            </a:solidFill>
            <a:miter lim="800000"/>
            <a:headEnd/>
            <a:tailEnd/>
          </a:ln>
        </p:spPr>
        <p:txBody>
          <a:bodyPr>
            <a:spAutoFit/>
          </a:bodyPr>
          <a:lstStyle/>
          <a:p>
            <a:pPr algn="ctr" eaLnBrk="1" hangingPunct="1">
              <a:lnSpc>
                <a:spcPct val="65000"/>
              </a:lnSpc>
              <a:spcBef>
                <a:spcPct val="50000"/>
              </a:spcBef>
            </a:pPr>
            <a:endParaRPr lang="en-US" sz="1600" b="1"/>
          </a:p>
          <a:p>
            <a:pPr algn="ctr" eaLnBrk="1" hangingPunct="1">
              <a:lnSpc>
                <a:spcPct val="65000"/>
              </a:lnSpc>
              <a:spcBef>
                <a:spcPct val="50000"/>
              </a:spcBef>
            </a:pPr>
            <a:r>
              <a:rPr lang="en-US" sz="1600" b="1"/>
              <a:t> How will this job</a:t>
            </a:r>
          </a:p>
          <a:p>
            <a:pPr algn="ctr" eaLnBrk="1" hangingPunct="1">
              <a:lnSpc>
                <a:spcPct val="65000"/>
              </a:lnSpc>
              <a:spcBef>
                <a:spcPct val="50000"/>
              </a:spcBef>
            </a:pPr>
            <a:r>
              <a:rPr lang="en-US" sz="1600" b="1"/>
              <a:t>  impact the Firm’s</a:t>
            </a:r>
          </a:p>
          <a:p>
            <a:pPr algn="ctr" eaLnBrk="1" hangingPunct="1">
              <a:lnSpc>
                <a:spcPct val="65000"/>
              </a:lnSpc>
              <a:spcBef>
                <a:spcPct val="50000"/>
              </a:spcBef>
            </a:pPr>
            <a:r>
              <a:rPr lang="en-US" sz="1600" b="1"/>
              <a:t>business?</a:t>
            </a:r>
          </a:p>
          <a:p>
            <a:pPr algn="ctr" eaLnBrk="1" hangingPunct="1">
              <a:lnSpc>
                <a:spcPct val="65000"/>
              </a:lnSpc>
              <a:spcBef>
                <a:spcPct val="50000"/>
              </a:spcBef>
            </a:pPr>
            <a:endParaRPr lang="en-US" sz="1600" b="1"/>
          </a:p>
        </p:txBody>
      </p:sp>
      <p:sp>
        <p:nvSpPr>
          <p:cNvPr id="7" name="Text Box 2052"/>
          <p:cNvSpPr txBox="1">
            <a:spLocks noChangeArrowheads="1"/>
          </p:cNvSpPr>
          <p:nvPr/>
        </p:nvSpPr>
        <p:spPr bwMode="auto">
          <a:xfrm>
            <a:off x="3505200" y="1676400"/>
            <a:ext cx="2590800" cy="1965325"/>
          </a:xfrm>
          <a:prstGeom prst="rect">
            <a:avLst/>
          </a:prstGeom>
          <a:solidFill>
            <a:schemeClr val="bg1"/>
          </a:solidFill>
          <a:ln w="9525">
            <a:solidFill>
              <a:schemeClr val="tx1"/>
            </a:solidFill>
            <a:miter lim="800000"/>
            <a:headEnd/>
            <a:tailEnd/>
          </a:ln>
        </p:spPr>
        <p:txBody>
          <a:bodyPr>
            <a:spAutoFit/>
          </a:bodyPr>
          <a:lstStyle/>
          <a:p>
            <a:pPr eaLnBrk="1" hangingPunct="1">
              <a:lnSpc>
                <a:spcPct val="65000"/>
              </a:lnSpc>
              <a:spcBef>
                <a:spcPct val="50000"/>
              </a:spcBef>
            </a:pPr>
            <a:endParaRPr lang="en-US" sz="1600" b="1" dirty="0"/>
          </a:p>
          <a:p>
            <a:pPr eaLnBrk="1" hangingPunct="1">
              <a:lnSpc>
                <a:spcPct val="70000"/>
              </a:lnSpc>
              <a:spcBef>
                <a:spcPct val="50000"/>
              </a:spcBef>
            </a:pPr>
            <a:r>
              <a:rPr lang="en-US" sz="1600" b="1" dirty="0"/>
              <a:t>By getting the order, what</a:t>
            </a:r>
          </a:p>
          <a:p>
            <a:pPr eaLnBrk="1" hangingPunct="1">
              <a:lnSpc>
                <a:spcPct val="70000"/>
              </a:lnSpc>
              <a:spcBef>
                <a:spcPct val="50000"/>
              </a:spcBef>
            </a:pPr>
            <a:r>
              <a:rPr lang="en-US" sz="1600" b="1" dirty="0"/>
              <a:t>will be the contribution</a:t>
            </a:r>
          </a:p>
          <a:p>
            <a:pPr eaLnBrk="1" hangingPunct="1">
              <a:lnSpc>
                <a:spcPct val="70000"/>
              </a:lnSpc>
              <a:spcBef>
                <a:spcPct val="50000"/>
              </a:spcBef>
            </a:pPr>
            <a:r>
              <a:rPr lang="en-US" sz="1600" b="1" dirty="0"/>
              <a:t>margin?</a:t>
            </a:r>
          </a:p>
          <a:p>
            <a:pPr eaLnBrk="1" hangingPunct="1">
              <a:spcBef>
                <a:spcPct val="50000"/>
              </a:spcBef>
            </a:pPr>
            <a:endParaRPr lang="en-US" sz="1600" b="1" dirty="0"/>
          </a:p>
          <a:p>
            <a:pPr eaLnBrk="1" hangingPunct="1">
              <a:spcBef>
                <a:spcPct val="50000"/>
              </a:spcBef>
            </a:pPr>
            <a:r>
              <a:rPr lang="en-US" sz="2000" b="1" dirty="0"/>
              <a:t>US$ 50,499</a:t>
            </a:r>
          </a:p>
        </p:txBody>
      </p:sp>
      <p:sp>
        <p:nvSpPr>
          <p:cNvPr id="8" name="Text Box 2053"/>
          <p:cNvSpPr txBox="1">
            <a:spLocks noChangeArrowheads="1"/>
          </p:cNvSpPr>
          <p:nvPr/>
        </p:nvSpPr>
        <p:spPr bwMode="auto">
          <a:xfrm>
            <a:off x="3505200" y="4191000"/>
            <a:ext cx="2590800" cy="1812925"/>
          </a:xfrm>
          <a:prstGeom prst="rect">
            <a:avLst/>
          </a:prstGeom>
          <a:solidFill>
            <a:schemeClr val="bg1"/>
          </a:solidFill>
          <a:ln w="9525">
            <a:solidFill>
              <a:schemeClr val="tx1"/>
            </a:solidFill>
            <a:miter lim="800000"/>
            <a:headEnd/>
            <a:tailEnd/>
          </a:ln>
        </p:spPr>
        <p:txBody>
          <a:bodyPr>
            <a:spAutoFit/>
          </a:bodyPr>
          <a:lstStyle/>
          <a:p>
            <a:pPr eaLnBrk="1" hangingPunct="1">
              <a:lnSpc>
                <a:spcPct val="70000"/>
              </a:lnSpc>
              <a:spcBef>
                <a:spcPct val="50000"/>
              </a:spcBef>
            </a:pPr>
            <a:endParaRPr lang="en-US" sz="1600" b="1"/>
          </a:p>
          <a:p>
            <a:pPr eaLnBrk="1" hangingPunct="1">
              <a:lnSpc>
                <a:spcPct val="70000"/>
              </a:lnSpc>
              <a:spcBef>
                <a:spcPct val="50000"/>
              </a:spcBef>
            </a:pPr>
            <a:r>
              <a:rPr lang="en-US" sz="1600" b="1"/>
              <a:t>By not getting the order,</a:t>
            </a:r>
          </a:p>
          <a:p>
            <a:pPr eaLnBrk="1" hangingPunct="1">
              <a:lnSpc>
                <a:spcPct val="70000"/>
              </a:lnSpc>
              <a:spcBef>
                <a:spcPct val="50000"/>
              </a:spcBef>
            </a:pPr>
            <a:r>
              <a:rPr lang="en-US" sz="1600" b="1"/>
              <a:t>how much will the Firm</a:t>
            </a:r>
          </a:p>
          <a:p>
            <a:pPr eaLnBrk="1" hangingPunct="1">
              <a:lnSpc>
                <a:spcPct val="70000"/>
              </a:lnSpc>
              <a:spcBef>
                <a:spcPct val="50000"/>
              </a:spcBef>
            </a:pPr>
            <a:r>
              <a:rPr lang="en-US" sz="1600" b="1"/>
              <a:t>spend?</a:t>
            </a:r>
          </a:p>
          <a:p>
            <a:pPr eaLnBrk="1" hangingPunct="1">
              <a:lnSpc>
                <a:spcPct val="70000"/>
              </a:lnSpc>
              <a:spcBef>
                <a:spcPct val="50000"/>
              </a:spcBef>
            </a:pPr>
            <a:endParaRPr lang="en-US" sz="1600" b="1"/>
          </a:p>
          <a:p>
            <a:pPr eaLnBrk="1" hangingPunct="1">
              <a:lnSpc>
                <a:spcPct val="70000"/>
              </a:lnSpc>
              <a:spcBef>
                <a:spcPct val="50000"/>
              </a:spcBef>
            </a:pPr>
            <a:r>
              <a:rPr lang="en-US" sz="2000" b="1"/>
              <a:t>US$ 0</a:t>
            </a:r>
          </a:p>
        </p:txBody>
      </p:sp>
      <p:sp>
        <p:nvSpPr>
          <p:cNvPr id="9" name="Text Box 2054"/>
          <p:cNvSpPr txBox="1">
            <a:spLocks noChangeArrowheads="1"/>
          </p:cNvSpPr>
          <p:nvPr/>
        </p:nvSpPr>
        <p:spPr bwMode="auto">
          <a:xfrm>
            <a:off x="7010400" y="3505200"/>
            <a:ext cx="1752600" cy="1662113"/>
          </a:xfrm>
          <a:prstGeom prst="rect">
            <a:avLst/>
          </a:prstGeom>
          <a:solidFill>
            <a:schemeClr val="bg1"/>
          </a:solidFill>
          <a:ln w="9525">
            <a:solidFill>
              <a:schemeClr val="tx1"/>
            </a:solidFill>
            <a:miter lim="800000"/>
            <a:headEnd/>
            <a:tailEnd/>
          </a:ln>
        </p:spPr>
        <p:txBody>
          <a:bodyPr>
            <a:spAutoFit/>
          </a:bodyPr>
          <a:lstStyle/>
          <a:p>
            <a:pPr eaLnBrk="1" hangingPunct="1">
              <a:lnSpc>
                <a:spcPct val="75000"/>
              </a:lnSpc>
              <a:spcBef>
                <a:spcPct val="50000"/>
              </a:spcBef>
            </a:pPr>
            <a:r>
              <a:rPr lang="en-US" sz="1600" b="1"/>
              <a:t>By getting the</a:t>
            </a:r>
          </a:p>
          <a:p>
            <a:pPr eaLnBrk="1" hangingPunct="1">
              <a:lnSpc>
                <a:spcPct val="75000"/>
              </a:lnSpc>
              <a:spcBef>
                <a:spcPct val="50000"/>
              </a:spcBef>
            </a:pPr>
            <a:r>
              <a:rPr lang="en-US" sz="1600" b="1"/>
              <a:t>order, the net </a:t>
            </a:r>
          </a:p>
          <a:p>
            <a:pPr eaLnBrk="1" hangingPunct="1">
              <a:lnSpc>
                <a:spcPct val="75000"/>
              </a:lnSpc>
              <a:spcBef>
                <a:spcPct val="50000"/>
              </a:spcBef>
            </a:pPr>
            <a:r>
              <a:rPr lang="en-US" sz="1600" b="1"/>
              <a:t>contribution  </a:t>
            </a:r>
          </a:p>
          <a:p>
            <a:pPr eaLnBrk="1" hangingPunct="1">
              <a:lnSpc>
                <a:spcPct val="75000"/>
              </a:lnSpc>
              <a:spcBef>
                <a:spcPct val="50000"/>
              </a:spcBef>
            </a:pPr>
            <a:r>
              <a:rPr lang="en-US" sz="1600" b="1"/>
              <a:t>margin will be</a:t>
            </a:r>
          </a:p>
          <a:p>
            <a:pPr eaLnBrk="1" hangingPunct="1">
              <a:spcBef>
                <a:spcPct val="50000"/>
              </a:spcBef>
            </a:pPr>
            <a:r>
              <a:rPr lang="en-US" sz="2000" b="1"/>
              <a:t>US$ 50,499</a:t>
            </a:r>
          </a:p>
        </p:txBody>
      </p:sp>
      <p:sp>
        <p:nvSpPr>
          <p:cNvPr id="10" name="Line 2055"/>
          <p:cNvSpPr>
            <a:spLocks noChangeShapeType="1"/>
          </p:cNvSpPr>
          <p:nvPr/>
        </p:nvSpPr>
        <p:spPr bwMode="auto">
          <a:xfrm flipV="1">
            <a:off x="2362200" y="2743200"/>
            <a:ext cx="914400" cy="1066800"/>
          </a:xfrm>
          <a:prstGeom prst="line">
            <a:avLst/>
          </a:prstGeom>
          <a:noFill/>
          <a:ln w="19050">
            <a:solidFill>
              <a:schemeClr val="tx1"/>
            </a:solidFill>
            <a:round/>
            <a:headEnd/>
            <a:tailEnd type="stealth" w="lg" len="lg"/>
          </a:ln>
        </p:spPr>
        <p:txBody>
          <a:bodyPr/>
          <a:lstStyle/>
          <a:p>
            <a:endParaRPr lang="en-US"/>
          </a:p>
        </p:txBody>
      </p:sp>
      <p:sp>
        <p:nvSpPr>
          <p:cNvPr id="11" name="Line 2056"/>
          <p:cNvSpPr>
            <a:spLocks noChangeShapeType="1"/>
          </p:cNvSpPr>
          <p:nvPr/>
        </p:nvSpPr>
        <p:spPr bwMode="auto">
          <a:xfrm>
            <a:off x="2362200" y="3810000"/>
            <a:ext cx="990600" cy="1524000"/>
          </a:xfrm>
          <a:prstGeom prst="line">
            <a:avLst/>
          </a:prstGeom>
          <a:noFill/>
          <a:ln w="19050">
            <a:solidFill>
              <a:schemeClr val="tx1"/>
            </a:solidFill>
            <a:round/>
            <a:headEnd/>
            <a:tailEnd type="stealth" w="lg" len="lg"/>
          </a:ln>
        </p:spPr>
        <p:txBody>
          <a:bodyPr/>
          <a:lstStyle/>
          <a:p>
            <a:endParaRPr lang="en-US"/>
          </a:p>
        </p:txBody>
      </p:sp>
      <p:sp>
        <p:nvSpPr>
          <p:cNvPr id="12" name="Line 2057"/>
          <p:cNvSpPr>
            <a:spLocks noChangeShapeType="1"/>
          </p:cNvSpPr>
          <p:nvPr/>
        </p:nvSpPr>
        <p:spPr bwMode="auto">
          <a:xfrm>
            <a:off x="6096000" y="2667000"/>
            <a:ext cx="762000" cy="1219200"/>
          </a:xfrm>
          <a:prstGeom prst="line">
            <a:avLst/>
          </a:prstGeom>
          <a:noFill/>
          <a:ln w="19050">
            <a:solidFill>
              <a:schemeClr val="tx1"/>
            </a:solidFill>
            <a:round/>
            <a:headEnd/>
            <a:tailEnd type="stealth" w="lg" len="lg"/>
          </a:ln>
        </p:spPr>
        <p:txBody>
          <a:bodyPr/>
          <a:lstStyle/>
          <a:p>
            <a:endParaRPr lang="en-US"/>
          </a:p>
        </p:txBody>
      </p:sp>
      <p:sp>
        <p:nvSpPr>
          <p:cNvPr id="13" name="Line 2058"/>
          <p:cNvSpPr>
            <a:spLocks noChangeShapeType="1"/>
          </p:cNvSpPr>
          <p:nvPr/>
        </p:nvSpPr>
        <p:spPr bwMode="auto">
          <a:xfrm flipV="1">
            <a:off x="6096000" y="4419600"/>
            <a:ext cx="762000" cy="838200"/>
          </a:xfrm>
          <a:prstGeom prst="line">
            <a:avLst/>
          </a:prstGeom>
          <a:noFill/>
          <a:ln w="19050">
            <a:solidFill>
              <a:schemeClr val="tx1"/>
            </a:solidFill>
            <a:round/>
            <a:headEnd/>
            <a:tailEnd type="stealth" w="lg" len="lg"/>
          </a:ln>
        </p:spPr>
        <p:txBody>
          <a:bodyPr/>
          <a:lstStyle/>
          <a:p>
            <a:endParaRPr lang="en-US"/>
          </a:p>
        </p:txBody>
      </p:sp>
    </p:spTree>
    <p:extLst>
      <p:ext uri="{BB962C8B-B14F-4D97-AF65-F5344CB8AC3E}">
        <p14:creationId xmlns:p14="http://schemas.microsoft.com/office/powerpoint/2010/main" val="28770266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Incremental versus Fixed Costs</a:t>
            </a:r>
            <a:br>
              <a:rPr lang="en-US" sz="4400" dirty="0"/>
            </a:br>
            <a:r>
              <a:rPr lang="en-US" sz="3600" dirty="0"/>
              <a:t>PROJECT XYZ</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46</a:t>
            </a:fld>
            <a:endParaRPr lang="en-US"/>
          </a:p>
        </p:txBody>
      </p:sp>
      <p:sp>
        <p:nvSpPr>
          <p:cNvPr id="5" name="Text Box 2"/>
          <p:cNvSpPr txBox="1">
            <a:spLocks noChangeArrowheads="1"/>
          </p:cNvSpPr>
          <p:nvPr/>
        </p:nvSpPr>
        <p:spPr bwMode="auto">
          <a:xfrm>
            <a:off x="304800" y="2370137"/>
            <a:ext cx="2590800" cy="366713"/>
          </a:xfrm>
          <a:prstGeom prst="rect">
            <a:avLst/>
          </a:prstGeom>
          <a:solidFill>
            <a:schemeClr val="bg1"/>
          </a:solidFill>
          <a:ln w="9525">
            <a:noFill/>
            <a:miter lim="800000"/>
            <a:headEnd/>
            <a:tailEnd/>
          </a:ln>
        </p:spPr>
        <p:txBody>
          <a:bodyPr>
            <a:spAutoFit/>
          </a:bodyPr>
          <a:lstStyle/>
          <a:p>
            <a:pPr eaLnBrk="1" hangingPunct="1">
              <a:spcBef>
                <a:spcPct val="50000"/>
              </a:spcBef>
            </a:pPr>
            <a:r>
              <a:rPr lang="en-US" sz="1800" b="1"/>
              <a:t>GM logic thinking</a:t>
            </a:r>
          </a:p>
        </p:txBody>
      </p:sp>
      <p:sp>
        <p:nvSpPr>
          <p:cNvPr id="6" name="Text Box 3"/>
          <p:cNvSpPr txBox="1">
            <a:spLocks noChangeArrowheads="1"/>
          </p:cNvSpPr>
          <p:nvPr/>
        </p:nvSpPr>
        <p:spPr bwMode="auto">
          <a:xfrm>
            <a:off x="304800" y="3208337"/>
            <a:ext cx="2057400" cy="1384300"/>
          </a:xfrm>
          <a:prstGeom prst="rect">
            <a:avLst/>
          </a:prstGeom>
          <a:solidFill>
            <a:schemeClr val="bg1"/>
          </a:solidFill>
          <a:ln w="9525">
            <a:solidFill>
              <a:schemeClr val="tx1"/>
            </a:solidFill>
            <a:miter lim="800000"/>
            <a:headEnd/>
            <a:tailEnd/>
          </a:ln>
        </p:spPr>
        <p:txBody>
          <a:bodyPr>
            <a:spAutoFit/>
          </a:bodyPr>
          <a:lstStyle/>
          <a:p>
            <a:pPr algn="ctr" eaLnBrk="1" hangingPunct="1">
              <a:lnSpc>
                <a:spcPct val="65000"/>
              </a:lnSpc>
              <a:spcBef>
                <a:spcPct val="50000"/>
              </a:spcBef>
            </a:pPr>
            <a:endParaRPr lang="en-US" sz="1600" b="1"/>
          </a:p>
          <a:p>
            <a:pPr algn="ctr" eaLnBrk="1" hangingPunct="1">
              <a:lnSpc>
                <a:spcPct val="65000"/>
              </a:lnSpc>
              <a:spcBef>
                <a:spcPct val="50000"/>
              </a:spcBef>
            </a:pPr>
            <a:r>
              <a:rPr lang="en-US" sz="1600" b="1"/>
              <a:t> How will this job</a:t>
            </a:r>
          </a:p>
          <a:p>
            <a:pPr algn="ctr" eaLnBrk="1" hangingPunct="1">
              <a:lnSpc>
                <a:spcPct val="65000"/>
              </a:lnSpc>
              <a:spcBef>
                <a:spcPct val="50000"/>
              </a:spcBef>
            </a:pPr>
            <a:r>
              <a:rPr lang="en-US" sz="1600" b="1"/>
              <a:t>  impact the Firm’s</a:t>
            </a:r>
          </a:p>
          <a:p>
            <a:pPr algn="ctr" eaLnBrk="1" hangingPunct="1">
              <a:lnSpc>
                <a:spcPct val="65000"/>
              </a:lnSpc>
              <a:spcBef>
                <a:spcPct val="50000"/>
              </a:spcBef>
            </a:pPr>
            <a:r>
              <a:rPr lang="en-US" sz="1600" b="1"/>
              <a:t>business?</a:t>
            </a:r>
          </a:p>
          <a:p>
            <a:pPr algn="ctr" eaLnBrk="1" hangingPunct="1">
              <a:lnSpc>
                <a:spcPct val="65000"/>
              </a:lnSpc>
              <a:spcBef>
                <a:spcPct val="50000"/>
              </a:spcBef>
            </a:pPr>
            <a:endParaRPr lang="en-US" sz="1600" b="1"/>
          </a:p>
        </p:txBody>
      </p:sp>
      <p:sp>
        <p:nvSpPr>
          <p:cNvPr id="7" name="Text Box 4"/>
          <p:cNvSpPr txBox="1">
            <a:spLocks noChangeArrowheads="1"/>
          </p:cNvSpPr>
          <p:nvPr/>
        </p:nvSpPr>
        <p:spPr bwMode="auto">
          <a:xfrm>
            <a:off x="3505200" y="1684337"/>
            <a:ext cx="2590800" cy="1965325"/>
          </a:xfrm>
          <a:prstGeom prst="rect">
            <a:avLst/>
          </a:prstGeom>
          <a:solidFill>
            <a:schemeClr val="bg1"/>
          </a:solidFill>
          <a:ln w="9525">
            <a:solidFill>
              <a:schemeClr val="tx1"/>
            </a:solidFill>
            <a:miter lim="800000"/>
            <a:headEnd/>
            <a:tailEnd/>
          </a:ln>
        </p:spPr>
        <p:txBody>
          <a:bodyPr>
            <a:spAutoFit/>
          </a:bodyPr>
          <a:lstStyle/>
          <a:p>
            <a:pPr eaLnBrk="1" hangingPunct="1">
              <a:lnSpc>
                <a:spcPct val="65000"/>
              </a:lnSpc>
              <a:spcBef>
                <a:spcPct val="50000"/>
              </a:spcBef>
            </a:pPr>
            <a:endParaRPr lang="en-US" sz="1600" b="1"/>
          </a:p>
          <a:p>
            <a:pPr eaLnBrk="1" hangingPunct="1">
              <a:lnSpc>
                <a:spcPct val="70000"/>
              </a:lnSpc>
              <a:spcBef>
                <a:spcPct val="50000"/>
              </a:spcBef>
            </a:pPr>
            <a:r>
              <a:rPr lang="en-US" sz="1600" b="1"/>
              <a:t>By getting the order, what</a:t>
            </a:r>
          </a:p>
          <a:p>
            <a:pPr eaLnBrk="1" hangingPunct="1">
              <a:lnSpc>
                <a:spcPct val="70000"/>
              </a:lnSpc>
              <a:spcBef>
                <a:spcPct val="50000"/>
              </a:spcBef>
            </a:pPr>
            <a:r>
              <a:rPr lang="en-US" sz="1600" b="1"/>
              <a:t>will be the contribution</a:t>
            </a:r>
          </a:p>
          <a:p>
            <a:pPr eaLnBrk="1" hangingPunct="1">
              <a:lnSpc>
                <a:spcPct val="70000"/>
              </a:lnSpc>
              <a:spcBef>
                <a:spcPct val="50000"/>
              </a:spcBef>
            </a:pPr>
            <a:r>
              <a:rPr lang="en-US" sz="1600" b="1"/>
              <a:t>margin?</a:t>
            </a:r>
          </a:p>
          <a:p>
            <a:pPr eaLnBrk="1" hangingPunct="1">
              <a:spcBef>
                <a:spcPct val="50000"/>
              </a:spcBef>
            </a:pPr>
            <a:endParaRPr lang="en-US" sz="1600" b="1"/>
          </a:p>
          <a:p>
            <a:pPr eaLnBrk="1" hangingPunct="1">
              <a:spcBef>
                <a:spcPct val="50000"/>
              </a:spcBef>
            </a:pPr>
            <a:r>
              <a:rPr lang="en-US" sz="2000" b="1"/>
              <a:t>(US$ 3,559)</a:t>
            </a:r>
          </a:p>
        </p:txBody>
      </p:sp>
      <p:sp>
        <p:nvSpPr>
          <p:cNvPr id="8" name="Text Box 5"/>
          <p:cNvSpPr txBox="1">
            <a:spLocks noChangeArrowheads="1"/>
          </p:cNvSpPr>
          <p:nvPr/>
        </p:nvSpPr>
        <p:spPr bwMode="auto">
          <a:xfrm>
            <a:off x="3505200" y="4198937"/>
            <a:ext cx="2590800" cy="1812925"/>
          </a:xfrm>
          <a:prstGeom prst="rect">
            <a:avLst/>
          </a:prstGeom>
          <a:solidFill>
            <a:schemeClr val="bg1"/>
          </a:solidFill>
          <a:ln w="9525">
            <a:solidFill>
              <a:schemeClr val="tx1"/>
            </a:solidFill>
            <a:miter lim="800000"/>
            <a:headEnd/>
            <a:tailEnd/>
          </a:ln>
        </p:spPr>
        <p:txBody>
          <a:bodyPr>
            <a:spAutoFit/>
          </a:bodyPr>
          <a:lstStyle/>
          <a:p>
            <a:pPr eaLnBrk="1" hangingPunct="1">
              <a:lnSpc>
                <a:spcPct val="70000"/>
              </a:lnSpc>
              <a:spcBef>
                <a:spcPct val="50000"/>
              </a:spcBef>
            </a:pPr>
            <a:endParaRPr lang="en-US" sz="1600" b="1"/>
          </a:p>
          <a:p>
            <a:pPr eaLnBrk="1" hangingPunct="1">
              <a:lnSpc>
                <a:spcPct val="70000"/>
              </a:lnSpc>
              <a:spcBef>
                <a:spcPct val="50000"/>
              </a:spcBef>
            </a:pPr>
            <a:r>
              <a:rPr lang="en-US" sz="1600" b="1"/>
              <a:t>By not getting the order,</a:t>
            </a:r>
          </a:p>
          <a:p>
            <a:pPr eaLnBrk="1" hangingPunct="1">
              <a:lnSpc>
                <a:spcPct val="70000"/>
              </a:lnSpc>
              <a:spcBef>
                <a:spcPct val="50000"/>
              </a:spcBef>
            </a:pPr>
            <a:r>
              <a:rPr lang="en-US" sz="1600" b="1"/>
              <a:t>how much will the Firm</a:t>
            </a:r>
          </a:p>
          <a:p>
            <a:pPr eaLnBrk="1" hangingPunct="1">
              <a:lnSpc>
                <a:spcPct val="70000"/>
              </a:lnSpc>
              <a:spcBef>
                <a:spcPct val="50000"/>
              </a:spcBef>
            </a:pPr>
            <a:r>
              <a:rPr lang="en-US" sz="1600" b="1"/>
              <a:t>spend?</a:t>
            </a:r>
          </a:p>
          <a:p>
            <a:pPr eaLnBrk="1" hangingPunct="1">
              <a:lnSpc>
                <a:spcPct val="70000"/>
              </a:lnSpc>
              <a:spcBef>
                <a:spcPct val="50000"/>
              </a:spcBef>
            </a:pPr>
            <a:endParaRPr lang="en-US" sz="1600" b="1"/>
          </a:p>
          <a:p>
            <a:pPr eaLnBrk="1" hangingPunct="1">
              <a:lnSpc>
                <a:spcPct val="70000"/>
              </a:lnSpc>
              <a:spcBef>
                <a:spcPct val="50000"/>
              </a:spcBef>
            </a:pPr>
            <a:r>
              <a:rPr lang="en-US" sz="2000" b="1"/>
              <a:t>(US$ 54,058)</a:t>
            </a:r>
          </a:p>
        </p:txBody>
      </p:sp>
      <p:sp>
        <p:nvSpPr>
          <p:cNvPr id="9" name="Text Box 6"/>
          <p:cNvSpPr txBox="1">
            <a:spLocks noChangeArrowheads="1"/>
          </p:cNvSpPr>
          <p:nvPr/>
        </p:nvSpPr>
        <p:spPr bwMode="auto">
          <a:xfrm>
            <a:off x="7010400" y="3513137"/>
            <a:ext cx="1752600" cy="1662113"/>
          </a:xfrm>
          <a:prstGeom prst="rect">
            <a:avLst/>
          </a:prstGeom>
          <a:solidFill>
            <a:schemeClr val="bg1"/>
          </a:solidFill>
          <a:ln w="9525">
            <a:solidFill>
              <a:schemeClr val="tx1"/>
            </a:solidFill>
            <a:miter lim="800000"/>
            <a:headEnd/>
            <a:tailEnd/>
          </a:ln>
        </p:spPr>
        <p:txBody>
          <a:bodyPr>
            <a:spAutoFit/>
          </a:bodyPr>
          <a:lstStyle/>
          <a:p>
            <a:pPr eaLnBrk="1" hangingPunct="1">
              <a:lnSpc>
                <a:spcPct val="75000"/>
              </a:lnSpc>
              <a:spcBef>
                <a:spcPct val="50000"/>
              </a:spcBef>
            </a:pPr>
            <a:r>
              <a:rPr lang="en-US" sz="1600" b="1"/>
              <a:t>By getting the</a:t>
            </a:r>
          </a:p>
          <a:p>
            <a:pPr eaLnBrk="1" hangingPunct="1">
              <a:lnSpc>
                <a:spcPct val="75000"/>
              </a:lnSpc>
              <a:spcBef>
                <a:spcPct val="50000"/>
              </a:spcBef>
            </a:pPr>
            <a:r>
              <a:rPr lang="en-US" sz="1600" b="1"/>
              <a:t>order, the net </a:t>
            </a:r>
          </a:p>
          <a:p>
            <a:pPr eaLnBrk="1" hangingPunct="1">
              <a:lnSpc>
                <a:spcPct val="75000"/>
              </a:lnSpc>
              <a:spcBef>
                <a:spcPct val="50000"/>
              </a:spcBef>
            </a:pPr>
            <a:r>
              <a:rPr lang="en-US" sz="1600" b="1"/>
              <a:t>contribution  </a:t>
            </a:r>
          </a:p>
          <a:p>
            <a:pPr eaLnBrk="1" hangingPunct="1">
              <a:lnSpc>
                <a:spcPct val="75000"/>
              </a:lnSpc>
              <a:spcBef>
                <a:spcPct val="50000"/>
              </a:spcBef>
            </a:pPr>
            <a:r>
              <a:rPr lang="en-US" sz="1600" b="1"/>
              <a:t>margin will be</a:t>
            </a:r>
          </a:p>
          <a:p>
            <a:pPr eaLnBrk="1" hangingPunct="1">
              <a:spcBef>
                <a:spcPct val="50000"/>
              </a:spcBef>
            </a:pPr>
            <a:r>
              <a:rPr lang="en-US" sz="2000" b="1"/>
              <a:t>US$ 50,499</a:t>
            </a:r>
          </a:p>
        </p:txBody>
      </p:sp>
      <p:sp>
        <p:nvSpPr>
          <p:cNvPr id="10" name="Line 7"/>
          <p:cNvSpPr>
            <a:spLocks noChangeShapeType="1"/>
          </p:cNvSpPr>
          <p:nvPr/>
        </p:nvSpPr>
        <p:spPr bwMode="auto">
          <a:xfrm flipV="1">
            <a:off x="2362200" y="2751137"/>
            <a:ext cx="914400" cy="1066800"/>
          </a:xfrm>
          <a:prstGeom prst="line">
            <a:avLst/>
          </a:prstGeom>
          <a:noFill/>
          <a:ln w="19050">
            <a:solidFill>
              <a:schemeClr val="tx1"/>
            </a:solidFill>
            <a:round/>
            <a:headEnd/>
            <a:tailEnd type="stealth" w="lg" len="lg"/>
          </a:ln>
        </p:spPr>
        <p:txBody>
          <a:bodyPr/>
          <a:lstStyle/>
          <a:p>
            <a:endParaRPr lang="en-US"/>
          </a:p>
        </p:txBody>
      </p:sp>
      <p:sp>
        <p:nvSpPr>
          <p:cNvPr id="11" name="Line 8"/>
          <p:cNvSpPr>
            <a:spLocks noChangeShapeType="1"/>
          </p:cNvSpPr>
          <p:nvPr/>
        </p:nvSpPr>
        <p:spPr bwMode="auto">
          <a:xfrm>
            <a:off x="2362200" y="3817937"/>
            <a:ext cx="990600" cy="1524000"/>
          </a:xfrm>
          <a:prstGeom prst="line">
            <a:avLst/>
          </a:prstGeom>
          <a:noFill/>
          <a:ln w="19050">
            <a:solidFill>
              <a:schemeClr val="tx1"/>
            </a:solidFill>
            <a:round/>
            <a:headEnd/>
            <a:tailEnd type="stealth" w="lg" len="lg"/>
          </a:ln>
        </p:spPr>
        <p:txBody>
          <a:bodyPr/>
          <a:lstStyle/>
          <a:p>
            <a:endParaRPr lang="en-US"/>
          </a:p>
        </p:txBody>
      </p:sp>
      <p:sp>
        <p:nvSpPr>
          <p:cNvPr id="12" name="Line 9"/>
          <p:cNvSpPr>
            <a:spLocks noChangeShapeType="1"/>
          </p:cNvSpPr>
          <p:nvPr/>
        </p:nvSpPr>
        <p:spPr bwMode="auto">
          <a:xfrm>
            <a:off x="6096000" y="2674937"/>
            <a:ext cx="762000" cy="1219200"/>
          </a:xfrm>
          <a:prstGeom prst="line">
            <a:avLst/>
          </a:prstGeom>
          <a:noFill/>
          <a:ln w="19050">
            <a:solidFill>
              <a:schemeClr val="tx1"/>
            </a:solidFill>
            <a:round/>
            <a:headEnd/>
            <a:tailEnd type="stealth" w="lg" len="lg"/>
          </a:ln>
        </p:spPr>
        <p:txBody>
          <a:bodyPr/>
          <a:lstStyle/>
          <a:p>
            <a:endParaRPr lang="en-US"/>
          </a:p>
        </p:txBody>
      </p:sp>
      <p:sp>
        <p:nvSpPr>
          <p:cNvPr id="13" name="Line 10"/>
          <p:cNvSpPr>
            <a:spLocks noChangeShapeType="1"/>
          </p:cNvSpPr>
          <p:nvPr/>
        </p:nvSpPr>
        <p:spPr bwMode="auto">
          <a:xfrm flipV="1">
            <a:off x="6096000" y="4427537"/>
            <a:ext cx="762000" cy="838200"/>
          </a:xfrm>
          <a:prstGeom prst="line">
            <a:avLst/>
          </a:prstGeom>
          <a:noFill/>
          <a:ln w="19050">
            <a:solidFill>
              <a:schemeClr val="tx1"/>
            </a:solidFill>
            <a:round/>
            <a:headEnd/>
            <a:tailEnd type="stealth" w="lg" len="lg"/>
          </a:ln>
        </p:spPr>
        <p:txBody>
          <a:bodyPr/>
          <a:lstStyle/>
          <a:p>
            <a:endParaRPr lang="en-US"/>
          </a:p>
        </p:txBody>
      </p:sp>
    </p:spTree>
    <p:extLst>
      <p:ext uri="{BB962C8B-B14F-4D97-AF65-F5344CB8AC3E}">
        <p14:creationId xmlns:p14="http://schemas.microsoft.com/office/powerpoint/2010/main" val="40185156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Demand &amp; Monetization with </a:t>
            </a:r>
            <a:r>
              <a:rPr lang="en-US" b="1" dirty="0"/>
              <a:t>Conjoint Analysis</a:t>
            </a:r>
            <a:endParaRPr lang="en-US" dirty="0"/>
          </a:p>
        </p:txBody>
      </p:sp>
      <p:sp>
        <p:nvSpPr>
          <p:cNvPr id="3" name="Title 2"/>
          <p:cNvSpPr>
            <a:spLocks noGrp="1"/>
          </p:cNvSpPr>
          <p:nvPr>
            <p:ph type="title"/>
          </p:nvPr>
        </p:nvSpPr>
        <p:spPr/>
        <p:txBody>
          <a:bodyPr/>
          <a:lstStyle/>
          <a:p>
            <a:r>
              <a:rPr lang="en-US" dirty="0"/>
              <a:t>Apple Smartwatch</a:t>
            </a:r>
          </a:p>
        </p:txBody>
      </p:sp>
      <p:sp>
        <p:nvSpPr>
          <p:cNvPr id="4" name="Slide Number Placeholder 3"/>
          <p:cNvSpPr>
            <a:spLocks noGrp="1"/>
          </p:cNvSpPr>
          <p:nvPr>
            <p:ph type="sldNum" sz="quarter" idx="11"/>
          </p:nvPr>
        </p:nvSpPr>
        <p:spPr/>
        <p:txBody>
          <a:bodyPr/>
          <a:lstStyle/>
          <a:p>
            <a:pPr>
              <a:defRPr/>
            </a:pPr>
            <a:fld id="{D47E556B-1B27-4C7A-B8CA-7336E48AB80A}" type="slidenum">
              <a:rPr lang="en-US" smtClean="0"/>
              <a:pPr>
                <a:defRPr/>
              </a:pPr>
              <a:t>47</a:t>
            </a:fld>
            <a:endParaRPr lang="en-US"/>
          </a:p>
        </p:txBody>
      </p:sp>
    </p:spTree>
    <p:extLst>
      <p:ext uri="{BB962C8B-B14F-4D97-AF65-F5344CB8AC3E}">
        <p14:creationId xmlns:p14="http://schemas.microsoft.com/office/powerpoint/2010/main" val="5379520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48</a:t>
            </a:fld>
            <a:endParaRPr lang="en-US"/>
          </a:p>
        </p:txBody>
      </p:sp>
      <p:sp>
        <p:nvSpPr>
          <p:cNvPr id="3" name="Content Placeholder 2"/>
          <p:cNvSpPr>
            <a:spLocks noGrp="1"/>
          </p:cNvSpPr>
          <p:nvPr>
            <p:ph sz="quarter" idx="1"/>
          </p:nvPr>
        </p:nvSpPr>
        <p:spPr/>
        <p:txBody>
          <a:bodyPr>
            <a:normAutofit/>
          </a:bodyPr>
          <a:lstStyle/>
          <a:p>
            <a:pPr>
              <a:spcBef>
                <a:spcPts val="1200"/>
              </a:spcBef>
              <a:spcAft>
                <a:spcPts val="1200"/>
              </a:spcAft>
            </a:pPr>
            <a:r>
              <a:rPr lang="en-US" sz="2400" dirty="0"/>
              <a:t>Apple needs to price its new Serie</a:t>
            </a:r>
            <a:r>
              <a:rPr lang="en-US" dirty="0"/>
              <a:t>s 8 </a:t>
            </a:r>
            <a:r>
              <a:rPr lang="en-US" sz="2400" dirty="0"/>
              <a:t>smartwatch with</a:t>
            </a:r>
          </a:p>
          <a:p>
            <a:pPr marL="366713" lvl="1" indent="0">
              <a:spcBef>
                <a:spcPts val="1200"/>
              </a:spcBef>
              <a:spcAft>
                <a:spcPts val="1200"/>
              </a:spcAft>
              <a:buNone/>
            </a:pPr>
            <a:endParaRPr lang="en-US" b="1" dirty="0"/>
          </a:p>
          <a:p>
            <a:pPr marL="366713" lvl="1" indent="0">
              <a:spcBef>
                <a:spcPts val="1200"/>
              </a:spcBef>
              <a:spcAft>
                <a:spcPts val="1200"/>
              </a:spcAft>
              <a:buNone/>
            </a:pPr>
            <a:r>
              <a:rPr lang="en-US" b="1" dirty="0"/>
              <a:t>Features:</a:t>
            </a:r>
          </a:p>
          <a:p>
            <a:pPr lvl="1">
              <a:spcBef>
                <a:spcPts val="600"/>
              </a:spcBef>
              <a:spcAft>
                <a:spcPts val="600"/>
              </a:spcAft>
            </a:pPr>
            <a:r>
              <a:rPr lang="en-US" dirty="0"/>
              <a:t>18 hours battery life</a:t>
            </a:r>
          </a:p>
          <a:p>
            <a:pPr lvl="1">
              <a:spcBef>
                <a:spcPts val="600"/>
              </a:spcBef>
              <a:spcAft>
                <a:spcPts val="600"/>
              </a:spcAft>
            </a:pPr>
            <a:r>
              <a:rPr lang="en-US" dirty="0"/>
              <a:t>Cellular Service</a:t>
            </a:r>
          </a:p>
          <a:p>
            <a:pPr lvl="1">
              <a:spcBef>
                <a:spcPts val="600"/>
              </a:spcBef>
              <a:spcAft>
                <a:spcPts val="600"/>
              </a:spcAft>
            </a:pPr>
            <a:r>
              <a:rPr lang="en-US" dirty="0"/>
              <a:t>Always-on</a:t>
            </a:r>
          </a:p>
          <a:p>
            <a:pPr lvl="1">
              <a:spcBef>
                <a:spcPts val="600"/>
              </a:spcBef>
              <a:spcAft>
                <a:spcPts val="600"/>
              </a:spcAft>
            </a:pPr>
            <a:r>
              <a:rPr lang="en-US" dirty="0"/>
              <a:t>Temperature Sensor</a:t>
            </a:r>
          </a:p>
          <a:p>
            <a:pPr lvl="1">
              <a:spcBef>
                <a:spcPts val="600"/>
              </a:spcBef>
              <a:spcAft>
                <a:spcPts val="600"/>
              </a:spcAft>
            </a:pPr>
            <a:r>
              <a:rPr lang="en-US" sz="2400" dirty="0"/>
              <a:t>Car Crash Detection</a:t>
            </a:r>
          </a:p>
        </p:txBody>
      </p:sp>
      <p:sp>
        <p:nvSpPr>
          <p:cNvPr id="7" name="Title 1"/>
          <p:cNvSpPr>
            <a:spLocks noGrp="1"/>
          </p:cNvSpPr>
          <p:nvPr>
            <p:ph type="title"/>
          </p:nvPr>
        </p:nvSpPr>
        <p:spPr>
          <a:xfrm>
            <a:off x="612648" y="228600"/>
            <a:ext cx="8153400" cy="990600"/>
          </a:xfrm>
        </p:spPr>
        <p:txBody>
          <a:bodyPr>
            <a:normAutofit fontScale="90000"/>
          </a:bodyPr>
          <a:lstStyle/>
          <a:p>
            <a:r>
              <a:rPr lang="en-US" sz="4400" dirty="0"/>
              <a:t>A Consulting Project for Apple</a:t>
            </a:r>
            <a:br>
              <a:rPr lang="en-US" sz="4400" dirty="0"/>
            </a:br>
            <a:r>
              <a:rPr lang="en-US" sz="3600" dirty="0"/>
              <a:t>Project Goals</a:t>
            </a:r>
            <a:endParaRPr lang="en-US" sz="2700" dirty="0"/>
          </a:p>
        </p:txBody>
      </p:sp>
      <p:pic>
        <p:nvPicPr>
          <p:cNvPr id="6" name="Picture 5" descr="apple-watch"/>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3276600"/>
            <a:ext cx="2514600" cy="2514600"/>
          </a:xfrm>
          <a:prstGeom prst="rect">
            <a:avLst/>
          </a:prstGeom>
          <a:noFill/>
          <a:ln>
            <a:noFill/>
          </a:ln>
        </p:spPr>
      </p:pic>
      <p:pic>
        <p:nvPicPr>
          <p:cNvPr id="9" name="Picture 8"/>
          <p:cNvPicPr>
            <a:picLocks noChangeAspect="1"/>
          </p:cNvPicPr>
          <p:nvPr/>
        </p:nvPicPr>
        <p:blipFill>
          <a:blip r:embed="rId3"/>
          <a:stretch>
            <a:fillRect/>
          </a:stretch>
        </p:blipFill>
        <p:spPr>
          <a:xfrm>
            <a:off x="5334000" y="2514600"/>
            <a:ext cx="2957765" cy="667130"/>
          </a:xfrm>
          <a:prstGeom prst="rect">
            <a:avLst/>
          </a:prstGeom>
        </p:spPr>
      </p:pic>
    </p:spTree>
    <p:extLst>
      <p:ext uri="{BB962C8B-B14F-4D97-AF65-F5344CB8AC3E}">
        <p14:creationId xmlns:p14="http://schemas.microsoft.com/office/powerpoint/2010/main" val="10546474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4343AAED-02DD-4D31-9CFB-19D10387CA6E}" type="slidenum">
              <a:rPr lang="en-US" smtClean="0"/>
              <a:pPr>
                <a:defRPr/>
              </a:pPr>
              <a:t>49</a:t>
            </a:fld>
            <a:endParaRPr lang="en-US"/>
          </a:p>
        </p:txBody>
      </p:sp>
      <p:graphicFrame>
        <p:nvGraphicFramePr>
          <p:cNvPr id="8" name="Table 7"/>
          <p:cNvGraphicFramePr>
            <a:graphicFrameLocks noGrp="1"/>
          </p:cNvGraphicFramePr>
          <p:nvPr/>
        </p:nvGraphicFramePr>
        <p:xfrm>
          <a:off x="381000" y="2057401"/>
          <a:ext cx="8153402" cy="3220720"/>
        </p:xfrm>
        <a:graphic>
          <a:graphicData uri="http://schemas.openxmlformats.org/drawingml/2006/table">
            <a:tbl>
              <a:tblPr firstRow="1" bandRow="1">
                <a:tableStyleId>{5C22544A-7EE6-4342-B048-85BDC9FD1C3A}</a:tableStyleId>
              </a:tblPr>
              <a:tblGrid>
                <a:gridCol w="2274680">
                  <a:extLst>
                    <a:ext uri="{9D8B030D-6E8A-4147-A177-3AD203B41FA5}">
                      <a16:colId xmlns:a16="http://schemas.microsoft.com/office/drawing/2014/main" val="2316773006"/>
                    </a:ext>
                  </a:extLst>
                </a:gridCol>
                <a:gridCol w="1727898">
                  <a:extLst>
                    <a:ext uri="{9D8B030D-6E8A-4147-A177-3AD203B41FA5}">
                      <a16:colId xmlns:a16="http://schemas.microsoft.com/office/drawing/2014/main" val="2286324036"/>
                    </a:ext>
                  </a:extLst>
                </a:gridCol>
                <a:gridCol w="222365">
                  <a:extLst>
                    <a:ext uri="{9D8B030D-6E8A-4147-A177-3AD203B41FA5}">
                      <a16:colId xmlns:a16="http://schemas.microsoft.com/office/drawing/2014/main" val="3018215405"/>
                    </a:ext>
                  </a:extLst>
                </a:gridCol>
                <a:gridCol w="222365">
                  <a:extLst>
                    <a:ext uri="{9D8B030D-6E8A-4147-A177-3AD203B41FA5}">
                      <a16:colId xmlns:a16="http://schemas.microsoft.com/office/drawing/2014/main" val="1174383273"/>
                    </a:ext>
                  </a:extLst>
                </a:gridCol>
                <a:gridCol w="2001289">
                  <a:extLst>
                    <a:ext uri="{9D8B030D-6E8A-4147-A177-3AD203B41FA5}">
                      <a16:colId xmlns:a16="http://schemas.microsoft.com/office/drawing/2014/main" val="2102200841"/>
                    </a:ext>
                  </a:extLst>
                </a:gridCol>
                <a:gridCol w="1704805">
                  <a:extLst>
                    <a:ext uri="{9D8B030D-6E8A-4147-A177-3AD203B41FA5}">
                      <a16:colId xmlns:a16="http://schemas.microsoft.com/office/drawing/2014/main" val="3204308695"/>
                    </a:ext>
                  </a:extLst>
                </a:gridCol>
              </a:tblGrid>
              <a:tr h="828040">
                <a:tc gridSpan="2">
                  <a:txBody>
                    <a:bodyPr/>
                    <a:lstStyle/>
                    <a:p>
                      <a:pPr algn="ctr"/>
                      <a:endParaRPr lang="en-US" dirty="0"/>
                    </a:p>
                  </a:txBody>
                  <a:tcPr/>
                </a:tc>
                <a:tc hMerge="1">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gridSpan="2">
                  <a:txBody>
                    <a:bodyPr/>
                    <a:lstStyle/>
                    <a:p>
                      <a:pPr algn="ctr"/>
                      <a:endParaRPr lang="en-US" dirty="0"/>
                    </a:p>
                  </a:txBody>
                  <a:tcPr/>
                </a:tc>
                <a:tc hMerge="1">
                  <a:txBody>
                    <a:bodyPr/>
                    <a:lstStyle/>
                    <a:p>
                      <a:pPr algn="ctr"/>
                      <a:endParaRPr lang="en-US" dirty="0"/>
                    </a:p>
                  </a:txBody>
                  <a:tcPr>
                    <a:solidFill>
                      <a:schemeClr val="bg1"/>
                    </a:solidFill>
                  </a:tcPr>
                </a:tc>
                <a:extLst>
                  <a:ext uri="{0D108BD9-81ED-4DB2-BD59-A6C34878D82A}">
                    <a16:rowId xmlns:a16="http://schemas.microsoft.com/office/drawing/2014/main" val="4267100041"/>
                  </a:ext>
                </a:extLst>
              </a:tr>
              <a:tr h="370840">
                <a:tc>
                  <a:txBody>
                    <a:bodyPr/>
                    <a:lstStyle/>
                    <a:p>
                      <a:pPr algn="ctr"/>
                      <a:r>
                        <a:rPr lang="en-US" dirty="0"/>
                        <a:t>1 day battery</a:t>
                      </a:r>
                      <a:r>
                        <a:rPr lang="en-US" baseline="0" dirty="0"/>
                        <a:t> life</a:t>
                      </a:r>
                      <a:endParaRPr lang="en-US" dirty="0"/>
                    </a:p>
                  </a:txBody>
                  <a:tcPr/>
                </a:tc>
                <a:tc>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a:txBody>
                    <a:bodyPr/>
                    <a:lstStyle/>
                    <a:p>
                      <a:pPr algn="ctr"/>
                      <a:r>
                        <a:rPr lang="en-US" dirty="0"/>
                        <a:t>5 days battery</a:t>
                      </a:r>
                      <a:r>
                        <a:rPr lang="en-US" baseline="0" dirty="0"/>
                        <a:t> life</a:t>
                      </a:r>
                      <a:endParaRPr lang="en-US" dirty="0"/>
                    </a:p>
                  </a:txBody>
                  <a:tcPr/>
                </a:tc>
                <a:tc>
                  <a:txBody>
                    <a:bodyPr/>
                    <a:lstStyle/>
                    <a:p>
                      <a:pPr algn="ctr"/>
                      <a:endParaRPr lang="en-US" dirty="0"/>
                    </a:p>
                  </a:txBody>
                  <a:tcPr>
                    <a:solidFill>
                      <a:schemeClr val="bg1"/>
                    </a:solidFill>
                  </a:tcPr>
                </a:tc>
                <a:extLst>
                  <a:ext uri="{0D108BD9-81ED-4DB2-BD59-A6C34878D82A}">
                    <a16:rowId xmlns:a16="http://schemas.microsoft.com/office/drawing/2014/main" val="383402168"/>
                  </a:ext>
                </a:extLst>
              </a:tr>
              <a:tr h="370840">
                <a:tc>
                  <a:txBody>
                    <a:bodyPr/>
                    <a:lstStyle/>
                    <a:p>
                      <a:pPr algn="ctr"/>
                      <a:r>
                        <a:rPr lang="en-US" dirty="0"/>
                        <a:t>Cellular Service</a:t>
                      </a:r>
                    </a:p>
                  </a:txBody>
                  <a:tcPr/>
                </a:tc>
                <a:tc>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a:txBody>
                    <a:bodyPr/>
                    <a:lstStyle/>
                    <a:p>
                      <a:pPr algn="ctr"/>
                      <a:r>
                        <a:rPr lang="en-US" dirty="0"/>
                        <a:t>Cellular Service</a:t>
                      </a:r>
                    </a:p>
                  </a:txBody>
                  <a:tcPr/>
                </a:tc>
                <a:tc>
                  <a:txBody>
                    <a:bodyPr/>
                    <a:lstStyle/>
                    <a:p>
                      <a:pPr algn="ctr"/>
                      <a:endParaRPr lang="en-US" dirty="0"/>
                    </a:p>
                  </a:txBody>
                  <a:tcPr>
                    <a:solidFill>
                      <a:schemeClr val="bg1"/>
                    </a:solidFill>
                  </a:tcPr>
                </a:tc>
                <a:extLst>
                  <a:ext uri="{0D108BD9-81ED-4DB2-BD59-A6C34878D82A}">
                    <a16:rowId xmlns:a16="http://schemas.microsoft.com/office/drawing/2014/main" val="4041982886"/>
                  </a:ext>
                </a:extLst>
              </a:tr>
              <a:tr h="370840">
                <a:tc>
                  <a:txBody>
                    <a:bodyPr/>
                    <a:lstStyle/>
                    <a:p>
                      <a:pPr algn="ctr"/>
                      <a:r>
                        <a:rPr lang="en-US" dirty="0"/>
                        <a:t>Always-on</a:t>
                      </a:r>
                    </a:p>
                  </a:txBody>
                  <a:tcPr/>
                </a:tc>
                <a:tc>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a:txBody>
                    <a:bodyPr/>
                    <a:lstStyle/>
                    <a:p>
                      <a:pPr algn="ctr"/>
                      <a:r>
                        <a:rPr lang="en-US" dirty="0"/>
                        <a:t>Always-on</a:t>
                      </a:r>
                    </a:p>
                  </a:txBody>
                  <a:tcPr/>
                </a:tc>
                <a:tc>
                  <a:txBody>
                    <a:bodyPr/>
                    <a:lstStyle/>
                    <a:p>
                      <a:pPr algn="ctr"/>
                      <a:endParaRPr lang="en-US" dirty="0"/>
                    </a:p>
                  </a:txBody>
                  <a:tcPr>
                    <a:solidFill>
                      <a:schemeClr val="bg1"/>
                    </a:solidFill>
                  </a:tcPr>
                </a:tc>
                <a:extLst>
                  <a:ext uri="{0D108BD9-81ED-4DB2-BD59-A6C34878D82A}">
                    <a16:rowId xmlns:a16="http://schemas.microsoft.com/office/drawing/2014/main" val="4026611383"/>
                  </a:ext>
                </a:extLst>
              </a:tr>
              <a:tr h="370840">
                <a:tc>
                  <a:txBody>
                    <a:bodyPr/>
                    <a:lstStyle/>
                    <a:p>
                      <a:pPr algn="ctr"/>
                      <a:r>
                        <a:rPr lang="en-US" dirty="0"/>
                        <a:t>No Temperature</a:t>
                      </a:r>
                      <a:r>
                        <a:rPr lang="en-US" baseline="0" dirty="0"/>
                        <a:t> Sensor</a:t>
                      </a:r>
                      <a:endParaRPr lang="en-US" dirty="0"/>
                    </a:p>
                  </a:txBody>
                  <a:tcPr/>
                </a:tc>
                <a:tc>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a:txBody>
                    <a:bodyPr/>
                    <a:lstStyle/>
                    <a:p>
                      <a:pPr algn="ctr"/>
                      <a:r>
                        <a:rPr lang="en-US" dirty="0"/>
                        <a:t>Temperature</a:t>
                      </a:r>
                      <a:r>
                        <a:rPr lang="en-US" baseline="0" dirty="0"/>
                        <a:t> Sensor</a:t>
                      </a:r>
                      <a:endParaRPr lang="en-US" dirty="0"/>
                    </a:p>
                  </a:txBody>
                  <a:tcPr/>
                </a:tc>
                <a:tc>
                  <a:txBody>
                    <a:bodyPr/>
                    <a:lstStyle/>
                    <a:p>
                      <a:pPr algn="ctr"/>
                      <a:endParaRPr lang="en-US" dirty="0"/>
                    </a:p>
                  </a:txBody>
                  <a:tcPr>
                    <a:solidFill>
                      <a:schemeClr val="bg1"/>
                    </a:solidFill>
                  </a:tcPr>
                </a:tc>
                <a:extLst>
                  <a:ext uri="{0D108BD9-81ED-4DB2-BD59-A6C34878D82A}">
                    <a16:rowId xmlns:a16="http://schemas.microsoft.com/office/drawing/2014/main" val="3325732199"/>
                  </a:ext>
                </a:extLst>
              </a:tr>
              <a:tr h="370840">
                <a:tc>
                  <a:txBody>
                    <a:bodyPr/>
                    <a:lstStyle/>
                    <a:p>
                      <a:pPr algn="ctr"/>
                      <a:r>
                        <a:rPr lang="en-US" dirty="0"/>
                        <a:t>No Car</a:t>
                      </a:r>
                      <a:r>
                        <a:rPr lang="en-US" baseline="0" dirty="0"/>
                        <a:t> Crash Detection</a:t>
                      </a:r>
                      <a:endParaRPr lang="en-US" dirty="0"/>
                    </a:p>
                  </a:txBody>
                  <a:tcPr/>
                </a:tc>
                <a:tc>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a:txBody>
                    <a:bodyPr/>
                    <a:lstStyle/>
                    <a:p>
                      <a:pPr algn="ctr"/>
                      <a:r>
                        <a:rPr lang="en-US" dirty="0"/>
                        <a:t>No Car</a:t>
                      </a:r>
                      <a:r>
                        <a:rPr lang="en-US" baseline="0" dirty="0"/>
                        <a:t> Crash Detection</a:t>
                      </a:r>
                      <a:endParaRPr lang="en-US" dirty="0"/>
                    </a:p>
                  </a:txBody>
                  <a:tcPr/>
                </a:tc>
                <a:tc>
                  <a:txBody>
                    <a:bodyPr/>
                    <a:lstStyle/>
                    <a:p>
                      <a:pPr algn="ctr"/>
                      <a:endParaRPr lang="en-US" dirty="0"/>
                    </a:p>
                  </a:txBody>
                  <a:tcPr>
                    <a:solidFill>
                      <a:schemeClr val="bg1"/>
                    </a:solidFill>
                  </a:tcPr>
                </a:tc>
                <a:extLst>
                  <a:ext uri="{0D108BD9-81ED-4DB2-BD59-A6C34878D82A}">
                    <a16:rowId xmlns:a16="http://schemas.microsoft.com/office/drawing/2014/main" val="45228101"/>
                  </a:ext>
                </a:extLst>
              </a:tr>
            </a:tbl>
          </a:graphicData>
        </a:graphic>
      </p:graphicFrame>
      <p:pic>
        <p:nvPicPr>
          <p:cNvPr id="6" name="Picture 5" descr="galaxy-watch"/>
          <p:cNvPicPr>
            <a:picLocks noChangeAspect="1"/>
          </p:cNvPicPr>
          <p:nvPr/>
        </p:nvPicPr>
        <p:blipFill rotWithShape="1">
          <a:blip r:embed="rId2">
            <a:extLst>
              <a:ext uri="{28A0092B-C50C-407E-A947-70E740481C1C}">
                <a14:useLocalDpi xmlns:a14="http://schemas.microsoft.com/office/drawing/2010/main" val="0"/>
              </a:ext>
            </a:extLst>
          </a:blip>
          <a:srcRect l="15379" r="15655"/>
          <a:stretch/>
        </p:blipFill>
        <p:spPr bwMode="auto">
          <a:xfrm>
            <a:off x="2819400" y="2895600"/>
            <a:ext cx="1418897" cy="2057400"/>
          </a:xfrm>
          <a:prstGeom prst="rect">
            <a:avLst/>
          </a:prstGeom>
          <a:noFill/>
          <a:ln>
            <a:noFill/>
          </a:ln>
        </p:spPr>
      </p:pic>
      <p:pic>
        <p:nvPicPr>
          <p:cNvPr id="9" name="Picture 8" descr="fitbit-versa-4"/>
          <p:cNvPicPr>
            <a:picLocks noChangeAspect="1"/>
          </p:cNvPicPr>
          <p:nvPr/>
        </p:nvPicPr>
        <p:blipFill rotWithShape="1">
          <a:blip r:embed="rId3">
            <a:extLst>
              <a:ext uri="{28A0092B-C50C-407E-A947-70E740481C1C}">
                <a14:useLocalDpi xmlns:a14="http://schemas.microsoft.com/office/drawing/2010/main" val="0"/>
              </a:ext>
            </a:extLst>
          </a:blip>
          <a:srcRect l="12138" t="6039" r="12010" b="12418"/>
          <a:stretch/>
        </p:blipFill>
        <p:spPr bwMode="auto">
          <a:xfrm>
            <a:off x="6858000" y="3048000"/>
            <a:ext cx="1655219" cy="1787636"/>
          </a:xfrm>
          <a:prstGeom prst="rect">
            <a:avLst/>
          </a:prstGeom>
          <a:noFill/>
          <a:ln>
            <a:noFill/>
          </a:ln>
        </p:spPr>
      </p:pic>
      <p:pic>
        <p:nvPicPr>
          <p:cNvPr id="10" name="Picture 2" descr="Samsung Galaxy 5 - Wikipedi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47800" y="2152650"/>
            <a:ext cx="1981200" cy="7429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martwatches | Shop Fitbit"/>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5001" t="33105" r="18333" b="28799"/>
          <a:stretch/>
        </p:blipFill>
        <p:spPr bwMode="auto">
          <a:xfrm>
            <a:off x="5943600" y="2286000"/>
            <a:ext cx="1524001" cy="45720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2133600" y="5465117"/>
            <a:ext cx="877163" cy="461665"/>
          </a:xfrm>
          <a:prstGeom prst="rect">
            <a:avLst/>
          </a:prstGeom>
          <a:noFill/>
        </p:spPr>
        <p:txBody>
          <a:bodyPr wrap="none" rtlCol="0">
            <a:spAutoFit/>
          </a:bodyPr>
          <a:lstStyle/>
          <a:p>
            <a:r>
              <a:rPr lang="en-US" b="1" dirty="0">
                <a:solidFill>
                  <a:srgbClr val="FF0000"/>
                </a:solidFill>
                <a:effectLst>
                  <a:outerShdw blurRad="38100" dist="38100" dir="2700000" algn="tl">
                    <a:srgbClr val="000000">
                      <a:alpha val="43137"/>
                    </a:srgbClr>
                  </a:outerShdw>
                </a:effectLst>
              </a:rPr>
              <a:t>$ 230</a:t>
            </a:r>
          </a:p>
        </p:txBody>
      </p:sp>
      <p:sp>
        <p:nvSpPr>
          <p:cNvPr id="17" name="TextBox 16"/>
          <p:cNvSpPr txBox="1"/>
          <p:nvPr/>
        </p:nvSpPr>
        <p:spPr>
          <a:xfrm>
            <a:off x="6324600" y="5465116"/>
            <a:ext cx="877163" cy="461665"/>
          </a:xfrm>
          <a:prstGeom prst="rect">
            <a:avLst/>
          </a:prstGeom>
          <a:noFill/>
        </p:spPr>
        <p:txBody>
          <a:bodyPr wrap="none" rtlCol="0">
            <a:spAutoFit/>
          </a:bodyPr>
          <a:lstStyle/>
          <a:p>
            <a:r>
              <a:rPr lang="en-US" b="1" dirty="0">
                <a:solidFill>
                  <a:srgbClr val="FF0000"/>
                </a:solidFill>
                <a:effectLst>
                  <a:outerShdw blurRad="38100" dist="38100" dir="2700000" algn="tl">
                    <a:srgbClr val="000000">
                      <a:alpha val="43137"/>
                    </a:srgbClr>
                  </a:outerShdw>
                </a:effectLst>
              </a:rPr>
              <a:t>$ 260</a:t>
            </a:r>
          </a:p>
        </p:txBody>
      </p:sp>
      <p:sp>
        <p:nvSpPr>
          <p:cNvPr id="18" name="Content Placeholder 2"/>
          <p:cNvSpPr>
            <a:spLocks noGrp="1"/>
          </p:cNvSpPr>
          <p:nvPr>
            <p:ph sz="quarter" idx="1"/>
          </p:nvPr>
        </p:nvSpPr>
        <p:spPr>
          <a:xfrm>
            <a:off x="612648" y="1600200"/>
            <a:ext cx="8153400" cy="4495800"/>
          </a:xfrm>
        </p:spPr>
        <p:txBody>
          <a:bodyPr/>
          <a:lstStyle/>
          <a:p>
            <a:r>
              <a:rPr lang="en-US" dirty="0"/>
              <a:t>But it will face competition in the market:</a:t>
            </a:r>
          </a:p>
        </p:txBody>
      </p:sp>
      <p:sp>
        <p:nvSpPr>
          <p:cNvPr id="13" name="Title 1"/>
          <p:cNvSpPr>
            <a:spLocks noGrp="1"/>
          </p:cNvSpPr>
          <p:nvPr>
            <p:ph type="title"/>
          </p:nvPr>
        </p:nvSpPr>
        <p:spPr>
          <a:xfrm>
            <a:off x="612648" y="228600"/>
            <a:ext cx="8153400" cy="990600"/>
          </a:xfrm>
        </p:spPr>
        <p:txBody>
          <a:bodyPr>
            <a:normAutofit fontScale="90000"/>
          </a:bodyPr>
          <a:lstStyle/>
          <a:p>
            <a:r>
              <a:rPr lang="en-US" sz="4400" dirty="0"/>
              <a:t>A Consulting Project for Apple</a:t>
            </a:r>
            <a:br>
              <a:rPr lang="en-US" sz="4400" dirty="0"/>
            </a:br>
            <a:r>
              <a:rPr lang="en-US" sz="3600" dirty="0"/>
              <a:t>Project Goals</a:t>
            </a:r>
            <a:endParaRPr lang="en-US" sz="2700" dirty="0"/>
          </a:p>
        </p:txBody>
      </p:sp>
    </p:spTree>
    <p:extLst>
      <p:ext uri="{BB962C8B-B14F-4D97-AF65-F5344CB8AC3E}">
        <p14:creationId xmlns:p14="http://schemas.microsoft.com/office/powerpoint/2010/main" val="3104588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12775" y="228600"/>
            <a:ext cx="8153400" cy="990600"/>
          </a:xfrm>
        </p:spPr>
        <p:txBody>
          <a:bodyPr>
            <a:normAutofit fontScale="90000"/>
          </a:bodyPr>
          <a:lstStyle/>
          <a:p>
            <a:pPr>
              <a:defRPr/>
            </a:pPr>
            <a:r>
              <a:rPr lang="en-US" sz="4400" dirty="0"/>
              <a:t>Step 1: Study Design</a:t>
            </a:r>
            <a:br>
              <a:rPr lang="en-US" sz="4400" dirty="0"/>
            </a:br>
            <a:r>
              <a:rPr lang="en-US" sz="3600" dirty="0"/>
              <a:t>Selecting the tested product features</a:t>
            </a:r>
          </a:p>
        </p:txBody>
      </p:sp>
      <p:sp>
        <p:nvSpPr>
          <p:cNvPr id="18435" name="Text Box 3"/>
          <p:cNvSpPr txBox="1">
            <a:spLocks noChangeArrowheads="1"/>
          </p:cNvSpPr>
          <p:nvPr/>
        </p:nvSpPr>
        <p:spPr bwMode="auto">
          <a:xfrm>
            <a:off x="601678" y="1676400"/>
            <a:ext cx="8237522"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000" b="1" dirty="0"/>
              <a:t>Determine how to describe a Smartwatch in terms of its features:</a:t>
            </a:r>
          </a:p>
          <a:p>
            <a:endParaRPr lang="en-US" sz="2000" b="1" i="1" dirty="0"/>
          </a:p>
          <a:p>
            <a:endParaRPr lang="en-US" sz="2000" b="1" i="1" dirty="0"/>
          </a:p>
          <a:p>
            <a:endParaRPr lang="en-US" sz="2000" b="1" i="1" dirty="0"/>
          </a:p>
          <a:p>
            <a:endParaRPr lang="en-US" sz="2000" dirty="0"/>
          </a:p>
          <a:p>
            <a:pPr>
              <a:buFont typeface="Monotype Sorts" pitchFamily="2" charset="2"/>
              <a:buNone/>
            </a:pPr>
            <a:endParaRPr lang="en-US" sz="2000" dirty="0"/>
          </a:p>
          <a:p>
            <a:endParaRPr lang="en-US" sz="2000" u="sng" dirty="0"/>
          </a:p>
          <a:p>
            <a:endParaRPr lang="en-US" sz="2000" u="sng" dirty="0"/>
          </a:p>
          <a:p>
            <a:endParaRPr lang="en-US" sz="2000" u="sng" dirty="0"/>
          </a:p>
          <a:p>
            <a:endParaRPr lang="en-US" sz="2000" u="sng" dirty="0"/>
          </a:p>
          <a:p>
            <a:endParaRPr lang="en-US" sz="2000" u="sng" dirty="0"/>
          </a:p>
          <a:p>
            <a:r>
              <a:rPr lang="en-US" sz="2000" u="sng" dirty="0"/>
              <a:t>Examples: 3 possible Smartwatches one could analyze with this design</a:t>
            </a:r>
          </a:p>
          <a:p>
            <a:r>
              <a:rPr lang="en-US" sz="2000" dirty="0"/>
              <a:t>MODEL I		</a:t>
            </a:r>
            <a:r>
              <a:rPr lang="en-US" sz="1800" dirty="0"/>
              <a:t>18 </a:t>
            </a:r>
            <a:r>
              <a:rPr lang="en-US" sz="1800" dirty="0" err="1"/>
              <a:t>hrs</a:t>
            </a:r>
            <a:r>
              <a:rPr lang="en-US" sz="1800" dirty="0"/>
              <a:t>, Cellular, Always-on, Temperature, Apple</a:t>
            </a:r>
            <a:endParaRPr lang="en-US" sz="2000" dirty="0"/>
          </a:p>
          <a:p>
            <a:r>
              <a:rPr lang="en-US" sz="2000" dirty="0"/>
              <a:t>MODEL II		3</a:t>
            </a:r>
            <a:r>
              <a:rPr lang="en-US" sz="1800" dirty="0"/>
              <a:t> days, Cellular, Crash, Apple</a:t>
            </a:r>
          </a:p>
          <a:p>
            <a:r>
              <a:rPr lang="en-US" sz="2000" dirty="0"/>
              <a:t>MODEL III		</a:t>
            </a:r>
            <a:r>
              <a:rPr lang="en-US" sz="1800" dirty="0"/>
              <a:t>5 days, Cellular, Always-on, Temperature, Crash, Fitbit</a:t>
            </a:r>
            <a:endParaRPr lang="en-US" sz="2000" dirty="0"/>
          </a:p>
        </p:txBody>
      </p:sp>
      <p:sp>
        <p:nvSpPr>
          <p:cNvPr id="2" name="Slide Number Placeholder 1"/>
          <p:cNvSpPr>
            <a:spLocks noGrp="1"/>
          </p:cNvSpPr>
          <p:nvPr>
            <p:ph type="sldNum" sz="quarter" idx="12"/>
          </p:nvPr>
        </p:nvSpPr>
        <p:spPr/>
        <p:txBody>
          <a:bodyPr>
            <a:normAutofit fontScale="85000" lnSpcReduction="20000"/>
          </a:bodyPr>
          <a:lstStyle/>
          <a:p>
            <a:pPr>
              <a:defRPr/>
            </a:pPr>
            <a:fld id="{276F96D9-8525-4139-BFB1-EF38FC0A35D4}" type="slidenum">
              <a:rPr lang="en-US" smtClean="0"/>
              <a:pPr>
                <a:defRPr/>
              </a:pPr>
              <a:t>50</a:t>
            </a:fld>
            <a:endParaRPr lang="en-US"/>
          </a:p>
        </p:txBody>
      </p:sp>
      <p:graphicFrame>
        <p:nvGraphicFramePr>
          <p:cNvPr id="5" name="Table 4"/>
          <p:cNvGraphicFramePr>
            <a:graphicFrameLocks noGrp="1"/>
          </p:cNvGraphicFramePr>
          <p:nvPr/>
        </p:nvGraphicFramePr>
        <p:xfrm>
          <a:off x="457200" y="2133600"/>
          <a:ext cx="8229600" cy="259080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811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114425">
                  <a:extLst>
                    <a:ext uri="{9D8B030D-6E8A-4147-A177-3AD203B41FA5}">
                      <a16:colId xmlns:a16="http://schemas.microsoft.com/office/drawing/2014/main" val="20004"/>
                    </a:ext>
                  </a:extLst>
                </a:gridCol>
                <a:gridCol w="942975">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28700">
                  <a:extLst>
                    <a:ext uri="{9D8B030D-6E8A-4147-A177-3AD203B41FA5}">
                      <a16:colId xmlns:a16="http://schemas.microsoft.com/office/drawing/2014/main" val="20007"/>
                    </a:ext>
                  </a:extLst>
                </a:gridCol>
              </a:tblGrid>
              <a:tr h="472821">
                <a:tc>
                  <a:txBody>
                    <a:bodyPr/>
                    <a:lstStyle/>
                    <a:p>
                      <a:pPr marL="0" marR="0" algn="l">
                        <a:spcBef>
                          <a:spcPts val="0"/>
                        </a:spcBef>
                        <a:spcAft>
                          <a:spcPts val="0"/>
                        </a:spcAft>
                      </a:pPr>
                      <a:r>
                        <a:rPr lang="en-US" sz="1400" dirty="0">
                          <a:solidFill>
                            <a:srgbClr val="00B050"/>
                          </a:solidFill>
                          <a:effectLst/>
                          <a:latin typeface="Garamond"/>
                          <a:ea typeface="Times New Roman"/>
                          <a:cs typeface="Arial"/>
                        </a:rPr>
                        <a:t>Features</a:t>
                      </a:r>
                      <a:endParaRPr lang="en-US" sz="1400" dirty="0">
                        <a:solidFill>
                          <a:srgbClr val="00B050"/>
                        </a:solidFill>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1400" dirty="0">
                          <a:solidFill>
                            <a:srgbClr val="7030A0"/>
                          </a:solidFill>
                          <a:effectLst/>
                          <a:latin typeface="Garamond"/>
                          <a:ea typeface="Times New Roman"/>
                          <a:cs typeface="Arial"/>
                        </a:rPr>
                        <a:t>Battery Life</a:t>
                      </a:r>
                      <a:endParaRPr lang="en-US" sz="1400" dirty="0">
                        <a:solidFill>
                          <a:srgbClr val="7030A0"/>
                        </a:solidFill>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1400" dirty="0">
                          <a:solidFill>
                            <a:srgbClr val="7030A0"/>
                          </a:solidFill>
                          <a:effectLst/>
                          <a:latin typeface="Garamond"/>
                          <a:ea typeface="Times New Roman"/>
                          <a:cs typeface="Arial"/>
                        </a:rPr>
                        <a:t>Cellular</a:t>
                      </a:r>
                      <a:endParaRPr lang="en-US" sz="1400" dirty="0">
                        <a:solidFill>
                          <a:srgbClr val="7030A0"/>
                        </a:solidFill>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1400" dirty="0">
                          <a:solidFill>
                            <a:srgbClr val="7030A0"/>
                          </a:solidFill>
                          <a:effectLst/>
                          <a:latin typeface="Garamond"/>
                          <a:ea typeface="Times New Roman"/>
                          <a:cs typeface="Arial"/>
                        </a:rPr>
                        <a:t>Always-on</a:t>
                      </a:r>
                      <a:endParaRPr lang="en-US" sz="1400" dirty="0">
                        <a:solidFill>
                          <a:srgbClr val="7030A0"/>
                        </a:solidFill>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1400" dirty="0">
                          <a:solidFill>
                            <a:srgbClr val="7030A0"/>
                          </a:solidFill>
                          <a:effectLst/>
                          <a:latin typeface="Garamond"/>
                          <a:ea typeface="Times New Roman"/>
                          <a:cs typeface="Arial"/>
                        </a:rPr>
                        <a:t>Temperature Sensor</a:t>
                      </a:r>
                    </a:p>
                  </a:txBody>
                  <a:tcPr marL="68580" marR="68580" marT="0" marB="0" anchor="b"/>
                </a:tc>
                <a:tc>
                  <a:txBody>
                    <a:bodyPr/>
                    <a:lstStyle/>
                    <a:p>
                      <a:pPr marL="0" marR="0" algn="ctr">
                        <a:spcBef>
                          <a:spcPts val="0"/>
                        </a:spcBef>
                        <a:spcAft>
                          <a:spcPts val="0"/>
                        </a:spcAft>
                      </a:pPr>
                      <a:r>
                        <a:rPr lang="en-US" sz="1400" dirty="0">
                          <a:solidFill>
                            <a:srgbClr val="7030A0"/>
                          </a:solidFill>
                          <a:effectLst/>
                          <a:latin typeface="Garamond"/>
                          <a:ea typeface="Times New Roman"/>
                          <a:cs typeface="Arial"/>
                        </a:rPr>
                        <a:t>Car Crash Detection</a:t>
                      </a:r>
                      <a:endParaRPr lang="en-US" sz="1400" dirty="0">
                        <a:solidFill>
                          <a:srgbClr val="7030A0"/>
                        </a:solidFill>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1400" dirty="0">
                          <a:solidFill>
                            <a:srgbClr val="7030A0"/>
                          </a:solidFill>
                          <a:effectLst/>
                          <a:latin typeface="Garamond"/>
                          <a:ea typeface="Times New Roman"/>
                          <a:cs typeface="Arial"/>
                        </a:rPr>
                        <a:t>Brand</a:t>
                      </a:r>
                      <a:endParaRPr lang="en-US" sz="1400" dirty="0">
                        <a:solidFill>
                          <a:srgbClr val="7030A0"/>
                        </a:solidFill>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1400" dirty="0">
                          <a:solidFill>
                            <a:srgbClr val="7030A0"/>
                          </a:solidFill>
                          <a:effectLst/>
                          <a:latin typeface="Garamond"/>
                          <a:ea typeface="Times New Roman"/>
                          <a:cs typeface="Arial"/>
                        </a:rPr>
                        <a:t>Price</a:t>
                      </a:r>
                      <a:endParaRPr lang="en-US" sz="1400" dirty="0">
                        <a:solidFill>
                          <a:srgbClr val="7030A0"/>
                        </a:solidFill>
                        <a:effectLst/>
                        <a:latin typeface="Times New Roman"/>
                        <a:ea typeface="Times New Roman"/>
                      </a:endParaRPr>
                    </a:p>
                  </a:txBody>
                  <a:tcPr marL="68580" marR="68580" marT="0" marB="0" anchor="b"/>
                </a:tc>
                <a:extLst>
                  <a:ext uri="{0D108BD9-81ED-4DB2-BD59-A6C34878D82A}">
                    <a16:rowId xmlns:a16="http://schemas.microsoft.com/office/drawing/2014/main" val="10000"/>
                  </a:ext>
                </a:extLst>
              </a:tr>
              <a:tr h="472821">
                <a:tc rowSpan="4">
                  <a:txBody>
                    <a:bodyPr/>
                    <a:lstStyle/>
                    <a:p>
                      <a:pPr marL="0" marR="0" algn="l">
                        <a:spcBef>
                          <a:spcPts val="0"/>
                        </a:spcBef>
                        <a:spcAft>
                          <a:spcPts val="0"/>
                        </a:spcAft>
                      </a:pPr>
                      <a:r>
                        <a:rPr lang="en-US" sz="1600" dirty="0">
                          <a:solidFill>
                            <a:srgbClr val="00B050"/>
                          </a:solidFill>
                          <a:effectLst/>
                          <a:latin typeface="Garamond"/>
                          <a:ea typeface="Times New Roman"/>
                          <a:cs typeface="Arial"/>
                        </a:rPr>
                        <a:t>Feature Levels</a:t>
                      </a:r>
                      <a:endParaRPr lang="en-US" sz="1600" dirty="0">
                        <a:solidFill>
                          <a:srgbClr val="00B050"/>
                        </a:solidFill>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1600" dirty="0">
                          <a:effectLst/>
                          <a:latin typeface="Garamond"/>
                          <a:ea typeface="Times New Roman"/>
                          <a:cs typeface="Arial"/>
                        </a:rPr>
                        <a:t>18 </a:t>
                      </a:r>
                      <a:r>
                        <a:rPr lang="en-US" sz="1600" dirty="0" err="1">
                          <a:effectLst/>
                          <a:latin typeface="Garamond"/>
                          <a:ea typeface="Times New Roman"/>
                          <a:cs typeface="Arial"/>
                        </a:rPr>
                        <a:t>hrs</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No </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No </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No</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No </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a:effectLst/>
                          <a:latin typeface="Garamond"/>
                          <a:ea typeface="Times New Roman"/>
                          <a:cs typeface="Arial"/>
                        </a:rPr>
                        <a:t>Samsung</a:t>
                      </a:r>
                      <a:endParaRPr lang="en-US" sz="160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$ 249</a:t>
                      </a:r>
                      <a:endParaRPr lang="en-US" sz="1600" dirty="0">
                        <a:effectLst/>
                        <a:latin typeface="Times New Roman"/>
                        <a:ea typeface="Times New Roman"/>
                      </a:endParaRPr>
                    </a:p>
                  </a:txBody>
                  <a:tcPr marL="68580" marR="68580" marT="0" marB="0" anchor="ctr" anchorCtr="1"/>
                </a:tc>
                <a:extLst>
                  <a:ext uri="{0D108BD9-81ED-4DB2-BD59-A6C34878D82A}">
                    <a16:rowId xmlns:a16="http://schemas.microsoft.com/office/drawing/2014/main" val="10001"/>
                  </a:ext>
                </a:extLst>
              </a:tr>
              <a:tr h="699516">
                <a:tc vMerge="1">
                  <a:txBody>
                    <a:bodyPr/>
                    <a:lstStyle/>
                    <a:p>
                      <a:endParaRPr lang="en-US"/>
                    </a:p>
                  </a:txBody>
                  <a:tcPr/>
                </a:tc>
                <a:tc>
                  <a:txBody>
                    <a:bodyPr/>
                    <a:lstStyle/>
                    <a:p>
                      <a:pPr marL="0" marR="0" algn="ctr">
                        <a:spcBef>
                          <a:spcPts val="0"/>
                        </a:spcBef>
                        <a:spcAft>
                          <a:spcPts val="0"/>
                        </a:spcAft>
                      </a:pPr>
                      <a:r>
                        <a:rPr lang="en-US" sz="1600" dirty="0">
                          <a:effectLst/>
                          <a:latin typeface="Garamond"/>
                          <a:ea typeface="Times New Roman"/>
                          <a:cs typeface="Arial"/>
                        </a:rPr>
                        <a:t>1 day</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Yes</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Yes</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Yes</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Yes</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a:effectLst/>
                          <a:latin typeface="Garamond"/>
                          <a:ea typeface="Times New Roman"/>
                          <a:cs typeface="Arial"/>
                        </a:rPr>
                        <a:t>Apple</a:t>
                      </a:r>
                      <a:endParaRPr lang="en-US" sz="160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$ 299</a:t>
                      </a:r>
                      <a:endParaRPr lang="en-US" sz="1600" dirty="0">
                        <a:effectLst/>
                        <a:latin typeface="Times New Roman"/>
                        <a:ea typeface="Times New Roman"/>
                      </a:endParaRPr>
                    </a:p>
                  </a:txBody>
                  <a:tcPr marL="68580" marR="68580" marT="0" marB="0" anchor="ctr" anchorCtr="1"/>
                </a:tc>
                <a:extLst>
                  <a:ext uri="{0D108BD9-81ED-4DB2-BD59-A6C34878D82A}">
                    <a16:rowId xmlns:a16="http://schemas.microsoft.com/office/drawing/2014/main" val="10002"/>
                  </a:ext>
                </a:extLst>
              </a:tr>
              <a:tr h="472821">
                <a:tc vMerge="1">
                  <a:txBody>
                    <a:bodyPr/>
                    <a:lstStyle/>
                    <a:p>
                      <a:endParaRPr lang="en-US"/>
                    </a:p>
                  </a:txBody>
                  <a:tcPr/>
                </a:tc>
                <a:tc>
                  <a:txBody>
                    <a:bodyPr/>
                    <a:lstStyle/>
                    <a:p>
                      <a:pPr marL="0" marR="0" algn="ctr">
                        <a:spcBef>
                          <a:spcPts val="0"/>
                        </a:spcBef>
                        <a:spcAft>
                          <a:spcPts val="0"/>
                        </a:spcAft>
                      </a:pPr>
                      <a:r>
                        <a:rPr lang="en-US" sz="1600" dirty="0">
                          <a:effectLst/>
                          <a:latin typeface="Garamond"/>
                          <a:ea typeface="Times New Roman"/>
                          <a:cs typeface="Arial"/>
                        </a:rPr>
                        <a:t>3 days</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a:effectLst/>
                          <a:latin typeface="Garamond"/>
                          <a:ea typeface="Times New Roman"/>
                          <a:cs typeface="Arial"/>
                        </a:rPr>
                        <a:t> </a:t>
                      </a:r>
                      <a:endParaRPr lang="en-US" sz="160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a:effectLst/>
                          <a:latin typeface="Garamond"/>
                          <a:ea typeface="Times New Roman"/>
                          <a:cs typeface="Arial"/>
                        </a:rPr>
                        <a:t> </a:t>
                      </a:r>
                      <a:endParaRPr lang="en-US" sz="160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 </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 Fitbit</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$ 349</a:t>
                      </a:r>
                      <a:endParaRPr lang="en-US" sz="1600" dirty="0">
                        <a:effectLst/>
                        <a:latin typeface="Times New Roman"/>
                        <a:ea typeface="Times New Roman"/>
                      </a:endParaRPr>
                    </a:p>
                  </a:txBody>
                  <a:tcPr marL="68580" marR="68580" marT="0" marB="0" anchor="ctr" anchorCtr="1"/>
                </a:tc>
                <a:extLst>
                  <a:ext uri="{0D108BD9-81ED-4DB2-BD59-A6C34878D82A}">
                    <a16:rowId xmlns:a16="http://schemas.microsoft.com/office/drawing/2014/main" val="10003"/>
                  </a:ext>
                </a:extLst>
              </a:tr>
              <a:tr h="472821">
                <a:tc vMerge="1">
                  <a:txBody>
                    <a:bodyPr/>
                    <a:lstStyle/>
                    <a:p>
                      <a:endParaRPr lang="en-US"/>
                    </a:p>
                  </a:txBody>
                  <a:tcPr/>
                </a:tc>
                <a:tc>
                  <a:txBody>
                    <a:bodyPr/>
                    <a:lstStyle/>
                    <a:p>
                      <a:pPr marL="0" marR="0" algn="ctr">
                        <a:spcBef>
                          <a:spcPts val="0"/>
                        </a:spcBef>
                        <a:spcAft>
                          <a:spcPts val="0"/>
                        </a:spcAft>
                      </a:pPr>
                      <a:r>
                        <a:rPr lang="en-US" sz="1600" dirty="0">
                          <a:effectLst/>
                          <a:latin typeface="Garamond"/>
                          <a:ea typeface="Times New Roman"/>
                          <a:cs typeface="Arial"/>
                        </a:rPr>
                        <a:t>5 days</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a:effectLst/>
                          <a:latin typeface="Garamond"/>
                          <a:ea typeface="Times New Roman"/>
                          <a:cs typeface="Arial"/>
                        </a:rPr>
                        <a:t> </a:t>
                      </a:r>
                      <a:endParaRPr lang="en-US" sz="160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 </a:t>
                      </a: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a:effectLst/>
                          <a:latin typeface="Garamond"/>
                          <a:ea typeface="Times New Roman"/>
                          <a:cs typeface="Arial"/>
                        </a:rPr>
                        <a:t> </a:t>
                      </a:r>
                      <a:endParaRPr lang="en-US" sz="160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endParaRPr lang="en-US" sz="1600" dirty="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a:effectLst/>
                          <a:latin typeface="Garamond"/>
                          <a:ea typeface="Times New Roman"/>
                          <a:cs typeface="Arial"/>
                        </a:rPr>
                        <a:t> </a:t>
                      </a:r>
                      <a:endParaRPr lang="en-US" sz="1600">
                        <a:effectLst/>
                        <a:latin typeface="Times New Roman"/>
                        <a:ea typeface="Times New Roman"/>
                      </a:endParaRPr>
                    </a:p>
                  </a:txBody>
                  <a:tcPr marL="68580" marR="68580" marT="0" marB="0" anchor="ctr" anchorCtr="1"/>
                </a:tc>
                <a:tc>
                  <a:txBody>
                    <a:bodyPr/>
                    <a:lstStyle/>
                    <a:p>
                      <a:pPr marL="0" marR="0" algn="ctr">
                        <a:spcBef>
                          <a:spcPts val="0"/>
                        </a:spcBef>
                        <a:spcAft>
                          <a:spcPts val="0"/>
                        </a:spcAft>
                      </a:pPr>
                      <a:r>
                        <a:rPr lang="en-US" sz="1600" dirty="0">
                          <a:effectLst/>
                          <a:latin typeface="Garamond"/>
                          <a:ea typeface="Times New Roman"/>
                          <a:cs typeface="Arial"/>
                        </a:rPr>
                        <a:t>$ 399</a:t>
                      </a:r>
                      <a:endParaRPr lang="en-US" sz="1600" dirty="0">
                        <a:effectLst/>
                        <a:latin typeface="Times New Roman"/>
                        <a:ea typeface="Times New Roman"/>
                      </a:endParaRPr>
                    </a:p>
                  </a:txBody>
                  <a:tcPr marL="68580" marR="68580" marT="0" marB="0" anchor="ctr" anchorCtr="1"/>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241270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5">
                                            <p:txEl>
                                              <p:pRg st="12" end="1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435">
                                            <p:txEl>
                                              <p:pRg st="13" end="1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43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2: A Choice-Based Conjoint Survey</a:t>
            </a:r>
          </a:p>
        </p:txBody>
      </p:sp>
      <p:pic>
        <p:nvPicPr>
          <p:cNvPr id="5" name="Content Placeholder 4"/>
          <p:cNvPicPr>
            <a:picLocks noGrp="1" noChangeAspect="1"/>
          </p:cNvPicPr>
          <p:nvPr>
            <p:ph sz="quarter" idx="1"/>
          </p:nvPr>
        </p:nvPicPr>
        <p:blipFill>
          <a:blip r:embed="rId2"/>
          <a:stretch>
            <a:fillRect/>
          </a:stretch>
        </p:blipFill>
        <p:spPr>
          <a:xfrm>
            <a:off x="612775" y="1954733"/>
            <a:ext cx="8153400" cy="3786734"/>
          </a:xfrm>
          <a:prstGeom prst="rect">
            <a:avLst/>
          </a:prstGeom>
        </p:spPr>
      </p:pic>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51</a:t>
            </a:fld>
            <a:endParaRPr lang="en-US"/>
          </a:p>
        </p:txBody>
      </p:sp>
    </p:spTree>
    <p:extLst>
      <p:ext uri="{BB962C8B-B14F-4D97-AF65-F5344CB8AC3E}">
        <p14:creationId xmlns:p14="http://schemas.microsoft.com/office/powerpoint/2010/main" val="38234328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2: A Choice-Based Conjoint Survey</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52</a:t>
            </a:fld>
            <a:endParaRPr lang="en-US"/>
          </a:p>
        </p:txBody>
      </p:sp>
      <p:pic>
        <p:nvPicPr>
          <p:cNvPr id="6" name="Content Placeholder 5"/>
          <p:cNvPicPr>
            <a:picLocks noGrp="1" noChangeAspect="1"/>
          </p:cNvPicPr>
          <p:nvPr>
            <p:ph sz="quarter" idx="1"/>
          </p:nvPr>
        </p:nvPicPr>
        <p:blipFill>
          <a:blip r:embed="rId2"/>
          <a:stretch>
            <a:fillRect/>
          </a:stretch>
        </p:blipFill>
        <p:spPr>
          <a:xfrm>
            <a:off x="612775" y="1933974"/>
            <a:ext cx="8153400" cy="3828252"/>
          </a:xfrm>
          <a:prstGeom prst="rect">
            <a:avLst/>
          </a:prstGeom>
        </p:spPr>
      </p:pic>
    </p:spTree>
    <p:extLst>
      <p:ext uri="{BB962C8B-B14F-4D97-AF65-F5344CB8AC3E}">
        <p14:creationId xmlns:p14="http://schemas.microsoft.com/office/powerpoint/2010/main" val="40678957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2: A Choice-Based Conjoint Survey</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53</a:t>
            </a:fld>
            <a:endParaRPr lang="en-US"/>
          </a:p>
        </p:txBody>
      </p:sp>
      <p:pic>
        <p:nvPicPr>
          <p:cNvPr id="6" name="Content Placeholder 5"/>
          <p:cNvPicPr>
            <a:picLocks noGrp="1" noChangeAspect="1"/>
          </p:cNvPicPr>
          <p:nvPr>
            <p:ph sz="quarter" idx="1"/>
          </p:nvPr>
        </p:nvPicPr>
        <p:blipFill>
          <a:blip r:embed="rId2"/>
          <a:stretch>
            <a:fillRect/>
          </a:stretch>
        </p:blipFill>
        <p:spPr>
          <a:xfrm>
            <a:off x="612775" y="1924556"/>
            <a:ext cx="8153400" cy="3847087"/>
          </a:xfrm>
          <a:prstGeom prst="rect">
            <a:avLst/>
          </a:prstGeom>
        </p:spPr>
      </p:pic>
    </p:spTree>
    <p:extLst>
      <p:ext uri="{BB962C8B-B14F-4D97-AF65-F5344CB8AC3E}">
        <p14:creationId xmlns:p14="http://schemas.microsoft.com/office/powerpoint/2010/main" val="31579053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2: A Choice-Based Conjoint Survey</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54</a:t>
            </a:fld>
            <a:endParaRPr lang="en-US"/>
          </a:p>
        </p:txBody>
      </p:sp>
      <p:pic>
        <p:nvPicPr>
          <p:cNvPr id="6" name="Content Placeholder 5"/>
          <p:cNvPicPr>
            <a:picLocks noGrp="1" noChangeAspect="1"/>
          </p:cNvPicPr>
          <p:nvPr>
            <p:ph sz="quarter" idx="1"/>
          </p:nvPr>
        </p:nvPicPr>
        <p:blipFill>
          <a:blip r:embed="rId2"/>
          <a:stretch>
            <a:fillRect/>
          </a:stretch>
        </p:blipFill>
        <p:spPr>
          <a:xfrm>
            <a:off x="612775" y="1931499"/>
            <a:ext cx="8153400" cy="3833201"/>
          </a:xfrm>
          <a:prstGeom prst="rect">
            <a:avLst/>
          </a:prstGeom>
        </p:spPr>
      </p:pic>
    </p:spTree>
    <p:extLst>
      <p:ext uri="{BB962C8B-B14F-4D97-AF65-F5344CB8AC3E}">
        <p14:creationId xmlns:p14="http://schemas.microsoft.com/office/powerpoint/2010/main" val="22155780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2: A Choice-Based Conjoint Survey</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55</a:t>
            </a:fld>
            <a:endParaRPr lang="en-US"/>
          </a:p>
        </p:txBody>
      </p:sp>
      <p:pic>
        <p:nvPicPr>
          <p:cNvPr id="6" name="Content Placeholder 5"/>
          <p:cNvPicPr>
            <a:picLocks noGrp="1" noChangeAspect="1"/>
          </p:cNvPicPr>
          <p:nvPr>
            <p:ph sz="quarter" idx="1"/>
          </p:nvPr>
        </p:nvPicPr>
        <p:blipFill>
          <a:blip r:embed="rId2"/>
          <a:stretch>
            <a:fillRect/>
          </a:stretch>
        </p:blipFill>
        <p:spPr>
          <a:xfrm>
            <a:off x="612775" y="1931628"/>
            <a:ext cx="8153400" cy="3832943"/>
          </a:xfrm>
          <a:prstGeom prst="rect">
            <a:avLst/>
          </a:prstGeom>
        </p:spPr>
      </p:pic>
    </p:spTree>
    <p:extLst>
      <p:ext uri="{BB962C8B-B14F-4D97-AF65-F5344CB8AC3E}">
        <p14:creationId xmlns:p14="http://schemas.microsoft.com/office/powerpoint/2010/main" val="34276029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2: A Choice-Based Conjoint Survey</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56</a:t>
            </a:fld>
            <a:endParaRPr lang="en-US"/>
          </a:p>
        </p:txBody>
      </p:sp>
      <p:pic>
        <p:nvPicPr>
          <p:cNvPr id="6" name="Content Placeholder 5"/>
          <p:cNvPicPr>
            <a:picLocks noGrp="1" noChangeAspect="1"/>
          </p:cNvPicPr>
          <p:nvPr>
            <p:ph sz="quarter" idx="1"/>
          </p:nvPr>
        </p:nvPicPr>
        <p:blipFill>
          <a:blip r:embed="rId2"/>
          <a:stretch>
            <a:fillRect/>
          </a:stretch>
        </p:blipFill>
        <p:spPr>
          <a:xfrm>
            <a:off x="612775" y="1930099"/>
            <a:ext cx="8153400" cy="3836001"/>
          </a:xfrm>
          <a:prstGeom prst="rect">
            <a:avLst/>
          </a:prstGeom>
        </p:spPr>
      </p:pic>
    </p:spTree>
    <p:extLst>
      <p:ext uri="{BB962C8B-B14F-4D97-AF65-F5344CB8AC3E}">
        <p14:creationId xmlns:p14="http://schemas.microsoft.com/office/powerpoint/2010/main" val="18358482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2: A Choice-Based Conjoint Survey</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57</a:t>
            </a:fld>
            <a:endParaRPr lang="en-US"/>
          </a:p>
        </p:txBody>
      </p:sp>
      <p:pic>
        <p:nvPicPr>
          <p:cNvPr id="6" name="Content Placeholder 5"/>
          <p:cNvPicPr>
            <a:picLocks noGrp="1" noChangeAspect="1"/>
          </p:cNvPicPr>
          <p:nvPr>
            <p:ph sz="quarter" idx="1"/>
          </p:nvPr>
        </p:nvPicPr>
        <p:blipFill>
          <a:blip r:embed="rId2"/>
          <a:stretch>
            <a:fillRect/>
          </a:stretch>
        </p:blipFill>
        <p:spPr>
          <a:xfrm>
            <a:off x="612775" y="1935320"/>
            <a:ext cx="8153400" cy="3825559"/>
          </a:xfrm>
          <a:prstGeom prst="rect">
            <a:avLst/>
          </a:prstGeom>
        </p:spPr>
      </p:pic>
    </p:spTree>
    <p:extLst>
      <p:ext uri="{BB962C8B-B14F-4D97-AF65-F5344CB8AC3E}">
        <p14:creationId xmlns:p14="http://schemas.microsoft.com/office/powerpoint/2010/main" val="33624585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2: A Choice-Based Conjoint Survey</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58</a:t>
            </a:fld>
            <a:endParaRPr lang="en-US"/>
          </a:p>
        </p:txBody>
      </p:sp>
      <p:pic>
        <p:nvPicPr>
          <p:cNvPr id="8" name="Content Placeholder 7"/>
          <p:cNvPicPr>
            <a:picLocks noGrp="1" noChangeAspect="1"/>
          </p:cNvPicPr>
          <p:nvPr>
            <p:ph sz="quarter" idx="1"/>
          </p:nvPr>
        </p:nvPicPr>
        <p:blipFill>
          <a:blip r:embed="rId2"/>
          <a:stretch>
            <a:fillRect/>
          </a:stretch>
        </p:blipFill>
        <p:spPr>
          <a:xfrm>
            <a:off x="612775" y="1936164"/>
            <a:ext cx="8153400" cy="3823872"/>
          </a:xfrm>
          <a:prstGeom prst="rect">
            <a:avLst/>
          </a:prstGeom>
        </p:spPr>
      </p:pic>
    </p:spTree>
    <p:extLst>
      <p:ext uri="{BB962C8B-B14F-4D97-AF65-F5344CB8AC3E}">
        <p14:creationId xmlns:p14="http://schemas.microsoft.com/office/powerpoint/2010/main" val="10548278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2: A Choice-Based Conjoint Survey</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59</a:t>
            </a:fld>
            <a:endParaRPr lang="en-US"/>
          </a:p>
        </p:txBody>
      </p:sp>
      <p:pic>
        <p:nvPicPr>
          <p:cNvPr id="5" name="Content Placeholder 4"/>
          <p:cNvPicPr>
            <a:picLocks noGrp="1" noChangeAspect="1"/>
          </p:cNvPicPr>
          <p:nvPr>
            <p:ph sz="quarter" idx="1"/>
          </p:nvPr>
        </p:nvPicPr>
        <p:blipFill>
          <a:blip r:embed="rId2"/>
          <a:stretch>
            <a:fillRect/>
          </a:stretch>
        </p:blipFill>
        <p:spPr>
          <a:xfrm>
            <a:off x="612775" y="1932073"/>
            <a:ext cx="8153400" cy="3832054"/>
          </a:xfrm>
          <a:prstGeom prst="rect">
            <a:avLst/>
          </a:prstGeom>
        </p:spPr>
      </p:pic>
    </p:spTree>
    <p:extLst>
      <p:ext uri="{BB962C8B-B14F-4D97-AF65-F5344CB8AC3E}">
        <p14:creationId xmlns:p14="http://schemas.microsoft.com/office/powerpoint/2010/main" val="11096697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2: A Choice-Based Conjoint Survey</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60</a:t>
            </a:fld>
            <a:endParaRPr lang="en-US"/>
          </a:p>
        </p:txBody>
      </p:sp>
      <p:pic>
        <p:nvPicPr>
          <p:cNvPr id="5" name="Content Placeholder 4"/>
          <p:cNvPicPr>
            <a:picLocks noGrp="1" noChangeAspect="1"/>
          </p:cNvPicPr>
          <p:nvPr>
            <p:ph sz="quarter" idx="1"/>
          </p:nvPr>
        </p:nvPicPr>
        <p:blipFill>
          <a:blip r:embed="rId2"/>
          <a:stretch>
            <a:fillRect/>
          </a:stretch>
        </p:blipFill>
        <p:spPr>
          <a:xfrm>
            <a:off x="612775" y="1926722"/>
            <a:ext cx="8153400" cy="3842755"/>
          </a:xfrm>
          <a:prstGeom prst="rect">
            <a:avLst/>
          </a:prstGeom>
        </p:spPr>
      </p:pic>
    </p:spTree>
    <p:extLst>
      <p:ext uri="{BB962C8B-B14F-4D97-AF65-F5344CB8AC3E}">
        <p14:creationId xmlns:p14="http://schemas.microsoft.com/office/powerpoint/2010/main" val="41396936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2: A Choice-Based Conjoint Survey</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61</a:t>
            </a:fld>
            <a:endParaRPr lang="en-US"/>
          </a:p>
        </p:txBody>
      </p:sp>
      <p:pic>
        <p:nvPicPr>
          <p:cNvPr id="5" name="Content Placeholder 4"/>
          <p:cNvPicPr>
            <a:picLocks noGrp="1" noChangeAspect="1"/>
          </p:cNvPicPr>
          <p:nvPr>
            <p:ph sz="quarter" idx="1"/>
          </p:nvPr>
        </p:nvPicPr>
        <p:blipFill>
          <a:blip r:embed="rId2"/>
          <a:stretch>
            <a:fillRect/>
          </a:stretch>
        </p:blipFill>
        <p:spPr>
          <a:xfrm>
            <a:off x="612775" y="1935761"/>
            <a:ext cx="8153400" cy="3824677"/>
          </a:xfrm>
          <a:prstGeom prst="rect">
            <a:avLst/>
          </a:prstGeom>
        </p:spPr>
      </p:pic>
    </p:spTree>
    <p:extLst>
      <p:ext uri="{BB962C8B-B14F-4D97-AF65-F5344CB8AC3E}">
        <p14:creationId xmlns:p14="http://schemas.microsoft.com/office/powerpoint/2010/main" val="38190096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2: A Choice-Based Conjoint Survey</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62</a:t>
            </a:fld>
            <a:endParaRPr lang="en-US"/>
          </a:p>
        </p:txBody>
      </p:sp>
      <p:pic>
        <p:nvPicPr>
          <p:cNvPr id="5" name="Content Placeholder 4"/>
          <p:cNvPicPr>
            <a:picLocks noGrp="1" noChangeAspect="1"/>
          </p:cNvPicPr>
          <p:nvPr>
            <p:ph sz="quarter" idx="1"/>
          </p:nvPr>
        </p:nvPicPr>
        <p:blipFill>
          <a:blip r:embed="rId2"/>
          <a:stretch>
            <a:fillRect/>
          </a:stretch>
        </p:blipFill>
        <p:spPr>
          <a:xfrm>
            <a:off x="612775" y="1919549"/>
            <a:ext cx="8153400" cy="3857101"/>
          </a:xfrm>
          <a:prstGeom prst="rect">
            <a:avLst/>
          </a:prstGeom>
        </p:spPr>
      </p:pic>
    </p:spTree>
    <p:extLst>
      <p:ext uri="{BB962C8B-B14F-4D97-AF65-F5344CB8AC3E}">
        <p14:creationId xmlns:p14="http://schemas.microsoft.com/office/powerpoint/2010/main" val="37982583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2: A Choice-Based Conjoint Survey</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63</a:t>
            </a:fld>
            <a:endParaRPr lang="en-US"/>
          </a:p>
        </p:txBody>
      </p:sp>
      <p:pic>
        <p:nvPicPr>
          <p:cNvPr id="5" name="Content Placeholder 4"/>
          <p:cNvPicPr>
            <a:picLocks noGrp="1" noChangeAspect="1"/>
          </p:cNvPicPr>
          <p:nvPr>
            <p:ph sz="quarter" idx="1"/>
          </p:nvPr>
        </p:nvPicPr>
        <p:blipFill>
          <a:blip r:embed="rId2"/>
          <a:stretch>
            <a:fillRect/>
          </a:stretch>
        </p:blipFill>
        <p:spPr>
          <a:xfrm>
            <a:off x="612775" y="1935694"/>
            <a:ext cx="8153400" cy="3824811"/>
          </a:xfrm>
          <a:prstGeom prst="rect">
            <a:avLst/>
          </a:prstGeom>
        </p:spPr>
      </p:pic>
    </p:spTree>
    <p:extLst>
      <p:ext uri="{BB962C8B-B14F-4D97-AF65-F5344CB8AC3E}">
        <p14:creationId xmlns:p14="http://schemas.microsoft.com/office/powerpoint/2010/main" val="24525090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2: A Choice-Based Conjoint Survey</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64</a:t>
            </a:fld>
            <a:endParaRPr lang="en-US"/>
          </a:p>
        </p:txBody>
      </p:sp>
      <p:sp>
        <p:nvSpPr>
          <p:cNvPr id="3" name="Content Placeholder 2"/>
          <p:cNvSpPr>
            <a:spLocks noGrp="1"/>
          </p:cNvSpPr>
          <p:nvPr>
            <p:ph sz="quarter" idx="1"/>
          </p:nvPr>
        </p:nvSpPr>
        <p:spPr/>
        <p:txBody>
          <a:bodyPr>
            <a:normAutofit/>
          </a:bodyPr>
          <a:lstStyle/>
          <a:p>
            <a:r>
              <a:rPr lang="en-US" dirty="0"/>
              <a:t>There are 12 choice tasks like the one on the previous slide</a:t>
            </a:r>
          </a:p>
          <a:p>
            <a:endParaRPr lang="en-US" dirty="0"/>
          </a:p>
          <a:p>
            <a:r>
              <a:rPr lang="en-US" dirty="0"/>
              <a:t>Note: in each task the respondent always has the option to choose “I would not purchase any of these smartwatches.”</a:t>
            </a:r>
          </a:p>
          <a:p>
            <a:endParaRPr lang="en-US" dirty="0"/>
          </a:p>
          <a:p>
            <a:r>
              <a:rPr lang="en-US" dirty="0"/>
              <a:t>The data track how a respondent’s choices vary as we force her to trade-off the features of the available watches and the prices.</a:t>
            </a:r>
          </a:p>
          <a:p>
            <a:pPr marL="0" indent="0">
              <a:buNone/>
            </a:pPr>
            <a:endParaRPr lang="en-US" dirty="0"/>
          </a:p>
          <a:p>
            <a:pPr marL="0" indent="0" algn="ctr">
              <a:buNone/>
            </a:pPr>
            <a:r>
              <a:rPr lang="en-US" b="1" dirty="0"/>
              <a:t>This is how we learn about willingness-to-pay!</a:t>
            </a:r>
          </a:p>
        </p:txBody>
      </p:sp>
    </p:spTree>
    <p:extLst>
      <p:ext uri="{BB962C8B-B14F-4D97-AF65-F5344CB8AC3E}">
        <p14:creationId xmlns:p14="http://schemas.microsoft.com/office/powerpoint/2010/main" val="10180042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3: Analysis</a:t>
            </a:r>
            <a:br>
              <a:rPr lang="en-US" dirty="0"/>
            </a:br>
            <a:r>
              <a:rPr lang="en-US" sz="3200" dirty="0"/>
              <a:t>Willingness to pay</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65</a:t>
            </a:fld>
            <a:endParaRPr lang="en-US"/>
          </a:p>
        </p:txBody>
      </p:sp>
      <p:sp>
        <p:nvSpPr>
          <p:cNvPr id="3" name="Content Placeholder 2"/>
          <p:cNvSpPr>
            <a:spLocks noGrp="1"/>
          </p:cNvSpPr>
          <p:nvPr>
            <p:ph sz="quarter" idx="1"/>
          </p:nvPr>
        </p:nvSpPr>
        <p:spPr/>
        <p:txBody>
          <a:bodyPr/>
          <a:lstStyle/>
          <a:p>
            <a:r>
              <a:rPr lang="en-US" dirty="0"/>
              <a:t>I used a hierarchical Bayesian algorithm to estimate a model of demand using the choice data</a:t>
            </a:r>
          </a:p>
          <a:p>
            <a:endParaRPr lang="en-US" dirty="0"/>
          </a:p>
          <a:p>
            <a:r>
              <a:rPr lang="en-US" dirty="0"/>
              <a:t>Let’s see what the data teach us about how much consumers are willing to pay for the various product features</a:t>
            </a:r>
          </a:p>
        </p:txBody>
      </p:sp>
    </p:spTree>
    <p:extLst>
      <p:ext uri="{BB962C8B-B14F-4D97-AF65-F5344CB8AC3E}">
        <p14:creationId xmlns:p14="http://schemas.microsoft.com/office/powerpoint/2010/main" val="3287006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3: Analysis</a:t>
            </a:r>
            <a:br>
              <a:rPr lang="en-US" dirty="0"/>
            </a:br>
            <a:r>
              <a:rPr lang="en-US" sz="3200" dirty="0"/>
              <a:t>Willingness to pay for Base Watch</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66</a:t>
            </a:fld>
            <a:endParaRPr lang="en-US"/>
          </a:p>
        </p:txBody>
      </p:sp>
      <p:pic>
        <p:nvPicPr>
          <p:cNvPr id="8" name="Content Placeholder 7"/>
          <p:cNvPicPr>
            <a:picLocks noGrp="1" noChangeAspect="1"/>
          </p:cNvPicPr>
          <p:nvPr>
            <p:ph sz="quarter" idx="1"/>
          </p:nvPr>
        </p:nvPicPr>
        <p:blipFill>
          <a:blip r:embed="rId2"/>
          <a:stretch>
            <a:fillRect/>
          </a:stretch>
        </p:blipFill>
        <p:spPr>
          <a:xfrm>
            <a:off x="2837888" y="1600200"/>
            <a:ext cx="3703173" cy="4495800"/>
          </a:xfrm>
          <a:prstGeom prst="rect">
            <a:avLst/>
          </a:prstGeom>
        </p:spPr>
      </p:pic>
      <p:sp>
        <p:nvSpPr>
          <p:cNvPr id="9" name="TextBox 8"/>
          <p:cNvSpPr txBox="1"/>
          <p:nvPr/>
        </p:nvSpPr>
        <p:spPr>
          <a:xfrm>
            <a:off x="0" y="6096000"/>
            <a:ext cx="8166018" cy="307777"/>
          </a:xfrm>
          <a:prstGeom prst="rect">
            <a:avLst/>
          </a:prstGeom>
          <a:noFill/>
        </p:spPr>
        <p:txBody>
          <a:bodyPr wrap="none" rtlCol="0">
            <a:spAutoFit/>
          </a:bodyPr>
          <a:lstStyle/>
          <a:p>
            <a:pPr marL="285750" indent="-285750">
              <a:buFont typeface="Wingdings" panose="05000000000000000000" pitchFamily="2" charset="2"/>
              <a:buChar char="q"/>
            </a:pPr>
            <a:r>
              <a:rPr lang="en-US" sz="1400" dirty="0"/>
              <a:t>This is the value consumers get from the base smartwatch in the study (i.e., Samsung with 18-hour battery)</a:t>
            </a:r>
          </a:p>
        </p:txBody>
      </p:sp>
    </p:spTree>
    <p:extLst>
      <p:ext uri="{BB962C8B-B14F-4D97-AF65-F5344CB8AC3E}">
        <p14:creationId xmlns:p14="http://schemas.microsoft.com/office/powerpoint/2010/main" val="13592917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3: Analysis</a:t>
            </a:r>
            <a:br>
              <a:rPr lang="en-US" dirty="0"/>
            </a:br>
            <a:r>
              <a:rPr lang="en-US" sz="3200" dirty="0"/>
              <a:t>Incremental willingness to pay for Apple Brand</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67</a:t>
            </a:fld>
            <a:endParaRPr lang="en-US"/>
          </a:p>
        </p:txBody>
      </p:sp>
      <p:pic>
        <p:nvPicPr>
          <p:cNvPr id="9" name="Content Placeholder 8"/>
          <p:cNvPicPr>
            <a:picLocks noGrp="1" noChangeAspect="1"/>
          </p:cNvPicPr>
          <p:nvPr>
            <p:ph sz="quarter" idx="1"/>
          </p:nvPr>
        </p:nvPicPr>
        <p:blipFill>
          <a:blip r:embed="rId2"/>
          <a:stretch>
            <a:fillRect/>
          </a:stretch>
        </p:blipFill>
        <p:spPr>
          <a:xfrm>
            <a:off x="2835720" y="1600200"/>
            <a:ext cx="3707509" cy="4495800"/>
          </a:xfrm>
          <a:prstGeom prst="rect">
            <a:avLst/>
          </a:prstGeom>
        </p:spPr>
      </p:pic>
      <p:sp>
        <p:nvSpPr>
          <p:cNvPr id="10" name="TextBox 9"/>
          <p:cNvSpPr txBox="1"/>
          <p:nvPr/>
        </p:nvSpPr>
        <p:spPr>
          <a:xfrm>
            <a:off x="0" y="6096000"/>
            <a:ext cx="6602833" cy="523220"/>
          </a:xfrm>
          <a:prstGeom prst="rect">
            <a:avLst/>
          </a:prstGeom>
          <a:noFill/>
        </p:spPr>
        <p:txBody>
          <a:bodyPr wrap="none" rtlCol="0">
            <a:spAutoFit/>
          </a:bodyPr>
          <a:lstStyle/>
          <a:p>
            <a:pPr marL="285750" indent="-285750">
              <a:buFont typeface="Wingdings" panose="05000000000000000000" pitchFamily="2" charset="2"/>
              <a:buChar char="q"/>
            </a:pPr>
            <a:r>
              <a:rPr lang="en-US" sz="1400" dirty="0"/>
              <a:t>Price premium consumers are willing to pay to change brand from Samsung to Apple</a:t>
            </a:r>
          </a:p>
          <a:p>
            <a:pPr marL="285750" indent="-285750">
              <a:buFont typeface="Wingdings" panose="05000000000000000000" pitchFamily="2" charset="2"/>
              <a:buChar char="q"/>
            </a:pPr>
            <a:r>
              <a:rPr lang="en-US" sz="1400" dirty="0"/>
              <a:t>Note: Some consumers prefer Samsung!</a:t>
            </a:r>
          </a:p>
        </p:txBody>
      </p:sp>
    </p:spTree>
    <p:extLst>
      <p:ext uri="{BB962C8B-B14F-4D97-AF65-F5344CB8AC3E}">
        <p14:creationId xmlns:p14="http://schemas.microsoft.com/office/powerpoint/2010/main" val="15914019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3: Analysis</a:t>
            </a:r>
            <a:br>
              <a:rPr lang="en-US" dirty="0"/>
            </a:br>
            <a:r>
              <a:rPr lang="en-US" sz="3200" dirty="0"/>
              <a:t>Incremental willingness to pay for 3-day Battery</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68</a:t>
            </a:fld>
            <a:endParaRPr lang="en-US"/>
          </a:p>
        </p:txBody>
      </p:sp>
      <p:pic>
        <p:nvPicPr>
          <p:cNvPr id="5" name="Content Placeholder 4"/>
          <p:cNvPicPr>
            <a:picLocks noGrp="1" noChangeAspect="1"/>
          </p:cNvPicPr>
          <p:nvPr>
            <p:ph sz="quarter" idx="1"/>
          </p:nvPr>
        </p:nvPicPr>
        <p:blipFill>
          <a:blip r:embed="rId2"/>
          <a:stretch>
            <a:fillRect/>
          </a:stretch>
        </p:blipFill>
        <p:spPr>
          <a:xfrm>
            <a:off x="2824494" y="1600200"/>
            <a:ext cx="3729962" cy="4495800"/>
          </a:xfrm>
          <a:prstGeom prst="rect">
            <a:avLst/>
          </a:prstGeom>
        </p:spPr>
      </p:pic>
      <p:sp>
        <p:nvSpPr>
          <p:cNvPr id="7" name="TextBox 6"/>
          <p:cNvSpPr txBox="1"/>
          <p:nvPr/>
        </p:nvSpPr>
        <p:spPr>
          <a:xfrm>
            <a:off x="0" y="6096000"/>
            <a:ext cx="8234947" cy="307777"/>
          </a:xfrm>
          <a:prstGeom prst="rect">
            <a:avLst/>
          </a:prstGeom>
          <a:noFill/>
        </p:spPr>
        <p:txBody>
          <a:bodyPr wrap="none" rtlCol="0">
            <a:spAutoFit/>
          </a:bodyPr>
          <a:lstStyle/>
          <a:p>
            <a:pPr marL="285750" indent="-285750">
              <a:buFont typeface="Wingdings" panose="05000000000000000000" pitchFamily="2" charset="2"/>
              <a:buChar char="q"/>
            </a:pPr>
            <a:r>
              <a:rPr lang="en-US" sz="1400" dirty="0"/>
              <a:t>Price premium consumers are willing to pay to change upgrade battery from 18 hours (base value) to 3 days</a:t>
            </a:r>
          </a:p>
        </p:txBody>
      </p:sp>
    </p:spTree>
    <p:extLst>
      <p:ext uri="{BB962C8B-B14F-4D97-AF65-F5344CB8AC3E}">
        <p14:creationId xmlns:p14="http://schemas.microsoft.com/office/powerpoint/2010/main" val="37976630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p:cNvSpPr/>
          <p:nvPr/>
        </p:nvSpPr>
        <p:spPr>
          <a:xfrm>
            <a:off x="3352800" y="1558178"/>
            <a:ext cx="4422648" cy="746816"/>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600200"/>
                <a:ext cx="8153400" cy="759902"/>
              </a:xfrm>
            </p:spPr>
            <p:txBody>
              <a:bodyPr/>
              <a:lstStyle/>
              <a:p>
                <a:pPr marL="0" indent="0">
                  <a:buNone/>
                </a:pPr>
                <a:r>
                  <a:rPr lang="en-US" dirty="0"/>
                  <a:t>Set </a:t>
                </a:r>
                <a14:m>
                  <m:oMath xmlns:m="http://schemas.openxmlformats.org/officeDocument/2006/math">
                    <m:r>
                      <a:rPr lang="en-US" i="1">
                        <a:latin typeface="Cambria Math" panose="02040503050406030204" pitchFamily="18" charset="0"/>
                      </a:rPr>
                      <m:t>𝑝</m:t>
                    </m:r>
                  </m:oMath>
                </a14:m>
                <a:r>
                  <a:rPr lang="en-US" dirty="0"/>
                  <a:t> to maximize:	        </a:t>
                </a:r>
                <a14:m>
                  <m:oMath xmlns:m="http://schemas.openxmlformats.org/officeDocument/2006/math">
                    <m:d>
                      <m:dPr>
                        <m:ctrlPr>
                          <a:rPr lang="en-US" i="1">
                            <a:latin typeface="Cambria Math" panose="02040503050406030204" pitchFamily="18" charset="0"/>
                          </a:rPr>
                        </m:ctrlPr>
                      </m:dPr>
                      <m:e>
                        <m:r>
                          <a:rPr lang="en-US" b="0" i="1" smtClean="0">
                            <a:latin typeface="Cambria Math" panose="02040503050406030204" pitchFamily="18" charset="0"/>
                          </a:rPr>
                          <m:t>𝑝</m:t>
                        </m:r>
                        <m:r>
                          <a:rPr lang="en-US" i="1">
                            <a:latin typeface="Cambria Math"/>
                          </a:rPr>
                          <m:t>−</m:t>
                        </m:r>
                        <m:r>
                          <a:rPr lang="en-US" b="0" i="1" smtClean="0">
                            <a:solidFill>
                              <a:srgbClr val="00B050"/>
                            </a:solidFill>
                            <a:latin typeface="Cambria Math" panose="02040503050406030204" pitchFamily="18" charset="0"/>
                          </a:rPr>
                          <m:t>136</m:t>
                        </m:r>
                      </m:e>
                    </m:d>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𝑄</m:t>
                        </m:r>
                        <m:d>
                          <m:dPr>
                            <m:ctrlPr>
                              <a:rPr lang="en-US" i="1">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𝑝</m:t>
                            </m:r>
                          </m:e>
                        </m:d>
                      </m:e>
                    </m:acc>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600200"/>
                <a:ext cx="8153400" cy="759902"/>
              </a:xfrm>
              <a:blipFill>
                <a:blip r:embed="rId2"/>
                <a:stretch>
                  <a:fillRect l="-1197" t="-161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276F96D9-8525-4139-BFB1-EF38FC0A35D4}" type="slidenum">
              <a:rPr lang="en-US" smtClean="0"/>
              <a:pPr>
                <a:defRPr/>
              </a:pPr>
              <a:t>69</a:t>
            </a:fld>
            <a:endParaRPr lang="en-US"/>
          </a:p>
        </p:txBody>
      </p:sp>
      <p:sp>
        <p:nvSpPr>
          <p:cNvPr id="8" name="Rectangle 7"/>
          <p:cNvSpPr/>
          <p:nvPr/>
        </p:nvSpPr>
        <p:spPr>
          <a:xfrm>
            <a:off x="4184628" y="4597460"/>
            <a:ext cx="2317943" cy="369332"/>
          </a:xfrm>
          <a:prstGeom prst="rect">
            <a:avLst/>
          </a:prstGeom>
        </p:spPr>
        <p:txBody>
          <a:bodyPr wrap="none">
            <a:spAutoFit/>
          </a:bodyPr>
          <a:lstStyle/>
          <a:p>
            <a:pPr marL="0" indent="0" algn="ctr">
              <a:buNone/>
            </a:pPr>
            <a:r>
              <a:rPr lang="en-US" sz="1800" b="1" dirty="0">
                <a:solidFill>
                  <a:srgbClr val="00B050"/>
                </a:solidFill>
              </a:rPr>
              <a:t>Total unit cost is $136</a:t>
            </a:r>
          </a:p>
        </p:txBody>
      </p:sp>
      <p:sp>
        <p:nvSpPr>
          <p:cNvPr id="9" name="Right Brace 8"/>
          <p:cNvSpPr/>
          <p:nvPr/>
        </p:nvSpPr>
        <p:spPr>
          <a:xfrm>
            <a:off x="3611133" y="2971800"/>
            <a:ext cx="609600" cy="3581400"/>
          </a:xfrm>
          <a:prstGeom prst="rightBrace">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304800" y="6553200"/>
            <a:ext cx="8153400" cy="261610"/>
          </a:xfrm>
          <a:prstGeom prst="rect">
            <a:avLst/>
          </a:prstGeom>
          <a:noFill/>
        </p:spPr>
        <p:txBody>
          <a:bodyPr wrap="square" rtlCol="0">
            <a:spAutoFit/>
          </a:bodyPr>
          <a:lstStyle/>
          <a:p>
            <a:r>
              <a:rPr lang="en-US" sz="1100" dirty="0"/>
              <a:t>Source: </a:t>
            </a:r>
            <a:r>
              <a:rPr lang="en-US" sz="1100" dirty="0">
                <a:hlinkClick r:id="rId3"/>
              </a:rPr>
              <a:t>Apple Watch Series 6 Costs a Measly $136 to Make, With the </a:t>
            </a:r>
            <a:r>
              <a:rPr lang="en-US" sz="1100" dirty="0" err="1">
                <a:hlinkClick r:id="rId3"/>
              </a:rPr>
              <a:t>SoC</a:t>
            </a:r>
            <a:r>
              <a:rPr lang="en-US" sz="1100" dirty="0">
                <a:hlinkClick r:id="rId3"/>
              </a:rPr>
              <a:t>, Memory, Taking up the Majority of the Bill</a:t>
            </a:r>
            <a:endParaRPr lang="en-US" sz="1100" dirty="0"/>
          </a:p>
        </p:txBody>
      </p:sp>
      <p:sp>
        <p:nvSpPr>
          <p:cNvPr id="2" name="TextBox 1"/>
          <p:cNvSpPr txBox="1"/>
          <p:nvPr/>
        </p:nvSpPr>
        <p:spPr>
          <a:xfrm>
            <a:off x="5334457" y="2599316"/>
            <a:ext cx="1438214" cy="307777"/>
          </a:xfrm>
          <a:prstGeom prst="rect">
            <a:avLst/>
          </a:prstGeom>
          <a:noFill/>
        </p:spPr>
        <p:txBody>
          <a:bodyPr wrap="none" rtlCol="0">
            <a:spAutoFit/>
          </a:bodyPr>
          <a:lstStyle/>
          <a:p>
            <a:r>
              <a:rPr lang="en-US" sz="1400" dirty="0">
                <a:solidFill>
                  <a:srgbClr val="FF0000"/>
                </a:solidFill>
              </a:rPr>
              <a:t>Demand estimate</a:t>
            </a:r>
          </a:p>
        </p:txBody>
      </p:sp>
      <p:cxnSp>
        <p:nvCxnSpPr>
          <p:cNvPr id="12" name="Straight Arrow Connector 11"/>
          <p:cNvCxnSpPr/>
          <p:nvPr/>
        </p:nvCxnSpPr>
        <p:spPr>
          <a:xfrm flipH="1" flipV="1">
            <a:off x="5748764" y="2204351"/>
            <a:ext cx="153924" cy="43444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Left Brace 15"/>
          <p:cNvSpPr/>
          <p:nvPr/>
        </p:nvSpPr>
        <p:spPr>
          <a:xfrm rot="16200000">
            <a:off x="5691614" y="1793692"/>
            <a:ext cx="114300" cy="60960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Left Brace 18"/>
          <p:cNvSpPr/>
          <p:nvPr/>
        </p:nvSpPr>
        <p:spPr>
          <a:xfrm rot="16200000">
            <a:off x="4991892" y="1740982"/>
            <a:ext cx="114300" cy="688848"/>
          </a:xfrm>
          <a:prstGeom prst="leftBrace">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0" name="Straight Arrow Connector 19"/>
          <p:cNvCxnSpPr/>
          <p:nvPr/>
        </p:nvCxnSpPr>
        <p:spPr>
          <a:xfrm flipH="1" flipV="1">
            <a:off x="5088666" y="2204351"/>
            <a:ext cx="230124" cy="2368755"/>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04800" y="2360102"/>
            <a:ext cx="936475" cy="461665"/>
          </a:xfrm>
          <a:prstGeom prst="rect">
            <a:avLst/>
          </a:prstGeom>
        </p:spPr>
        <p:txBody>
          <a:bodyPr wrap="none">
            <a:spAutoFit/>
          </a:bodyPr>
          <a:lstStyle/>
          <a:p>
            <a:pPr marL="0" indent="0">
              <a:buNone/>
            </a:pPr>
            <a:r>
              <a:rPr lang="en-US" dirty="0"/>
              <a:t>where</a:t>
            </a:r>
          </a:p>
        </p:txBody>
      </p:sp>
      <p:pic>
        <p:nvPicPr>
          <p:cNvPr id="13" name="Picture 12"/>
          <p:cNvPicPr>
            <a:picLocks noChangeAspect="1"/>
          </p:cNvPicPr>
          <p:nvPr/>
        </p:nvPicPr>
        <p:blipFill>
          <a:blip r:embed="rId4"/>
          <a:stretch>
            <a:fillRect/>
          </a:stretch>
        </p:blipFill>
        <p:spPr>
          <a:xfrm>
            <a:off x="206184" y="3284995"/>
            <a:ext cx="3530458" cy="2882667"/>
          </a:xfrm>
          <a:prstGeom prst="rect">
            <a:avLst/>
          </a:prstGeom>
        </p:spPr>
      </p:pic>
      <p:sp>
        <p:nvSpPr>
          <p:cNvPr id="17" name="Title 1"/>
          <p:cNvSpPr>
            <a:spLocks noGrp="1"/>
          </p:cNvSpPr>
          <p:nvPr>
            <p:ph type="title"/>
          </p:nvPr>
        </p:nvSpPr>
        <p:spPr>
          <a:xfrm>
            <a:off x="612648" y="228600"/>
            <a:ext cx="8302752" cy="990600"/>
          </a:xfrm>
        </p:spPr>
        <p:txBody>
          <a:bodyPr>
            <a:noAutofit/>
          </a:bodyPr>
          <a:lstStyle/>
          <a:p>
            <a:r>
              <a:rPr lang="en-US" dirty="0"/>
              <a:t>Step 3: Analysis</a:t>
            </a:r>
            <a:br>
              <a:rPr lang="en-US" dirty="0"/>
            </a:br>
            <a:r>
              <a:rPr lang="en-US" sz="3200" dirty="0"/>
              <a:t>Demand &amp; Monetization</a:t>
            </a:r>
            <a:endParaRPr lang="en-US" dirty="0"/>
          </a:p>
        </p:txBody>
      </p:sp>
    </p:spTree>
    <p:extLst>
      <p:ext uri="{BB962C8B-B14F-4D97-AF65-F5344CB8AC3E}">
        <p14:creationId xmlns:p14="http://schemas.microsoft.com/office/powerpoint/2010/main" val="42311494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3: Analysis</a:t>
            </a:r>
            <a:br>
              <a:rPr lang="en-US" dirty="0"/>
            </a:br>
            <a:r>
              <a:rPr lang="en-US" sz="3200" dirty="0"/>
              <a:t>Demand &amp; Monetization</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70</a:t>
            </a:fld>
            <a:endParaRPr lang="en-US"/>
          </a:p>
        </p:txBody>
      </p:sp>
      <p:sp>
        <p:nvSpPr>
          <p:cNvPr id="3" name="Content Placeholder 2"/>
          <p:cNvSpPr>
            <a:spLocks noGrp="1"/>
          </p:cNvSpPr>
          <p:nvPr>
            <p:ph sz="quarter" idx="1"/>
          </p:nvPr>
        </p:nvSpPr>
        <p:spPr/>
        <p:txBody>
          <a:bodyPr/>
          <a:lstStyle/>
          <a:p>
            <a:endParaRPr lang="en-US" dirty="0"/>
          </a:p>
          <a:p>
            <a:r>
              <a:rPr lang="en-US" dirty="0"/>
              <a:t>Now let’s look at demand for the specific Apple model the client wants to launch given the competitors actually in the market</a:t>
            </a:r>
          </a:p>
        </p:txBody>
      </p:sp>
      <p:graphicFrame>
        <p:nvGraphicFramePr>
          <p:cNvPr id="5" name="Table 4"/>
          <p:cNvGraphicFramePr>
            <a:graphicFrameLocks noGrp="1"/>
          </p:cNvGraphicFramePr>
          <p:nvPr>
            <p:extLst>
              <p:ext uri="{D42A27DB-BD31-4B8C-83A1-F6EECF244321}">
                <p14:modId xmlns:p14="http://schemas.microsoft.com/office/powerpoint/2010/main" val="2353794976"/>
              </p:ext>
            </p:extLst>
          </p:nvPr>
        </p:nvGraphicFramePr>
        <p:xfrm>
          <a:off x="1457791" y="3276600"/>
          <a:ext cx="6612466" cy="2971800"/>
        </p:xfrm>
        <a:graphic>
          <a:graphicData uri="http://schemas.openxmlformats.org/drawingml/2006/table">
            <a:tbl>
              <a:tblPr firstRow="1" bandRow="1">
                <a:tableStyleId>{5C22544A-7EE6-4342-B048-85BDC9FD1C3A}</a:tableStyleId>
              </a:tblPr>
              <a:tblGrid>
                <a:gridCol w="2497666">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2133600">
                  <a:extLst>
                    <a:ext uri="{9D8B030D-6E8A-4147-A177-3AD203B41FA5}">
                      <a16:colId xmlns:a16="http://schemas.microsoft.com/office/drawing/2014/main" val="3600294209"/>
                    </a:ext>
                  </a:extLst>
                </a:gridCol>
              </a:tblGrid>
              <a:tr h="371115">
                <a:tc>
                  <a:txBody>
                    <a:bodyPr/>
                    <a:lstStyle/>
                    <a:p>
                      <a:pPr algn="ctr"/>
                      <a:r>
                        <a:rPr lang="en-US" dirty="0"/>
                        <a:t>Apple</a:t>
                      </a:r>
                    </a:p>
                  </a:txBody>
                  <a:tcPr/>
                </a:tc>
                <a:tc>
                  <a:txBody>
                    <a:bodyPr/>
                    <a:lstStyle/>
                    <a:p>
                      <a:pPr algn="ctr">
                        <a:spcBef>
                          <a:spcPts val="600"/>
                        </a:spcBef>
                      </a:pPr>
                      <a:r>
                        <a:rPr lang="en-US" dirty="0"/>
                        <a:t>Samsung</a:t>
                      </a:r>
                    </a:p>
                    <a:p>
                      <a:pPr marL="0" marR="0" lvl="1" indent="0" algn="ctr" defTabSz="914400" rtl="0" eaLnBrk="1" fontAlgn="auto" latinLnBrk="0" hangingPunct="1">
                        <a:lnSpc>
                          <a:spcPct val="100000"/>
                        </a:lnSpc>
                        <a:spcBef>
                          <a:spcPts val="600"/>
                        </a:spcBef>
                        <a:spcAft>
                          <a:spcPts val="0"/>
                        </a:spcAft>
                        <a:buClrTx/>
                        <a:buSzTx/>
                        <a:buFontTx/>
                        <a:buNone/>
                        <a:tabLst/>
                        <a:defRPr/>
                      </a:pPr>
                      <a:r>
                        <a:rPr lang="en-US" dirty="0">
                          <a:solidFill>
                            <a:srgbClr val="FF0000"/>
                          </a:solidFill>
                        </a:rPr>
                        <a:t>Price = $230</a:t>
                      </a:r>
                    </a:p>
                  </a:txBody>
                  <a:tcPr/>
                </a:tc>
                <a:tc>
                  <a:txBody>
                    <a:bodyPr/>
                    <a:lstStyle/>
                    <a:p>
                      <a:pPr algn="ctr">
                        <a:spcBef>
                          <a:spcPts val="600"/>
                        </a:spcBef>
                      </a:pPr>
                      <a:r>
                        <a:rPr lang="en-US" dirty="0"/>
                        <a:t>Fitbit</a:t>
                      </a:r>
                    </a:p>
                    <a:p>
                      <a:pPr marL="0" marR="0" lvl="1" indent="0" algn="ctr" defTabSz="914400" rtl="0" eaLnBrk="1" fontAlgn="auto" latinLnBrk="0" hangingPunct="1">
                        <a:lnSpc>
                          <a:spcPct val="100000"/>
                        </a:lnSpc>
                        <a:spcBef>
                          <a:spcPts val="600"/>
                        </a:spcBef>
                        <a:spcAft>
                          <a:spcPts val="0"/>
                        </a:spcAft>
                        <a:buClrTx/>
                        <a:buSzTx/>
                        <a:buFontTx/>
                        <a:buNone/>
                        <a:tabLst/>
                        <a:defRPr/>
                      </a:pPr>
                      <a:r>
                        <a:rPr lang="en-US" dirty="0">
                          <a:solidFill>
                            <a:srgbClr val="FF0000"/>
                          </a:solidFill>
                        </a:rPr>
                        <a:t>Price = $260</a:t>
                      </a:r>
                    </a:p>
                  </a:txBody>
                  <a:tcPr/>
                </a:tc>
                <a:extLst>
                  <a:ext uri="{0D108BD9-81ED-4DB2-BD59-A6C34878D82A}">
                    <a16:rowId xmlns:a16="http://schemas.microsoft.com/office/drawing/2014/main" val="10000"/>
                  </a:ext>
                </a:extLst>
              </a:tr>
              <a:tr h="426720">
                <a:tc>
                  <a:txBody>
                    <a:bodyPr/>
                    <a:lstStyle/>
                    <a:p>
                      <a:pPr lvl="1" algn="ctr">
                        <a:spcBef>
                          <a:spcPts val="600"/>
                        </a:spcBef>
                        <a:spcAft>
                          <a:spcPts val="600"/>
                        </a:spcAft>
                      </a:pPr>
                      <a:r>
                        <a:rPr lang="en-US" dirty="0"/>
                        <a:t>18 hour battery</a:t>
                      </a:r>
                    </a:p>
                  </a:txBody>
                  <a:tcPr anchor="ctr"/>
                </a:tc>
                <a:tc>
                  <a:txBody>
                    <a:bodyPr/>
                    <a:lstStyle/>
                    <a:p>
                      <a:pPr lvl="1" algn="ctr">
                        <a:spcBef>
                          <a:spcPts val="1200"/>
                        </a:spcBef>
                        <a:spcAft>
                          <a:spcPts val="600"/>
                        </a:spcAft>
                      </a:pPr>
                      <a:r>
                        <a:rPr lang="en-US" dirty="0"/>
                        <a:t>1-day battery</a:t>
                      </a:r>
                    </a:p>
                  </a:txBody>
                  <a:tcPr anchor="ctr"/>
                </a:tc>
                <a:tc>
                  <a:txBody>
                    <a:bodyPr/>
                    <a:lstStyle/>
                    <a:p>
                      <a:pPr lvl="1" algn="ctr">
                        <a:spcBef>
                          <a:spcPts val="1200"/>
                        </a:spcBef>
                        <a:spcAft>
                          <a:spcPts val="600"/>
                        </a:spcAft>
                      </a:pPr>
                      <a:r>
                        <a:rPr lang="en-US" dirty="0"/>
                        <a:t>5-day battery</a:t>
                      </a:r>
                    </a:p>
                  </a:txBody>
                  <a:tcPr anchor="ctr"/>
                </a:tc>
                <a:extLst>
                  <a:ext uri="{0D108BD9-81ED-4DB2-BD59-A6C34878D82A}">
                    <a16:rowId xmlns:a16="http://schemas.microsoft.com/office/drawing/2014/main" val="10001"/>
                  </a:ext>
                </a:extLst>
              </a:tr>
              <a:tr h="457200">
                <a:tc>
                  <a:txBody>
                    <a:bodyPr/>
                    <a:lstStyle/>
                    <a:p>
                      <a:pPr lvl="1" algn="ctr">
                        <a:spcBef>
                          <a:spcPts val="600"/>
                        </a:spcBef>
                        <a:spcAft>
                          <a:spcPts val="600"/>
                        </a:spcAft>
                      </a:pPr>
                      <a:r>
                        <a:rPr lang="en-US" dirty="0"/>
                        <a:t>Cellular Service</a:t>
                      </a:r>
                    </a:p>
                  </a:txBody>
                  <a:tcPr anchor="ctr"/>
                </a:tc>
                <a:tc>
                  <a:txBody>
                    <a:bodyPr/>
                    <a:lstStyle/>
                    <a:p>
                      <a:pPr algn="ctr"/>
                      <a:r>
                        <a:rPr lang="en-US" dirty="0"/>
                        <a:t>Cellular Service</a:t>
                      </a:r>
                    </a:p>
                  </a:txBody>
                  <a:tcPr/>
                </a:tc>
                <a:tc>
                  <a:txBody>
                    <a:bodyPr/>
                    <a:lstStyle/>
                    <a:p>
                      <a:pPr algn="ctr"/>
                      <a:r>
                        <a:rPr lang="en-US" dirty="0"/>
                        <a:t>Cellular Service</a:t>
                      </a:r>
                    </a:p>
                  </a:txBody>
                  <a:tcPr/>
                </a:tc>
                <a:extLst>
                  <a:ext uri="{0D108BD9-81ED-4DB2-BD59-A6C34878D82A}">
                    <a16:rowId xmlns:a16="http://schemas.microsoft.com/office/drawing/2014/main" val="10002"/>
                  </a:ext>
                </a:extLst>
              </a:tr>
              <a:tr h="457200">
                <a:tc>
                  <a:txBody>
                    <a:bodyPr/>
                    <a:lstStyle/>
                    <a:p>
                      <a:pPr lvl="1" algn="ctr">
                        <a:spcBef>
                          <a:spcPts val="600"/>
                        </a:spcBef>
                        <a:spcAft>
                          <a:spcPts val="600"/>
                        </a:spcAft>
                      </a:pPr>
                      <a:r>
                        <a:rPr lang="en-US" dirty="0"/>
                        <a:t>Always-on</a:t>
                      </a:r>
                    </a:p>
                  </a:txBody>
                  <a:tcPr anchor="ctr"/>
                </a:tc>
                <a:tc>
                  <a:txBody>
                    <a:bodyPr/>
                    <a:lstStyle/>
                    <a:p>
                      <a:pPr algn="ctr"/>
                      <a:r>
                        <a:rPr lang="en-US" dirty="0"/>
                        <a:t>Always-on</a:t>
                      </a:r>
                    </a:p>
                  </a:txBody>
                  <a:tcPr/>
                </a:tc>
                <a:tc>
                  <a:txBody>
                    <a:bodyPr/>
                    <a:lstStyle/>
                    <a:p>
                      <a:pPr algn="ctr"/>
                      <a:r>
                        <a:rPr lang="en-US" dirty="0"/>
                        <a:t>Always-on</a:t>
                      </a:r>
                    </a:p>
                  </a:txBody>
                  <a:tcPr/>
                </a:tc>
                <a:extLst>
                  <a:ext uri="{0D108BD9-81ED-4DB2-BD59-A6C34878D82A}">
                    <a16:rowId xmlns:a16="http://schemas.microsoft.com/office/drawing/2014/main" val="10003"/>
                  </a:ext>
                </a:extLst>
              </a:tr>
              <a:tr h="457200">
                <a:tc>
                  <a:txBody>
                    <a:bodyPr/>
                    <a:lstStyle/>
                    <a:p>
                      <a:pPr lvl="1" algn="ctr">
                        <a:spcBef>
                          <a:spcPts val="600"/>
                        </a:spcBef>
                        <a:spcAft>
                          <a:spcPts val="600"/>
                        </a:spcAft>
                      </a:pPr>
                      <a:r>
                        <a:rPr lang="en-US" dirty="0"/>
                        <a:t>Temperature Sensor</a:t>
                      </a:r>
                    </a:p>
                  </a:txBody>
                  <a:tcPr anchor="ctr"/>
                </a:tc>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Temperature</a:t>
                      </a:r>
                      <a:r>
                        <a:rPr lang="en-US" baseline="0" dirty="0"/>
                        <a:t> Sensor</a:t>
                      </a:r>
                      <a:endParaRPr lang="en-US" dirty="0"/>
                    </a:p>
                  </a:txBody>
                  <a:tcPr/>
                </a:tc>
                <a:extLst>
                  <a:ext uri="{0D108BD9-81ED-4DB2-BD59-A6C34878D82A}">
                    <a16:rowId xmlns:a16="http://schemas.microsoft.com/office/drawing/2014/main" val="10004"/>
                  </a:ext>
                </a:extLst>
              </a:tr>
              <a:tr h="457200">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US" dirty="0"/>
                        <a:t>Car Crash Detection</a:t>
                      </a:r>
                    </a:p>
                  </a:txBody>
                  <a:tcPr anchor="ct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171487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3: Analysis</a:t>
            </a:r>
            <a:br>
              <a:rPr lang="en-US" dirty="0"/>
            </a:br>
            <a:r>
              <a:rPr lang="en-US" sz="3200" dirty="0"/>
              <a:t>Demand</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71</a:t>
            </a:fld>
            <a:endParaRPr lang="en-US"/>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4424" y="1572556"/>
            <a:ext cx="4062976" cy="4799954"/>
          </a:xfrm>
          <a:prstGeom prst="rect">
            <a:avLst/>
          </a:prstGeom>
        </p:spPr>
      </p:pic>
      <p:sp>
        <p:nvSpPr>
          <p:cNvPr id="10" name="Left Brace 9"/>
          <p:cNvSpPr/>
          <p:nvPr/>
        </p:nvSpPr>
        <p:spPr>
          <a:xfrm>
            <a:off x="1371600" y="1905000"/>
            <a:ext cx="304800" cy="36576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304801" y="3200400"/>
            <a:ext cx="938774" cy="1200329"/>
          </a:xfrm>
          <a:prstGeom prst="rect">
            <a:avLst/>
          </a:prstGeom>
          <a:noFill/>
        </p:spPr>
        <p:txBody>
          <a:bodyPr wrap="square" rtlCol="0">
            <a:spAutoFit/>
          </a:bodyPr>
          <a:lstStyle/>
          <a:p>
            <a:pPr algn="ctr"/>
            <a:r>
              <a:rPr lang="en-US" sz="1200" dirty="0">
                <a:solidFill>
                  <a:schemeClr val="accent1">
                    <a:lumMod val="50000"/>
                  </a:schemeClr>
                </a:solidFill>
              </a:rPr>
              <a:t>Demand based on availability of Fitbit and Samsung watches</a:t>
            </a:r>
          </a:p>
        </p:txBody>
      </p:sp>
    </p:spTree>
    <p:extLst>
      <p:ext uri="{BB962C8B-B14F-4D97-AF65-F5344CB8AC3E}">
        <p14:creationId xmlns:p14="http://schemas.microsoft.com/office/powerpoint/2010/main" val="3576162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3: Analysis</a:t>
            </a:r>
            <a:br>
              <a:rPr lang="en-US" dirty="0"/>
            </a:br>
            <a:r>
              <a:rPr lang="en-US" sz="3200" dirty="0"/>
              <a:t>Profit &amp; Optimal Pricing</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72</a:t>
            </a:fld>
            <a:endParaRPr lang="en-US"/>
          </a:p>
        </p:txBody>
      </p:sp>
      <p:sp>
        <p:nvSpPr>
          <p:cNvPr id="3" name="Content Placeholder 2"/>
          <p:cNvSpPr>
            <a:spLocks noGrp="1"/>
          </p:cNvSpPr>
          <p:nvPr>
            <p:ph sz="quarter" idx="1"/>
          </p:nvPr>
        </p:nvSpPr>
        <p:spPr/>
        <p:txBody>
          <a:bodyPr/>
          <a:lstStyle/>
          <a:p>
            <a:endParaRPr lang="en-US" dirty="0"/>
          </a:p>
        </p:txBody>
      </p:sp>
    </p:spTree>
    <p:extLst>
      <p:ext uri="{BB962C8B-B14F-4D97-AF65-F5344CB8AC3E}">
        <p14:creationId xmlns:p14="http://schemas.microsoft.com/office/powerpoint/2010/main" val="9628347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1964257" y="1600200"/>
            <a:ext cx="5450435" cy="4495800"/>
          </a:xfrm>
        </p:spPr>
      </p:pic>
      <p:sp>
        <p:nvSpPr>
          <p:cNvPr id="2" name="Title 1"/>
          <p:cNvSpPr>
            <a:spLocks noGrp="1"/>
          </p:cNvSpPr>
          <p:nvPr>
            <p:ph type="title"/>
          </p:nvPr>
        </p:nvSpPr>
        <p:spPr/>
        <p:txBody>
          <a:bodyPr>
            <a:normAutofit fontScale="90000"/>
          </a:bodyPr>
          <a:lstStyle/>
          <a:p>
            <a:r>
              <a:rPr lang="en-US" sz="4400" dirty="0"/>
              <a:t>Inflation &amp; variable cost pass-through</a:t>
            </a:r>
            <a:br>
              <a:rPr lang="en-US" sz="4400" dirty="0"/>
            </a:br>
            <a:r>
              <a:rPr lang="en-US" sz="3600" dirty="0"/>
              <a:t>Recall Apple Smartwatch conjoint</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73</a:t>
            </a:fld>
            <a:endParaRPr lang="en-US"/>
          </a:p>
        </p:txBody>
      </p:sp>
      <p:sp>
        <p:nvSpPr>
          <p:cNvPr id="9" name="TextBox 8"/>
          <p:cNvSpPr txBox="1"/>
          <p:nvPr/>
        </p:nvSpPr>
        <p:spPr>
          <a:xfrm>
            <a:off x="33867" y="2699394"/>
            <a:ext cx="2253630" cy="830997"/>
          </a:xfrm>
          <a:prstGeom prst="rect">
            <a:avLst/>
          </a:prstGeom>
          <a:noFill/>
        </p:spPr>
        <p:txBody>
          <a:bodyPr wrap="none" rtlCol="0">
            <a:spAutoFit/>
          </a:bodyPr>
          <a:lstStyle/>
          <a:p>
            <a:r>
              <a:rPr lang="en-US" sz="1600" dirty="0">
                <a:solidFill>
                  <a:srgbClr val="0066FF"/>
                </a:solidFill>
              </a:rPr>
              <a:t>Marginal cost: $136</a:t>
            </a:r>
          </a:p>
          <a:p>
            <a:endParaRPr lang="en-US" sz="1600" dirty="0">
              <a:solidFill>
                <a:srgbClr val="0066FF"/>
              </a:solidFill>
            </a:endParaRPr>
          </a:p>
          <a:p>
            <a:r>
              <a:rPr lang="en-US" sz="1600" dirty="0">
                <a:solidFill>
                  <a:schemeClr val="bg1"/>
                </a:solidFill>
              </a:rPr>
              <a:t>New marginal cost: $163</a:t>
            </a:r>
          </a:p>
        </p:txBody>
      </p:sp>
    </p:spTree>
    <p:extLst>
      <p:ext uri="{BB962C8B-B14F-4D97-AF65-F5344CB8AC3E}">
        <p14:creationId xmlns:p14="http://schemas.microsoft.com/office/powerpoint/2010/main" val="2700026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 Cost pass-through</a:t>
            </a:r>
          </a:p>
        </p:txBody>
      </p:sp>
      <p:sp>
        <p:nvSpPr>
          <p:cNvPr id="3" name="Content Placeholder 2"/>
          <p:cNvSpPr>
            <a:spLocks noGrp="1"/>
          </p:cNvSpPr>
          <p:nvPr>
            <p:ph sz="quarter" idx="1"/>
          </p:nvPr>
        </p:nvSpPr>
        <p:spPr/>
        <p:txBody>
          <a:bodyPr/>
          <a:lstStyle/>
          <a:p>
            <a:r>
              <a:rPr lang="en-US" dirty="0"/>
              <a:t>Suppose silicon chip price inflation since 2020 has driven </a:t>
            </a:r>
            <a:r>
              <a:rPr lang="en-US" dirty="0" err="1"/>
              <a:t>everyone’cost</a:t>
            </a:r>
            <a:r>
              <a:rPr lang="en-US" dirty="0"/>
              <a:t> up 20% to </a:t>
            </a:r>
            <a:r>
              <a:rPr lang="en-US" b="1" u="sng" dirty="0">
                <a:effectLst>
                  <a:outerShdw blurRad="38100" dist="38100" dir="2700000" algn="tl">
                    <a:srgbClr val="000000">
                      <a:alpha val="43137"/>
                    </a:srgbClr>
                  </a:outerShdw>
                </a:effectLst>
              </a:rPr>
              <a:t>$163</a:t>
            </a:r>
          </a:p>
          <a:p>
            <a:pPr marL="0" indent="0">
              <a:buNone/>
            </a:pPr>
            <a:r>
              <a:rPr lang="en-US" sz="1600" dirty="0"/>
              <a:t>e.g., “A scarcity of chips feeds frustration, inflation,” by </a:t>
            </a:r>
            <a:r>
              <a:rPr lang="en-US" sz="1400" dirty="0"/>
              <a:t>Michael </a:t>
            </a:r>
            <a:r>
              <a:rPr lang="en-US" sz="1400" dirty="0" err="1"/>
              <a:t>Liedtke</a:t>
            </a:r>
            <a:r>
              <a:rPr lang="en-US" sz="1400" dirty="0"/>
              <a:t> &amp; Matt </a:t>
            </a:r>
            <a:r>
              <a:rPr lang="en-US" sz="1400" dirty="0" err="1"/>
              <a:t>O'brien</a:t>
            </a:r>
            <a:r>
              <a:rPr lang="en-US" sz="1400" dirty="0"/>
              <a:t>, </a:t>
            </a:r>
            <a:r>
              <a:rPr lang="en-US" sz="1600" i="1" dirty="0"/>
              <a:t>AP News</a:t>
            </a:r>
            <a:endParaRPr lang="en-US" sz="1600" dirty="0"/>
          </a:p>
          <a:p>
            <a:endParaRPr lang="en-US" dirty="0"/>
          </a:p>
          <a:p>
            <a:r>
              <a:rPr lang="en-US" dirty="0"/>
              <a:t>Suppose Samsung and Fitbit pass through all the cost inflation.</a:t>
            </a:r>
          </a:p>
          <a:p>
            <a:endParaRPr lang="en-US" dirty="0">
              <a:solidFill>
                <a:schemeClr val="accent5">
                  <a:lumMod val="75000"/>
                </a:schemeClr>
              </a:solidFill>
            </a:endParaRPr>
          </a:p>
          <a:p>
            <a:pPr marL="366713" lvl="1" indent="0">
              <a:buNone/>
            </a:pPr>
            <a:r>
              <a:rPr lang="en-US" dirty="0"/>
              <a:t>	This will shift Apple demand out!</a:t>
            </a:r>
          </a:p>
          <a:p>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74</a:t>
            </a:fld>
            <a:endParaRPr lang="en-US"/>
          </a:p>
        </p:txBody>
      </p:sp>
      <p:sp>
        <p:nvSpPr>
          <p:cNvPr id="5" name="Right Arrow 4"/>
          <p:cNvSpPr/>
          <p:nvPr/>
        </p:nvSpPr>
        <p:spPr>
          <a:xfrm>
            <a:off x="914400" y="3962400"/>
            <a:ext cx="609600" cy="762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6284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02752" cy="990600"/>
          </a:xfrm>
        </p:spPr>
        <p:txBody>
          <a:bodyPr>
            <a:noAutofit/>
          </a:bodyPr>
          <a:lstStyle/>
          <a:p>
            <a:r>
              <a:rPr lang="en-US" dirty="0"/>
              <a:t>Step 3: Analysis</a:t>
            </a:r>
            <a:br>
              <a:rPr lang="en-US" dirty="0"/>
            </a:br>
            <a:r>
              <a:rPr lang="en-US" sz="3200" dirty="0"/>
              <a:t>Demand before vs after competitors raise prices</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75</a:t>
            </a:fld>
            <a:endParaRPr lang="en-US"/>
          </a:p>
        </p:txBody>
      </p:sp>
      <p:pic>
        <p:nvPicPr>
          <p:cNvPr id="6" name="Content Placeholder 4"/>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1964257" y="1600200"/>
            <a:ext cx="5450435" cy="4495800"/>
          </a:xfrm>
        </p:spPr>
      </p:pic>
    </p:spTree>
    <p:extLst>
      <p:ext uri="{BB962C8B-B14F-4D97-AF65-F5344CB8AC3E}">
        <p14:creationId xmlns:p14="http://schemas.microsoft.com/office/powerpoint/2010/main" val="15474854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76</a:t>
            </a:fld>
            <a:endParaRPr lang="en-US"/>
          </a:p>
        </p:txBody>
      </p:sp>
      <p:sp>
        <p:nvSpPr>
          <p:cNvPr id="18" name="Title 1"/>
          <p:cNvSpPr>
            <a:spLocks noGrp="1"/>
          </p:cNvSpPr>
          <p:nvPr>
            <p:ph type="title"/>
          </p:nvPr>
        </p:nvSpPr>
        <p:spPr>
          <a:xfrm>
            <a:off x="612648" y="228600"/>
            <a:ext cx="8302752" cy="990600"/>
          </a:xfrm>
        </p:spPr>
        <p:txBody>
          <a:bodyPr>
            <a:noAutofit/>
          </a:bodyPr>
          <a:lstStyle/>
          <a:p>
            <a:r>
              <a:rPr lang="en-US" dirty="0"/>
              <a:t>Step 3: Analysis</a:t>
            </a:r>
            <a:br>
              <a:rPr lang="en-US" dirty="0"/>
            </a:br>
            <a:r>
              <a:rPr lang="en-US" sz="3200" dirty="0"/>
              <a:t>Profit before vs after competitors raise prices</a:t>
            </a:r>
            <a:endParaRPr lang="en-US" dirty="0"/>
          </a:p>
        </p:txBody>
      </p:sp>
      <p:pic>
        <p:nvPicPr>
          <p:cNvPr id="5" name="Content Placeholder 4"/>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1964257" y="1600200"/>
            <a:ext cx="5450435" cy="4495800"/>
          </a:xfrm>
        </p:spPr>
      </p:pic>
    </p:spTree>
    <p:extLst>
      <p:ext uri="{BB962C8B-B14F-4D97-AF65-F5344CB8AC3E}">
        <p14:creationId xmlns:p14="http://schemas.microsoft.com/office/powerpoint/2010/main" val="316762479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emp">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emplate>temp</Template>
  <TotalTime>1083613821</TotalTime>
  <Pages>18</Pages>
  <Words>3894</Words>
  <Application>Microsoft Office PowerPoint</Application>
  <PresentationFormat>Letter Paper (8.5x11 in)</PresentationFormat>
  <Paragraphs>640</Paragraphs>
  <Slides>76</Slides>
  <Notes>8</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76</vt:i4>
      </vt:variant>
    </vt:vector>
  </HeadingPairs>
  <TitlesOfParts>
    <vt:vector size="90" baseType="lpstr">
      <vt:lpstr>Arial</vt:lpstr>
      <vt:lpstr>Arial Black</vt:lpstr>
      <vt:lpstr>BWHaasGroteskWeb</vt:lpstr>
      <vt:lpstr>Calibri</vt:lpstr>
      <vt:lpstr>Cambria Math</vt:lpstr>
      <vt:lpstr>Garamond</vt:lpstr>
      <vt:lpstr>Monotype Sorts</vt:lpstr>
      <vt:lpstr>Showcard Gothic</vt:lpstr>
      <vt:lpstr>Times New Roman</vt:lpstr>
      <vt:lpstr>Tw Cen MT</vt:lpstr>
      <vt:lpstr>TwitterChirp</vt:lpstr>
      <vt:lpstr>Wingdings</vt:lpstr>
      <vt:lpstr>Wingdings 2</vt:lpstr>
      <vt:lpstr>temp</vt:lpstr>
      <vt:lpstr>CostS</vt:lpstr>
      <vt:lpstr>Overview</vt:lpstr>
      <vt:lpstr>Pricing in the Organization Delegating Pricing Decisions</vt:lpstr>
      <vt:lpstr>Margins and Financial Performance Finance tracks margins to measure performance</vt:lpstr>
      <vt:lpstr>Margins and Financial Performance Finance tracks margins to measure performance</vt:lpstr>
      <vt:lpstr>Fully-Loaded Costing Evidence that firms allocate all costs to prices</vt:lpstr>
      <vt:lpstr>Margins and Financial Performance Finance tracks margins to measure performance</vt:lpstr>
      <vt:lpstr>Variable versus Fixed Costs Incremental vs unavoidable costs</vt:lpstr>
      <vt:lpstr>Incremental versus Fixed Costs Fully Allocated Costing</vt:lpstr>
      <vt:lpstr>A Mathematical Argument What’s the pricing objective?</vt:lpstr>
      <vt:lpstr>A graphical approach to the math Recall the Kone case</vt:lpstr>
      <vt:lpstr>A graphical approach to the math Recall the Kone case</vt:lpstr>
      <vt:lpstr>So what about those Fixed Costs? Two-Stage Decision Process</vt:lpstr>
      <vt:lpstr>Pricing and Marginal costs</vt:lpstr>
      <vt:lpstr>Fully-loaded costing: naïve/opportunistic? Starbucks &amp; local rents</vt:lpstr>
      <vt:lpstr>Risks from Fully-Loaded Costs</vt:lpstr>
      <vt:lpstr>Inflation and now tariffs …</vt:lpstr>
      <vt:lpstr>Inflation &amp; variable cost pass-through</vt:lpstr>
      <vt:lpstr>Lessons from recent wave of inflation Pivot when possible</vt:lpstr>
      <vt:lpstr>Tariffs &amp; variable cost pass-through Pivots may be difficult</vt:lpstr>
      <vt:lpstr>Tariffs &amp; variable cost pass-through Pivots may be difficult</vt:lpstr>
      <vt:lpstr>Tariff pass-through at Apple</vt:lpstr>
      <vt:lpstr>Cost pass-through at Apple Estimated Demand</vt:lpstr>
      <vt:lpstr>Cost pass-through at Apple Profit &amp; pricing</vt:lpstr>
      <vt:lpstr>Cost pass-through at Apple Demand Shift due to competitor pass-through</vt:lpstr>
      <vt:lpstr>Cost pass-through at Apple Profit &amp; pricing</vt:lpstr>
      <vt:lpstr>Tariffs &amp; variable cost pass-through</vt:lpstr>
      <vt:lpstr>Tariffs &amp; variable cost pass-through Business-to-consumer</vt:lpstr>
      <vt:lpstr>Cost pass-through &amp; Marketing For Good</vt:lpstr>
      <vt:lpstr>Prices, costs &amp; marketing for good? Shrinkflation &amp; consumer inattention</vt:lpstr>
      <vt:lpstr>Prices, costs &amp; marketing for good? Shrinkflation &amp; consumer inattention</vt:lpstr>
      <vt:lpstr>Prices, costs &amp; marketing for good? Shrinkflation &amp; consumer inattention</vt:lpstr>
      <vt:lpstr>Prices, costs &amp; marketing for good? Transparency demand</vt:lpstr>
      <vt:lpstr>Prices, costs &amp; marketing for good? Transparency Laws &amp; Self-Policing</vt:lpstr>
      <vt:lpstr>Prices, costs &amp; marketing for good? Litigation, Consumer Protection &amp; slave labor</vt:lpstr>
      <vt:lpstr>Watch out for historical costs</vt:lpstr>
      <vt:lpstr>Take Away</vt:lpstr>
      <vt:lpstr>Shrinkflation</vt:lpstr>
      <vt:lpstr>More Examples from 2024</vt:lpstr>
      <vt:lpstr>More Examples from 2021</vt:lpstr>
      <vt:lpstr>Legal vs Ethical</vt:lpstr>
      <vt:lpstr>Intuition for variable margin logic</vt:lpstr>
      <vt:lpstr>Incremental versus Fixed Costs PROJECT XYZ</vt:lpstr>
      <vt:lpstr>Incremental versus Fixed Costs PROJECT XYZ</vt:lpstr>
      <vt:lpstr>Incremental versus Fixed Costs PROJECT XYZ</vt:lpstr>
      <vt:lpstr>Incremental versus Fixed Costs PROJECT XYZ</vt:lpstr>
      <vt:lpstr>Apple Smartwatch</vt:lpstr>
      <vt:lpstr>A Consulting Project for Apple Project Goals</vt:lpstr>
      <vt:lpstr>A Consulting Project for Apple Project Goals</vt:lpstr>
      <vt:lpstr>Step 1: Study Design Selecting the tested product features</vt:lpstr>
      <vt:lpstr>Step 2: A Choice-Based Conjoint Survey</vt:lpstr>
      <vt:lpstr>Step 2: A Choice-Based Conjoint Survey</vt:lpstr>
      <vt:lpstr>Step 2: A Choice-Based Conjoint Survey</vt:lpstr>
      <vt:lpstr>Step 2: A Choice-Based Conjoint Survey</vt:lpstr>
      <vt:lpstr>Step 2: A Choice-Based Conjoint Survey</vt:lpstr>
      <vt:lpstr>Step 2: A Choice-Based Conjoint Survey</vt:lpstr>
      <vt:lpstr>Step 2: A Choice-Based Conjoint Survey</vt:lpstr>
      <vt:lpstr>Step 2: A Choice-Based Conjoint Survey</vt:lpstr>
      <vt:lpstr>Step 2: A Choice-Based Conjoint Survey</vt:lpstr>
      <vt:lpstr>Step 2: A Choice-Based Conjoint Survey</vt:lpstr>
      <vt:lpstr>Step 2: A Choice-Based Conjoint Survey</vt:lpstr>
      <vt:lpstr>Step 2: A Choice-Based Conjoint Survey</vt:lpstr>
      <vt:lpstr>Step 2: A Choice-Based Conjoint Survey</vt:lpstr>
      <vt:lpstr>Step 2: A Choice-Based Conjoint Survey</vt:lpstr>
      <vt:lpstr>Step 3: Analysis Willingness to pay</vt:lpstr>
      <vt:lpstr>Step 3: Analysis Willingness to pay for Base Watch</vt:lpstr>
      <vt:lpstr>Step 3: Analysis Incremental willingness to pay for Apple Brand</vt:lpstr>
      <vt:lpstr>Step 3: Analysis Incremental willingness to pay for 3-day Battery</vt:lpstr>
      <vt:lpstr>Step 3: Analysis Demand &amp; Monetization</vt:lpstr>
      <vt:lpstr>Step 3: Analysis Demand &amp; Monetization</vt:lpstr>
      <vt:lpstr>Step 3: Analysis Demand</vt:lpstr>
      <vt:lpstr>Step 3: Analysis Profit &amp; Optimal Pricing</vt:lpstr>
      <vt:lpstr>Inflation &amp; variable cost pass-through Recall Apple Smartwatch conjoint</vt:lpstr>
      <vt:lpstr>Step 4: Cost pass-through</vt:lpstr>
      <vt:lpstr>Step 3: Analysis Demand before vs after competitors raise prices</vt:lpstr>
      <vt:lpstr>Step 3: Analysis Profit before vs after competitors raise prices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COSTS II</dc:title>
  <dc:creator>JP Dube</dc:creator>
  <cp:lastModifiedBy>Dube, Jean-Pierre</cp:lastModifiedBy>
  <cp:revision>342</cp:revision>
  <cp:lastPrinted>1998-01-14T12:09:42Z</cp:lastPrinted>
  <dcterms:created xsi:type="dcterms:W3CDTF">1996-09-12T13:51:40Z</dcterms:created>
  <dcterms:modified xsi:type="dcterms:W3CDTF">2025-05-27T13:42:30Z</dcterms:modified>
</cp:coreProperties>
</file>