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63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7" r:id="rId13"/>
    <p:sldId id="269" r:id="rId14"/>
    <p:sldId id="266" r:id="rId15"/>
  </p:sldIdLst>
  <p:sldSz cx="9144000" cy="6858000" type="letter"/>
  <p:notesSz cx="6946900" cy="92329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8">
          <p15:clr>
            <a:srgbClr val="A4A3A4"/>
          </p15:clr>
        </p15:guide>
        <p15:guide id="2" pos="218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9" autoAdjust="0"/>
    <p:restoredTop sz="91558" autoAdjust="0"/>
  </p:normalViewPr>
  <p:slideViewPr>
    <p:cSldViewPr>
      <p:cViewPr varScale="1">
        <p:scale>
          <a:sx n="64" d="100"/>
          <a:sy n="64" d="100"/>
        </p:scale>
        <p:origin x="1404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7" d="100"/>
          <a:sy n="97" d="100"/>
        </p:scale>
        <p:origin x="-2058" y="-90"/>
      </p:cViewPr>
      <p:guideLst>
        <p:guide orient="horz" pos="2908"/>
        <p:guide pos="218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6475413" y="8836025"/>
            <a:ext cx="401637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50" tIns="44922" rIns="91450" bIns="44922" anchor="ctr">
            <a:spAutoFit/>
          </a:bodyPr>
          <a:lstStyle/>
          <a:p>
            <a:pPr algn="r" defTabSz="922338" eaLnBrk="0" hangingPunct="0">
              <a:defRPr/>
            </a:pPr>
            <a:fld id="{2081CC8D-D644-4A42-9F45-8538A972A82F}" type="slidenum">
              <a:rPr lang="en-US" sz="1400">
                <a:latin typeface="Arial" charset="0"/>
                <a:cs typeface="+mn-cs"/>
              </a:rPr>
              <a:pPr algn="r" defTabSz="922338" eaLnBrk="0" hangingPunct="0">
                <a:defRPr/>
              </a:pPr>
              <a:t>‹#›</a:t>
            </a:fld>
            <a:endParaRPr lang="en-US" sz="1400"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920534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02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7100" y="4384675"/>
            <a:ext cx="5092700" cy="41560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1450" tIns="44922" rIns="91450" bIns="449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notes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13315" name="Rectangle 1027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6813" y="690563"/>
            <a:ext cx="4621212" cy="346551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2" name="Rectangle 1028"/>
          <p:cNvSpPr>
            <a:spLocks noChangeArrowheads="1"/>
          </p:cNvSpPr>
          <p:nvPr/>
        </p:nvSpPr>
        <p:spPr bwMode="auto">
          <a:xfrm>
            <a:off x="6475413" y="8836025"/>
            <a:ext cx="401637" cy="30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lIns="91450" tIns="44922" rIns="91450" bIns="44922" anchor="ctr">
            <a:spAutoFit/>
          </a:bodyPr>
          <a:lstStyle/>
          <a:p>
            <a:pPr algn="r" defTabSz="922338" eaLnBrk="0" hangingPunct="0">
              <a:defRPr/>
            </a:pPr>
            <a:fld id="{5DB8396E-0D91-4043-AE21-41A1A1E608F2}" type="slidenum">
              <a:rPr lang="en-US" sz="1400">
                <a:latin typeface="Arial" charset="0"/>
                <a:cs typeface="+mn-cs"/>
              </a:rPr>
              <a:pPr algn="r" defTabSz="922338" eaLnBrk="0" hangingPunct="0">
                <a:defRPr/>
              </a:pPr>
              <a:t>‹#›</a:t>
            </a:fld>
            <a:endParaRPr lang="en-US" sz="1400">
              <a:latin typeface="Arial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929725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0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975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9BE6A02B-3F15-4458-9854-C13C1366E9D2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2" name="Picture 11" descr="Lg-Ghosted-Shield-offset_red.jp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 bwMode="white">
          <a:xfrm>
            <a:off x="0" y="5970588"/>
            <a:ext cx="9144000" cy="887412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Rectangle 13"/>
          <p:cNvSpPr/>
          <p:nvPr userDrawn="1"/>
        </p:nvSpPr>
        <p:spPr>
          <a:xfrm>
            <a:off x="-9525" y="6053138"/>
            <a:ext cx="2249488" cy="7127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Rectangle 14"/>
          <p:cNvSpPr/>
          <p:nvPr userDrawn="1"/>
        </p:nvSpPr>
        <p:spPr>
          <a:xfrm>
            <a:off x="2359025" y="6043613"/>
            <a:ext cx="6784975" cy="7143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9013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Slide Number Placeholder 28"/>
          <p:cNvSpPr txBox="1">
            <a:spLocks/>
          </p:cNvSpPr>
          <p:nvPr userDrawn="1"/>
        </p:nvSpPr>
        <p:spPr>
          <a:xfrm>
            <a:off x="8001000" y="228600"/>
            <a:ext cx="838200" cy="381000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defPPr>
              <a:defRPr lang="en-US"/>
            </a:defPPr>
            <a:lvl1pPr algn="ctr" rtl="0" eaLnBrk="1" fontAlgn="base" latinLnBrk="0" hangingPunct="1">
              <a:spcBef>
                <a:spcPct val="0"/>
              </a:spcBef>
              <a:spcAft>
                <a:spcPct val="0"/>
              </a:spcAft>
              <a:defRPr kumimoji="0" sz="1400" b="1" kern="1200">
                <a:solidFill>
                  <a:schemeClr val="tx2"/>
                </a:solidFill>
                <a:latin typeface="Times New Roman" pitchFamily="18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Times New Roman" pitchFamily="18" charset="0"/>
                <a:ea typeface="+mn-ea"/>
                <a:cs typeface="Arial" charset="0"/>
              </a:defRPr>
            </a:lvl9pPr>
          </a:lstStyle>
          <a:p>
            <a:pPr>
              <a:defRPr/>
            </a:pPr>
            <a:fld id="{7E7CF4D2-22D1-48E5-82E4-BFA1B224084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0" name="Picture 19" descr="Logo-for-gray-bg-ppt-whitemaroon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429166" y="6194310"/>
            <a:ext cx="1591121" cy="43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5078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/>
          </a:bodyPr>
          <a:lstStyle>
            <a:lvl1pPr>
              <a:defRPr sz="4000" baseline="0">
                <a:latin typeface="+mj-lt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>
            <a:normAutofit/>
          </a:bodyPr>
          <a:lstStyle>
            <a:lvl1pPr>
              <a:defRPr sz="2400" baseline="0">
                <a:latin typeface="+mj-lt"/>
              </a:defRPr>
            </a:lvl1pPr>
            <a:lvl2pPr>
              <a:defRPr sz="2400" baseline="0">
                <a:latin typeface="+mj-lt"/>
              </a:defRPr>
            </a:lvl2pPr>
            <a:lvl3pPr>
              <a:defRPr sz="2400" baseline="0">
                <a:latin typeface="+mj-lt"/>
              </a:defRPr>
            </a:lvl3pPr>
            <a:lvl4pPr>
              <a:defRPr sz="2400" baseline="0">
                <a:latin typeface="+mj-lt"/>
              </a:defRPr>
            </a:lvl4pPr>
            <a:lvl5pPr>
              <a:defRPr sz="2400" baseline="0">
                <a:latin typeface="+mj-lt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43AAED-02DD-4D31-9CFB-19D10387CA6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29" descr="LOGOs_430+202_just_110508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48513" y="6324600"/>
            <a:ext cx="169068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077887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5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34AE18C-7A4F-48A9-A499-DB9CC8996FD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698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7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E3CB9FA4-DCE7-4C29-A735-68EBB7EC8F7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Footer Placeholder 11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40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9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1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EEB37798-023A-49F0-9BC3-F68CA658850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452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1219F0-079B-4BB5-93F8-F9359FBE524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8662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4CD30C76-4925-4F0C-BF28-DFE5D5779F4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341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2128B15-6C7A-4120-B3E6-ED36BE32ACA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837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 bwMode="white">
          <a:xfrm>
            <a:off x="-9525" y="4572000"/>
            <a:ext cx="9144000" cy="887413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-9525" y="4664075"/>
            <a:ext cx="1463675" cy="712788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544638" y="4654550"/>
            <a:ext cx="7599362" cy="712788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 bwMode="white">
          <a:xfrm>
            <a:off x="1447800" y="0"/>
            <a:ext cx="100013" cy="6867525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9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50"/>
            <a:ext cx="1447800" cy="663575"/>
          </a:xfrm>
        </p:spPr>
        <p:txBody>
          <a:bodyPr rtlCol="0"/>
          <a:lstStyle>
            <a:lvl1pPr>
              <a:defRPr sz="2800"/>
            </a:lvl1pPr>
          </a:lstStyle>
          <a:p>
            <a:pPr>
              <a:defRPr/>
            </a:pPr>
            <a:fld id="{F4B3B3D1-430D-45A7-BFB6-30E4BE0F0B4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11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400"/>
            <a:ext cx="4572000" cy="365125"/>
          </a:xfrm>
        </p:spPr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572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E8BDD8-4502-4F9D-89B8-C9B27F98029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199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 bwMode="white">
          <a:xfrm>
            <a:off x="6096000" y="0"/>
            <a:ext cx="320675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0"/>
            <a:ext cx="2209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248400"/>
            <a:ext cx="55737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25FD77-B976-4FEE-AE63-C0949754FBC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6978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2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8153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612775" y="1600200"/>
            <a:ext cx="81534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542131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5075"/>
            <a:ext cx="9144000" cy="31908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1279525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79525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849501C7-4CDA-4F6D-8841-5C0E3B4E839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w Cen MT" pitchFamily="34" charset="0"/>
        </a:defRPr>
      </a:lvl9pPr>
    </p:titleStyle>
    <p:bodyStyle>
      <a:lvl1pPr marL="319088" indent="-319088" algn="l" rtl="0" eaLnBrk="1" fontAlgn="base" hangingPunct="1">
        <a:spcBef>
          <a:spcPts val="7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"/>
        <a:defRPr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eaLnBrk="1" fontAlgn="base" hangingPunct="1">
        <a:spcBef>
          <a:spcPts val="550"/>
        </a:spcBef>
        <a:spcAft>
          <a:spcPct val="0"/>
        </a:spcAft>
        <a:buClr>
          <a:schemeClr val="accent1"/>
        </a:buClr>
        <a:buSzPct val="70000"/>
        <a:buFont typeface="Wingdings 2" pitchFamily="18" charset="2"/>
        <a:buChar char="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fontAlgn="base" hangingPunct="1">
        <a:spcBef>
          <a:spcPts val="500"/>
        </a:spcBef>
        <a:spcAft>
          <a:spcPct val="0"/>
        </a:spcAft>
        <a:buClr>
          <a:schemeClr val="accent2"/>
        </a:buClr>
        <a:buSzPct val="75000"/>
        <a:buFont typeface="Wingdings" pitchFamily="2" charset="2"/>
        <a:buChar char="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fontAlgn="base" hangingPunct="1">
        <a:spcBef>
          <a:spcPts val="400"/>
        </a:spcBef>
        <a:spcAft>
          <a:spcPct val="0"/>
        </a:spcAft>
        <a:buClr>
          <a:srgbClr val="A5AB81"/>
        </a:buClr>
        <a:buSzPct val="7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fontAlgn="base" hangingPunct="1">
        <a:spcBef>
          <a:spcPts val="400"/>
        </a:spcBef>
        <a:spcAft>
          <a:spcPct val="0"/>
        </a:spcAft>
        <a:buClr>
          <a:srgbClr val="D8B25C"/>
        </a:buClr>
        <a:buSzPct val="65000"/>
        <a:buFont typeface="Wingdings" pitchFamily="2" charset="2"/>
        <a:buChar char="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dweek.com/creativity/burger-king-new-trolling-ploy-sends-fans-to-mcdonalds-to-unlock-a-1-cent-whopper-deal/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faculty.chicagobooth.edu/jean-pierre.dube/research/papers/mobile%20targeting.pdf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jpg"/><Relationship Id="rId7" Type="http://schemas.openxmlformats.org/officeDocument/2006/relationships/image" Target="../media/image16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jpg"/><Relationship Id="rId5" Type="http://schemas.openxmlformats.org/officeDocument/2006/relationships/image" Target="../media/image14.jpg"/><Relationship Id="rId4" Type="http://schemas.openxmlformats.org/officeDocument/2006/relationships/image" Target="../media/image1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faculty.chicagobooth.edu/jean-pierre.dube/research/papers/mobile%20targeting.pdf" TargetMode="External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faculty.chicagobooth.edu/jean-pierre.dube/research/papers/mobile%20targeting.pdf" TargetMode="External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faculty.chicagobooth.edu/jean-pierre.dube/research/papers/mobile%20targeting.pdf" TargetMode="External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2"/>
          <p:cNvSpPr>
            <a:spLocks noGrp="1" noChangeArrowheads="1"/>
          </p:cNvSpPr>
          <p:nvPr>
            <p:ph type="ctrTitle"/>
          </p:nvPr>
        </p:nvSpPr>
        <p:spPr/>
        <p:txBody>
          <a:bodyPr lIns="90488" tIns="44450" rIns="90488" bIns="44450"/>
          <a:lstStyle/>
          <a:p>
            <a:r>
              <a:rPr lang="en-US" dirty="0" smtClean="0"/>
              <a:t>Competitive Pricing</a:t>
            </a:r>
            <a:endParaRPr lang="en-US" i="1" dirty="0" smtClean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2362200" y="6050037"/>
            <a:ext cx="6705600" cy="685800"/>
          </a:xfrm>
          <a:noFill/>
        </p:spPr>
        <p:txBody>
          <a:bodyPr lIns="90488" tIns="44450" rIns="90488" bIns="44450">
            <a:normAutofit lnSpcReduction="10000"/>
          </a:bodyPr>
          <a:lstStyle/>
          <a:p>
            <a:pPr marL="0" indent="0">
              <a:buNone/>
            </a:pPr>
            <a:r>
              <a:rPr lang="en-US" sz="2800" dirty="0"/>
              <a:t>Jean-Pierre </a:t>
            </a:r>
            <a:r>
              <a:rPr lang="en-US" sz="2800" dirty="0" err="1"/>
              <a:t>Dubé</a:t>
            </a:r>
            <a:endParaRPr lang="en-US" sz="2800" dirty="0"/>
          </a:p>
          <a:p>
            <a:pPr marL="0" indent="0">
              <a:buNone/>
            </a:pPr>
            <a:r>
              <a:rPr lang="en-US" sz="900" b="1" dirty="0">
                <a:latin typeface="Arial" pitchFamily="34" charset="0"/>
                <a:sym typeface="Symbol" pitchFamily="18" charset="2"/>
              </a:rPr>
              <a:t></a:t>
            </a:r>
            <a:r>
              <a:rPr lang="en-US" sz="900" b="1" dirty="0">
                <a:latin typeface="Arial" pitchFamily="34" charset="0"/>
              </a:rPr>
              <a:t> Copyright </a:t>
            </a:r>
            <a:r>
              <a:rPr lang="en-US" sz="900" b="1" dirty="0" smtClean="0">
                <a:latin typeface="Arial" pitchFamily="34" charset="0"/>
              </a:rPr>
              <a:t>2020</a:t>
            </a:r>
            <a:endParaRPr lang="en-US" sz="900" b="1" dirty="0">
              <a:latin typeface="Arial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400" y="6137369"/>
            <a:ext cx="14558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Pricing Strategies</a:t>
            </a:r>
          </a:p>
          <a:p>
            <a:r>
              <a:rPr lang="en-US" sz="1400" dirty="0" smtClean="0"/>
              <a:t>2020</a:t>
            </a:r>
            <a:endParaRPr lang="en-US" sz="1400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Geo-</a:t>
            </a:r>
            <a:r>
              <a:rPr lang="en-US" dirty="0" err="1" smtClean="0"/>
              <a:t>Conquesting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3200" dirty="0" smtClean="0"/>
              <a:t>New Data sources: real-time mobile location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D68BE0E-0D81-44E9-8917-C7FB25F9255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  <p:pic>
        <p:nvPicPr>
          <p:cNvPr id="5" name="Picture 2" descr="banque-geofencing-servi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2743199"/>
            <a:ext cx="9174391" cy="3384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94120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Geo-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Conquesting</a:t>
            </a:r>
            <a:r>
              <a:rPr lang="en-US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/>
              <a:t>Targeting </a:t>
            </a:r>
            <a:r>
              <a:rPr lang="en-US" sz="3600" dirty="0"/>
              <a:t>competitor’s </a:t>
            </a:r>
            <a:r>
              <a:rPr lang="en-US" sz="3600" dirty="0" smtClean="0"/>
              <a:t>customers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/>
            </a:pPr>
            <a:fld id="{4C167419-3E17-4805-8141-C5724BC9AF66}" type="slidenum">
              <a:rPr lang="en-US" sz="1200" b="1" smtClean="0">
                <a:solidFill>
                  <a:schemeClr val="bg1"/>
                </a:solidFill>
              </a:rPr>
              <a:pPr algn="ctr">
                <a:defRPr/>
              </a:pPr>
              <a:t>3</a:t>
            </a:fld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402819" y="5313188"/>
            <a:ext cx="8741181" cy="7828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lnSpcReduction="10000"/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Driving up to a McDonald's location unlocks a one-cent Whopper deal via Burger King's mobile app.</a:t>
            </a:r>
            <a:endParaRPr lang="en-US" dirty="0" smtClean="0"/>
          </a:p>
        </p:txBody>
      </p:sp>
      <p:pic>
        <p:nvPicPr>
          <p:cNvPr id="1026" name="Picture 2" descr="https://static.adweek.com/adweek.com-prod/wp-content/uploads/2018/12/whopper-detour-hed-page-2018.jpg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64" y="1664734"/>
            <a:ext cx="7129414" cy="3564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283302" y="6149960"/>
            <a:ext cx="660490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dirty="0" smtClean="0">
                <a:solidFill>
                  <a:srgbClr val="333333"/>
                </a:solidFill>
                <a:latin typeface="Flama-Bold"/>
              </a:rPr>
              <a:t>“</a:t>
            </a:r>
            <a:r>
              <a:rPr lang="en-US" sz="1100" dirty="0" smtClean="0">
                <a:solidFill>
                  <a:srgbClr val="333333"/>
                </a:solidFill>
                <a:latin typeface="Flama-Bold"/>
                <a:hlinkClick r:id="rId3"/>
              </a:rPr>
              <a:t>Burger </a:t>
            </a:r>
            <a:r>
              <a:rPr lang="en-US" sz="1100" dirty="0">
                <a:solidFill>
                  <a:srgbClr val="333333"/>
                </a:solidFill>
                <a:latin typeface="Flama-Bold"/>
                <a:hlinkClick r:id="rId3"/>
              </a:rPr>
              <a:t>King’s New Trolling Ploy Sends Fans to McDonald’s to Unlock a 1-Cent Whopper </a:t>
            </a:r>
            <a:r>
              <a:rPr lang="en-US" sz="1100" dirty="0" smtClean="0">
                <a:solidFill>
                  <a:srgbClr val="333333"/>
                </a:solidFill>
                <a:latin typeface="Flama-Bold"/>
                <a:hlinkClick r:id="rId3"/>
              </a:rPr>
              <a:t>Deal: </a:t>
            </a:r>
            <a:r>
              <a:rPr lang="en-US" sz="1100" dirty="0" smtClean="0">
                <a:solidFill>
                  <a:srgbClr val="666666"/>
                </a:solidFill>
                <a:latin typeface="FlamaSlab-Book"/>
                <a:hlinkClick r:id="rId3"/>
              </a:rPr>
              <a:t>Whopper </a:t>
            </a:r>
            <a:r>
              <a:rPr lang="en-US" sz="1100" dirty="0">
                <a:solidFill>
                  <a:srgbClr val="666666"/>
                </a:solidFill>
                <a:latin typeface="FlamaSlab-Book"/>
                <a:hlinkClick r:id="rId3"/>
              </a:rPr>
              <a:t>Detour gets catty with </a:t>
            </a:r>
            <a:r>
              <a:rPr lang="en-US" sz="1100" dirty="0" err="1" smtClean="0">
                <a:solidFill>
                  <a:srgbClr val="666666"/>
                </a:solidFill>
                <a:latin typeface="FlamaSlab-Book"/>
                <a:hlinkClick r:id="rId3"/>
              </a:rPr>
              <a:t>geotargeting</a:t>
            </a:r>
            <a:r>
              <a:rPr lang="en-US" sz="1100" dirty="0" smtClean="0">
                <a:solidFill>
                  <a:srgbClr val="666666"/>
                </a:solidFill>
                <a:latin typeface="FlamaSlab-Book"/>
              </a:rPr>
              <a:t>,” </a:t>
            </a:r>
            <a:r>
              <a:rPr lang="en-US" sz="1100" dirty="0">
                <a:latin typeface="Flama-Book"/>
              </a:rPr>
              <a:t>b</a:t>
            </a:r>
            <a:r>
              <a:rPr lang="en-US" sz="1100" dirty="0" smtClean="0">
                <a:latin typeface="Flama-Book"/>
              </a:rPr>
              <a:t>y</a:t>
            </a:r>
            <a:r>
              <a:rPr lang="en-US" sz="1100" dirty="0">
                <a:latin typeface="Flama-Book"/>
              </a:rPr>
              <a:t> Gabriel </a:t>
            </a:r>
            <a:r>
              <a:rPr lang="en-US" sz="1100" dirty="0" err="1" smtClean="0">
                <a:latin typeface="Flama-Book"/>
              </a:rPr>
              <a:t>Beltrone</a:t>
            </a:r>
            <a:r>
              <a:rPr lang="en-US" sz="1100" dirty="0" smtClean="0">
                <a:latin typeface="Flama-Book"/>
              </a:rPr>
              <a:t>, </a:t>
            </a:r>
            <a:r>
              <a:rPr lang="en-US" sz="1100" i="1" dirty="0" err="1" smtClean="0">
                <a:latin typeface="Flama-Book"/>
              </a:rPr>
              <a:t>AdWeek</a:t>
            </a:r>
            <a:r>
              <a:rPr lang="en-US" sz="1100" dirty="0" smtClean="0">
                <a:latin typeface="Flama-Book"/>
              </a:rPr>
              <a:t>, 12-4-2018.</a:t>
            </a:r>
            <a:endParaRPr lang="en-US" sz="1100" b="0" i="0" dirty="0">
              <a:effectLst/>
              <a:latin typeface="Flama-Book"/>
            </a:endParaRPr>
          </a:p>
        </p:txBody>
      </p:sp>
    </p:spTree>
    <p:extLst>
      <p:ext uri="{BB962C8B-B14F-4D97-AF65-F5344CB8AC3E}">
        <p14:creationId xmlns:p14="http://schemas.microsoft.com/office/powerpoint/2010/main" val="29950670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Geo-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Conquesting</a:t>
            </a:r>
            <a:r>
              <a:rPr lang="en-US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/>
              <a:t>Targeting </a:t>
            </a:r>
            <a:r>
              <a:rPr lang="en-US" sz="3600" dirty="0"/>
              <a:t>competitor’s </a:t>
            </a:r>
            <a:r>
              <a:rPr lang="en-US" sz="3600" dirty="0" smtClean="0"/>
              <a:t>customers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defRPr/>
            </a:pPr>
            <a:fld id="{4C167419-3E17-4805-8141-C5724BC9AF66}" type="slidenum">
              <a:rPr lang="en-US" sz="1200" b="1" smtClean="0">
                <a:solidFill>
                  <a:schemeClr val="bg1"/>
                </a:solidFill>
              </a:rPr>
              <a:pPr algn="ctr">
                <a:defRPr/>
              </a:pPr>
              <a:t>4</a:t>
            </a:fld>
            <a:endParaRPr lang="en-US" sz="1200" b="1" dirty="0">
              <a:solidFill>
                <a:schemeClr val="bg1"/>
              </a:solidFill>
            </a:endParaRP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sz="quarter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683" t="2237" r="1140" b="6237"/>
          <a:stretch/>
        </p:blipFill>
        <p:spPr bwMode="auto">
          <a:xfrm>
            <a:off x="612648" y="1646479"/>
            <a:ext cx="2313433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355599" y="6188559"/>
            <a:ext cx="57759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smtClean="0">
                <a:solidFill>
                  <a:srgbClr val="FF0000"/>
                </a:solidFill>
              </a:rPr>
              <a:t>What if the competitor reacts?</a:t>
            </a: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3300984" y="1600200"/>
            <a:ext cx="5843016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319088" indent="-319088" algn="l" rtl="0" eaLnBrk="1" fontAlgn="base" hangingPunct="1">
              <a:spcBef>
                <a:spcPts val="700"/>
              </a:spcBef>
              <a:spcAft>
                <a:spcPct val="0"/>
              </a:spcAft>
              <a:buClr>
                <a:schemeClr val="accent2"/>
              </a:buClr>
              <a:buSzPct val="60000"/>
              <a:buFont typeface="Wingdings" pitchFamily="2" charset="2"/>
              <a:buChar char="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639763" indent="-273050" algn="l" rtl="0" eaLnBrk="1" fontAlgn="base" hangingPunct="1">
              <a:spcBef>
                <a:spcPts val="550"/>
              </a:spcBef>
              <a:spcAft>
                <a:spcPct val="0"/>
              </a:spcAft>
              <a:buClr>
                <a:schemeClr val="accent1"/>
              </a:buClr>
              <a:buSzPct val="70000"/>
              <a:buFont typeface="Wingdings 2" pitchFamily="18" charset="2"/>
              <a:buChar char="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914400" indent="-228600" algn="l" rtl="0" eaLnBrk="1" fontAlgn="base" hangingPunct="1">
              <a:spcBef>
                <a:spcPts val="50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3716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A5AB81"/>
              </a:buClr>
              <a:buSzPct val="7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1828800" indent="-228600" algn="l" rtl="0" eaLnBrk="1" fontAlgn="base" hangingPunct="1">
              <a:spcBef>
                <a:spcPts val="400"/>
              </a:spcBef>
              <a:spcAft>
                <a:spcPct val="0"/>
              </a:spcAft>
              <a:buClr>
                <a:srgbClr val="D8B25C"/>
              </a:buClr>
              <a:buSzPct val="65000"/>
              <a:buFont typeface="Wingdings" pitchFamily="2" charset="2"/>
              <a:buChar char=""/>
              <a:defRPr sz="2400" kern="1200" baseline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103120" indent="-228600" algn="l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77440" indent="-22860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51760" indent="-22860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26080" indent="-22860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"/>
              <a:buChar char="§"/>
              <a:defRPr kumimoji="0"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 smtClean="0"/>
              <a:t>Targeting </a:t>
            </a:r>
            <a:r>
              <a:rPr lang="en-US" b="1" dirty="0" smtClean="0"/>
              <a:t>competitive locations</a:t>
            </a:r>
            <a:r>
              <a:rPr lang="en-US" dirty="0" smtClean="0"/>
              <a:t> to drive coupon redemption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dirty="0" smtClean="0"/>
              <a:t>Dunkin’: 3.6%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dirty="0" smtClean="0"/>
              <a:t>Department store: 2%</a:t>
            </a:r>
          </a:p>
          <a:p>
            <a:pPr lvl="1">
              <a:spcBef>
                <a:spcPts val="1200"/>
              </a:spcBef>
              <a:spcAft>
                <a:spcPts val="1200"/>
              </a:spcAft>
            </a:pPr>
            <a:r>
              <a:rPr lang="en-US" dirty="0" err="1" smtClean="0"/>
              <a:t>Quizno’s</a:t>
            </a:r>
            <a:r>
              <a:rPr lang="en-US" dirty="0" smtClean="0"/>
              <a:t>: 6% lift over national average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 smtClean="0"/>
              <a:t>Source of </a:t>
            </a:r>
            <a:r>
              <a:rPr lang="en-US" i="1" dirty="0" smtClean="0"/>
              <a:t>incremental sales…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12571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Mobile </a:t>
            </a:r>
            <a:r>
              <a:rPr lang="en-US" sz="4000" dirty="0" smtClean="0"/>
              <a:t>Geo-</a:t>
            </a:r>
            <a:r>
              <a:rPr lang="en-US" sz="4000" dirty="0" err="1" smtClean="0"/>
              <a:t>Conquesting</a:t>
            </a:r>
            <a:r>
              <a:rPr lang="en-US" sz="4000" dirty="0" smtClean="0"/>
              <a:t>:</a:t>
            </a:r>
            <a:br>
              <a:rPr lang="en-US" sz="4000" dirty="0" smtClean="0"/>
            </a:br>
            <a:r>
              <a:rPr lang="en-US" sz="3600" dirty="0"/>
              <a:t>C</a:t>
            </a:r>
            <a:r>
              <a:rPr lang="en-US" sz="3600" dirty="0" smtClean="0"/>
              <a:t>hinese Movie Theaters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D68BE0E-0D81-44E9-8917-C7FB25F9255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pic>
        <p:nvPicPr>
          <p:cNvPr id="5" name="Picture 4" descr="http://china-screen-news.com/wp-content/uploads/2011/06/Wanda-complex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318" y="2743200"/>
            <a:ext cx="3938644" cy="2024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6" descr="http://www.beijinglandscapes.com/image/beijing/wanda-cinema-4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5405" y="4263165"/>
            <a:ext cx="3334074" cy="22227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/>
          <p:cNvSpPr/>
          <p:nvPr/>
        </p:nvSpPr>
        <p:spPr>
          <a:xfrm>
            <a:off x="467711" y="5403087"/>
            <a:ext cx="4572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Mobile geo-positioning (GPRS) can determine </a:t>
            </a:r>
            <a:r>
              <a:rPr lang="en-US" i="1" dirty="0"/>
              <a:t>real-time location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4821620" y="2924434"/>
            <a:ext cx="398604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dirty="0" smtClean="0"/>
              <a:t>Smartphones ≈70% of mall traffic</a:t>
            </a:r>
          </a:p>
        </p:txBody>
      </p:sp>
    </p:spTree>
    <p:extLst>
      <p:ext uri="{BB962C8B-B14F-4D97-AF65-F5344CB8AC3E}">
        <p14:creationId xmlns:p14="http://schemas.microsoft.com/office/powerpoint/2010/main" val="465502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b="1" dirty="0" smtClean="0"/>
              <a:t>Experimental design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dirty="0"/>
              <a:t>2 movie theaters in nearby shopping malls in large Chinese city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Regular ticket prices 75 RMB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11am-noon on Saturday (low-demand period)</a:t>
            </a:r>
          </a:p>
          <a:p>
            <a:pPr lvl="1">
              <a:spcBef>
                <a:spcPts val="600"/>
              </a:spcBef>
              <a:spcAft>
                <a:spcPts val="600"/>
              </a:spcAft>
            </a:pPr>
            <a:r>
              <a:rPr lang="en-US" dirty="0"/>
              <a:t>9,000 random users from each mall’s 500m geo-fence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/>
              <a:t>Mobile Price Targeting</a:t>
            </a:r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en-US" b="1" dirty="0"/>
              <a:t>Off-peak time</a:t>
            </a:r>
            <a:r>
              <a:rPr lang="en-US" dirty="0"/>
              <a:t>: 11am-noon on Saturday 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early-bird</a:t>
            </a:r>
            <a:r>
              <a:rPr lang="en-US" dirty="0"/>
              <a:t> rate)</a:t>
            </a:r>
          </a:p>
          <a:p>
            <a:pPr lvl="1">
              <a:spcBef>
                <a:spcPts val="600"/>
              </a:spcBef>
              <a:spcAft>
                <a:spcPts val="1200"/>
              </a:spcAft>
            </a:pPr>
            <a:r>
              <a:rPr lang="en-US" b="1" dirty="0"/>
              <a:t>Geography:</a:t>
            </a:r>
            <a:r>
              <a:rPr lang="en-US" dirty="0"/>
              <a:t> consumers already near malls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>
            <a:normAutofit fontScale="47500" lnSpcReduction="20000"/>
          </a:bodyPr>
          <a:lstStyle/>
          <a:p>
            <a:pPr algn="ctr">
              <a:defRPr/>
            </a:pPr>
            <a:fld id="{4C167419-3E17-4805-8141-C5724BC9AF66}" type="slidenum">
              <a:rPr lang="en-US" sz="2500" b="1" smtClean="0">
                <a:solidFill>
                  <a:schemeClr val="bg1"/>
                </a:solidFill>
              </a:rPr>
              <a:pPr algn="ctr">
                <a:defRPr/>
              </a:pPr>
              <a:t>6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Geo-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Conquesting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/>
              <a:t>Example: SMS discounts for movie theaters</a:t>
            </a:r>
            <a:endParaRPr lang="en-US" sz="3600" dirty="0"/>
          </a:p>
        </p:txBody>
      </p:sp>
      <p:sp>
        <p:nvSpPr>
          <p:cNvPr id="6" name="Rectangle 5"/>
          <p:cNvSpPr/>
          <p:nvPr/>
        </p:nvSpPr>
        <p:spPr>
          <a:xfrm>
            <a:off x="347133" y="6320795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 dirty="0"/>
              <a:t>Source: </a:t>
            </a:r>
            <a:r>
              <a:rPr lang="en-US" sz="1100" dirty="0" err="1">
                <a:hlinkClick r:id="rId2"/>
              </a:rPr>
              <a:t>Dubé</a:t>
            </a:r>
            <a:r>
              <a:rPr lang="en-US" sz="1100" dirty="0">
                <a:hlinkClick r:id="rId2"/>
              </a:rPr>
              <a:t>, Fang, Fong and Luo (</a:t>
            </a:r>
            <a:r>
              <a:rPr lang="en-US" sz="1100" dirty="0" smtClean="0">
                <a:hlinkClick r:id="rId2"/>
              </a:rPr>
              <a:t>2017)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139438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Geo-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Conquesting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/>
              <a:t>Example: SMS discounts for movie theaters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algn="ctr">
              <a:defRPr/>
            </a:pPr>
            <a:fld id="{4C167419-3E17-4805-8141-C5724BC9AF66}" type="slidenum">
              <a:rPr lang="en-US" b="1">
                <a:solidFill>
                  <a:schemeClr val="bg1"/>
                </a:solidFill>
              </a:rPr>
              <a:pPr algn="ctr">
                <a:defRPr/>
              </a:pPr>
              <a:t>7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54" y="1899821"/>
            <a:ext cx="8845204" cy="3918702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54" y="1899821"/>
            <a:ext cx="8845204" cy="3918702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41" y="1895747"/>
            <a:ext cx="8854400" cy="3922776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41" y="1899821"/>
            <a:ext cx="8854400" cy="3922776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41" y="1899821"/>
            <a:ext cx="8854400" cy="3922776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41" y="1899821"/>
            <a:ext cx="8854400" cy="3922776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0764" y="1476436"/>
            <a:ext cx="1473955" cy="2207796"/>
          </a:xfrm>
          <a:prstGeom prst="rect">
            <a:avLst/>
          </a:prstGeom>
        </p:spPr>
      </p:pic>
      <p:sp>
        <p:nvSpPr>
          <p:cNvPr id="35" name="Content Placeholder 2"/>
          <p:cNvSpPr>
            <a:spLocks noGrp="1"/>
          </p:cNvSpPr>
          <p:nvPr>
            <p:ph sz="quarter" idx="1"/>
          </p:nvPr>
        </p:nvSpPr>
        <p:spPr>
          <a:xfrm>
            <a:off x="612648" y="5948039"/>
            <a:ext cx="8153400" cy="745723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Either firm benefits from unilateral targeting</a:t>
            </a:r>
          </a:p>
          <a:p>
            <a:r>
              <a:rPr lang="en-US" dirty="0" smtClean="0"/>
              <a:t>But what happens when both target?!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685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algn="ctr">
              <a:defRPr/>
            </a:pPr>
            <a:fld id="{4C167419-3E17-4805-8141-C5724BC9AF66}" type="slidenum">
              <a:rPr lang="en-US" b="1">
                <a:solidFill>
                  <a:schemeClr val="bg1"/>
                </a:solidFill>
              </a:rPr>
              <a:pPr algn="ctr">
                <a:defRPr/>
              </a:pPr>
              <a:t>8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900904" y="1600200"/>
            <a:ext cx="7577142" cy="44958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221992" y="2386584"/>
            <a:ext cx="2331720" cy="30815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137024" y="2307336"/>
            <a:ext cx="2331720" cy="30815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47133" y="6320795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 dirty="0"/>
              <a:t>Source: </a:t>
            </a:r>
            <a:r>
              <a:rPr lang="en-US" sz="1100" dirty="0" err="1">
                <a:hlinkClick r:id="rId3"/>
              </a:rPr>
              <a:t>Dubé</a:t>
            </a:r>
            <a:r>
              <a:rPr lang="en-US" sz="1100" dirty="0">
                <a:hlinkClick r:id="rId3"/>
              </a:rPr>
              <a:t>, Fang, Fong and Luo (</a:t>
            </a:r>
            <a:r>
              <a:rPr lang="en-US" sz="1100" dirty="0" smtClean="0">
                <a:hlinkClick r:id="rId3"/>
              </a:rPr>
              <a:t>2017)</a:t>
            </a:r>
            <a:endParaRPr lang="en-US" sz="1100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Mobile </a:t>
            </a:r>
            <a:r>
              <a:rPr lang="en-US" sz="4400" dirty="0" smtClean="0"/>
              <a:t>Geo-Fencing only</a:t>
            </a:r>
            <a:r>
              <a:rPr lang="en-US" sz="4400" dirty="0"/>
              <a:t/>
            </a:r>
            <a:br>
              <a:rPr lang="en-US" sz="4400" dirty="0"/>
            </a:br>
            <a:r>
              <a:rPr lang="en-US" sz="3600" dirty="0" smtClean="0"/>
              <a:t>Example: Chinese movie theaters</a:t>
            </a:r>
            <a:endParaRPr lang="en-US" sz="3600" dirty="0"/>
          </a:p>
        </p:txBody>
      </p:sp>
      <p:sp>
        <p:nvSpPr>
          <p:cNvPr id="12" name="TextBox 11"/>
          <p:cNvSpPr txBox="1"/>
          <p:nvPr/>
        </p:nvSpPr>
        <p:spPr>
          <a:xfrm rot="20368768">
            <a:off x="6457980" y="3219461"/>
            <a:ext cx="25571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FF0000"/>
                </a:solidFill>
                <a:latin typeface="Stencil" panose="040409050D0802020404" pitchFamily="82" charset="0"/>
              </a:rPr>
              <a:t>What about</a:t>
            </a:r>
          </a:p>
          <a:p>
            <a:pPr algn="ctr"/>
            <a:r>
              <a:rPr lang="en-US" sz="2000" dirty="0" smtClean="0">
                <a:solidFill>
                  <a:srgbClr val="FF0000"/>
                </a:solidFill>
                <a:latin typeface="Stencil" panose="040409050D0802020404" pitchFamily="82" charset="0"/>
              </a:rPr>
              <a:t>Geo-</a:t>
            </a:r>
            <a:r>
              <a:rPr lang="en-US" sz="2000" dirty="0" err="1" smtClean="0">
                <a:solidFill>
                  <a:srgbClr val="FF0000"/>
                </a:solidFill>
                <a:latin typeface="Stencil" panose="040409050D0802020404" pitchFamily="82" charset="0"/>
              </a:rPr>
              <a:t>CONQuesting</a:t>
            </a:r>
            <a:r>
              <a:rPr lang="en-US" sz="2000" dirty="0" smtClean="0">
                <a:solidFill>
                  <a:srgbClr val="FF0000"/>
                </a:solidFill>
                <a:latin typeface="Stencil" panose="040409050D0802020404" pitchFamily="82" charset="0"/>
              </a:rPr>
              <a:t>?</a:t>
            </a:r>
            <a:endParaRPr lang="en-US" sz="2000" dirty="0">
              <a:solidFill>
                <a:srgbClr val="FF0000"/>
              </a:solidFill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494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algn="ctr">
              <a:defRPr/>
            </a:pPr>
            <a:fld id="{4C167419-3E17-4805-8141-C5724BC9AF66}" type="slidenum">
              <a:rPr lang="en-US" b="1">
                <a:solidFill>
                  <a:schemeClr val="bg1"/>
                </a:solidFill>
              </a:rPr>
              <a:pPr algn="ctr">
                <a:defRPr/>
              </a:pPr>
              <a:t>9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050742" y="2840853"/>
            <a:ext cx="2014716" cy="11542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236373" y="2840853"/>
            <a:ext cx="2014716" cy="11542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900904" y="1600200"/>
            <a:ext cx="7577142" cy="44958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221992" y="3355848"/>
            <a:ext cx="2331720" cy="21122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434328" y="3380506"/>
            <a:ext cx="2331720" cy="21122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347133" y="6320795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 dirty="0"/>
              <a:t>Source: </a:t>
            </a:r>
            <a:r>
              <a:rPr lang="en-US" sz="1100" dirty="0" err="1">
                <a:hlinkClick r:id="rId3"/>
              </a:rPr>
              <a:t>Dubé</a:t>
            </a:r>
            <a:r>
              <a:rPr lang="en-US" sz="1100" dirty="0">
                <a:hlinkClick r:id="rId3"/>
              </a:rPr>
              <a:t>, Fang, Fong and Luo (</a:t>
            </a:r>
            <a:r>
              <a:rPr lang="en-US" sz="1100" dirty="0" smtClean="0">
                <a:hlinkClick r:id="rId3"/>
              </a:rPr>
              <a:t>2017)</a:t>
            </a:r>
            <a:endParaRPr lang="en-US" sz="1100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Mobile </a:t>
            </a:r>
            <a:r>
              <a:rPr lang="en-US" sz="4400" dirty="0" smtClean="0"/>
              <a:t>Geo-</a:t>
            </a:r>
            <a:r>
              <a:rPr lang="en-US" sz="4400" dirty="0" err="1" smtClean="0"/>
              <a:t>Conquesting</a:t>
            </a:r>
            <a:r>
              <a:rPr lang="en-US" sz="4400" dirty="0"/>
              <a:t/>
            </a:r>
            <a:br>
              <a:rPr lang="en-US" sz="4400" dirty="0"/>
            </a:br>
            <a:r>
              <a:rPr lang="en-US" sz="3600" dirty="0" smtClean="0"/>
              <a:t>Example: Chinese movie theaters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401728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225" y="1596222"/>
            <a:ext cx="45025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algn="ctr">
              <a:defRPr/>
            </a:pPr>
            <a:fld id="{4C167419-3E17-4805-8141-C5724BC9AF66}" type="slidenum">
              <a:rPr lang="en-US" b="1">
                <a:solidFill>
                  <a:schemeClr val="bg1"/>
                </a:solidFill>
              </a:rPr>
              <a:pPr algn="ctr">
                <a:defRPr/>
              </a:pPr>
              <a:t>10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Geo-</a:t>
            </a:r>
            <a:r>
              <a:rPr lang="en-US" sz="4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Conquesting</a:t>
            </a:r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/>
              <a:t>Example: SMS discounts for movie theaters</a:t>
            </a:r>
            <a:endParaRPr lang="en-US" sz="360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256867" y="5139267"/>
            <a:ext cx="0" cy="6017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77933" y="5773563"/>
            <a:ext cx="27347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70C0"/>
                </a:solidFill>
              </a:rPr>
              <a:t>Regular price (75 RMB)</a:t>
            </a:r>
            <a:endParaRPr lang="en-US" sz="1400" dirty="0">
              <a:solidFill>
                <a:srgbClr val="0070C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31800" y="6153428"/>
            <a:ext cx="7052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rgbClr val="FF0000"/>
                </a:solidFill>
              </a:rPr>
              <a:t>Targeting low price in competitor mall </a:t>
            </a:r>
            <a:r>
              <a:rPr lang="en-US" sz="1800" u="sng" dirty="0" smtClean="0">
                <a:solidFill>
                  <a:srgbClr val="FF0000"/>
                </a:solidFill>
              </a:rPr>
              <a:t>stimulates</a:t>
            </a:r>
            <a:r>
              <a:rPr lang="en-US" sz="1800" dirty="0" smtClean="0">
                <a:solidFill>
                  <a:srgbClr val="FF0000"/>
                </a:solidFill>
              </a:rPr>
              <a:t> new business!</a:t>
            </a:r>
            <a:endParaRPr lang="en-US" sz="1800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5266267" y="2489200"/>
            <a:ext cx="1845733" cy="1735667"/>
          </a:xfrm>
          <a:prstGeom prst="straightConnector1">
            <a:avLst/>
          </a:prstGeom>
          <a:ln>
            <a:solidFill>
              <a:srgbClr val="00206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12001" y="2294467"/>
            <a:ext cx="187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srgbClr val="002060"/>
                </a:solidFill>
              </a:rPr>
              <a:t>Based on </a:t>
            </a:r>
            <a:r>
              <a:rPr lang="en-US" sz="1200" dirty="0" err="1" smtClean="0">
                <a:solidFill>
                  <a:srgbClr val="002060"/>
                </a:solidFill>
              </a:rPr>
              <a:t>probit</a:t>
            </a:r>
            <a:r>
              <a:rPr lang="en-US" sz="1200" dirty="0" smtClean="0">
                <a:solidFill>
                  <a:srgbClr val="002060"/>
                </a:solidFill>
              </a:rPr>
              <a:t> demand regression using field test data.</a:t>
            </a:r>
            <a:endParaRPr lang="en-US" sz="1200" dirty="0">
              <a:solidFill>
                <a:srgbClr val="002060"/>
              </a:solidFill>
            </a:endParaRPr>
          </a:p>
        </p:txBody>
      </p:sp>
      <p:cxnSp>
        <p:nvCxnSpPr>
          <p:cNvPr id="15" name="Straight Arrow Connector 14"/>
          <p:cNvCxnSpPr>
            <a:stCxn id="12" idx="1"/>
          </p:cNvCxnSpPr>
          <p:nvPr/>
        </p:nvCxnSpPr>
        <p:spPr>
          <a:xfrm flipH="1">
            <a:off x="5647269" y="2617633"/>
            <a:ext cx="1464732" cy="2589367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 rot="20368768">
            <a:off x="6788197" y="3465685"/>
            <a:ext cx="18966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 smtClean="0">
                <a:solidFill>
                  <a:srgbClr val="FF0000"/>
                </a:solidFill>
                <a:latin typeface="Stencil" panose="040409050D0802020404" pitchFamily="82" charset="0"/>
              </a:rPr>
              <a:t>What about</a:t>
            </a:r>
          </a:p>
          <a:p>
            <a:pPr algn="ctr"/>
            <a:r>
              <a:rPr lang="en-US" sz="2000" dirty="0" smtClean="0">
                <a:solidFill>
                  <a:srgbClr val="FF0000"/>
                </a:solidFill>
                <a:latin typeface="Stencil" panose="040409050D0802020404" pitchFamily="82" charset="0"/>
              </a:rPr>
              <a:t>Competitor?</a:t>
            </a:r>
            <a:endParaRPr lang="en-US" sz="2000" dirty="0">
              <a:solidFill>
                <a:srgbClr val="FF0000"/>
              </a:solidFill>
              <a:latin typeface="Stencil" panose="040409050D0802020404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0726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900904" y="1600200"/>
            <a:ext cx="7577142" cy="4495800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algn="ctr">
              <a:defRPr/>
            </a:pPr>
            <a:fld id="{4C167419-3E17-4805-8141-C5724BC9AF66}" type="slidenum">
              <a:rPr lang="en-US" b="1">
                <a:solidFill>
                  <a:schemeClr val="bg1"/>
                </a:solidFill>
              </a:rPr>
              <a:pPr algn="ctr">
                <a:defRPr/>
              </a:pPr>
              <a:t>11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47133" y="6320795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100" dirty="0"/>
              <a:t>Source: </a:t>
            </a:r>
            <a:r>
              <a:rPr lang="en-US" sz="1100" dirty="0" err="1">
                <a:hlinkClick r:id="rId3"/>
              </a:rPr>
              <a:t>Dubé</a:t>
            </a:r>
            <a:r>
              <a:rPr lang="en-US" sz="1100" dirty="0">
                <a:hlinkClick r:id="rId3"/>
              </a:rPr>
              <a:t>, Fang, Fong and Luo (</a:t>
            </a:r>
            <a:r>
              <a:rPr lang="en-US" sz="1100" dirty="0" smtClean="0">
                <a:hlinkClick r:id="rId3"/>
              </a:rPr>
              <a:t>2017)</a:t>
            </a:r>
            <a:endParaRPr lang="en-US" sz="1100" dirty="0"/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sz="4400" dirty="0"/>
              <a:t>Mobile </a:t>
            </a:r>
            <a:r>
              <a:rPr lang="en-US" sz="4400" dirty="0" smtClean="0"/>
              <a:t>Geo-</a:t>
            </a:r>
            <a:r>
              <a:rPr lang="en-US" sz="4400" dirty="0" err="1" smtClean="0"/>
              <a:t>Conquesting</a:t>
            </a:r>
            <a:r>
              <a:rPr lang="en-US" sz="4400" dirty="0"/>
              <a:t/>
            </a:r>
            <a:br>
              <a:rPr lang="en-US" sz="4400" dirty="0"/>
            </a:br>
            <a:r>
              <a:rPr lang="en-US" sz="3600" dirty="0" smtClean="0"/>
              <a:t>Example: Chinese movie theaters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782116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C167419-3E17-4805-8141-C5724BC9AF6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531352" cy="990600"/>
          </a:xfrm>
        </p:spPr>
        <p:txBody>
          <a:bodyPr>
            <a:normAutofit fontScale="90000"/>
          </a:bodyPr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Geo-</a:t>
            </a:r>
            <a:r>
              <a:rPr lang="en-US" sz="4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Conquesting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&amp; competitor response</a:t>
            </a:r>
            <a:b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/>
              <a:t>Example: </a:t>
            </a:r>
            <a:r>
              <a:rPr lang="en-US" sz="3600" dirty="0" smtClean="0"/>
              <a:t>Chinese </a:t>
            </a:r>
            <a:r>
              <a:rPr lang="en-US" sz="3600" dirty="0" smtClean="0"/>
              <a:t>movie theaters</a:t>
            </a:r>
            <a:endParaRPr lang="en-US" sz="36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575" y="1600200"/>
            <a:ext cx="4495800" cy="4495800"/>
          </a:xfrm>
        </p:spPr>
      </p:pic>
      <p:sp>
        <p:nvSpPr>
          <p:cNvPr id="6" name="TextBox 5"/>
          <p:cNvSpPr txBox="1"/>
          <p:nvPr/>
        </p:nvSpPr>
        <p:spPr>
          <a:xfrm>
            <a:off x="330199" y="5933870"/>
            <a:ext cx="69850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7030A0"/>
                </a:solidFill>
              </a:rPr>
              <a:t>Uh-oh, demand for theater A from competitor’s mall shifts in a LOT when theater B reacts!!!</a:t>
            </a:r>
            <a:endParaRPr lang="en-US" sz="20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235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2042" y="1591192"/>
            <a:ext cx="4517571" cy="45108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0" y="1271588"/>
            <a:ext cx="533400" cy="244475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algn="ctr">
              <a:defRPr/>
            </a:pPr>
            <a:fld id="{4C167419-3E17-4805-8141-C5724BC9AF66}" type="slidenum">
              <a:rPr lang="en-US" b="1">
                <a:solidFill>
                  <a:schemeClr val="bg1"/>
                </a:solidFill>
              </a:rPr>
              <a:pPr algn="ctr">
                <a:defRPr/>
              </a:pPr>
              <a:t>13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>
            <a:normAutofit fontScale="90000"/>
          </a:bodyPr>
          <a:lstStyle/>
          <a:p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Geo-</a:t>
            </a:r>
            <a:r>
              <a:rPr lang="en-US" sz="4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Conquesting</a:t>
            </a:r>
            <a: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4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/>
              <a:t>Example: SMS discounts for movie theaters</a:t>
            </a:r>
            <a:endParaRPr lang="en-US" sz="3600" dirty="0"/>
          </a:p>
        </p:txBody>
      </p:sp>
      <p:sp>
        <p:nvSpPr>
          <p:cNvPr id="10" name="TextBox 9"/>
          <p:cNvSpPr txBox="1"/>
          <p:nvPr/>
        </p:nvSpPr>
        <p:spPr>
          <a:xfrm>
            <a:off x="431800" y="6082048"/>
            <a:ext cx="6687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 smtClean="0">
                <a:solidFill>
                  <a:srgbClr val="7030A0"/>
                </a:solidFill>
              </a:rPr>
              <a:t>Competitor response offsets </a:t>
            </a:r>
            <a:r>
              <a:rPr lang="en-US" sz="1800" dirty="0">
                <a:solidFill>
                  <a:srgbClr val="7030A0"/>
                </a:solidFill>
              </a:rPr>
              <a:t>80% </a:t>
            </a:r>
            <a:r>
              <a:rPr lang="en-US" sz="1800" dirty="0" smtClean="0">
                <a:solidFill>
                  <a:srgbClr val="7030A0"/>
                </a:solidFill>
              </a:rPr>
              <a:t>of incremental profitability of </a:t>
            </a:r>
            <a:r>
              <a:rPr lang="en-US" sz="1800" i="1" dirty="0" smtClean="0">
                <a:solidFill>
                  <a:srgbClr val="7030A0"/>
                </a:solidFill>
              </a:rPr>
              <a:t>geo-</a:t>
            </a:r>
            <a:r>
              <a:rPr lang="en-US" sz="1800" i="1" dirty="0" err="1" smtClean="0">
                <a:solidFill>
                  <a:srgbClr val="7030A0"/>
                </a:solidFill>
              </a:rPr>
              <a:t>conquesting</a:t>
            </a:r>
            <a:endParaRPr lang="en-US" sz="1800" i="1" dirty="0">
              <a:solidFill>
                <a:srgbClr val="7030A0"/>
              </a:solidFill>
            </a:endParaRPr>
          </a:p>
        </p:txBody>
      </p:sp>
      <p:cxnSp>
        <p:nvCxnSpPr>
          <p:cNvPr id="3" name="Straight Arrow Connector 2"/>
          <p:cNvCxnSpPr/>
          <p:nvPr/>
        </p:nvCxnSpPr>
        <p:spPr>
          <a:xfrm flipH="1">
            <a:off x="3534833" y="2514600"/>
            <a:ext cx="249767" cy="1972733"/>
          </a:xfrm>
          <a:prstGeom prst="straightConnector1">
            <a:avLst/>
          </a:prstGeom>
          <a:ln w="38100">
            <a:solidFill>
              <a:srgbClr val="7030A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6256867" y="5248656"/>
            <a:ext cx="0" cy="4923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77933" y="5773563"/>
            <a:ext cx="27347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0070C0"/>
                </a:solidFill>
              </a:rPr>
              <a:t>Regular price (75 RMB)</a:t>
            </a:r>
            <a:endParaRPr lang="en-US" sz="1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7525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 smtClean="0"/>
              <a:t>Challenge </a:t>
            </a:r>
            <a:r>
              <a:rPr lang="en-US" sz="4400" dirty="0"/>
              <a:t>with Targeted Pricing</a:t>
            </a:r>
            <a:br>
              <a:rPr lang="en-US" sz="4400" dirty="0"/>
            </a:br>
            <a:r>
              <a:rPr lang="en-US" sz="3600" dirty="0" smtClean="0"/>
              <a:t>Competitive Reactions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US" dirty="0" smtClean="0"/>
              <a:t>Price targeting not guaranteed to increase profits if competitors can launch a competing price-targeting campaign</a:t>
            </a:r>
          </a:p>
          <a:p>
            <a:pPr>
              <a:spcBef>
                <a:spcPts val="1200"/>
              </a:spcBef>
            </a:pPr>
            <a:r>
              <a:rPr lang="en-US" dirty="0" smtClean="0"/>
              <a:t>In equilibrium it’s possible to fall into a prisoner’s dilemma</a:t>
            </a:r>
          </a:p>
          <a:p>
            <a:pPr lvl="1"/>
            <a:r>
              <a:rPr lang="en-US" dirty="0" smtClean="0"/>
              <a:t>Targeting may trigger price wars in each firm’s local market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fld id="{4C167419-3E17-4805-8141-C5724BC9AF6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617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emp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Median">
    <a:dk1>
      <a:sysClr val="windowText" lastClr="000000"/>
    </a:dk1>
    <a:lt1>
      <a:sysClr val="window" lastClr="FFFFFF"/>
    </a:lt1>
    <a:dk2>
      <a:srgbClr val="775F55"/>
    </a:dk2>
    <a:lt2>
      <a:srgbClr val="EBDDC3"/>
    </a:lt2>
    <a:accent1>
      <a:srgbClr val="94B6D2"/>
    </a:accent1>
    <a:accent2>
      <a:srgbClr val="DD8047"/>
    </a:accent2>
    <a:accent3>
      <a:srgbClr val="A5AB81"/>
    </a:accent3>
    <a:accent4>
      <a:srgbClr val="D8B25C"/>
    </a:accent4>
    <a:accent5>
      <a:srgbClr val="7BA79D"/>
    </a:accent5>
    <a:accent6>
      <a:srgbClr val="968C8C"/>
    </a:accent6>
    <a:hlink>
      <a:srgbClr val="F7B615"/>
    </a:hlink>
    <a:folHlink>
      <a:srgbClr val="70440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temp</Template>
  <TotalTime>1083954467</TotalTime>
  <Pages>26</Pages>
  <Words>444</Words>
  <Application>Microsoft Office PowerPoint</Application>
  <PresentationFormat>Letter Paper (8.5x11 in)</PresentationFormat>
  <Paragraphs>68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Arial</vt:lpstr>
      <vt:lpstr>Flama-Bold</vt:lpstr>
      <vt:lpstr>Flama-Book</vt:lpstr>
      <vt:lpstr>FlamaSlab-Book</vt:lpstr>
      <vt:lpstr>Stencil</vt:lpstr>
      <vt:lpstr>Symbol</vt:lpstr>
      <vt:lpstr>Times New Roman</vt:lpstr>
      <vt:lpstr>Tw Cen MT</vt:lpstr>
      <vt:lpstr>Wingdings</vt:lpstr>
      <vt:lpstr>Wingdings 2</vt:lpstr>
      <vt:lpstr>temp</vt:lpstr>
      <vt:lpstr>Competitive Pricing</vt:lpstr>
      <vt:lpstr>Geo-Conquesting New Data sources: real-time mobile location</vt:lpstr>
      <vt:lpstr>Geo-Conquesting Targeting competitor’s customers</vt:lpstr>
      <vt:lpstr>Geo-Conquesting Targeting competitor’s customers</vt:lpstr>
      <vt:lpstr>Mobile Geo-Conquesting: Chinese Movie Theaters</vt:lpstr>
      <vt:lpstr>Geo-Conquesting Example: SMS discounts for movie theaters</vt:lpstr>
      <vt:lpstr>Geo-Conquesting Example: SMS discounts for movie theaters</vt:lpstr>
      <vt:lpstr>Mobile Geo-Fencing only Example: Chinese movie theaters</vt:lpstr>
      <vt:lpstr>Mobile Geo-Conquesting Example: Chinese movie theaters</vt:lpstr>
      <vt:lpstr>Geo-Conquesting Example: SMS discounts for movie theaters</vt:lpstr>
      <vt:lpstr>Mobile Geo-Conquesting Example: Chinese movie theaters</vt:lpstr>
      <vt:lpstr>Geo-Conquesting &amp; competitor response Example: Chinese movie theaters</vt:lpstr>
      <vt:lpstr>Geo-Conquesting Example: SMS discounts for movie theaters</vt:lpstr>
      <vt:lpstr>Challenge with Targeted Pricing Competitive Reactions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Demand:  Economic and Behavioral Perspectives</dc:title>
  <dc:creator>JP Dube</dc:creator>
  <cp:lastModifiedBy>Dube, Jean-Pierre</cp:lastModifiedBy>
  <cp:revision>604</cp:revision>
  <cp:lastPrinted>1999-01-08T14:01:46Z</cp:lastPrinted>
  <dcterms:created xsi:type="dcterms:W3CDTF">1996-09-12T19:06:02Z</dcterms:created>
  <dcterms:modified xsi:type="dcterms:W3CDTF">2020-09-12T16:53:22Z</dcterms:modified>
</cp:coreProperties>
</file>