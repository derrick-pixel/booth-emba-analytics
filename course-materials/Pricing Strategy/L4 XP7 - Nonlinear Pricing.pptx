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97" r:id="rId1"/>
  </p:sldMasterIdLst>
  <p:notesMasterIdLst>
    <p:notesMasterId r:id="rId40"/>
  </p:notesMasterIdLst>
  <p:handoutMasterIdLst>
    <p:handoutMasterId r:id="rId41"/>
  </p:handoutMasterIdLst>
  <p:sldIdLst>
    <p:sldId id="256" r:id="rId2"/>
    <p:sldId id="441" r:id="rId3"/>
    <p:sldId id="422" r:id="rId4"/>
    <p:sldId id="398" r:id="rId5"/>
    <p:sldId id="399" r:id="rId6"/>
    <p:sldId id="388" r:id="rId7"/>
    <p:sldId id="423" r:id="rId8"/>
    <p:sldId id="467" r:id="rId9"/>
    <p:sldId id="417" r:id="rId10"/>
    <p:sldId id="442" r:id="rId11"/>
    <p:sldId id="400" r:id="rId12"/>
    <p:sldId id="401" r:id="rId13"/>
    <p:sldId id="354" r:id="rId14"/>
    <p:sldId id="391" r:id="rId15"/>
    <p:sldId id="386" r:id="rId16"/>
    <p:sldId id="392" r:id="rId17"/>
    <p:sldId id="447" r:id="rId18"/>
    <p:sldId id="433" r:id="rId19"/>
    <p:sldId id="348" r:id="rId20"/>
    <p:sldId id="434" r:id="rId21"/>
    <p:sldId id="431" r:id="rId22"/>
    <p:sldId id="446" r:id="rId23"/>
    <p:sldId id="418" r:id="rId24"/>
    <p:sldId id="427" r:id="rId25"/>
    <p:sldId id="473" r:id="rId26"/>
    <p:sldId id="448" r:id="rId27"/>
    <p:sldId id="464" r:id="rId28"/>
    <p:sldId id="475" r:id="rId29"/>
    <p:sldId id="449" r:id="rId30"/>
    <p:sldId id="419" r:id="rId31"/>
    <p:sldId id="376" r:id="rId32"/>
    <p:sldId id="412" r:id="rId33"/>
    <p:sldId id="366" r:id="rId34"/>
    <p:sldId id="437" r:id="rId35"/>
    <p:sldId id="438" r:id="rId36"/>
    <p:sldId id="439" r:id="rId37"/>
    <p:sldId id="440" r:id="rId38"/>
    <p:sldId id="396" r:id="rId39"/>
  </p:sldIdLst>
  <p:sldSz cx="9144000" cy="6858000" type="letter"/>
  <p:notesSz cx="6858000" cy="9199563"/>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605" autoAdjust="0"/>
  </p:normalViewPr>
  <p:slideViewPr>
    <p:cSldViewPr snapToGrid="0" snapToObjects="1">
      <p:cViewPr varScale="1">
        <p:scale>
          <a:sx n="120" d="100"/>
          <a:sy n="120" d="100"/>
        </p:scale>
        <p:origin x="194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91275" y="8802688"/>
            <a:ext cx="396875" cy="304800"/>
          </a:xfrm>
          <a:prstGeom prst="rect">
            <a:avLst/>
          </a:prstGeom>
          <a:noFill/>
          <a:ln w="12700">
            <a:noFill/>
            <a:miter lim="800000"/>
            <a:headEnd/>
            <a:tailEnd/>
          </a:ln>
          <a:effectLst/>
        </p:spPr>
        <p:txBody>
          <a:bodyPr wrap="none" lIns="90686" tIns="44547" rIns="90686" bIns="44547" anchor="ctr">
            <a:spAutoFit/>
          </a:bodyPr>
          <a:lstStyle/>
          <a:p>
            <a:pPr algn="r" defTabSz="915988">
              <a:defRPr/>
            </a:pPr>
            <a:fld id="{7C0CD23C-2994-43B9-AF70-B46C6ED49577}" type="slidenum">
              <a:rPr lang="en-US" sz="1400">
                <a:latin typeface="Arial" charset="0"/>
              </a:rPr>
              <a:pPr algn="r" defTabSz="915988">
                <a:defRPr/>
              </a:pPr>
              <a:t>‹#›</a:t>
            </a:fld>
            <a:endParaRPr lang="en-US" sz="1400">
              <a:latin typeface="Arial" charset="0"/>
            </a:endParaRPr>
          </a:p>
        </p:txBody>
      </p:sp>
    </p:spTree>
    <p:extLst>
      <p:ext uri="{BB962C8B-B14F-4D97-AF65-F5344CB8AC3E}">
        <p14:creationId xmlns:p14="http://schemas.microsoft.com/office/powerpoint/2010/main" val="11813956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70388"/>
            <a:ext cx="5029200" cy="4138612"/>
          </a:xfrm>
          <a:prstGeom prst="rect">
            <a:avLst/>
          </a:prstGeom>
          <a:noFill/>
          <a:ln w="12700">
            <a:noFill/>
            <a:miter lim="800000"/>
            <a:headEnd/>
            <a:tailEnd/>
          </a:ln>
          <a:effectLst/>
        </p:spPr>
        <p:txBody>
          <a:bodyPr vert="horz" wrap="square" lIns="90686" tIns="44547" rIns="90686" bIns="44547"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5" name="Rectangle 3"/>
          <p:cNvSpPr>
            <a:spLocks noGrp="1" noRot="1" noChangeAspect="1" noChangeArrowheads="1" noTextEdit="1"/>
          </p:cNvSpPr>
          <p:nvPr>
            <p:ph type="sldImg" idx="2"/>
          </p:nvPr>
        </p:nvSpPr>
        <p:spPr bwMode="auto">
          <a:xfrm>
            <a:off x="1127125" y="688975"/>
            <a:ext cx="4603750" cy="3451225"/>
          </a:xfrm>
          <a:prstGeom prst="rect">
            <a:avLst/>
          </a:prstGeom>
          <a:noFill/>
          <a:ln w="12700">
            <a:solidFill>
              <a:schemeClr val="tx1"/>
            </a:solidFill>
            <a:miter lim="800000"/>
            <a:headEnd/>
            <a:tailEnd/>
          </a:ln>
        </p:spPr>
      </p:sp>
      <p:sp>
        <p:nvSpPr>
          <p:cNvPr id="2052" name="Rectangle 4"/>
          <p:cNvSpPr>
            <a:spLocks noChangeArrowheads="1"/>
          </p:cNvSpPr>
          <p:nvPr/>
        </p:nvSpPr>
        <p:spPr bwMode="auto">
          <a:xfrm>
            <a:off x="6391275" y="8802688"/>
            <a:ext cx="396875" cy="304800"/>
          </a:xfrm>
          <a:prstGeom prst="rect">
            <a:avLst/>
          </a:prstGeom>
          <a:noFill/>
          <a:ln w="12700">
            <a:noFill/>
            <a:miter lim="800000"/>
            <a:headEnd/>
            <a:tailEnd/>
          </a:ln>
          <a:effectLst/>
        </p:spPr>
        <p:txBody>
          <a:bodyPr wrap="none" lIns="90686" tIns="44547" rIns="90686" bIns="44547" anchor="ctr">
            <a:spAutoFit/>
          </a:bodyPr>
          <a:lstStyle/>
          <a:p>
            <a:pPr algn="r" defTabSz="915988">
              <a:defRPr/>
            </a:pPr>
            <a:fld id="{D6AF4144-0970-4695-97BB-C5F4E3401BFA}" type="slidenum">
              <a:rPr lang="en-US" sz="1400">
                <a:latin typeface="Arial" charset="0"/>
              </a:rPr>
              <a:pPr algn="r" defTabSz="915988">
                <a:defRPr/>
              </a:pPr>
              <a:t>‹#›</a:t>
            </a:fld>
            <a:endParaRPr lang="en-US" sz="1400">
              <a:latin typeface="Arial" charset="0"/>
            </a:endParaRPr>
          </a:p>
        </p:txBody>
      </p:sp>
    </p:spTree>
    <p:extLst>
      <p:ext uri="{BB962C8B-B14F-4D97-AF65-F5344CB8AC3E}">
        <p14:creationId xmlns:p14="http://schemas.microsoft.com/office/powerpoint/2010/main" val="29719174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noFill/>
          <a:ln w="9525"/>
        </p:spPr>
        <p:txBody>
          <a:bodyPr/>
          <a:lstStyle/>
          <a:p>
            <a:endParaRPr lang="en-US">
              <a:latin typeface="Arial" pitchFamily="34" charset="0"/>
            </a:endParaRPr>
          </a:p>
        </p:txBody>
      </p:sp>
      <p:sp>
        <p:nvSpPr>
          <p:cNvPr id="29699" name="Rectangle 3"/>
          <p:cNvSpPr>
            <a:spLocks noGrp="1" noRot="1" noChangeAspect="1" noChangeArrowheads="1" noTextEdit="1"/>
          </p:cNvSpPr>
          <p:nvPr>
            <p:ph type="sldImg"/>
          </p:nvPr>
        </p:nvSpPr>
        <p:spPr>
          <a:xfrm>
            <a:off x="1128713" y="688975"/>
            <a:ext cx="4600575" cy="3451225"/>
          </a:xfrm>
          <a:ln cap="flat"/>
        </p:spPr>
      </p:sp>
    </p:spTree>
    <p:extLst>
      <p:ext uri="{BB962C8B-B14F-4D97-AF65-F5344CB8AC3E}">
        <p14:creationId xmlns:p14="http://schemas.microsoft.com/office/powerpoint/2010/main" val="2689697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3268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ndParaRPr>
          </a:p>
        </p:txBody>
      </p:sp>
      <p:sp>
        <p:nvSpPr>
          <p:cNvPr id="39939" name="Rectangle 3"/>
          <p:cNvSpPr>
            <a:spLocks noGrp="1" noRot="1" noChangeAspect="1" noChangeArrowheads="1" noTextEdit="1"/>
          </p:cNvSpPr>
          <p:nvPr>
            <p:ph type="sldImg"/>
          </p:nvPr>
        </p:nvSpPr>
        <p:spPr>
          <a:xfrm>
            <a:off x="1128713" y="688975"/>
            <a:ext cx="4600575" cy="3451225"/>
          </a:xfrm>
          <a:ln cap="flat"/>
        </p:spPr>
      </p:sp>
    </p:spTree>
    <p:extLst>
      <p:ext uri="{BB962C8B-B14F-4D97-AF65-F5344CB8AC3E}">
        <p14:creationId xmlns:p14="http://schemas.microsoft.com/office/powerpoint/2010/main" val="61073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ndParaRPr>
          </a:p>
        </p:txBody>
      </p:sp>
      <p:sp>
        <p:nvSpPr>
          <p:cNvPr id="39939" name="Rectangle 3"/>
          <p:cNvSpPr>
            <a:spLocks noGrp="1" noRot="1" noChangeAspect="1" noChangeArrowheads="1" noTextEdit="1"/>
          </p:cNvSpPr>
          <p:nvPr>
            <p:ph type="sldImg"/>
          </p:nvPr>
        </p:nvSpPr>
        <p:spPr>
          <a:xfrm>
            <a:off x="1128713" y="688975"/>
            <a:ext cx="4600575" cy="3451225"/>
          </a:xfrm>
          <a:ln cap="flat"/>
        </p:spPr>
      </p:sp>
    </p:spTree>
    <p:extLst>
      <p:ext uri="{BB962C8B-B14F-4D97-AF65-F5344CB8AC3E}">
        <p14:creationId xmlns:p14="http://schemas.microsoft.com/office/powerpoint/2010/main" val="1571136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r>
              <a:rPr lang="en-US" dirty="0"/>
              <a:t>http://www.fool.com/investing/general/2015/06/10/why-membership-fees-are-so-important-to-costco-who.aspx</a:t>
            </a:r>
          </a:p>
          <a:p>
            <a:r>
              <a:rPr lang="en-US" dirty="0"/>
              <a:t>https://consumerist.com/2015/05/29/costco-misses-out-on-40myear-because-of-5-rotisserie-chickens-and-its-okay-with-that/</a:t>
            </a:r>
          </a:p>
        </p:txBody>
      </p:sp>
    </p:spTree>
    <p:extLst>
      <p:ext uri="{BB962C8B-B14F-4D97-AF65-F5344CB8AC3E}">
        <p14:creationId xmlns:p14="http://schemas.microsoft.com/office/powerpoint/2010/main" val="606767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r>
              <a:rPr lang="en-US" dirty="0"/>
              <a:t>http://www.fool.com/investing/general/2015/06/10/why-membership-fees-are-so-important-to-costco-who.aspx</a:t>
            </a:r>
          </a:p>
          <a:p>
            <a:r>
              <a:rPr lang="en-US" dirty="0"/>
              <a:t>https://consumerist.com/2015/05/29/costco-misses-out-on-40myear-because-of-5-rotisserie-chickens-and-its-okay-with-that/</a:t>
            </a:r>
          </a:p>
        </p:txBody>
      </p:sp>
    </p:spTree>
    <p:extLst>
      <p:ext uri="{BB962C8B-B14F-4D97-AF65-F5344CB8AC3E}">
        <p14:creationId xmlns:p14="http://schemas.microsoft.com/office/powerpoint/2010/main" val="1553201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pPr marL="228600" indent="-228600">
              <a:buAutoNum type="arabicPeriod"/>
            </a:pPr>
            <a:r>
              <a:rPr lang="en-US" dirty="0"/>
              <a:t>i.e. you may still need to pay a brokerage for the trades</a:t>
            </a:r>
          </a:p>
        </p:txBody>
      </p:sp>
    </p:spTree>
    <p:extLst>
      <p:ext uri="{BB962C8B-B14F-4D97-AF65-F5344CB8AC3E}">
        <p14:creationId xmlns:p14="http://schemas.microsoft.com/office/powerpoint/2010/main" val="473492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 Morton Salt: illegal for one firm to benefit</a:t>
            </a:r>
            <a:r>
              <a:rPr lang="en-US" baseline="0" dirty="0"/>
              <a:t> over another due to buying power (i.e. access to volume discount)</a:t>
            </a:r>
            <a:endParaRPr lang="en-US" dirty="0"/>
          </a:p>
          <a:p>
            <a:r>
              <a:rPr lang="en-US" dirty="0"/>
              <a:t>- </a:t>
            </a:r>
            <a:r>
              <a:rPr lang="en-US" dirty="0" err="1"/>
              <a:t>Feesers</a:t>
            </a:r>
            <a:r>
              <a:rPr lang="en-US" dirty="0"/>
              <a:t> sued Michael</a:t>
            </a:r>
            <a:r>
              <a:rPr lang="en-US" baseline="0" dirty="0"/>
              <a:t> Foods for selling liquid eggs and potato products cheaper to </a:t>
            </a:r>
            <a:r>
              <a:rPr lang="en-US" baseline="0" dirty="0" err="1"/>
              <a:t>Sodhexo</a:t>
            </a:r>
            <a:r>
              <a:rPr lang="en-US" baseline="0" dirty="0"/>
              <a:t>.  Reversal b/c catering and food services (</a:t>
            </a:r>
            <a:r>
              <a:rPr lang="en-US" baseline="0" dirty="0" err="1"/>
              <a:t>Feesers</a:t>
            </a:r>
            <a:r>
              <a:rPr lang="en-US" baseline="0" dirty="0"/>
              <a:t>) not in direct competition with food distribution (Sodexho)</a:t>
            </a:r>
            <a:endParaRPr lang="en-US" dirty="0"/>
          </a:p>
        </p:txBody>
      </p:sp>
    </p:spTree>
    <p:extLst>
      <p:ext uri="{BB962C8B-B14F-4D97-AF65-F5344CB8AC3E}">
        <p14:creationId xmlns:p14="http://schemas.microsoft.com/office/powerpoint/2010/main" val="3784834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8713" y="688975"/>
            <a:ext cx="4600575" cy="345122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 Morton Salt: illegal for one firm to benefit</a:t>
            </a:r>
            <a:r>
              <a:rPr lang="en-US" baseline="0" dirty="0"/>
              <a:t> over another due to buying power (i.e. access to volume discount)</a:t>
            </a:r>
            <a:endParaRPr lang="en-US" dirty="0"/>
          </a:p>
          <a:p>
            <a:r>
              <a:rPr lang="en-US" dirty="0"/>
              <a:t>- </a:t>
            </a:r>
            <a:r>
              <a:rPr lang="en-US" dirty="0" err="1"/>
              <a:t>Feesers</a:t>
            </a:r>
            <a:r>
              <a:rPr lang="en-US" dirty="0"/>
              <a:t> sued Michael</a:t>
            </a:r>
            <a:r>
              <a:rPr lang="en-US" baseline="0" dirty="0"/>
              <a:t> Foods for selling liquid eggs and potato products cheaper to </a:t>
            </a:r>
            <a:r>
              <a:rPr lang="en-US" baseline="0" dirty="0" err="1"/>
              <a:t>Sodhexo</a:t>
            </a:r>
            <a:r>
              <a:rPr lang="en-US" baseline="0" dirty="0"/>
              <a:t>.  Reversal b/c catering and food services (</a:t>
            </a:r>
            <a:r>
              <a:rPr lang="en-US" baseline="0" dirty="0" err="1"/>
              <a:t>Feesers</a:t>
            </a:r>
            <a:r>
              <a:rPr lang="en-US" baseline="0" dirty="0"/>
              <a:t>) not in direct competition with food distribution (Sodexho)</a:t>
            </a:r>
            <a:endParaRPr lang="en-US" dirty="0"/>
          </a:p>
        </p:txBody>
      </p:sp>
    </p:spTree>
    <p:extLst>
      <p:ext uri="{BB962C8B-B14F-4D97-AF65-F5344CB8AC3E}">
        <p14:creationId xmlns:p14="http://schemas.microsoft.com/office/powerpoint/2010/main" val="3364645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pic>
        <p:nvPicPr>
          <p:cNvPr id="12" name="Picture 11" descr="Lg-Ghosted-Shield-offset_red.jpg"/>
          <p:cNvPicPr>
            <a:picLocks noChangeAspect="1"/>
          </p:cNvPicPr>
          <p:nvPr userDrawn="1"/>
        </p:nvPicPr>
        <p:blipFill>
          <a:blip r:embed="rId2"/>
          <a:stretch>
            <a:fillRect/>
          </a:stretch>
        </p:blipFill>
        <p:spPr>
          <a:xfrm>
            <a:off x="0" y="0"/>
            <a:ext cx="9144000" cy="6858000"/>
          </a:xfrm>
          <a:prstGeom prst="rect">
            <a:avLst/>
          </a:prstGeom>
        </p:spPr>
      </p:pic>
      <p:sp>
        <p:nvSpPr>
          <p:cNvPr id="13" name="Rectangle 12"/>
          <p:cNvSpPr/>
          <p:nvPr userDrawn="1"/>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userDrawn="1"/>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17"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8"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7E7CF4D2-22D1-48E5-82E4-BFA1B2240848}" type="slidenum">
              <a:rPr lang="en-US" smtClean="0"/>
              <a:pPr>
                <a:defRPr/>
              </a:pPr>
              <a:t>‹#›</a:t>
            </a:fld>
            <a:endParaRPr lang="en-US"/>
          </a:p>
        </p:txBody>
      </p:sp>
      <p:pic>
        <p:nvPicPr>
          <p:cNvPr id="19" name="Picture 18" descr="Logo-for-gray-bg-ppt-whitemaroon.png"/>
          <p:cNvPicPr>
            <a:picLocks noChangeAspect="1"/>
          </p:cNvPicPr>
          <p:nvPr userDrawn="1"/>
        </p:nvPicPr>
        <p:blipFill>
          <a:blip r:embed="rId3"/>
          <a:stretch>
            <a:fillRect/>
          </a:stretch>
        </p:blipFill>
        <p:spPr>
          <a:xfrm>
            <a:off x="7429166" y="6194310"/>
            <a:ext cx="1591121" cy="439967"/>
          </a:xfrm>
          <a:prstGeom prst="rect">
            <a:avLst/>
          </a:prstGeom>
        </p:spPr>
      </p:pic>
    </p:spTree>
    <p:extLst>
      <p:ext uri="{BB962C8B-B14F-4D97-AF65-F5344CB8AC3E}">
        <p14:creationId xmlns:p14="http://schemas.microsoft.com/office/powerpoint/2010/main" val="16285078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normAutofit/>
          </a:bodyPr>
          <a:lstStyle>
            <a:lvl1pPr>
              <a:defRPr sz="4000" baseline="0">
                <a:latin typeface="+mj-lt"/>
              </a:defRPr>
            </a:lvl1pPr>
          </a:lstStyle>
          <a:p>
            <a:r>
              <a:rPr lang="en-US" dirty="0"/>
              <a:t>Click to edit Master title style</a:t>
            </a:r>
          </a:p>
        </p:txBody>
      </p:sp>
      <p:sp>
        <p:nvSpPr>
          <p:cNvPr id="8" name="Content Placeholder 7"/>
          <p:cNvSpPr>
            <a:spLocks noGrp="1"/>
          </p:cNvSpPr>
          <p:nvPr>
            <p:ph sz="quarter" idx="1"/>
          </p:nvPr>
        </p:nvSpPr>
        <p:spPr>
          <a:xfrm>
            <a:off x="612648" y="1600200"/>
            <a:ext cx="8153400" cy="4495800"/>
          </a:xfrm>
        </p:spPr>
        <p:txBody>
          <a:bodyPr>
            <a:normAutofit/>
          </a:bodyPr>
          <a:lstStyle>
            <a:lvl1pPr>
              <a:defRPr sz="2400" baseline="0">
                <a:latin typeface="+mj-lt"/>
              </a:defRPr>
            </a:lvl1pPr>
            <a:lvl2pPr>
              <a:defRPr sz="2400" baseline="0">
                <a:latin typeface="+mj-lt"/>
              </a:defRPr>
            </a:lvl2pPr>
            <a:lvl3pPr>
              <a:defRPr sz="2400" baseline="0">
                <a:latin typeface="+mj-lt"/>
              </a:defRPr>
            </a:lvl3pPr>
            <a:lvl4pPr>
              <a:defRPr sz="2400" baseline="0">
                <a:latin typeface="+mj-lt"/>
              </a:defRPr>
            </a:lvl4pPr>
            <a:lvl5pPr>
              <a:defRPr sz="2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E1683557-6DDD-418C-BDD0-0D0000C9ABF9}" type="slidenum">
              <a:rPr lang="en-US" smtClean="0"/>
              <a:pPr>
                <a:defRPr/>
              </a:pPr>
              <a:t>‹#›</a:t>
            </a:fld>
            <a:endParaRPr lang="en-US"/>
          </a:p>
        </p:txBody>
      </p:sp>
      <p:pic>
        <p:nvPicPr>
          <p:cNvPr id="7"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407788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44BA3D15-83BA-4D32-A033-ABC08A571973}" type="slidenum">
              <a:rPr lang="en-US" smtClean="0"/>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5316989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C5B6F4EF-00A9-42F9-8300-6962C0937348}" type="slidenum">
              <a:rPr lang="en-US" smtClean="0"/>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16284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21D53DA4-A312-45CA-9147-FD9F18847A52}" type="slidenum">
              <a:rPr lang="en-US" smtClean="0"/>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99145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504F7668-A643-4ECD-9B1B-72562E46682F}" type="slidenum">
              <a:rPr lang="en-US" smtClean="0"/>
              <a:pPr>
                <a:defRPr/>
              </a:pPr>
              <a:t>‹#›</a:t>
            </a:fld>
            <a:endParaRPr lang="en-US"/>
          </a:p>
        </p:txBody>
      </p:sp>
    </p:spTree>
    <p:extLst>
      <p:ext uri="{BB962C8B-B14F-4D97-AF65-F5344CB8AC3E}">
        <p14:creationId xmlns:p14="http://schemas.microsoft.com/office/powerpoint/2010/main" val="1723866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B8AA2B9F-C00B-4890-AA5E-424E05B4A3E6}" type="slidenum">
              <a:rPr lang="en-US" smtClean="0"/>
              <a:pPr>
                <a:defRPr/>
              </a:pPr>
              <a:t>‹#›</a:t>
            </a:fld>
            <a:endParaRPr lang="en-US"/>
          </a:p>
        </p:txBody>
      </p:sp>
    </p:spTree>
    <p:extLst>
      <p:ext uri="{BB962C8B-B14F-4D97-AF65-F5344CB8AC3E}">
        <p14:creationId xmlns:p14="http://schemas.microsoft.com/office/powerpoint/2010/main" val="1799341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612C1837-A6B5-473F-9B1D-13E048987F9D}" type="slidenum">
              <a:rPr lang="en-US" smtClean="0"/>
              <a:pPr>
                <a:defRPr/>
              </a:pPr>
              <a:t>‹#›</a:t>
            </a:fld>
            <a:endParaRPr lang="en-US"/>
          </a:p>
        </p:txBody>
      </p:sp>
    </p:spTree>
    <p:extLst>
      <p:ext uri="{BB962C8B-B14F-4D97-AF65-F5344CB8AC3E}">
        <p14:creationId xmlns:p14="http://schemas.microsoft.com/office/powerpoint/2010/main" val="64683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5F2610AF-58A7-46A5-B00E-3139B755C407}" type="slidenum">
              <a:rPr lang="en-US" smtClean="0"/>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31145720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ED353224-2453-4C94-8DD9-2F52EC2CE092}" type="slidenum">
              <a:rPr lang="en-US" smtClean="0"/>
              <a:pPr>
                <a:defRPr/>
              </a:pPr>
              <a:t>‹#›</a:t>
            </a:fld>
            <a:endParaRPr lang="en-US"/>
          </a:p>
        </p:txBody>
      </p:sp>
    </p:spTree>
    <p:extLst>
      <p:ext uri="{BB962C8B-B14F-4D97-AF65-F5344CB8AC3E}">
        <p14:creationId xmlns:p14="http://schemas.microsoft.com/office/powerpoint/2010/main" val="31821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7565D066-8CCD-47A6-8E5F-B31AE1EB4B92}" type="slidenum">
              <a:rPr lang="en-US" smtClean="0"/>
              <a:pPr>
                <a:defRPr/>
              </a:pPr>
              <a:t>‹#›</a:t>
            </a:fld>
            <a:endParaRPr lang="en-US"/>
          </a:p>
        </p:txBody>
      </p:sp>
    </p:spTree>
    <p:extLst>
      <p:ext uri="{BB962C8B-B14F-4D97-AF65-F5344CB8AC3E}">
        <p14:creationId xmlns:p14="http://schemas.microsoft.com/office/powerpoint/2010/main" val="32046978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81819F39-4F5C-4101-9E6E-A42B474FEEA3}"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hf hdr="0" ft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hyperlink" Target="https://pubsonline.informs.org/doi/abs/10.1287/mksc.6.1.1?journalCode=mks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www.contimod.com/costco-statistics/#:~:text=Costco%20had%20136.8%20million%20members,6.96%25%20from%202023%20to%202024."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investopedia.com/costco-sales-per-store-8750031#:~:text=Membership%20Fees,9" TargetMode="External"/><Relationship Id="rId5" Type="http://schemas.openxmlformats.org/officeDocument/2006/relationships/hyperlink" Target="https://managementconsulted.com/podcast/costco-business-model-breakdown/" TargetMode="External"/><Relationship Id="rId4" Type="http://schemas.openxmlformats.org/officeDocument/2006/relationships/hyperlink" Target="https://www.poultryproducer.com/where-does-costco-source-its-rotisserie-chicke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vox.com/future-perfect/23207301/costco-rotisserie-chicken-poultry-farming-inflatio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cid:B1B8A416-D28E-455A-B755-E7DAAAE5080A"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hyperlink" Target="https://www.washingtonpost.com/business/2021/06/01/subscription-boom-pandemic/"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www.aeaweb.org/articles?id=10.1257/aer.96.3.694"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hyperlink" Target="https://www.crresearch.com/blog/subscription-service-statistics-and-costs/"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aeaweb.org/articles?id=10.1257/aer.20231612"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hyperlink" Target="https://www.wsj.com/articles/subscription-price-creep-is-real-our-guide-to-pushing-back-82566b69?reflink=integratedwebview_share" TargetMode="External"/><Relationship Id="rId1" Type="http://schemas.openxmlformats.org/officeDocument/2006/relationships/slideLayout" Target="../slideLayouts/slideLayout2.xml"/><Relationship Id="rId4" Type="http://schemas.openxmlformats.org/officeDocument/2006/relationships/hyperlink" Target="https://www.ftc.gov/news-events/news/press-releases/2024/10/federal-trade-commission-announces-final-click-cancel-rule-making-it-easier-consumers-end-recurring#:~:text=The%20Federal%20Trade%20Commission%20today,option%20features%20before%20charging%20the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upreme.justia.com/cases/federal/us/334/37/case.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theverge.com/users/Chaim%20Gartenberg" TargetMode="External"/><Relationship Id="rId2" Type="http://schemas.openxmlformats.org/officeDocument/2006/relationships/hyperlink" Target="https://www.theverge.com/2017/2/17/14647870/us-carrier-unlimited-plans-competition-tmobile-verizon-att-sprint" TargetMode="Externa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hyperlink" Target="http://www.twitter.com/cgartenbe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362200" y="4038600"/>
            <a:ext cx="6477000" cy="1828800"/>
          </a:xfrm>
          <a:noFill/>
        </p:spPr>
        <p:txBody>
          <a:bodyPr lIns="90488" tIns="44450" rIns="90488" bIns="44450"/>
          <a:lstStyle/>
          <a:p>
            <a:r>
              <a:rPr lang="en-US" dirty="0"/>
              <a:t>Nonlinear Pricing</a:t>
            </a:r>
          </a:p>
        </p:txBody>
      </p:sp>
      <p:sp>
        <p:nvSpPr>
          <p:cNvPr id="5" name="Rectangle 3"/>
          <p:cNvSpPr txBox="1">
            <a:spLocks noChangeArrowheads="1"/>
          </p:cNvSpPr>
          <p:nvPr/>
        </p:nvSpPr>
        <p:spPr bwMode="auto">
          <a:xfrm>
            <a:off x="2362200" y="6050037"/>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sz="2800" dirty="0"/>
              <a:t>Jean-Pierre </a:t>
            </a:r>
            <a:r>
              <a:rPr lang="en-US" sz="2800" dirty="0" err="1"/>
              <a:t>Dubé</a:t>
            </a:r>
            <a:endParaRPr lang="en-US" sz="2800" dirty="0"/>
          </a:p>
          <a:p>
            <a:pPr marL="0" indent="0">
              <a:buFont typeface="Wingdings" pitchFamily="2" charset="2"/>
              <a:buNone/>
            </a:pPr>
            <a:r>
              <a:rPr lang="en-US" sz="900" b="1" dirty="0">
                <a:latin typeface="Arial" pitchFamily="34" charset="0"/>
                <a:sym typeface="Symbol" pitchFamily="18" charset="2"/>
              </a:rPr>
              <a:t></a:t>
            </a:r>
            <a:r>
              <a:rPr lang="en-US" sz="900" b="1" dirty="0">
                <a:latin typeface="Arial" pitchFamily="34" charset="0"/>
              </a:rPr>
              <a:t> Copyright 2025</a:t>
            </a:r>
          </a:p>
        </p:txBody>
      </p:sp>
      <p:sp>
        <p:nvSpPr>
          <p:cNvPr id="6" name="TextBox 5"/>
          <p:cNvSpPr txBox="1"/>
          <p:nvPr/>
        </p:nvSpPr>
        <p:spPr>
          <a:xfrm>
            <a:off x="152400" y="6137369"/>
            <a:ext cx="1455848" cy="523220"/>
          </a:xfrm>
          <a:prstGeom prst="rect">
            <a:avLst/>
          </a:prstGeom>
          <a:noFill/>
        </p:spPr>
        <p:txBody>
          <a:bodyPr wrap="none" rtlCol="0">
            <a:spAutoFit/>
          </a:bodyPr>
          <a:lstStyle/>
          <a:p>
            <a:r>
              <a:rPr lang="en-US" sz="1400" dirty="0"/>
              <a:t>Pricing Strategies</a:t>
            </a:r>
          </a:p>
          <a:p>
            <a:r>
              <a:rPr lang="en-US" sz="1400" dirty="0"/>
              <a:t>2025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775" y="228600"/>
            <a:ext cx="8153400" cy="990600"/>
          </a:xfrm>
        </p:spPr>
        <p:txBody>
          <a:bodyPr/>
          <a:lstStyle/>
          <a:p>
            <a:r>
              <a:rPr lang="en-US"/>
              <a:t>Overview</a:t>
            </a:r>
          </a:p>
        </p:txBody>
      </p:sp>
      <p:sp>
        <p:nvSpPr>
          <p:cNvPr id="5123" name="Rectangle 3"/>
          <p:cNvSpPr>
            <a:spLocks noGrp="1" noChangeArrowheads="1"/>
          </p:cNvSpPr>
          <p:nvPr>
            <p:ph sz="quarter" idx="1"/>
          </p:nvPr>
        </p:nvSpPr>
        <p:spPr>
          <a:xfrm>
            <a:off x="612775" y="1600200"/>
            <a:ext cx="8153400" cy="4495800"/>
          </a:xfrm>
        </p:spPr>
        <p:txBody>
          <a:bodyPr/>
          <a:lstStyle/>
          <a:p>
            <a:pPr>
              <a:spcBef>
                <a:spcPts val="1200"/>
              </a:spcBef>
              <a:spcAft>
                <a:spcPts val="1200"/>
              </a:spcAft>
              <a:defRPr/>
            </a:pPr>
            <a:endParaRPr lang="en-US" b="1" dirty="0"/>
          </a:p>
          <a:p>
            <a:pPr marL="0" indent="0">
              <a:spcBef>
                <a:spcPts val="0"/>
              </a:spcBef>
              <a:spcAft>
                <a:spcPts val="1200"/>
              </a:spcAft>
              <a:buNone/>
              <a:defRPr/>
            </a:pPr>
            <a:r>
              <a:rPr lang="en-US" b="1" dirty="0">
                <a:solidFill>
                  <a:schemeClr val="bg1"/>
                </a:solidFill>
              </a:rPr>
              <a:t>Definition:</a:t>
            </a:r>
            <a:r>
              <a:rPr lang="en-US" dirty="0">
                <a:solidFill>
                  <a:schemeClr val="bg1"/>
                </a:solidFill>
              </a:rPr>
              <a:t> </a:t>
            </a:r>
            <a:r>
              <a:rPr lang="en-US" i="1" dirty="0">
                <a:solidFill>
                  <a:schemeClr val="bg1"/>
                </a:solidFill>
              </a:rPr>
              <a:t>Nonlinear Pricing refers to contexts in which there is a nonlinear relationship between the price charged and the quantity of goods sold.</a:t>
            </a:r>
          </a:p>
          <a:p>
            <a:pPr>
              <a:spcBef>
                <a:spcPts val="1200"/>
              </a:spcBef>
              <a:spcAft>
                <a:spcPts val="1200"/>
              </a:spcAft>
              <a:defRPr/>
            </a:pPr>
            <a:r>
              <a:rPr lang="en-US" dirty="0"/>
              <a:t>Price discrimination between each unit sold to a customer</a:t>
            </a:r>
          </a:p>
          <a:p>
            <a:pPr>
              <a:spcBef>
                <a:spcPts val="1200"/>
              </a:spcBef>
              <a:spcAft>
                <a:spcPts val="1200"/>
              </a:spcAft>
              <a:defRPr/>
            </a:pPr>
            <a:r>
              <a:rPr lang="en-US" dirty="0"/>
              <a:t>Managing a menu of non-linear pricing schedules boils down to </a:t>
            </a:r>
            <a:r>
              <a:rPr lang="en-US" b="1" dirty="0">
                <a:solidFill>
                  <a:srgbClr val="FF0000"/>
                </a:solidFill>
                <a:effectLst>
                  <a:outerShdw blurRad="38100" dist="38100" dir="2700000" algn="tl">
                    <a:srgbClr val="000000">
                      <a:alpha val="43137"/>
                    </a:srgbClr>
                  </a:outerShdw>
                </a:effectLst>
              </a:rPr>
              <a:t>product line pricing </a:t>
            </a:r>
            <a:r>
              <a:rPr lang="en-US" dirty="0"/>
              <a:t>for segmentation</a:t>
            </a:r>
          </a:p>
          <a:p>
            <a:pPr marL="366713" lvl="1" indent="0">
              <a:spcBef>
                <a:spcPts val="1200"/>
              </a:spcBef>
              <a:spcAft>
                <a:spcPts val="1200"/>
              </a:spcAft>
              <a:buNone/>
              <a:defRPr/>
            </a:pPr>
            <a:r>
              <a:rPr lang="en-US" dirty="0"/>
              <a:t>Use quantity as </a:t>
            </a:r>
            <a:r>
              <a:rPr lang="en-US" i="1" dirty="0"/>
              <a:t>“fence” </a:t>
            </a:r>
            <a:r>
              <a:rPr lang="en-US" dirty="0"/>
              <a:t>(instead of quality) to capture value</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a:t>
            </a:fld>
            <a:endParaRPr lang="en-US"/>
          </a:p>
        </p:txBody>
      </p:sp>
      <p:sp>
        <p:nvSpPr>
          <p:cNvPr id="3" name="Rounded Rectangle 2"/>
          <p:cNvSpPr/>
          <p:nvPr/>
        </p:nvSpPr>
        <p:spPr>
          <a:xfrm>
            <a:off x="906199" y="1812398"/>
            <a:ext cx="7524323" cy="16360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0"/>
              </a:spcBef>
              <a:spcAft>
                <a:spcPts val="1200"/>
              </a:spcAft>
              <a:buNone/>
              <a:defRPr/>
            </a:pPr>
            <a:r>
              <a:rPr lang="en-US" b="1" u="sng" dirty="0"/>
              <a:t>Definition</a:t>
            </a:r>
            <a:r>
              <a:rPr lang="en-US" b="1" dirty="0"/>
              <a:t>:</a:t>
            </a:r>
            <a:r>
              <a:rPr lang="en-US" dirty="0"/>
              <a:t> </a:t>
            </a:r>
            <a:r>
              <a:rPr lang="en-US" b="1" i="1" dirty="0">
                <a:solidFill>
                  <a:srgbClr val="FF0000"/>
                </a:solidFill>
                <a:effectLst>
                  <a:outerShdw blurRad="38100" dist="38100" dir="2700000" algn="tl">
                    <a:srgbClr val="000000">
                      <a:alpha val="43137"/>
                    </a:srgbClr>
                  </a:outerShdw>
                </a:effectLst>
              </a:rPr>
              <a:t>Nonlinear Pricing </a:t>
            </a:r>
            <a:r>
              <a:rPr lang="en-US" i="1" dirty="0"/>
              <a:t>refers to pricing structures with a nonlinear relationship between the price charged and the quantity of goods/services sold.</a:t>
            </a:r>
          </a:p>
        </p:txBody>
      </p:sp>
      <p:sp>
        <p:nvSpPr>
          <p:cNvPr id="4" name="Right Arrow 3"/>
          <p:cNvSpPr/>
          <p:nvPr/>
        </p:nvSpPr>
        <p:spPr>
          <a:xfrm>
            <a:off x="680474" y="5305245"/>
            <a:ext cx="311989"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460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2775" y="228600"/>
            <a:ext cx="8153400" cy="990600"/>
          </a:xfrm>
        </p:spPr>
        <p:txBody>
          <a:bodyPr/>
          <a:lstStyle/>
          <a:p>
            <a:r>
              <a:rPr lang="en-US"/>
              <a:t>NL Pricing Examples</a:t>
            </a:r>
          </a:p>
        </p:txBody>
      </p:sp>
      <p:sp>
        <p:nvSpPr>
          <p:cNvPr id="6147" name="Rectangle 3"/>
          <p:cNvSpPr>
            <a:spLocks noGrp="1" noChangeArrowheads="1"/>
          </p:cNvSpPr>
          <p:nvPr>
            <p:ph sz="quarter" idx="1"/>
          </p:nvPr>
        </p:nvSpPr>
        <p:spPr>
          <a:xfrm>
            <a:off x="612775" y="1600200"/>
            <a:ext cx="7772400" cy="5129784"/>
          </a:xfrm>
        </p:spPr>
        <p:txBody>
          <a:bodyPr>
            <a:normAutofit/>
          </a:bodyPr>
          <a:lstStyle/>
          <a:p>
            <a:pPr>
              <a:lnSpc>
                <a:spcPct val="90000"/>
              </a:lnSpc>
              <a:spcAft>
                <a:spcPts val="600"/>
              </a:spcAft>
              <a:defRPr/>
            </a:pPr>
            <a:r>
              <a:rPr lang="en-US" dirty="0"/>
              <a:t>Credit Card Pricing</a:t>
            </a:r>
          </a:p>
          <a:p>
            <a:pPr lvl="1">
              <a:lnSpc>
                <a:spcPct val="90000"/>
              </a:lnSpc>
              <a:spcAft>
                <a:spcPts val="1800"/>
              </a:spcAft>
              <a:defRPr/>
            </a:pPr>
            <a:r>
              <a:rPr lang="en-US" dirty="0"/>
              <a:t>Monthly Fee &amp; Interest Rate</a:t>
            </a:r>
          </a:p>
          <a:p>
            <a:pPr>
              <a:lnSpc>
                <a:spcPct val="90000"/>
              </a:lnSpc>
              <a:spcAft>
                <a:spcPts val="600"/>
              </a:spcAft>
              <a:defRPr/>
            </a:pPr>
            <a:r>
              <a:rPr lang="en-US" dirty="0"/>
              <a:t>Perdue Frozen Chicken</a:t>
            </a:r>
          </a:p>
          <a:p>
            <a:pPr lvl="1">
              <a:lnSpc>
                <a:spcPct val="90000"/>
              </a:lnSpc>
              <a:spcAft>
                <a:spcPts val="600"/>
              </a:spcAft>
              <a:defRPr/>
            </a:pPr>
            <a:r>
              <a:rPr lang="en-US" dirty="0"/>
              <a:t>Regular Pack: $4.99/lb.</a:t>
            </a:r>
          </a:p>
          <a:p>
            <a:pPr lvl="1">
              <a:lnSpc>
                <a:spcPct val="90000"/>
              </a:lnSpc>
              <a:spcAft>
                <a:spcPts val="1800"/>
              </a:spcAft>
              <a:defRPr/>
            </a:pPr>
            <a:r>
              <a:rPr lang="en-US" dirty="0"/>
              <a:t>5 pound bag: $3.99/</a:t>
            </a:r>
            <a:r>
              <a:rPr lang="en-US" dirty="0" err="1"/>
              <a:t>lb</a:t>
            </a:r>
            <a:endParaRPr lang="en-US" dirty="0"/>
          </a:p>
          <a:p>
            <a:pPr>
              <a:lnSpc>
                <a:spcPct val="90000"/>
              </a:lnSpc>
              <a:spcAft>
                <a:spcPts val="600"/>
              </a:spcAft>
              <a:defRPr/>
            </a:pPr>
            <a:r>
              <a:rPr lang="en-US" dirty="0"/>
              <a:t>Loyalty Program</a:t>
            </a:r>
          </a:p>
          <a:p>
            <a:pPr lvl="1">
              <a:lnSpc>
                <a:spcPct val="90000"/>
              </a:lnSpc>
              <a:spcAft>
                <a:spcPts val="1800"/>
              </a:spcAft>
              <a:defRPr/>
            </a:pPr>
            <a:r>
              <a:rPr lang="en-US" sz="2000" dirty="0"/>
              <a:t>lower price on consecutive units</a:t>
            </a:r>
          </a:p>
          <a:p>
            <a:pPr>
              <a:lnSpc>
                <a:spcPct val="90000"/>
              </a:lnSpc>
              <a:spcAft>
                <a:spcPts val="600"/>
              </a:spcAft>
              <a:defRPr/>
            </a:pPr>
            <a:r>
              <a:rPr lang="en-US" dirty="0"/>
              <a:t>Amazon’s </a:t>
            </a:r>
            <a:r>
              <a:rPr lang="en-US" i="1" dirty="0"/>
              <a:t>Kindle Unlimited </a:t>
            </a:r>
            <a:r>
              <a:rPr lang="en-US" dirty="0"/>
              <a:t>program</a:t>
            </a:r>
          </a:p>
          <a:p>
            <a:pPr lvl="1">
              <a:lnSpc>
                <a:spcPct val="90000"/>
              </a:lnSpc>
              <a:spcAft>
                <a:spcPts val="600"/>
              </a:spcAft>
              <a:defRPr/>
            </a:pPr>
            <a:r>
              <a:rPr lang="en-US" sz="2000" dirty="0"/>
              <a:t>$9.99/month </a:t>
            </a:r>
          </a:p>
          <a:p>
            <a:pPr lvl="1">
              <a:lnSpc>
                <a:spcPct val="90000"/>
              </a:lnSpc>
              <a:spcAft>
                <a:spcPts val="600"/>
              </a:spcAft>
              <a:defRPr/>
            </a:pPr>
            <a:r>
              <a:rPr lang="en-US" sz="2000" dirty="0"/>
              <a:t>Unlimited access to over 3 million eBooks</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3</a:t>
            </a:fld>
            <a:endParaRPr lang="en-US"/>
          </a:p>
        </p:txBody>
      </p:sp>
      <p:sp>
        <p:nvSpPr>
          <p:cNvPr id="7" name="Right Brace 6"/>
          <p:cNvSpPr/>
          <p:nvPr/>
        </p:nvSpPr>
        <p:spPr>
          <a:xfrm>
            <a:off x="5442012" y="1686757"/>
            <a:ext cx="221942" cy="75301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5894773" y="1790895"/>
            <a:ext cx="1364669" cy="400110"/>
          </a:xfrm>
          <a:prstGeom prst="rect">
            <a:avLst/>
          </a:prstGeom>
          <a:noFill/>
        </p:spPr>
        <p:txBody>
          <a:bodyPr wrap="none" rtlCol="0">
            <a:spAutoFit/>
          </a:bodyPr>
          <a:lstStyle/>
          <a:p>
            <a:r>
              <a:rPr lang="en-US" sz="2000" dirty="0">
                <a:solidFill>
                  <a:srgbClr val="FF0000"/>
                </a:solidFill>
              </a:rPr>
              <a:t>2-part tariff</a:t>
            </a:r>
          </a:p>
        </p:txBody>
      </p:sp>
      <p:sp>
        <p:nvSpPr>
          <p:cNvPr id="11" name="Right Brace 10"/>
          <p:cNvSpPr/>
          <p:nvPr/>
        </p:nvSpPr>
        <p:spPr>
          <a:xfrm>
            <a:off x="5442012" y="2771903"/>
            <a:ext cx="221942" cy="1182877"/>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5894773" y="3006030"/>
            <a:ext cx="2610010" cy="707886"/>
          </a:xfrm>
          <a:prstGeom prst="rect">
            <a:avLst/>
          </a:prstGeom>
          <a:noFill/>
        </p:spPr>
        <p:txBody>
          <a:bodyPr wrap="none" rtlCol="0">
            <a:spAutoFit/>
          </a:bodyPr>
          <a:lstStyle/>
          <a:p>
            <a:r>
              <a:rPr lang="en-US" sz="2000" dirty="0">
                <a:solidFill>
                  <a:srgbClr val="FF0000"/>
                </a:solidFill>
              </a:rPr>
              <a:t>Volume discount</a:t>
            </a:r>
          </a:p>
          <a:p>
            <a:r>
              <a:rPr lang="en-US" sz="2000" dirty="0">
                <a:solidFill>
                  <a:srgbClr val="FF0000"/>
                </a:solidFill>
              </a:rPr>
              <a:t>(“Commodity Bundle”)</a:t>
            </a:r>
          </a:p>
        </p:txBody>
      </p:sp>
      <p:sp>
        <p:nvSpPr>
          <p:cNvPr id="13" name="Right Brace 12"/>
          <p:cNvSpPr/>
          <p:nvPr/>
        </p:nvSpPr>
        <p:spPr>
          <a:xfrm>
            <a:off x="5443247" y="4335780"/>
            <a:ext cx="256376" cy="79798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886300" y="4291560"/>
            <a:ext cx="3153427" cy="707886"/>
          </a:xfrm>
          <a:prstGeom prst="rect">
            <a:avLst/>
          </a:prstGeom>
          <a:noFill/>
        </p:spPr>
        <p:txBody>
          <a:bodyPr wrap="none" rtlCol="0">
            <a:spAutoFit/>
          </a:bodyPr>
          <a:lstStyle/>
          <a:p>
            <a:r>
              <a:rPr lang="en-US" sz="2000" dirty="0">
                <a:solidFill>
                  <a:srgbClr val="FF0000"/>
                </a:solidFill>
              </a:rPr>
              <a:t>Quantity discount schedule</a:t>
            </a:r>
          </a:p>
          <a:p>
            <a:r>
              <a:rPr lang="en-US" sz="2000" dirty="0">
                <a:solidFill>
                  <a:srgbClr val="FF0000"/>
                </a:solidFill>
              </a:rPr>
              <a:t>(“Incremental units pricing”)</a:t>
            </a:r>
          </a:p>
        </p:txBody>
      </p:sp>
      <p:sp>
        <p:nvSpPr>
          <p:cNvPr id="15" name="Right Brace 14"/>
          <p:cNvSpPr/>
          <p:nvPr/>
        </p:nvSpPr>
        <p:spPr>
          <a:xfrm>
            <a:off x="5477681" y="5330850"/>
            <a:ext cx="221942" cy="135951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5894773" y="5814471"/>
            <a:ext cx="1435008" cy="400110"/>
          </a:xfrm>
          <a:prstGeom prst="rect">
            <a:avLst/>
          </a:prstGeom>
          <a:noFill/>
        </p:spPr>
        <p:txBody>
          <a:bodyPr wrap="none" rtlCol="0">
            <a:spAutoFit/>
          </a:bodyPr>
          <a:lstStyle/>
          <a:p>
            <a:r>
              <a:rPr lang="en-US" sz="2000" dirty="0">
                <a:solidFill>
                  <a:srgbClr val="FF0000"/>
                </a:solidFill>
              </a:rPr>
              <a:t>subscription</a:t>
            </a:r>
          </a:p>
        </p:txBody>
      </p:sp>
      <p:pic>
        <p:nvPicPr>
          <p:cNvPr id="1028" name="Picture 4" descr="Carry Convenience with a Credit Card from The State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1625" y="1516063"/>
            <a:ext cx="867269" cy="6527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ERDUE Fresh Boneless Skinless Chicken Breasts - 1.50 LB"/>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2511" b="12817"/>
          <a:stretch/>
        </p:blipFill>
        <p:spPr bwMode="auto">
          <a:xfrm rot="20566395">
            <a:off x="4369776" y="2838002"/>
            <a:ext cx="1021373" cy="7626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New Starbucks rewards program starts Tuesda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771895">
            <a:off x="4495137" y="4243090"/>
            <a:ext cx="701233" cy="70123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mazon Now Selling Kindles with Kindle Unlimited Membership Included | The  eBook Reader Blo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98725" y="5814471"/>
            <a:ext cx="918385" cy="51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15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47">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47">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47">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47">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147">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animBg="1"/>
      <p:bldP spid="12" grpId="0"/>
      <p:bldP spid="13" grpId="0" animBg="1"/>
      <p:bldP spid="14" grpId="0"/>
      <p:bldP spid="15" grpId="0" animBg="1"/>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612775" y="228600"/>
            <a:ext cx="8153400" cy="990600"/>
          </a:xfrm>
        </p:spPr>
        <p:txBody>
          <a:bodyPr/>
          <a:lstStyle/>
          <a:p>
            <a:r>
              <a:rPr lang="en-US" dirty="0"/>
              <a:t>NL Pricing as Segmentation</a:t>
            </a:r>
          </a:p>
        </p:txBody>
      </p:sp>
      <p:sp>
        <p:nvSpPr>
          <p:cNvPr id="7171" name="Rectangle 5"/>
          <p:cNvSpPr>
            <a:spLocks noGrp="1" noChangeArrowheads="1"/>
          </p:cNvSpPr>
          <p:nvPr>
            <p:ph sz="quarter" idx="1"/>
          </p:nvPr>
        </p:nvSpPr>
        <p:spPr>
          <a:xfrm>
            <a:off x="612775" y="1804987"/>
            <a:ext cx="8274050" cy="4783591"/>
          </a:xfrm>
        </p:spPr>
        <p:txBody>
          <a:bodyPr>
            <a:normAutofit/>
          </a:bodyPr>
          <a:lstStyle/>
          <a:p>
            <a:pPr>
              <a:lnSpc>
                <a:spcPct val="90000"/>
              </a:lnSpc>
              <a:spcBef>
                <a:spcPts val="1200"/>
              </a:spcBef>
              <a:spcAft>
                <a:spcPts val="1200"/>
              </a:spcAft>
              <a:defRPr/>
            </a:pPr>
            <a:r>
              <a:rPr lang="en-US" dirty="0"/>
              <a:t>Look for variation in WTP for each incremental unit demanded</a:t>
            </a:r>
          </a:p>
          <a:p>
            <a:pPr>
              <a:lnSpc>
                <a:spcPct val="90000"/>
              </a:lnSpc>
              <a:spcBef>
                <a:spcPts val="1200"/>
              </a:spcBef>
              <a:spcAft>
                <a:spcPts val="1200"/>
              </a:spcAft>
              <a:defRPr/>
            </a:pPr>
            <a:r>
              <a:rPr lang="en-US" dirty="0"/>
              <a:t>Two economic rationales for using non-linear pricing to segment:</a:t>
            </a:r>
          </a:p>
          <a:p>
            <a:pPr marL="320675" lvl="1" indent="0">
              <a:lnSpc>
                <a:spcPct val="90000"/>
              </a:lnSpc>
              <a:spcBef>
                <a:spcPts val="2400"/>
              </a:spcBef>
              <a:spcAft>
                <a:spcPts val="2400"/>
              </a:spcAft>
              <a:buNone/>
              <a:defRPr/>
            </a:pPr>
            <a:r>
              <a:rPr lang="en-US" b="1" dirty="0"/>
              <a:t>	</a:t>
            </a:r>
            <a:r>
              <a:rPr lang="en-US" b="1" dirty="0">
                <a:effectLst>
                  <a:outerShdw blurRad="38100" dist="38100" dir="2700000" algn="tl">
                    <a:srgbClr val="000000">
                      <a:alpha val="43137"/>
                    </a:srgbClr>
                  </a:outerShdw>
                </a:effectLst>
              </a:rPr>
              <a:t>Targeted Pricing</a:t>
            </a:r>
            <a:r>
              <a:rPr lang="en-US" dirty="0"/>
              <a:t> with a single customer</a:t>
            </a:r>
          </a:p>
          <a:p>
            <a:pPr marL="320675" lvl="1" indent="0">
              <a:lnSpc>
                <a:spcPct val="90000"/>
              </a:lnSpc>
              <a:spcBef>
                <a:spcPts val="2400"/>
              </a:spcBef>
              <a:spcAft>
                <a:spcPts val="2400"/>
              </a:spcAft>
              <a:buNone/>
              <a:defRPr/>
            </a:pPr>
            <a:r>
              <a:rPr lang="en-US" b="1" dirty="0"/>
              <a:t>	</a:t>
            </a:r>
            <a:r>
              <a:rPr lang="en-US" b="1" dirty="0">
                <a:effectLst>
                  <a:outerShdw blurRad="38100" dist="38100" dir="2700000" algn="tl">
                    <a:srgbClr val="000000">
                      <a:alpha val="43137"/>
                    </a:srgbClr>
                  </a:outerShdw>
                </a:effectLst>
              </a:rPr>
              <a:t>Product Line Pricing</a:t>
            </a:r>
            <a:r>
              <a:rPr lang="en-US" dirty="0"/>
              <a:t> with different customer segments</a:t>
            </a:r>
          </a:p>
          <a:p>
            <a:pPr marL="0" indent="0">
              <a:lnSpc>
                <a:spcPct val="90000"/>
              </a:lnSpc>
              <a:spcAft>
                <a:spcPts val="600"/>
              </a:spcAft>
              <a:buNone/>
              <a:defRPr/>
            </a:pPr>
            <a:endParaRPr lang="en-US" dirty="0"/>
          </a:p>
          <a:p>
            <a:pPr marL="0" indent="0">
              <a:lnSpc>
                <a:spcPct val="90000"/>
              </a:lnSpc>
              <a:spcAft>
                <a:spcPts val="600"/>
              </a:spcAft>
              <a:buNone/>
              <a:defRPr/>
            </a:pPr>
            <a:endParaRPr lang="en-US" sz="1800" dirty="0"/>
          </a:p>
          <a:p>
            <a:pPr marL="0" indent="0">
              <a:lnSpc>
                <a:spcPct val="90000"/>
              </a:lnSpc>
              <a:spcAft>
                <a:spcPts val="600"/>
              </a:spcAft>
              <a:buNone/>
              <a:defRPr/>
            </a:pPr>
            <a:endParaRPr lang="en-US" sz="1800" dirty="0"/>
          </a:p>
          <a:p>
            <a:pPr marL="0" indent="0">
              <a:lnSpc>
                <a:spcPct val="90000"/>
              </a:lnSpc>
              <a:spcAft>
                <a:spcPts val="600"/>
              </a:spcAft>
              <a:buNone/>
              <a:defRPr/>
            </a:pPr>
            <a:r>
              <a:rPr lang="en-US" sz="1800" dirty="0"/>
              <a:t>See </a:t>
            </a:r>
            <a:r>
              <a:rPr lang="en-US" sz="1800" dirty="0">
                <a:hlinkClick r:id="rId2"/>
              </a:rPr>
              <a:t>Dolan (1987)</a:t>
            </a:r>
            <a:r>
              <a:rPr lang="en-US" sz="1800" dirty="0"/>
              <a:t> for a more formal treatment of nonlinear pricing</a:t>
            </a:r>
            <a:endParaRPr lang="en-US" sz="2000" dirty="0"/>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4</a:t>
            </a:fld>
            <a:endParaRPr lang="en-US"/>
          </a:p>
        </p:txBody>
      </p:sp>
      <p:sp>
        <p:nvSpPr>
          <p:cNvPr id="5" name="Text Placeholder 3"/>
          <p:cNvSpPr txBox="1">
            <a:spLocks/>
          </p:cNvSpPr>
          <p:nvPr/>
        </p:nvSpPr>
        <p:spPr>
          <a:xfrm>
            <a:off x="1007165" y="3243066"/>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
        <p:nvSpPr>
          <p:cNvPr id="6" name="Text Placeholder 2"/>
          <p:cNvSpPr txBox="1">
            <a:spLocks/>
          </p:cNvSpPr>
          <p:nvPr/>
        </p:nvSpPr>
        <p:spPr>
          <a:xfrm>
            <a:off x="1007165" y="4196782"/>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421990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775" y="228600"/>
            <a:ext cx="8153400" cy="990600"/>
          </a:xfrm>
        </p:spPr>
        <p:txBody>
          <a:bodyPr>
            <a:normAutofit fontScale="90000"/>
          </a:bodyPr>
          <a:lstStyle/>
          <a:p>
            <a:pPr>
              <a:defRPr/>
            </a:pPr>
            <a:r>
              <a:rPr lang="en-US" sz="4400" dirty="0"/>
              <a:t>Strategies to </a:t>
            </a:r>
            <a:r>
              <a:rPr lang="en-US" sz="4400" i="1" dirty="0"/>
              <a:t>capture</a:t>
            </a:r>
            <a:r>
              <a:rPr lang="en-US" sz="4400" dirty="0"/>
              <a:t> value</a:t>
            </a:r>
            <a:br>
              <a:rPr lang="en-US" sz="4400" dirty="0"/>
            </a:br>
            <a:r>
              <a:rPr lang="en-US" sz="3600" dirty="0"/>
              <a:t>Two Illustrative Examples</a:t>
            </a:r>
          </a:p>
        </p:txBody>
      </p:sp>
      <p:sp>
        <p:nvSpPr>
          <p:cNvPr id="9219" name="Rectangle 3"/>
          <p:cNvSpPr>
            <a:spLocks noGrp="1" noChangeArrowheads="1"/>
          </p:cNvSpPr>
          <p:nvPr>
            <p:ph sz="quarter" idx="1"/>
          </p:nvPr>
        </p:nvSpPr>
        <p:spPr>
          <a:xfrm>
            <a:off x="612775" y="1600200"/>
            <a:ext cx="8153400" cy="4495800"/>
          </a:xfrm>
        </p:spPr>
        <p:txBody>
          <a:bodyPr/>
          <a:lstStyle/>
          <a:p>
            <a:pPr>
              <a:spcAft>
                <a:spcPts val="600"/>
              </a:spcAft>
              <a:defRPr/>
            </a:pPr>
            <a:endParaRPr lang="en-US" dirty="0"/>
          </a:p>
          <a:p>
            <a:pPr marL="0" indent="0">
              <a:spcAft>
                <a:spcPts val="600"/>
              </a:spcAft>
              <a:buNone/>
              <a:defRPr/>
            </a:pPr>
            <a:r>
              <a:rPr lang="en-US" b="1" dirty="0"/>
              <a:t>     Single Customer</a:t>
            </a:r>
          </a:p>
          <a:p>
            <a:pPr lvl="2">
              <a:spcAft>
                <a:spcPts val="1200"/>
              </a:spcAft>
              <a:defRPr/>
            </a:pPr>
            <a:r>
              <a:rPr lang="en-US" dirty="0"/>
              <a:t>Illustrate 3 ways of capturing surplus</a:t>
            </a:r>
          </a:p>
          <a:p>
            <a:pPr marL="0" indent="0">
              <a:spcBef>
                <a:spcPts val="1200"/>
              </a:spcBef>
              <a:spcAft>
                <a:spcPts val="600"/>
              </a:spcAft>
              <a:buNone/>
              <a:defRPr/>
            </a:pPr>
            <a:r>
              <a:rPr lang="en-US" dirty="0"/>
              <a:t>     </a:t>
            </a:r>
            <a:r>
              <a:rPr lang="en-US" b="1" dirty="0"/>
              <a:t>Two Customers</a:t>
            </a:r>
            <a:r>
              <a:rPr lang="en-US" dirty="0"/>
              <a:t>: High Volume/Value vs. Low Volume/Value</a:t>
            </a:r>
          </a:p>
          <a:p>
            <a:pPr lvl="2">
              <a:defRPr/>
            </a:pPr>
            <a:r>
              <a:rPr lang="en-US" dirty="0"/>
              <a:t>Illustrate threat of “trading down”</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5</a:t>
            </a:fld>
            <a:endParaRPr lang="en-US"/>
          </a:p>
        </p:txBody>
      </p:sp>
      <p:sp>
        <p:nvSpPr>
          <p:cNvPr id="5" name="Text Placeholder 3"/>
          <p:cNvSpPr txBox="1">
            <a:spLocks/>
          </p:cNvSpPr>
          <p:nvPr/>
        </p:nvSpPr>
        <p:spPr>
          <a:xfrm>
            <a:off x="612775" y="2153056"/>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
        <p:nvSpPr>
          <p:cNvPr id="6" name="Text Placeholder 2"/>
          <p:cNvSpPr txBox="1">
            <a:spLocks/>
          </p:cNvSpPr>
          <p:nvPr/>
        </p:nvSpPr>
        <p:spPr>
          <a:xfrm>
            <a:off x="612775" y="3364804"/>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1045889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2517842" y="4617720"/>
            <a:ext cx="458556" cy="475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488580" y="4620052"/>
            <a:ext cx="487818" cy="97067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31" name="Rectangle 30"/>
          <p:cNvSpPr/>
          <p:nvPr/>
        </p:nvSpPr>
        <p:spPr>
          <a:xfrm>
            <a:off x="2522371" y="4628997"/>
            <a:ext cx="454025" cy="47150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8" name="Rectangle 27"/>
          <p:cNvSpPr/>
          <p:nvPr/>
        </p:nvSpPr>
        <p:spPr>
          <a:xfrm>
            <a:off x="2033132" y="4024297"/>
            <a:ext cx="487818" cy="15735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7" name="Rectangle 26"/>
          <p:cNvSpPr/>
          <p:nvPr/>
        </p:nvSpPr>
        <p:spPr>
          <a:xfrm>
            <a:off x="1610040" y="3362464"/>
            <a:ext cx="487818" cy="222826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3" name="Rectangle 22"/>
          <p:cNvSpPr/>
          <p:nvPr/>
        </p:nvSpPr>
        <p:spPr>
          <a:xfrm>
            <a:off x="1612900" y="4024297"/>
            <a:ext cx="908050" cy="107620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0483" name="Rectangle 2"/>
          <p:cNvSpPr>
            <a:spLocks noGrp="1" noChangeArrowheads="1"/>
          </p:cNvSpPr>
          <p:nvPr>
            <p:ph type="title"/>
          </p:nvPr>
        </p:nvSpPr>
        <p:spPr/>
        <p:txBody>
          <a:bodyPr lIns="90488" tIns="44450" rIns="90488" bIns="44450" anchor="b"/>
          <a:lstStyle/>
          <a:p>
            <a:r>
              <a:rPr lang="en-US" sz="4000" dirty="0"/>
              <a:t>Example 1:</a:t>
            </a:r>
            <a:br>
              <a:rPr lang="en-US" sz="4000" dirty="0"/>
            </a:br>
            <a:r>
              <a:rPr lang="en-US" sz="3200" b="1" dirty="0"/>
              <a:t>Single Customer</a:t>
            </a:r>
            <a:r>
              <a:rPr lang="en-US" sz="3200" dirty="0"/>
              <a:t>, potentially buys up to 3 units</a:t>
            </a:r>
          </a:p>
        </p:txBody>
      </p:sp>
      <p:grpSp>
        <p:nvGrpSpPr>
          <p:cNvPr id="20484" name="Group 67"/>
          <p:cNvGrpSpPr>
            <a:grpSpLocks/>
          </p:cNvGrpSpPr>
          <p:nvPr/>
        </p:nvGrpSpPr>
        <p:grpSpPr bwMode="auto">
          <a:xfrm>
            <a:off x="98425" y="2359025"/>
            <a:ext cx="5649913" cy="3786188"/>
            <a:chOff x="1148" y="1462"/>
            <a:chExt cx="2238" cy="1591"/>
          </a:xfrm>
        </p:grpSpPr>
        <p:sp>
          <p:nvSpPr>
            <p:cNvPr id="20489" name="Text Box 47"/>
            <p:cNvSpPr txBox="1">
              <a:spLocks noChangeArrowheads="1"/>
            </p:cNvSpPr>
            <p:nvPr/>
          </p:nvSpPr>
          <p:spPr bwMode="auto">
            <a:xfrm>
              <a:off x="1868" y="2872"/>
              <a:ext cx="1056"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600" b="1">
                  <a:ea typeface="Gulim" pitchFamily="34" charset="-127"/>
                </a:rPr>
                <a:t>1      2       3      4       5      6</a:t>
              </a:r>
            </a:p>
          </p:txBody>
        </p:sp>
        <p:sp>
          <p:nvSpPr>
            <p:cNvPr id="20490" name="Line 48"/>
            <p:cNvSpPr>
              <a:spLocks noChangeShapeType="1"/>
            </p:cNvSpPr>
            <p:nvPr/>
          </p:nvSpPr>
          <p:spPr bwMode="auto">
            <a:xfrm flipV="1">
              <a:off x="1748" y="1677"/>
              <a:ext cx="0" cy="13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1" name="Line 49"/>
            <p:cNvSpPr>
              <a:spLocks noChangeShapeType="1"/>
            </p:cNvSpPr>
            <p:nvPr/>
          </p:nvSpPr>
          <p:spPr bwMode="auto">
            <a:xfrm>
              <a:off x="1748" y="2823"/>
              <a:ext cx="14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2" name="Text Box 50"/>
            <p:cNvSpPr txBox="1">
              <a:spLocks noChangeArrowheads="1"/>
            </p:cNvSpPr>
            <p:nvPr/>
          </p:nvSpPr>
          <p:spPr bwMode="auto">
            <a:xfrm>
              <a:off x="1148" y="1669"/>
              <a:ext cx="414" cy="3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a:t>WTP</a:t>
              </a:r>
            </a:p>
            <a:p>
              <a:pPr algn="ctr"/>
              <a:r>
                <a:rPr lang="en-US" sz="1800" b="1"/>
                <a:t> for Units</a:t>
              </a:r>
            </a:p>
          </p:txBody>
        </p:sp>
        <p:sp>
          <p:nvSpPr>
            <p:cNvPr id="20493" name="Text Box 51"/>
            <p:cNvSpPr txBox="1">
              <a:spLocks noChangeArrowheads="1"/>
            </p:cNvSpPr>
            <p:nvPr/>
          </p:nvSpPr>
          <p:spPr bwMode="auto">
            <a:xfrm>
              <a:off x="2924" y="2864"/>
              <a:ext cx="462"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Units</a:t>
              </a:r>
            </a:p>
          </p:txBody>
        </p:sp>
        <p:sp>
          <p:nvSpPr>
            <p:cNvPr id="20494" name="Freeform 53"/>
            <p:cNvSpPr>
              <a:spLocks/>
            </p:cNvSpPr>
            <p:nvPr/>
          </p:nvSpPr>
          <p:spPr bwMode="auto">
            <a:xfrm>
              <a:off x="1748" y="1882"/>
              <a:ext cx="540" cy="941"/>
            </a:xfrm>
            <a:custGeom>
              <a:avLst/>
              <a:gdLst>
                <a:gd name="T0" fmla="*/ 0 w 2580"/>
                <a:gd name="T1" fmla="*/ 0 h 2353"/>
                <a:gd name="T2" fmla="*/ 0 w 2580"/>
                <a:gd name="T3" fmla="*/ 0 h 2353"/>
                <a:gd name="T4" fmla="*/ 0 w 2580"/>
                <a:gd name="T5" fmla="*/ 0 h 2353"/>
                <a:gd name="T6" fmla="*/ 0 w 2580"/>
                <a:gd name="T7" fmla="*/ 0 h 2353"/>
                <a:gd name="T8" fmla="*/ 0 w 2580"/>
                <a:gd name="T9" fmla="*/ 0 h 2353"/>
                <a:gd name="T10" fmla="*/ 0 w 2580"/>
                <a:gd name="T11" fmla="*/ 0 h 2353"/>
                <a:gd name="T12" fmla="*/ 0 w 2580"/>
                <a:gd name="T13" fmla="*/ 1 h 2353"/>
                <a:gd name="T14" fmla="*/ 0 60000 65536"/>
                <a:gd name="T15" fmla="*/ 0 60000 65536"/>
                <a:gd name="T16" fmla="*/ 0 60000 65536"/>
                <a:gd name="T17" fmla="*/ 0 60000 65536"/>
                <a:gd name="T18" fmla="*/ 0 60000 65536"/>
                <a:gd name="T19" fmla="*/ 0 60000 65536"/>
                <a:gd name="T20" fmla="*/ 0 60000 65536"/>
                <a:gd name="T21" fmla="*/ 0 w 2580"/>
                <a:gd name="T22" fmla="*/ 0 h 2353"/>
                <a:gd name="T23" fmla="*/ 2580 w 2580"/>
                <a:gd name="T24" fmla="*/ 2353 h 23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80" h="2353">
                  <a:moveTo>
                    <a:pt x="0" y="0"/>
                  </a:moveTo>
                  <a:lnTo>
                    <a:pt x="930" y="0"/>
                  </a:lnTo>
                  <a:lnTo>
                    <a:pt x="930" y="720"/>
                  </a:lnTo>
                  <a:lnTo>
                    <a:pt x="1725" y="720"/>
                  </a:lnTo>
                  <a:lnTo>
                    <a:pt x="1725" y="1335"/>
                  </a:lnTo>
                  <a:lnTo>
                    <a:pt x="2580" y="1335"/>
                  </a:lnTo>
                  <a:lnTo>
                    <a:pt x="2580" y="235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5" name="Line 54"/>
            <p:cNvSpPr>
              <a:spLocks noChangeShapeType="1"/>
            </p:cNvSpPr>
            <p:nvPr/>
          </p:nvSpPr>
          <p:spPr bwMode="auto">
            <a:xfrm>
              <a:off x="1940"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6" name="Line 55"/>
            <p:cNvSpPr>
              <a:spLocks noChangeShapeType="1"/>
            </p:cNvSpPr>
            <p:nvPr/>
          </p:nvSpPr>
          <p:spPr bwMode="auto">
            <a:xfrm>
              <a:off x="2108" y="2785"/>
              <a:ext cx="0"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56"/>
            <p:cNvSpPr>
              <a:spLocks noChangeShapeType="1"/>
            </p:cNvSpPr>
            <p:nvPr/>
          </p:nvSpPr>
          <p:spPr bwMode="auto">
            <a:xfrm>
              <a:off x="2444"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8" name="Line 57"/>
            <p:cNvSpPr>
              <a:spLocks noChangeShapeType="1"/>
            </p:cNvSpPr>
            <p:nvPr/>
          </p:nvSpPr>
          <p:spPr bwMode="auto">
            <a:xfrm>
              <a:off x="2630" y="2785"/>
              <a:ext cx="0"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58"/>
            <p:cNvSpPr>
              <a:spLocks noChangeShapeType="1"/>
            </p:cNvSpPr>
            <p:nvPr/>
          </p:nvSpPr>
          <p:spPr bwMode="auto">
            <a:xfrm>
              <a:off x="2288"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0" name="Line 59"/>
            <p:cNvSpPr>
              <a:spLocks noChangeShapeType="1"/>
            </p:cNvSpPr>
            <p:nvPr/>
          </p:nvSpPr>
          <p:spPr bwMode="auto">
            <a:xfrm>
              <a:off x="2780"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Text Box 60"/>
            <p:cNvSpPr txBox="1">
              <a:spLocks noChangeArrowheads="1"/>
            </p:cNvSpPr>
            <p:nvPr/>
          </p:nvSpPr>
          <p:spPr bwMode="auto">
            <a:xfrm>
              <a:off x="2108" y="1462"/>
              <a:ext cx="588" cy="162"/>
            </a:xfrm>
            <a:prstGeom prst="rect">
              <a:avLst/>
            </a:prstGeom>
            <a:solidFill>
              <a:srgbClr val="FFFFFF"/>
            </a:solidFill>
            <a:ln w="9525">
              <a:solidFill>
                <a:srgbClr val="000000"/>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a:t>Customer A</a:t>
              </a:r>
            </a:p>
          </p:txBody>
        </p:sp>
        <p:sp>
          <p:nvSpPr>
            <p:cNvPr id="20502" name="Line 61"/>
            <p:cNvSpPr>
              <a:spLocks noChangeShapeType="1"/>
            </p:cNvSpPr>
            <p:nvPr/>
          </p:nvSpPr>
          <p:spPr bwMode="auto">
            <a:xfrm flipH="1">
              <a:off x="2000" y="1624"/>
              <a:ext cx="354" cy="5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Text Box 64"/>
            <p:cNvSpPr txBox="1">
              <a:spLocks noChangeArrowheads="1"/>
            </p:cNvSpPr>
            <p:nvPr/>
          </p:nvSpPr>
          <p:spPr bwMode="auto">
            <a:xfrm>
              <a:off x="1466" y="1804"/>
              <a:ext cx="282" cy="8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r>
                <a:rPr lang="en-US" sz="1800" b="1"/>
                <a:t>$30</a:t>
              </a:r>
            </a:p>
            <a:p>
              <a:pPr algn="r"/>
              <a:endParaRPr lang="en-US" b="1"/>
            </a:p>
            <a:p>
              <a:pPr algn="r"/>
              <a:r>
                <a:rPr lang="en-US" sz="1800" b="1"/>
                <a:t>$20</a:t>
              </a:r>
            </a:p>
            <a:p>
              <a:pPr algn="r"/>
              <a:endParaRPr lang="en-US" sz="1800" b="1"/>
            </a:p>
            <a:p>
              <a:pPr algn="r"/>
              <a:r>
                <a:rPr lang="en-US" sz="1800" b="1"/>
                <a:t>$8</a:t>
              </a:r>
            </a:p>
            <a:p>
              <a:pPr algn="r"/>
              <a:endParaRPr lang="en-US" sz="1800" b="1"/>
            </a:p>
            <a:p>
              <a:pPr algn="r"/>
              <a:r>
                <a:rPr lang="en-US" sz="1800" b="1"/>
                <a:t>$5</a:t>
              </a:r>
            </a:p>
            <a:p>
              <a:pPr algn="r"/>
              <a:endParaRPr lang="en-US" sz="1800" b="1"/>
            </a:p>
          </p:txBody>
        </p:sp>
        <p:sp>
          <p:nvSpPr>
            <p:cNvPr id="20504" name="Line 65"/>
            <p:cNvSpPr>
              <a:spLocks noChangeShapeType="1"/>
            </p:cNvSpPr>
            <p:nvPr/>
          </p:nvSpPr>
          <p:spPr bwMode="auto">
            <a:xfrm>
              <a:off x="1748" y="2614"/>
              <a:ext cx="126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Text Box 66"/>
            <p:cNvSpPr txBox="1">
              <a:spLocks noChangeArrowheads="1"/>
            </p:cNvSpPr>
            <p:nvPr/>
          </p:nvSpPr>
          <p:spPr bwMode="auto">
            <a:xfrm>
              <a:off x="3061" y="2523"/>
              <a:ext cx="28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MC</a:t>
              </a:r>
            </a:p>
          </p:txBody>
        </p:sp>
      </p:grpSp>
      <mc:AlternateContent xmlns:mc="http://schemas.openxmlformats.org/markup-compatibility/2006" xmlns:a14="http://schemas.microsoft.com/office/drawing/2010/main">
        <mc:Choice Requires="a14">
          <p:sp>
            <p:nvSpPr>
              <p:cNvPr id="13316" name="Text Box 68"/>
              <p:cNvSpPr txBox="1">
                <a:spLocks noChangeArrowheads="1"/>
              </p:cNvSpPr>
              <p:nvPr/>
            </p:nvSpPr>
            <p:spPr bwMode="auto">
              <a:xfrm>
                <a:off x="5094288" y="1800225"/>
                <a:ext cx="3876062" cy="329064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600" b="1" dirty="0">
                    <a:ea typeface="Batang" pitchFamily="18" charset="-127"/>
                  </a:rPr>
                  <a:t>Total Customer A Value:</a:t>
                </a:r>
                <a:endParaRPr lang="en-US" altLang="ko-KR" sz="1600" dirty="0">
                  <a:ea typeface="Batang" pitchFamily="18" charset="-127"/>
                </a:endParaRPr>
              </a:p>
              <a:p>
                <a:r>
                  <a:rPr lang="en-US" altLang="ko-KR" sz="1600" dirty="0">
                    <a:ea typeface="Batang" pitchFamily="18" charset="-127"/>
                  </a:rPr>
                  <a:t>Total WTP for Customer A = Total Surplus</a:t>
                </a:r>
              </a:p>
              <a:p>
                <a:pPr/>
                <a14:m>
                  <m:oMathPara xmlns:m="http://schemas.openxmlformats.org/officeDocument/2006/math">
                    <m:oMathParaPr>
                      <m:jc m:val="left"/>
                    </m:oMathParaPr>
                    <m:oMath xmlns:m="http://schemas.openxmlformats.org/officeDocument/2006/math">
                      <m:r>
                        <a:rPr lang="en-US" altLang="ko-KR" sz="1600" i="1" dirty="0" smtClean="0">
                          <a:latin typeface="Cambria Math" panose="02040503050406030204" pitchFamily="18" charset="0"/>
                          <a:ea typeface="Batang" pitchFamily="18" charset="-127"/>
                        </a:rPr>
                        <m:t>$30</m:t>
                      </m:r>
                      <m:r>
                        <a:rPr lang="en-US" altLang="ko-KR" sz="1600" i="1" dirty="0" smtClean="0">
                          <a:latin typeface="Cambria Math" panose="02040503050406030204" pitchFamily="18" charset="0"/>
                          <a:ea typeface="Cambria Math" panose="02040503050406030204" pitchFamily="18" charset="0"/>
                        </a:rPr>
                        <m:t>×</m:t>
                      </m:r>
                      <m:r>
                        <a:rPr lang="en-US" altLang="ko-KR" sz="1600" i="1" dirty="0" smtClean="0">
                          <a:latin typeface="Cambria Math" panose="02040503050406030204" pitchFamily="18" charset="0"/>
                          <a:ea typeface="Batang" pitchFamily="18" charset="-127"/>
                        </a:rPr>
                        <m:t>1 + $20</m:t>
                      </m:r>
                      <m:r>
                        <a:rPr lang="en-US" altLang="ko-KR" sz="1600" i="1" dirty="0" smtClean="0">
                          <a:latin typeface="Cambria Math" panose="02040503050406030204" pitchFamily="18" charset="0"/>
                          <a:ea typeface="Cambria Math" panose="02040503050406030204" pitchFamily="18" charset="0"/>
                        </a:rPr>
                        <m:t>×</m:t>
                      </m:r>
                      <m:r>
                        <a:rPr lang="en-US" altLang="ko-KR" sz="1600" i="1" dirty="0" smtClean="0">
                          <a:latin typeface="Cambria Math" panose="02040503050406030204" pitchFamily="18" charset="0"/>
                          <a:ea typeface="Batang" pitchFamily="18" charset="-127"/>
                        </a:rPr>
                        <m:t>1 + $8</m:t>
                      </m:r>
                      <m:r>
                        <a:rPr lang="en-US" altLang="ko-KR" sz="1600" i="1" dirty="0" smtClean="0">
                          <a:latin typeface="Cambria Math" panose="02040503050406030204" pitchFamily="18" charset="0"/>
                          <a:ea typeface="Cambria Math" panose="02040503050406030204" pitchFamily="18" charset="0"/>
                        </a:rPr>
                        <m:t>×</m:t>
                      </m:r>
                      <m:r>
                        <a:rPr lang="en-US" altLang="ko-KR" sz="1600" i="1" dirty="0" smtClean="0">
                          <a:latin typeface="Cambria Math" panose="02040503050406030204" pitchFamily="18" charset="0"/>
                          <a:ea typeface="Batang" pitchFamily="18" charset="-127"/>
                        </a:rPr>
                        <m:t>1 = $58</m:t>
                      </m:r>
                    </m:oMath>
                  </m:oMathPara>
                </a14:m>
                <a:endParaRPr lang="en-US" altLang="ko-KR" sz="1600" dirty="0">
                  <a:ea typeface="Batang" pitchFamily="18" charset="-127"/>
                </a:endParaRPr>
              </a:p>
              <a:p>
                <a:endParaRPr lang="en-US" altLang="ko-KR" sz="1600" dirty="0">
                  <a:ea typeface="Batang" pitchFamily="18" charset="-127"/>
                </a:endParaRPr>
              </a:p>
              <a:p>
                <a:r>
                  <a:rPr lang="en-US" altLang="ko-KR" sz="1600" dirty="0">
                    <a:ea typeface="Batang" pitchFamily="18" charset="-127"/>
                  </a:rPr>
                  <a:t> </a:t>
                </a:r>
                <a:r>
                  <a:rPr lang="en-US" altLang="ko-KR" sz="1600" b="1" dirty="0">
                    <a:ea typeface="Batang" pitchFamily="18" charset="-127"/>
                  </a:rPr>
                  <a:t>Potential Profit from Customer A:</a:t>
                </a:r>
              </a:p>
              <a:p>
                <a:r>
                  <a:rPr lang="en-US" altLang="ko-KR" sz="1600" dirty="0">
                    <a:ea typeface="Batang" pitchFamily="18" charset="-127"/>
                  </a:rPr>
                  <a:t>         Cost to Produce 3 units</a:t>
                </a:r>
              </a:p>
              <a:p>
                <a:r>
                  <a:rPr lang="en-US" altLang="ko-KR" sz="1600" dirty="0">
                    <a:ea typeface="Batang" pitchFamily="18" charset="-127"/>
                  </a:rPr>
                  <a:t>         </a:t>
                </a:r>
                <a14:m>
                  <m:oMath xmlns:m="http://schemas.openxmlformats.org/officeDocument/2006/math">
                    <m:r>
                      <a:rPr lang="en-US" altLang="ko-KR" sz="1600" i="1" dirty="0">
                        <a:latin typeface="Cambria Math" panose="02040503050406030204" pitchFamily="18" charset="0"/>
                        <a:ea typeface="Batang" pitchFamily="18" charset="-127"/>
                      </a:rPr>
                      <m:t>$5</m:t>
                    </m:r>
                    <m:r>
                      <a:rPr lang="en-US" altLang="ko-KR" sz="1600" i="1" dirty="0">
                        <a:latin typeface="Cambria Math" panose="02040503050406030204" pitchFamily="18" charset="0"/>
                        <a:ea typeface="Cambria Math" panose="02040503050406030204" pitchFamily="18" charset="0"/>
                      </a:rPr>
                      <m:t>×</m:t>
                    </m:r>
                    <m:r>
                      <a:rPr lang="en-US" altLang="ko-KR" sz="1600" i="1" dirty="0">
                        <a:latin typeface="Cambria Math" panose="02040503050406030204" pitchFamily="18" charset="0"/>
                        <a:ea typeface="Batang" pitchFamily="18" charset="-127"/>
                      </a:rPr>
                      <m:t>3 =$15</m:t>
                    </m:r>
                  </m:oMath>
                </a14:m>
                <a:endParaRPr lang="en-US" altLang="ko-KR" sz="1600" dirty="0">
                  <a:ea typeface="Batang" pitchFamily="18" charset="-127"/>
                </a:endParaRPr>
              </a:p>
              <a:p>
                <a:pPr/>
                <a14:m>
                  <m:oMathPara xmlns:m="http://schemas.openxmlformats.org/officeDocument/2006/math">
                    <m:oMathParaPr>
                      <m:jc m:val="left"/>
                    </m:oMathParaPr>
                    <m:oMath xmlns:m="http://schemas.openxmlformats.org/officeDocument/2006/math">
                      <m:r>
                        <a:rPr lang="en-US" altLang="ko-KR" sz="1600" b="0" i="1" dirty="0" smtClean="0">
                          <a:latin typeface="Cambria Math" panose="02040503050406030204" pitchFamily="18" charset="0"/>
                          <a:ea typeface="Batang" pitchFamily="18" charset="-127"/>
                        </a:rPr>
                        <m:t>  </m:t>
                      </m:r>
                      <m:r>
                        <a:rPr lang="en-US" altLang="ko-KR" sz="1600" b="0" i="1" dirty="0" smtClean="0">
                          <a:latin typeface="Cambria Math" panose="02040503050406030204" pitchFamily="18" charset="0"/>
                          <a:ea typeface="Cambria Math" panose="02040503050406030204" pitchFamily="18" charset="0"/>
                        </a:rPr>
                        <m:t>→</m:t>
                      </m:r>
                      <m:r>
                        <a:rPr lang="en-US" altLang="ko-KR" sz="1600" i="1" dirty="0" smtClean="0">
                          <a:latin typeface="Cambria Math" panose="02040503050406030204" pitchFamily="18" charset="0"/>
                          <a:ea typeface="Batang" pitchFamily="18" charset="-127"/>
                        </a:rPr>
                        <m:t>$58−$15 = $43</m:t>
                      </m:r>
                    </m:oMath>
                  </m:oMathPara>
                </a14:m>
                <a:endParaRPr lang="en-US" altLang="ko-KR" sz="1600" dirty="0">
                  <a:ea typeface="Batang" pitchFamily="18" charset="-127"/>
                </a:endParaRPr>
              </a:p>
              <a:p>
                <a:endParaRPr lang="en-US" sz="1600" dirty="0">
                  <a:ea typeface="Batang" pitchFamily="18" charset="-127"/>
                </a:endParaRPr>
              </a:p>
              <a:p>
                <a:r>
                  <a:rPr lang="en-US" sz="1600" b="1" dirty="0"/>
                  <a:t>Optimal Uniform Price: </a:t>
                </a:r>
              </a:p>
              <a:p>
                <a:r>
                  <a:rPr lang="en-US" sz="1600" dirty="0"/>
                  <a:t>     </a:t>
                </a:r>
                <a14:m>
                  <m:oMath xmlns:m="http://schemas.openxmlformats.org/officeDocument/2006/math">
                    <m:r>
                      <a:rPr lang="en-US" sz="1600" i="1" dirty="0" smtClean="0">
                        <a:latin typeface="Cambria Math" panose="02040503050406030204" pitchFamily="18" charset="0"/>
                      </a:rPr>
                      <m:t>	</m:t>
                    </m:r>
                    <m:r>
                      <a:rPr lang="en-US" sz="1600" i="1" dirty="0" smtClean="0">
                        <a:latin typeface="Cambria Math" panose="02040503050406030204" pitchFamily="18" charset="0"/>
                      </a:rPr>
                      <m:t>𝑝</m:t>
                    </m:r>
                    <m:r>
                      <a:rPr lang="en-US" sz="1600" i="1" dirty="0">
                        <a:latin typeface="Cambria Math" panose="02040503050406030204" pitchFamily="18" charset="0"/>
                      </a:rPr>
                      <m:t>=$20/</m:t>
                    </m:r>
                    <m:r>
                      <a:rPr lang="en-US" sz="1600" i="1" dirty="0">
                        <a:latin typeface="Cambria Math" panose="02040503050406030204" pitchFamily="18" charset="0"/>
                      </a:rPr>
                      <m:t>𝑢𝑛𝑖𝑡</m:t>
                    </m:r>
                    <m:r>
                      <a:rPr lang="en-US" sz="1600" i="1" dirty="0">
                        <a:latin typeface="Cambria Math" panose="02040503050406030204" pitchFamily="18" charset="0"/>
                      </a:rPr>
                      <m:t>, </m:t>
                    </m:r>
                    <m:r>
                      <a:rPr lang="en-US" sz="1600" i="1" dirty="0">
                        <a:latin typeface="Cambria Math" panose="02040503050406030204" pitchFamily="18" charset="0"/>
                      </a:rPr>
                      <m:t>𝑠𝑒𝑙𝑙</m:t>
                    </m:r>
                    <m:r>
                      <a:rPr lang="en-US" sz="1600" i="1" dirty="0">
                        <a:latin typeface="Cambria Math" panose="02040503050406030204" pitchFamily="18" charset="0"/>
                      </a:rPr>
                      <m:t> 2 </m:t>
                    </m:r>
                    <m:r>
                      <a:rPr lang="en-US" sz="1600" i="1" dirty="0">
                        <a:latin typeface="Cambria Math" panose="02040503050406030204" pitchFamily="18" charset="0"/>
                      </a:rPr>
                      <m:t>𝑢𝑛𝑖𝑡𝑠</m:t>
                    </m:r>
                  </m:oMath>
                </a14:m>
                <a:endParaRPr lang="en-US" sz="1600" dirty="0"/>
              </a:p>
              <a:p>
                <a:r>
                  <a:rPr lang="en-US" sz="1600" dirty="0"/>
                  <a:t>      </a:t>
                </a:r>
                <a14:m>
                  <m:oMath xmlns:m="http://schemas.openxmlformats.org/officeDocument/2006/math">
                    <m:r>
                      <a:rPr lang="en-US" sz="1600" i="1" dirty="0" smtClean="0">
                        <a:latin typeface="Cambria Math" panose="02040503050406030204" pitchFamily="18" charset="0"/>
                      </a:rPr>
                      <m:t>𝑃𝑟𝑜𝑓𝑖𝑡</m:t>
                    </m:r>
                    <m:r>
                      <a:rPr lang="en-US" sz="1600" i="1" dirty="0" smtClean="0">
                        <a:latin typeface="Cambria Math" panose="02040503050406030204" pitchFamily="18" charset="0"/>
                      </a:rPr>
                      <m:t> = $15/</m:t>
                    </m:r>
                    <m:r>
                      <a:rPr lang="en-US" sz="1600" i="1" dirty="0">
                        <a:latin typeface="Cambria Math" panose="02040503050406030204" pitchFamily="18" charset="0"/>
                      </a:rPr>
                      <m:t>𝑢𝑛𝑖𝑡</m:t>
                    </m:r>
                    <m:r>
                      <a:rPr lang="en-US" sz="1600" i="1" dirty="0" smtClean="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rPr>
                      <m:t> 2 </m:t>
                    </m:r>
                    <m:r>
                      <a:rPr lang="en-US" sz="1600" i="1" dirty="0">
                        <a:latin typeface="Cambria Math" panose="02040503050406030204" pitchFamily="18" charset="0"/>
                      </a:rPr>
                      <m:t>𝑢𝑛𝑖𝑡𝑠</m:t>
                    </m:r>
                    <m:r>
                      <a:rPr lang="en-US" sz="1600" i="1" dirty="0">
                        <a:latin typeface="Cambria Math" panose="02040503050406030204" pitchFamily="18" charset="0"/>
                      </a:rPr>
                      <m:t> = $30</m:t>
                    </m:r>
                  </m:oMath>
                </a14:m>
                <a:endParaRPr lang="en-US" sz="1600" dirty="0"/>
              </a:p>
              <a:p>
                <a:endParaRPr lang="en-US" altLang="ko-KR" sz="1600" dirty="0">
                  <a:ea typeface="Batang" pitchFamily="18" charset="-127"/>
                </a:endParaRPr>
              </a:p>
            </p:txBody>
          </p:sp>
        </mc:Choice>
        <mc:Fallback xmlns="">
          <p:sp>
            <p:nvSpPr>
              <p:cNvPr id="13316" name="Text Box 68"/>
              <p:cNvSpPr txBox="1">
                <a:spLocks noRot="1" noChangeAspect="1" noMove="1" noResize="1" noEditPoints="1" noAdjustHandles="1" noChangeArrowheads="1" noChangeShapeType="1" noTextEdit="1"/>
              </p:cNvSpPr>
              <p:nvPr/>
            </p:nvSpPr>
            <p:spPr bwMode="auto">
              <a:xfrm>
                <a:off x="5094288" y="1800225"/>
                <a:ext cx="3876062" cy="3290644"/>
              </a:xfrm>
              <a:prstGeom prst="rect">
                <a:avLst/>
              </a:prstGeom>
              <a:blipFill>
                <a:blip r:embed="rId3"/>
                <a:stretch>
                  <a:fillRect l="-943" t="-5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normAutofit fontScale="85000" lnSpcReduction="20000"/>
          </a:bodyPr>
          <a:lstStyle/>
          <a:p>
            <a:pPr>
              <a:defRPr/>
            </a:pPr>
            <a:fld id="{760BB2BE-DA70-4BB9-A8E0-A991CCA7E082}" type="slidenum">
              <a:rPr lang="en-US" smtClean="0"/>
              <a:pPr>
                <a:defRPr/>
              </a:pPr>
              <a:t>6</a:t>
            </a:fld>
            <a:endParaRPr lang="en-US"/>
          </a:p>
        </p:txBody>
      </p:sp>
      <p:sp>
        <p:nvSpPr>
          <p:cNvPr id="30" name="Rectangle 29"/>
          <p:cNvSpPr/>
          <p:nvPr/>
        </p:nvSpPr>
        <p:spPr>
          <a:xfrm>
            <a:off x="1610040" y="3351382"/>
            <a:ext cx="487818" cy="174911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 name="Rectangle 1"/>
          <p:cNvSpPr/>
          <p:nvPr/>
        </p:nvSpPr>
        <p:spPr>
          <a:xfrm>
            <a:off x="1610040" y="3358522"/>
            <a:ext cx="487818" cy="66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Line 61"/>
          <p:cNvSpPr>
            <a:spLocks noChangeShapeType="1"/>
          </p:cNvSpPr>
          <p:nvPr/>
        </p:nvSpPr>
        <p:spPr bwMode="auto">
          <a:xfrm flipV="1">
            <a:off x="677456" y="3703320"/>
            <a:ext cx="1123002" cy="1429471"/>
          </a:xfrm>
          <a:prstGeom prst="line">
            <a:avLst/>
          </a:prstGeom>
          <a:noFill/>
          <a:ln w="9525">
            <a:solidFill>
              <a:schemeClr val="accent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61"/>
          <p:cNvSpPr>
            <a:spLocks noChangeShapeType="1"/>
          </p:cNvSpPr>
          <p:nvPr/>
        </p:nvSpPr>
        <p:spPr bwMode="auto">
          <a:xfrm flipV="1">
            <a:off x="829856" y="4809904"/>
            <a:ext cx="1776184" cy="475286"/>
          </a:xfrm>
          <a:prstGeom prst="line">
            <a:avLst/>
          </a:prstGeom>
          <a:noFill/>
          <a:ln w="9525">
            <a:solidFill>
              <a:schemeClr val="accent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 name="TextBox 2"/>
          <p:cNvSpPr txBox="1"/>
          <p:nvPr/>
        </p:nvSpPr>
        <p:spPr>
          <a:xfrm>
            <a:off x="98425" y="5304228"/>
            <a:ext cx="1117788" cy="523220"/>
          </a:xfrm>
          <a:prstGeom prst="rect">
            <a:avLst/>
          </a:prstGeom>
          <a:noFill/>
        </p:spPr>
        <p:txBody>
          <a:bodyPr wrap="square" rtlCol="0">
            <a:spAutoFit/>
          </a:bodyPr>
          <a:lstStyle/>
          <a:p>
            <a:pPr algn="ctr"/>
            <a:r>
              <a:rPr lang="en-US" sz="1400" dirty="0">
                <a:solidFill>
                  <a:schemeClr val="accent1"/>
                </a:solidFill>
              </a:rPr>
              <a:t>Money left on table</a:t>
            </a:r>
          </a:p>
        </p:txBody>
      </p:sp>
    </p:spTree>
    <p:extLst>
      <p:ext uri="{BB962C8B-B14F-4D97-AF65-F5344CB8AC3E}">
        <p14:creationId xmlns:p14="http://schemas.microsoft.com/office/powerpoint/2010/main" val="6625908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6">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316">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316">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2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9"/>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316">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316">
                                            <p:txEl>
                                              <p:pRg st="10" end="1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316">
                                            <p:txEl>
                                              <p:pRg st="11" end="11"/>
                                            </p:txEl>
                                          </p:spTgt>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30"/>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9" grpId="0" animBg="1"/>
      <p:bldP spid="29" grpId="1" animBg="1"/>
      <p:bldP spid="31" grpId="0" animBg="1"/>
      <p:bldP spid="31" grpId="1" animBg="1"/>
      <p:bldP spid="28" grpId="0" animBg="1"/>
      <p:bldP spid="28" grpId="1" animBg="1"/>
      <p:bldP spid="27" grpId="0" animBg="1"/>
      <p:bldP spid="27" grpId="1" animBg="1"/>
      <p:bldP spid="23" grpId="0" animBg="1"/>
      <p:bldP spid="30" grpId="0" animBg="1"/>
      <p:bldP spid="30" grpId="1" animBg="1"/>
      <p:bldP spid="2" grpId="0" animBg="1"/>
      <p:bldP spid="33" grpId="0" animBg="1"/>
      <p:bldP spid="34"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12775" y="228600"/>
            <a:ext cx="8153400" cy="990600"/>
          </a:xfrm>
        </p:spPr>
        <p:txBody>
          <a:bodyPr>
            <a:normAutofit fontScale="90000"/>
          </a:bodyPr>
          <a:lstStyle/>
          <a:p>
            <a:r>
              <a:rPr lang="en-US" sz="4400" dirty="0"/>
              <a:t>Example 1:</a:t>
            </a:r>
            <a:br>
              <a:rPr lang="en-US" sz="4400" dirty="0"/>
            </a:br>
            <a:r>
              <a:rPr lang="en-US" sz="3600" dirty="0"/>
              <a:t>Two Strategies to capture value</a:t>
            </a:r>
          </a:p>
        </p:txBody>
      </p:sp>
      <mc:AlternateContent xmlns:mc="http://schemas.openxmlformats.org/markup-compatibility/2006" xmlns:a14="http://schemas.microsoft.com/office/drawing/2010/main">
        <mc:Choice Requires="a14">
          <p:sp>
            <p:nvSpPr>
              <p:cNvPr id="11267" name="Rectangle 15"/>
              <p:cNvSpPr>
                <a:spLocks noGrp="1" noChangeArrowheads="1"/>
              </p:cNvSpPr>
              <p:nvPr>
                <p:ph sz="quarter" idx="1"/>
              </p:nvPr>
            </p:nvSpPr>
            <p:spPr>
              <a:xfrm>
                <a:off x="612775" y="1600200"/>
                <a:ext cx="8153400" cy="4828032"/>
              </a:xfrm>
            </p:spPr>
            <p:txBody>
              <a:bodyPr>
                <a:normAutofit/>
              </a:bodyPr>
              <a:lstStyle/>
              <a:p>
                <a:pPr marL="0" indent="0">
                  <a:lnSpc>
                    <a:spcPct val="90000"/>
                  </a:lnSpc>
                  <a:spcAft>
                    <a:spcPts val="600"/>
                  </a:spcAft>
                  <a:buNone/>
                  <a:defRPr/>
                </a:pPr>
                <a:r>
                  <a:rPr lang="en-US" i="1" dirty="0">
                    <a:effectLst>
                      <a:outerShdw blurRad="38100" dist="38100" dir="2700000" algn="tl">
                        <a:srgbClr val="000000">
                          <a:alpha val="43137"/>
                        </a:srgbClr>
                      </a:outerShdw>
                    </a:effectLst>
                  </a:rPr>
                  <a:t>Quantity Discount Schedule (</a:t>
                </a:r>
                <a:r>
                  <a:rPr lang="en-US" i="1" dirty="0"/>
                  <a:t>or </a:t>
                </a:r>
                <a:r>
                  <a:rPr lang="en-US" i="1" dirty="0">
                    <a:effectLst>
                      <a:outerShdw blurRad="38100" dist="38100" dir="2700000" algn="tl">
                        <a:srgbClr val="000000">
                          <a:alpha val="43137"/>
                        </a:srgbClr>
                      </a:outerShdw>
                    </a:effectLst>
                  </a:rPr>
                  <a:t>incremental units discounts)</a:t>
                </a:r>
              </a:p>
              <a:p>
                <a:pPr lvl="1">
                  <a:lnSpc>
                    <a:spcPct val="90000"/>
                  </a:lnSpc>
                  <a:spcAft>
                    <a:spcPts val="600"/>
                  </a:spcAft>
                  <a:defRPr/>
                </a:pPr>
                <a:r>
                  <a:rPr lang="en-US" dirty="0"/>
                  <a:t>First Unit: $30</a:t>
                </a:r>
              </a:p>
              <a:p>
                <a:pPr lvl="1">
                  <a:lnSpc>
                    <a:spcPct val="90000"/>
                  </a:lnSpc>
                  <a:spcAft>
                    <a:spcPts val="600"/>
                  </a:spcAft>
                  <a:defRPr/>
                </a:pPr>
                <a:r>
                  <a:rPr lang="en-US" dirty="0"/>
                  <a:t>Second Unit: $20</a:t>
                </a:r>
              </a:p>
              <a:p>
                <a:pPr lvl="1">
                  <a:lnSpc>
                    <a:spcPct val="90000"/>
                  </a:lnSpc>
                  <a:spcAft>
                    <a:spcPts val="1200"/>
                  </a:spcAft>
                  <a:defRPr/>
                </a:pPr>
                <a:r>
                  <a:rPr lang="en-US" dirty="0"/>
                  <a:t>Third Unit: $8</a:t>
                </a:r>
              </a:p>
              <a:p>
                <a:pPr marL="0" indent="0">
                  <a:lnSpc>
                    <a:spcPct val="90000"/>
                  </a:lnSpc>
                  <a:spcBef>
                    <a:spcPts val="1200"/>
                  </a:spcBef>
                  <a:spcAft>
                    <a:spcPts val="600"/>
                  </a:spcAft>
                  <a:buNone/>
                  <a:defRPr/>
                </a:pPr>
                <a:r>
                  <a:rPr lang="en-US" i="1" dirty="0">
                    <a:effectLst>
                      <a:outerShdw blurRad="38100" dist="38100" dir="2700000" algn="tl">
                        <a:srgbClr val="000000">
                          <a:alpha val="43137"/>
                        </a:srgbClr>
                      </a:outerShdw>
                    </a:effectLst>
                  </a:rPr>
                  <a:t>Commodity Bundle</a:t>
                </a:r>
                <a:r>
                  <a:rPr lang="en-US" i="1" dirty="0"/>
                  <a:t> (i.e., </a:t>
                </a:r>
                <a:r>
                  <a:rPr lang="en-US" dirty="0"/>
                  <a:t>Take-it-or-leave-it)</a:t>
                </a:r>
              </a:p>
              <a:p>
                <a:pPr lvl="1">
                  <a:lnSpc>
                    <a:spcPct val="90000"/>
                  </a:lnSpc>
                  <a:spcAft>
                    <a:spcPts val="1200"/>
                  </a:spcAft>
                  <a:defRPr/>
                </a:pPr>
                <a:r>
                  <a:rPr lang="en-US" dirty="0"/>
                  <a:t>3 units, $58</a:t>
                </a:r>
              </a:p>
              <a:p>
                <a:pPr>
                  <a:lnSpc>
                    <a:spcPct val="90000"/>
                  </a:lnSpc>
                  <a:spcAft>
                    <a:spcPts val="1200"/>
                  </a:spcAft>
                  <a:defRPr/>
                </a:pPr>
                <a:endParaRPr lang="en-US" dirty="0"/>
              </a:p>
              <a:p>
                <a:pPr>
                  <a:lnSpc>
                    <a:spcPct val="90000"/>
                  </a:lnSpc>
                  <a:spcAft>
                    <a:spcPts val="1200"/>
                  </a:spcAft>
                  <a:defRPr/>
                </a:pPr>
                <a:r>
                  <a:rPr lang="en-US" dirty="0"/>
                  <a:t>What about a </a:t>
                </a:r>
                <a:r>
                  <a:rPr lang="en-US" b="1" dirty="0">
                    <a:effectLst>
                      <a:outerShdw blurRad="38100" dist="38100" dir="2700000" algn="tl">
                        <a:srgbClr val="000000">
                          <a:alpha val="43137"/>
                        </a:srgbClr>
                      </a:outerShdw>
                    </a:effectLst>
                  </a:rPr>
                  <a:t>Two-Part Tariff</a:t>
                </a:r>
                <a:r>
                  <a:rPr lang="en-US" dirty="0"/>
                  <a:t>?</a:t>
                </a:r>
              </a:p>
              <a:p>
                <a:pPr marL="366713" lvl="1" indent="0">
                  <a:lnSpc>
                    <a:spcPct val="90000"/>
                  </a:lnSpc>
                  <a:spcAft>
                    <a:spcPts val="1200"/>
                  </a:spcAft>
                  <a:buNone/>
                  <a:defRPr/>
                </a:pPr>
                <a14:m>
                  <m:oMathPara xmlns:m="http://schemas.openxmlformats.org/officeDocument/2006/math">
                    <m:oMathParaPr>
                      <m:jc m:val="centerGroup"/>
                    </m:oMathParaPr>
                    <m:oMath xmlns:m="http://schemas.openxmlformats.org/officeDocument/2006/math">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𝑻</m:t>
                      </m:r>
                      <m:d>
                        <m:dPr>
                          <m:ctrlPr>
                            <a:rPr lang="en-US" b="1" i="1">
                              <a:solidFill>
                                <a:srgbClr val="7030A0"/>
                              </a:solidFill>
                              <a:effectLst>
                                <a:outerShdw blurRad="38100" dist="38100" dir="2700000" algn="tl">
                                  <a:srgbClr val="000000">
                                    <a:alpha val="43137"/>
                                  </a:srgbClr>
                                </a:outerShdw>
                              </a:effectLst>
                              <a:latin typeface="Cambria Math" panose="02040503050406030204" pitchFamily="18" charset="0"/>
                            </a:rPr>
                          </m:ctrlPr>
                        </m:dPr>
                        <m:e>
                          <m:r>
                            <a:rPr lang="en-US" b="1" i="1">
                              <a:solidFill>
                                <a:srgbClr val="7030A0"/>
                              </a:solidFill>
                              <a:effectLst>
                                <a:outerShdw blurRad="38100" dist="38100" dir="2700000" algn="tl">
                                  <a:srgbClr val="000000">
                                    <a:alpha val="43137"/>
                                  </a:srgbClr>
                                </a:outerShdw>
                              </a:effectLst>
                              <a:latin typeface="Cambria Math" panose="02040503050406030204" pitchFamily="18" charset="0"/>
                            </a:rPr>
                            <m:t>𝑸</m:t>
                          </m:r>
                        </m:e>
                      </m:d>
                      <m:r>
                        <a:rPr lang="en-US" b="1" i="1">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a:solidFill>
                            <a:srgbClr val="7030A0"/>
                          </a:solidFill>
                          <a:effectLst>
                            <a:outerShdw blurRad="38100" dist="38100" dir="2700000" algn="tl">
                              <a:srgbClr val="000000">
                                <a:alpha val="43137"/>
                              </a:srgbClr>
                            </a:outerShdw>
                          </a:effectLst>
                          <a:latin typeface="Cambria Math" panose="02040503050406030204" pitchFamily="18" charset="0"/>
                        </a:rPr>
                        <m:t>𝑭</m:t>
                      </m:r>
                      <m:r>
                        <a:rPr lang="en-US" b="1" i="1">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a:solidFill>
                            <a:srgbClr val="7030A0"/>
                          </a:solidFill>
                          <a:effectLst>
                            <a:outerShdw blurRad="38100" dist="38100" dir="2700000" algn="tl">
                              <a:srgbClr val="000000">
                                <a:alpha val="43137"/>
                              </a:srgbClr>
                            </a:outerShdw>
                          </a:effectLst>
                          <a:latin typeface="Cambria Math" panose="02040503050406030204" pitchFamily="18" charset="0"/>
                        </a:rPr>
                        <m:t>𝒑𝑸</m:t>
                      </m:r>
                    </m:oMath>
                  </m:oMathPara>
                </a14:m>
                <a:endParaRPr lang="en-US" b="1" dirty="0">
                  <a:solidFill>
                    <a:srgbClr val="7030A0"/>
                  </a:solidFill>
                  <a:effectLst>
                    <a:outerShdw blurRad="38100" dist="38100" dir="2700000" algn="tl">
                      <a:srgbClr val="000000">
                        <a:alpha val="43137"/>
                      </a:srgbClr>
                    </a:outerShdw>
                  </a:effectLst>
                </a:endParaRPr>
              </a:p>
            </p:txBody>
          </p:sp>
        </mc:Choice>
        <mc:Fallback xmlns="">
          <p:sp>
            <p:nvSpPr>
              <p:cNvPr id="11267" name="Rectangle 15"/>
              <p:cNvSpPr>
                <a:spLocks noGrp="1" noRot="1" noChangeAspect="1" noMove="1" noResize="1" noEditPoints="1" noAdjustHandles="1" noChangeArrowheads="1" noChangeShapeType="1" noTextEdit="1"/>
              </p:cNvSpPr>
              <p:nvPr>
                <p:ph sz="quarter" idx="1"/>
              </p:nvPr>
            </p:nvSpPr>
            <p:spPr>
              <a:xfrm>
                <a:off x="612775" y="1600200"/>
                <a:ext cx="8153400" cy="4828032"/>
              </a:xfrm>
              <a:blipFill>
                <a:blip r:embed="rId2"/>
                <a:stretch>
                  <a:fillRect l="-1272" t="-1894"/>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7</a:t>
            </a:fld>
            <a:endParaRPr lang="en-US"/>
          </a:p>
        </p:txBody>
      </p:sp>
      <p:sp>
        <p:nvSpPr>
          <p:cNvPr id="7" name="Oval 6"/>
          <p:cNvSpPr/>
          <p:nvPr/>
        </p:nvSpPr>
        <p:spPr>
          <a:xfrm>
            <a:off x="231775" y="1634905"/>
            <a:ext cx="381000" cy="3810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endParaRPr lang="en-US" dirty="0"/>
          </a:p>
        </p:txBody>
      </p:sp>
      <p:sp>
        <p:nvSpPr>
          <p:cNvPr id="8" name="Oval 7"/>
          <p:cNvSpPr/>
          <p:nvPr/>
        </p:nvSpPr>
        <p:spPr>
          <a:xfrm>
            <a:off x="231775" y="3692209"/>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endParaRPr lang="en-US" dirty="0"/>
          </a:p>
        </p:txBody>
      </p:sp>
      <p:sp>
        <p:nvSpPr>
          <p:cNvPr id="3" name="Right Brace 2"/>
          <p:cNvSpPr/>
          <p:nvPr/>
        </p:nvSpPr>
        <p:spPr>
          <a:xfrm rot="5400000">
            <a:off x="3756013" y="5961370"/>
            <a:ext cx="151711" cy="67657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p:cNvSpPr/>
          <p:nvPr/>
        </p:nvSpPr>
        <p:spPr>
          <a:xfrm rot="5400000">
            <a:off x="4575059" y="6189954"/>
            <a:ext cx="151713" cy="21941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p:cNvSpPr/>
          <p:nvPr/>
        </p:nvSpPr>
        <p:spPr>
          <a:xfrm rot="5400000">
            <a:off x="5257762" y="6118860"/>
            <a:ext cx="160603" cy="37048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p:cNvSpPr txBox="1"/>
          <p:nvPr/>
        </p:nvSpPr>
        <p:spPr>
          <a:xfrm>
            <a:off x="3404778" y="6413983"/>
            <a:ext cx="854180" cy="230832"/>
          </a:xfrm>
          <a:prstGeom prst="rect">
            <a:avLst/>
          </a:prstGeom>
          <a:noFill/>
        </p:spPr>
        <p:txBody>
          <a:bodyPr wrap="square" rtlCol="0">
            <a:spAutoFit/>
          </a:bodyPr>
          <a:lstStyle/>
          <a:p>
            <a:pPr algn="ctr"/>
            <a:r>
              <a:rPr lang="en-US" sz="900" dirty="0">
                <a:solidFill>
                  <a:srgbClr val="FF0000"/>
                </a:solidFill>
              </a:rPr>
              <a:t>Total charged</a:t>
            </a:r>
          </a:p>
        </p:txBody>
      </p:sp>
      <p:sp>
        <p:nvSpPr>
          <p:cNvPr id="13" name="TextBox 12"/>
          <p:cNvSpPr txBox="1"/>
          <p:nvPr/>
        </p:nvSpPr>
        <p:spPr>
          <a:xfrm>
            <a:off x="4393259" y="6413979"/>
            <a:ext cx="541648" cy="369332"/>
          </a:xfrm>
          <a:prstGeom prst="rect">
            <a:avLst/>
          </a:prstGeom>
          <a:noFill/>
        </p:spPr>
        <p:txBody>
          <a:bodyPr wrap="square" rtlCol="0">
            <a:spAutoFit/>
          </a:bodyPr>
          <a:lstStyle/>
          <a:p>
            <a:pPr algn="ctr"/>
            <a:r>
              <a:rPr lang="en-US" sz="900" dirty="0">
                <a:solidFill>
                  <a:srgbClr val="FF0000"/>
                </a:solidFill>
              </a:rPr>
              <a:t>Fixed fee</a:t>
            </a:r>
          </a:p>
        </p:txBody>
      </p:sp>
      <p:sp>
        <p:nvSpPr>
          <p:cNvPr id="14" name="TextBox 13"/>
          <p:cNvSpPr txBox="1"/>
          <p:nvPr/>
        </p:nvSpPr>
        <p:spPr>
          <a:xfrm>
            <a:off x="5027271" y="6413979"/>
            <a:ext cx="659765" cy="369332"/>
          </a:xfrm>
          <a:prstGeom prst="rect">
            <a:avLst/>
          </a:prstGeom>
          <a:noFill/>
        </p:spPr>
        <p:txBody>
          <a:bodyPr wrap="square" rtlCol="0">
            <a:spAutoFit/>
          </a:bodyPr>
          <a:lstStyle/>
          <a:p>
            <a:pPr algn="ctr"/>
            <a:r>
              <a:rPr lang="en-US" sz="900" dirty="0">
                <a:solidFill>
                  <a:srgbClr val="FF0000"/>
                </a:solidFill>
              </a:rPr>
              <a:t>Variable fee</a:t>
            </a:r>
          </a:p>
        </p:txBody>
      </p:sp>
    </p:spTree>
    <p:extLst>
      <p:ext uri="{BB962C8B-B14F-4D97-AF65-F5344CB8AC3E}">
        <p14:creationId xmlns:p14="http://schemas.microsoft.com/office/powerpoint/2010/main" val="290391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4"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lIns="90488" tIns="44450" rIns="90488" bIns="44450" anchor="b"/>
          <a:lstStyle/>
          <a:p>
            <a:r>
              <a:rPr lang="en-US" sz="4000" dirty="0"/>
              <a:t>Example 1:</a:t>
            </a:r>
            <a:br>
              <a:rPr lang="en-US" sz="4000" dirty="0"/>
            </a:br>
            <a:r>
              <a:rPr lang="en-US" sz="3200" dirty="0"/>
              <a:t>Two-Part Tariff</a:t>
            </a:r>
          </a:p>
        </p:txBody>
      </p:sp>
      <p:grpSp>
        <p:nvGrpSpPr>
          <p:cNvPr id="20484" name="Group 67"/>
          <p:cNvGrpSpPr>
            <a:grpSpLocks/>
          </p:cNvGrpSpPr>
          <p:nvPr/>
        </p:nvGrpSpPr>
        <p:grpSpPr bwMode="auto">
          <a:xfrm>
            <a:off x="98425" y="2359025"/>
            <a:ext cx="5649913" cy="3786188"/>
            <a:chOff x="1148" y="1462"/>
            <a:chExt cx="2238" cy="1591"/>
          </a:xfrm>
        </p:grpSpPr>
        <p:sp>
          <p:nvSpPr>
            <p:cNvPr id="20489" name="Text Box 47"/>
            <p:cNvSpPr txBox="1">
              <a:spLocks noChangeArrowheads="1"/>
            </p:cNvSpPr>
            <p:nvPr/>
          </p:nvSpPr>
          <p:spPr bwMode="auto">
            <a:xfrm>
              <a:off x="1868" y="2872"/>
              <a:ext cx="1056"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600" b="1">
                  <a:ea typeface="Gulim" pitchFamily="34" charset="-127"/>
                </a:rPr>
                <a:t>1      2       3      4       5      6</a:t>
              </a:r>
            </a:p>
          </p:txBody>
        </p:sp>
        <p:sp>
          <p:nvSpPr>
            <p:cNvPr id="20490" name="Line 48"/>
            <p:cNvSpPr>
              <a:spLocks noChangeShapeType="1"/>
            </p:cNvSpPr>
            <p:nvPr/>
          </p:nvSpPr>
          <p:spPr bwMode="auto">
            <a:xfrm flipV="1">
              <a:off x="1748" y="1677"/>
              <a:ext cx="0" cy="13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1" name="Line 49"/>
            <p:cNvSpPr>
              <a:spLocks noChangeShapeType="1"/>
            </p:cNvSpPr>
            <p:nvPr/>
          </p:nvSpPr>
          <p:spPr bwMode="auto">
            <a:xfrm>
              <a:off x="1748" y="2823"/>
              <a:ext cx="14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2" name="Text Box 50"/>
            <p:cNvSpPr txBox="1">
              <a:spLocks noChangeArrowheads="1"/>
            </p:cNvSpPr>
            <p:nvPr/>
          </p:nvSpPr>
          <p:spPr bwMode="auto">
            <a:xfrm>
              <a:off x="1148" y="1669"/>
              <a:ext cx="414" cy="3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a:t>WTP</a:t>
              </a:r>
            </a:p>
            <a:p>
              <a:pPr algn="ctr"/>
              <a:r>
                <a:rPr lang="en-US" sz="1800" b="1"/>
                <a:t> for Units</a:t>
              </a:r>
            </a:p>
          </p:txBody>
        </p:sp>
        <p:sp>
          <p:nvSpPr>
            <p:cNvPr id="20493" name="Text Box 51"/>
            <p:cNvSpPr txBox="1">
              <a:spLocks noChangeArrowheads="1"/>
            </p:cNvSpPr>
            <p:nvPr/>
          </p:nvSpPr>
          <p:spPr bwMode="auto">
            <a:xfrm>
              <a:off x="2924" y="2864"/>
              <a:ext cx="462"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Units</a:t>
              </a:r>
            </a:p>
          </p:txBody>
        </p:sp>
        <p:sp>
          <p:nvSpPr>
            <p:cNvPr id="20494" name="Freeform 53"/>
            <p:cNvSpPr>
              <a:spLocks/>
            </p:cNvSpPr>
            <p:nvPr/>
          </p:nvSpPr>
          <p:spPr bwMode="auto">
            <a:xfrm>
              <a:off x="1748" y="1882"/>
              <a:ext cx="540" cy="941"/>
            </a:xfrm>
            <a:custGeom>
              <a:avLst/>
              <a:gdLst>
                <a:gd name="T0" fmla="*/ 0 w 2580"/>
                <a:gd name="T1" fmla="*/ 0 h 2353"/>
                <a:gd name="T2" fmla="*/ 0 w 2580"/>
                <a:gd name="T3" fmla="*/ 0 h 2353"/>
                <a:gd name="T4" fmla="*/ 0 w 2580"/>
                <a:gd name="T5" fmla="*/ 0 h 2353"/>
                <a:gd name="T6" fmla="*/ 0 w 2580"/>
                <a:gd name="T7" fmla="*/ 0 h 2353"/>
                <a:gd name="T8" fmla="*/ 0 w 2580"/>
                <a:gd name="T9" fmla="*/ 0 h 2353"/>
                <a:gd name="T10" fmla="*/ 0 w 2580"/>
                <a:gd name="T11" fmla="*/ 0 h 2353"/>
                <a:gd name="T12" fmla="*/ 0 w 2580"/>
                <a:gd name="T13" fmla="*/ 1 h 2353"/>
                <a:gd name="T14" fmla="*/ 0 60000 65536"/>
                <a:gd name="T15" fmla="*/ 0 60000 65536"/>
                <a:gd name="T16" fmla="*/ 0 60000 65536"/>
                <a:gd name="T17" fmla="*/ 0 60000 65536"/>
                <a:gd name="T18" fmla="*/ 0 60000 65536"/>
                <a:gd name="T19" fmla="*/ 0 60000 65536"/>
                <a:gd name="T20" fmla="*/ 0 60000 65536"/>
                <a:gd name="T21" fmla="*/ 0 w 2580"/>
                <a:gd name="T22" fmla="*/ 0 h 2353"/>
                <a:gd name="T23" fmla="*/ 2580 w 2580"/>
                <a:gd name="T24" fmla="*/ 2353 h 23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80" h="2353">
                  <a:moveTo>
                    <a:pt x="0" y="0"/>
                  </a:moveTo>
                  <a:lnTo>
                    <a:pt x="930" y="0"/>
                  </a:lnTo>
                  <a:lnTo>
                    <a:pt x="930" y="720"/>
                  </a:lnTo>
                  <a:lnTo>
                    <a:pt x="1725" y="720"/>
                  </a:lnTo>
                  <a:lnTo>
                    <a:pt x="1725" y="1335"/>
                  </a:lnTo>
                  <a:lnTo>
                    <a:pt x="2580" y="1335"/>
                  </a:lnTo>
                  <a:lnTo>
                    <a:pt x="2580" y="235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5" name="Line 54"/>
            <p:cNvSpPr>
              <a:spLocks noChangeShapeType="1"/>
            </p:cNvSpPr>
            <p:nvPr/>
          </p:nvSpPr>
          <p:spPr bwMode="auto">
            <a:xfrm>
              <a:off x="1940"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6" name="Line 55"/>
            <p:cNvSpPr>
              <a:spLocks noChangeShapeType="1"/>
            </p:cNvSpPr>
            <p:nvPr/>
          </p:nvSpPr>
          <p:spPr bwMode="auto">
            <a:xfrm>
              <a:off x="2108" y="2785"/>
              <a:ext cx="0"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56"/>
            <p:cNvSpPr>
              <a:spLocks noChangeShapeType="1"/>
            </p:cNvSpPr>
            <p:nvPr/>
          </p:nvSpPr>
          <p:spPr bwMode="auto">
            <a:xfrm>
              <a:off x="2444"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8" name="Line 57"/>
            <p:cNvSpPr>
              <a:spLocks noChangeShapeType="1"/>
            </p:cNvSpPr>
            <p:nvPr/>
          </p:nvSpPr>
          <p:spPr bwMode="auto">
            <a:xfrm>
              <a:off x="2630" y="2785"/>
              <a:ext cx="0"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58"/>
            <p:cNvSpPr>
              <a:spLocks noChangeShapeType="1"/>
            </p:cNvSpPr>
            <p:nvPr/>
          </p:nvSpPr>
          <p:spPr bwMode="auto">
            <a:xfrm>
              <a:off x="2288"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0" name="Line 59"/>
            <p:cNvSpPr>
              <a:spLocks noChangeShapeType="1"/>
            </p:cNvSpPr>
            <p:nvPr/>
          </p:nvSpPr>
          <p:spPr bwMode="auto">
            <a:xfrm>
              <a:off x="2780" y="2776"/>
              <a:ext cx="0" cy="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Text Box 60"/>
            <p:cNvSpPr txBox="1">
              <a:spLocks noChangeArrowheads="1"/>
            </p:cNvSpPr>
            <p:nvPr/>
          </p:nvSpPr>
          <p:spPr bwMode="auto">
            <a:xfrm>
              <a:off x="2108" y="1462"/>
              <a:ext cx="588" cy="162"/>
            </a:xfrm>
            <a:prstGeom prst="rect">
              <a:avLst/>
            </a:prstGeom>
            <a:solidFill>
              <a:srgbClr val="FFFFFF"/>
            </a:solidFill>
            <a:ln w="9525">
              <a:solidFill>
                <a:srgbClr val="000000"/>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a:t>Customer A</a:t>
              </a:r>
            </a:p>
          </p:txBody>
        </p:sp>
        <p:sp>
          <p:nvSpPr>
            <p:cNvPr id="20502" name="Line 61"/>
            <p:cNvSpPr>
              <a:spLocks noChangeShapeType="1"/>
            </p:cNvSpPr>
            <p:nvPr/>
          </p:nvSpPr>
          <p:spPr bwMode="auto">
            <a:xfrm flipH="1">
              <a:off x="2000" y="1624"/>
              <a:ext cx="354" cy="5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Text Box 64"/>
            <p:cNvSpPr txBox="1">
              <a:spLocks noChangeArrowheads="1"/>
            </p:cNvSpPr>
            <p:nvPr/>
          </p:nvSpPr>
          <p:spPr bwMode="auto">
            <a:xfrm>
              <a:off x="1466" y="1804"/>
              <a:ext cx="282" cy="8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r>
                <a:rPr lang="en-US" sz="1800" b="1"/>
                <a:t>$30</a:t>
              </a:r>
            </a:p>
            <a:p>
              <a:pPr algn="r"/>
              <a:endParaRPr lang="en-US" b="1"/>
            </a:p>
            <a:p>
              <a:pPr algn="r"/>
              <a:r>
                <a:rPr lang="en-US" sz="1800" b="1"/>
                <a:t>$20</a:t>
              </a:r>
            </a:p>
            <a:p>
              <a:pPr algn="r"/>
              <a:endParaRPr lang="en-US" sz="1800" b="1"/>
            </a:p>
            <a:p>
              <a:pPr algn="r"/>
              <a:r>
                <a:rPr lang="en-US" sz="1800" b="1"/>
                <a:t>$8</a:t>
              </a:r>
            </a:p>
            <a:p>
              <a:pPr algn="r"/>
              <a:endParaRPr lang="en-US" sz="1800" b="1"/>
            </a:p>
            <a:p>
              <a:pPr algn="r"/>
              <a:r>
                <a:rPr lang="en-US" sz="1800" b="1"/>
                <a:t>$5</a:t>
              </a:r>
            </a:p>
            <a:p>
              <a:pPr algn="r"/>
              <a:endParaRPr lang="en-US" sz="1800" b="1"/>
            </a:p>
          </p:txBody>
        </p:sp>
        <p:sp>
          <p:nvSpPr>
            <p:cNvPr id="20504" name="Line 65"/>
            <p:cNvSpPr>
              <a:spLocks noChangeShapeType="1"/>
            </p:cNvSpPr>
            <p:nvPr/>
          </p:nvSpPr>
          <p:spPr bwMode="auto">
            <a:xfrm>
              <a:off x="1748" y="2614"/>
              <a:ext cx="1269"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Text Box 66"/>
            <p:cNvSpPr txBox="1">
              <a:spLocks noChangeArrowheads="1"/>
            </p:cNvSpPr>
            <p:nvPr/>
          </p:nvSpPr>
          <p:spPr bwMode="auto">
            <a:xfrm>
              <a:off x="3061" y="2523"/>
              <a:ext cx="288" cy="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MC</a:t>
              </a:r>
            </a:p>
          </p:txBody>
        </p:sp>
      </p:grpSp>
      <p:sp>
        <p:nvSpPr>
          <p:cNvPr id="5" name="Slide Number Placeholder 4"/>
          <p:cNvSpPr>
            <a:spLocks noGrp="1"/>
          </p:cNvSpPr>
          <p:nvPr>
            <p:ph type="sldNum" sz="quarter" idx="12"/>
          </p:nvPr>
        </p:nvSpPr>
        <p:spPr/>
        <p:txBody>
          <a:bodyPr>
            <a:normAutofit fontScale="85000" lnSpcReduction="20000"/>
          </a:bodyPr>
          <a:lstStyle/>
          <a:p>
            <a:pPr>
              <a:defRPr/>
            </a:pPr>
            <a:fld id="{760BB2BE-DA70-4BB9-A8E0-A991CCA7E082}" type="slidenum">
              <a:rPr lang="en-US" smtClean="0"/>
              <a:pPr>
                <a:defRPr/>
              </a:pPr>
              <a:t>8</a:t>
            </a:fld>
            <a:endParaRPr lang="en-US"/>
          </a:p>
        </p:txBody>
      </p:sp>
      <p:sp>
        <p:nvSpPr>
          <p:cNvPr id="4" name="TextBox 3"/>
          <p:cNvSpPr txBox="1"/>
          <p:nvPr/>
        </p:nvSpPr>
        <p:spPr>
          <a:xfrm>
            <a:off x="4354657" y="3237400"/>
            <a:ext cx="4733988" cy="1169551"/>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rgbClr val="00B050"/>
                </a:solidFill>
              </a:rPr>
              <a:t>Customer’s surplus (CS)</a:t>
            </a:r>
            <a:r>
              <a:rPr lang="en-US" sz="1400" dirty="0"/>
              <a:t> determines Fee, F, you can charge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So what’s best </a:t>
            </a:r>
            <a:r>
              <a:rPr lang="en-US" sz="1400" i="1" dirty="0"/>
              <a:t>feasible</a:t>
            </a:r>
            <a:r>
              <a:rPr lang="en-US" sz="1400" dirty="0"/>
              <a:t> variable price, p, to maximize CS?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And what fee does that let you charge?</a:t>
            </a:r>
          </a:p>
        </p:txBody>
      </p:sp>
      <mc:AlternateContent xmlns:mc="http://schemas.openxmlformats.org/markup-compatibility/2006" xmlns:a14="http://schemas.microsoft.com/office/drawing/2010/main">
        <mc:Choice Requires="a14">
          <p:sp>
            <p:nvSpPr>
              <p:cNvPr id="6" name="Rectangle 5"/>
              <p:cNvSpPr/>
              <p:nvPr/>
            </p:nvSpPr>
            <p:spPr>
              <a:xfrm>
                <a:off x="4208422" y="2218379"/>
                <a:ext cx="2686248" cy="578620"/>
              </a:xfrm>
              <a:prstGeom prst="rect">
                <a:avLst/>
              </a:prstGeom>
            </p:spPr>
            <p:txBody>
              <a:bodyPr wrap="none">
                <a:spAutoFit/>
              </a:bodyPr>
              <a:lstStyle/>
              <a:p>
                <a:pPr marL="366713" lvl="1" indent="0">
                  <a:lnSpc>
                    <a:spcPct val="90000"/>
                  </a:lnSpc>
                  <a:spcAft>
                    <a:spcPts val="1200"/>
                  </a:spcAft>
                  <a:buNone/>
                  <a:defRPr/>
                </a:pPr>
                <a14:m>
                  <m:oMathPara xmlns:m="http://schemas.openxmlformats.org/officeDocument/2006/math">
                    <m:oMathParaPr>
                      <m:jc m:val="centerGroup"/>
                    </m:oMathParaPr>
                    <m:oMath xmlns:m="http://schemas.openxmlformats.org/officeDocument/2006/math">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𝑻</m:t>
                      </m:r>
                      <m:d>
                        <m:dPr>
                          <m:ctrlP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ctrlPr>
                        </m:dPr>
                        <m:e>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𝑸</m:t>
                          </m:r>
                        </m:e>
                      </m:d>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𝑭</m:t>
                      </m:r>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𝒑𝑸</m:t>
                      </m:r>
                    </m:oMath>
                  </m:oMathPara>
                </a14:m>
                <a:endParaRPr lang="en-US" b="1" dirty="0">
                  <a:solidFill>
                    <a:srgbClr val="7030A0"/>
                  </a:solidFill>
                  <a:effectLst>
                    <a:outerShdw blurRad="38100" dist="38100" dir="2700000" algn="tl">
                      <a:srgbClr val="000000">
                        <a:alpha val="43137"/>
                      </a:srgbClr>
                    </a:outerShdw>
                  </a:effectLst>
                </a:endParaRPr>
              </a:p>
            </p:txBody>
          </p:sp>
        </mc:Choice>
        <mc:Fallback xmlns="">
          <p:sp>
            <p:nvSpPr>
              <p:cNvPr id="6" name="Rectangle 5"/>
              <p:cNvSpPr>
                <a:spLocks noRot="1" noChangeAspect="1" noMove="1" noResize="1" noEditPoints="1" noAdjustHandles="1" noChangeArrowheads="1" noChangeShapeType="1" noTextEdit="1"/>
              </p:cNvSpPr>
              <p:nvPr/>
            </p:nvSpPr>
            <p:spPr>
              <a:xfrm>
                <a:off x="4208422" y="2218379"/>
                <a:ext cx="2686248" cy="5786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6365487" y="2218205"/>
                <a:ext cx="2092048" cy="424732"/>
              </a:xfrm>
              <a:prstGeom prst="rect">
                <a:avLst/>
              </a:prstGeom>
            </p:spPr>
            <p:txBody>
              <a:bodyPr wrap="none">
                <a:spAutoFit/>
              </a:bodyPr>
              <a:lstStyle/>
              <a:p>
                <a:pPr marL="366713" lvl="1" indent="0">
                  <a:lnSpc>
                    <a:spcPct val="90000"/>
                  </a:lnSpc>
                  <a:spcAft>
                    <a:spcPts val="1200"/>
                  </a:spcAft>
                  <a:buNone/>
                  <a:defRPr/>
                </a:pPr>
                <a14:m>
                  <m:oMath xmlns:m="http://schemas.openxmlformats.org/officeDocument/2006/math">
                    <m:r>
                      <a:rPr lang="en-US" b="1" i="1" smtClean="0">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smtClean="0">
                        <a:solidFill>
                          <a:srgbClr val="FF0000"/>
                        </a:solidFill>
                        <a:effectLst>
                          <a:outerShdw blurRad="38100" dist="38100" dir="2700000" algn="tl">
                            <a:srgbClr val="000000">
                              <a:alpha val="43137"/>
                            </a:srgbClr>
                          </a:outerShdw>
                        </a:effectLst>
                        <a:latin typeface="Cambria Math" panose="02040503050406030204" pitchFamily="18" charset="0"/>
                      </a:rPr>
                      <m:t>𝟒𝟑</m:t>
                    </m:r>
                    <m:r>
                      <a:rPr lang="en-US" b="1" i="1">
                        <a:solidFill>
                          <a:srgbClr val="7030A0"/>
                        </a:solidFill>
                        <a:effectLst>
                          <a:outerShdw blurRad="38100" dist="38100" dir="2700000" algn="tl">
                            <a:srgbClr val="000000">
                              <a:alpha val="43137"/>
                            </a:srgbClr>
                          </a:outerShdw>
                        </a:effectLst>
                        <a:latin typeface="Cambria Math" panose="02040503050406030204" pitchFamily="18" charset="0"/>
                      </a:rPr>
                      <m:t>+</m:t>
                    </m:r>
                    <m:r>
                      <a:rPr lang="en-US" b="1" i="1">
                        <a:solidFill>
                          <a:srgbClr val="FF0000"/>
                        </a:solidFill>
                        <a:effectLst>
                          <a:outerShdw blurRad="38100" dist="38100" dir="2700000" algn="tl">
                            <a:srgbClr val="000000">
                              <a:alpha val="43137"/>
                            </a:srgbClr>
                          </a:outerShdw>
                        </a:effectLst>
                        <a:latin typeface="Cambria Math" panose="02040503050406030204" pitchFamily="18" charset="0"/>
                      </a:rPr>
                      <m:t>𝟓</m:t>
                    </m:r>
                    <m:r>
                      <a:rPr lang="en-US" b="1" i="1">
                        <a:solidFill>
                          <a:srgbClr val="7030A0"/>
                        </a:solidFill>
                        <a:effectLst>
                          <a:outerShdw blurRad="38100" dist="38100" dir="2700000" algn="tl">
                            <a:srgbClr val="000000">
                              <a:alpha val="43137"/>
                            </a:srgbClr>
                          </a:outerShdw>
                        </a:effectLst>
                        <a:latin typeface="Cambria Math" panose="02040503050406030204" pitchFamily="18" charset="0"/>
                      </a:rPr>
                      <m:t>𝑸</m:t>
                    </m:r>
                  </m:oMath>
                </a14:m>
                <a:r>
                  <a:rPr lang="en-US" b="1" dirty="0">
                    <a:solidFill>
                      <a:srgbClr val="7030A0"/>
                    </a:solidFill>
                    <a:effectLst>
                      <a:outerShdw blurRad="38100" dist="38100" dir="2700000" algn="tl">
                        <a:srgbClr val="000000">
                          <a:alpha val="43137"/>
                        </a:srgbClr>
                      </a:outerShdw>
                    </a:effectLst>
                  </a:rPr>
                  <a:t> </a:t>
                </a:r>
              </a:p>
            </p:txBody>
          </p:sp>
        </mc:Choice>
        <mc:Fallback xmlns="">
          <p:sp>
            <p:nvSpPr>
              <p:cNvPr id="2" name="Rectangle 1"/>
              <p:cNvSpPr>
                <a:spLocks noRot="1" noChangeAspect="1" noMove="1" noResize="1" noEditPoints="1" noAdjustHandles="1" noChangeArrowheads="1" noChangeShapeType="1" noTextEdit="1"/>
              </p:cNvSpPr>
              <p:nvPr/>
            </p:nvSpPr>
            <p:spPr>
              <a:xfrm>
                <a:off x="6365487" y="2218205"/>
                <a:ext cx="2092048" cy="424732"/>
              </a:xfrm>
              <a:prstGeom prst="rect">
                <a:avLst/>
              </a:prstGeom>
              <a:blipFill>
                <a:blip r:embed="rId4"/>
                <a:stretch>
                  <a:fillRect b="-22857"/>
                </a:stretch>
              </a:blipFill>
            </p:spPr>
            <p:txBody>
              <a:bodyPr/>
              <a:lstStyle/>
              <a:p>
                <a:r>
                  <a:rPr lang="en-US">
                    <a:noFill/>
                  </a:rPr>
                  <a:t> </a:t>
                </a:r>
              </a:p>
            </p:txBody>
          </p:sp>
        </mc:Fallback>
      </mc:AlternateContent>
      <p:sp>
        <p:nvSpPr>
          <p:cNvPr id="25" name="TextBox 24"/>
          <p:cNvSpPr txBox="1"/>
          <p:nvPr/>
        </p:nvSpPr>
        <p:spPr>
          <a:xfrm>
            <a:off x="5387845" y="1531341"/>
            <a:ext cx="968535" cy="276999"/>
          </a:xfrm>
          <a:prstGeom prst="rect">
            <a:avLst/>
          </a:prstGeom>
          <a:noFill/>
        </p:spPr>
        <p:txBody>
          <a:bodyPr wrap="none" rtlCol="0">
            <a:spAutoFit/>
          </a:bodyPr>
          <a:lstStyle/>
          <a:p>
            <a:r>
              <a:rPr lang="en-US" sz="1200" dirty="0">
                <a:solidFill>
                  <a:srgbClr val="FF0000"/>
                </a:solidFill>
              </a:rPr>
              <a:t>Access price</a:t>
            </a:r>
          </a:p>
        </p:txBody>
      </p:sp>
      <p:sp>
        <p:nvSpPr>
          <p:cNvPr id="26" name="TextBox 25"/>
          <p:cNvSpPr txBox="1"/>
          <p:nvPr/>
        </p:nvSpPr>
        <p:spPr>
          <a:xfrm>
            <a:off x="7095147" y="1542316"/>
            <a:ext cx="883575" cy="276999"/>
          </a:xfrm>
          <a:prstGeom prst="rect">
            <a:avLst/>
          </a:prstGeom>
          <a:noFill/>
        </p:spPr>
        <p:txBody>
          <a:bodyPr wrap="none" rtlCol="0">
            <a:spAutoFit/>
          </a:bodyPr>
          <a:lstStyle/>
          <a:p>
            <a:r>
              <a:rPr lang="en-US" sz="1200" dirty="0">
                <a:solidFill>
                  <a:srgbClr val="FF0000"/>
                </a:solidFill>
              </a:rPr>
              <a:t>usage price</a:t>
            </a:r>
          </a:p>
        </p:txBody>
      </p:sp>
      <p:cxnSp>
        <p:nvCxnSpPr>
          <p:cNvPr id="27" name="Straight Arrow Connector 26"/>
          <p:cNvCxnSpPr/>
          <p:nvPr/>
        </p:nvCxnSpPr>
        <p:spPr>
          <a:xfrm>
            <a:off x="5644768" y="1739222"/>
            <a:ext cx="131079" cy="493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6426987" y="1764282"/>
            <a:ext cx="757950" cy="5836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0648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12775" y="228600"/>
            <a:ext cx="8153400" cy="990600"/>
          </a:xfrm>
        </p:spPr>
        <p:txBody>
          <a:bodyPr>
            <a:normAutofit fontScale="90000"/>
          </a:bodyPr>
          <a:lstStyle/>
          <a:p>
            <a:r>
              <a:rPr lang="en-US" sz="4400" dirty="0"/>
              <a:t>Example 1:</a:t>
            </a:r>
            <a:br>
              <a:rPr lang="en-US" sz="4400" dirty="0"/>
            </a:br>
            <a:r>
              <a:rPr lang="en-US" sz="3600" b="1" dirty="0">
                <a:effectLst>
                  <a:outerShdw blurRad="38100" dist="38100" dir="2700000" algn="tl">
                    <a:srgbClr val="000000">
                      <a:alpha val="43137"/>
                    </a:srgbClr>
                  </a:outerShdw>
                </a:effectLst>
              </a:rPr>
              <a:t>Three</a:t>
            </a:r>
            <a:r>
              <a:rPr lang="en-US" sz="3600" dirty="0"/>
              <a:t> Strategies to capture value</a:t>
            </a:r>
          </a:p>
        </p:txBody>
      </p:sp>
      <p:sp>
        <p:nvSpPr>
          <p:cNvPr id="11267" name="Rectangle 15"/>
          <p:cNvSpPr>
            <a:spLocks noGrp="1" noChangeArrowheads="1"/>
          </p:cNvSpPr>
          <p:nvPr>
            <p:ph sz="quarter" idx="1"/>
          </p:nvPr>
        </p:nvSpPr>
        <p:spPr>
          <a:xfrm>
            <a:off x="612775" y="1600200"/>
            <a:ext cx="8153400" cy="4828032"/>
          </a:xfrm>
        </p:spPr>
        <p:txBody>
          <a:bodyPr>
            <a:normAutofit/>
          </a:bodyPr>
          <a:lstStyle/>
          <a:p>
            <a:pPr marL="0" indent="0">
              <a:lnSpc>
                <a:spcPct val="90000"/>
              </a:lnSpc>
              <a:spcAft>
                <a:spcPts val="600"/>
              </a:spcAft>
              <a:buNone/>
              <a:defRPr/>
            </a:pPr>
            <a:r>
              <a:rPr lang="en-US" i="1" dirty="0">
                <a:effectLst>
                  <a:outerShdw blurRad="38100" dist="38100" dir="2700000" algn="tl">
                    <a:srgbClr val="000000">
                      <a:alpha val="43137"/>
                    </a:srgbClr>
                  </a:outerShdw>
                </a:effectLst>
              </a:rPr>
              <a:t>Quantity Discount Schedule</a:t>
            </a:r>
          </a:p>
          <a:p>
            <a:pPr lvl="1">
              <a:lnSpc>
                <a:spcPct val="90000"/>
              </a:lnSpc>
              <a:spcAft>
                <a:spcPts val="600"/>
              </a:spcAft>
              <a:defRPr/>
            </a:pPr>
            <a:r>
              <a:rPr lang="en-US" dirty="0"/>
              <a:t>1</a:t>
            </a:r>
            <a:r>
              <a:rPr lang="en-US" baseline="30000" dirty="0"/>
              <a:t>st</a:t>
            </a:r>
            <a:r>
              <a:rPr lang="en-US" dirty="0"/>
              <a:t>  Unit: p</a:t>
            </a:r>
            <a:r>
              <a:rPr lang="en-US" baseline="-25000" dirty="0"/>
              <a:t>1</a:t>
            </a:r>
            <a:r>
              <a:rPr lang="en-US" dirty="0"/>
              <a:t>=$30</a:t>
            </a:r>
          </a:p>
          <a:p>
            <a:pPr lvl="1">
              <a:lnSpc>
                <a:spcPct val="90000"/>
              </a:lnSpc>
              <a:spcAft>
                <a:spcPts val="600"/>
              </a:spcAft>
              <a:defRPr/>
            </a:pPr>
            <a:r>
              <a:rPr lang="en-US" dirty="0"/>
              <a:t>2</a:t>
            </a:r>
            <a:r>
              <a:rPr lang="en-US" baseline="30000" dirty="0"/>
              <a:t>nd</a:t>
            </a:r>
            <a:r>
              <a:rPr lang="en-US" dirty="0"/>
              <a:t> Unit: p</a:t>
            </a:r>
            <a:r>
              <a:rPr lang="en-US" baseline="-25000" dirty="0"/>
              <a:t>2</a:t>
            </a:r>
            <a:r>
              <a:rPr lang="en-US" dirty="0"/>
              <a:t>=$20</a:t>
            </a:r>
          </a:p>
          <a:p>
            <a:pPr lvl="1">
              <a:lnSpc>
                <a:spcPct val="90000"/>
              </a:lnSpc>
              <a:spcAft>
                <a:spcPts val="1200"/>
              </a:spcAft>
              <a:defRPr/>
            </a:pPr>
            <a:r>
              <a:rPr lang="en-US" dirty="0"/>
              <a:t>3</a:t>
            </a:r>
            <a:r>
              <a:rPr lang="en-US" baseline="30000" dirty="0"/>
              <a:t>rd</a:t>
            </a:r>
            <a:r>
              <a:rPr lang="en-US" dirty="0"/>
              <a:t> Unit: p</a:t>
            </a:r>
            <a:r>
              <a:rPr lang="en-US" baseline="-25000" dirty="0"/>
              <a:t>3</a:t>
            </a:r>
            <a:r>
              <a:rPr lang="en-US" dirty="0"/>
              <a:t>=$8</a:t>
            </a:r>
          </a:p>
          <a:p>
            <a:pPr marL="0" indent="0">
              <a:lnSpc>
                <a:spcPct val="90000"/>
              </a:lnSpc>
              <a:spcBef>
                <a:spcPts val="1200"/>
              </a:spcBef>
              <a:spcAft>
                <a:spcPts val="600"/>
              </a:spcAft>
              <a:buNone/>
              <a:defRPr/>
            </a:pPr>
            <a:r>
              <a:rPr lang="en-US" i="1" dirty="0">
                <a:effectLst>
                  <a:outerShdw blurRad="38100" dist="38100" dir="2700000" algn="tl">
                    <a:srgbClr val="000000">
                      <a:alpha val="43137"/>
                    </a:srgbClr>
                  </a:outerShdw>
                </a:effectLst>
              </a:rPr>
              <a:t>Commodity Bundle</a:t>
            </a:r>
            <a:r>
              <a:rPr lang="en-US" i="1" dirty="0"/>
              <a:t> (i.e. </a:t>
            </a:r>
            <a:r>
              <a:rPr lang="en-US" dirty="0"/>
              <a:t>Take-it-or-leave-it)</a:t>
            </a:r>
          </a:p>
          <a:p>
            <a:pPr lvl="1">
              <a:lnSpc>
                <a:spcPct val="90000"/>
              </a:lnSpc>
              <a:spcAft>
                <a:spcPts val="1200"/>
              </a:spcAft>
              <a:defRPr/>
            </a:pPr>
            <a:r>
              <a:rPr lang="en-US" dirty="0"/>
              <a:t>3 units, $58</a:t>
            </a:r>
          </a:p>
          <a:p>
            <a:pPr marL="0" indent="0">
              <a:lnSpc>
                <a:spcPct val="90000"/>
              </a:lnSpc>
              <a:spcBef>
                <a:spcPts val="1200"/>
              </a:spcBef>
              <a:spcAft>
                <a:spcPts val="600"/>
              </a:spcAft>
              <a:buNone/>
              <a:defRPr/>
            </a:pPr>
            <a:r>
              <a:rPr lang="en-US" i="1" dirty="0">
                <a:effectLst>
                  <a:outerShdw blurRad="38100" dist="38100" dir="2700000" algn="tl">
                    <a:srgbClr val="000000">
                      <a:alpha val="43137"/>
                    </a:srgbClr>
                  </a:outerShdw>
                </a:effectLst>
              </a:rPr>
              <a:t>Two-Part Tariff</a:t>
            </a:r>
          </a:p>
          <a:p>
            <a:pPr lvl="1">
              <a:lnSpc>
                <a:spcPct val="90000"/>
              </a:lnSpc>
              <a:spcAft>
                <a:spcPts val="600"/>
              </a:spcAft>
              <a:defRPr/>
            </a:pPr>
            <a:r>
              <a:rPr lang="en-US" dirty="0"/>
              <a:t>p=$5 per unit </a:t>
            </a:r>
            <a:r>
              <a:rPr lang="en-US" sz="1800" dirty="0"/>
              <a:t>(bill at </a:t>
            </a:r>
            <a:r>
              <a:rPr lang="en-US" sz="1800" b="1" dirty="0"/>
              <a:t>marginal cost</a:t>
            </a:r>
            <a:r>
              <a:rPr lang="en-US" sz="1800" dirty="0"/>
              <a:t>)</a:t>
            </a:r>
            <a:endParaRPr lang="en-US" dirty="0"/>
          </a:p>
          <a:p>
            <a:pPr lvl="1">
              <a:lnSpc>
                <a:spcPct val="90000"/>
              </a:lnSpc>
              <a:spcAft>
                <a:spcPts val="1200"/>
              </a:spcAft>
              <a:defRPr/>
            </a:pPr>
            <a:r>
              <a:rPr lang="en-US" dirty="0"/>
              <a:t>F = $25+$15+$3 = $43 entry fee </a:t>
            </a:r>
            <a:r>
              <a:rPr lang="en-US" sz="1800" dirty="0"/>
              <a:t>(profit as up-front down-payment)</a:t>
            </a:r>
            <a:endParaRPr lang="en-US" dirty="0"/>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9</a:t>
            </a:fld>
            <a:endParaRPr lang="en-US"/>
          </a:p>
        </p:txBody>
      </p:sp>
      <p:sp>
        <p:nvSpPr>
          <p:cNvPr id="5" name="Oval 4"/>
          <p:cNvSpPr/>
          <p:nvPr/>
        </p:nvSpPr>
        <p:spPr>
          <a:xfrm>
            <a:off x="231775" y="1634905"/>
            <a:ext cx="381000" cy="3810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endParaRPr lang="en-US" dirty="0"/>
          </a:p>
        </p:txBody>
      </p:sp>
      <p:sp>
        <p:nvSpPr>
          <p:cNvPr id="6" name="Oval 5"/>
          <p:cNvSpPr/>
          <p:nvPr/>
        </p:nvSpPr>
        <p:spPr>
          <a:xfrm>
            <a:off x="231775" y="3692209"/>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endParaRPr lang="en-US" dirty="0"/>
          </a:p>
        </p:txBody>
      </p:sp>
      <p:sp>
        <p:nvSpPr>
          <p:cNvPr id="7" name="Oval 6"/>
          <p:cNvSpPr/>
          <p:nvPr/>
        </p:nvSpPr>
        <p:spPr>
          <a:xfrm>
            <a:off x="231775" y="4792014"/>
            <a:ext cx="381000" cy="381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endParaRPr lang="en-US" dirty="0"/>
          </a:p>
        </p:txBody>
      </p:sp>
    </p:spTree>
    <p:extLst>
      <p:ext uri="{BB962C8B-B14F-4D97-AF65-F5344CB8AC3E}">
        <p14:creationId xmlns:p14="http://schemas.microsoft.com/office/powerpoint/2010/main" val="308705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12648" y="228600"/>
            <a:ext cx="7772400" cy="1143000"/>
          </a:xfrm>
        </p:spPr>
        <p:txBody>
          <a:bodyPr>
            <a:normAutofit/>
          </a:bodyPr>
          <a:lstStyle/>
          <a:p>
            <a:r>
              <a:rPr lang="en-US"/>
              <a:t>Challenges: Arbitrage </a:t>
            </a:r>
            <a:r>
              <a:rPr lang="en-US" dirty="0"/>
              <a:t>Risks</a:t>
            </a:r>
          </a:p>
        </p:txBody>
      </p:sp>
      <p:sp>
        <p:nvSpPr>
          <p:cNvPr id="3" name="Content Placeholder 2"/>
          <p:cNvSpPr>
            <a:spLocks noGrp="1"/>
          </p:cNvSpPr>
          <p:nvPr>
            <p:ph sz="quarter" idx="1"/>
          </p:nvPr>
        </p:nvSpPr>
        <p:spPr/>
        <p:txBody>
          <a:bodyPr>
            <a:normAutofit fontScale="92500" lnSpcReduction="10000"/>
          </a:bodyPr>
          <a:lstStyle/>
          <a:p>
            <a:pPr>
              <a:spcAft>
                <a:spcPts val="600"/>
              </a:spcAft>
              <a:defRPr/>
            </a:pPr>
            <a:r>
              <a:rPr lang="en-US" dirty="0">
                <a:latin typeface="+mj-lt"/>
              </a:rPr>
              <a:t>Resale exclusion may be important to avoid competition from customers acting as secondary suppliers in resale markets</a:t>
            </a:r>
          </a:p>
          <a:p>
            <a:pPr lvl="1">
              <a:spcAft>
                <a:spcPts val="1200"/>
              </a:spcAft>
              <a:defRPr/>
            </a:pPr>
            <a:r>
              <a:rPr lang="en-US" dirty="0">
                <a:latin typeface="+mj-lt"/>
              </a:rPr>
              <a:t>Bulk-buying and re-selling (grey markets)</a:t>
            </a:r>
          </a:p>
          <a:p>
            <a:pPr lvl="1">
              <a:spcAft>
                <a:spcPts val="1200"/>
              </a:spcAft>
              <a:defRPr/>
            </a:pPr>
            <a:r>
              <a:rPr lang="en-US" dirty="0">
                <a:latin typeface="+mj-lt"/>
              </a:rPr>
              <a:t>Forward-buying</a:t>
            </a:r>
          </a:p>
          <a:p>
            <a:pPr>
              <a:spcAft>
                <a:spcPts val="600"/>
              </a:spcAft>
              <a:defRPr/>
            </a:pPr>
            <a:r>
              <a:rPr lang="en-US" dirty="0">
                <a:latin typeface="+mj-lt"/>
              </a:rPr>
              <a:t>Perishability can limit such arbitrage</a:t>
            </a:r>
          </a:p>
          <a:p>
            <a:pPr lvl="1">
              <a:spcAft>
                <a:spcPts val="1200"/>
              </a:spcAft>
              <a:defRPr/>
            </a:pPr>
            <a:r>
              <a:rPr lang="en-US" dirty="0">
                <a:latin typeface="+mj-lt"/>
              </a:rPr>
              <a:t>E.g., (digital) services industry can use non-linear pricing effectively because difficult/impossible to re-sell service</a:t>
            </a:r>
          </a:p>
          <a:p>
            <a:pPr>
              <a:spcAft>
                <a:spcPts val="1200"/>
              </a:spcAft>
              <a:defRPr/>
            </a:pPr>
            <a:endParaRPr lang="en-US" dirty="0"/>
          </a:p>
          <a:p>
            <a:pPr>
              <a:spcAft>
                <a:spcPts val="1200"/>
              </a:spcAft>
              <a:defRPr/>
            </a:pPr>
            <a:r>
              <a:rPr lang="en-US" dirty="0">
                <a:latin typeface="+mj-lt"/>
              </a:rPr>
              <a:t>Appendix: Robinson-</a:t>
            </a:r>
            <a:r>
              <a:rPr lang="en-US" dirty="0" err="1">
                <a:latin typeface="+mj-lt"/>
              </a:rPr>
              <a:t>Patman</a:t>
            </a:r>
            <a:r>
              <a:rPr lang="en-US" dirty="0">
                <a:latin typeface="+mj-lt"/>
              </a:rPr>
              <a:t> Act and </a:t>
            </a:r>
            <a:r>
              <a:rPr lang="en-US" b="1" dirty="0">
                <a:effectLst>
                  <a:outerShdw blurRad="38100" dist="38100" dir="2700000" algn="tl">
                    <a:srgbClr val="000000">
                      <a:alpha val="43137"/>
                    </a:srgbClr>
                  </a:outerShdw>
                </a:effectLst>
                <a:latin typeface="+mj-lt"/>
              </a:rPr>
              <a:t>legality</a:t>
            </a:r>
            <a:r>
              <a:rPr lang="en-US" dirty="0">
                <a:latin typeface="+mj-lt"/>
              </a:rPr>
              <a:t> of </a:t>
            </a:r>
            <a:r>
              <a:rPr lang="en-US" dirty="0"/>
              <a:t>B2B volume </a:t>
            </a:r>
            <a:r>
              <a:rPr lang="en-US" dirty="0">
                <a:latin typeface="+mj-lt"/>
              </a:rPr>
              <a:t>discounts in US retail channels</a:t>
            </a:r>
          </a:p>
        </p:txBody>
      </p:sp>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10</a:t>
            </a:fld>
            <a:endParaRPr lang="en-US"/>
          </a:p>
        </p:txBody>
      </p:sp>
    </p:spTree>
    <p:extLst>
      <p:ext uri="{BB962C8B-B14F-4D97-AF65-F5344CB8AC3E}">
        <p14:creationId xmlns:p14="http://schemas.microsoft.com/office/powerpoint/2010/main" val="109312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1628230" y="3162314"/>
            <a:ext cx="866228" cy="600876"/>
          </a:xfrm>
          <a:prstGeom prst="rect">
            <a:avLst/>
          </a:prstGeom>
          <a:solidFill>
            <a:srgbClr val="00B05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46" name="Rectangle 45"/>
          <p:cNvSpPr/>
          <p:nvPr/>
        </p:nvSpPr>
        <p:spPr>
          <a:xfrm>
            <a:off x="3273426" y="4370363"/>
            <a:ext cx="800100" cy="471504"/>
          </a:xfrm>
          <a:prstGeom prst="rect">
            <a:avLst/>
          </a:prstGeom>
          <a:solidFill>
            <a:srgbClr val="00B05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47" name="Rectangle 46"/>
          <p:cNvSpPr/>
          <p:nvPr/>
        </p:nvSpPr>
        <p:spPr>
          <a:xfrm>
            <a:off x="1628230" y="3763190"/>
            <a:ext cx="1645195" cy="1076204"/>
          </a:xfrm>
          <a:prstGeom prst="rect">
            <a:avLst/>
          </a:prstGeom>
          <a:solidFill>
            <a:srgbClr val="00B05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15362" name="Rectangle 2"/>
          <p:cNvSpPr>
            <a:spLocks noGrp="1" noChangeArrowheads="1"/>
          </p:cNvSpPr>
          <p:nvPr>
            <p:ph type="title"/>
          </p:nvPr>
        </p:nvSpPr>
        <p:spPr/>
        <p:txBody>
          <a:bodyPr/>
          <a:lstStyle/>
          <a:p>
            <a:r>
              <a:rPr lang="en-US" sz="4000" dirty="0"/>
              <a:t>Example 2:</a:t>
            </a:r>
            <a:br>
              <a:rPr lang="en-US" sz="4000" dirty="0"/>
            </a:br>
            <a:r>
              <a:rPr lang="en-US" sz="3200" dirty="0"/>
              <a:t>Two customers, multiple units</a:t>
            </a:r>
          </a:p>
        </p:txBody>
      </p:sp>
      <p:sp>
        <p:nvSpPr>
          <p:cNvPr id="24" name="Text Box 3"/>
          <p:cNvSpPr txBox="1">
            <a:spLocks noChangeArrowheads="1"/>
          </p:cNvSpPr>
          <p:nvPr/>
        </p:nvSpPr>
        <p:spPr bwMode="auto">
          <a:xfrm>
            <a:off x="1911350" y="5381625"/>
            <a:ext cx="2527300" cy="4079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600" b="1">
                <a:ea typeface="Gulim" pitchFamily="34" charset="-127"/>
              </a:rPr>
              <a:t>1      2       3      4       5      6</a:t>
            </a:r>
          </a:p>
        </p:txBody>
      </p:sp>
      <p:sp>
        <p:nvSpPr>
          <p:cNvPr id="25" name="Line 4"/>
          <p:cNvSpPr>
            <a:spLocks noChangeShapeType="1"/>
          </p:cNvSpPr>
          <p:nvPr/>
        </p:nvSpPr>
        <p:spPr bwMode="auto">
          <a:xfrm flipV="1">
            <a:off x="1624013" y="2689225"/>
            <a:ext cx="0" cy="30829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5"/>
          <p:cNvSpPr>
            <a:spLocks noChangeShapeType="1"/>
          </p:cNvSpPr>
          <p:nvPr/>
        </p:nvSpPr>
        <p:spPr bwMode="auto">
          <a:xfrm>
            <a:off x="1624013" y="5272088"/>
            <a:ext cx="35607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Text Box 6"/>
          <p:cNvSpPr txBox="1">
            <a:spLocks noChangeArrowheads="1"/>
          </p:cNvSpPr>
          <p:nvPr/>
        </p:nvSpPr>
        <p:spPr bwMode="auto">
          <a:xfrm>
            <a:off x="188913" y="3490913"/>
            <a:ext cx="9906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a:t>WTP for Units</a:t>
            </a:r>
          </a:p>
        </p:txBody>
      </p:sp>
      <p:sp>
        <p:nvSpPr>
          <p:cNvPr id="28" name="Text Box 7"/>
          <p:cNvSpPr txBox="1">
            <a:spLocks noChangeArrowheads="1"/>
          </p:cNvSpPr>
          <p:nvPr/>
        </p:nvSpPr>
        <p:spPr bwMode="auto">
          <a:xfrm>
            <a:off x="4438650" y="5364163"/>
            <a:ext cx="1104900" cy="4079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Units</a:t>
            </a:r>
          </a:p>
        </p:txBody>
      </p:sp>
      <p:sp>
        <p:nvSpPr>
          <p:cNvPr id="29" name="Freeform 8"/>
          <p:cNvSpPr>
            <a:spLocks/>
          </p:cNvSpPr>
          <p:nvPr/>
        </p:nvSpPr>
        <p:spPr bwMode="auto">
          <a:xfrm>
            <a:off x="1624013" y="3151188"/>
            <a:ext cx="2470150" cy="2120900"/>
          </a:xfrm>
          <a:custGeom>
            <a:avLst/>
            <a:gdLst>
              <a:gd name="T0" fmla="*/ 0 w 2580"/>
              <a:gd name="T1" fmla="*/ 0 h 2353"/>
              <a:gd name="T2" fmla="*/ 2147483647 w 2580"/>
              <a:gd name="T3" fmla="*/ 0 h 2353"/>
              <a:gd name="T4" fmla="*/ 2147483647 w 2580"/>
              <a:gd name="T5" fmla="*/ 2147483647 h 2353"/>
              <a:gd name="T6" fmla="*/ 2147483647 w 2580"/>
              <a:gd name="T7" fmla="*/ 2147483647 h 2353"/>
              <a:gd name="T8" fmla="*/ 2147483647 w 2580"/>
              <a:gd name="T9" fmla="*/ 2147483647 h 2353"/>
              <a:gd name="T10" fmla="*/ 2147483647 w 2580"/>
              <a:gd name="T11" fmla="*/ 2147483647 h 2353"/>
              <a:gd name="T12" fmla="*/ 2147483647 w 2580"/>
              <a:gd name="T13" fmla="*/ 2147483647 h 2353"/>
              <a:gd name="T14" fmla="*/ 0 60000 65536"/>
              <a:gd name="T15" fmla="*/ 0 60000 65536"/>
              <a:gd name="T16" fmla="*/ 0 60000 65536"/>
              <a:gd name="T17" fmla="*/ 0 60000 65536"/>
              <a:gd name="T18" fmla="*/ 0 60000 65536"/>
              <a:gd name="T19" fmla="*/ 0 60000 65536"/>
              <a:gd name="T20" fmla="*/ 0 60000 65536"/>
              <a:gd name="T21" fmla="*/ 0 w 2580"/>
              <a:gd name="T22" fmla="*/ 0 h 2353"/>
              <a:gd name="T23" fmla="*/ 2580 w 2580"/>
              <a:gd name="T24" fmla="*/ 2353 h 23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80" h="2353">
                <a:moveTo>
                  <a:pt x="0" y="0"/>
                </a:moveTo>
                <a:lnTo>
                  <a:pt x="930" y="0"/>
                </a:lnTo>
                <a:lnTo>
                  <a:pt x="930" y="720"/>
                </a:lnTo>
                <a:lnTo>
                  <a:pt x="1725" y="720"/>
                </a:lnTo>
                <a:lnTo>
                  <a:pt x="1725" y="1335"/>
                </a:lnTo>
                <a:lnTo>
                  <a:pt x="2580" y="1335"/>
                </a:lnTo>
                <a:lnTo>
                  <a:pt x="2580" y="2353"/>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9"/>
          <p:cNvSpPr>
            <a:spLocks/>
          </p:cNvSpPr>
          <p:nvPr/>
        </p:nvSpPr>
        <p:spPr bwMode="auto">
          <a:xfrm>
            <a:off x="1624013" y="3151188"/>
            <a:ext cx="1292225" cy="2120900"/>
          </a:xfrm>
          <a:custGeom>
            <a:avLst/>
            <a:gdLst>
              <a:gd name="T0" fmla="*/ 0 w 2580"/>
              <a:gd name="T1" fmla="*/ 0 h 2353"/>
              <a:gd name="T2" fmla="*/ 2147483647 w 2580"/>
              <a:gd name="T3" fmla="*/ 0 h 2353"/>
              <a:gd name="T4" fmla="*/ 2147483647 w 2580"/>
              <a:gd name="T5" fmla="*/ 2147483647 h 2353"/>
              <a:gd name="T6" fmla="*/ 2147483647 w 2580"/>
              <a:gd name="T7" fmla="*/ 2147483647 h 2353"/>
              <a:gd name="T8" fmla="*/ 2147483647 w 2580"/>
              <a:gd name="T9" fmla="*/ 2147483647 h 2353"/>
              <a:gd name="T10" fmla="*/ 2147483647 w 2580"/>
              <a:gd name="T11" fmla="*/ 2147483647 h 2353"/>
              <a:gd name="T12" fmla="*/ 2147483647 w 2580"/>
              <a:gd name="T13" fmla="*/ 2147483647 h 2353"/>
              <a:gd name="T14" fmla="*/ 0 60000 65536"/>
              <a:gd name="T15" fmla="*/ 0 60000 65536"/>
              <a:gd name="T16" fmla="*/ 0 60000 65536"/>
              <a:gd name="T17" fmla="*/ 0 60000 65536"/>
              <a:gd name="T18" fmla="*/ 0 60000 65536"/>
              <a:gd name="T19" fmla="*/ 0 60000 65536"/>
              <a:gd name="T20" fmla="*/ 0 60000 65536"/>
              <a:gd name="T21" fmla="*/ 0 w 2580"/>
              <a:gd name="T22" fmla="*/ 0 h 2353"/>
              <a:gd name="T23" fmla="*/ 2580 w 2580"/>
              <a:gd name="T24" fmla="*/ 2353 h 23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80" h="2353">
                <a:moveTo>
                  <a:pt x="0" y="0"/>
                </a:moveTo>
                <a:lnTo>
                  <a:pt x="930" y="0"/>
                </a:lnTo>
                <a:lnTo>
                  <a:pt x="930" y="720"/>
                </a:lnTo>
                <a:lnTo>
                  <a:pt x="1725" y="720"/>
                </a:lnTo>
                <a:lnTo>
                  <a:pt x="1725" y="1335"/>
                </a:lnTo>
                <a:lnTo>
                  <a:pt x="2580" y="1335"/>
                </a:lnTo>
                <a:lnTo>
                  <a:pt x="2580" y="235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Line 10"/>
          <p:cNvSpPr>
            <a:spLocks noChangeShapeType="1"/>
          </p:cNvSpPr>
          <p:nvPr/>
        </p:nvSpPr>
        <p:spPr bwMode="auto">
          <a:xfrm>
            <a:off x="2084388" y="5165725"/>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1"/>
          <p:cNvSpPr>
            <a:spLocks noChangeShapeType="1"/>
          </p:cNvSpPr>
          <p:nvPr/>
        </p:nvSpPr>
        <p:spPr bwMode="auto">
          <a:xfrm>
            <a:off x="2486025" y="5186363"/>
            <a:ext cx="0" cy="195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2"/>
          <p:cNvSpPr>
            <a:spLocks noChangeShapeType="1"/>
          </p:cNvSpPr>
          <p:nvPr/>
        </p:nvSpPr>
        <p:spPr bwMode="auto">
          <a:xfrm>
            <a:off x="3289300" y="5165725"/>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3"/>
          <p:cNvSpPr>
            <a:spLocks noChangeShapeType="1"/>
          </p:cNvSpPr>
          <p:nvPr/>
        </p:nvSpPr>
        <p:spPr bwMode="auto">
          <a:xfrm>
            <a:off x="3735388" y="5186363"/>
            <a:ext cx="0" cy="195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4"/>
          <p:cNvSpPr>
            <a:spLocks noChangeShapeType="1"/>
          </p:cNvSpPr>
          <p:nvPr/>
        </p:nvSpPr>
        <p:spPr bwMode="auto">
          <a:xfrm>
            <a:off x="2916238" y="5165725"/>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5"/>
          <p:cNvSpPr>
            <a:spLocks noChangeShapeType="1"/>
          </p:cNvSpPr>
          <p:nvPr/>
        </p:nvSpPr>
        <p:spPr bwMode="auto">
          <a:xfrm>
            <a:off x="4094163" y="5165725"/>
            <a:ext cx="0"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Text Box 16"/>
          <p:cNvSpPr txBox="1">
            <a:spLocks noChangeArrowheads="1"/>
          </p:cNvSpPr>
          <p:nvPr/>
        </p:nvSpPr>
        <p:spPr bwMode="auto">
          <a:xfrm>
            <a:off x="1866900" y="2025650"/>
            <a:ext cx="1406525" cy="365125"/>
          </a:xfrm>
          <a:prstGeom prst="rect">
            <a:avLst/>
          </a:prstGeom>
          <a:solidFill>
            <a:srgbClr val="FFFFFF"/>
          </a:solidFill>
          <a:ln w="9525">
            <a:solidFill>
              <a:srgbClr val="000000"/>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a:t>Customer A</a:t>
            </a:r>
          </a:p>
        </p:txBody>
      </p:sp>
      <p:sp>
        <p:nvSpPr>
          <p:cNvPr id="38" name="Line 17"/>
          <p:cNvSpPr>
            <a:spLocks noChangeShapeType="1"/>
          </p:cNvSpPr>
          <p:nvPr/>
        </p:nvSpPr>
        <p:spPr bwMode="auto">
          <a:xfrm flipH="1">
            <a:off x="2227263" y="2390775"/>
            <a:ext cx="190500" cy="13287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Text Box 18"/>
          <p:cNvSpPr txBox="1">
            <a:spLocks noChangeArrowheads="1"/>
          </p:cNvSpPr>
          <p:nvPr/>
        </p:nvSpPr>
        <p:spPr bwMode="auto">
          <a:xfrm>
            <a:off x="2916238" y="3055938"/>
            <a:ext cx="1406525" cy="365125"/>
          </a:xfrm>
          <a:prstGeom prst="rect">
            <a:avLst/>
          </a:prstGeom>
          <a:solidFill>
            <a:srgbClr val="FFFFFF"/>
          </a:solidFill>
          <a:ln w="25400">
            <a:solidFill>
              <a:srgbClr val="000000"/>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a:t>Customer B</a:t>
            </a:r>
          </a:p>
        </p:txBody>
      </p:sp>
      <p:sp>
        <p:nvSpPr>
          <p:cNvPr id="40" name="Line 19"/>
          <p:cNvSpPr>
            <a:spLocks noChangeShapeType="1"/>
          </p:cNvSpPr>
          <p:nvPr/>
        </p:nvSpPr>
        <p:spPr bwMode="auto">
          <a:xfrm flipH="1">
            <a:off x="3619500" y="3421063"/>
            <a:ext cx="115888" cy="9223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Text Box 20"/>
          <p:cNvSpPr txBox="1">
            <a:spLocks noChangeArrowheads="1"/>
          </p:cNvSpPr>
          <p:nvPr/>
        </p:nvSpPr>
        <p:spPr bwMode="auto">
          <a:xfrm>
            <a:off x="949325" y="2974975"/>
            <a:ext cx="674688" cy="1974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r>
              <a:rPr lang="en-US" sz="1800" b="1"/>
              <a:t>$30</a:t>
            </a:r>
          </a:p>
          <a:p>
            <a:pPr algn="r"/>
            <a:endParaRPr lang="en-US" sz="1800" b="1"/>
          </a:p>
          <a:p>
            <a:pPr algn="r"/>
            <a:r>
              <a:rPr lang="en-US" sz="1800" b="1"/>
              <a:t>$20</a:t>
            </a:r>
          </a:p>
          <a:p>
            <a:pPr algn="r"/>
            <a:endParaRPr lang="en-US" sz="1800" b="1"/>
          </a:p>
          <a:p>
            <a:pPr algn="r"/>
            <a:r>
              <a:rPr lang="en-US" sz="1800" b="1"/>
              <a:t>$8</a:t>
            </a:r>
          </a:p>
          <a:p>
            <a:pPr algn="r"/>
            <a:endParaRPr lang="en-US" sz="1800" b="1"/>
          </a:p>
          <a:p>
            <a:pPr algn="r"/>
            <a:r>
              <a:rPr lang="en-US" sz="1800" b="1"/>
              <a:t>$5</a:t>
            </a:r>
          </a:p>
          <a:p>
            <a:pPr algn="r"/>
            <a:endParaRPr lang="en-US" sz="1800" b="1"/>
          </a:p>
        </p:txBody>
      </p:sp>
      <p:sp>
        <p:nvSpPr>
          <p:cNvPr id="42" name="Line 21"/>
          <p:cNvSpPr>
            <a:spLocks noChangeShapeType="1"/>
          </p:cNvSpPr>
          <p:nvPr/>
        </p:nvSpPr>
        <p:spPr bwMode="auto">
          <a:xfrm>
            <a:off x="1624013" y="4800600"/>
            <a:ext cx="3317875"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Text Box 22"/>
          <p:cNvSpPr txBox="1">
            <a:spLocks noChangeArrowheads="1"/>
          </p:cNvSpPr>
          <p:nvPr/>
        </p:nvSpPr>
        <p:spPr bwMode="auto">
          <a:xfrm>
            <a:off x="4941888" y="4541838"/>
            <a:ext cx="688975" cy="4079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a:ea typeface="Gulim" pitchFamily="34" charset="-127"/>
              </a:rPr>
              <a:t>MC</a:t>
            </a:r>
          </a:p>
        </p:txBody>
      </p:sp>
      <mc:AlternateContent xmlns:mc="http://schemas.openxmlformats.org/markup-compatibility/2006" xmlns:a14="http://schemas.microsoft.com/office/drawing/2010/main">
        <mc:Choice Requires="a14">
          <p:sp>
            <p:nvSpPr>
              <p:cNvPr id="44" name="Text Box 24"/>
              <p:cNvSpPr txBox="1">
                <a:spLocks noChangeArrowheads="1"/>
              </p:cNvSpPr>
              <p:nvPr/>
            </p:nvSpPr>
            <p:spPr bwMode="auto">
              <a:xfrm>
                <a:off x="4475163" y="1593850"/>
                <a:ext cx="4219105" cy="92076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ko-KR" sz="1800" b="1" dirty="0">
                    <a:ea typeface="Batang" pitchFamily="18" charset="-127"/>
                  </a:rPr>
                  <a:t>Total Customer B Value:</a:t>
                </a:r>
              </a:p>
              <a:p>
                <a:r>
                  <a:rPr lang="en-US" altLang="ko-KR" sz="1800" dirty="0">
                    <a:ea typeface="Batang" pitchFamily="18" charset="-127"/>
                  </a:rPr>
                  <a:t>Total WTP for Customer B = Total Surplus</a:t>
                </a:r>
              </a:p>
              <a:p>
                <a:pPr/>
                <a14:m>
                  <m:oMathPara xmlns:m="http://schemas.openxmlformats.org/officeDocument/2006/math">
                    <m:oMathParaPr>
                      <m:jc m:val="centerGroup"/>
                    </m:oMathParaPr>
                    <m:oMath xmlns:m="http://schemas.openxmlformats.org/officeDocument/2006/math">
                      <m:r>
                        <a:rPr lang="en-US" altLang="ko-KR" sz="1800" i="1" dirty="0" smtClean="0">
                          <a:latin typeface="Cambria Math" panose="02040503050406030204" pitchFamily="18" charset="0"/>
                          <a:ea typeface="Batang" pitchFamily="18" charset="-127"/>
                        </a:rPr>
                        <m:t>$30</m:t>
                      </m:r>
                      <m:r>
                        <a:rPr lang="en-US" altLang="ko-KR" sz="1800" i="1" dirty="0" smtClean="0">
                          <a:latin typeface="Cambria Math" panose="02040503050406030204" pitchFamily="18" charset="0"/>
                          <a:ea typeface="Cambria Math" panose="02040503050406030204" pitchFamily="18" charset="0"/>
                        </a:rPr>
                        <m:t>×</m:t>
                      </m:r>
                      <m:r>
                        <a:rPr lang="en-US" altLang="ko-KR" sz="1800" i="1" dirty="0" smtClean="0">
                          <a:latin typeface="Cambria Math" panose="02040503050406030204" pitchFamily="18" charset="0"/>
                          <a:ea typeface="Batang" pitchFamily="18" charset="-127"/>
                        </a:rPr>
                        <m:t>2 + $20</m:t>
                      </m:r>
                      <m:r>
                        <a:rPr lang="en-US" altLang="ko-KR" sz="1800" i="1" dirty="0" smtClean="0">
                          <a:latin typeface="Cambria Math" panose="02040503050406030204" pitchFamily="18" charset="0"/>
                          <a:ea typeface="Cambria Math" panose="02040503050406030204" pitchFamily="18" charset="0"/>
                        </a:rPr>
                        <m:t>×</m:t>
                      </m:r>
                      <m:r>
                        <a:rPr lang="en-US" altLang="ko-KR" sz="1800" i="1" dirty="0" smtClean="0">
                          <a:latin typeface="Cambria Math" panose="02040503050406030204" pitchFamily="18" charset="0"/>
                          <a:ea typeface="Batang" pitchFamily="18" charset="-127"/>
                        </a:rPr>
                        <m:t>2 + $8</m:t>
                      </m:r>
                      <m:r>
                        <a:rPr lang="en-US" altLang="ko-KR" sz="1800" i="1" dirty="0" smtClean="0">
                          <a:latin typeface="Cambria Math" panose="02040503050406030204" pitchFamily="18" charset="0"/>
                          <a:ea typeface="Cambria Math" panose="02040503050406030204" pitchFamily="18" charset="0"/>
                        </a:rPr>
                        <m:t>×</m:t>
                      </m:r>
                      <m:r>
                        <a:rPr lang="en-US" altLang="ko-KR" sz="1800" i="1" dirty="0" smtClean="0">
                          <a:latin typeface="Cambria Math" panose="02040503050406030204" pitchFamily="18" charset="0"/>
                          <a:ea typeface="Batang" pitchFamily="18" charset="-127"/>
                        </a:rPr>
                        <m:t>2 = $116</m:t>
                      </m:r>
                    </m:oMath>
                  </m:oMathPara>
                </a14:m>
                <a:endParaRPr lang="en-US" altLang="ko-KR" sz="1800" dirty="0">
                  <a:ea typeface="Batang" pitchFamily="18" charset="-127"/>
                </a:endParaRPr>
              </a:p>
            </p:txBody>
          </p:sp>
        </mc:Choice>
        <mc:Fallback xmlns="">
          <p:sp>
            <p:nvSpPr>
              <p:cNvPr id="44" name="Text Box 24"/>
              <p:cNvSpPr txBox="1">
                <a:spLocks noRot="1" noChangeAspect="1" noMove="1" noResize="1" noEditPoints="1" noAdjustHandles="1" noChangeArrowheads="1" noChangeShapeType="1" noTextEdit="1"/>
              </p:cNvSpPr>
              <p:nvPr/>
            </p:nvSpPr>
            <p:spPr bwMode="auto">
              <a:xfrm>
                <a:off x="4475163" y="1593850"/>
                <a:ext cx="4219105" cy="920765"/>
              </a:xfrm>
              <a:prstGeom prst="rect">
                <a:avLst/>
              </a:prstGeom>
              <a:blipFill>
                <a:blip r:embed="rId2"/>
                <a:stretch>
                  <a:fillRect l="-1301" t="-32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a:spLocks noChangeArrowheads="1"/>
              </p:cNvSpPr>
              <p:nvPr/>
            </p:nvSpPr>
            <p:spPr bwMode="auto">
              <a:xfrm>
                <a:off x="4475163" y="2535238"/>
                <a:ext cx="4572000" cy="23083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eaLnBrk="0" hangingPunct="0"/>
                <a:r>
                  <a:rPr lang="en-US" altLang="ko-KR" sz="1600" b="1" dirty="0">
                    <a:ea typeface="Batang" pitchFamily="18" charset="-127"/>
                  </a:rPr>
                  <a:t>Potential Profit in Customer B:</a:t>
                </a:r>
              </a:p>
              <a:p>
                <a:r>
                  <a:rPr lang="en-US" altLang="ko-KR" sz="1600" dirty="0">
                    <a:ea typeface="Batang" pitchFamily="18" charset="-127"/>
                  </a:rPr>
                  <a:t>      Cost to Produce 6 units</a:t>
                </a:r>
              </a:p>
              <a:p>
                <a:r>
                  <a:rPr lang="en-US" altLang="ko-KR" sz="1600" dirty="0">
                    <a:ea typeface="Batang" pitchFamily="18" charset="-127"/>
                  </a:rPr>
                  <a:t>      </a:t>
                </a:r>
                <a14:m>
                  <m:oMath xmlns:m="http://schemas.openxmlformats.org/officeDocument/2006/math">
                    <m:r>
                      <a:rPr lang="en-US" altLang="ko-KR" sz="1600" i="1" dirty="0">
                        <a:latin typeface="Cambria Math" panose="02040503050406030204" pitchFamily="18" charset="0"/>
                        <a:ea typeface="Batang" pitchFamily="18" charset="-127"/>
                      </a:rPr>
                      <m:t>$5</m:t>
                    </m:r>
                    <m:r>
                      <a:rPr lang="en-US" altLang="ko-KR" sz="1600" i="1" dirty="0">
                        <a:latin typeface="Cambria Math" panose="02040503050406030204" pitchFamily="18" charset="0"/>
                        <a:ea typeface="Cambria Math" panose="02040503050406030204" pitchFamily="18" charset="0"/>
                      </a:rPr>
                      <m:t>×</m:t>
                    </m:r>
                    <m:r>
                      <a:rPr lang="en-US" altLang="ko-KR" sz="1600" i="1" dirty="0">
                        <a:latin typeface="Cambria Math" panose="02040503050406030204" pitchFamily="18" charset="0"/>
                        <a:ea typeface="Batang" pitchFamily="18" charset="-127"/>
                      </a:rPr>
                      <m:t>6 =$ 30</m:t>
                    </m:r>
                  </m:oMath>
                </a14:m>
                <a:endParaRPr lang="en-US" altLang="ko-KR" sz="1600" dirty="0">
                  <a:ea typeface="Batang" pitchFamily="18" charset="-127"/>
                </a:endParaRPr>
              </a:p>
              <a:p>
                <a:pPr eaLnBrk="0" hangingPunct="0"/>
                <a14:m>
                  <m:oMathPara xmlns:m="http://schemas.openxmlformats.org/officeDocument/2006/math">
                    <m:oMathParaPr>
                      <m:jc m:val="left"/>
                    </m:oMathParaPr>
                    <m:oMath xmlns:m="http://schemas.openxmlformats.org/officeDocument/2006/math">
                      <m:r>
                        <a:rPr lang="en-US" altLang="ko-KR" sz="1600" b="0" i="1" dirty="0" smtClean="0">
                          <a:latin typeface="Cambria Math" panose="02040503050406030204" pitchFamily="18" charset="0"/>
                          <a:ea typeface="Batang" pitchFamily="18" charset="-127"/>
                        </a:rPr>
                        <m:t> </m:t>
                      </m:r>
                      <m:r>
                        <a:rPr lang="en-US" altLang="ko-KR" sz="1600" b="0" i="1" dirty="0" smtClean="0">
                          <a:latin typeface="Cambria Math" panose="02040503050406030204" pitchFamily="18" charset="0"/>
                          <a:ea typeface="Cambria Math" panose="02040503050406030204" pitchFamily="18" charset="0"/>
                        </a:rPr>
                        <m:t>→</m:t>
                      </m:r>
                      <m:r>
                        <a:rPr lang="en-US" altLang="ko-KR" sz="1600" i="1" dirty="0" smtClean="0">
                          <a:latin typeface="Cambria Math" panose="02040503050406030204" pitchFamily="18" charset="0"/>
                          <a:ea typeface="Batang" pitchFamily="18" charset="-127"/>
                        </a:rPr>
                        <m:t>$116 − $30 = $86</m:t>
                      </m:r>
                    </m:oMath>
                  </m:oMathPara>
                </a14:m>
                <a:endParaRPr lang="en-US" altLang="ko-KR" sz="1600" dirty="0">
                  <a:ea typeface="Batang" pitchFamily="18" charset="-127"/>
                </a:endParaRPr>
              </a:p>
              <a:p>
                <a:pPr eaLnBrk="0" hangingPunct="0"/>
                <a:endParaRPr lang="en-US" sz="1600" dirty="0">
                  <a:ea typeface="Batang" pitchFamily="18" charset="-127"/>
                </a:endParaRPr>
              </a:p>
              <a:p>
                <a:pPr eaLnBrk="0" hangingPunct="0"/>
                <a:r>
                  <a:rPr lang="en-US" sz="1600" dirty="0">
                    <a:ea typeface="Batang" pitchFamily="18" charset="-127"/>
                  </a:rPr>
                  <a:t>           </a:t>
                </a:r>
                <a:r>
                  <a:rPr lang="en-US" sz="1600" b="1" dirty="0">
                    <a:ea typeface="Batang" pitchFamily="18" charset="-127"/>
                  </a:rPr>
                  <a:t>Optimal Uniform Price (both customers)</a:t>
                </a:r>
                <a:r>
                  <a:rPr lang="en-US" sz="1600" dirty="0">
                    <a:ea typeface="Batang" pitchFamily="18" charset="-127"/>
                  </a:rPr>
                  <a:t>:</a:t>
                </a:r>
              </a:p>
              <a:p>
                <a:r>
                  <a:rPr lang="en-US" sz="1600" dirty="0">
                    <a:ea typeface="Batang" pitchFamily="18" charset="-127"/>
                  </a:rPr>
                  <a:t>	p = $20/unit</a:t>
                </a:r>
                <a14:m>
                  <m:oMath xmlns:m="http://schemas.openxmlformats.org/officeDocument/2006/math">
                    <m:r>
                      <a:rPr lang="en-US" sz="1600" i="1" dirty="0">
                        <a:latin typeface="Cambria Math" panose="02040503050406030204" pitchFamily="18" charset="0"/>
                      </a:rPr>
                      <m:t>, </m:t>
                    </m:r>
                    <m:r>
                      <a:rPr lang="en-US" sz="1600" i="1" dirty="0">
                        <a:latin typeface="Cambria Math" panose="02040503050406030204" pitchFamily="18" charset="0"/>
                      </a:rPr>
                      <m:t>𝑠𝑒𝑙𝑙</m:t>
                    </m:r>
                    <m:r>
                      <a:rPr lang="en-US" sz="1600" i="1" dirty="0">
                        <a:latin typeface="Cambria Math" panose="02040503050406030204" pitchFamily="18" charset="0"/>
                      </a:rPr>
                      <m:t> 6 </m:t>
                    </m:r>
                    <m:r>
                      <a:rPr lang="en-US" sz="1600" i="1" dirty="0">
                        <a:latin typeface="Cambria Math" panose="02040503050406030204" pitchFamily="18" charset="0"/>
                      </a:rPr>
                      <m:t>𝑢𝑛𝑖𝑡𝑠</m:t>
                    </m:r>
                  </m:oMath>
                </a14:m>
                <a:endParaRPr lang="en-US" sz="1600" dirty="0"/>
              </a:p>
              <a:p>
                <a:r>
                  <a:rPr lang="en-US" sz="1600" dirty="0"/>
                  <a:t>      	</a:t>
                </a:r>
                <a14:m>
                  <m:oMath xmlns:m="http://schemas.openxmlformats.org/officeDocument/2006/math">
                    <m:r>
                      <a:rPr lang="en-US" sz="1600" i="1" dirty="0">
                        <a:latin typeface="Cambria Math" panose="02040503050406030204" pitchFamily="18" charset="0"/>
                      </a:rPr>
                      <m:t>𝑃𝑟𝑜𝑓𝑖𝑡</m:t>
                    </m:r>
                    <m:r>
                      <a:rPr lang="en-US" sz="1600" i="1" dirty="0">
                        <a:latin typeface="Cambria Math" panose="02040503050406030204" pitchFamily="18" charset="0"/>
                      </a:rPr>
                      <m:t> = $15/</m:t>
                    </m:r>
                    <m:r>
                      <a:rPr lang="en-US" sz="1600" i="1" dirty="0">
                        <a:latin typeface="Cambria Math" panose="02040503050406030204" pitchFamily="18" charset="0"/>
                      </a:rPr>
                      <m:t>𝑢𝑛𝑖𝑡</m:t>
                    </m:r>
                    <m:r>
                      <a:rPr lang="en-US" sz="1600" i="1" dirty="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rPr>
                      <m:t>6</m:t>
                    </m:r>
                    <m:r>
                      <a:rPr lang="en-US" sz="1600" i="1" dirty="0">
                        <a:latin typeface="Cambria Math" panose="02040503050406030204" pitchFamily="18" charset="0"/>
                      </a:rPr>
                      <m:t> </m:t>
                    </m:r>
                    <m:r>
                      <a:rPr lang="en-US" sz="1600" i="1" dirty="0">
                        <a:latin typeface="Cambria Math" panose="02040503050406030204" pitchFamily="18" charset="0"/>
                      </a:rPr>
                      <m:t>𝑢𝑛𝑖𝑡𝑠</m:t>
                    </m:r>
                    <m:r>
                      <a:rPr lang="en-US" sz="1600" i="1" dirty="0">
                        <a:latin typeface="Cambria Math" panose="02040503050406030204" pitchFamily="18" charset="0"/>
                      </a:rPr>
                      <m:t> = $90</m:t>
                    </m:r>
                  </m:oMath>
                </a14:m>
                <a:endParaRPr lang="en-US" sz="1600" dirty="0"/>
              </a:p>
              <a:p>
                <a:pPr eaLnBrk="0" hangingPunct="0"/>
                <a:endParaRPr lang="en-US" sz="1600" dirty="0"/>
              </a:p>
            </p:txBody>
          </p:sp>
        </mc:Choice>
        <mc:Fallback xmlns="">
          <p:sp>
            <p:nvSpPr>
              <p:cNvPr id="45" name="Rectangle 44"/>
              <p:cNvSpPr>
                <a:spLocks noRot="1" noChangeAspect="1" noMove="1" noResize="1" noEditPoints="1" noAdjustHandles="1" noChangeArrowheads="1" noChangeShapeType="1" noTextEdit="1"/>
              </p:cNvSpPr>
              <p:nvPr/>
            </p:nvSpPr>
            <p:spPr bwMode="auto">
              <a:xfrm>
                <a:off x="4475163" y="2535238"/>
                <a:ext cx="4572000" cy="2308324"/>
              </a:xfrm>
              <a:prstGeom prst="rect">
                <a:avLst/>
              </a:prstGeom>
              <a:blipFill>
                <a:blip r:embed="rId3"/>
                <a:stretch>
                  <a:fillRect l="-667" t="-7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504F7668-A643-4ECD-9B1B-72562E46682F}" type="slidenum">
              <a:rPr lang="en-US" smtClean="0"/>
              <a:pPr>
                <a:defRPr/>
              </a:pPr>
              <a:t>11</a:t>
            </a:fld>
            <a:endParaRPr lang="en-US"/>
          </a:p>
        </p:txBody>
      </p:sp>
    </p:spTree>
    <p:extLst>
      <p:ext uri="{BB962C8B-B14F-4D97-AF65-F5344CB8AC3E}">
        <p14:creationId xmlns:p14="http://schemas.microsoft.com/office/powerpoint/2010/main" val="308441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xEl>
                                              <p:pRg st="2" end="2"/>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45">
                                            <p:txEl>
                                              <p:pRg st="3" end="3"/>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5">
                                            <p:txEl>
                                              <p:pRg st="5"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5">
                                            <p:txEl>
                                              <p:pRg st="6" end="6"/>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12775" y="228600"/>
            <a:ext cx="8153400" cy="990600"/>
          </a:xfrm>
        </p:spPr>
        <p:txBody>
          <a:bodyPr>
            <a:normAutofit fontScale="90000"/>
          </a:bodyPr>
          <a:lstStyle/>
          <a:p>
            <a:r>
              <a:rPr lang="en-US" sz="4400" dirty="0"/>
              <a:t>Example 2:</a:t>
            </a:r>
            <a:br>
              <a:rPr lang="en-US" sz="4400" dirty="0"/>
            </a:br>
            <a:r>
              <a:rPr lang="en-US" sz="3600" dirty="0"/>
              <a:t>Profits from both customers</a:t>
            </a:r>
          </a:p>
        </p:txBody>
      </p:sp>
      <p:sp>
        <p:nvSpPr>
          <p:cNvPr id="16387" name="Rectangle 3"/>
          <p:cNvSpPr>
            <a:spLocks noGrp="1" noChangeArrowheads="1"/>
          </p:cNvSpPr>
          <p:nvPr>
            <p:ph sz="quarter" idx="1"/>
          </p:nvPr>
        </p:nvSpPr>
        <p:spPr>
          <a:xfrm>
            <a:off x="612775" y="1600200"/>
            <a:ext cx="8482020" cy="4495800"/>
          </a:xfrm>
        </p:spPr>
        <p:txBody>
          <a:bodyPr/>
          <a:lstStyle/>
          <a:p>
            <a:pPr>
              <a:lnSpc>
                <a:spcPct val="90000"/>
              </a:lnSpc>
              <a:spcAft>
                <a:spcPts val="600"/>
              </a:spcAft>
              <a:defRPr/>
            </a:pPr>
            <a:r>
              <a:rPr lang="en-US" altLang="ko-KR" b="1" dirty="0">
                <a:latin typeface="Times New Roman" pitchFamily="18" charset="0"/>
                <a:ea typeface="Gulim" pitchFamily="34" charset="-127"/>
              </a:rPr>
              <a:t>TOTAL Potential Profit:</a:t>
            </a:r>
            <a:r>
              <a:rPr lang="en-US" altLang="ko-KR" dirty="0">
                <a:latin typeface="Times New Roman" pitchFamily="18" charset="0"/>
                <a:ea typeface="Gulim" pitchFamily="34" charset="-127"/>
              </a:rPr>
              <a:t> </a:t>
            </a:r>
          </a:p>
          <a:p>
            <a:pPr lvl="1">
              <a:lnSpc>
                <a:spcPct val="90000"/>
              </a:lnSpc>
              <a:spcAft>
                <a:spcPts val="1200"/>
              </a:spcAft>
              <a:defRPr/>
            </a:pPr>
            <a:r>
              <a:rPr lang="en-US" altLang="ko-KR" dirty="0">
                <a:latin typeface="Times New Roman" pitchFamily="18" charset="0"/>
                <a:ea typeface="Gulim" pitchFamily="34" charset="-127"/>
              </a:rPr>
              <a:t>$43 + $86 = $129 </a:t>
            </a:r>
          </a:p>
          <a:p>
            <a:pPr lvl="1">
              <a:lnSpc>
                <a:spcPct val="90000"/>
              </a:lnSpc>
              <a:spcAft>
                <a:spcPts val="1200"/>
              </a:spcAft>
              <a:buClr>
                <a:schemeClr val="bg1"/>
              </a:buClr>
              <a:defRPr/>
            </a:pPr>
            <a:r>
              <a:rPr lang="en-US" altLang="ko-KR" dirty="0">
                <a:latin typeface="Times New Roman" pitchFamily="18" charset="0"/>
                <a:ea typeface="Gulim" pitchFamily="34" charset="-127"/>
              </a:rPr>
              <a:t> (A)     (B)</a:t>
            </a:r>
          </a:p>
          <a:p>
            <a:pPr>
              <a:lnSpc>
                <a:spcPct val="90000"/>
              </a:lnSpc>
              <a:spcAft>
                <a:spcPts val="1200"/>
              </a:spcAft>
              <a:defRPr/>
            </a:pPr>
            <a:r>
              <a:rPr lang="en-US" altLang="ko-KR" b="1" dirty="0">
                <a:effectLst>
                  <a:outerShdw blurRad="38100" dist="38100" dir="2700000" algn="tl">
                    <a:srgbClr val="000000">
                      <a:alpha val="43137"/>
                    </a:srgbClr>
                  </a:outerShdw>
                </a:effectLst>
                <a:latin typeface="Times New Roman" pitchFamily="18" charset="0"/>
                <a:ea typeface="Gulim" pitchFamily="34" charset="-127"/>
              </a:rPr>
              <a:t>Uniform (linear) price</a:t>
            </a:r>
            <a:r>
              <a:rPr lang="en-US" altLang="ko-KR" dirty="0">
                <a:latin typeface="Times New Roman" pitchFamily="18" charset="0"/>
                <a:ea typeface="Gulim" pitchFamily="34" charset="-127"/>
              </a:rPr>
              <a:t>: </a:t>
            </a:r>
            <a:r>
              <a:rPr lang="en-US" altLang="ko-KR" b="1" dirty="0">
                <a:latin typeface="Times New Roman" pitchFamily="18" charset="0"/>
                <a:ea typeface="Gulim" pitchFamily="34" charset="-127"/>
              </a:rPr>
              <a:t>p = $20</a:t>
            </a:r>
          </a:p>
          <a:p>
            <a:pPr lvl="1">
              <a:lnSpc>
                <a:spcPct val="90000"/>
              </a:lnSpc>
              <a:spcAft>
                <a:spcPts val="1200"/>
              </a:spcAft>
              <a:defRPr/>
            </a:pPr>
            <a:r>
              <a:rPr lang="en-US" altLang="ko-KR" dirty="0">
                <a:latin typeface="Times New Roman" pitchFamily="18" charset="0"/>
                <a:ea typeface="Gulim" pitchFamily="34" charset="-127"/>
              </a:rPr>
              <a:t>sell 6 units (2 to A, 4 to B)</a:t>
            </a:r>
          </a:p>
          <a:p>
            <a:pPr lvl="1">
              <a:lnSpc>
                <a:spcPct val="90000"/>
              </a:lnSpc>
              <a:spcAft>
                <a:spcPts val="1200"/>
              </a:spcAft>
              <a:defRPr/>
            </a:pPr>
            <a:r>
              <a:rPr lang="en-US" altLang="ko-KR" dirty="0">
                <a:latin typeface="Times New Roman" pitchFamily="18" charset="0"/>
                <a:ea typeface="Gulim" pitchFamily="34" charset="-127"/>
              </a:rPr>
              <a:t>earn $90 in profit</a:t>
            </a:r>
          </a:p>
          <a:p>
            <a:pPr marL="366713" lvl="1" indent="0">
              <a:lnSpc>
                <a:spcPct val="90000"/>
              </a:lnSpc>
              <a:spcBef>
                <a:spcPts val="1800"/>
              </a:spcBef>
              <a:spcAft>
                <a:spcPts val="1200"/>
              </a:spcAft>
              <a:buNone/>
              <a:defRPr/>
            </a:pPr>
            <a:r>
              <a:rPr lang="en-US" altLang="ko-KR" dirty="0">
                <a:latin typeface="Times New Roman" pitchFamily="18" charset="0"/>
                <a:ea typeface="Gulim" pitchFamily="34" charset="-127"/>
              </a:rPr>
              <a:t>	leave ($129-$90) </a:t>
            </a:r>
            <a:r>
              <a:rPr lang="en-US" altLang="ko-KR" sz="3200" b="1" dirty="0">
                <a:solidFill>
                  <a:srgbClr val="FF0000"/>
                </a:solidFill>
                <a:latin typeface="Times New Roman" pitchFamily="18" charset="0"/>
                <a:ea typeface="Gulim" pitchFamily="34" charset="-127"/>
              </a:rPr>
              <a:t>$39</a:t>
            </a:r>
            <a:r>
              <a:rPr lang="en-US" altLang="ko-KR" dirty="0">
                <a:latin typeface="Times New Roman" pitchFamily="18" charset="0"/>
                <a:ea typeface="Gulim" pitchFamily="34" charset="-127"/>
              </a:rPr>
              <a:t> potential profit on table!</a:t>
            </a:r>
          </a:p>
          <a:p>
            <a:pPr>
              <a:lnSpc>
                <a:spcPct val="90000"/>
              </a:lnSpc>
              <a:buFont typeface="Monotype Sorts" pitchFamily="2" charset="2"/>
              <a:buNone/>
              <a:defRPr/>
            </a:pPr>
            <a:endParaRPr lang="en-US" dirty="0"/>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12</a:t>
            </a:fld>
            <a:endParaRPr lang="en-US"/>
          </a:p>
        </p:txBody>
      </p:sp>
      <p:sp>
        <p:nvSpPr>
          <p:cNvPr id="3" name="Right Arrow 2"/>
          <p:cNvSpPr/>
          <p:nvPr/>
        </p:nvSpPr>
        <p:spPr>
          <a:xfrm>
            <a:off x="939800" y="4902200"/>
            <a:ext cx="558800" cy="829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0479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normAutofit fontScale="90000"/>
          </a:bodyPr>
          <a:lstStyle/>
          <a:p>
            <a:r>
              <a:rPr lang="en-US" sz="4400" dirty="0"/>
              <a:t>Example 2:</a:t>
            </a:r>
            <a:br>
              <a:rPr lang="en-US" sz="4400" dirty="0"/>
            </a:br>
            <a:r>
              <a:rPr lang="en-US" sz="3600" dirty="0"/>
              <a:t>Look at Total WTP for n units</a:t>
            </a:r>
            <a:endParaRPr lang="en-US" sz="3100" dirty="0"/>
          </a:p>
        </p:txBody>
      </p:sp>
      <p:graphicFrame>
        <p:nvGraphicFramePr>
          <p:cNvPr id="2" name="Table 1"/>
          <p:cNvGraphicFramePr>
            <a:graphicFrameLocks noGrp="1"/>
          </p:cNvGraphicFramePr>
          <p:nvPr>
            <p:extLst>
              <p:ext uri="{D42A27DB-BD31-4B8C-83A1-F6EECF244321}">
                <p14:modId xmlns:p14="http://schemas.microsoft.com/office/powerpoint/2010/main" val="830292459"/>
              </p:ext>
            </p:extLst>
          </p:nvPr>
        </p:nvGraphicFramePr>
        <p:xfrm>
          <a:off x="1219200" y="2174240"/>
          <a:ext cx="6705600" cy="323596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11252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gridCol w="252548">
                  <a:extLst>
                    <a:ext uri="{9D8B030D-6E8A-4147-A177-3AD203B41FA5}">
                      <a16:colId xmlns:a16="http://schemas.microsoft.com/office/drawing/2014/main" val="20003"/>
                    </a:ext>
                  </a:extLst>
                </a:gridCol>
                <a:gridCol w="707572">
                  <a:extLst>
                    <a:ext uri="{9D8B030D-6E8A-4147-A177-3AD203B41FA5}">
                      <a16:colId xmlns:a16="http://schemas.microsoft.com/office/drawing/2014/main" val="20004"/>
                    </a:ext>
                  </a:extLst>
                </a:gridCol>
                <a:gridCol w="1034142">
                  <a:extLst>
                    <a:ext uri="{9D8B030D-6E8A-4147-A177-3AD203B41FA5}">
                      <a16:colId xmlns:a16="http://schemas.microsoft.com/office/drawing/2014/main" val="20005"/>
                    </a:ext>
                  </a:extLst>
                </a:gridCol>
                <a:gridCol w="1480458">
                  <a:extLst>
                    <a:ext uri="{9D8B030D-6E8A-4147-A177-3AD203B41FA5}">
                      <a16:colId xmlns:a16="http://schemas.microsoft.com/office/drawing/2014/main" val="20006"/>
                    </a:ext>
                  </a:extLst>
                </a:gridCol>
              </a:tblGrid>
              <a:tr h="370840">
                <a:tc gridSpan="3">
                  <a:txBody>
                    <a:bodyPr/>
                    <a:lstStyle/>
                    <a:p>
                      <a:pPr algn="ctr"/>
                      <a:r>
                        <a:rPr lang="en-US" dirty="0"/>
                        <a:t>Customer A</a:t>
                      </a:r>
                    </a:p>
                  </a:txBody>
                  <a:tcPr/>
                </a:tc>
                <a:tc hMerge="1">
                  <a:txBody>
                    <a:bodyPr/>
                    <a:lstStyle/>
                    <a:p>
                      <a:endParaRPr lang="en-US" dirty="0"/>
                    </a:p>
                  </a:txBody>
                  <a:tcPr/>
                </a:tc>
                <a:tc hMerge="1">
                  <a:txBody>
                    <a:bodyPr/>
                    <a:lstStyle/>
                    <a:p>
                      <a:endParaRPr lang="en-US" dirty="0"/>
                    </a:p>
                  </a:txBody>
                  <a:tcPr/>
                </a:tc>
                <a:tc>
                  <a:txBody>
                    <a:bodyPr/>
                    <a:lstStyle/>
                    <a:p>
                      <a:endParaRPr lang="en-US" dirty="0"/>
                    </a:p>
                  </a:txBody>
                  <a:tcPr>
                    <a:solidFill>
                      <a:schemeClr val="bg1"/>
                    </a:solidFill>
                  </a:tcPr>
                </a:tc>
                <a:tc gridSpan="3">
                  <a:txBody>
                    <a:bodyPr/>
                    <a:lstStyle/>
                    <a:p>
                      <a:pPr algn="ctr"/>
                      <a:r>
                        <a:rPr lang="en-US" dirty="0"/>
                        <a:t>Customer B</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b="1" dirty="0"/>
                        <a:t>Units</a:t>
                      </a:r>
                    </a:p>
                  </a:txBody>
                  <a:tcPr/>
                </a:tc>
                <a:tc>
                  <a:txBody>
                    <a:bodyPr/>
                    <a:lstStyle/>
                    <a:p>
                      <a:pPr algn="ctr"/>
                      <a:r>
                        <a:rPr lang="en-US" b="1" dirty="0"/>
                        <a:t>WTP</a:t>
                      </a:r>
                      <a:r>
                        <a:rPr lang="en-US" b="1" baseline="0" dirty="0"/>
                        <a:t> for n</a:t>
                      </a:r>
                      <a:r>
                        <a:rPr lang="en-US" b="1" baseline="30000" dirty="0"/>
                        <a:t>th</a:t>
                      </a:r>
                      <a:r>
                        <a:rPr lang="en-US" b="1" baseline="0" dirty="0"/>
                        <a:t> unit</a:t>
                      </a:r>
                      <a:endParaRPr lang="en-US" b="1" dirty="0"/>
                    </a:p>
                  </a:txBody>
                  <a:tcPr/>
                </a:tc>
                <a:tc>
                  <a:txBody>
                    <a:bodyPr/>
                    <a:lstStyle/>
                    <a:p>
                      <a:pPr algn="ctr"/>
                      <a:r>
                        <a:rPr lang="en-US" b="1" dirty="0"/>
                        <a:t>Cumulative WTP</a:t>
                      </a:r>
                    </a:p>
                  </a:txBody>
                  <a:tcPr/>
                </a:tc>
                <a:tc>
                  <a:txBody>
                    <a:bodyPr/>
                    <a:lstStyle/>
                    <a:p>
                      <a:pPr algn="ctr"/>
                      <a:endParaRPr lang="en-US" dirty="0"/>
                    </a:p>
                  </a:txBody>
                  <a:tcPr>
                    <a:solidFill>
                      <a:schemeClr val="bg1"/>
                    </a:solidFill>
                  </a:tcPr>
                </a:tc>
                <a:tc>
                  <a:txBody>
                    <a:bodyPr/>
                    <a:lstStyle/>
                    <a:p>
                      <a:pPr algn="ctr"/>
                      <a:r>
                        <a:rPr lang="en-US" b="1" dirty="0"/>
                        <a:t>Units</a:t>
                      </a:r>
                    </a:p>
                  </a:txBody>
                  <a:tcPr/>
                </a:tc>
                <a:tc>
                  <a:txBody>
                    <a:bodyPr/>
                    <a:lstStyle/>
                    <a:p>
                      <a:pPr algn="ctr"/>
                      <a:r>
                        <a:rPr lang="en-US" b="1" dirty="0"/>
                        <a:t>WTP</a:t>
                      </a:r>
                      <a:r>
                        <a:rPr lang="en-US" b="1" baseline="0" dirty="0"/>
                        <a:t> for n</a:t>
                      </a:r>
                      <a:r>
                        <a:rPr lang="en-US" b="1" baseline="30000" dirty="0"/>
                        <a:t>th</a:t>
                      </a:r>
                      <a:r>
                        <a:rPr lang="en-US" b="1" baseline="0" dirty="0"/>
                        <a:t> unit</a:t>
                      </a:r>
                      <a:endParaRPr lang="en-US" b="1" dirty="0"/>
                    </a:p>
                  </a:txBody>
                  <a:tcPr/>
                </a:tc>
                <a:tc>
                  <a:txBody>
                    <a:bodyPr/>
                    <a:lstStyle/>
                    <a:p>
                      <a:pPr algn="ctr"/>
                      <a:r>
                        <a:rPr lang="en-US" b="1" dirty="0"/>
                        <a:t>Cumulative WTP</a:t>
                      </a:r>
                    </a:p>
                  </a:txBody>
                  <a:tcPr/>
                </a:tc>
                <a:extLst>
                  <a:ext uri="{0D108BD9-81ED-4DB2-BD59-A6C34878D82A}">
                    <a16:rowId xmlns:a16="http://schemas.microsoft.com/office/drawing/2014/main" val="10001"/>
                  </a:ext>
                </a:extLst>
              </a:tr>
              <a:tr h="370840">
                <a:tc>
                  <a:txBody>
                    <a:bodyPr/>
                    <a:lstStyle/>
                    <a:p>
                      <a:pPr algn="ctr"/>
                      <a:r>
                        <a:rPr lang="en-US" dirty="0"/>
                        <a:t>1</a:t>
                      </a:r>
                    </a:p>
                  </a:txBody>
                  <a:tcPr/>
                </a:tc>
                <a:tc>
                  <a:txBody>
                    <a:bodyPr/>
                    <a:lstStyle/>
                    <a:p>
                      <a:pPr algn="ctr"/>
                      <a:r>
                        <a:rPr lang="en-US" dirty="0"/>
                        <a:t>30</a:t>
                      </a:r>
                    </a:p>
                  </a:txBody>
                  <a:tcPr/>
                </a:tc>
                <a:tc>
                  <a:txBody>
                    <a:bodyPr/>
                    <a:lstStyle/>
                    <a:p>
                      <a:pPr algn="ctr"/>
                      <a:r>
                        <a:rPr lang="en-US" dirty="0"/>
                        <a:t>30</a:t>
                      </a:r>
                    </a:p>
                  </a:txBody>
                  <a:tcPr/>
                </a:tc>
                <a:tc>
                  <a:txBody>
                    <a:bodyPr/>
                    <a:lstStyle/>
                    <a:p>
                      <a:pPr algn="ctr"/>
                      <a:endParaRPr lang="en-US" dirty="0"/>
                    </a:p>
                  </a:txBody>
                  <a:tcPr>
                    <a:solidFill>
                      <a:schemeClr val="bg1"/>
                    </a:solidFill>
                  </a:tcPr>
                </a:tc>
                <a:tc>
                  <a:txBody>
                    <a:bodyPr/>
                    <a:lstStyle/>
                    <a:p>
                      <a:pPr algn="ctr"/>
                      <a:r>
                        <a:rPr lang="en-US" dirty="0"/>
                        <a:t>1</a:t>
                      </a:r>
                    </a:p>
                  </a:txBody>
                  <a:tcPr/>
                </a:tc>
                <a:tc>
                  <a:txBody>
                    <a:bodyPr/>
                    <a:lstStyle/>
                    <a:p>
                      <a:pPr algn="ctr"/>
                      <a:r>
                        <a:rPr lang="en-US" dirty="0"/>
                        <a:t>30</a:t>
                      </a:r>
                    </a:p>
                  </a:txBody>
                  <a:tcPr/>
                </a:tc>
                <a:tc>
                  <a:txBody>
                    <a:bodyPr/>
                    <a:lstStyle/>
                    <a:p>
                      <a:pPr algn="ctr"/>
                      <a:r>
                        <a:rPr lang="en-US" dirty="0"/>
                        <a:t>30</a:t>
                      </a:r>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pPr algn="ctr"/>
                      <a:r>
                        <a:rPr lang="en-US" dirty="0"/>
                        <a:t>20</a:t>
                      </a:r>
                    </a:p>
                  </a:txBody>
                  <a:tcPr/>
                </a:tc>
                <a:tc>
                  <a:txBody>
                    <a:bodyPr/>
                    <a:lstStyle/>
                    <a:p>
                      <a:pPr algn="ctr"/>
                      <a:r>
                        <a:rPr lang="en-US" dirty="0"/>
                        <a:t>50</a:t>
                      </a:r>
                    </a:p>
                  </a:txBody>
                  <a:tcPr/>
                </a:tc>
                <a:tc>
                  <a:txBody>
                    <a:bodyPr/>
                    <a:lstStyle/>
                    <a:p>
                      <a:pPr algn="ctr"/>
                      <a:endParaRPr lang="en-US" dirty="0"/>
                    </a:p>
                  </a:txBody>
                  <a:tcPr>
                    <a:solidFill>
                      <a:schemeClr val="bg1"/>
                    </a:solidFill>
                  </a:tcPr>
                </a:tc>
                <a:tc>
                  <a:txBody>
                    <a:bodyPr/>
                    <a:lstStyle/>
                    <a:p>
                      <a:pPr algn="ctr"/>
                      <a:r>
                        <a:rPr lang="en-US" dirty="0"/>
                        <a:t>2</a:t>
                      </a:r>
                    </a:p>
                  </a:txBody>
                  <a:tcPr/>
                </a:tc>
                <a:tc>
                  <a:txBody>
                    <a:bodyPr/>
                    <a:lstStyle/>
                    <a:p>
                      <a:pPr algn="ctr"/>
                      <a:r>
                        <a:rPr lang="en-US" dirty="0"/>
                        <a:t>30</a:t>
                      </a:r>
                    </a:p>
                  </a:txBody>
                  <a:tcPr/>
                </a:tc>
                <a:tc>
                  <a:txBody>
                    <a:bodyPr/>
                    <a:lstStyle/>
                    <a:p>
                      <a:pPr algn="ctr"/>
                      <a:r>
                        <a:rPr lang="en-US" dirty="0"/>
                        <a:t>60</a:t>
                      </a:r>
                    </a:p>
                  </a:txBody>
                  <a:tcPr/>
                </a:tc>
                <a:extLst>
                  <a:ext uri="{0D108BD9-81ED-4DB2-BD59-A6C34878D82A}">
                    <a16:rowId xmlns:a16="http://schemas.microsoft.com/office/drawing/2014/main" val="10003"/>
                  </a:ext>
                </a:extLst>
              </a:tr>
              <a:tr h="370840">
                <a:tc>
                  <a:txBody>
                    <a:bodyPr/>
                    <a:lstStyle/>
                    <a:p>
                      <a:pPr algn="ctr"/>
                      <a:r>
                        <a:rPr lang="en-US" dirty="0"/>
                        <a:t>3</a:t>
                      </a:r>
                    </a:p>
                  </a:txBody>
                  <a:tcPr/>
                </a:tc>
                <a:tc>
                  <a:txBody>
                    <a:bodyPr/>
                    <a:lstStyle/>
                    <a:p>
                      <a:pPr algn="ctr"/>
                      <a:r>
                        <a:rPr lang="en-US" dirty="0"/>
                        <a:t>8</a:t>
                      </a:r>
                    </a:p>
                  </a:txBody>
                  <a:tcPr/>
                </a:tc>
                <a:tc>
                  <a:txBody>
                    <a:bodyPr/>
                    <a:lstStyle/>
                    <a:p>
                      <a:pPr algn="ctr"/>
                      <a:r>
                        <a:rPr lang="en-US" dirty="0"/>
                        <a:t>58</a:t>
                      </a:r>
                    </a:p>
                  </a:txBody>
                  <a:tcPr/>
                </a:tc>
                <a:tc>
                  <a:txBody>
                    <a:bodyPr/>
                    <a:lstStyle/>
                    <a:p>
                      <a:pPr algn="ctr"/>
                      <a:endParaRPr lang="en-US" dirty="0"/>
                    </a:p>
                  </a:txBody>
                  <a:tcPr>
                    <a:solidFill>
                      <a:schemeClr val="bg1"/>
                    </a:solidFill>
                  </a:tcPr>
                </a:tc>
                <a:tc>
                  <a:txBody>
                    <a:bodyPr/>
                    <a:lstStyle/>
                    <a:p>
                      <a:pPr algn="ctr"/>
                      <a:r>
                        <a:rPr lang="en-US" dirty="0"/>
                        <a:t>3</a:t>
                      </a:r>
                    </a:p>
                  </a:txBody>
                  <a:tcPr/>
                </a:tc>
                <a:tc>
                  <a:txBody>
                    <a:bodyPr/>
                    <a:lstStyle/>
                    <a:p>
                      <a:pPr algn="ctr"/>
                      <a:r>
                        <a:rPr lang="en-US" dirty="0"/>
                        <a:t>20</a:t>
                      </a:r>
                    </a:p>
                  </a:txBody>
                  <a:tcPr/>
                </a:tc>
                <a:tc>
                  <a:txBody>
                    <a:bodyPr/>
                    <a:lstStyle/>
                    <a:p>
                      <a:pPr algn="ctr"/>
                      <a:r>
                        <a:rPr lang="en-US" dirty="0"/>
                        <a:t>80</a:t>
                      </a:r>
                    </a:p>
                  </a:txBody>
                  <a:tcPr/>
                </a:tc>
                <a:extLst>
                  <a:ext uri="{0D108BD9-81ED-4DB2-BD59-A6C34878D82A}">
                    <a16:rowId xmlns:a16="http://schemas.microsoft.com/office/drawing/2014/main" val="10004"/>
                  </a:ext>
                </a:extLst>
              </a:tr>
              <a:tr h="370840">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endParaRPr lang="en-US"/>
                    </a:p>
                  </a:txBody>
                  <a:tcPr>
                    <a:solidFill>
                      <a:schemeClr val="bg1"/>
                    </a:solidFill>
                  </a:tcPr>
                </a:tc>
                <a:tc>
                  <a:txBody>
                    <a:bodyPr/>
                    <a:lstStyle/>
                    <a:p>
                      <a:pPr algn="ctr"/>
                      <a:r>
                        <a:rPr lang="en-US" dirty="0"/>
                        <a:t>4</a:t>
                      </a:r>
                    </a:p>
                  </a:txBody>
                  <a:tcPr/>
                </a:tc>
                <a:tc>
                  <a:txBody>
                    <a:bodyPr/>
                    <a:lstStyle/>
                    <a:p>
                      <a:pPr algn="ctr"/>
                      <a:r>
                        <a:rPr lang="en-US" dirty="0"/>
                        <a:t>20</a:t>
                      </a:r>
                    </a:p>
                  </a:txBody>
                  <a:tcPr/>
                </a:tc>
                <a:tc>
                  <a:txBody>
                    <a:bodyPr/>
                    <a:lstStyle/>
                    <a:p>
                      <a:pPr algn="ctr"/>
                      <a:r>
                        <a:rPr lang="en-US" dirty="0"/>
                        <a:t>100</a:t>
                      </a:r>
                    </a:p>
                  </a:txBody>
                  <a:tcPr/>
                </a:tc>
                <a:extLst>
                  <a:ext uri="{0D108BD9-81ED-4DB2-BD59-A6C34878D82A}">
                    <a16:rowId xmlns:a16="http://schemas.microsoft.com/office/drawing/2014/main" val="10005"/>
                  </a:ext>
                </a:extLst>
              </a:tr>
              <a:tr h="370840">
                <a:tc>
                  <a:txBody>
                    <a:bodyPr/>
                    <a:lstStyle/>
                    <a:p>
                      <a:pPr algn="ctr"/>
                      <a:endParaRPr lang="en-US"/>
                    </a:p>
                  </a:txBody>
                  <a:tcPr>
                    <a:solidFill>
                      <a:schemeClr val="bg1"/>
                    </a:solidFill>
                  </a:tcPr>
                </a:tc>
                <a:tc>
                  <a:txBody>
                    <a:bodyPr/>
                    <a:lstStyle/>
                    <a:p>
                      <a:pPr algn="ctr"/>
                      <a:endParaRPr lang="en-US"/>
                    </a:p>
                  </a:txBody>
                  <a:tcPr>
                    <a:solidFill>
                      <a:schemeClr val="bg1"/>
                    </a:solidFill>
                  </a:tcPr>
                </a:tc>
                <a:tc>
                  <a:txBody>
                    <a:bodyPr/>
                    <a:lstStyle/>
                    <a:p>
                      <a:pPr algn="ctr"/>
                      <a:endParaRPr lang="en-US" dirty="0"/>
                    </a:p>
                  </a:txBody>
                  <a:tcPr>
                    <a:solidFill>
                      <a:schemeClr val="bg1"/>
                    </a:solidFill>
                  </a:tcPr>
                </a:tc>
                <a:tc>
                  <a:txBody>
                    <a:bodyPr/>
                    <a:lstStyle/>
                    <a:p>
                      <a:pPr algn="ctr"/>
                      <a:endParaRPr lang="en-US"/>
                    </a:p>
                  </a:txBody>
                  <a:tcPr>
                    <a:solidFill>
                      <a:schemeClr val="bg1"/>
                    </a:solidFill>
                  </a:tcPr>
                </a:tc>
                <a:tc>
                  <a:txBody>
                    <a:bodyPr/>
                    <a:lstStyle/>
                    <a:p>
                      <a:pPr algn="ctr"/>
                      <a:r>
                        <a:rPr lang="en-US" dirty="0"/>
                        <a:t>5</a:t>
                      </a:r>
                    </a:p>
                  </a:txBody>
                  <a:tcPr/>
                </a:tc>
                <a:tc>
                  <a:txBody>
                    <a:bodyPr/>
                    <a:lstStyle/>
                    <a:p>
                      <a:pPr algn="ctr"/>
                      <a:r>
                        <a:rPr lang="en-US" dirty="0"/>
                        <a:t>8</a:t>
                      </a:r>
                    </a:p>
                  </a:txBody>
                  <a:tcPr/>
                </a:tc>
                <a:tc>
                  <a:txBody>
                    <a:bodyPr/>
                    <a:lstStyle/>
                    <a:p>
                      <a:pPr algn="ctr"/>
                      <a:r>
                        <a:rPr lang="en-US" dirty="0"/>
                        <a:t>108</a:t>
                      </a:r>
                    </a:p>
                  </a:txBody>
                  <a:tcPr/>
                </a:tc>
                <a:extLst>
                  <a:ext uri="{0D108BD9-81ED-4DB2-BD59-A6C34878D82A}">
                    <a16:rowId xmlns:a16="http://schemas.microsoft.com/office/drawing/2014/main" val="10006"/>
                  </a:ext>
                </a:extLst>
              </a:tr>
              <a:tr h="370840">
                <a:tc>
                  <a:txBody>
                    <a:bodyPr/>
                    <a:lstStyle/>
                    <a:p>
                      <a:pPr algn="ctr"/>
                      <a:endParaRPr lang="en-US"/>
                    </a:p>
                  </a:txBody>
                  <a:tcPr>
                    <a:solidFill>
                      <a:schemeClr val="bg1"/>
                    </a:solidFill>
                  </a:tcPr>
                </a:tc>
                <a:tc>
                  <a:txBody>
                    <a:bodyPr/>
                    <a:lstStyle/>
                    <a:p>
                      <a:pPr algn="ctr"/>
                      <a:endParaRPr lang="en-US"/>
                    </a:p>
                  </a:txBody>
                  <a:tcPr>
                    <a:solidFill>
                      <a:schemeClr val="bg1"/>
                    </a:solidFill>
                  </a:tcPr>
                </a:tc>
                <a:tc>
                  <a:txBody>
                    <a:bodyPr/>
                    <a:lstStyle/>
                    <a:p>
                      <a:pPr algn="ctr"/>
                      <a:endParaRPr lang="en-US" dirty="0"/>
                    </a:p>
                  </a:txBody>
                  <a:tcPr>
                    <a:solidFill>
                      <a:schemeClr val="bg1"/>
                    </a:solidFill>
                  </a:tcPr>
                </a:tc>
                <a:tc>
                  <a:txBody>
                    <a:bodyPr/>
                    <a:lstStyle/>
                    <a:p>
                      <a:pPr algn="ctr"/>
                      <a:endParaRPr lang="en-US" dirty="0"/>
                    </a:p>
                  </a:txBody>
                  <a:tcPr>
                    <a:solidFill>
                      <a:schemeClr val="bg1"/>
                    </a:solidFill>
                  </a:tcPr>
                </a:tc>
                <a:tc>
                  <a:txBody>
                    <a:bodyPr/>
                    <a:lstStyle/>
                    <a:p>
                      <a:pPr algn="ctr"/>
                      <a:r>
                        <a:rPr lang="en-US" dirty="0"/>
                        <a:t>6</a:t>
                      </a:r>
                    </a:p>
                  </a:txBody>
                  <a:tcPr/>
                </a:tc>
                <a:tc>
                  <a:txBody>
                    <a:bodyPr/>
                    <a:lstStyle/>
                    <a:p>
                      <a:pPr algn="ctr"/>
                      <a:r>
                        <a:rPr lang="en-US" dirty="0"/>
                        <a:t>8</a:t>
                      </a:r>
                    </a:p>
                  </a:txBody>
                  <a:tcPr/>
                </a:tc>
                <a:tc>
                  <a:txBody>
                    <a:bodyPr/>
                    <a:lstStyle/>
                    <a:p>
                      <a:pPr algn="ctr"/>
                      <a:r>
                        <a:rPr lang="en-US" dirty="0"/>
                        <a:t>116</a:t>
                      </a:r>
                    </a:p>
                  </a:txBody>
                  <a:tcPr/>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sz="4400" dirty="0"/>
              <a:t>Example 2:</a:t>
            </a:r>
            <a:br>
              <a:rPr lang="en-US" sz="4400" dirty="0"/>
            </a:br>
            <a:r>
              <a:rPr lang="en-US" altLang="ko-KR" sz="3600" b="1" dirty="0">
                <a:ea typeface="Batang" pitchFamily="18" charset="-127"/>
              </a:rPr>
              <a:t>Strategy 1</a:t>
            </a:r>
            <a:endParaRPr lang="en-US" sz="2700" dirty="0">
              <a:ea typeface="Batang" pitchFamily="18" charset="-127"/>
            </a:endParaRPr>
          </a:p>
        </p:txBody>
      </p:sp>
      <mc:AlternateContent xmlns:mc="http://schemas.openxmlformats.org/markup-compatibility/2006" xmlns:a14="http://schemas.microsoft.com/office/drawing/2010/main">
        <mc:Choice Requires="a14">
          <p:sp>
            <p:nvSpPr>
              <p:cNvPr id="17411" name="Rectangle 3"/>
              <p:cNvSpPr>
                <a:spLocks noGrp="1" noChangeArrowheads="1"/>
              </p:cNvSpPr>
              <p:nvPr>
                <p:ph sz="quarter" idx="1"/>
              </p:nvPr>
            </p:nvSpPr>
            <p:spPr>
              <a:xfrm>
                <a:off x="612648" y="1692274"/>
                <a:ext cx="7772400" cy="4918838"/>
              </a:xfrm>
            </p:spPr>
            <p:txBody>
              <a:bodyPr>
                <a:normAutofit fontScale="92500" lnSpcReduction="20000"/>
              </a:bodyPr>
              <a:lstStyle/>
              <a:p>
                <a:pPr>
                  <a:lnSpc>
                    <a:spcPct val="90000"/>
                  </a:lnSpc>
                  <a:spcAft>
                    <a:spcPts val="1200"/>
                  </a:spcAft>
                </a:pPr>
                <a:r>
                  <a:rPr lang="en-US" altLang="ko-KR" sz="2400" dirty="0">
                    <a:latin typeface="Times New Roman" pitchFamily="18" charset="0"/>
                    <a:ea typeface="Gulim" pitchFamily="34" charset="-127"/>
                  </a:rPr>
                  <a:t>Suppose we offer Customer A:</a:t>
                </a:r>
              </a:p>
              <a:p>
                <a:pPr marL="366713" lvl="1" indent="0">
                  <a:lnSpc>
                    <a:spcPct val="90000"/>
                  </a:lnSpc>
                  <a:spcBef>
                    <a:spcPts val="1200"/>
                  </a:spcBef>
                  <a:buNone/>
                </a:pPr>
                <a14:m>
                  <m:oMathPara xmlns:m="http://schemas.openxmlformats.org/officeDocument/2006/math">
                    <m:oMathParaPr>
                      <m:jc m:val="centerGroup"/>
                    </m:oMathParaPr>
                    <m:oMath xmlns:m="http://schemas.openxmlformats.org/officeDocument/2006/math">
                      <m:sSup>
                        <m:sSupPr>
                          <m:ctrlPr>
                            <a:rPr lang="en-US" altLang="ko-KR" sz="3000" b="1" i="1" smtClean="0">
                              <a:latin typeface="Cambria Math" panose="02040503050406030204" pitchFamily="18" charset="0"/>
                              <a:ea typeface="Gulim" pitchFamily="34" charset="-127"/>
                            </a:rPr>
                          </m:ctrlPr>
                        </m:sSupPr>
                        <m:e>
                          <m:r>
                            <a:rPr lang="en-US" altLang="ko-KR" sz="3000" b="1" i="1" smtClean="0">
                              <a:latin typeface="Cambria Math" panose="02040503050406030204" pitchFamily="18" charset="0"/>
                              <a:ea typeface="Gulim" pitchFamily="34" charset="-127"/>
                            </a:rPr>
                            <m:t>𝒑</m:t>
                          </m:r>
                        </m:e>
                        <m:sup>
                          <m:r>
                            <a:rPr lang="en-US" altLang="ko-KR" sz="3000" b="1" i="1" smtClean="0">
                              <a:latin typeface="Cambria Math" panose="02040503050406030204" pitchFamily="18" charset="0"/>
                              <a:ea typeface="Gulim" pitchFamily="34" charset="-127"/>
                            </a:rPr>
                            <m:t>𝟑</m:t>
                          </m:r>
                          <m:r>
                            <a:rPr lang="en-US" altLang="ko-KR" sz="3000" b="1" i="1" smtClean="0">
                              <a:latin typeface="Cambria Math" panose="02040503050406030204" pitchFamily="18" charset="0"/>
                              <a:ea typeface="Gulim" pitchFamily="34" charset="-127"/>
                            </a:rPr>
                            <m:t> </m:t>
                          </m:r>
                          <m:r>
                            <a:rPr lang="en-US" altLang="ko-KR" sz="3000" b="1" i="1" smtClean="0">
                              <a:latin typeface="Cambria Math" panose="02040503050406030204" pitchFamily="18" charset="0"/>
                              <a:ea typeface="Gulim" pitchFamily="34" charset="-127"/>
                            </a:rPr>
                            <m:t>𝒖𝒏𝒊𝒕𝒔</m:t>
                          </m:r>
                        </m:sup>
                      </m:sSup>
                      <m:r>
                        <a:rPr lang="en-US" altLang="ko-KR" sz="3000" b="1" i="1" smtClean="0">
                          <a:latin typeface="Cambria Math" panose="02040503050406030204" pitchFamily="18" charset="0"/>
                          <a:ea typeface="Gulim" pitchFamily="34" charset="-127"/>
                        </a:rPr>
                        <m:t>=$</m:t>
                      </m:r>
                      <m:r>
                        <a:rPr lang="en-US" altLang="ko-KR" sz="3000" b="1" i="1" smtClean="0">
                          <a:latin typeface="Cambria Math" panose="02040503050406030204" pitchFamily="18" charset="0"/>
                          <a:ea typeface="Gulim" pitchFamily="34" charset="-127"/>
                        </a:rPr>
                        <m:t>𝟓𝟖</m:t>
                      </m:r>
                    </m:oMath>
                  </m:oMathPara>
                </a14:m>
                <a:endParaRPr lang="en-US" altLang="ko-KR" sz="3000" b="1" dirty="0">
                  <a:latin typeface="Times New Roman" pitchFamily="18" charset="0"/>
                  <a:ea typeface="Gulim" pitchFamily="34" charset="-127"/>
                </a:endParaRPr>
              </a:p>
              <a:p>
                <a:pPr>
                  <a:lnSpc>
                    <a:spcPct val="90000"/>
                  </a:lnSpc>
                </a:pPr>
                <a:endParaRPr lang="en-US" altLang="ko-KR" sz="2400" dirty="0">
                  <a:latin typeface="Times New Roman" pitchFamily="18" charset="0"/>
                  <a:ea typeface="Gulim" pitchFamily="34" charset="-127"/>
                </a:endParaRPr>
              </a:p>
              <a:p>
                <a:pPr>
                  <a:lnSpc>
                    <a:spcPct val="90000"/>
                  </a:lnSpc>
                </a:pPr>
                <a:r>
                  <a:rPr lang="en-US" altLang="ko-KR" sz="2400" dirty="0">
                    <a:latin typeface="Times New Roman" pitchFamily="18" charset="0"/>
                    <a:ea typeface="Gulim" pitchFamily="34" charset="-127"/>
                  </a:rPr>
                  <a:t>How much surplus does Customer B get from above offer?</a:t>
                </a:r>
              </a:p>
              <a:p>
                <a:pPr lvl="1">
                  <a:lnSpc>
                    <a:spcPct val="90000"/>
                  </a:lnSpc>
                </a:pPr>
                <a:r>
                  <a:rPr lang="en-US" altLang="ko-KR" sz="2000" dirty="0">
                    <a:latin typeface="Times New Roman" pitchFamily="18" charset="0"/>
                    <a:ea typeface="Gulim" pitchFamily="34" charset="-127"/>
                  </a:rPr>
                  <a:t>For 3 units, Cumulative WTP for Customer B is $80</a:t>
                </a:r>
              </a:p>
              <a:p>
                <a:pPr lvl="1">
                  <a:lnSpc>
                    <a:spcPct val="90000"/>
                  </a:lnSpc>
                  <a:spcAft>
                    <a:spcPts val="1200"/>
                  </a:spcAft>
                  <a:buSzPct val="150000"/>
                  <a:buFont typeface="Cambria Math" panose="02040503050406030204" pitchFamily="18" charset="0"/>
                  <a:buChar char="→"/>
                </a:pPr>
                <a14:m>
                  <m:oMath xmlns:m="http://schemas.openxmlformats.org/officeDocument/2006/math">
                    <m:sSup>
                      <m:sSupPr>
                        <m:ctrlPr>
                          <a:rPr lang="en-US" altLang="ko-KR" sz="2000" i="1">
                            <a:latin typeface="Cambria Math" panose="02040503050406030204" pitchFamily="18" charset="0"/>
                            <a:ea typeface="Gulim" pitchFamily="34" charset="-127"/>
                          </a:rPr>
                        </m:ctrlPr>
                      </m:sSupPr>
                      <m:e>
                        <m:r>
                          <a:rPr lang="en-US" altLang="ko-KR" sz="2000" b="0" i="1" smtClean="0">
                            <a:latin typeface="Cambria Math" panose="02040503050406030204" pitchFamily="18" charset="0"/>
                            <a:ea typeface="Gulim" pitchFamily="34" charset="-127"/>
                          </a:rPr>
                          <m:t>𝑆𝑢𝑟𝑝𝑙𝑢𝑠</m:t>
                        </m:r>
                        <m:r>
                          <a:rPr lang="en-US" altLang="ko-KR" sz="2000" b="0" i="1" smtClean="0">
                            <a:latin typeface="Cambria Math" panose="02040503050406030204" pitchFamily="18" charset="0"/>
                            <a:ea typeface="Gulim" pitchFamily="34" charset="-127"/>
                          </a:rPr>
                          <m:t>=$80−</m:t>
                        </m:r>
                        <m:r>
                          <a:rPr lang="en-US" altLang="ko-KR" sz="2000" i="1">
                            <a:latin typeface="Cambria Math" panose="02040503050406030204" pitchFamily="18" charset="0"/>
                            <a:ea typeface="Gulim" pitchFamily="34" charset="-127"/>
                          </a:rPr>
                          <m:t>𝑝</m:t>
                        </m:r>
                      </m:e>
                      <m:sup>
                        <m:r>
                          <a:rPr lang="en-US" altLang="ko-KR" sz="2000" i="1">
                            <a:latin typeface="Cambria Math" panose="02040503050406030204" pitchFamily="18" charset="0"/>
                            <a:ea typeface="Gulim" pitchFamily="34" charset="-127"/>
                          </a:rPr>
                          <m:t>3 </m:t>
                        </m:r>
                        <m:r>
                          <a:rPr lang="en-US" altLang="ko-KR" sz="2000" i="1">
                            <a:latin typeface="Cambria Math" panose="02040503050406030204" pitchFamily="18" charset="0"/>
                            <a:ea typeface="Gulim" pitchFamily="34" charset="-127"/>
                          </a:rPr>
                          <m:t>𝑢𝑛𝑖𝑡𝑠</m:t>
                        </m:r>
                      </m:sup>
                    </m:sSup>
                    <m:r>
                      <a:rPr lang="en-US" altLang="ko-KR" sz="2000" b="0" i="1" smtClean="0">
                        <a:latin typeface="Cambria Math" panose="02040503050406030204" pitchFamily="18" charset="0"/>
                        <a:ea typeface="Gulim" pitchFamily="34" charset="-127"/>
                      </a:rPr>
                      <m:t>=$22</m:t>
                    </m:r>
                  </m:oMath>
                </a14:m>
                <a:endParaRPr lang="en-US" altLang="ko-KR" sz="2000" dirty="0">
                  <a:latin typeface="Times New Roman" pitchFamily="18" charset="0"/>
                  <a:ea typeface="Gulim" pitchFamily="34" charset="-127"/>
                </a:endParaRPr>
              </a:p>
              <a:p>
                <a:pPr>
                  <a:lnSpc>
                    <a:spcPct val="90000"/>
                  </a:lnSpc>
                </a:pPr>
                <a:r>
                  <a:rPr lang="en-US" altLang="ko-KR" sz="2400" dirty="0">
                    <a:latin typeface="Times New Roman" pitchFamily="18" charset="0"/>
                    <a:ea typeface="Gulim" pitchFamily="34" charset="-127"/>
                  </a:rPr>
                  <a:t>Suppose we want Customer B to choose 6 units.  What price can we set? (use EVC)</a:t>
                </a:r>
              </a:p>
              <a:p>
                <a:pPr lvl="1">
                  <a:lnSpc>
                    <a:spcPct val="90000"/>
                  </a:lnSpc>
                </a:pPr>
                <a:r>
                  <a:rPr lang="en-US" altLang="ko-KR" sz="2000" dirty="0">
                    <a:latin typeface="Times New Roman" pitchFamily="18" charset="0"/>
                    <a:ea typeface="Gulim" pitchFamily="34" charset="-127"/>
                  </a:rPr>
                  <a:t>Use value for 6 units = $116</a:t>
                </a:r>
              </a:p>
              <a:p>
                <a:pPr lvl="1">
                  <a:lnSpc>
                    <a:spcPct val="90000"/>
                  </a:lnSpc>
                  <a:spcAft>
                    <a:spcPts val="1200"/>
                  </a:spcAft>
                </a:pPr>
                <a:r>
                  <a:rPr lang="en-US" altLang="ko-KR" sz="2000" dirty="0">
                    <a:latin typeface="Times New Roman" pitchFamily="18" charset="0"/>
                    <a:ea typeface="Gulim" pitchFamily="34" charset="-127"/>
                  </a:rPr>
                  <a:t>Discount by $22 to prevent “Trading Down”</a:t>
                </a:r>
              </a:p>
              <a:p>
                <a:pPr marL="366713" lvl="1" indent="0" algn="r">
                  <a:lnSpc>
                    <a:spcPct val="90000"/>
                  </a:lnSpc>
                  <a:buNone/>
                </a:pPr>
                <a14:m>
                  <m:oMath xmlns:m="http://schemas.openxmlformats.org/officeDocument/2006/math">
                    <m:r>
                      <a:rPr lang="en-US" altLang="ko-KR" sz="3000" b="1" i="1" smtClean="0">
                        <a:latin typeface="Cambria Math" panose="02040503050406030204" pitchFamily="18" charset="0"/>
                        <a:ea typeface="Gulim" pitchFamily="34" charset="-127"/>
                      </a:rPr>
                      <m:t> </m:t>
                    </m:r>
                    <m:sSup>
                      <m:sSupPr>
                        <m:ctrlPr>
                          <a:rPr lang="en-US" altLang="ko-KR" sz="3000" b="1" i="1">
                            <a:latin typeface="Cambria Math" panose="02040503050406030204" pitchFamily="18" charset="0"/>
                            <a:ea typeface="Gulim" pitchFamily="34" charset="-127"/>
                          </a:rPr>
                        </m:ctrlPr>
                      </m:sSupPr>
                      <m:e>
                        <m:r>
                          <a:rPr lang="en-US" altLang="ko-KR" sz="3000" b="1" i="1">
                            <a:latin typeface="Cambria Math" panose="02040503050406030204" pitchFamily="18" charset="0"/>
                            <a:ea typeface="Gulim" pitchFamily="34" charset="-127"/>
                          </a:rPr>
                          <m:t>𝒑</m:t>
                        </m:r>
                      </m:e>
                      <m:sup>
                        <m:r>
                          <a:rPr lang="en-US" altLang="ko-KR" sz="3000" b="1" i="1" smtClean="0">
                            <a:latin typeface="Cambria Math" panose="02040503050406030204" pitchFamily="18" charset="0"/>
                            <a:ea typeface="Gulim" pitchFamily="34" charset="-127"/>
                          </a:rPr>
                          <m:t>𝟔</m:t>
                        </m:r>
                        <m:r>
                          <a:rPr lang="en-US" altLang="ko-KR" sz="3000" b="1" i="1">
                            <a:latin typeface="Cambria Math" panose="02040503050406030204" pitchFamily="18" charset="0"/>
                            <a:ea typeface="Gulim" pitchFamily="34" charset="-127"/>
                          </a:rPr>
                          <m:t> </m:t>
                        </m:r>
                        <m:r>
                          <a:rPr lang="en-US" altLang="ko-KR" sz="3000" b="1" i="1">
                            <a:latin typeface="Cambria Math" panose="02040503050406030204" pitchFamily="18" charset="0"/>
                            <a:ea typeface="Gulim" pitchFamily="34" charset="-127"/>
                          </a:rPr>
                          <m:t>𝒖𝒏𝒊𝒕𝒔</m:t>
                        </m:r>
                      </m:sup>
                    </m:sSup>
                    <m:r>
                      <a:rPr lang="en-US" altLang="ko-KR" sz="3000" b="1" i="1">
                        <a:latin typeface="Cambria Math" panose="02040503050406030204" pitchFamily="18" charset="0"/>
                        <a:ea typeface="Gulim" pitchFamily="34" charset="-127"/>
                      </a:rPr>
                      <m:t>=$</m:t>
                    </m:r>
                    <m:r>
                      <a:rPr lang="en-US" altLang="ko-KR" sz="3000" b="1" i="1" smtClean="0">
                        <a:latin typeface="Cambria Math" panose="02040503050406030204" pitchFamily="18" charset="0"/>
                        <a:ea typeface="Gulim" pitchFamily="34" charset="-127"/>
                      </a:rPr>
                      <m:t> </m:t>
                    </m:r>
                    <m:r>
                      <a:rPr lang="en-US" altLang="ko-KR" sz="3000" b="1" i="1" smtClean="0">
                        <a:latin typeface="Cambria Math" panose="02040503050406030204" pitchFamily="18" charset="0"/>
                        <a:ea typeface="Gulim" pitchFamily="34" charset="-127"/>
                      </a:rPr>
                      <m:t>𝟗𝟒</m:t>
                    </m:r>
                  </m:oMath>
                </a14:m>
                <a:r>
                  <a:rPr lang="en-US" altLang="ko-KR" sz="3000" dirty="0">
                    <a:latin typeface="Times New Roman" pitchFamily="18" charset="0"/>
                    <a:ea typeface="Gulim" pitchFamily="34" charset="-127"/>
                  </a:rPr>
                  <a:t> </a:t>
                </a:r>
                <a:r>
                  <a:rPr lang="en-US" altLang="ko-KR" sz="2000" dirty="0">
                    <a:latin typeface="Times New Roman" pitchFamily="18" charset="0"/>
                    <a:ea typeface="Gulim" pitchFamily="34" charset="-127"/>
                  </a:rPr>
                  <a:t> (EVC = DV+RV = (116-80</a:t>
                </a:r>
                <a:r>
                  <a:rPr lang="en-US" altLang="ko-KR" sz="2000">
                    <a:latin typeface="Times New Roman" pitchFamily="18" charset="0"/>
                    <a:ea typeface="Gulim" pitchFamily="34" charset="-127"/>
                  </a:rPr>
                  <a:t>)+58)</a:t>
                </a:r>
                <a:endParaRPr lang="en-US" altLang="ko-KR" sz="2000" dirty="0">
                  <a:latin typeface="Times New Roman" pitchFamily="18" charset="0"/>
                  <a:ea typeface="Gulim" pitchFamily="34" charset="-127"/>
                </a:endParaRPr>
              </a:p>
              <a:p>
                <a:pPr marL="366713" lvl="1" indent="0">
                  <a:lnSpc>
                    <a:spcPct val="90000"/>
                  </a:lnSpc>
                  <a:buNone/>
                </a:pPr>
                <a:endParaRPr lang="en-US" altLang="ko-KR" sz="2000" b="1" dirty="0">
                  <a:latin typeface="Times New Roman" pitchFamily="18" charset="0"/>
                  <a:ea typeface="Gulim" pitchFamily="34" charset="-127"/>
                </a:endParaRPr>
              </a:p>
              <a:p>
                <a:pPr>
                  <a:lnSpc>
                    <a:spcPct val="90000"/>
                  </a:lnSpc>
                  <a:spcBef>
                    <a:spcPts val="3000"/>
                  </a:spcBef>
                </a:pPr>
                <a:r>
                  <a:rPr lang="en-US" altLang="ko-KR" sz="2400" dirty="0">
                    <a:latin typeface="Times New Roman" pitchFamily="18" charset="0"/>
                    <a:ea typeface="Gulim" pitchFamily="34" charset="-127"/>
                  </a:rPr>
                  <a:t> Total Profits: $152 - $45 = </a:t>
                </a:r>
                <a:r>
                  <a:rPr lang="en-US" altLang="ko-KR" sz="3500" b="1" dirty="0">
                    <a:solidFill>
                      <a:srgbClr val="FF0000"/>
                    </a:solidFill>
                    <a:latin typeface="Times New Roman" pitchFamily="18" charset="0"/>
                    <a:ea typeface="Gulim" pitchFamily="34" charset="-127"/>
                  </a:rPr>
                  <a:t>$107</a:t>
                </a:r>
                <a:endParaRPr lang="en-US" sz="3500" b="1" dirty="0">
                  <a:solidFill>
                    <a:srgbClr val="FF0000"/>
                  </a:solidFill>
                </a:endParaRPr>
              </a:p>
            </p:txBody>
          </p:sp>
        </mc:Choice>
        <mc:Fallback xmlns="">
          <p:sp>
            <p:nvSpPr>
              <p:cNvPr id="17411" name="Rectangle 3"/>
              <p:cNvSpPr>
                <a:spLocks noGrp="1" noRot="1" noChangeAspect="1" noMove="1" noResize="1" noEditPoints="1" noAdjustHandles="1" noChangeArrowheads="1" noChangeShapeType="1" noTextEdit="1"/>
              </p:cNvSpPr>
              <p:nvPr>
                <p:ph sz="quarter" idx="1"/>
              </p:nvPr>
            </p:nvSpPr>
            <p:spPr>
              <a:xfrm>
                <a:off x="612648" y="1692274"/>
                <a:ext cx="7772400" cy="4918838"/>
              </a:xfrm>
              <a:blipFill>
                <a:blip r:embed="rId2"/>
                <a:stretch>
                  <a:fillRect l="-78" t="-2726" r="-1098" b="-3594"/>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14</a:t>
            </a:fld>
            <a:endParaRPr lang="en-US"/>
          </a:p>
        </p:txBody>
      </p:sp>
    </p:spTree>
    <p:extLst>
      <p:ext uri="{BB962C8B-B14F-4D97-AF65-F5344CB8AC3E}">
        <p14:creationId xmlns:p14="http://schemas.microsoft.com/office/powerpoint/2010/main" val="2416695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12775" y="228600"/>
            <a:ext cx="8153400" cy="990600"/>
          </a:xfrm>
        </p:spPr>
        <p:txBody>
          <a:bodyPr>
            <a:normAutofit fontScale="90000"/>
          </a:bodyPr>
          <a:lstStyle/>
          <a:p>
            <a:r>
              <a:rPr lang="en-US" sz="4400" dirty="0"/>
              <a:t>Example 2:</a:t>
            </a:r>
            <a:br>
              <a:rPr lang="en-US" sz="4400" dirty="0"/>
            </a:br>
            <a:r>
              <a:rPr lang="en-US" sz="3600" dirty="0"/>
              <a:t>Can we do better?</a:t>
            </a:r>
            <a:endParaRPr lang="en-US" sz="2700" dirty="0"/>
          </a:p>
        </p:txBody>
      </p:sp>
      <p:sp>
        <p:nvSpPr>
          <p:cNvPr id="15363" name="Rectangle 3"/>
          <p:cNvSpPr>
            <a:spLocks noGrp="1" noChangeArrowheads="1"/>
          </p:cNvSpPr>
          <p:nvPr>
            <p:ph sz="quarter" idx="1"/>
          </p:nvPr>
        </p:nvSpPr>
        <p:spPr>
          <a:xfrm>
            <a:off x="612775" y="1600200"/>
            <a:ext cx="8153400" cy="4495800"/>
          </a:xfrm>
        </p:spPr>
        <p:txBody>
          <a:bodyPr/>
          <a:lstStyle/>
          <a:p>
            <a:pPr>
              <a:spcAft>
                <a:spcPts val="1200"/>
              </a:spcAft>
              <a:defRPr/>
            </a:pPr>
            <a:r>
              <a:rPr lang="en-US" dirty="0"/>
              <a:t>How did we manage </a:t>
            </a:r>
            <a:r>
              <a:rPr lang="en-US" i="1" dirty="0"/>
              <a:t>trading-down</a:t>
            </a:r>
            <a:r>
              <a:rPr lang="en-US" dirty="0"/>
              <a:t> in strategy 1?</a:t>
            </a:r>
          </a:p>
          <a:p>
            <a:pPr>
              <a:spcAft>
                <a:spcPts val="1200"/>
              </a:spcAft>
              <a:defRPr/>
            </a:pPr>
            <a:r>
              <a:rPr lang="en-US" dirty="0"/>
              <a:t>Is this the only lever to manage customers’ incentives?</a:t>
            </a:r>
          </a:p>
          <a:p>
            <a:pPr>
              <a:defRPr/>
            </a:pPr>
            <a:r>
              <a:rPr lang="en-US" dirty="0"/>
              <a:t>How else can we manage customers’ incentives?</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15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80702777"/>
              </p:ext>
            </p:extLst>
          </p:nvPr>
        </p:nvGraphicFramePr>
        <p:xfrm>
          <a:off x="1396754" y="3833758"/>
          <a:ext cx="4915555" cy="2465034"/>
        </p:xfrm>
        <a:graphic>
          <a:graphicData uri="http://schemas.openxmlformats.org/drawingml/2006/table">
            <a:tbl>
              <a:tblPr firstRow="1" bandRow="1">
                <a:tableStyleId>{5C22544A-7EE6-4342-B048-85BDC9FD1C3A}</a:tableStyleId>
              </a:tblPr>
              <a:tblGrid>
                <a:gridCol w="528019">
                  <a:extLst>
                    <a:ext uri="{9D8B030D-6E8A-4147-A177-3AD203B41FA5}">
                      <a16:colId xmlns:a16="http://schemas.microsoft.com/office/drawing/2014/main" val="20000"/>
                    </a:ext>
                  </a:extLst>
                </a:gridCol>
                <a:gridCol w="793132">
                  <a:extLst>
                    <a:ext uri="{9D8B030D-6E8A-4147-A177-3AD203B41FA5}">
                      <a16:colId xmlns:a16="http://schemas.microsoft.com/office/drawing/2014/main" val="20001"/>
                    </a:ext>
                  </a:extLst>
                </a:gridCol>
                <a:gridCol w="927617">
                  <a:extLst>
                    <a:ext uri="{9D8B030D-6E8A-4147-A177-3AD203B41FA5}">
                      <a16:colId xmlns:a16="http://schemas.microsoft.com/office/drawing/2014/main" val="20002"/>
                    </a:ext>
                  </a:extLst>
                </a:gridCol>
                <a:gridCol w="516053">
                  <a:extLst>
                    <a:ext uri="{9D8B030D-6E8A-4147-A177-3AD203B41FA5}">
                      <a16:colId xmlns:a16="http://schemas.microsoft.com/office/drawing/2014/main" val="20003"/>
                    </a:ext>
                  </a:extLst>
                </a:gridCol>
                <a:gridCol w="516053">
                  <a:extLst>
                    <a:ext uri="{9D8B030D-6E8A-4147-A177-3AD203B41FA5}">
                      <a16:colId xmlns:a16="http://schemas.microsoft.com/office/drawing/2014/main" val="20004"/>
                    </a:ext>
                  </a:extLst>
                </a:gridCol>
                <a:gridCol w="694091">
                  <a:extLst>
                    <a:ext uri="{9D8B030D-6E8A-4147-A177-3AD203B41FA5}">
                      <a16:colId xmlns:a16="http://schemas.microsoft.com/office/drawing/2014/main" val="20005"/>
                    </a:ext>
                  </a:extLst>
                </a:gridCol>
                <a:gridCol w="940590">
                  <a:extLst>
                    <a:ext uri="{9D8B030D-6E8A-4147-A177-3AD203B41FA5}">
                      <a16:colId xmlns:a16="http://schemas.microsoft.com/office/drawing/2014/main" val="20006"/>
                    </a:ext>
                  </a:extLst>
                </a:gridCol>
              </a:tblGrid>
              <a:tr h="283336">
                <a:tc gridSpan="3">
                  <a:txBody>
                    <a:bodyPr/>
                    <a:lstStyle/>
                    <a:p>
                      <a:pPr algn="ctr"/>
                      <a:r>
                        <a:rPr lang="en-US" sz="1200" dirty="0"/>
                        <a:t>Customer A</a:t>
                      </a:r>
                    </a:p>
                  </a:txBody>
                  <a:tcPr marT="45711" marB="45711"/>
                </a:tc>
                <a:tc hMerge="1">
                  <a:txBody>
                    <a:bodyPr/>
                    <a:lstStyle/>
                    <a:p>
                      <a:endParaRPr lang="en-US" dirty="0"/>
                    </a:p>
                  </a:txBody>
                  <a:tcPr/>
                </a:tc>
                <a:tc hMerge="1">
                  <a:txBody>
                    <a:bodyPr/>
                    <a:lstStyle/>
                    <a:p>
                      <a:endParaRPr lang="en-US" dirty="0"/>
                    </a:p>
                  </a:txBody>
                  <a:tcPr/>
                </a:tc>
                <a:tc>
                  <a:txBody>
                    <a:bodyPr/>
                    <a:lstStyle/>
                    <a:p>
                      <a:pPr algn="ctr"/>
                      <a:endParaRPr lang="en-US" sz="1200" dirty="0"/>
                    </a:p>
                  </a:txBody>
                  <a:tcPr marT="45711" marB="45711">
                    <a:noFill/>
                  </a:tcPr>
                </a:tc>
                <a:tc gridSpan="3">
                  <a:txBody>
                    <a:bodyPr/>
                    <a:lstStyle/>
                    <a:p>
                      <a:pPr algn="ctr"/>
                      <a:r>
                        <a:rPr lang="en-US" sz="1200" dirty="0"/>
                        <a:t>Customer B</a:t>
                      </a:r>
                    </a:p>
                  </a:txBody>
                  <a:tcPr marT="45711" marB="45711"/>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81682">
                <a:tc>
                  <a:txBody>
                    <a:bodyPr/>
                    <a:lstStyle/>
                    <a:p>
                      <a:pPr algn="ctr"/>
                      <a:r>
                        <a:rPr lang="en-US" sz="1200" b="1" dirty="0"/>
                        <a:t>Units</a:t>
                      </a:r>
                    </a:p>
                  </a:txBody>
                  <a:tcPr marT="45711" marB="45711"/>
                </a:tc>
                <a:tc>
                  <a:txBody>
                    <a:bodyPr/>
                    <a:lstStyle/>
                    <a:p>
                      <a:pPr algn="ctr"/>
                      <a:r>
                        <a:rPr lang="en-US" sz="1200" b="1" dirty="0"/>
                        <a:t>WTP</a:t>
                      </a:r>
                      <a:r>
                        <a:rPr lang="en-US" sz="1200" b="1" baseline="0" dirty="0"/>
                        <a:t> for n</a:t>
                      </a:r>
                      <a:r>
                        <a:rPr lang="en-US" sz="1200" b="1" baseline="30000" dirty="0"/>
                        <a:t>th</a:t>
                      </a:r>
                      <a:r>
                        <a:rPr lang="en-US" sz="1200" b="1" baseline="0" dirty="0"/>
                        <a:t> unit</a:t>
                      </a:r>
                      <a:endParaRPr lang="en-US" sz="1200" b="1" dirty="0"/>
                    </a:p>
                  </a:txBody>
                  <a:tcPr marT="45711" marB="45711"/>
                </a:tc>
                <a:tc>
                  <a:txBody>
                    <a:bodyPr/>
                    <a:lstStyle/>
                    <a:p>
                      <a:pPr algn="ctr"/>
                      <a:r>
                        <a:rPr lang="en-US" sz="1200" b="1" dirty="0"/>
                        <a:t>Cumulative WTP</a:t>
                      </a:r>
                    </a:p>
                  </a:txBody>
                  <a:tcPr marT="45711" marB="45711"/>
                </a:tc>
                <a:tc>
                  <a:txBody>
                    <a:bodyPr/>
                    <a:lstStyle/>
                    <a:p>
                      <a:pPr algn="ctr"/>
                      <a:endParaRPr lang="en-US" sz="1200" b="1" dirty="0"/>
                    </a:p>
                  </a:txBody>
                  <a:tcPr marT="45711" marB="45711">
                    <a:noFill/>
                  </a:tcPr>
                </a:tc>
                <a:tc>
                  <a:txBody>
                    <a:bodyPr/>
                    <a:lstStyle/>
                    <a:p>
                      <a:pPr algn="ctr"/>
                      <a:r>
                        <a:rPr lang="en-US" sz="1200" b="1" dirty="0"/>
                        <a:t>Units</a:t>
                      </a:r>
                    </a:p>
                  </a:txBody>
                  <a:tcPr marT="45711" marB="45711"/>
                </a:tc>
                <a:tc>
                  <a:txBody>
                    <a:bodyPr/>
                    <a:lstStyle/>
                    <a:p>
                      <a:pPr algn="ctr"/>
                      <a:r>
                        <a:rPr lang="en-US" sz="1200" b="1" dirty="0"/>
                        <a:t>WTP</a:t>
                      </a:r>
                      <a:r>
                        <a:rPr lang="en-US" sz="1200" b="1" baseline="0" dirty="0"/>
                        <a:t> for n</a:t>
                      </a:r>
                      <a:r>
                        <a:rPr lang="en-US" sz="1200" b="1" baseline="30000" dirty="0"/>
                        <a:t>th</a:t>
                      </a:r>
                      <a:r>
                        <a:rPr lang="en-US" sz="1200" b="1" baseline="0" dirty="0"/>
                        <a:t> unit</a:t>
                      </a:r>
                      <a:endParaRPr lang="en-US" sz="1200" b="1" dirty="0"/>
                    </a:p>
                  </a:txBody>
                  <a:tcPr marT="45711" marB="45711"/>
                </a:tc>
                <a:tc>
                  <a:txBody>
                    <a:bodyPr/>
                    <a:lstStyle/>
                    <a:p>
                      <a:pPr algn="ctr"/>
                      <a:r>
                        <a:rPr lang="en-US" sz="1200" b="1" dirty="0"/>
                        <a:t>Cumulative WTP</a:t>
                      </a:r>
                    </a:p>
                  </a:txBody>
                  <a:tcPr marT="45711" marB="45711"/>
                </a:tc>
                <a:extLst>
                  <a:ext uri="{0D108BD9-81ED-4DB2-BD59-A6C34878D82A}">
                    <a16:rowId xmlns:a16="http://schemas.microsoft.com/office/drawing/2014/main" val="10001"/>
                  </a:ext>
                </a:extLst>
              </a:tr>
              <a:tr h="283336">
                <a:tc>
                  <a:txBody>
                    <a:bodyPr/>
                    <a:lstStyle/>
                    <a:p>
                      <a:pPr algn="ctr"/>
                      <a:r>
                        <a:rPr lang="en-US" sz="1200" dirty="0"/>
                        <a:t>1</a:t>
                      </a:r>
                    </a:p>
                  </a:txBody>
                  <a:tcPr marT="45711" marB="45711"/>
                </a:tc>
                <a:tc>
                  <a:txBody>
                    <a:bodyPr/>
                    <a:lstStyle/>
                    <a:p>
                      <a:pPr algn="ctr"/>
                      <a:r>
                        <a:rPr lang="en-US" sz="1200" dirty="0"/>
                        <a:t>30</a:t>
                      </a:r>
                    </a:p>
                  </a:txBody>
                  <a:tcPr marT="45711" marB="45711"/>
                </a:tc>
                <a:tc>
                  <a:txBody>
                    <a:bodyPr/>
                    <a:lstStyle/>
                    <a:p>
                      <a:pPr algn="ctr"/>
                      <a:r>
                        <a:rPr lang="en-US" sz="1200" dirty="0"/>
                        <a:t>30</a:t>
                      </a:r>
                    </a:p>
                  </a:txBody>
                  <a:tcPr marT="45711" marB="45711"/>
                </a:tc>
                <a:tc>
                  <a:txBody>
                    <a:bodyPr/>
                    <a:lstStyle/>
                    <a:p>
                      <a:pPr algn="ctr"/>
                      <a:endParaRPr lang="en-US" sz="1200" dirty="0"/>
                    </a:p>
                  </a:txBody>
                  <a:tcPr marT="45711" marB="45711">
                    <a:noFill/>
                  </a:tcPr>
                </a:tc>
                <a:tc>
                  <a:txBody>
                    <a:bodyPr/>
                    <a:lstStyle/>
                    <a:p>
                      <a:pPr algn="ctr"/>
                      <a:r>
                        <a:rPr lang="en-US" sz="1200" dirty="0"/>
                        <a:t>1</a:t>
                      </a:r>
                    </a:p>
                  </a:txBody>
                  <a:tcPr marT="45711" marB="45711"/>
                </a:tc>
                <a:tc>
                  <a:txBody>
                    <a:bodyPr/>
                    <a:lstStyle/>
                    <a:p>
                      <a:pPr algn="ctr"/>
                      <a:r>
                        <a:rPr lang="en-US" sz="1200" dirty="0"/>
                        <a:t>30</a:t>
                      </a:r>
                    </a:p>
                  </a:txBody>
                  <a:tcPr marT="45711" marB="45711"/>
                </a:tc>
                <a:tc>
                  <a:txBody>
                    <a:bodyPr/>
                    <a:lstStyle/>
                    <a:p>
                      <a:pPr algn="ctr"/>
                      <a:r>
                        <a:rPr lang="en-US" sz="1200" dirty="0"/>
                        <a:t>30</a:t>
                      </a:r>
                    </a:p>
                  </a:txBody>
                  <a:tcPr marT="45711" marB="45711"/>
                </a:tc>
                <a:extLst>
                  <a:ext uri="{0D108BD9-81ED-4DB2-BD59-A6C34878D82A}">
                    <a16:rowId xmlns:a16="http://schemas.microsoft.com/office/drawing/2014/main" val="10002"/>
                  </a:ext>
                </a:extLst>
              </a:tr>
              <a:tr h="283336">
                <a:tc>
                  <a:txBody>
                    <a:bodyPr/>
                    <a:lstStyle/>
                    <a:p>
                      <a:pPr algn="ctr"/>
                      <a:r>
                        <a:rPr lang="en-US" sz="1200" dirty="0"/>
                        <a:t>2</a:t>
                      </a:r>
                    </a:p>
                  </a:txBody>
                  <a:tcPr marT="45711" marB="45711"/>
                </a:tc>
                <a:tc>
                  <a:txBody>
                    <a:bodyPr/>
                    <a:lstStyle/>
                    <a:p>
                      <a:pPr algn="ctr"/>
                      <a:r>
                        <a:rPr lang="en-US" sz="1200" dirty="0"/>
                        <a:t>20</a:t>
                      </a:r>
                    </a:p>
                  </a:txBody>
                  <a:tcPr marT="45711" marB="45711"/>
                </a:tc>
                <a:tc>
                  <a:txBody>
                    <a:bodyPr/>
                    <a:lstStyle/>
                    <a:p>
                      <a:pPr algn="ctr"/>
                      <a:r>
                        <a:rPr lang="en-US" sz="1200" dirty="0"/>
                        <a:t>50</a:t>
                      </a:r>
                    </a:p>
                  </a:txBody>
                  <a:tcPr marT="45711" marB="45711"/>
                </a:tc>
                <a:tc>
                  <a:txBody>
                    <a:bodyPr/>
                    <a:lstStyle/>
                    <a:p>
                      <a:pPr algn="ctr"/>
                      <a:endParaRPr lang="en-US" sz="1200" dirty="0"/>
                    </a:p>
                  </a:txBody>
                  <a:tcPr marT="45711" marB="45711">
                    <a:noFill/>
                  </a:tcPr>
                </a:tc>
                <a:tc>
                  <a:txBody>
                    <a:bodyPr/>
                    <a:lstStyle/>
                    <a:p>
                      <a:pPr algn="ctr"/>
                      <a:r>
                        <a:rPr lang="en-US" sz="1200" dirty="0"/>
                        <a:t>2</a:t>
                      </a:r>
                    </a:p>
                  </a:txBody>
                  <a:tcPr marT="45711" marB="45711"/>
                </a:tc>
                <a:tc>
                  <a:txBody>
                    <a:bodyPr/>
                    <a:lstStyle/>
                    <a:p>
                      <a:pPr algn="ctr"/>
                      <a:r>
                        <a:rPr lang="en-US" sz="1200" dirty="0"/>
                        <a:t>30</a:t>
                      </a:r>
                    </a:p>
                  </a:txBody>
                  <a:tcPr marT="45711" marB="45711"/>
                </a:tc>
                <a:tc>
                  <a:txBody>
                    <a:bodyPr/>
                    <a:lstStyle/>
                    <a:p>
                      <a:pPr algn="ctr"/>
                      <a:r>
                        <a:rPr lang="en-US" sz="1200" dirty="0"/>
                        <a:t>60</a:t>
                      </a:r>
                    </a:p>
                  </a:txBody>
                  <a:tcPr marT="45711" marB="45711"/>
                </a:tc>
                <a:extLst>
                  <a:ext uri="{0D108BD9-81ED-4DB2-BD59-A6C34878D82A}">
                    <a16:rowId xmlns:a16="http://schemas.microsoft.com/office/drawing/2014/main" val="10003"/>
                  </a:ext>
                </a:extLst>
              </a:tr>
              <a:tr h="283336">
                <a:tc>
                  <a:txBody>
                    <a:bodyPr/>
                    <a:lstStyle/>
                    <a:p>
                      <a:pPr algn="ctr"/>
                      <a:r>
                        <a:rPr lang="en-US" sz="1200" dirty="0"/>
                        <a:t>3</a:t>
                      </a:r>
                    </a:p>
                  </a:txBody>
                  <a:tcPr marT="45711" marB="45711"/>
                </a:tc>
                <a:tc>
                  <a:txBody>
                    <a:bodyPr/>
                    <a:lstStyle/>
                    <a:p>
                      <a:pPr algn="ctr"/>
                      <a:r>
                        <a:rPr lang="en-US" sz="1200" dirty="0"/>
                        <a:t>8</a:t>
                      </a:r>
                    </a:p>
                  </a:txBody>
                  <a:tcPr marT="45711" marB="45711"/>
                </a:tc>
                <a:tc>
                  <a:txBody>
                    <a:bodyPr/>
                    <a:lstStyle/>
                    <a:p>
                      <a:pPr algn="ctr"/>
                      <a:r>
                        <a:rPr lang="en-US" sz="1200" dirty="0"/>
                        <a:t>58</a:t>
                      </a:r>
                    </a:p>
                  </a:txBody>
                  <a:tcPr marT="45711" marB="45711"/>
                </a:tc>
                <a:tc>
                  <a:txBody>
                    <a:bodyPr/>
                    <a:lstStyle/>
                    <a:p>
                      <a:pPr algn="ctr"/>
                      <a:endParaRPr lang="en-US" sz="1200" dirty="0"/>
                    </a:p>
                  </a:txBody>
                  <a:tcPr marT="45711" marB="45711">
                    <a:noFill/>
                  </a:tcPr>
                </a:tc>
                <a:tc>
                  <a:txBody>
                    <a:bodyPr/>
                    <a:lstStyle/>
                    <a:p>
                      <a:pPr algn="ctr"/>
                      <a:r>
                        <a:rPr lang="en-US" sz="1200" dirty="0"/>
                        <a:t>3</a:t>
                      </a:r>
                    </a:p>
                  </a:txBody>
                  <a:tcPr marT="45711" marB="45711"/>
                </a:tc>
                <a:tc>
                  <a:txBody>
                    <a:bodyPr/>
                    <a:lstStyle/>
                    <a:p>
                      <a:pPr algn="ctr"/>
                      <a:r>
                        <a:rPr lang="en-US" sz="1200" dirty="0"/>
                        <a:t>20</a:t>
                      </a:r>
                    </a:p>
                  </a:txBody>
                  <a:tcPr marT="45711" marB="45711"/>
                </a:tc>
                <a:tc>
                  <a:txBody>
                    <a:bodyPr/>
                    <a:lstStyle/>
                    <a:p>
                      <a:pPr algn="ctr"/>
                      <a:r>
                        <a:rPr lang="en-US" sz="1200" dirty="0"/>
                        <a:t>80</a:t>
                      </a:r>
                    </a:p>
                  </a:txBody>
                  <a:tcPr marT="45711" marB="45711"/>
                </a:tc>
                <a:extLst>
                  <a:ext uri="{0D108BD9-81ED-4DB2-BD59-A6C34878D82A}">
                    <a16:rowId xmlns:a16="http://schemas.microsoft.com/office/drawing/2014/main" val="10004"/>
                  </a:ext>
                </a:extLst>
              </a:tr>
              <a:tr h="283336">
                <a:tc>
                  <a:txBody>
                    <a:bodyPr/>
                    <a:lstStyle/>
                    <a:p>
                      <a:pPr algn="ctr"/>
                      <a:endParaRPr lang="en-US" sz="1200" dirty="0"/>
                    </a:p>
                  </a:txBody>
                  <a:tcPr marT="45711" marB="45711">
                    <a:solidFill>
                      <a:schemeClr val="bg1"/>
                    </a:solidFill>
                  </a:tcPr>
                </a:tc>
                <a:tc>
                  <a:txBody>
                    <a:bodyPr/>
                    <a:lstStyle/>
                    <a:p>
                      <a:pPr algn="ctr"/>
                      <a:endParaRPr lang="en-US" sz="1200" dirty="0"/>
                    </a:p>
                  </a:txBody>
                  <a:tcPr marT="45711" marB="45711">
                    <a:solidFill>
                      <a:schemeClr val="bg1"/>
                    </a:solidFill>
                  </a:tcPr>
                </a:tc>
                <a:tc>
                  <a:txBody>
                    <a:bodyPr/>
                    <a:lstStyle/>
                    <a:p>
                      <a:pPr algn="ctr"/>
                      <a:endParaRPr lang="en-US" sz="1200" dirty="0"/>
                    </a:p>
                  </a:txBody>
                  <a:tcPr marT="45711" marB="45711">
                    <a:solidFill>
                      <a:schemeClr val="bg1"/>
                    </a:solidFill>
                  </a:tcPr>
                </a:tc>
                <a:tc>
                  <a:txBody>
                    <a:bodyPr/>
                    <a:lstStyle/>
                    <a:p>
                      <a:pPr algn="ctr"/>
                      <a:endParaRPr lang="en-US" sz="1200" dirty="0"/>
                    </a:p>
                  </a:txBody>
                  <a:tcPr marT="45711" marB="45711">
                    <a:noFill/>
                  </a:tcPr>
                </a:tc>
                <a:tc>
                  <a:txBody>
                    <a:bodyPr/>
                    <a:lstStyle/>
                    <a:p>
                      <a:pPr algn="ctr"/>
                      <a:r>
                        <a:rPr lang="en-US" sz="1200" dirty="0"/>
                        <a:t>4</a:t>
                      </a:r>
                    </a:p>
                  </a:txBody>
                  <a:tcPr marT="45711" marB="45711"/>
                </a:tc>
                <a:tc>
                  <a:txBody>
                    <a:bodyPr/>
                    <a:lstStyle/>
                    <a:p>
                      <a:pPr algn="ctr"/>
                      <a:r>
                        <a:rPr lang="en-US" sz="1200" dirty="0"/>
                        <a:t>20</a:t>
                      </a:r>
                    </a:p>
                  </a:txBody>
                  <a:tcPr marT="45711" marB="45711"/>
                </a:tc>
                <a:tc>
                  <a:txBody>
                    <a:bodyPr/>
                    <a:lstStyle/>
                    <a:p>
                      <a:pPr algn="ctr"/>
                      <a:r>
                        <a:rPr lang="en-US" sz="1200" dirty="0"/>
                        <a:t>100</a:t>
                      </a:r>
                    </a:p>
                  </a:txBody>
                  <a:tcPr marT="45711" marB="45711"/>
                </a:tc>
                <a:extLst>
                  <a:ext uri="{0D108BD9-81ED-4DB2-BD59-A6C34878D82A}">
                    <a16:rowId xmlns:a16="http://schemas.microsoft.com/office/drawing/2014/main" val="10005"/>
                  </a:ext>
                </a:extLst>
              </a:tr>
              <a:tr h="283336">
                <a:tc>
                  <a:txBody>
                    <a:bodyPr/>
                    <a:lstStyle/>
                    <a:p>
                      <a:pPr algn="ctr"/>
                      <a:endParaRPr lang="en-US" sz="1200"/>
                    </a:p>
                  </a:txBody>
                  <a:tcPr marT="45711" marB="45711">
                    <a:solidFill>
                      <a:schemeClr val="bg1"/>
                    </a:solidFill>
                  </a:tcPr>
                </a:tc>
                <a:tc>
                  <a:txBody>
                    <a:bodyPr/>
                    <a:lstStyle/>
                    <a:p>
                      <a:pPr algn="ctr"/>
                      <a:endParaRPr lang="en-US" sz="1200"/>
                    </a:p>
                  </a:txBody>
                  <a:tcPr marT="45711" marB="45711">
                    <a:solidFill>
                      <a:schemeClr val="bg1"/>
                    </a:solidFill>
                  </a:tcPr>
                </a:tc>
                <a:tc>
                  <a:txBody>
                    <a:bodyPr/>
                    <a:lstStyle/>
                    <a:p>
                      <a:pPr algn="ctr"/>
                      <a:endParaRPr lang="en-US" sz="1200" dirty="0"/>
                    </a:p>
                  </a:txBody>
                  <a:tcPr marT="45711" marB="45711">
                    <a:solidFill>
                      <a:schemeClr val="bg1"/>
                    </a:solidFill>
                  </a:tcPr>
                </a:tc>
                <a:tc>
                  <a:txBody>
                    <a:bodyPr/>
                    <a:lstStyle/>
                    <a:p>
                      <a:pPr algn="ctr"/>
                      <a:endParaRPr lang="en-US" sz="1200" dirty="0"/>
                    </a:p>
                  </a:txBody>
                  <a:tcPr marT="45711" marB="45711">
                    <a:noFill/>
                  </a:tcPr>
                </a:tc>
                <a:tc>
                  <a:txBody>
                    <a:bodyPr/>
                    <a:lstStyle/>
                    <a:p>
                      <a:pPr algn="ctr"/>
                      <a:r>
                        <a:rPr lang="en-US" sz="1200" dirty="0"/>
                        <a:t>5</a:t>
                      </a:r>
                    </a:p>
                  </a:txBody>
                  <a:tcPr marT="45711" marB="45711"/>
                </a:tc>
                <a:tc>
                  <a:txBody>
                    <a:bodyPr/>
                    <a:lstStyle/>
                    <a:p>
                      <a:pPr algn="ctr"/>
                      <a:r>
                        <a:rPr lang="en-US" sz="1200" dirty="0"/>
                        <a:t>8</a:t>
                      </a:r>
                    </a:p>
                  </a:txBody>
                  <a:tcPr marT="45711" marB="45711"/>
                </a:tc>
                <a:tc>
                  <a:txBody>
                    <a:bodyPr/>
                    <a:lstStyle/>
                    <a:p>
                      <a:pPr algn="ctr"/>
                      <a:r>
                        <a:rPr lang="en-US" sz="1200" dirty="0"/>
                        <a:t>108</a:t>
                      </a:r>
                    </a:p>
                  </a:txBody>
                  <a:tcPr marT="45711" marB="45711"/>
                </a:tc>
                <a:extLst>
                  <a:ext uri="{0D108BD9-81ED-4DB2-BD59-A6C34878D82A}">
                    <a16:rowId xmlns:a16="http://schemas.microsoft.com/office/drawing/2014/main" val="10006"/>
                  </a:ext>
                </a:extLst>
              </a:tr>
              <a:tr h="283336">
                <a:tc>
                  <a:txBody>
                    <a:bodyPr/>
                    <a:lstStyle/>
                    <a:p>
                      <a:pPr algn="ctr"/>
                      <a:endParaRPr lang="en-US" sz="1200"/>
                    </a:p>
                  </a:txBody>
                  <a:tcPr marT="45711" marB="45711">
                    <a:solidFill>
                      <a:schemeClr val="bg1"/>
                    </a:solidFill>
                  </a:tcPr>
                </a:tc>
                <a:tc>
                  <a:txBody>
                    <a:bodyPr/>
                    <a:lstStyle/>
                    <a:p>
                      <a:pPr algn="ctr"/>
                      <a:endParaRPr lang="en-US" sz="1200"/>
                    </a:p>
                  </a:txBody>
                  <a:tcPr marT="45711" marB="45711">
                    <a:solidFill>
                      <a:schemeClr val="bg1"/>
                    </a:solidFill>
                  </a:tcPr>
                </a:tc>
                <a:tc>
                  <a:txBody>
                    <a:bodyPr/>
                    <a:lstStyle/>
                    <a:p>
                      <a:pPr algn="ctr"/>
                      <a:endParaRPr lang="en-US" sz="1200" dirty="0"/>
                    </a:p>
                  </a:txBody>
                  <a:tcPr marT="45711" marB="45711">
                    <a:solidFill>
                      <a:schemeClr val="bg1"/>
                    </a:solidFill>
                  </a:tcPr>
                </a:tc>
                <a:tc>
                  <a:txBody>
                    <a:bodyPr/>
                    <a:lstStyle/>
                    <a:p>
                      <a:pPr algn="ctr"/>
                      <a:endParaRPr lang="en-US" sz="1200" dirty="0"/>
                    </a:p>
                  </a:txBody>
                  <a:tcPr marT="45711" marB="45711">
                    <a:noFill/>
                  </a:tcPr>
                </a:tc>
                <a:tc>
                  <a:txBody>
                    <a:bodyPr/>
                    <a:lstStyle/>
                    <a:p>
                      <a:pPr algn="ctr"/>
                      <a:r>
                        <a:rPr lang="en-US" sz="1200" dirty="0"/>
                        <a:t>6</a:t>
                      </a:r>
                    </a:p>
                  </a:txBody>
                  <a:tcPr marT="45711" marB="45711"/>
                </a:tc>
                <a:tc>
                  <a:txBody>
                    <a:bodyPr/>
                    <a:lstStyle/>
                    <a:p>
                      <a:pPr algn="ctr"/>
                      <a:r>
                        <a:rPr lang="en-US" sz="1200" dirty="0"/>
                        <a:t>8</a:t>
                      </a:r>
                    </a:p>
                  </a:txBody>
                  <a:tcPr marT="45711" marB="45711"/>
                </a:tc>
                <a:tc>
                  <a:txBody>
                    <a:bodyPr/>
                    <a:lstStyle/>
                    <a:p>
                      <a:pPr algn="ctr"/>
                      <a:r>
                        <a:rPr lang="en-US" sz="1200" dirty="0"/>
                        <a:t>116</a:t>
                      </a:r>
                    </a:p>
                  </a:txBody>
                  <a:tcPr marT="45711" marB="45711"/>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98123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en-US" sz="4400" dirty="0"/>
              <a:t>Example 2:</a:t>
            </a:r>
            <a:br>
              <a:rPr lang="en-US" sz="4400" dirty="0"/>
            </a:br>
            <a:r>
              <a:rPr lang="en-US" altLang="ko-KR" sz="3600" b="1" dirty="0">
                <a:ea typeface="Batang" pitchFamily="18" charset="-127"/>
              </a:rPr>
              <a:t>Strategy 2</a:t>
            </a:r>
            <a:endParaRPr lang="en-US" sz="2700" dirty="0"/>
          </a:p>
        </p:txBody>
      </p:sp>
      <mc:AlternateContent xmlns:mc="http://schemas.openxmlformats.org/markup-compatibility/2006" xmlns:a14="http://schemas.microsoft.com/office/drawing/2010/main">
        <mc:Choice Requires="a14">
          <p:sp>
            <p:nvSpPr>
              <p:cNvPr id="19459" name="Rectangle 3"/>
              <p:cNvSpPr>
                <a:spLocks noGrp="1" noChangeArrowheads="1"/>
              </p:cNvSpPr>
              <p:nvPr>
                <p:ph sz="quarter" idx="1"/>
              </p:nvPr>
            </p:nvSpPr>
            <p:spPr>
              <a:xfrm>
                <a:off x="612648" y="1692274"/>
                <a:ext cx="7772400" cy="4827397"/>
              </a:xfrm>
            </p:spPr>
            <p:txBody>
              <a:bodyPr>
                <a:normAutofit fontScale="92500" lnSpcReduction="10000"/>
              </a:bodyPr>
              <a:lstStyle/>
              <a:p>
                <a:pPr>
                  <a:lnSpc>
                    <a:spcPct val="90000"/>
                  </a:lnSpc>
                  <a:spcAft>
                    <a:spcPts val="1200"/>
                  </a:spcAft>
                </a:pPr>
                <a:r>
                  <a:rPr lang="en-US" altLang="ko-KR" sz="2400" dirty="0">
                    <a:latin typeface="Times New Roman" pitchFamily="18" charset="0"/>
                    <a:ea typeface="Gulim" pitchFamily="34" charset="-127"/>
                  </a:rPr>
                  <a:t>Suppose we offer Customer A:</a:t>
                </a:r>
              </a:p>
              <a:p>
                <a:pPr marL="366713" lvl="1" indent="0">
                  <a:lnSpc>
                    <a:spcPct val="90000"/>
                  </a:lnSpc>
                  <a:spcAft>
                    <a:spcPts val="1200"/>
                  </a:spcAft>
                  <a:buNone/>
                </a:pPr>
                <a14:m>
                  <m:oMathPara xmlns:m="http://schemas.openxmlformats.org/officeDocument/2006/math">
                    <m:oMathParaPr>
                      <m:jc m:val="centerGroup"/>
                    </m:oMathParaPr>
                    <m:oMath xmlns:m="http://schemas.openxmlformats.org/officeDocument/2006/math">
                      <m:sSup>
                        <m:sSupPr>
                          <m:ctrlPr>
                            <a:rPr lang="en-US" altLang="ko-KR" sz="3000" b="1" i="1" smtClean="0">
                              <a:solidFill>
                                <a:schemeClr val="tx1"/>
                              </a:solidFill>
                              <a:latin typeface="Cambria Math" panose="02040503050406030204" pitchFamily="18" charset="0"/>
                              <a:ea typeface="Gulim" pitchFamily="34" charset="-127"/>
                            </a:rPr>
                          </m:ctrlPr>
                        </m:sSupPr>
                        <m:e>
                          <m:r>
                            <a:rPr lang="en-US" altLang="ko-KR" sz="3000" b="1" i="1">
                              <a:solidFill>
                                <a:schemeClr val="tx1"/>
                              </a:solidFill>
                              <a:latin typeface="Cambria Math" panose="02040503050406030204" pitchFamily="18" charset="0"/>
                              <a:ea typeface="Gulim" pitchFamily="34" charset="-127"/>
                            </a:rPr>
                            <m:t>𝒑</m:t>
                          </m:r>
                        </m:e>
                        <m:sup>
                          <m:r>
                            <a:rPr lang="en-US" altLang="ko-KR" sz="3000" b="1" i="1" smtClean="0">
                              <a:solidFill>
                                <a:schemeClr val="tx1"/>
                              </a:solidFill>
                              <a:latin typeface="Cambria Math" panose="02040503050406030204" pitchFamily="18" charset="0"/>
                              <a:ea typeface="Gulim" pitchFamily="34" charset="-127"/>
                            </a:rPr>
                            <m:t>𝟐</m:t>
                          </m:r>
                          <m:r>
                            <a:rPr lang="en-US" altLang="ko-KR" sz="3000" b="1" i="1">
                              <a:solidFill>
                                <a:schemeClr val="tx1"/>
                              </a:solidFill>
                              <a:latin typeface="Cambria Math" panose="02040503050406030204" pitchFamily="18" charset="0"/>
                              <a:ea typeface="Gulim" pitchFamily="34" charset="-127"/>
                            </a:rPr>
                            <m:t> </m:t>
                          </m:r>
                          <m:r>
                            <a:rPr lang="en-US" altLang="ko-KR" sz="3000" b="1" i="1">
                              <a:solidFill>
                                <a:schemeClr val="tx1"/>
                              </a:solidFill>
                              <a:latin typeface="Cambria Math" panose="02040503050406030204" pitchFamily="18" charset="0"/>
                              <a:ea typeface="Gulim" pitchFamily="34" charset="-127"/>
                            </a:rPr>
                            <m:t>𝒖𝒏𝒊𝒕𝒔</m:t>
                          </m:r>
                        </m:sup>
                      </m:sSup>
                      <m:r>
                        <a:rPr lang="en-US" altLang="ko-KR" sz="3000" b="1" i="1">
                          <a:solidFill>
                            <a:schemeClr val="tx1"/>
                          </a:solidFill>
                          <a:latin typeface="Cambria Math" panose="02040503050406030204" pitchFamily="18" charset="0"/>
                          <a:ea typeface="Gulim" pitchFamily="34" charset="-127"/>
                        </a:rPr>
                        <m:t>=$</m:t>
                      </m:r>
                      <m:r>
                        <a:rPr lang="en-US" altLang="ko-KR" sz="3000" b="1" i="1">
                          <a:solidFill>
                            <a:schemeClr val="tx1"/>
                          </a:solidFill>
                          <a:latin typeface="Cambria Math" panose="02040503050406030204" pitchFamily="18" charset="0"/>
                          <a:ea typeface="Gulim" pitchFamily="34" charset="-127"/>
                        </a:rPr>
                        <m:t>𝟓𝟎</m:t>
                      </m:r>
                    </m:oMath>
                  </m:oMathPara>
                </a14:m>
                <a:endParaRPr lang="en-US" altLang="ko-KR" sz="3000" b="1" dirty="0">
                  <a:solidFill>
                    <a:schemeClr val="tx1"/>
                  </a:solidFill>
                  <a:latin typeface="Times New Roman" pitchFamily="18" charset="0"/>
                  <a:ea typeface="Gulim" pitchFamily="34" charset="-127"/>
                </a:endParaRPr>
              </a:p>
              <a:p>
                <a:pPr>
                  <a:lnSpc>
                    <a:spcPct val="90000"/>
                  </a:lnSpc>
                  <a:spcBef>
                    <a:spcPts val="1200"/>
                  </a:spcBef>
                </a:pPr>
                <a:r>
                  <a:rPr lang="en-US" altLang="ko-KR" sz="2400" dirty="0">
                    <a:latin typeface="Times New Roman" pitchFamily="18" charset="0"/>
                    <a:ea typeface="Gulim" pitchFamily="34" charset="-127"/>
                  </a:rPr>
                  <a:t>How much surplus does Customer B get from the above offer?</a:t>
                </a:r>
              </a:p>
              <a:p>
                <a:pPr lvl="1">
                  <a:lnSpc>
                    <a:spcPct val="90000"/>
                  </a:lnSpc>
                </a:pPr>
                <a:r>
                  <a:rPr lang="en-US" altLang="ko-KR" sz="2000" dirty="0">
                    <a:latin typeface="Times New Roman" pitchFamily="18" charset="0"/>
                    <a:ea typeface="Gulim" pitchFamily="34" charset="-127"/>
                  </a:rPr>
                  <a:t>For 2 units, Cumulative WTP for Customer B is $60</a:t>
                </a:r>
              </a:p>
              <a:p>
                <a:pPr lvl="1">
                  <a:lnSpc>
                    <a:spcPct val="90000"/>
                  </a:lnSpc>
                  <a:spcAft>
                    <a:spcPts val="1200"/>
                  </a:spcAft>
                  <a:buSzPct val="150000"/>
                  <a:buFont typeface="Cambria Math" panose="02040503050406030204" pitchFamily="18" charset="0"/>
                  <a:buChar char="→"/>
                </a:pPr>
                <a14:m>
                  <m:oMath xmlns:m="http://schemas.openxmlformats.org/officeDocument/2006/math">
                    <m:sSup>
                      <m:sSupPr>
                        <m:ctrlPr>
                          <a:rPr lang="en-US" altLang="ko-KR" sz="2000" i="1">
                            <a:latin typeface="Cambria Math" panose="02040503050406030204" pitchFamily="18" charset="0"/>
                            <a:ea typeface="Gulim" pitchFamily="34" charset="-127"/>
                          </a:rPr>
                        </m:ctrlPr>
                      </m:sSupPr>
                      <m:e>
                        <m:r>
                          <a:rPr lang="en-US" altLang="ko-KR" sz="2000" i="1">
                            <a:latin typeface="Cambria Math" panose="02040503050406030204" pitchFamily="18" charset="0"/>
                            <a:ea typeface="Gulim" pitchFamily="34" charset="-127"/>
                          </a:rPr>
                          <m:t>𝑆𝑢𝑟𝑝𝑙𝑢𝑠</m:t>
                        </m:r>
                        <m:r>
                          <a:rPr lang="en-US" altLang="ko-KR" sz="2000" i="1">
                            <a:latin typeface="Cambria Math" panose="02040503050406030204" pitchFamily="18" charset="0"/>
                            <a:ea typeface="Gulim" pitchFamily="34" charset="-127"/>
                          </a:rPr>
                          <m:t>=$60−</m:t>
                        </m:r>
                        <m:r>
                          <a:rPr lang="en-US" altLang="ko-KR" sz="2000" i="1">
                            <a:latin typeface="Cambria Math" panose="02040503050406030204" pitchFamily="18" charset="0"/>
                            <a:ea typeface="Gulim" pitchFamily="34" charset="-127"/>
                          </a:rPr>
                          <m:t>𝑝</m:t>
                        </m:r>
                      </m:e>
                      <m:sup>
                        <m:r>
                          <a:rPr lang="en-US" altLang="ko-KR" sz="2000" b="0" i="1" smtClean="0">
                            <a:latin typeface="Cambria Math" panose="02040503050406030204" pitchFamily="18" charset="0"/>
                            <a:ea typeface="Gulim" pitchFamily="34" charset="-127"/>
                          </a:rPr>
                          <m:t>2</m:t>
                        </m:r>
                        <m:r>
                          <a:rPr lang="en-US" altLang="ko-KR" sz="2000" i="1">
                            <a:latin typeface="Cambria Math" panose="02040503050406030204" pitchFamily="18" charset="0"/>
                            <a:ea typeface="Gulim" pitchFamily="34" charset="-127"/>
                          </a:rPr>
                          <m:t> </m:t>
                        </m:r>
                        <m:r>
                          <a:rPr lang="en-US" altLang="ko-KR" sz="2000" i="1">
                            <a:latin typeface="Cambria Math" panose="02040503050406030204" pitchFamily="18" charset="0"/>
                            <a:ea typeface="Gulim" pitchFamily="34" charset="-127"/>
                          </a:rPr>
                          <m:t>𝑢𝑛𝑖𝑡𝑠</m:t>
                        </m:r>
                      </m:sup>
                    </m:sSup>
                    <m:r>
                      <a:rPr lang="en-US" altLang="ko-KR" sz="2000" i="1">
                        <a:latin typeface="Cambria Math" panose="02040503050406030204" pitchFamily="18" charset="0"/>
                        <a:ea typeface="Gulim" pitchFamily="34" charset="-127"/>
                      </a:rPr>
                      <m:t>=$</m:t>
                    </m:r>
                    <m:r>
                      <a:rPr lang="en-US" altLang="ko-KR" sz="2000" b="0" i="1" smtClean="0">
                        <a:latin typeface="Cambria Math" panose="02040503050406030204" pitchFamily="18" charset="0"/>
                        <a:ea typeface="Gulim" pitchFamily="34" charset="-127"/>
                      </a:rPr>
                      <m:t>10</m:t>
                    </m:r>
                  </m:oMath>
                </a14:m>
                <a:endParaRPr lang="en-US" altLang="ko-KR" sz="2000" dirty="0">
                  <a:latin typeface="Times New Roman" pitchFamily="18" charset="0"/>
                  <a:ea typeface="Gulim" pitchFamily="34" charset="-127"/>
                </a:endParaRPr>
              </a:p>
              <a:p>
                <a:pPr>
                  <a:lnSpc>
                    <a:spcPct val="90000"/>
                  </a:lnSpc>
                </a:pPr>
                <a:r>
                  <a:rPr lang="en-US" altLang="ko-KR" sz="2400" dirty="0">
                    <a:latin typeface="Times New Roman" pitchFamily="18" charset="0"/>
                    <a:ea typeface="Gulim" pitchFamily="34" charset="-127"/>
                  </a:rPr>
                  <a:t>Suppose we want Customer B to choose 6 units.  What price can we set?</a:t>
                </a:r>
              </a:p>
              <a:p>
                <a:pPr lvl="1">
                  <a:lnSpc>
                    <a:spcPct val="90000"/>
                  </a:lnSpc>
                </a:pPr>
                <a:r>
                  <a:rPr lang="en-US" altLang="ko-KR" sz="2000" dirty="0">
                    <a:latin typeface="Times New Roman" pitchFamily="18" charset="0"/>
                    <a:ea typeface="Gulim" pitchFamily="34" charset="-127"/>
                  </a:rPr>
                  <a:t>Use value for 6 units = $116</a:t>
                </a:r>
              </a:p>
              <a:p>
                <a:pPr lvl="1">
                  <a:lnSpc>
                    <a:spcPct val="90000"/>
                  </a:lnSpc>
                  <a:spcAft>
                    <a:spcPts val="1200"/>
                  </a:spcAft>
                </a:pPr>
                <a:r>
                  <a:rPr lang="en-US" altLang="ko-KR" sz="2000" dirty="0">
                    <a:latin typeface="Times New Roman" pitchFamily="18" charset="0"/>
                    <a:ea typeface="Gulim" pitchFamily="34" charset="-127"/>
                  </a:rPr>
                  <a:t>Discount by $10 to prevent “Trading Down”</a:t>
                </a:r>
              </a:p>
              <a:p>
                <a:pPr marL="366713" lvl="1" indent="0" algn="r">
                  <a:lnSpc>
                    <a:spcPct val="90000"/>
                  </a:lnSpc>
                  <a:buNone/>
                </a:pPr>
                <a14:m>
                  <m:oMath xmlns:m="http://schemas.openxmlformats.org/officeDocument/2006/math">
                    <m:sSup>
                      <m:sSupPr>
                        <m:ctrlPr>
                          <a:rPr lang="en-US" altLang="ko-KR" sz="3000" b="1" i="1" smtClean="0">
                            <a:effectLst/>
                            <a:latin typeface="Cambria Math" panose="02040503050406030204" pitchFamily="18" charset="0"/>
                            <a:ea typeface="Gulim" pitchFamily="34" charset="-127"/>
                          </a:rPr>
                        </m:ctrlPr>
                      </m:sSupPr>
                      <m:e>
                        <m:r>
                          <a:rPr lang="en-US" altLang="ko-KR" sz="3000" b="1" i="1">
                            <a:effectLst/>
                            <a:latin typeface="Cambria Math" panose="02040503050406030204" pitchFamily="18" charset="0"/>
                            <a:ea typeface="Gulim" pitchFamily="34" charset="-127"/>
                          </a:rPr>
                          <m:t>𝒑</m:t>
                        </m:r>
                      </m:e>
                      <m:sup>
                        <m:r>
                          <a:rPr lang="en-US" altLang="ko-KR" sz="3000" b="1" i="1">
                            <a:effectLst/>
                            <a:latin typeface="Cambria Math" panose="02040503050406030204" pitchFamily="18" charset="0"/>
                            <a:ea typeface="Gulim" pitchFamily="34" charset="-127"/>
                          </a:rPr>
                          <m:t>𝟔</m:t>
                        </m:r>
                        <m:r>
                          <a:rPr lang="en-US" altLang="ko-KR" sz="3000" b="1" i="1">
                            <a:effectLst/>
                            <a:latin typeface="Cambria Math" panose="02040503050406030204" pitchFamily="18" charset="0"/>
                            <a:ea typeface="Gulim" pitchFamily="34" charset="-127"/>
                          </a:rPr>
                          <m:t> </m:t>
                        </m:r>
                        <m:r>
                          <a:rPr lang="en-US" altLang="ko-KR" sz="3000" b="1" i="1">
                            <a:effectLst/>
                            <a:latin typeface="Cambria Math" panose="02040503050406030204" pitchFamily="18" charset="0"/>
                            <a:ea typeface="Gulim" pitchFamily="34" charset="-127"/>
                          </a:rPr>
                          <m:t>𝒖𝒏𝒊𝒕𝒔</m:t>
                        </m:r>
                      </m:sup>
                    </m:sSup>
                    <m:r>
                      <a:rPr lang="en-US" altLang="ko-KR" sz="3000" b="1" i="1">
                        <a:effectLst/>
                        <a:latin typeface="Cambria Math" panose="02040503050406030204" pitchFamily="18" charset="0"/>
                        <a:ea typeface="Gulim" pitchFamily="34" charset="-127"/>
                      </a:rPr>
                      <m:t>=$</m:t>
                    </m:r>
                    <m:r>
                      <a:rPr lang="en-US" altLang="ko-KR" sz="3000" b="1" i="1" smtClean="0">
                        <a:effectLst/>
                        <a:latin typeface="Cambria Math" panose="02040503050406030204" pitchFamily="18" charset="0"/>
                        <a:ea typeface="Gulim" pitchFamily="34" charset="-127"/>
                      </a:rPr>
                      <m:t>𝟏𝟎𝟔</m:t>
                    </m:r>
                  </m:oMath>
                </a14:m>
                <a:r>
                  <a:rPr lang="en-US" altLang="ko-KR" sz="2000" dirty="0">
                    <a:latin typeface="Times New Roman" pitchFamily="18" charset="0"/>
                    <a:ea typeface="Gulim" pitchFamily="34" charset="-127"/>
                  </a:rPr>
                  <a:t> (EVC = DV+RV = (116-60)+50)</a:t>
                </a:r>
              </a:p>
              <a:p>
                <a:pPr>
                  <a:lnSpc>
                    <a:spcPct val="90000"/>
                  </a:lnSpc>
                  <a:spcBef>
                    <a:spcPts val="2400"/>
                  </a:spcBef>
                </a:pPr>
                <a:r>
                  <a:rPr lang="en-US" altLang="ko-KR" sz="2400" dirty="0">
                    <a:latin typeface="Times New Roman" pitchFamily="18" charset="0"/>
                    <a:ea typeface="Gulim" pitchFamily="34" charset="-127"/>
                  </a:rPr>
                  <a:t>Profits: $156 -$40 = </a:t>
                </a:r>
                <a:r>
                  <a:rPr lang="en-US" altLang="ko-KR" sz="3500" b="1" dirty="0">
                    <a:solidFill>
                      <a:srgbClr val="FF0000"/>
                    </a:solidFill>
                    <a:latin typeface="Times New Roman" pitchFamily="18" charset="0"/>
                    <a:ea typeface="Gulim" pitchFamily="34" charset="-127"/>
                  </a:rPr>
                  <a:t>$116</a:t>
                </a:r>
              </a:p>
            </p:txBody>
          </p:sp>
        </mc:Choice>
        <mc:Fallback xmlns="">
          <p:sp>
            <p:nvSpPr>
              <p:cNvPr id="19459" name="Rectangle 3"/>
              <p:cNvSpPr>
                <a:spLocks noGrp="1" noRot="1" noChangeAspect="1" noMove="1" noResize="1" noEditPoints="1" noAdjustHandles="1" noChangeArrowheads="1" noChangeShapeType="1" noTextEdit="1"/>
              </p:cNvSpPr>
              <p:nvPr>
                <p:ph sz="quarter" idx="1"/>
              </p:nvPr>
            </p:nvSpPr>
            <p:spPr>
              <a:xfrm>
                <a:off x="612648" y="1692274"/>
                <a:ext cx="7772400" cy="4827397"/>
              </a:xfrm>
              <a:blipFill>
                <a:blip r:embed="rId2"/>
                <a:stretch>
                  <a:fillRect l="-78" t="-2276" r="-1098" b="-3034"/>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16</a:t>
            </a:fld>
            <a:endParaRPr lang="en-US"/>
          </a:p>
        </p:txBody>
      </p:sp>
    </p:spTree>
    <p:extLst>
      <p:ext uri="{BB962C8B-B14F-4D97-AF65-F5344CB8AC3E}">
        <p14:creationId xmlns:p14="http://schemas.microsoft.com/office/powerpoint/2010/main" val="3749202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en-US" sz="4400" dirty="0"/>
              <a:t>Example 2:</a:t>
            </a:r>
            <a:br>
              <a:rPr lang="en-US" sz="4400" dirty="0"/>
            </a:br>
            <a:r>
              <a:rPr lang="en-US" altLang="ko-KR" sz="3600" b="1" dirty="0">
                <a:ea typeface="Batang" pitchFamily="18" charset="-127"/>
              </a:rPr>
              <a:t>Strategy 2 (b)</a:t>
            </a:r>
            <a:endParaRPr lang="en-US" sz="3600" dirty="0"/>
          </a:p>
        </p:txBody>
      </p:sp>
      <mc:AlternateContent xmlns:mc="http://schemas.openxmlformats.org/markup-compatibility/2006" xmlns:a14="http://schemas.microsoft.com/office/drawing/2010/main">
        <mc:Choice Requires="a14">
          <p:sp>
            <p:nvSpPr>
              <p:cNvPr id="19459" name="Rectangle 3"/>
              <p:cNvSpPr>
                <a:spLocks noGrp="1" noChangeArrowheads="1"/>
              </p:cNvSpPr>
              <p:nvPr>
                <p:ph sz="quarter" idx="1"/>
              </p:nvPr>
            </p:nvSpPr>
            <p:spPr>
              <a:xfrm>
                <a:off x="612647" y="1692274"/>
                <a:ext cx="8336619" cy="4827397"/>
              </a:xfrm>
            </p:spPr>
            <p:txBody>
              <a:bodyPr>
                <a:normAutofit/>
              </a:bodyPr>
              <a:lstStyle/>
              <a:p>
                <a:pPr>
                  <a:lnSpc>
                    <a:spcPct val="90000"/>
                  </a:lnSpc>
                  <a:spcBef>
                    <a:spcPts val="1200"/>
                  </a:spcBef>
                  <a:spcAft>
                    <a:spcPts val="1200"/>
                  </a:spcAft>
                </a:pPr>
                <a:r>
                  <a:rPr lang="en-US" altLang="ko-KR" sz="2400" dirty="0">
                    <a:latin typeface="Times New Roman" pitchFamily="18" charset="0"/>
                    <a:ea typeface="Gulim" pitchFamily="34" charset="-127"/>
                  </a:rPr>
                  <a:t>In practice, </a:t>
                </a:r>
                <a:r>
                  <a:rPr lang="en-US" altLang="ko-KR" dirty="0">
                    <a:latin typeface="Times New Roman" pitchFamily="18" charset="0"/>
                    <a:ea typeface="Gulim" pitchFamily="34" charset="-127"/>
                  </a:rPr>
                  <a:t>consumers may not be able to predict their quantity needs and a menu of take-it-or-leave-it </a:t>
                </a:r>
                <a:r>
                  <a:rPr lang="en-US" altLang="ko-KR" b="1" dirty="0">
                    <a:effectLst>
                      <a:outerShdw blurRad="38100" dist="38100" dir="2700000" algn="tl">
                        <a:srgbClr val="000000">
                          <a:alpha val="43137"/>
                        </a:srgbClr>
                      </a:outerShdw>
                    </a:effectLst>
                    <a:latin typeface="Times New Roman" pitchFamily="18" charset="0"/>
                    <a:ea typeface="Gulim" pitchFamily="34" charset="-127"/>
                  </a:rPr>
                  <a:t>commodity bundles</a:t>
                </a:r>
                <a:r>
                  <a:rPr lang="en-US" altLang="ko-KR" dirty="0">
                    <a:effectLst>
                      <a:outerShdw blurRad="38100" dist="38100" dir="2700000" algn="tl">
                        <a:srgbClr val="000000">
                          <a:alpha val="43137"/>
                        </a:srgbClr>
                      </a:outerShdw>
                    </a:effectLst>
                    <a:latin typeface="Times New Roman" pitchFamily="18" charset="0"/>
                    <a:ea typeface="Gulim" pitchFamily="34" charset="-127"/>
                  </a:rPr>
                  <a:t> </a:t>
                </a:r>
                <a:r>
                  <a:rPr lang="en-US" altLang="ko-KR" dirty="0">
                    <a:latin typeface="Times New Roman" pitchFamily="18" charset="0"/>
                    <a:ea typeface="Gulim" pitchFamily="34" charset="-127"/>
                  </a:rPr>
                  <a:t>may be undesirable</a:t>
                </a:r>
              </a:p>
              <a:p>
                <a:pPr>
                  <a:lnSpc>
                    <a:spcPct val="90000"/>
                  </a:lnSpc>
                  <a:spcBef>
                    <a:spcPts val="1200"/>
                  </a:spcBef>
                  <a:spcAft>
                    <a:spcPts val="1200"/>
                  </a:spcAft>
                </a:pPr>
                <a:r>
                  <a:rPr lang="en-US" dirty="0">
                    <a:latin typeface="Times New Roman" pitchFamily="18" charset="0"/>
                    <a:ea typeface="Gulim" pitchFamily="34" charset="-127"/>
                  </a:rPr>
                  <a:t>As an </a:t>
                </a:r>
                <a:r>
                  <a:rPr lang="en-US" u="sng" dirty="0">
                    <a:latin typeface="Times New Roman" pitchFamily="18" charset="0"/>
                    <a:ea typeface="Gulim" pitchFamily="34" charset="-127"/>
                  </a:rPr>
                  <a:t>exercise</a:t>
                </a:r>
                <a:r>
                  <a:rPr lang="en-US" dirty="0">
                    <a:latin typeface="Times New Roman" pitchFamily="18" charset="0"/>
                    <a:ea typeface="Gulim" pitchFamily="34" charset="-127"/>
                  </a:rPr>
                  <a:t> see if you can convince yourself that the following menu of </a:t>
                </a:r>
                <a:r>
                  <a:rPr lang="en-US" b="1" dirty="0">
                    <a:effectLst>
                      <a:outerShdw blurRad="38100" dist="38100" dir="2700000" algn="tl">
                        <a:srgbClr val="000000">
                          <a:alpha val="43137"/>
                        </a:srgbClr>
                      </a:outerShdw>
                    </a:effectLst>
                    <a:latin typeface="Times New Roman" pitchFamily="18" charset="0"/>
                    <a:ea typeface="Gulim" pitchFamily="34" charset="-127"/>
                  </a:rPr>
                  <a:t>two-part tariffs</a:t>
                </a:r>
                <a:r>
                  <a:rPr lang="en-US" dirty="0">
                    <a:latin typeface="Times New Roman" pitchFamily="18" charset="0"/>
                    <a:ea typeface="Gulim" pitchFamily="34" charset="-127"/>
                  </a:rPr>
                  <a:t> can also work:</a:t>
                </a:r>
              </a:p>
              <a:p>
                <a:pPr marL="0" indent="0">
                  <a:lnSpc>
                    <a:spcPct val="90000"/>
                  </a:lnSpc>
                  <a:spcBef>
                    <a:spcPts val="1200"/>
                  </a:spcBef>
                  <a:spcAft>
                    <a:spcPts val="1200"/>
                  </a:spcAft>
                  <a:buNone/>
                </a:pPr>
                <a14:m>
                  <m:oMathPara xmlns:m="http://schemas.openxmlformats.org/officeDocument/2006/math">
                    <m:oMathParaPr>
                      <m:jc m:val="centerGroup"/>
                    </m:oMathParaPr>
                    <m:oMath xmlns:m="http://schemas.openxmlformats.org/officeDocument/2006/math">
                      <m:sSub>
                        <m:sSubPr>
                          <m:ctrlPr>
                            <a:rPr lang="en-US" sz="2400" b="0" i="1" smtClean="0">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𝑇</m:t>
                          </m:r>
                        </m:e>
                        <m:sub>
                          <m:r>
                            <a:rPr lang="en-US" sz="2400" b="0" i="1" smtClean="0">
                              <a:solidFill>
                                <a:srgbClr val="7030A0"/>
                              </a:solidFill>
                              <a:latin typeface="Cambria Math" panose="02040503050406030204" pitchFamily="18" charset="0"/>
                            </a:rPr>
                            <m:t>1</m:t>
                          </m:r>
                        </m:sub>
                      </m:sSub>
                      <m:d>
                        <m:dPr>
                          <m:ctrlPr>
                            <a:rPr lang="en-US" sz="2400" b="0" i="1" smtClean="0">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𝑄</m:t>
                          </m:r>
                        </m:e>
                      </m:d>
                      <m:r>
                        <a:rPr lang="en-US" sz="2400" b="0" i="1" smtClean="0">
                          <a:solidFill>
                            <a:srgbClr val="7030A0"/>
                          </a:solidFill>
                          <a:latin typeface="Cambria Math" panose="02040503050406030204" pitchFamily="18" charset="0"/>
                        </a:rPr>
                        <m:t>=</m:t>
                      </m:r>
                      <m:r>
                        <a:rPr lang="en-US" sz="2400" b="0" i="1" smtClean="0">
                          <a:solidFill>
                            <a:srgbClr val="FF0000"/>
                          </a:solidFill>
                          <a:latin typeface="Cambria Math" panose="02040503050406030204" pitchFamily="18" charset="0"/>
                        </a:rPr>
                        <m:t>$10</m:t>
                      </m:r>
                      <m:r>
                        <a:rPr lang="en-US" sz="2400" b="0" i="1" smtClean="0">
                          <a:solidFill>
                            <a:srgbClr val="7030A0"/>
                          </a:solidFill>
                          <a:latin typeface="Cambria Math" panose="02040503050406030204" pitchFamily="18" charset="0"/>
                        </a:rPr>
                        <m:t>+</m:t>
                      </m:r>
                      <m:r>
                        <a:rPr lang="en-US" sz="2400" b="0" i="1" smtClean="0">
                          <a:solidFill>
                            <a:srgbClr val="FF0000"/>
                          </a:solidFill>
                          <a:latin typeface="Cambria Math" panose="02040503050406030204" pitchFamily="18" charset="0"/>
                        </a:rPr>
                        <m:t>$20</m:t>
                      </m:r>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𝑄</m:t>
                      </m:r>
                    </m:oMath>
                  </m:oMathPara>
                </a14:m>
                <a:endParaRPr lang="en-US" sz="2400" b="0" dirty="0">
                  <a:solidFill>
                    <a:srgbClr val="7030A0"/>
                  </a:solidFill>
                </a:endParaRPr>
              </a:p>
              <a:p>
                <a:pPr marL="0" indent="0" algn="ctr">
                  <a:lnSpc>
                    <a:spcPct val="90000"/>
                  </a:lnSpc>
                  <a:spcBef>
                    <a:spcPts val="1200"/>
                  </a:spcBef>
                  <a:spcAft>
                    <a:spcPts val="1200"/>
                  </a:spcAft>
                  <a:buNone/>
                </a:pPr>
                <a:r>
                  <a:rPr lang="en-US" sz="2400" dirty="0"/>
                  <a:t>or</a:t>
                </a:r>
              </a:p>
              <a:p>
                <a:pPr marL="0" indent="0" algn="ctr">
                  <a:lnSpc>
                    <a:spcPct val="90000"/>
                  </a:lnSpc>
                  <a:spcBef>
                    <a:spcPts val="1200"/>
                  </a:spcBef>
                  <a:spcAft>
                    <a:spcPts val="1200"/>
                  </a:spcAft>
                  <a:buNone/>
                </a:pPr>
                <a14:m>
                  <m:oMathPara xmlns:m="http://schemas.openxmlformats.org/officeDocument/2006/math">
                    <m:oMathParaPr>
                      <m:jc m:val="centerGroup"/>
                    </m:oMathParaPr>
                    <m:oMath xmlns:m="http://schemas.openxmlformats.org/officeDocument/2006/math">
                      <m:sSub>
                        <m:sSubPr>
                          <m:ctrlPr>
                            <a:rPr lang="en-US"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𝑇</m:t>
                          </m:r>
                        </m:e>
                        <m:sub>
                          <m:r>
                            <a:rPr lang="en-US" b="0" i="1" smtClean="0">
                              <a:solidFill>
                                <a:srgbClr val="7030A0"/>
                              </a:solidFill>
                              <a:latin typeface="Cambria Math" panose="02040503050406030204" pitchFamily="18" charset="0"/>
                            </a:rPr>
                            <m:t>2</m:t>
                          </m:r>
                        </m:sub>
                      </m:sSub>
                      <m:d>
                        <m:dPr>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𝑄</m:t>
                          </m:r>
                        </m:e>
                      </m:d>
                      <m:r>
                        <a:rPr lang="en-US" i="1">
                          <a:solidFill>
                            <a:srgbClr val="7030A0"/>
                          </a:solidFill>
                          <a:latin typeface="Cambria Math" panose="02040503050406030204" pitchFamily="18" charset="0"/>
                        </a:rPr>
                        <m:t>=</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76</m:t>
                      </m:r>
                      <m:r>
                        <a:rPr lang="en-US" i="1">
                          <a:solidFill>
                            <a:srgbClr val="7030A0"/>
                          </a:solidFill>
                          <a:latin typeface="Cambria Math" panose="02040503050406030204" pitchFamily="18" charset="0"/>
                        </a:rPr>
                        <m:t>+</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5</m:t>
                      </m:r>
                      <m:r>
                        <a:rPr lang="en-US" b="0" i="1" smtClean="0">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𝑄</m:t>
                      </m:r>
                    </m:oMath>
                  </m:oMathPara>
                </a14:m>
                <a:endParaRPr lang="en-US" dirty="0">
                  <a:solidFill>
                    <a:srgbClr val="7030A0"/>
                  </a:solidFill>
                </a:endParaRPr>
              </a:p>
              <a:p>
                <a:pPr marL="0" indent="0">
                  <a:lnSpc>
                    <a:spcPct val="90000"/>
                  </a:lnSpc>
                  <a:spcBef>
                    <a:spcPts val="1200"/>
                  </a:spcBef>
                  <a:spcAft>
                    <a:spcPts val="1200"/>
                  </a:spcAft>
                  <a:buNone/>
                </a:pPr>
                <a:r>
                  <a:rPr lang="en-US" dirty="0"/>
                  <a:t>More common pricing structure in services (e.g., voice/data/cloud)</a:t>
                </a:r>
              </a:p>
            </p:txBody>
          </p:sp>
        </mc:Choice>
        <mc:Fallback xmlns="">
          <p:sp>
            <p:nvSpPr>
              <p:cNvPr id="19459" name="Rectangle 3"/>
              <p:cNvSpPr>
                <a:spLocks noGrp="1" noRot="1" noChangeAspect="1" noMove="1" noResize="1" noEditPoints="1" noAdjustHandles="1" noChangeArrowheads="1" noChangeShapeType="1" noTextEdit="1"/>
              </p:cNvSpPr>
              <p:nvPr>
                <p:ph sz="quarter" idx="1"/>
              </p:nvPr>
            </p:nvSpPr>
            <p:spPr>
              <a:xfrm>
                <a:off x="612647" y="1692274"/>
                <a:ext cx="8336619" cy="4827397"/>
              </a:xfrm>
              <a:blipFill>
                <a:blip r:embed="rId2"/>
                <a:stretch>
                  <a:fillRect l="-1096" t="-1770" r="-439"/>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17</a:t>
            </a:fld>
            <a:endParaRPr lang="en-US"/>
          </a:p>
        </p:txBody>
      </p:sp>
    </p:spTree>
    <p:extLst>
      <p:ext uri="{BB962C8B-B14F-4D97-AF65-F5344CB8AC3E}">
        <p14:creationId xmlns:p14="http://schemas.microsoft.com/office/powerpoint/2010/main" val="3481847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Two uses of NL pricing to capture value</a:t>
            </a:r>
          </a:p>
        </p:txBody>
      </p:sp>
      <p:sp>
        <p:nvSpPr>
          <p:cNvPr id="3" name="Content Placeholder 2"/>
          <p:cNvSpPr>
            <a:spLocks noGrp="1"/>
          </p:cNvSpPr>
          <p:nvPr>
            <p:ph sz="quarter" idx="1"/>
          </p:nvPr>
        </p:nvSpPr>
        <p:spPr/>
        <p:txBody>
          <a:bodyPr/>
          <a:lstStyle/>
          <a:p>
            <a:endParaRPr lang="en-US" dirty="0"/>
          </a:p>
          <a:p>
            <a:r>
              <a:rPr lang="en-US" dirty="0"/>
              <a:t>Our examples illustrated:</a:t>
            </a:r>
          </a:p>
          <a:p>
            <a:pPr marL="320675" lvl="1" indent="0">
              <a:spcBef>
                <a:spcPts val="1200"/>
              </a:spcBef>
              <a:spcAft>
                <a:spcPts val="1200"/>
              </a:spcAft>
              <a:buNone/>
            </a:pPr>
            <a:r>
              <a:rPr lang="en-US" dirty="0"/>
              <a:t>  With 1 customer, non-linear pricing “discriminates” across each unit sold</a:t>
            </a:r>
          </a:p>
          <a:p>
            <a:pPr marL="320675" lvl="1" indent="0">
              <a:spcBef>
                <a:spcPts val="1200"/>
              </a:spcBef>
              <a:spcAft>
                <a:spcPts val="1200"/>
              </a:spcAft>
              <a:buNone/>
            </a:pPr>
            <a:r>
              <a:rPr lang="en-US" dirty="0"/>
              <a:t>  With multiple customers, a menu of non-linear prices “discriminates” </a:t>
            </a:r>
            <a:r>
              <a:rPr lang="en-US" b="1" dirty="0"/>
              <a:t>between</a:t>
            </a:r>
            <a:r>
              <a:rPr lang="en-US" dirty="0"/>
              <a:t> customers (segmentation)</a:t>
            </a:r>
          </a:p>
          <a:p>
            <a:pPr marL="342900" indent="-342900">
              <a:spcBef>
                <a:spcPts val="1200"/>
              </a:spcBef>
              <a:spcAft>
                <a:spcPts val="1200"/>
              </a:spcAft>
            </a:pPr>
            <a:r>
              <a:rPr lang="en-US" dirty="0"/>
              <a:t>Note: multiple non-linear pricing structures with same profit</a:t>
            </a:r>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18</a:t>
            </a:fld>
            <a:endParaRPr lang="en-US"/>
          </a:p>
        </p:txBody>
      </p:sp>
      <p:sp>
        <p:nvSpPr>
          <p:cNvPr id="5" name="Text Placeholder 3"/>
          <p:cNvSpPr txBox="1">
            <a:spLocks/>
          </p:cNvSpPr>
          <p:nvPr/>
        </p:nvSpPr>
        <p:spPr>
          <a:xfrm>
            <a:off x="702227" y="2636352"/>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
        <p:nvSpPr>
          <p:cNvPr id="6" name="Text Placeholder 2"/>
          <p:cNvSpPr txBox="1">
            <a:spLocks/>
          </p:cNvSpPr>
          <p:nvPr/>
        </p:nvSpPr>
        <p:spPr>
          <a:xfrm>
            <a:off x="702227" y="3646408"/>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3456679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fortunedotcom.files.wordpress.com/2015/07/costco-1280x720.jpg?w=840&amp;h=485&amp;cro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8275864" cy="4696052"/>
          </a:xfrm>
          <a:prstGeom prst="rect">
            <a:avLst/>
          </a:prstGeom>
          <a:noFill/>
          <a:extLst>
            <a:ext uri="{909E8E84-426E-40DD-AFC4-6F175D3DCCD1}">
              <a14:hiddenFill xmlns:a14="http://schemas.microsoft.com/office/drawing/2010/main">
                <a:solidFill>
                  <a:srgbClr val="FFFFFF"/>
                </a:solidFill>
              </a14:hiddenFill>
            </a:ext>
          </a:extLst>
        </p:spPr>
      </p:pic>
      <p:sp>
        <p:nvSpPr>
          <p:cNvPr id="28674" name="Rectangle 2"/>
          <p:cNvSpPr>
            <a:spLocks noGrp="1" noChangeArrowheads="1"/>
          </p:cNvSpPr>
          <p:nvPr>
            <p:ph type="title"/>
          </p:nvPr>
        </p:nvSpPr>
        <p:spPr>
          <a:xfrm>
            <a:off x="612775" y="228600"/>
            <a:ext cx="8153400" cy="990600"/>
          </a:xfrm>
        </p:spPr>
        <p:txBody>
          <a:bodyPr>
            <a:normAutofit fontScale="90000"/>
          </a:bodyPr>
          <a:lstStyle/>
          <a:p>
            <a:r>
              <a:rPr lang="en-US" sz="4400" dirty="0"/>
              <a:t>Menus of non-linear pricing in practice</a:t>
            </a:r>
            <a:br>
              <a:rPr lang="en-US" sz="4400" dirty="0"/>
            </a:br>
            <a:r>
              <a:rPr lang="en-US" sz="3600" dirty="0"/>
              <a:t>Example: Costco</a:t>
            </a:r>
          </a:p>
        </p:txBody>
      </p:sp>
      <p:sp>
        <p:nvSpPr>
          <p:cNvPr id="17411" name="Rectangle 3"/>
          <p:cNvSpPr>
            <a:spLocks noGrp="1" noChangeArrowheads="1"/>
          </p:cNvSpPr>
          <p:nvPr>
            <p:ph sz="quarter" idx="1"/>
          </p:nvPr>
        </p:nvSpPr>
        <p:spPr>
          <a:xfrm>
            <a:off x="612775" y="1600199"/>
            <a:ext cx="8153400" cy="5227048"/>
          </a:xfrm>
        </p:spPr>
        <p:txBody>
          <a:bodyPr>
            <a:normAutofit lnSpcReduction="10000"/>
          </a:bodyPr>
          <a:lstStyle/>
          <a:p>
            <a:pPr>
              <a:spcAft>
                <a:spcPts val="600"/>
              </a:spcAft>
              <a:defRPr/>
            </a:pPr>
            <a:r>
              <a:rPr lang="en-US" dirty="0">
                <a:solidFill>
                  <a:srgbClr val="FFFF00"/>
                </a:solidFill>
              </a:rPr>
              <a:t>Costco offers a menu of </a:t>
            </a:r>
            <a:r>
              <a:rPr lang="en-US" u="sng" dirty="0">
                <a:solidFill>
                  <a:srgbClr val="FFFF00"/>
                </a:solidFill>
              </a:rPr>
              <a:t>2-part tariff</a:t>
            </a:r>
            <a:r>
              <a:rPr lang="en-US" dirty="0">
                <a:solidFill>
                  <a:srgbClr val="FFFF00"/>
                </a:solidFill>
              </a:rPr>
              <a:t> style memberships</a:t>
            </a:r>
            <a:endParaRPr lang="en-US" u="sng" dirty="0">
              <a:solidFill>
                <a:srgbClr val="FFFF00"/>
              </a:solidFill>
            </a:endParaRPr>
          </a:p>
          <a:p>
            <a:pPr lvl="1">
              <a:spcAft>
                <a:spcPts val="600"/>
              </a:spcAft>
              <a:defRPr/>
            </a:pPr>
            <a:r>
              <a:rPr lang="en-US" dirty="0">
                <a:solidFill>
                  <a:srgbClr val="FFFF00"/>
                </a:solidFill>
              </a:rPr>
              <a:t>Executive Membership: $110/</a:t>
            </a:r>
            <a:r>
              <a:rPr lang="en-US" dirty="0" err="1">
                <a:solidFill>
                  <a:srgbClr val="FFFF00"/>
                </a:solidFill>
              </a:rPr>
              <a:t>yr</a:t>
            </a:r>
            <a:r>
              <a:rPr lang="en-US" dirty="0">
                <a:solidFill>
                  <a:srgbClr val="FFFF00"/>
                </a:solidFill>
              </a:rPr>
              <a:t> + 2% Reward</a:t>
            </a:r>
          </a:p>
          <a:p>
            <a:pPr lvl="1">
              <a:spcAft>
                <a:spcPts val="600"/>
              </a:spcAft>
              <a:defRPr/>
            </a:pPr>
            <a:r>
              <a:rPr lang="en-US" dirty="0">
                <a:solidFill>
                  <a:srgbClr val="FFFF00"/>
                </a:solidFill>
              </a:rPr>
              <a:t>Gold Star Membership: $55/</a:t>
            </a:r>
            <a:r>
              <a:rPr lang="en-US" dirty="0" err="1">
                <a:solidFill>
                  <a:srgbClr val="FFFF00"/>
                </a:solidFill>
              </a:rPr>
              <a:t>yr</a:t>
            </a:r>
            <a:endParaRPr lang="en-US" dirty="0">
              <a:solidFill>
                <a:srgbClr val="FFFF00"/>
              </a:solidFill>
            </a:endParaRPr>
          </a:p>
          <a:p>
            <a:pPr marL="0" indent="0">
              <a:spcAft>
                <a:spcPts val="600"/>
              </a:spcAft>
              <a:buNone/>
              <a:defRPr/>
            </a:pPr>
            <a:r>
              <a:rPr lang="en-US" sz="1900" i="1" dirty="0">
                <a:solidFill>
                  <a:srgbClr val="FFFF00"/>
                </a:solidFill>
              </a:rPr>
              <a:t>“When others were raising their chicken prices from $4.99 to $5.99, we were willing to eat, if you will, $30 to $40 million a year in gross margin by keeping it at $4.99”</a:t>
            </a:r>
          </a:p>
          <a:p>
            <a:pPr marL="0" indent="0" algn="r">
              <a:spcAft>
                <a:spcPts val="600"/>
              </a:spcAft>
              <a:buNone/>
              <a:defRPr/>
            </a:pPr>
            <a:r>
              <a:rPr lang="en-US" sz="1500" i="1" dirty="0">
                <a:solidFill>
                  <a:srgbClr val="FFFF00"/>
                </a:solidFill>
              </a:rPr>
              <a:t>Richard </a:t>
            </a:r>
            <a:r>
              <a:rPr lang="en-US" sz="1500" i="1" dirty="0" err="1">
                <a:solidFill>
                  <a:srgbClr val="FFFF00"/>
                </a:solidFill>
              </a:rPr>
              <a:t>Galanti</a:t>
            </a:r>
            <a:r>
              <a:rPr lang="en-US" sz="1500" i="1" dirty="0">
                <a:solidFill>
                  <a:srgbClr val="FFFF00"/>
                </a:solidFill>
              </a:rPr>
              <a:t>, CFO, Costco</a:t>
            </a:r>
          </a:p>
          <a:p>
            <a:pPr lvl="2">
              <a:spcAft>
                <a:spcPts val="600"/>
              </a:spcAft>
              <a:buFont typeface="Wingdings" panose="05000000000000000000" pitchFamily="2" charset="2"/>
              <a:buChar char="Ø"/>
              <a:defRPr/>
            </a:pPr>
            <a:r>
              <a:rPr lang="en-US" b="1" dirty="0">
                <a:solidFill>
                  <a:srgbClr val="00B050"/>
                </a:solidFill>
              </a:rPr>
              <a:t>Sold </a:t>
            </a:r>
            <a:r>
              <a:rPr lang="en-US" b="1" dirty="0">
                <a:solidFill>
                  <a:srgbClr val="00B050"/>
                </a:solidFill>
                <a:hlinkClick r:id="rId4"/>
              </a:rPr>
              <a:t>137</a:t>
            </a:r>
            <a:r>
              <a:rPr lang="en-US" b="1" dirty="0">
                <a:solidFill>
                  <a:srgbClr val="00B050"/>
                </a:solidFill>
              </a:rPr>
              <a:t> million chickens in 2023</a:t>
            </a:r>
            <a:endParaRPr lang="en-US" b="1" dirty="0">
              <a:solidFill>
                <a:srgbClr val="FFFF00"/>
              </a:solidFill>
            </a:endParaRPr>
          </a:p>
          <a:p>
            <a:pPr>
              <a:spcAft>
                <a:spcPts val="600"/>
              </a:spcAft>
              <a:defRPr/>
            </a:pPr>
            <a:r>
              <a:rPr lang="en-US" b="1" dirty="0">
                <a:solidFill>
                  <a:srgbClr val="FFFF00"/>
                </a:solidFill>
              </a:rPr>
              <a:t>Subscriber fees</a:t>
            </a:r>
            <a:r>
              <a:rPr lang="en-US" dirty="0">
                <a:solidFill>
                  <a:srgbClr val="FFFF00"/>
                </a:solidFill>
              </a:rPr>
              <a:t>: </a:t>
            </a:r>
            <a:r>
              <a:rPr lang="en-US" dirty="0">
                <a:solidFill>
                  <a:srgbClr val="FFFF00"/>
                </a:solidFill>
                <a:hlinkClick r:id="rId5"/>
              </a:rPr>
              <a:t>73%</a:t>
            </a:r>
            <a:r>
              <a:rPr lang="en-US" dirty="0">
                <a:solidFill>
                  <a:srgbClr val="FFFF00"/>
                </a:solidFill>
              </a:rPr>
              <a:t> of 2024 gross profit (</a:t>
            </a:r>
            <a:r>
              <a:rPr lang="en-US" b="1" dirty="0">
                <a:solidFill>
                  <a:srgbClr val="FFFF00"/>
                </a:solidFill>
                <a:hlinkClick r:id="rId6"/>
              </a:rPr>
              <a:t>$4.8 Billion</a:t>
            </a:r>
            <a:r>
              <a:rPr lang="en-US" b="1" dirty="0">
                <a:solidFill>
                  <a:srgbClr val="FFFF00"/>
                </a:solidFill>
              </a:rPr>
              <a:t>!</a:t>
            </a:r>
            <a:r>
              <a:rPr lang="en-US" dirty="0">
                <a:solidFill>
                  <a:srgbClr val="FFFF00"/>
                </a:solidFill>
              </a:rPr>
              <a:t>) </a:t>
            </a:r>
          </a:p>
          <a:p>
            <a:pPr>
              <a:spcAft>
                <a:spcPts val="600"/>
              </a:spcAft>
              <a:defRPr/>
            </a:pPr>
            <a:r>
              <a:rPr lang="en-US" b="1" dirty="0">
                <a:solidFill>
                  <a:srgbClr val="FFFF00"/>
                </a:solidFill>
              </a:rPr>
              <a:t>Membership</a:t>
            </a:r>
            <a:r>
              <a:rPr lang="en-US" dirty="0">
                <a:solidFill>
                  <a:srgbClr val="FFFF00"/>
                </a:solidFill>
              </a:rPr>
              <a:t>: </a:t>
            </a:r>
            <a:r>
              <a:rPr lang="en-US" dirty="0">
                <a:solidFill>
                  <a:srgbClr val="FFFF00"/>
                </a:solidFill>
                <a:hlinkClick r:id="rId7"/>
              </a:rPr>
              <a:t>137 million</a:t>
            </a:r>
            <a:r>
              <a:rPr lang="en-US" dirty="0">
                <a:solidFill>
                  <a:srgbClr val="FFFF00"/>
                </a:solidFill>
              </a:rPr>
              <a:t> worldwide (2024)</a:t>
            </a:r>
          </a:p>
          <a:p>
            <a:pPr>
              <a:spcAft>
                <a:spcPts val="1800"/>
              </a:spcAft>
              <a:defRPr/>
            </a:pPr>
            <a:r>
              <a:rPr lang="en-US" b="1" dirty="0">
                <a:solidFill>
                  <a:srgbClr val="FFFF00"/>
                </a:solidFill>
              </a:rPr>
              <a:t>Retention rate</a:t>
            </a:r>
            <a:r>
              <a:rPr lang="en-US" dirty="0">
                <a:solidFill>
                  <a:srgbClr val="FFFF00"/>
                </a:solidFill>
              </a:rPr>
              <a:t>: </a:t>
            </a:r>
            <a:r>
              <a:rPr lang="en-US" dirty="0">
                <a:solidFill>
                  <a:srgbClr val="FFFF00"/>
                </a:solidFill>
                <a:hlinkClick r:id="rId7"/>
              </a:rPr>
              <a:t>93% </a:t>
            </a:r>
            <a:r>
              <a:rPr lang="en-US" dirty="0">
                <a:solidFill>
                  <a:srgbClr val="FFFF00"/>
                </a:solidFill>
              </a:rPr>
              <a:t>(2024)</a:t>
            </a:r>
          </a:p>
          <a:p>
            <a:pPr marL="0" indent="0" algn="ctr">
              <a:spcAft>
                <a:spcPts val="600"/>
              </a:spcAft>
              <a:buNone/>
              <a:defRPr/>
            </a:pPr>
            <a:r>
              <a:rPr lang="en-US" sz="3200" dirty="0">
                <a:solidFill>
                  <a:srgbClr val="FF0000"/>
                </a:solidFill>
              </a:rPr>
              <a:t>“Retailer” versus “Club”?</a:t>
            </a:r>
            <a:endParaRPr lang="en-US" dirty="0">
              <a:solidFill>
                <a:srgbClr val="FF0000"/>
              </a:solidFill>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1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fortunedotcom.files.wordpress.com/2015/07/costco-1280x720.jpg?w=840&amp;h=485&amp;cro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8275864" cy="4696052"/>
          </a:xfrm>
          <a:prstGeom prst="rect">
            <a:avLst/>
          </a:prstGeom>
          <a:noFill/>
          <a:extLst>
            <a:ext uri="{909E8E84-426E-40DD-AFC4-6F175D3DCCD1}">
              <a14:hiddenFill xmlns:a14="http://schemas.microsoft.com/office/drawing/2010/main">
                <a:solidFill>
                  <a:srgbClr val="FFFFFF"/>
                </a:solidFill>
              </a14:hiddenFill>
            </a:ext>
          </a:extLst>
        </p:spPr>
      </p:pic>
      <p:sp>
        <p:nvSpPr>
          <p:cNvPr id="28674" name="Rectangle 2"/>
          <p:cNvSpPr>
            <a:spLocks noGrp="1" noChangeArrowheads="1"/>
          </p:cNvSpPr>
          <p:nvPr>
            <p:ph type="title"/>
          </p:nvPr>
        </p:nvSpPr>
        <p:spPr>
          <a:xfrm>
            <a:off x="612775" y="228600"/>
            <a:ext cx="8153400" cy="990600"/>
          </a:xfrm>
        </p:spPr>
        <p:txBody>
          <a:bodyPr>
            <a:normAutofit fontScale="90000"/>
          </a:bodyPr>
          <a:lstStyle/>
          <a:p>
            <a:r>
              <a:rPr lang="en-US" sz="4400" dirty="0"/>
              <a:t>Menus of non-linear pricing in practice</a:t>
            </a:r>
            <a:br>
              <a:rPr lang="en-US" sz="4400" dirty="0"/>
            </a:br>
            <a:r>
              <a:rPr lang="en-US" sz="3600" dirty="0"/>
              <a:t>Example: Costco</a:t>
            </a:r>
          </a:p>
        </p:txBody>
      </p:sp>
      <p:sp>
        <p:nvSpPr>
          <p:cNvPr id="17411" name="Rectangle 3"/>
          <p:cNvSpPr>
            <a:spLocks noGrp="1" noChangeArrowheads="1"/>
          </p:cNvSpPr>
          <p:nvPr>
            <p:ph sz="quarter" idx="1"/>
          </p:nvPr>
        </p:nvSpPr>
        <p:spPr>
          <a:xfrm>
            <a:off x="612775" y="1600199"/>
            <a:ext cx="8153400" cy="5227048"/>
          </a:xfrm>
        </p:spPr>
        <p:txBody>
          <a:bodyPr>
            <a:normAutofit lnSpcReduction="10000"/>
          </a:bodyPr>
          <a:lstStyle/>
          <a:p>
            <a:pPr>
              <a:spcAft>
                <a:spcPts val="0"/>
              </a:spcAft>
              <a:defRPr/>
            </a:pPr>
            <a:r>
              <a:rPr lang="en-US" dirty="0">
                <a:solidFill>
                  <a:srgbClr val="FFFF00"/>
                </a:solidFill>
              </a:rPr>
              <a:t>How Costco sustains $4.99 price in 2022, under inflation? </a:t>
            </a:r>
          </a:p>
          <a:p>
            <a:pPr marL="0" indent="0">
              <a:spcBef>
                <a:spcPts val="0"/>
              </a:spcBef>
              <a:spcAft>
                <a:spcPts val="600"/>
              </a:spcAft>
              <a:buNone/>
              <a:defRPr/>
            </a:pPr>
            <a:r>
              <a:rPr lang="en-US" dirty="0">
                <a:solidFill>
                  <a:srgbClr val="FFFF00"/>
                </a:solidFill>
              </a:rPr>
              <a:t>	(i.e., no cost pass-through yet)</a:t>
            </a:r>
          </a:p>
          <a:p>
            <a:pPr lvl="1">
              <a:spcAft>
                <a:spcPts val="600"/>
              </a:spcAft>
              <a:defRPr/>
            </a:pPr>
            <a:r>
              <a:rPr lang="en-US" dirty="0">
                <a:solidFill>
                  <a:srgbClr val="FFFF00"/>
                </a:solidFill>
              </a:rPr>
              <a:t>Most retailers now charger $6-$10</a:t>
            </a:r>
          </a:p>
          <a:p>
            <a:pPr>
              <a:spcAft>
                <a:spcPts val="600"/>
              </a:spcAft>
              <a:defRPr/>
            </a:pPr>
            <a:endParaRPr lang="en-US" dirty="0">
              <a:solidFill>
                <a:srgbClr val="FFFF00"/>
              </a:solidFill>
            </a:endParaRPr>
          </a:p>
          <a:p>
            <a:pPr>
              <a:spcAft>
                <a:spcPts val="600"/>
              </a:spcAft>
              <a:defRPr/>
            </a:pPr>
            <a:r>
              <a:rPr lang="en-US" dirty="0">
                <a:solidFill>
                  <a:srgbClr val="FFFF00"/>
                </a:solidFill>
              </a:rPr>
              <a:t>Vertical integration:</a:t>
            </a:r>
          </a:p>
          <a:p>
            <a:pPr>
              <a:spcAft>
                <a:spcPts val="600"/>
              </a:spcAft>
              <a:defRPr/>
            </a:pPr>
            <a:endParaRPr lang="en-US" dirty="0">
              <a:solidFill>
                <a:srgbClr val="FFFF00"/>
              </a:solidFill>
            </a:endParaRPr>
          </a:p>
          <a:p>
            <a:pPr>
              <a:spcAft>
                <a:spcPts val="600"/>
              </a:spcAft>
              <a:defRPr/>
            </a:pPr>
            <a:endParaRPr lang="en-US" dirty="0">
              <a:solidFill>
                <a:srgbClr val="FFFF00"/>
              </a:solidFill>
            </a:endParaRPr>
          </a:p>
          <a:p>
            <a:pPr>
              <a:spcAft>
                <a:spcPts val="600"/>
              </a:spcAft>
              <a:defRPr/>
            </a:pPr>
            <a:endParaRPr lang="en-US" dirty="0">
              <a:solidFill>
                <a:srgbClr val="FFFF00"/>
              </a:solidFill>
            </a:endParaRPr>
          </a:p>
          <a:p>
            <a:pPr lvl="1">
              <a:spcAft>
                <a:spcPts val="600"/>
              </a:spcAft>
              <a:defRPr/>
            </a:pPr>
            <a:r>
              <a:rPr lang="en-US" dirty="0">
                <a:solidFill>
                  <a:srgbClr val="FFFF00"/>
                </a:solidFill>
              </a:rPr>
              <a:t>Raises several ethical concerns on humane sourcing of food</a:t>
            </a:r>
          </a:p>
          <a:p>
            <a:pPr>
              <a:spcAft>
                <a:spcPts val="600"/>
              </a:spcAft>
              <a:defRPr/>
            </a:pPr>
            <a:endParaRPr lang="en-US" sz="1600" dirty="0"/>
          </a:p>
          <a:p>
            <a:pPr>
              <a:spcBef>
                <a:spcPts val="1800"/>
              </a:spcBef>
              <a:spcAft>
                <a:spcPts val="600"/>
              </a:spcAft>
              <a:defRPr/>
            </a:pPr>
            <a:r>
              <a:rPr lang="en-US" sz="1600" dirty="0"/>
              <a:t>See appendix on Costco’s low inflation cost pass-through</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20</a:t>
            </a:fld>
            <a:endParaRPr lang="en-US"/>
          </a:p>
        </p:txBody>
      </p:sp>
      <p:sp>
        <p:nvSpPr>
          <p:cNvPr id="3" name="Rectangle 2"/>
          <p:cNvSpPr/>
          <p:nvPr/>
        </p:nvSpPr>
        <p:spPr>
          <a:xfrm>
            <a:off x="713822" y="3908470"/>
            <a:ext cx="7951305" cy="92433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spcAft>
                <a:spcPts val="600"/>
              </a:spcAft>
              <a:buNone/>
              <a:defRPr/>
            </a:pPr>
            <a:r>
              <a:rPr lang="en-US" dirty="0">
                <a:solidFill>
                  <a:srgbClr val="FFFF00"/>
                </a:solidFill>
              </a:rPr>
              <a:t>“</a:t>
            </a:r>
            <a:r>
              <a:rPr lang="en-US" b="1" dirty="0">
                <a:solidFill>
                  <a:srgbClr val="FFFF00"/>
                </a:solidFill>
                <a:latin typeface="Times New Roman" panose="02020603050405020304" pitchFamily="18" charset="0"/>
                <a:cs typeface="Times New Roman" panose="02020603050405020304" pitchFamily="18" charset="0"/>
                <a:hlinkClick r:id="rId4"/>
              </a:rPr>
              <a:t>Costco’s inflation-proof $4.99 rotisserie chicken, explained</a:t>
            </a:r>
          </a:p>
          <a:p>
            <a:pPr marL="0" indent="0" algn="r">
              <a:spcAft>
                <a:spcPts val="600"/>
              </a:spcAft>
              <a:buNone/>
              <a:defRPr/>
            </a:pPr>
            <a:r>
              <a:rPr lang="en-US" sz="1600" b="1" dirty="0">
                <a:solidFill>
                  <a:srgbClr val="00B0F0"/>
                </a:solidFill>
                <a:latin typeface="Times New Roman" panose="02020603050405020304" pitchFamily="18" charset="0"/>
                <a:cs typeface="Times New Roman" panose="02020603050405020304" pitchFamily="18" charset="0"/>
              </a:rPr>
              <a:t>Vox, July 18, 2022</a:t>
            </a:r>
            <a:endParaRPr lang="en-US" sz="1600" dirty="0">
              <a:solidFill>
                <a:srgbClr val="FF0000"/>
              </a:solidFill>
            </a:endParaRPr>
          </a:p>
        </p:txBody>
      </p:sp>
    </p:spTree>
    <p:extLst>
      <p:ext uri="{BB962C8B-B14F-4D97-AF65-F5344CB8AC3E}">
        <p14:creationId xmlns:p14="http://schemas.microsoft.com/office/powerpoint/2010/main" val="191222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Two-Part Tariff with information goods</a:t>
            </a:r>
            <a:br>
              <a:rPr lang="en-US" sz="4400" dirty="0"/>
            </a:br>
            <a:r>
              <a:rPr lang="en-US" sz="3600" b="1" dirty="0">
                <a:effectLst>
                  <a:outerShdw blurRad="38100" dist="38100" dir="2700000" algn="tl">
                    <a:srgbClr val="000000">
                      <a:alpha val="43137"/>
                    </a:srgbClr>
                  </a:outerShdw>
                </a:effectLst>
              </a:rPr>
              <a:t>Subscriptions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sz="quarter" idx="1"/>
          </p:nvPr>
        </p:nvSpPr>
        <p:spPr/>
        <p:txBody>
          <a:bodyPr/>
          <a:lstStyle/>
          <a:p>
            <a:r>
              <a:rPr lang="en-US" dirty="0"/>
              <a:t>If </a:t>
            </a:r>
            <a:r>
              <a:rPr lang="en-US" b="1" dirty="0">
                <a:effectLst>
                  <a:outerShdw blurRad="38100" dist="38100" dir="2700000" algn="tl">
                    <a:srgbClr val="000000">
                      <a:alpha val="43137"/>
                    </a:srgbClr>
                  </a:outerShdw>
                </a:effectLst>
              </a:rPr>
              <a:t>marginal cost = $0</a:t>
            </a:r>
            <a:r>
              <a:rPr lang="en-US" dirty="0"/>
              <a:t>, a two-part tariff is a subscription!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21</a:t>
            </a:fld>
            <a:endParaRPr lang="en-US"/>
          </a:p>
        </p:txBody>
      </p:sp>
      <p:pic>
        <p:nvPicPr>
          <p:cNvPr id="9" name="Picture 8" descr="image"/>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5223933" y="2386047"/>
            <a:ext cx="3602372" cy="3639504"/>
          </a:xfrm>
          <a:prstGeom prst="rect">
            <a:avLst/>
          </a:prstGeom>
          <a:noFill/>
          <a:ln>
            <a:noFill/>
          </a:ln>
        </p:spPr>
      </p:pic>
      <p:pic>
        <p:nvPicPr>
          <p:cNvPr id="10" name="Picture 9"/>
          <p:cNvPicPr>
            <a:picLocks noChangeAspect="1"/>
          </p:cNvPicPr>
          <p:nvPr/>
        </p:nvPicPr>
        <p:blipFill>
          <a:blip r:embed="rId4"/>
          <a:stretch>
            <a:fillRect/>
          </a:stretch>
        </p:blipFill>
        <p:spPr>
          <a:xfrm>
            <a:off x="552391" y="2410595"/>
            <a:ext cx="3553942" cy="3530547"/>
          </a:xfrm>
          <a:prstGeom prst="rect">
            <a:avLst/>
          </a:prstGeom>
        </p:spPr>
      </p:pic>
      <p:sp>
        <p:nvSpPr>
          <p:cNvPr id="5" name="TextBox 4">
            <a:extLst>
              <a:ext uri="{FF2B5EF4-FFF2-40B4-BE49-F238E27FC236}">
                <a16:creationId xmlns:a16="http://schemas.microsoft.com/office/drawing/2014/main" id="{E19E8EC6-1005-38A1-9C8F-3D4254E1C4A2}"/>
              </a:ext>
            </a:extLst>
          </p:cNvPr>
          <p:cNvSpPr txBox="1"/>
          <p:nvPr/>
        </p:nvSpPr>
        <p:spPr>
          <a:xfrm>
            <a:off x="2998381" y="758902"/>
            <a:ext cx="5390707" cy="584775"/>
          </a:xfrm>
          <a:prstGeom prst="rect">
            <a:avLst/>
          </a:prstGeom>
          <a:noFill/>
        </p:spPr>
        <p:txBody>
          <a:bodyPr wrap="square" rtlCol="0">
            <a:spAutoFit/>
          </a:bodyPr>
          <a:lstStyle/>
          <a:p>
            <a:r>
              <a:rPr lang="en-US" sz="1600" dirty="0">
                <a:solidFill>
                  <a:srgbClr val="FF0000"/>
                </a:solidFill>
              </a:rPr>
              <a:t>11 July 2025; Increasingly, many digital business moved towards subscription</a:t>
            </a:r>
          </a:p>
        </p:txBody>
      </p:sp>
    </p:spTree>
    <p:extLst>
      <p:ext uri="{BB962C8B-B14F-4D97-AF65-F5344CB8AC3E}">
        <p14:creationId xmlns:p14="http://schemas.microsoft.com/office/powerpoint/2010/main" val="311987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But why the proliferation of subscriptions</a:t>
            </a:r>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22</a:t>
            </a:fld>
            <a:endParaRPr lang="en-US"/>
          </a:p>
        </p:txBody>
      </p:sp>
      <p:sp>
        <p:nvSpPr>
          <p:cNvPr id="8" name="Text Placeholder 2"/>
          <p:cNvSpPr txBox="1">
            <a:spLocks/>
          </p:cNvSpPr>
          <p:nvPr/>
        </p:nvSpPr>
        <p:spPr bwMode="auto">
          <a:xfrm>
            <a:off x="2276848" y="1715895"/>
            <a:ext cx="4092842" cy="257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fontAlgn="base">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lgn="ctr">
              <a:buNone/>
            </a:pPr>
            <a:r>
              <a:rPr lang="en-US" dirty="0">
                <a:latin typeface="Times New Roman" panose="02020603050405020304" pitchFamily="18" charset="0"/>
                <a:cs typeface="Times New Roman" panose="02020603050405020304" pitchFamily="18" charset="0"/>
              </a:rPr>
              <a:t>Everything’s becoming a subscription, and the pandemic is partly to blame</a:t>
            </a:r>
          </a:p>
          <a:p>
            <a:pPr marL="0" indent="0">
              <a:buNone/>
            </a:pPr>
            <a:r>
              <a:rPr lang="en-US" sz="1200" dirty="0"/>
              <a:t>Delivery services, socks, razors, gyms, streaming services, and even restaurants and car washes. Some Americans are now signed up for 10 or more. It’s bringing convenience — and a lot of monthly fees.</a:t>
            </a:r>
          </a:p>
          <a:p>
            <a:pPr marL="0" indent="0" algn="r">
              <a:buNone/>
            </a:pPr>
            <a:r>
              <a:rPr lang="en-US" sz="1000" dirty="0">
                <a:hlinkClick r:id="rId2"/>
              </a:rPr>
              <a:t>By Heather Long &amp; Andrew Van Dam, </a:t>
            </a:r>
            <a:r>
              <a:rPr lang="en-US" sz="1000" i="1" dirty="0">
                <a:hlinkClick r:id="rId2"/>
              </a:rPr>
              <a:t>Washington Post</a:t>
            </a:r>
            <a:r>
              <a:rPr lang="en-US" sz="1000" dirty="0">
                <a:hlinkClick r:id="rId2"/>
              </a:rPr>
              <a:t>, June 1, 2021</a:t>
            </a:r>
            <a:endParaRPr lang="en-US" sz="1000" dirty="0"/>
          </a:p>
          <a:p>
            <a:pPr marL="0" indent="0">
              <a:buNone/>
            </a:pPr>
            <a:endParaRPr lang="en-US" sz="1000" dirty="0"/>
          </a:p>
          <a:p>
            <a:pPr marL="0" indent="0">
              <a:buNone/>
            </a:pPr>
            <a:endParaRPr lang="en-US" sz="1000" dirty="0"/>
          </a:p>
        </p:txBody>
      </p:sp>
      <p:sp>
        <p:nvSpPr>
          <p:cNvPr id="10" name="Rounded Rectangular Callout 9"/>
          <p:cNvSpPr/>
          <p:nvPr/>
        </p:nvSpPr>
        <p:spPr>
          <a:xfrm>
            <a:off x="2213588" y="4102583"/>
            <a:ext cx="4219362" cy="1736643"/>
          </a:xfrm>
          <a:prstGeom prst="wedgeRoundRectCallout">
            <a:avLst>
              <a:gd name="adj1" fmla="val -44147"/>
              <a:gd name="adj2" fmla="val 100481"/>
              <a:gd name="adj3" fmla="val 16667"/>
            </a:avLst>
          </a:prstGeom>
          <a:solidFill>
            <a:srgbClr val="FFFFFF"/>
          </a:solidFill>
          <a:ln w="50800" cap="flat">
            <a:solidFill>
              <a:schemeClr val="accent1"/>
            </a:solidFill>
            <a:prstDash val="solid"/>
            <a:round/>
          </a:ln>
          <a:effectLst>
            <a:outerShdw blurRad="76200" dist="38100" rotWithShape="0">
              <a:srgbClr val="000000">
                <a:alpha val="4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r>
              <a:rPr lang="en-US" sz="1800" dirty="0"/>
              <a:t>“The UBS financial services firm predicts that this ‘</a:t>
            </a:r>
            <a:r>
              <a:rPr lang="en-US" sz="1800" dirty="0">
                <a:solidFill>
                  <a:srgbClr val="FF0000"/>
                </a:solidFill>
                <a:effectLst>
                  <a:outerShdw blurRad="38100" dist="38100" dir="2700000" algn="tl">
                    <a:srgbClr val="000000">
                      <a:alpha val="43137"/>
                    </a:srgbClr>
                  </a:outerShdw>
                </a:effectLst>
              </a:rPr>
              <a:t>subscription economy</a:t>
            </a:r>
            <a:r>
              <a:rPr lang="en-US" sz="1800" dirty="0"/>
              <a:t>’ will grow to $1.5 trillion by 2025, more than double the $650 billion it’s estimated to be worth now.”</a:t>
            </a:r>
          </a:p>
        </p:txBody>
      </p:sp>
    </p:spTree>
    <p:extLst>
      <p:ext uri="{BB962C8B-B14F-4D97-AF65-F5344CB8AC3E}">
        <p14:creationId xmlns:p14="http://schemas.microsoft.com/office/powerpoint/2010/main" val="1895871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990600"/>
          </a:xfrm>
        </p:spPr>
        <p:txBody>
          <a:bodyPr>
            <a:normAutofit fontScale="90000"/>
          </a:bodyPr>
          <a:lstStyle/>
          <a:p>
            <a:r>
              <a:rPr lang="en-US" dirty="0"/>
              <a:t>Flat-Rate Bias and Consumer Psychology</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23</a:t>
            </a:fld>
            <a:endParaRPr lang="en-US"/>
          </a:p>
        </p:txBody>
      </p:sp>
      <p:sp>
        <p:nvSpPr>
          <p:cNvPr id="5" name="Wave 4"/>
          <p:cNvSpPr/>
          <p:nvPr/>
        </p:nvSpPr>
        <p:spPr>
          <a:xfrm>
            <a:off x="2135534" y="1567782"/>
            <a:ext cx="3104461" cy="2014788"/>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“New Year’s Resolutions. I WILL [...] go to the gym three times a week not merely to buy sandwich.” </a:t>
            </a:r>
          </a:p>
          <a:p>
            <a:pPr algn="r"/>
            <a:r>
              <a:rPr lang="en-US" sz="1600" dirty="0">
                <a:solidFill>
                  <a:srgbClr val="FFFF00"/>
                </a:solidFill>
              </a:rPr>
              <a:t>- Bridget</a:t>
            </a:r>
            <a:r>
              <a:rPr lang="en-US" sz="1600" dirty="0"/>
              <a:t> </a:t>
            </a:r>
            <a:r>
              <a:rPr lang="en-US" sz="1600" dirty="0">
                <a:solidFill>
                  <a:srgbClr val="FFFF00"/>
                </a:solidFill>
              </a:rPr>
              <a:t>Jones’s Diary: A Novel</a:t>
            </a:r>
          </a:p>
        </p:txBody>
      </p:sp>
      <p:sp>
        <p:nvSpPr>
          <p:cNvPr id="6" name="Wave 5"/>
          <p:cNvSpPr/>
          <p:nvPr/>
        </p:nvSpPr>
        <p:spPr>
          <a:xfrm>
            <a:off x="5018183" y="3443792"/>
            <a:ext cx="3095740" cy="194694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“Monday 28 April. [...] no. of gym visits so far this year 1, cost of gym membership per year £370.” </a:t>
            </a:r>
          </a:p>
          <a:p>
            <a:pPr algn="r"/>
            <a:r>
              <a:rPr lang="en-US" sz="1600" dirty="0">
                <a:solidFill>
                  <a:srgbClr val="FFFF00"/>
                </a:solidFill>
              </a:rPr>
              <a:t>- Bridget Jones: The Edge of Reason</a:t>
            </a:r>
          </a:p>
        </p:txBody>
      </p:sp>
      <p:sp>
        <p:nvSpPr>
          <p:cNvPr id="3" name="TextBox 2"/>
          <p:cNvSpPr txBox="1"/>
          <p:nvPr/>
        </p:nvSpPr>
        <p:spPr>
          <a:xfrm>
            <a:off x="661535" y="5390732"/>
            <a:ext cx="7284216" cy="1523494"/>
          </a:xfrm>
          <a:prstGeom prst="rect">
            <a:avLst/>
          </a:prstGeom>
          <a:noFill/>
        </p:spPr>
        <p:txBody>
          <a:bodyPr wrap="square" rtlCol="0">
            <a:spAutoFit/>
          </a:bodyPr>
          <a:lstStyle/>
          <a:p>
            <a:r>
              <a:rPr lang="en-US" dirty="0"/>
              <a:t>A study of 7,500 gym members showed </a:t>
            </a:r>
          </a:p>
          <a:p>
            <a:pPr marL="342900" indent="-342900">
              <a:buFont typeface="Arial" panose="020B0604020202020204" pitchFamily="34" charset="0"/>
              <a:buChar char="•"/>
            </a:pPr>
            <a:r>
              <a:rPr lang="en-US" dirty="0"/>
              <a:t>majority chose monthly fee instead of per-visit</a:t>
            </a:r>
          </a:p>
          <a:p>
            <a:pPr marL="342900" indent="-342900">
              <a:spcAft>
                <a:spcPts val="1200"/>
              </a:spcAft>
              <a:buFont typeface="Arial" panose="020B0604020202020204" pitchFamily="34" charset="0"/>
              <a:buChar char="•"/>
            </a:pPr>
            <a:r>
              <a:rPr lang="en-US" dirty="0"/>
              <a:t>over-paid by over 70%</a:t>
            </a:r>
          </a:p>
          <a:p>
            <a:r>
              <a:rPr lang="en-US" sz="1100" dirty="0"/>
              <a:t>Source: </a:t>
            </a:r>
            <a:r>
              <a:rPr lang="en-US" sz="1100" dirty="0">
                <a:hlinkClick r:id="rId2"/>
              </a:rPr>
              <a:t>DellaVigna and </a:t>
            </a:r>
            <a:r>
              <a:rPr lang="en-US" sz="1100" dirty="0" err="1">
                <a:hlinkClick r:id="rId2"/>
              </a:rPr>
              <a:t>Malmendier</a:t>
            </a:r>
            <a:r>
              <a:rPr lang="en-US" sz="1100" dirty="0">
                <a:hlinkClick r:id="rId2"/>
              </a:rPr>
              <a:t> (2006)</a:t>
            </a:r>
            <a:endParaRPr lang="en-US" sz="1100" dirty="0"/>
          </a:p>
        </p:txBody>
      </p:sp>
      <p:pic>
        <p:nvPicPr>
          <p:cNvPr id="2050" name="Picture 2" descr="Image result for bridget jones gym membership"/>
          <p:cNvPicPr>
            <a:picLocks noChangeAspect="1" noChangeArrowheads="1"/>
          </p:cNvPicPr>
          <p:nvPr/>
        </p:nvPicPr>
        <p:blipFill rotWithShape="1">
          <a:blip r:embed="rId3">
            <a:extLst>
              <a:ext uri="{28A0092B-C50C-407E-A947-70E740481C1C}">
                <a14:useLocalDpi xmlns:a14="http://schemas.microsoft.com/office/drawing/2010/main" val="0"/>
              </a:ext>
            </a:extLst>
          </a:blip>
          <a:srcRect l="7090" r="8187"/>
          <a:stretch/>
        </p:blipFill>
        <p:spPr bwMode="auto">
          <a:xfrm>
            <a:off x="5928369" y="1632946"/>
            <a:ext cx="2837806" cy="16747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rot="20683970">
            <a:off x="1267321" y="3740286"/>
            <a:ext cx="2412840" cy="1200329"/>
          </a:xfrm>
          <a:prstGeom prst="rect">
            <a:avLst/>
          </a:prstGeom>
          <a:noFill/>
        </p:spPr>
        <p:txBody>
          <a:bodyPr wrap="none" rtlCol="0">
            <a:spAutoFit/>
          </a:bodyPr>
          <a:lstStyle/>
          <a:p>
            <a:pPr algn="ctr"/>
            <a:r>
              <a:rPr lang="en-US" dirty="0">
                <a:latin typeface="Bahnschrift SemiBold" panose="020B0502040204020203" pitchFamily="34" charset="0"/>
              </a:rPr>
              <a:t>All-you-can-eat</a:t>
            </a:r>
          </a:p>
          <a:p>
            <a:pPr algn="ctr"/>
            <a:r>
              <a:rPr lang="en-US" dirty="0">
                <a:latin typeface="Bahnschrift SemiBold" panose="020B0502040204020203" pitchFamily="34" charset="0"/>
              </a:rPr>
              <a:t>vs</a:t>
            </a:r>
          </a:p>
          <a:p>
            <a:pPr algn="ctr"/>
            <a:r>
              <a:rPr lang="en-US" dirty="0">
                <a:latin typeface="Bahnschrift SemiBold" panose="020B0502040204020203" pitchFamily="34" charset="0"/>
              </a:rPr>
              <a:t>Pay-as-you-go</a:t>
            </a:r>
          </a:p>
        </p:txBody>
      </p:sp>
    </p:spTree>
    <p:extLst>
      <p:ext uri="{BB962C8B-B14F-4D97-AF65-F5344CB8AC3E}">
        <p14:creationId xmlns:p14="http://schemas.microsoft.com/office/powerpoint/2010/main" val="312682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20687" y="1810371"/>
            <a:ext cx="8537575" cy="1161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90000"/>
              </a:lnSpc>
              <a:spcAft>
                <a:spcPts val="1200"/>
              </a:spcAft>
              <a:buNone/>
              <a:defRPr/>
            </a:pPr>
            <a:r>
              <a:rPr lang="en-US" sz="2800" b="1" dirty="0">
                <a:effectLst>
                  <a:outerShdw blurRad="38100" dist="38100" dir="2700000" algn="tl">
                    <a:srgbClr val="000000">
                      <a:alpha val="43137"/>
                    </a:srgbClr>
                  </a:outerShdw>
                </a:effectLst>
              </a:rPr>
              <a:t>flat rate bias</a:t>
            </a:r>
            <a:r>
              <a:rPr lang="en-US" dirty="0"/>
              <a:t> – customers have a </a:t>
            </a:r>
            <a:r>
              <a:rPr lang="en-US" i="1" dirty="0">
                <a:latin typeface="Times New Roman" panose="02020603050405020304" pitchFamily="18" charset="0"/>
                <a:cs typeface="Times New Roman" panose="02020603050405020304" pitchFamily="18" charset="0"/>
              </a:rPr>
              <a:t>preference</a:t>
            </a:r>
            <a:r>
              <a:rPr lang="en-US" dirty="0"/>
              <a:t> for a subscription (i.e., </a:t>
            </a:r>
            <a:r>
              <a:rPr lang="en-US" i="1" dirty="0"/>
              <a:t>all-you-can-eat</a:t>
            </a:r>
            <a:r>
              <a:rPr lang="en-US" dirty="0"/>
              <a:t>).  </a:t>
            </a:r>
          </a:p>
          <a:p>
            <a:pPr marL="0" indent="0">
              <a:lnSpc>
                <a:spcPct val="90000"/>
              </a:lnSpc>
              <a:spcAft>
                <a:spcPts val="1200"/>
              </a:spcAft>
              <a:buNone/>
              <a:defRPr/>
            </a:pPr>
            <a:r>
              <a:rPr lang="en-US" sz="2000" dirty="0"/>
              <a:t>i.e., prefer to pay flat fee that costs more than metered service</a:t>
            </a:r>
          </a:p>
        </p:txBody>
      </p:sp>
      <p:sp>
        <p:nvSpPr>
          <p:cNvPr id="33794" name="Rectangle 2"/>
          <p:cNvSpPr>
            <a:spLocks noGrp="1" noChangeArrowheads="1"/>
          </p:cNvSpPr>
          <p:nvPr>
            <p:ph type="title"/>
          </p:nvPr>
        </p:nvSpPr>
        <p:spPr>
          <a:xfrm>
            <a:off x="612775" y="228600"/>
            <a:ext cx="8153400" cy="990600"/>
          </a:xfrm>
        </p:spPr>
        <p:txBody>
          <a:bodyPr>
            <a:normAutofit/>
          </a:bodyPr>
          <a:lstStyle/>
          <a:p>
            <a:r>
              <a:rPr lang="en-US" dirty="0"/>
              <a:t>Flat-Rate Bias &amp; Consumer Psychology</a:t>
            </a:r>
          </a:p>
        </p:txBody>
      </p:sp>
      <p:sp>
        <p:nvSpPr>
          <p:cNvPr id="22531" name="Rectangle 3"/>
          <p:cNvSpPr>
            <a:spLocks noGrp="1" noChangeArrowheads="1"/>
          </p:cNvSpPr>
          <p:nvPr>
            <p:ph sz="quarter" idx="1"/>
          </p:nvPr>
        </p:nvSpPr>
        <p:spPr>
          <a:xfrm>
            <a:off x="612775" y="3240157"/>
            <a:ext cx="3163738" cy="3165406"/>
          </a:xfrm>
        </p:spPr>
        <p:txBody>
          <a:bodyPr>
            <a:normAutofit/>
          </a:bodyPr>
          <a:lstStyle/>
          <a:p>
            <a:pPr marL="0" indent="0" algn="ctr">
              <a:lnSpc>
                <a:spcPct val="90000"/>
              </a:lnSpc>
              <a:spcAft>
                <a:spcPts val="600"/>
              </a:spcAft>
              <a:buNone/>
              <a:defRPr/>
            </a:pPr>
            <a:r>
              <a:rPr lang="en-US" b="1" dirty="0"/>
              <a:t>Motivational Reasons</a:t>
            </a:r>
          </a:p>
          <a:p>
            <a:pPr>
              <a:lnSpc>
                <a:spcPct val="90000"/>
              </a:lnSpc>
              <a:spcAft>
                <a:spcPts val="600"/>
              </a:spcAft>
              <a:defRPr/>
            </a:pPr>
            <a:r>
              <a:rPr lang="en-US" dirty="0"/>
              <a:t>Pre-commitment</a:t>
            </a:r>
          </a:p>
          <a:p>
            <a:pPr>
              <a:lnSpc>
                <a:spcPct val="90000"/>
              </a:lnSpc>
              <a:spcAft>
                <a:spcPts val="1200"/>
              </a:spcAft>
              <a:defRPr/>
            </a:pPr>
            <a:r>
              <a:rPr lang="en-US" dirty="0"/>
              <a:t>Risk aversion</a:t>
            </a: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24</a:t>
            </a:fld>
            <a:endParaRPr lang="en-US"/>
          </a:p>
        </p:txBody>
      </p:sp>
      <p:pic>
        <p:nvPicPr>
          <p:cNvPr id="1026" name="Picture 2" descr="Audit Advantage: Motivation, the Force Withi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4819" y="5101177"/>
            <a:ext cx="2130377" cy="119301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txBox="1">
            <a:spLocks noChangeArrowheads="1"/>
          </p:cNvSpPr>
          <p:nvPr/>
        </p:nvSpPr>
        <p:spPr bwMode="auto">
          <a:xfrm>
            <a:off x="4582693" y="3207353"/>
            <a:ext cx="4700722" cy="316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fontAlgn="base">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lgn="ctr">
              <a:lnSpc>
                <a:spcPct val="90000"/>
              </a:lnSpc>
              <a:spcAft>
                <a:spcPts val="600"/>
              </a:spcAft>
              <a:buNone/>
              <a:defRPr/>
            </a:pPr>
            <a:r>
              <a:rPr lang="en-US" b="1" dirty="0"/>
              <a:t>Cognitive Reasons</a:t>
            </a:r>
          </a:p>
          <a:p>
            <a:pPr>
              <a:lnSpc>
                <a:spcPct val="90000"/>
              </a:lnSpc>
              <a:spcAft>
                <a:spcPts val="600"/>
              </a:spcAft>
              <a:defRPr/>
            </a:pPr>
            <a:r>
              <a:rPr lang="en-US" dirty="0"/>
              <a:t>Framing problem</a:t>
            </a:r>
          </a:p>
          <a:p>
            <a:pPr>
              <a:lnSpc>
                <a:spcPct val="90000"/>
              </a:lnSpc>
              <a:defRPr/>
            </a:pPr>
            <a:r>
              <a:rPr lang="en-US" dirty="0"/>
              <a:t>Difficulty estimating probabilities</a:t>
            </a:r>
          </a:p>
          <a:p>
            <a:pPr>
              <a:lnSpc>
                <a:spcPct val="90000"/>
              </a:lnSpc>
              <a:defRPr/>
            </a:pPr>
            <a:r>
              <a:rPr lang="en-US" dirty="0"/>
              <a:t>Usage uncertainty/inattention</a:t>
            </a:r>
          </a:p>
        </p:txBody>
      </p:sp>
      <p:pic>
        <p:nvPicPr>
          <p:cNvPr id="1028" name="Picture 4" descr="Preventing Cognitive Impairment in Children with Epilepsy - Contemporary  Advances in Epileps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842" r="21469"/>
          <a:stretch/>
        </p:blipFill>
        <p:spPr bwMode="auto">
          <a:xfrm>
            <a:off x="6408196" y="5101177"/>
            <a:ext cx="996575" cy="1193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667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7" y="228600"/>
            <a:ext cx="8401323" cy="990600"/>
          </a:xfrm>
        </p:spPr>
        <p:txBody>
          <a:bodyPr>
            <a:normAutofit fontScale="90000"/>
          </a:bodyPr>
          <a:lstStyle/>
          <a:p>
            <a:r>
              <a:rPr lang="en-US" sz="4400" dirty="0"/>
              <a:t>Flat-Rate Bias as double-edged sword</a:t>
            </a:r>
            <a:br>
              <a:rPr lang="en-US" sz="4400" dirty="0"/>
            </a:br>
            <a:r>
              <a:rPr lang="en-US" sz="3600" dirty="0"/>
              <a:t>MoviePass</a:t>
            </a:r>
          </a:p>
        </p:txBody>
      </p:sp>
      <p:sp>
        <p:nvSpPr>
          <p:cNvPr id="4" name="Slide Number Placeholder 3"/>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25</a:t>
            </a:fld>
            <a:endParaRPr lang="en-US"/>
          </a:p>
        </p:txBody>
      </p:sp>
      <p:pic>
        <p:nvPicPr>
          <p:cNvPr id="5" name="Picture 2" descr="http://static01.nyt.com/images/2014/12/16/business/Moviepass/Moviepass-superJumbo.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7626" y="1650645"/>
            <a:ext cx="1838553" cy="238767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a:spLocks noGrp="1"/>
          </p:cNvSpPr>
          <p:nvPr>
            <p:ph sz="quarter" idx="1"/>
          </p:nvPr>
        </p:nvSpPr>
        <p:spPr>
          <a:xfrm>
            <a:off x="109384" y="4397000"/>
            <a:ext cx="4264152" cy="794431"/>
          </a:xfrm>
        </p:spPr>
        <p:txBody>
          <a:bodyPr>
            <a:normAutofit fontScale="77500" lnSpcReduction="20000"/>
          </a:bodyPr>
          <a:lstStyle/>
          <a:p>
            <a:r>
              <a:rPr lang="en-US" sz="2200" dirty="0"/>
              <a:t>$9.95/month </a:t>
            </a:r>
            <a:r>
              <a:rPr lang="en-US" sz="2200" b="1" dirty="0"/>
              <a:t>unlimited</a:t>
            </a:r>
            <a:r>
              <a:rPr lang="en-US" sz="2200" dirty="0"/>
              <a:t> movies (8/2017)</a:t>
            </a:r>
          </a:p>
          <a:p>
            <a:r>
              <a:rPr lang="en-US" sz="2200" dirty="0"/>
              <a:t>2 million subscribers by 1/2018</a:t>
            </a:r>
          </a:p>
        </p:txBody>
      </p:sp>
      <p:pic>
        <p:nvPicPr>
          <p:cNvPr id="8" name="Picture 2" descr="Image result for tombsto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22" y="5584722"/>
            <a:ext cx="736271" cy="73627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rotWithShape="1">
          <a:blip r:embed="rId4"/>
          <a:srcRect l="11655" t="41301" r="39070" b="27050"/>
          <a:stretch/>
        </p:blipFill>
        <p:spPr>
          <a:xfrm>
            <a:off x="1256711" y="5191431"/>
            <a:ext cx="3116825" cy="1616226"/>
          </a:xfrm>
          <a:prstGeom prst="rect">
            <a:avLst/>
          </a:prstGeom>
        </p:spPr>
      </p:pic>
      <p:pic>
        <p:nvPicPr>
          <p:cNvPr id="10" name="Content Placeholder 4"/>
          <p:cNvPicPr>
            <a:picLocks noChangeAspect="1"/>
          </p:cNvPicPr>
          <p:nvPr/>
        </p:nvPicPr>
        <p:blipFill rotWithShape="1">
          <a:blip r:embed="rId5"/>
          <a:srcRect l="24332" t="22532" r="36996" b="54253"/>
          <a:stretch/>
        </p:blipFill>
        <p:spPr bwMode="auto">
          <a:xfrm>
            <a:off x="4900300" y="1767183"/>
            <a:ext cx="3574616" cy="1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4851899" y="3302177"/>
            <a:ext cx="4253681" cy="174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sz="2000" dirty="0"/>
              <a:t>$19.95/month (6/2018)</a:t>
            </a:r>
          </a:p>
          <a:p>
            <a:r>
              <a:rPr lang="en-US" sz="2000" dirty="0"/>
              <a:t>Commodity bundle: 3 per week</a:t>
            </a:r>
          </a:p>
          <a:p>
            <a:r>
              <a:rPr lang="en-US" sz="2000" dirty="0"/>
              <a:t>800,000 subscribers by 5-2019</a:t>
            </a:r>
          </a:p>
          <a:p>
            <a:r>
              <a:rPr lang="en-US" sz="2000" dirty="0"/>
              <a:t>#1 service in US in 2019</a:t>
            </a:r>
          </a:p>
        </p:txBody>
      </p:sp>
      <p:sp>
        <p:nvSpPr>
          <p:cNvPr id="3" name="Rounded Rectangle 2"/>
          <p:cNvSpPr/>
          <p:nvPr/>
        </p:nvSpPr>
        <p:spPr>
          <a:xfrm rot="20970082">
            <a:off x="5096857" y="5115461"/>
            <a:ext cx="3612495" cy="12055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t>“</a:t>
            </a:r>
            <a:r>
              <a:rPr lang="en-US" sz="1200" b="1" dirty="0" err="1"/>
              <a:t>MoviePass</a:t>
            </a:r>
            <a:r>
              <a:rPr lang="en-US" sz="1200" b="1" dirty="0"/>
              <a:t> Is Coming Back This Summer—But Will Things Be Different This Time Around?”</a:t>
            </a:r>
          </a:p>
          <a:p>
            <a:pPr algn="r"/>
            <a:r>
              <a:rPr lang="en-US" sz="1050" b="1" dirty="0"/>
              <a:t>Marisa </a:t>
            </a:r>
            <a:r>
              <a:rPr lang="en-US" sz="1050" b="1" dirty="0" err="1"/>
              <a:t>Dellatto</a:t>
            </a:r>
            <a:r>
              <a:rPr lang="en-US" sz="1050" b="1" dirty="0"/>
              <a:t>, </a:t>
            </a:r>
            <a:r>
              <a:rPr lang="en-US" sz="1050" b="1" i="1" dirty="0"/>
              <a:t>Forbes</a:t>
            </a:r>
            <a:r>
              <a:rPr lang="en-US" sz="1050" b="1" dirty="0"/>
              <a:t>, 2-10-2022</a:t>
            </a:r>
          </a:p>
          <a:p>
            <a:pPr marL="171450" indent="-171450">
              <a:buFont typeface="Arial" panose="020B0604020202020204" pitchFamily="34" charset="0"/>
              <a:buChar char="•"/>
            </a:pPr>
            <a:endParaRPr lang="en-US" sz="1050" b="1" i="1" dirty="0"/>
          </a:p>
          <a:p>
            <a:pPr marL="171450" indent="-171450">
              <a:buFont typeface="Arial" panose="020B0604020202020204" pitchFamily="34" charset="0"/>
              <a:buChar char="•"/>
            </a:pPr>
            <a:r>
              <a:rPr lang="en-US" sz="1050" b="1" i="1" dirty="0"/>
              <a:t>Credit system using </a:t>
            </a:r>
            <a:r>
              <a:rPr lang="en-US" sz="1050" b="1" i="1" dirty="0" err="1"/>
              <a:t>blockchain</a:t>
            </a:r>
            <a:endParaRPr lang="en-US" sz="1050" b="1" i="1" dirty="0"/>
          </a:p>
        </p:txBody>
      </p:sp>
    </p:spTree>
    <p:extLst>
      <p:ext uri="{BB962C8B-B14F-4D97-AF65-F5344CB8AC3E}">
        <p14:creationId xmlns:p14="http://schemas.microsoft.com/office/powerpoint/2010/main" val="222455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Marketing for Good?</a:t>
            </a:r>
            <a:br>
              <a:rPr lang="en-US" dirty="0"/>
            </a:br>
            <a:r>
              <a:rPr lang="en-US" sz="3600" dirty="0"/>
              <a:t>Subscriptions &amp; </a:t>
            </a:r>
            <a:r>
              <a:rPr lang="en-US" sz="3600" b="1" dirty="0">
                <a:solidFill>
                  <a:srgbClr val="FF0000"/>
                </a:solidFill>
                <a:effectLst>
                  <a:outerShdw blurRad="38100" dist="38100" dir="2700000" algn="tl">
                    <a:srgbClr val="000000">
                      <a:alpha val="43137"/>
                    </a:srgbClr>
                  </a:outerShdw>
                </a:effectLst>
              </a:rPr>
              <a:t>consumer inattention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26</a:t>
            </a:fld>
            <a:endParaRPr lang="en-US"/>
          </a:p>
        </p:txBody>
      </p:sp>
      <p:pic>
        <p:nvPicPr>
          <p:cNvPr id="7" name="Picture 6"/>
          <p:cNvPicPr>
            <a:picLocks noChangeAspect="1"/>
          </p:cNvPicPr>
          <p:nvPr/>
        </p:nvPicPr>
        <p:blipFill>
          <a:blip r:embed="rId2"/>
          <a:stretch>
            <a:fillRect/>
          </a:stretch>
        </p:blipFill>
        <p:spPr>
          <a:xfrm>
            <a:off x="262881" y="1599953"/>
            <a:ext cx="4207519" cy="3549360"/>
          </a:xfrm>
          <a:prstGeom prst="rect">
            <a:avLst/>
          </a:prstGeom>
        </p:spPr>
      </p:pic>
      <p:pic>
        <p:nvPicPr>
          <p:cNvPr id="11" name="Picture 10"/>
          <p:cNvPicPr>
            <a:picLocks noChangeAspect="1"/>
          </p:cNvPicPr>
          <p:nvPr/>
        </p:nvPicPr>
        <p:blipFill rotWithShape="1">
          <a:blip r:embed="rId3"/>
          <a:srcRect b="10904"/>
          <a:stretch/>
        </p:blipFill>
        <p:spPr>
          <a:xfrm>
            <a:off x="5511801" y="1574280"/>
            <a:ext cx="3498826" cy="4734665"/>
          </a:xfrm>
          <a:prstGeom prst="rect">
            <a:avLst/>
          </a:prstGeom>
        </p:spPr>
      </p:pic>
      <p:sp>
        <p:nvSpPr>
          <p:cNvPr id="12" name="Text Placeholder 2"/>
          <p:cNvSpPr txBox="1">
            <a:spLocks/>
          </p:cNvSpPr>
          <p:nvPr/>
        </p:nvSpPr>
        <p:spPr bwMode="auto">
          <a:xfrm>
            <a:off x="570703" y="6477822"/>
            <a:ext cx="2331920" cy="46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19088" indent="-319088" algn="l" rtl="0" fontAlgn="base">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None/>
            </a:pPr>
            <a:r>
              <a:rPr lang="en-US" sz="1400" dirty="0">
                <a:hlinkClick r:id="rId4"/>
              </a:rPr>
              <a:t>Source: C+R Research</a:t>
            </a:r>
            <a:endParaRPr lang="en-US" sz="1400" dirty="0"/>
          </a:p>
        </p:txBody>
      </p:sp>
      <p:sp>
        <p:nvSpPr>
          <p:cNvPr id="13" name="Right Brace 12"/>
          <p:cNvSpPr/>
          <p:nvPr/>
        </p:nvSpPr>
        <p:spPr>
          <a:xfrm>
            <a:off x="3388019" y="3796649"/>
            <a:ext cx="290553" cy="1080256"/>
          </a:xfrm>
          <a:prstGeom prst="rightBrace">
            <a:avLst/>
          </a:prstGeom>
          <a:noFill/>
          <a:ln w="508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4" name="TextBox 13"/>
          <p:cNvSpPr txBox="1"/>
          <p:nvPr/>
        </p:nvSpPr>
        <p:spPr>
          <a:xfrm>
            <a:off x="3738122" y="4036366"/>
            <a:ext cx="1605665" cy="83099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Arial"/>
              </a:rPr>
              <a:t>Over 50% under-estimate</a:t>
            </a:r>
            <a:r>
              <a:rPr kumimoji="0" lang="en-US" sz="1400" b="0" i="0" u="none" strike="noStrike" cap="none" spc="0" normalizeH="0" dirty="0">
                <a:ln>
                  <a:noFill/>
                </a:ln>
                <a:solidFill>
                  <a:srgbClr val="000000"/>
                </a:solidFill>
                <a:effectLst/>
                <a:uFillTx/>
                <a:latin typeface="+mj-lt"/>
                <a:ea typeface="+mj-ea"/>
                <a:cs typeface="+mj-cs"/>
                <a:sym typeface="Arial"/>
              </a:rPr>
              <a:t> by at least $100!!!</a:t>
            </a:r>
            <a:endParaRPr kumimoji="0" lang="en-US" sz="1400" b="0" i="0" u="none" strike="noStrike" cap="none" spc="0" normalizeH="0" baseline="0" dirty="0">
              <a:ln>
                <a:noFill/>
              </a:ln>
              <a:solidFill>
                <a:srgbClr val="000000"/>
              </a:solidFill>
              <a:effectLst/>
              <a:uFillTx/>
              <a:latin typeface="+mj-lt"/>
              <a:ea typeface="+mj-ea"/>
              <a:cs typeface="+mj-cs"/>
              <a:sym typeface="Arial"/>
            </a:endParaRPr>
          </a:p>
        </p:txBody>
      </p:sp>
    </p:spTree>
    <p:extLst>
      <p:ext uri="{BB962C8B-B14F-4D97-AF65-F5344CB8AC3E}">
        <p14:creationId xmlns:p14="http://schemas.microsoft.com/office/powerpoint/2010/main" val="176695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27</a:t>
            </a:fld>
            <a:endParaRPr lang="en-US"/>
          </a:p>
        </p:txBody>
      </p:sp>
      <p:pic>
        <p:nvPicPr>
          <p:cNvPr id="6" name="Picture 5"/>
          <p:cNvPicPr>
            <a:picLocks noChangeAspect="1"/>
          </p:cNvPicPr>
          <p:nvPr/>
        </p:nvPicPr>
        <p:blipFill>
          <a:blip r:embed="rId2"/>
          <a:stretch>
            <a:fillRect/>
          </a:stretch>
        </p:blipFill>
        <p:spPr>
          <a:xfrm>
            <a:off x="575227" y="1635854"/>
            <a:ext cx="2801584" cy="4875199"/>
          </a:xfrm>
          <a:prstGeom prst="rect">
            <a:avLst/>
          </a:prstGeom>
        </p:spPr>
      </p:pic>
      <p:sp>
        <p:nvSpPr>
          <p:cNvPr id="3" name="TextBox 2"/>
          <p:cNvSpPr txBox="1"/>
          <p:nvPr/>
        </p:nvSpPr>
        <p:spPr>
          <a:xfrm>
            <a:off x="3721734" y="2383413"/>
            <a:ext cx="5370991" cy="3847207"/>
          </a:xfrm>
          <a:prstGeom prst="rect">
            <a:avLst/>
          </a:prstGeom>
          <a:noFill/>
        </p:spPr>
        <p:txBody>
          <a:bodyPr wrap="square" rtlCol="0">
            <a:spAutoFit/>
          </a:bodyPr>
          <a:lstStyle/>
          <a:p>
            <a:r>
              <a:rPr lang="en-US" sz="1800" b="1" dirty="0"/>
              <a:t>Use credit card expiration as “test” for inattention</a:t>
            </a:r>
          </a:p>
          <a:p>
            <a:endParaRPr lang="en-US" sz="1800" dirty="0"/>
          </a:p>
          <a:p>
            <a:pPr marL="285750" indent="-285750">
              <a:buFont typeface="Arial" panose="020B0604020202020204" pitchFamily="34" charset="0"/>
              <a:buChar char="•"/>
            </a:pPr>
            <a:r>
              <a:rPr lang="en-US" sz="1800" dirty="0"/>
              <a:t>12 subscription services</a:t>
            </a:r>
          </a:p>
          <a:p>
            <a:pPr marL="285750" indent="-285750">
              <a:buFont typeface="Arial" panose="020B0604020202020204" pitchFamily="34" charset="0"/>
              <a:buChar char="•"/>
            </a:pPr>
            <a:r>
              <a:rPr lang="en-US" sz="1800" dirty="0"/>
              <a:t>Millions of customers through a major credit card</a:t>
            </a:r>
          </a:p>
          <a:p>
            <a:pPr marL="285750" indent="-285750">
              <a:buFont typeface="Arial" panose="020B0604020202020204" pitchFamily="34" charset="0"/>
              <a:buChar char="•"/>
            </a:pPr>
            <a:r>
              <a:rPr lang="en-US" sz="1800" dirty="0"/>
              <a:t>Take millions subscribers with a card and who all signed up during same month</a:t>
            </a:r>
          </a:p>
          <a:p>
            <a:pPr marL="285750" indent="-285750">
              <a:buFont typeface="Arial" panose="020B0604020202020204" pitchFamily="34" charset="0"/>
              <a:buChar char="•"/>
            </a:pPr>
            <a:r>
              <a:rPr lang="en-US" sz="1800" dirty="0"/>
              <a:t>Compare retention rates when card expiration</a:t>
            </a:r>
          </a:p>
          <a:p>
            <a:pPr marL="742950" lvl="1" indent="-285750">
              <a:buFont typeface="Arial" panose="020B0604020202020204" pitchFamily="34" charset="0"/>
              <a:buChar char="•"/>
            </a:pPr>
            <a:r>
              <a:rPr lang="en-US" sz="1800" dirty="0"/>
              <a:t>6 months after</a:t>
            </a:r>
          </a:p>
          <a:p>
            <a:pPr marL="742950" lvl="1" indent="-285750">
              <a:buFont typeface="Arial" panose="020B0604020202020204" pitchFamily="34" charset="0"/>
              <a:buChar char="•"/>
            </a:pPr>
            <a:r>
              <a:rPr lang="en-US" sz="1800" dirty="0"/>
              <a:t>12 months after</a:t>
            </a:r>
          </a:p>
          <a:p>
            <a:pPr marL="742950" lvl="1" indent="-285750">
              <a:buFont typeface="Arial" panose="020B0604020202020204" pitchFamily="34" charset="0"/>
              <a:buChar char="•"/>
            </a:pPr>
            <a:r>
              <a:rPr lang="en-US" sz="1800" dirty="0"/>
              <a:t>18 months after</a:t>
            </a:r>
          </a:p>
          <a:p>
            <a:pPr marL="742950" lvl="1" indent="-285750">
              <a:buFont typeface="Arial" panose="020B0604020202020204" pitchFamily="34" charset="0"/>
              <a:buChar char="•"/>
            </a:pPr>
            <a:endParaRPr lang="en-US" sz="1800" dirty="0"/>
          </a:p>
          <a:p>
            <a:pPr marL="742950" lvl="1" indent="-285750">
              <a:buFont typeface="Arial" panose="020B0604020202020204" pitchFamily="34" charset="0"/>
              <a:buChar char="•"/>
            </a:pPr>
            <a:endParaRPr lang="en-US" sz="1800" dirty="0"/>
          </a:p>
          <a:p>
            <a:pPr lvl="1" algn="ctr"/>
            <a:r>
              <a:rPr lang="en-US" sz="2800" b="1" dirty="0">
                <a:solidFill>
                  <a:srgbClr val="FF0000"/>
                </a:solidFill>
                <a:effectLst>
                  <a:outerShdw blurRad="38100" dist="38100" dir="2700000" algn="tl">
                    <a:srgbClr val="000000">
                      <a:alpha val="43137"/>
                    </a:srgbClr>
                  </a:outerShdw>
                </a:effectLst>
              </a:rPr>
              <a:t>Inattention</a:t>
            </a:r>
            <a:r>
              <a:rPr lang="en-US" sz="1800" b="1" dirty="0"/>
              <a:t>?????</a:t>
            </a:r>
          </a:p>
        </p:txBody>
      </p:sp>
      <p:sp>
        <p:nvSpPr>
          <p:cNvPr id="5" name="TextBox 4"/>
          <p:cNvSpPr txBox="1"/>
          <p:nvPr/>
        </p:nvSpPr>
        <p:spPr>
          <a:xfrm>
            <a:off x="482837" y="6550223"/>
            <a:ext cx="2068195" cy="307777"/>
          </a:xfrm>
          <a:prstGeom prst="rect">
            <a:avLst/>
          </a:prstGeom>
          <a:noFill/>
        </p:spPr>
        <p:txBody>
          <a:bodyPr wrap="none" rtlCol="0">
            <a:spAutoFit/>
          </a:bodyPr>
          <a:lstStyle/>
          <a:p>
            <a:r>
              <a:rPr lang="en-US" sz="1400" dirty="0"/>
              <a:t>Source: </a:t>
            </a:r>
            <a:r>
              <a:rPr lang="en-US" sz="1400" dirty="0">
                <a:hlinkClick r:id="rId3"/>
              </a:rPr>
              <a:t>Einav et al (2025)</a:t>
            </a:r>
            <a:endParaRPr lang="en-US" sz="1400" dirty="0"/>
          </a:p>
        </p:txBody>
      </p:sp>
      <p:sp>
        <p:nvSpPr>
          <p:cNvPr id="10" name="Title 1"/>
          <p:cNvSpPr>
            <a:spLocks noGrp="1"/>
          </p:cNvSpPr>
          <p:nvPr>
            <p:ph type="title"/>
          </p:nvPr>
        </p:nvSpPr>
        <p:spPr>
          <a:xfrm>
            <a:off x="612648" y="228600"/>
            <a:ext cx="8153400" cy="990600"/>
          </a:xfrm>
        </p:spPr>
        <p:txBody>
          <a:bodyPr>
            <a:normAutofit fontScale="90000"/>
          </a:bodyPr>
          <a:lstStyle/>
          <a:p>
            <a:r>
              <a:rPr lang="en-US" sz="4400" dirty="0"/>
              <a:t>Marketing for Good?</a:t>
            </a:r>
            <a:br>
              <a:rPr lang="en-US" dirty="0"/>
            </a:br>
            <a:r>
              <a:rPr lang="en-US" sz="3600" dirty="0"/>
              <a:t>Subscriptions &amp; </a:t>
            </a:r>
            <a:r>
              <a:rPr lang="en-US" sz="3600" b="1" dirty="0">
                <a:solidFill>
                  <a:srgbClr val="FF0000"/>
                </a:solidFill>
                <a:effectLst>
                  <a:outerShdw blurRad="38100" dist="38100" dir="2700000" algn="tl">
                    <a:srgbClr val="000000">
                      <a:alpha val="43137"/>
                    </a:srgbClr>
                  </a:outerShdw>
                </a:effectLst>
              </a:rPr>
              <a:t>consumer inattention</a:t>
            </a:r>
          </a:p>
        </p:txBody>
      </p:sp>
    </p:spTree>
    <p:extLst>
      <p:ext uri="{BB962C8B-B14F-4D97-AF65-F5344CB8AC3E}">
        <p14:creationId xmlns:p14="http://schemas.microsoft.com/office/powerpoint/2010/main" val="277679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r>
              <a:rPr lang="en-US" sz="2000" dirty="0"/>
              <a:t>Auto-pay creates psychological switching costs…</a:t>
            </a:r>
          </a:p>
          <a:p>
            <a:pPr marL="0" indent="0">
              <a:buNone/>
            </a:pPr>
            <a:r>
              <a:rPr lang="en-US" sz="2000" dirty="0"/>
              <a:t>	until it doesn’t any more …</a:t>
            </a:r>
            <a:endParaRPr lang="en-US" dirty="0"/>
          </a:p>
          <a:p>
            <a:pPr marL="0" indent="0">
              <a:buNone/>
            </a:pPr>
            <a:endParaRPr lang="en-US" dirty="0"/>
          </a:p>
          <a:p>
            <a:r>
              <a:rPr lang="en-US" b="1" dirty="0"/>
              <a:t>Consumer solutions:</a:t>
            </a:r>
          </a:p>
          <a:p>
            <a:pPr marL="0" indent="0">
              <a:buNone/>
            </a:pPr>
            <a:r>
              <a:rPr lang="en-US" sz="2000" b="1" dirty="0">
                <a:hlinkClick r:id="rId2"/>
              </a:rPr>
              <a:t>“Subscription Price Creep Is Real. Our Guide to Pushing Back.”</a:t>
            </a:r>
          </a:p>
          <a:p>
            <a:pPr marL="0" indent="0">
              <a:buNone/>
            </a:pPr>
            <a:r>
              <a:rPr lang="en-US" sz="1600" dirty="0">
                <a:hlinkClick r:id="rId2"/>
              </a:rPr>
              <a:t>Track down hidden recurring costs, binge strategically and consider free alternatives</a:t>
            </a:r>
            <a:endParaRPr lang="en-US" sz="1600" dirty="0"/>
          </a:p>
          <a:p>
            <a:pPr marL="0" indent="0" algn="r">
              <a:buNone/>
            </a:pPr>
            <a:r>
              <a:rPr lang="en-US" sz="1100" dirty="0"/>
              <a:t>Nicole Nguyen, </a:t>
            </a:r>
            <a:r>
              <a:rPr lang="en-US" sz="1100" i="1" dirty="0"/>
              <a:t>WSJ</a:t>
            </a:r>
            <a:r>
              <a:rPr lang="en-US" sz="1100" dirty="0"/>
              <a:t>, April 23, 2023</a:t>
            </a:r>
          </a:p>
          <a:p>
            <a:endParaRPr lang="en-US" b="1" dirty="0"/>
          </a:p>
          <a:p>
            <a:r>
              <a:rPr lang="en-US" b="1" dirty="0"/>
              <a:t>Regulatory solutions:</a:t>
            </a:r>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28</a:t>
            </a:fld>
            <a:endParaRPr lang="en-US"/>
          </a:p>
        </p:txBody>
      </p:sp>
      <p:pic>
        <p:nvPicPr>
          <p:cNvPr id="1026" name="Picture 2" descr="https://images.wsj.net/im-768009/?width=1278&amp;size=1"/>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1262" y="2146566"/>
            <a:ext cx="1557483" cy="15574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9674" y="5172670"/>
            <a:ext cx="8499348" cy="923330"/>
          </a:xfrm>
          <a:prstGeom prst="rect">
            <a:avLst/>
          </a:prstGeom>
        </p:spPr>
        <p:txBody>
          <a:bodyPr wrap="square">
            <a:spAutoFit/>
          </a:bodyPr>
          <a:lstStyle/>
          <a:p>
            <a:r>
              <a:rPr lang="en-US" sz="2000" dirty="0"/>
              <a:t>Federal Trade Commission Announces Final “</a:t>
            </a:r>
            <a:r>
              <a:rPr lang="en-US" sz="2000" dirty="0">
                <a:solidFill>
                  <a:srgbClr val="FF0000"/>
                </a:solidFill>
                <a:effectLst>
                  <a:outerShdw blurRad="38100" dist="38100" dir="2700000" algn="tl">
                    <a:srgbClr val="000000">
                      <a:alpha val="43137"/>
                    </a:srgbClr>
                  </a:outerShdw>
                </a:effectLst>
              </a:rPr>
              <a:t>Click to Cancel</a:t>
            </a:r>
            <a:r>
              <a:rPr lang="en-US" sz="2000" dirty="0"/>
              <a:t>” Rule Making It Easier for Consumers to End Recurring Subscriptions and Memberships</a:t>
            </a:r>
          </a:p>
          <a:p>
            <a:pPr algn="r"/>
            <a:r>
              <a:rPr lang="en-US" sz="1400" dirty="0">
                <a:hlinkClick r:id="rId4"/>
              </a:rPr>
              <a:t>FTC, Oct 16, 2024</a:t>
            </a:r>
            <a:endParaRPr lang="en-US" sz="1400" dirty="0"/>
          </a:p>
        </p:txBody>
      </p:sp>
      <p:sp>
        <p:nvSpPr>
          <p:cNvPr id="8" name="Title 1"/>
          <p:cNvSpPr>
            <a:spLocks noGrp="1"/>
          </p:cNvSpPr>
          <p:nvPr>
            <p:ph type="title"/>
          </p:nvPr>
        </p:nvSpPr>
        <p:spPr>
          <a:xfrm>
            <a:off x="612648" y="228600"/>
            <a:ext cx="8153400" cy="990600"/>
          </a:xfrm>
        </p:spPr>
        <p:txBody>
          <a:bodyPr>
            <a:normAutofit fontScale="90000"/>
          </a:bodyPr>
          <a:lstStyle/>
          <a:p>
            <a:r>
              <a:rPr lang="en-US" sz="4400" dirty="0"/>
              <a:t>Marketing for Good?</a:t>
            </a:r>
            <a:br>
              <a:rPr lang="en-US" dirty="0"/>
            </a:br>
            <a:r>
              <a:rPr lang="en-US" sz="3600" dirty="0"/>
              <a:t>Subscriptions &amp; </a:t>
            </a:r>
            <a:r>
              <a:rPr lang="en-US" sz="3600" b="1" dirty="0">
                <a:solidFill>
                  <a:srgbClr val="FF0000"/>
                </a:solidFill>
                <a:effectLst>
                  <a:outerShdw blurRad="38100" dist="38100" dir="2700000" algn="tl">
                    <a:srgbClr val="000000">
                      <a:alpha val="43137"/>
                    </a:srgbClr>
                  </a:outerShdw>
                </a:effectLst>
              </a:rPr>
              <a:t>consumer inattention</a:t>
            </a:r>
          </a:p>
        </p:txBody>
      </p:sp>
    </p:spTree>
    <p:extLst>
      <p:ext uri="{BB962C8B-B14F-4D97-AF65-F5344CB8AC3E}">
        <p14:creationId xmlns:p14="http://schemas.microsoft.com/office/powerpoint/2010/main" val="428427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a:xfrm>
            <a:off x="612775" y="228600"/>
            <a:ext cx="8153400" cy="990600"/>
          </a:xfrm>
        </p:spPr>
        <p:txBody>
          <a:bodyPr/>
          <a:lstStyle/>
          <a:p>
            <a:r>
              <a:rPr lang="en-US" dirty="0"/>
              <a:t>Take Away</a:t>
            </a:r>
          </a:p>
        </p:txBody>
      </p:sp>
      <p:sp>
        <p:nvSpPr>
          <p:cNvPr id="6" name="Rectangle 5"/>
          <p:cNvSpPr>
            <a:spLocks noGrp="1" noChangeArrowheads="1"/>
          </p:cNvSpPr>
          <p:nvPr>
            <p:ph sz="quarter" idx="1"/>
          </p:nvPr>
        </p:nvSpPr>
        <p:spPr>
          <a:xfrm>
            <a:off x="612648" y="1600199"/>
            <a:ext cx="8153400" cy="4903631"/>
          </a:xfrm>
        </p:spPr>
        <p:txBody>
          <a:bodyPr>
            <a:normAutofit fontScale="92500" lnSpcReduction="20000"/>
          </a:bodyPr>
          <a:lstStyle/>
          <a:p>
            <a:pPr>
              <a:spcBef>
                <a:spcPts val="1200"/>
              </a:spcBef>
              <a:spcAft>
                <a:spcPts val="1200"/>
              </a:spcAft>
              <a:defRPr/>
            </a:pPr>
            <a:r>
              <a:rPr lang="en-US" sz="2400" dirty="0">
                <a:latin typeface="+mj-lt"/>
              </a:rPr>
              <a:t>NL pricing as price discrimination:</a:t>
            </a:r>
          </a:p>
          <a:p>
            <a:pPr lvl="1">
              <a:spcBef>
                <a:spcPts val="1200"/>
              </a:spcBef>
              <a:spcAft>
                <a:spcPts val="1200"/>
              </a:spcAft>
              <a:defRPr/>
            </a:pPr>
            <a:r>
              <a:rPr lang="en-US" dirty="0">
                <a:latin typeface="+mj-lt"/>
              </a:rPr>
              <a:t>For a single customer, NL pricing captures value</a:t>
            </a:r>
          </a:p>
          <a:p>
            <a:pPr lvl="1">
              <a:spcBef>
                <a:spcPts val="1200"/>
              </a:spcBef>
              <a:spcAft>
                <a:spcPts val="1200"/>
              </a:spcAft>
              <a:defRPr/>
            </a:pPr>
            <a:r>
              <a:rPr lang="en-US" dirty="0">
                <a:latin typeface="+mj-lt"/>
              </a:rPr>
              <a:t>For multiple customer segments, menu of NL pricing offers as </a:t>
            </a:r>
            <a:r>
              <a:rPr lang="en-US" b="1" i="1" dirty="0">
                <a:solidFill>
                  <a:srgbClr val="FF0000"/>
                </a:solidFill>
                <a:effectLst>
                  <a:outerShdw blurRad="38100" dist="38100" dir="2700000" algn="tl">
                    <a:srgbClr val="000000">
                      <a:alpha val="43137"/>
                    </a:srgbClr>
                  </a:outerShdw>
                </a:effectLst>
                <a:latin typeface="+mj-lt"/>
              </a:rPr>
              <a:t>product-line pricing</a:t>
            </a:r>
          </a:p>
          <a:p>
            <a:pPr>
              <a:spcBef>
                <a:spcPts val="1200"/>
              </a:spcBef>
              <a:spcAft>
                <a:spcPts val="1200"/>
              </a:spcAft>
              <a:defRPr/>
            </a:pPr>
            <a:r>
              <a:rPr lang="en-US" altLang="ko-KR" sz="2400" dirty="0">
                <a:latin typeface="+mj-lt"/>
                <a:ea typeface="굴림" charset="-127"/>
              </a:rPr>
              <a:t>Consumer psychology as implementation guide for NL pricing</a:t>
            </a:r>
          </a:p>
          <a:p>
            <a:pPr>
              <a:spcBef>
                <a:spcPts val="1200"/>
              </a:spcBef>
              <a:spcAft>
                <a:spcPts val="600"/>
              </a:spcAft>
              <a:defRPr/>
            </a:pPr>
            <a:r>
              <a:rPr lang="en-US" altLang="ko-KR" dirty="0">
                <a:ea typeface="굴림" charset="-127"/>
              </a:rPr>
              <a:t>Marketing for good:</a:t>
            </a:r>
          </a:p>
          <a:p>
            <a:pPr marL="0" indent="0">
              <a:spcBef>
                <a:spcPts val="0"/>
              </a:spcBef>
              <a:spcAft>
                <a:spcPts val="1200"/>
              </a:spcAft>
              <a:buNone/>
              <a:defRPr/>
            </a:pPr>
            <a:r>
              <a:rPr lang="en-US" altLang="ko-KR" dirty="0">
                <a:ea typeface="굴림" charset="-127"/>
              </a:rPr>
              <a:t>	</a:t>
            </a:r>
            <a:r>
              <a:rPr lang="en-US" altLang="ko-KR" b="1" i="1" dirty="0">
                <a:ea typeface="굴림" charset="-127"/>
              </a:rPr>
              <a:t>Economic logic</a:t>
            </a:r>
            <a:r>
              <a:rPr lang="en-US" altLang="ko-KR" dirty="0">
                <a:ea typeface="굴림" charset="-127"/>
              </a:rPr>
              <a:t> for NL pricing </a:t>
            </a:r>
          </a:p>
          <a:p>
            <a:pPr marL="0" indent="0">
              <a:spcBef>
                <a:spcPts val="0"/>
              </a:spcBef>
              <a:spcAft>
                <a:spcPts val="1200"/>
              </a:spcAft>
              <a:buNone/>
              <a:defRPr/>
            </a:pPr>
            <a:r>
              <a:rPr lang="en-US" altLang="ko-KR" dirty="0">
                <a:ea typeface="굴림" charset="-127"/>
              </a:rPr>
              <a:t>	vs </a:t>
            </a:r>
          </a:p>
          <a:p>
            <a:pPr marL="0" indent="0">
              <a:spcBef>
                <a:spcPts val="0"/>
              </a:spcBef>
              <a:spcAft>
                <a:spcPts val="1200"/>
              </a:spcAft>
              <a:buNone/>
              <a:defRPr/>
            </a:pPr>
            <a:r>
              <a:rPr lang="en-US" altLang="ko-KR" dirty="0">
                <a:ea typeface="굴림" charset="-127"/>
              </a:rPr>
              <a:t>	Exploitation of </a:t>
            </a:r>
            <a:r>
              <a:rPr lang="en-US" altLang="ko-KR" b="1" i="1" dirty="0">
                <a:ea typeface="굴림" charset="-127"/>
              </a:rPr>
              <a:t>inattention</a:t>
            </a:r>
            <a:r>
              <a:rPr lang="en-US" altLang="ko-KR" dirty="0">
                <a:ea typeface="굴림" charset="-127"/>
              </a:rPr>
              <a:t> using complex pricing structure</a:t>
            </a:r>
            <a:endParaRPr lang="en-US" altLang="ko-KR" sz="2400" dirty="0">
              <a:latin typeface="+mj-lt"/>
              <a:ea typeface="굴림" charset="-127"/>
            </a:endParaRPr>
          </a:p>
          <a:p>
            <a:pPr>
              <a:spcBef>
                <a:spcPts val="1200"/>
              </a:spcBef>
              <a:spcAft>
                <a:spcPts val="1200"/>
              </a:spcAft>
              <a:defRPr/>
            </a:pPr>
            <a:r>
              <a:rPr lang="en-US" altLang="ko-KR" dirty="0">
                <a:ea typeface="굴림" charset="-127"/>
              </a:rPr>
              <a:t>See Appendix for agency issues with NL pricing in financial services</a:t>
            </a:r>
            <a:endParaRPr lang="en-US" altLang="ko-KR" sz="2400" dirty="0">
              <a:latin typeface="+mj-lt"/>
              <a:ea typeface="굴림" charset="-127"/>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29</a:t>
            </a:fld>
            <a:endParaRPr lang="en-US"/>
          </a:p>
        </p:txBody>
      </p:sp>
    </p:spTree>
    <p:extLst>
      <p:ext uri="{BB962C8B-B14F-4D97-AF65-F5344CB8AC3E}">
        <p14:creationId xmlns:p14="http://schemas.microsoft.com/office/powerpoint/2010/main" val="1137601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a:xfrm>
            <a:off x="1371600" y="1592036"/>
            <a:ext cx="7620000" cy="990600"/>
          </a:xfrm>
        </p:spPr>
        <p:txBody>
          <a:bodyPr/>
          <a:lstStyle/>
          <a:p>
            <a:r>
              <a:rPr lang="en-US" dirty="0"/>
              <a:t>NL Pricing of Financial Services</a:t>
            </a:r>
          </a:p>
        </p:txBody>
      </p:sp>
      <p:sp>
        <p:nvSpPr>
          <p:cNvPr id="4" name="Slide Number Placeholder 3"/>
          <p:cNvSpPr>
            <a:spLocks noGrp="1"/>
          </p:cNvSpPr>
          <p:nvPr>
            <p:ph type="sldNum" sz="quarter" idx="11"/>
          </p:nvPr>
        </p:nvSpPr>
        <p:spPr/>
        <p:txBody>
          <a:bodyPr/>
          <a:lstStyle/>
          <a:p>
            <a:pPr>
              <a:defRPr/>
            </a:pPr>
            <a:fld id="{44BA3D15-83BA-4D32-A033-ABC08A571973}" type="slidenum">
              <a:rPr lang="en-US" smtClean="0"/>
              <a:pPr>
                <a:defRPr/>
              </a:pPr>
              <a:t>30</a:t>
            </a:fld>
            <a:endParaRPr lang="en-US"/>
          </a:p>
        </p:txBody>
      </p:sp>
    </p:spTree>
    <p:extLst>
      <p:ext uri="{BB962C8B-B14F-4D97-AF65-F5344CB8AC3E}">
        <p14:creationId xmlns:p14="http://schemas.microsoft.com/office/powerpoint/2010/main" val="859636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NL Pricing in Financial Services</a:t>
            </a:r>
            <a:br>
              <a:rPr lang="en-US" sz="4400" dirty="0"/>
            </a:br>
            <a:r>
              <a:rPr lang="en-US" sz="3600" dirty="0"/>
              <a:t>Example: </a:t>
            </a:r>
            <a:r>
              <a:rPr lang="en-US" sz="3600" i="1" dirty="0"/>
              <a:t>fee-only</a:t>
            </a:r>
            <a:r>
              <a:rPr lang="en-US" sz="3600" dirty="0"/>
              <a:t> versus </a:t>
            </a:r>
            <a:r>
              <a:rPr lang="en-US" sz="3600" i="1" dirty="0"/>
              <a:t>fee-based</a:t>
            </a:r>
            <a:endParaRPr lang="en-US" dirty="0"/>
          </a:p>
        </p:txBody>
      </p:sp>
      <p:sp>
        <p:nvSpPr>
          <p:cNvPr id="3" name="Content Placeholder 2"/>
          <p:cNvSpPr>
            <a:spLocks noGrp="1"/>
          </p:cNvSpPr>
          <p:nvPr>
            <p:ph sz="quarter" idx="1"/>
          </p:nvPr>
        </p:nvSpPr>
        <p:spPr>
          <a:xfrm>
            <a:off x="612648" y="1600200"/>
            <a:ext cx="8153400" cy="4850296"/>
          </a:xfrm>
        </p:spPr>
        <p:txBody>
          <a:bodyPr>
            <a:normAutofit fontScale="85000" lnSpcReduction="20000"/>
          </a:bodyPr>
          <a:lstStyle/>
          <a:p>
            <a:r>
              <a:rPr lang="en-US" dirty="0"/>
              <a:t>Traditional brokerage uses 2-part tariffs (</a:t>
            </a:r>
            <a:r>
              <a:rPr lang="en-US" dirty="0" err="1"/>
              <a:t>fee+commission</a:t>
            </a:r>
            <a:r>
              <a:rPr lang="en-US" dirty="0"/>
              <a:t>)</a:t>
            </a:r>
          </a:p>
          <a:p>
            <a:r>
              <a:rPr lang="en-US" dirty="0"/>
              <a:t>Recent surge in demand for </a:t>
            </a:r>
            <a:r>
              <a:rPr lang="en-US" i="1" dirty="0"/>
              <a:t>fee-only</a:t>
            </a:r>
            <a:r>
              <a:rPr lang="en-US" dirty="0"/>
              <a:t> service </a:t>
            </a:r>
            <a:r>
              <a:rPr lang="en-US" i="1" dirty="0"/>
              <a:t>(all-you-can-eat</a:t>
            </a:r>
            <a:r>
              <a:rPr lang="en-US" dirty="0"/>
              <a:t>)</a:t>
            </a:r>
            <a:r>
              <a:rPr lang="en-US" i="1" dirty="0"/>
              <a:t>.</a:t>
            </a:r>
            <a:r>
              <a:rPr lang="en-US" dirty="0"/>
              <a:t> </a:t>
            </a:r>
          </a:p>
          <a:p>
            <a:r>
              <a:rPr lang="en-US" dirty="0"/>
              <a:t>Caution:</a:t>
            </a:r>
          </a:p>
          <a:p>
            <a:pPr marL="823913" lvl="1" indent="-457200">
              <a:spcAft>
                <a:spcPts val="600"/>
              </a:spcAft>
              <a:buFont typeface="+mj-lt"/>
              <a:buAutoNum type="arabicPeriod"/>
            </a:pPr>
            <a:r>
              <a:rPr lang="en-US" i="1" dirty="0"/>
              <a:t>Deception</a:t>
            </a:r>
            <a:r>
              <a:rPr lang="en-US" dirty="0"/>
              <a:t> of “</a:t>
            </a:r>
            <a:r>
              <a:rPr lang="en-US" i="1" dirty="0"/>
              <a:t>fee-based”</a:t>
            </a:r>
            <a:r>
              <a:rPr lang="en-US" dirty="0"/>
              <a:t> pricing typically just 2-part tariff</a:t>
            </a:r>
          </a:p>
          <a:p>
            <a:pPr marL="823913" lvl="1" indent="-457200">
              <a:spcAft>
                <a:spcPts val="600"/>
              </a:spcAft>
              <a:buFont typeface="+mj-lt"/>
              <a:buAutoNum type="arabicPeriod"/>
            </a:pPr>
            <a:r>
              <a:rPr lang="en-US" dirty="0"/>
              <a:t>NL pricing affects the incentives of your asset manager!</a:t>
            </a:r>
          </a:p>
          <a:p>
            <a:pPr lvl="2"/>
            <a:r>
              <a:rPr lang="en-US" dirty="0"/>
              <a:t>Commissions incent more transactions</a:t>
            </a:r>
          </a:p>
          <a:p>
            <a:pPr lvl="2"/>
            <a:r>
              <a:rPr lang="en-US" dirty="0"/>
              <a:t>Fees tied to principal weaken incentives (i.e. less </a:t>
            </a:r>
            <a:r>
              <a:rPr lang="en-US" i="1" dirty="0"/>
              <a:t>effort</a:t>
            </a:r>
            <a:r>
              <a:rPr lang="en-US" dirty="0"/>
              <a:t>)</a:t>
            </a:r>
          </a:p>
          <a:p>
            <a:pPr lvl="2">
              <a:spcAft>
                <a:spcPts val="1200"/>
              </a:spcAft>
            </a:pPr>
            <a:r>
              <a:rPr lang="en-US" dirty="0"/>
              <a:t>Fees tied to returns incents risk-taking</a:t>
            </a:r>
          </a:p>
          <a:p>
            <a:pPr>
              <a:spcBef>
                <a:spcPts val="1200"/>
              </a:spcBef>
            </a:pPr>
            <a:r>
              <a:rPr lang="en-US" b="1" dirty="0"/>
              <a:t>NL pricing special in this industry because you also need to understand the incentives induced by the pricing of your service for your advisor</a:t>
            </a:r>
          </a:p>
          <a:p>
            <a:endParaRPr lang="en-US" dirty="0"/>
          </a:p>
          <a:p>
            <a:r>
              <a:rPr lang="en-US" sz="2300" dirty="0"/>
              <a:t>Sources: </a:t>
            </a:r>
          </a:p>
          <a:p>
            <a:pPr marL="0" indent="0">
              <a:buNone/>
            </a:pPr>
            <a:r>
              <a:rPr lang="en-US" sz="2300" dirty="0"/>
              <a:t>“Much Ado About Adviser Compensation,” </a:t>
            </a:r>
            <a:r>
              <a:rPr lang="en-US" sz="1600" dirty="0"/>
              <a:t>Daisy Maxey, </a:t>
            </a:r>
            <a:r>
              <a:rPr lang="en-US" sz="1600" i="1" dirty="0"/>
              <a:t>WSJ</a:t>
            </a:r>
            <a:r>
              <a:rPr lang="en-US" sz="1600" dirty="0"/>
              <a:t>, Nov 10, 2013.</a:t>
            </a:r>
          </a:p>
          <a:p>
            <a:pPr marL="0" indent="0">
              <a:buNone/>
            </a:pPr>
            <a:r>
              <a:rPr lang="en-US" sz="2300" dirty="0"/>
              <a:t>“How to Pay Your Financial Advisor,” </a:t>
            </a:r>
            <a:r>
              <a:rPr lang="en-US" sz="1600" dirty="0"/>
              <a:t>Daisy Maxey, </a:t>
            </a:r>
            <a:r>
              <a:rPr lang="en-US" sz="1600" i="1" dirty="0"/>
              <a:t>WSJ, </a:t>
            </a:r>
            <a:r>
              <a:rPr lang="en-US" sz="1600" dirty="0"/>
              <a:t>Dec 12, 2011</a:t>
            </a:r>
            <a:endParaRPr lang="en-US" sz="2300" dirty="0"/>
          </a:p>
        </p:txBody>
      </p:sp>
      <p:sp>
        <p:nvSpPr>
          <p:cNvPr id="4" name="Slide Number Placeholder 3"/>
          <p:cNvSpPr>
            <a:spLocks noGrp="1"/>
          </p:cNvSpPr>
          <p:nvPr>
            <p:ph type="sldNum" sz="quarter" idx="12"/>
          </p:nvPr>
        </p:nvSpPr>
        <p:spPr/>
        <p:txBody>
          <a:bodyPr>
            <a:normAutofit fontScale="85000" lnSpcReduction="20000"/>
          </a:bodyPr>
          <a:lstStyle/>
          <a:p>
            <a:pPr>
              <a:defRPr/>
            </a:pPr>
            <a:fld id="{C8DDB35A-45BF-4C6F-99A1-7C4185CFE79A}" type="slidenum">
              <a:rPr lang="en-US" smtClean="0"/>
              <a:pPr>
                <a:defRPr/>
              </a:pPr>
              <a:t>31</a:t>
            </a:fld>
            <a:endParaRPr lang="en-US"/>
          </a:p>
        </p:txBody>
      </p:sp>
    </p:spTree>
    <p:extLst>
      <p:ext uri="{BB962C8B-B14F-4D97-AF65-F5344CB8AC3E}">
        <p14:creationId xmlns:p14="http://schemas.microsoft.com/office/powerpoint/2010/main" val="3079625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Legality of NL Pricing in US</a:t>
            </a:r>
          </a:p>
        </p:txBody>
      </p:sp>
      <p:sp>
        <p:nvSpPr>
          <p:cNvPr id="4" name="Slide Number Placeholder 3"/>
          <p:cNvSpPr>
            <a:spLocks noGrp="1"/>
          </p:cNvSpPr>
          <p:nvPr>
            <p:ph type="sldNum" sz="quarter" idx="11"/>
          </p:nvPr>
        </p:nvSpPr>
        <p:spPr/>
        <p:txBody>
          <a:bodyPr/>
          <a:lstStyle/>
          <a:p>
            <a:pPr>
              <a:defRPr/>
            </a:pPr>
            <a:fld id="{44BA3D15-83BA-4D32-A033-ABC08A571973}" type="slidenum">
              <a:rPr lang="en-US" smtClean="0"/>
              <a:pPr>
                <a:defRPr/>
              </a:pPr>
              <a:t>32</a:t>
            </a:fld>
            <a:endParaRPr lang="en-US"/>
          </a:p>
        </p:txBody>
      </p:sp>
    </p:spTree>
    <p:extLst>
      <p:ext uri="{BB962C8B-B14F-4D97-AF65-F5344CB8AC3E}">
        <p14:creationId xmlns:p14="http://schemas.microsoft.com/office/powerpoint/2010/main" val="225155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12648" y="228600"/>
            <a:ext cx="7986713" cy="1143000"/>
          </a:xfrm>
        </p:spPr>
        <p:txBody>
          <a:bodyPr>
            <a:noAutofit/>
          </a:bodyPr>
          <a:lstStyle/>
          <a:p>
            <a:r>
              <a:rPr lang="en-US" dirty="0"/>
              <a:t>Non-Linear Pricing and B2B Laws</a:t>
            </a:r>
            <a:br>
              <a:rPr lang="en-US" dirty="0"/>
            </a:br>
            <a:r>
              <a:rPr lang="en-US" sz="3200" dirty="0"/>
              <a:t>The Robinson-</a:t>
            </a:r>
            <a:r>
              <a:rPr lang="en-US" sz="3200" dirty="0" err="1"/>
              <a:t>Patman</a:t>
            </a:r>
            <a:r>
              <a:rPr lang="en-US" sz="3200" dirty="0"/>
              <a:t> Act in the U.S.</a:t>
            </a:r>
          </a:p>
        </p:txBody>
      </p:sp>
      <p:sp>
        <p:nvSpPr>
          <p:cNvPr id="21507" name="Rectangle 3"/>
          <p:cNvSpPr>
            <a:spLocks noGrp="1" noChangeArrowheads="1"/>
          </p:cNvSpPr>
          <p:nvPr>
            <p:ph sz="quarter" idx="1"/>
          </p:nvPr>
        </p:nvSpPr>
        <p:spPr>
          <a:xfrm>
            <a:off x="612647" y="1731963"/>
            <a:ext cx="8159877" cy="4765090"/>
          </a:xfrm>
        </p:spPr>
        <p:txBody>
          <a:bodyPr>
            <a:normAutofit fontScale="92500" lnSpcReduction="10000"/>
          </a:bodyPr>
          <a:lstStyle/>
          <a:p>
            <a:pPr>
              <a:lnSpc>
                <a:spcPct val="90000"/>
              </a:lnSpc>
              <a:spcAft>
                <a:spcPts val="0"/>
              </a:spcAft>
              <a:defRPr/>
            </a:pPr>
            <a:r>
              <a:rPr lang="en-US" sz="2400" i="1" dirty="0">
                <a:latin typeface="+mj-lt"/>
              </a:rPr>
              <a:t>Act requires Mfrs to sell products to all retailers at the same price – unless there is something significantly different (e.g. large-size packaging at Costco)</a:t>
            </a:r>
          </a:p>
          <a:p>
            <a:pPr lvl="1">
              <a:lnSpc>
                <a:spcPct val="90000"/>
              </a:lnSpc>
              <a:spcAft>
                <a:spcPts val="1200"/>
              </a:spcAft>
              <a:defRPr/>
            </a:pPr>
            <a:r>
              <a:rPr lang="en-US" sz="2000" dirty="0">
                <a:latin typeface="+mj-lt"/>
              </a:rPr>
              <a:t>e.g. 32-packs of Coke, 3-packs of printer cartridges</a:t>
            </a:r>
          </a:p>
          <a:p>
            <a:pPr>
              <a:lnSpc>
                <a:spcPct val="90000"/>
              </a:lnSpc>
              <a:spcBef>
                <a:spcPts val="1200"/>
              </a:spcBef>
              <a:spcAft>
                <a:spcPts val="1200"/>
              </a:spcAft>
              <a:defRPr/>
            </a:pPr>
            <a:r>
              <a:rPr lang="en-US" sz="2400" dirty="0">
                <a:latin typeface="+mj-lt"/>
              </a:rPr>
              <a:t>Historically - protect small independent retailers </a:t>
            </a:r>
            <a:r>
              <a:rPr lang="en-US" sz="1500" b="1" dirty="0">
                <a:latin typeface="+mj-lt"/>
              </a:rPr>
              <a:t>(</a:t>
            </a:r>
            <a:r>
              <a:rPr lang="en-US" sz="1500" b="1" dirty="0">
                <a:hlinkClick r:id="rId3"/>
              </a:rPr>
              <a:t>FTC vs Morton Salt Co.</a:t>
            </a:r>
            <a:r>
              <a:rPr lang="en-US" sz="1700" b="1" dirty="0"/>
              <a:t>)</a:t>
            </a:r>
            <a:endParaRPr lang="en-US" sz="1800" b="1" dirty="0">
              <a:latin typeface="+mj-lt"/>
            </a:endParaRPr>
          </a:p>
          <a:p>
            <a:pPr>
              <a:lnSpc>
                <a:spcPct val="90000"/>
              </a:lnSpc>
              <a:spcBef>
                <a:spcPts val="1200"/>
              </a:spcBef>
              <a:spcAft>
                <a:spcPts val="1200"/>
              </a:spcAft>
              <a:defRPr/>
            </a:pPr>
            <a:r>
              <a:rPr lang="en-US" sz="2400" dirty="0">
                <a:latin typeface="+mj-lt"/>
              </a:rPr>
              <a:t>FTC now worried act shields less efficient competition</a:t>
            </a:r>
          </a:p>
          <a:p>
            <a:pPr lvl="1">
              <a:lnSpc>
                <a:spcPct val="90000"/>
              </a:lnSpc>
              <a:spcAft>
                <a:spcPts val="0"/>
              </a:spcAft>
              <a:defRPr/>
            </a:pPr>
            <a:r>
              <a:rPr lang="en-US" sz="1700" b="1" dirty="0"/>
              <a:t>Why it's all in the packaging: 1936 antitrust ruling comes under fresh criticism</a:t>
            </a:r>
            <a:r>
              <a:rPr lang="en-US" sz="1700" i="1" dirty="0"/>
              <a:t>	</a:t>
            </a:r>
          </a:p>
          <a:p>
            <a:pPr lvl="1">
              <a:lnSpc>
                <a:spcPct val="90000"/>
              </a:lnSpc>
              <a:spcAft>
                <a:spcPts val="600"/>
              </a:spcAft>
              <a:buFontTx/>
              <a:buNone/>
              <a:defRPr/>
            </a:pPr>
            <a:r>
              <a:rPr lang="en-US" sz="1700" i="1" dirty="0"/>
              <a:t>	John Schmeltzer. </a:t>
            </a:r>
            <a:r>
              <a:rPr lang="en-US" sz="1700" b="1" i="1" dirty="0"/>
              <a:t>Knight </a:t>
            </a:r>
            <a:r>
              <a:rPr lang="en-US" sz="1700" b="1" i="1" dirty="0" err="1"/>
              <a:t>Ridder</a:t>
            </a:r>
            <a:r>
              <a:rPr lang="en-US" sz="1700" b="1" i="1" dirty="0"/>
              <a:t> Tribune Business News. Jun 7, 2007.</a:t>
            </a:r>
          </a:p>
          <a:p>
            <a:pPr lvl="1">
              <a:lnSpc>
                <a:spcPct val="90000"/>
              </a:lnSpc>
              <a:spcAft>
                <a:spcPts val="1200"/>
              </a:spcAft>
              <a:defRPr/>
            </a:pPr>
            <a:r>
              <a:rPr lang="en-US" sz="1700" b="1" dirty="0"/>
              <a:t>Third Circuit Reverses Price Discrimination Judgment in </a:t>
            </a:r>
            <a:r>
              <a:rPr lang="en-US" sz="1700" b="1" i="1" dirty="0" err="1"/>
              <a:t>Feesers</a:t>
            </a:r>
            <a:r>
              <a:rPr lang="en-US" sz="1700" b="1" i="1" dirty="0"/>
              <a:t> v. Michael Foods and Sodexho </a:t>
            </a:r>
            <a:r>
              <a:rPr lang="en-US" sz="1700" b="1" dirty="0"/>
              <a:t>.  </a:t>
            </a:r>
            <a:r>
              <a:rPr lang="en-US" sz="1700" dirty="0"/>
              <a:t>08-January-2010</a:t>
            </a:r>
            <a:br>
              <a:rPr lang="en-US" sz="1700" dirty="0"/>
            </a:br>
            <a:r>
              <a:rPr lang="en-US" sz="1600" i="1" dirty="0">
                <a:latin typeface="+mj-lt"/>
              </a:rPr>
              <a:t> </a:t>
            </a:r>
            <a:endParaRPr lang="en-US" sz="2000" i="1" dirty="0">
              <a:latin typeface="+mj-lt"/>
            </a:endParaRPr>
          </a:p>
          <a:p>
            <a:pPr>
              <a:lnSpc>
                <a:spcPct val="90000"/>
              </a:lnSpc>
              <a:spcBef>
                <a:spcPts val="1200"/>
              </a:spcBef>
              <a:defRPr/>
            </a:pPr>
            <a:r>
              <a:rPr lang="en-US" sz="2400" dirty="0">
                <a:latin typeface="+mj-lt"/>
              </a:rPr>
              <a:t>If abolished, big-box chains will surely command better volume discounts</a:t>
            </a:r>
          </a:p>
        </p:txBody>
      </p:sp>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12648" y="228600"/>
            <a:ext cx="7986713" cy="1143000"/>
          </a:xfrm>
        </p:spPr>
        <p:txBody>
          <a:bodyPr>
            <a:noAutofit/>
          </a:bodyPr>
          <a:lstStyle/>
          <a:p>
            <a:r>
              <a:rPr lang="en-US" dirty="0"/>
              <a:t>Non-Linear Pricing and B2B Laws</a:t>
            </a:r>
            <a:br>
              <a:rPr lang="en-US" dirty="0"/>
            </a:br>
            <a:r>
              <a:rPr lang="en-US" sz="3200" dirty="0"/>
              <a:t>The Robinson-</a:t>
            </a:r>
            <a:r>
              <a:rPr lang="en-US" sz="3200" dirty="0" err="1"/>
              <a:t>Patman</a:t>
            </a:r>
            <a:r>
              <a:rPr lang="en-US" sz="3200" dirty="0"/>
              <a:t> Act in the U.S.</a:t>
            </a:r>
          </a:p>
        </p:txBody>
      </p:sp>
      <p:sp>
        <p:nvSpPr>
          <p:cNvPr id="21507" name="Rectangle 3"/>
          <p:cNvSpPr>
            <a:spLocks noGrp="1" noChangeArrowheads="1"/>
          </p:cNvSpPr>
          <p:nvPr>
            <p:ph sz="quarter" idx="1"/>
          </p:nvPr>
        </p:nvSpPr>
        <p:spPr>
          <a:xfrm>
            <a:off x="612647" y="1731963"/>
            <a:ext cx="8159877" cy="4765090"/>
          </a:xfrm>
        </p:spPr>
        <p:txBody>
          <a:bodyPr>
            <a:normAutofit fontScale="92500" lnSpcReduction="20000"/>
          </a:bodyPr>
          <a:lstStyle/>
          <a:p>
            <a:pPr>
              <a:lnSpc>
                <a:spcPct val="90000"/>
              </a:lnSpc>
              <a:spcAft>
                <a:spcPts val="0"/>
              </a:spcAft>
              <a:defRPr/>
            </a:pPr>
            <a:r>
              <a:rPr lang="en-US" sz="2400" dirty="0">
                <a:latin typeface="+mj-lt"/>
              </a:rPr>
              <a:t>Precedent may change under Lina Khan’s oversight of FTC</a:t>
            </a:r>
          </a:p>
          <a:p>
            <a:pPr>
              <a:lnSpc>
                <a:spcPct val="90000"/>
              </a:lnSpc>
              <a:spcAft>
                <a:spcPts val="0"/>
              </a:spcAft>
              <a:defRPr/>
            </a:pPr>
            <a:endParaRPr lang="en-US" dirty="0"/>
          </a:p>
          <a:p>
            <a:endParaRPr lang="en-US" dirty="0"/>
          </a:p>
          <a:p>
            <a:pPr marL="0" indent="0" algn="ctr">
              <a:buNone/>
            </a:pPr>
            <a:r>
              <a:rPr lang="en-US" b="1" dirty="0"/>
              <a:t>Pepsi, Coke soda pricing targeted in new federal probe </a:t>
            </a:r>
          </a:p>
          <a:p>
            <a:pPr marL="0" indent="0" algn="r">
              <a:buNone/>
            </a:pPr>
            <a:r>
              <a:rPr lang="en-US" sz="1400" dirty="0"/>
              <a:t>By Josh </a:t>
            </a:r>
            <a:r>
              <a:rPr lang="en-US" sz="1400" dirty="0" err="1"/>
              <a:t>Sisco</a:t>
            </a:r>
            <a:r>
              <a:rPr lang="en-US" sz="1400" dirty="0"/>
              <a:t>, </a:t>
            </a:r>
            <a:r>
              <a:rPr lang="en-US" sz="1400" i="1" dirty="0"/>
              <a:t>Politico</a:t>
            </a:r>
            <a:r>
              <a:rPr lang="en-US" sz="1400" dirty="0"/>
              <a:t>, Jan. 9, 2023</a:t>
            </a:r>
          </a:p>
          <a:p>
            <a:endParaRPr lang="en-US" dirty="0"/>
          </a:p>
          <a:p>
            <a:r>
              <a:rPr lang="en-US" dirty="0"/>
              <a:t>“Beverage giants Coca-Cola and PepsiCo are under preliminary investigation at the Federal Trade Commission over potential price discrimination in the soft drink market as the agency looks to revive a decades-old, but largely dormant law banning the practice, according to four people with knowledge of the probe. …For at least the last month the FTC has reached out to large retailers, including Walmart, seeking data and other information on how they purchase and price soft drinks, two of the people said. Walmart is not currently a target in the investigation, one of the people said.”</a:t>
            </a:r>
            <a:endParaRPr lang="en-US" sz="1400" dirty="0"/>
          </a:p>
        </p:txBody>
      </p:sp>
      <p:sp>
        <p:nvSpPr>
          <p:cNvPr id="2" name="Slide Number Placeholder 1"/>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34</a:t>
            </a:fld>
            <a:endParaRPr lang="en-US"/>
          </a:p>
        </p:txBody>
      </p:sp>
    </p:spTree>
    <p:extLst>
      <p:ext uri="{BB962C8B-B14F-4D97-AF65-F5344CB8AC3E}">
        <p14:creationId xmlns:p14="http://schemas.microsoft.com/office/powerpoint/2010/main" val="4281219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sz="3200" dirty="0"/>
              <a:t>Inflation and Cost Pass-Through on Costco Chicken</a:t>
            </a:r>
          </a:p>
        </p:txBody>
      </p:sp>
      <p:sp>
        <p:nvSpPr>
          <p:cNvPr id="4" name="Slide Number Placeholder 3"/>
          <p:cNvSpPr>
            <a:spLocks noGrp="1"/>
          </p:cNvSpPr>
          <p:nvPr>
            <p:ph type="sldNum" sz="quarter" idx="11"/>
          </p:nvPr>
        </p:nvSpPr>
        <p:spPr/>
        <p:txBody>
          <a:bodyPr/>
          <a:lstStyle/>
          <a:p>
            <a:pPr>
              <a:defRPr/>
            </a:pPr>
            <a:fld id="{44BA3D15-83BA-4D32-A033-ABC08A571973}" type="slidenum">
              <a:rPr lang="en-US" smtClean="0"/>
              <a:pPr>
                <a:defRPr/>
              </a:pPr>
              <a:t>35</a:t>
            </a:fld>
            <a:endParaRPr lang="en-US"/>
          </a:p>
        </p:txBody>
      </p:sp>
    </p:spTree>
    <p:extLst>
      <p:ext uri="{BB962C8B-B14F-4D97-AF65-F5344CB8AC3E}">
        <p14:creationId xmlns:p14="http://schemas.microsoft.com/office/powerpoint/2010/main" val="2950446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Retail Loss-Leader Pricing</a:t>
            </a:r>
          </a:p>
        </p:txBody>
      </p:sp>
      <p:sp>
        <p:nvSpPr>
          <p:cNvPr id="3" name="Content Placeholder 2"/>
          <p:cNvSpPr>
            <a:spLocks noGrp="1"/>
          </p:cNvSpPr>
          <p:nvPr>
            <p:ph sz="quarter" idx="1"/>
          </p:nvPr>
        </p:nvSpPr>
        <p:spPr>
          <a:xfrm>
            <a:off x="612648" y="1600200"/>
            <a:ext cx="8302752" cy="1981200"/>
          </a:xfrm>
        </p:spPr>
        <p:txBody>
          <a:bodyPr/>
          <a:lstStyle/>
          <a:p>
            <a:pPr marL="0" indent="0" algn="ctr">
              <a:buNone/>
            </a:pPr>
            <a:r>
              <a:rPr lang="en-US" b="1" dirty="0">
                <a:latin typeface="Times New Roman" panose="02020603050405020304" pitchFamily="18" charset="0"/>
                <a:cs typeface="Times New Roman" panose="02020603050405020304" pitchFamily="18" charset="0"/>
              </a:rPr>
              <a:t>Inflation is raising prices on almost everything, except rotisserie chicken</a:t>
            </a:r>
          </a:p>
          <a:p>
            <a:pPr marL="0" indent="0" algn="r">
              <a:buNone/>
            </a:pPr>
            <a:r>
              <a:rPr lang="en-US" sz="1200" dirty="0">
                <a:latin typeface="Times New Roman" panose="02020603050405020304" pitchFamily="18" charset="0"/>
                <a:cs typeface="Times New Roman" panose="02020603050405020304" pitchFamily="18" charset="0"/>
              </a:rPr>
              <a:t>By Rachel </a:t>
            </a:r>
            <a:r>
              <a:rPr lang="en-US" sz="1200" dirty="0" err="1">
                <a:latin typeface="Times New Roman" panose="02020603050405020304" pitchFamily="18" charset="0"/>
                <a:cs typeface="Times New Roman" panose="02020603050405020304" pitchFamily="18" charset="0"/>
              </a:rPr>
              <a:t>Treisman</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NPR</a:t>
            </a:r>
            <a:r>
              <a:rPr lang="en-US" sz="1200" dirty="0">
                <a:latin typeface="Times New Roman" panose="02020603050405020304" pitchFamily="18" charset="0"/>
                <a:cs typeface="Times New Roman" panose="02020603050405020304" pitchFamily="18" charset="0"/>
              </a:rPr>
              <a:t>, June 7 2022</a:t>
            </a:r>
          </a:p>
          <a:p>
            <a:r>
              <a:rPr lang="en-US" sz="1200" dirty="0">
                <a:latin typeface="Times New Roman" panose="02020603050405020304" pitchFamily="18" charset="0"/>
                <a:cs typeface="Times New Roman" panose="02020603050405020304" pitchFamily="18" charset="0"/>
              </a:rPr>
              <a:t>Chicken prices up 16.4% in 2022, &amp; predicted to increase 15-18%.</a:t>
            </a:r>
          </a:p>
          <a:p>
            <a:r>
              <a:rPr lang="en-US" sz="1200" dirty="0">
                <a:latin typeface="Times New Roman" panose="02020603050405020304" pitchFamily="18" charset="0"/>
                <a:cs typeface="Times New Roman" panose="02020603050405020304" pitchFamily="18" charset="0"/>
              </a:rPr>
              <a:t>But BJ’s, Costco and Sam’s still charge under $5</a:t>
            </a:r>
          </a:p>
          <a:p>
            <a:r>
              <a:rPr lang="en-US" sz="1200" dirty="0">
                <a:latin typeface="Times New Roman" panose="02020603050405020304" pitchFamily="18" charset="0"/>
                <a:cs typeface="Times New Roman" panose="02020603050405020304" pitchFamily="18" charset="0"/>
              </a:rPr>
              <a:t>Chains like Publix and Giant Eagle charge $7</a:t>
            </a:r>
          </a:p>
        </p:txBody>
      </p:sp>
      <p:sp>
        <p:nvSpPr>
          <p:cNvPr id="4" name="Slide Number Placeholder 3"/>
          <p:cNvSpPr>
            <a:spLocks noGrp="1"/>
          </p:cNvSpPr>
          <p:nvPr>
            <p:ph type="sldNum" sz="quarter" idx="12"/>
          </p:nvPr>
        </p:nvSpPr>
        <p:spPr/>
        <p:txBody>
          <a:bodyPr>
            <a:normAutofit fontScale="85000" lnSpcReduction="20000"/>
          </a:bodyPr>
          <a:lstStyle/>
          <a:p>
            <a:pPr>
              <a:defRPr/>
            </a:pPr>
            <a:fld id="{EF65219A-C000-4A62-8EC5-5C157C0A5250}" type="slidenum">
              <a:rPr lang="en-US" smtClean="0"/>
              <a:pPr>
                <a:defRPr/>
              </a:pPr>
              <a:t>36</a:t>
            </a:fld>
            <a:endParaRPr lang="en-US"/>
          </a:p>
        </p:txBody>
      </p:sp>
      <p:pic>
        <p:nvPicPr>
          <p:cNvPr id="5" name="Picture 4"/>
          <p:cNvPicPr>
            <a:picLocks noChangeAspect="1"/>
          </p:cNvPicPr>
          <p:nvPr/>
        </p:nvPicPr>
        <p:blipFill>
          <a:blip r:embed="rId2"/>
          <a:stretch>
            <a:fillRect/>
          </a:stretch>
        </p:blipFill>
        <p:spPr>
          <a:xfrm>
            <a:off x="5536735" y="3352800"/>
            <a:ext cx="3313604" cy="2487478"/>
          </a:xfrm>
          <a:prstGeom prst="rect">
            <a:avLst/>
          </a:prstGeom>
        </p:spPr>
      </p:pic>
      <p:sp>
        <p:nvSpPr>
          <p:cNvPr id="7" name="Rectangle 6"/>
          <p:cNvSpPr/>
          <p:nvPr/>
        </p:nvSpPr>
        <p:spPr>
          <a:xfrm>
            <a:off x="685800" y="4114800"/>
            <a:ext cx="4572000" cy="954107"/>
          </a:xfrm>
          <a:prstGeom prst="rect">
            <a:avLst/>
          </a:prstGeom>
        </p:spPr>
        <p:txBody>
          <a:bodyPr>
            <a:spAutoFit/>
          </a:bodyPr>
          <a:lstStyle/>
          <a:p>
            <a:pPr marL="0" indent="0" algn="ctr">
              <a:buNone/>
            </a:pPr>
            <a:r>
              <a:rPr lang="en-US" sz="1400" dirty="0">
                <a:cs typeface="Times New Roman" panose="02020603050405020304" pitchFamily="18" charset="0"/>
              </a:rPr>
              <a:t>“Rotisserie chickens in particular are a marketable combination of visible and Affordable…They're giving a cheapness aura to the store, which is helpful for consumers when they're concerned about their spending power.</a:t>
            </a:r>
          </a:p>
        </p:txBody>
      </p:sp>
    </p:spTree>
    <p:extLst>
      <p:ext uri="{BB962C8B-B14F-4D97-AF65-F5344CB8AC3E}">
        <p14:creationId xmlns:p14="http://schemas.microsoft.com/office/powerpoint/2010/main" val="2441299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Mobile Voice and Data Services</a:t>
            </a:r>
          </a:p>
        </p:txBody>
      </p:sp>
      <p:sp>
        <p:nvSpPr>
          <p:cNvPr id="3" name="Title 2"/>
          <p:cNvSpPr>
            <a:spLocks noGrp="1"/>
          </p:cNvSpPr>
          <p:nvPr>
            <p:ph type="title"/>
          </p:nvPr>
        </p:nvSpPr>
        <p:spPr/>
        <p:txBody>
          <a:bodyPr/>
          <a:lstStyle/>
          <a:p>
            <a:r>
              <a:rPr lang="en-US" dirty="0"/>
              <a:t>Flat-Rate Bias</a:t>
            </a:r>
          </a:p>
        </p:txBody>
      </p:sp>
      <p:sp>
        <p:nvSpPr>
          <p:cNvPr id="4" name="Slide Number Placeholder 3"/>
          <p:cNvSpPr>
            <a:spLocks noGrp="1"/>
          </p:cNvSpPr>
          <p:nvPr>
            <p:ph type="sldNum" sz="quarter" idx="11"/>
          </p:nvPr>
        </p:nvSpPr>
        <p:spPr/>
        <p:txBody>
          <a:bodyPr/>
          <a:lstStyle/>
          <a:p>
            <a:pPr>
              <a:defRPr/>
            </a:pPr>
            <a:fld id="{44BA3D15-83BA-4D32-A033-ABC08A571973}" type="slidenum">
              <a:rPr lang="en-US" smtClean="0"/>
              <a:pPr>
                <a:defRPr/>
              </a:pPr>
              <a:t>37</a:t>
            </a:fld>
            <a:endParaRPr lang="en-US"/>
          </a:p>
        </p:txBody>
      </p:sp>
    </p:spTree>
    <p:extLst>
      <p:ext uri="{BB962C8B-B14F-4D97-AF65-F5344CB8AC3E}">
        <p14:creationId xmlns:p14="http://schemas.microsoft.com/office/powerpoint/2010/main" val="3619822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0615" y="3569366"/>
            <a:ext cx="8153400" cy="3124201"/>
          </a:xfrm>
        </p:spPr>
        <p:txBody>
          <a:bodyPr>
            <a:normAutofit fontScale="92500" lnSpcReduction="10000"/>
          </a:bodyPr>
          <a:lstStyle/>
          <a:p>
            <a:pPr marL="0" indent="0" algn="ctr">
              <a:buNone/>
            </a:pPr>
            <a:r>
              <a:rPr lang="en-US" sz="3200" b="1" dirty="0">
                <a:hlinkClick r:id="rId2"/>
              </a:rPr>
              <a:t>Why every US carrier has a new unlimited plan</a:t>
            </a:r>
            <a:endParaRPr lang="en-US" b="1" dirty="0"/>
          </a:p>
          <a:p>
            <a:pPr marL="0" indent="0" algn="r">
              <a:buNone/>
            </a:pPr>
            <a:r>
              <a:rPr lang="en-US" sz="1600" dirty="0"/>
              <a:t>by </a:t>
            </a:r>
            <a:r>
              <a:rPr lang="en-US" sz="1600" dirty="0">
                <a:hlinkClick r:id="rId3"/>
              </a:rPr>
              <a:t>Chaim </a:t>
            </a:r>
            <a:r>
              <a:rPr lang="en-US" sz="1600" dirty="0" err="1">
                <a:hlinkClick r:id="rId3"/>
              </a:rPr>
              <a:t>Gartenberg</a:t>
            </a:r>
            <a:r>
              <a:rPr lang="en-US" sz="1600" dirty="0" err="1">
                <a:hlinkClick r:id="rId4"/>
              </a:rPr>
              <a:t>@cgartenberg</a:t>
            </a:r>
            <a:r>
              <a:rPr lang="en-US" sz="1600" dirty="0"/>
              <a:t>, </a:t>
            </a:r>
            <a:r>
              <a:rPr lang="en-US" sz="1600" i="1" dirty="0"/>
              <a:t>The Verge,</a:t>
            </a:r>
            <a:r>
              <a:rPr lang="en-US" sz="1600" dirty="0"/>
              <a:t> 2-17-2017</a:t>
            </a:r>
            <a:endParaRPr lang="en-US" sz="1600" b="1" dirty="0"/>
          </a:p>
          <a:p>
            <a:pPr lvl="1"/>
            <a:r>
              <a:rPr lang="en-US" dirty="0" err="1"/>
              <a:t>T-mobile</a:t>
            </a:r>
            <a:r>
              <a:rPr lang="en-US" dirty="0"/>
              <a:t> eliminated tiered data pricing (Jan 2017)</a:t>
            </a:r>
          </a:p>
          <a:p>
            <a:pPr lvl="1"/>
            <a:r>
              <a:rPr lang="en-US" dirty="0"/>
              <a:t>Verizon announced </a:t>
            </a:r>
            <a:r>
              <a:rPr lang="en-US" b="1" dirty="0"/>
              <a:t>unlimited</a:t>
            </a:r>
            <a:r>
              <a:rPr lang="en-US" dirty="0"/>
              <a:t> plan (Feb 2017)</a:t>
            </a:r>
          </a:p>
          <a:p>
            <a:pPr lvl="1">
              <a:spcAft>
                <a:spcPts val="1200"/>
              </a:spcAft>
            </a:pPr>
            <a:r>
              <a:rPr lang="en-US" dirty="0"/>
              <a:t>Sprint and AT&amp;T responded with their own </a:t>
            </a:r>
            <a:r>
              <a:rPr lang="en-US" b="1" dirty="0"/>
              <a:t>unlimited</a:t>
            </a:r>
            <a:r>
              <a:rPr lang="en-US" dirty="0"/>
              <a:t> plans</a:t>
            </a:r>
          </a:p>
          <a:p>
            <a:pPr>
              <a:spcAft>
                <a:spcPts val="1200"/>
              </a:spcAft>
            </a:pPr>
            <a:r>
              <a:rPr lang="en-US" dirty="0"/>
              <a:t>Verizon famously eliminated </a:t>
            </a:r>
            <a:r>
              <a:rPr lang="en-US" i="1" dirty="0"/>
              <a:t>all-you-can-eat</a:t>
            </a:r>
            <a:r>
              <a:rPr lang="en-US" dirty="0"/>
              <a:t> data in 2011!</a:t>
            </a:r>
          </a:p>
          <a:p>
            <a:pPr>
              <a:buSzPct val="130000"/>
              <a:buFont typeface="Symbol MT" panose="05050102010706020507" pitchFamily="18" charset="2"/>
              <a:buChar char="Þ"/>
            </a:pPr>
            <a:r>
              <a:rPr lang="en-US" dirty="0"/>
              <a:t>Competitive pricing pressure (prisoner’s dilemma ?)</a:t>
            </a:r>
          </a:p>
        </p:txBody>
      </p:sp>
      <p:sp>
        <p:nvSpPr>
          <p:cNvPr id="4" name="Slide Number Placeholder 3"/>
          <p:cNvSpPr>
            <a:spLocks noGrp="1"/>
          </p:cNvSpPr>
          <p:nvPr>
            <p:ph type="sldNum" sz="quarter" idx="12"/>
          </p:nvPr>
        </p:nvSpPr>
        <p:spPr/>
        <p:txBody>
          <a:bodyPr>
            <a:normAutofit fontScale="85000" lnSpcReduction="20000"/>
          </a:bodyPr>
          <a:lstStyle/>
          <a:p>
            <a:pPr>
              <a:defRPr/>
            </a:pPr>
            <a:fld id="{E1683557-6DDD-418C-BDD0-0D0000C9ABF9}" type="slidenum">
              <a:rPr lang="en-US" smtClean="0"/>
              <a:pPr>
                <a:defRPr/>
              </a:pPr>
              <a:t>38</a:t>
            </a:fld>
            <a:endParaRPr lang="en-US"/>
          </a:p>
        </p:txBody>
      </p:sp>
      <p:sp>
        <p:nvSpPr>
          <p:cNvPr id="5" name="Rectangle 2"/>
          <p:cNvSpPr>
            <a:spLocks noGrp="1" noChangeArrowheads="1"/>
          </p:cNvSpPr>
          <p:nvPr>
            <p:ph type="title"/>
          </p:nvPr>
        </p:nvSpPr>
        <p:spPr>
          <a:xfrm>
            <a:off x="612775" y="228600"/>
            <a:ext cx="8153400" cy="990600"/>
          </a:xfrm>
        </p:spPr>
        <p:txBody>
          <a:bodyPr>
            <a:normAutofit fontScale="90000"/>
          </a:bodyPr>
          <a:lstStyle/>
          <a:p>
            <a:pPr>
              <a:defRPr/>
            </a:pPr>
            <a:r>
              <a:rPr lang="en-US" sz="4400" dirty="0"/>
              <a:t>Perils of Flat-Rate Pricing</a:t>
            </a:r>
            <a:br>
              <a:rPr lang="en-US" sz="4400" dirty="0"/>
            </a:br>
            <a:r>
              <a:rPr lang="en-US" sz="3600" dirty="0"/>
              <a:t>Unlimited (all-you-can-eat) Data Plans</a:t>
            </a:r>
            <a:endParaRPr lang="en-US" sz="2700" dirty="0"/>
          </a:p>
        </p:txBody>
      </p:sp>
      <p:pic>
        <p:nvPicPr>
          <p:cNvPr id="1026" name="Picture 2" descr="https://upload.wikimedia.org/wikipedia/commons/thumb/2/2a/George_Santayana.jpg/220px-George_Santayan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3814" y="1684422"/>
            <a:ext cx="1274091" cy="1552074"/>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ular Callout 5"/>
          <p:cNvSpPr/>
          <p:nvPr/>
        </p:nvSpPr>
        <p:spPr>
          <a:xfrm>
            <a:off x="1046746" y="1957137"/>
            <a:ext cx="3003885" cy="745958"/>
          </a:xfrm>
          <a:prstGeom prst="wedgeRoundRectCallout">
            <a:avLst>
              <a:gd name="adj1" fmla="val 81858"/>
              <a:gd name="adj2" fmla="val 8615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i="1" dirty="0"/>
              <a:t>Those who cannot remember the past are condemned to repeat it. </a:t>
            </a:r>
          </a:p>
        </p:txBody>
      </p:sp>
      <p:sp>
        <p:nvSpPr>
          <p:cNvPr id="7" name="Rectangle 6"/>
          <p:cNvSpPr/>
          <p:nvPr/>
        </p:nvSpPr>
        <p:spPr>
          <a:xfrm>
            <a:off x="4897519" y="3166827"/>
            <a:ext cx="1686680" cy="307777"/>
          </a:xfrm>
          <a:prstGeom prst="rect">
            <a:avLst/>
          </a:prstGeom>
        </p:spPr>
        <p:txBody>
          <a:bodyPr wrap="none">
            <a:spAutoFit/>
          </a:bodyPr>
          <a:lstStyle/>
          <a:p>
            <a:r>
              <a:rPr lang="en-US" sz="1400" dirty="0">
                <a:solidFill>
                  <a:srgbClr val="000000"/>
                </a:solidFill>
                <a:latin typeface="Linux Libertine"/>
              </a:rPr>
              <a:t>George Santayana</a:t>
            </a:r>
            <a:endParaRPr lang="en-US" sz="1400" b="0" i="0" dirty="0">
              <a:solidFill>
                <a:srgbClr val="000000"/>
              </a:solidFill>
              <a:effectLst/>
              <a:latin typeface="Linux Libertine"/>
            </a:endParaRPr>
          </a:p>
        </p:txBody>
      </p:sp>
    </p:spTree>
    <p:extLst>
      <p:ext uri="{BB962C8B-B14F-4D97-AF65-F5344CB8AC3E}">
        <p14:creationId xmlns:p14="http://schemas.microsoft.com/office/powerpoint/2010/main" val="153417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p">
  <a:themeElements>
    <a:clrScheme name="Custom 5">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0070C0"/>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Template>
  <TotalTime>1083306840</TotalTime>
  <Pages>29</Pages>
  <Words>3031</Words>
  <Application>Microsoft Macintosh PowerPoint</Application>
  <PresentationFormat>Letter Paper (8.5x11 in)</PresentationFormat>
  <Paragraphs>485</Paragraphs>
  <Slides>38</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38</vt:i4>
      </vt:variant>
    </vt:vector>
  </HeadingPairs>
  <TitlesOfParts>
    <vt:vector size="52" baseType="lpstr">
      <vt:lpstr>Batang</vt:lpstr>
      <vt:lpstr>굴림</vt:lpstr>
      <vt:lpstr>굴림</vt:lpstr>
      <vt:lpstr>Linux Libertine</vt:lpstr>
      <vt:lpstr>Symbol MT</vt:lpstr>
      <vt:lpstr>Arial</vt:lpstr>
      <vt:lpstr>Bahnschrift SemiBold</vt:lpstr>
      <vt:lpstr>Cambria Math</vt:lpstr>
      <vt:lpstr>Monotype Sorts</vt:lpstr>
      <vt:lpstr>Times New Roman</vt:lpstr>
      <vt:lpstr>Tw Cen MT</vt:lpstr>
      <vt:lpstr>Wingdings</vt:lpstr>
      <vt:lpstr>Wingdings 2</vt:lpstr>
      <vt:lpstr>temp</vt:lpstr>
      <vt:lpstr>Nonlinear Pricing</vt:lpstr>
      <vt:lpstr>Overview</vt:lpstr>
      <vt:lpstr>NL Pricing Examples</vt:lpstr>
      <vt:lpstr>NL Pricing as Segmentation</vt:lpstr>
      <vt:lpstr>Strategies to capture value Two Illustrative Examples</vt:lpstr>
      <vt:lpstr>Example 1: Single Customer, potentially buys up to 3 units</vt:lpstr>
      <vt:lpstr>Example 1: Two Strategies to capture value</vt:lpstr>
      <vt:lpstr>Example 1: Two-Part Tariff</vt:lpstr>
      <vt:lpstr>Example 1: Three Strategies to capture value</vt:lpstr>
      <vt:lpstr>Challenges: Arbitrage Risks</vt:lpstr>
      <vt:lpstr>Example 2: Two customers, multiple units</vt:lpstr>
      <vt:lpstr>Example 2: Profits from both customers</vt:lpstr>
      <vt:lpstr>Example 2: Look at Total WTP for n units</vt:lpstr>
      <vt:lpstr>Example 2: Strategy 1</vt:lpstr>
      <vt:lpstr>Example 2: Can we do better?</vt:lpstr>
      <vt:lpstr>Example 2: Strategy 2</vt:lpstr>
      <vt:lpstr>Example 2: Strategy 2 (b)</vt:lpstr>
      <vt:lpstr>Two uses of NL pricing to capture value</vt:lpstr>
      <vt:lpstr>Menus of non-linear pricing in practice Example: Costco</vt:lpstr>
      <vt:lpstr>Menus of non-linear pricing in practice Example: Costco</vt:lpstr>
      <vt:lpstr>Two-Part Tariff with information goods Subscriptions</vt:lpstr>
      <vt:lpstr>But why the proliferation of subscriptions</vt:lpstr>
      <vt:lpstr>Flat-Rate Bias and Consumer Psychology</vt:lpstr>
      <vt:lpstr>Flat-Rate Bias &amp; Consumer Psychology</vt:lpstr>
      <vt:lpstr>Flat-Rate Bias as double-edged sword MoviePass</vt:lpstr>
      <vt:lpstr>Marketing for Good? Subscriptions &amp; consumer inattention</vt:lpstr>
      <vt:lpstr>Marketing for Good? Subscriptions &amp; consumer inattention</vt:lpstr>
      <vt:lpstr>Marketing for Good? Subscriptions &amp; consumer inattention</vt:lpstr>
      <vt:lpstr>Take Away</vt:lpstr>
      <vt:lpstr>NL Pricing of Financial Services</vt:lpstr>
      <vt:lpstr>NL Pricing in Financial Services Example: fee-only versus fee-based</vt:lpstr>
      <vt:lpstr>Legality of NL Pricing in US</vt:lpstr>
      <vt:lpstr>Non-Linear Pricing and B2B Laws The Robinson-Patman Act in the U.S.</vt:lpstr>
      <vt:lpstr>Non-Linear Pricing and B2B Laws The Robinson-Patman Act in the U.S.</vt:lpstr>
      <vt:lpstr>Inflation and Cost Pass-Through on Costco Chicken</vt:lpstr>
      <vt:lpstr>Retail Loss-Leader Pricing</vt:lpstr>
      <vt:lpstr>Flat-Rate Bias</vt:lpstr>
      <vt:lpstr>Perils of Flat-Rate Pricing Unlimited (all-you-can-eat) Data Plans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Discrimination I</dc:title>
  <dc:creator>JP Dube</dc:creator>
  <cp:lastModifiedBy>Derrick Teo</cp:lastModifiedBy>
  <cp:revision>501</cp:revision>
  <cp:lastPrinted>1996-10-15T16:19:12Z</cp:lastPrinted>
  <dcterms:created xsi:type="dcterms:W3CDTF">1996-09-15T18:44:58Z</dcterms:created>
  <dcterms:modified xsi:type="dcterms:W3CDTF">2025-07-11T02:54:28Z</dcterms:modified>
</cp:coreProperties>
</file>