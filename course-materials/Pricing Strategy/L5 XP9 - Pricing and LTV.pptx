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777" r:id="rId1"/>
  </p:sldMasterIdLst>
  <p:notesMasterIdLst>
    <p:notesMasterId r:id="rId67"/>
  </p:notesMasterIdLst>
  <p:handoutMasterIdLst>
    <p:handoutMasterId r:id="rId68"/>
  </p:handoutMasterIdLst>
  <p:sldIdLst>
    <p:sldId id="351" r:id="rId2"/>
    <p:sldId id="428" r:id="rId3"/>
    <p:sldId id="353" r:id="rId4"/>
    <p:sldId id="354" r:id="rId5"/>
    <p:sldId id="355" r:id="rId6"/>
    <p:sldId id="356" r:id="rId7"/>
    <p:sldId id="357" r:id="rId8"/>
    <p:sldId id="429" r:id="rId9"/>
    <p:sldId id="359" r:id="rId10"/>
    <p:sldId id="360" r:id="rId11"/>
    <p:sldId id="413" r:id="rId12"/>
    <p:sldId id="427" r:id="rId13"/>
    <p:sldId id="430" r:id="rId14"/>
    <p:sldId id="431" r:id="rId15"/>
    <p:sldId id="432" r:id="rId16"/>
    <p:sldId id="433" r:id="rId17"/>
    <p:sldId id="417" r:id="rId18"/>
    <p:sldId id="418" r:id="rId19"/>
    <p:sldId id="419" r:id="rId20"/>
    <p:sldId id="420" r:id="rId21"/>
    <p:sldId id="369" r:id="rId22"/>
    <p:sldId id="370" r:id="rId23"/>
    <p:sldId id="365" r:id="rId24"/>
    <p:sldId id="372" r:id="rId25"/>
    <p:sldId id="373" r:id="rId26"/>
    <p:sldId id="374" r:id="rId27"/>
    <p:sldId id="434" r:id="rId28"/>
    <p:sldId id="334" r:id="rId29"/>
    <p:sldId id="335" r:id="rId30"/>
    <p:sldId id="336" r:id="rId31"/>
    <p:sldId id="337" r:id="rId32"/>
    <p:sldId id="338" r:id="rId33"/>
    <p:sldId id="339" r:id="rId34"/>
    <p:sldId id="340" r:id="rId35"/>
    <p:sldId id="341" r:id="rId36"/>
    <p:sldId id="342" r:id="rId37"/>
    <p:sldId id="343" r:id="rId38"/>
    <p:sldId id="344" r:id="rId39"/>
    <p:sldId id="277" r:id="rId40"/>
    <p:sldId id="358" r:id="rId41"/>
    <p:sldId id="382" r:id="rId42"/>
    <p:sldId id="383" r:id="rId43"/>
    <p:sldId id="384" r:id="rId44"/>
    <p:sldId id="381" r:id="rId45"/>
    <p:sldId id="435" r:id="rId46"/>
    <p:sldId id="436" r:id="rId47"/>
    <p:sldId id="361" r:id="rId48"/>
    <p:sldId id="362" r:id="rId49"/>
    <p:sldId id="310" r:id="rId50"/>
    <p:sldId id="316" r:id="rId51"/>
    <p:sldId id="311" r:id="rId52"/>
    <p:sldId id="324" r:id="rId53"/>
    <p:sldId id="313" r:id="rId54"/>
    <p:sldId id="314" r:id="rId55"/>
    <p:sldId id="315" r:id="rId56"/>
    <p:sldId id="321" r:id="rId57"/>
    <p:sldId id="317" r:id="rId58"/>
    <p:sldId id="318" r:id="rId59"/>
    <p:sldId id="322" r:id="rId60"/>
    <p:sldId id="319" r:id="rId61"/>
    <p:sldId id="320" r:id="rId62"/>
    <p:sldId id="323" r:id="rId63"/>
    <p:sldId id="371" r:id="rId64"/>
    <p:sldId id="437" r:id="rId65"/>
    <p:sldId id="438" r:id="rId66"/>
  </p:sldIdLst>
  <p:sldSz cx="9144000" cy="6858000" type="screen4x3"/>
  <p:notesSz cx="6858000" cy="9144000"/>
  <p:kinsoku lang="ja-JP" invalStChars="、。，．・：；？！゛゜ヽヾゝゞ々ー’”）〕］｝〉》」』】°‰′″℃￠％ぁぃぅぇぉっゃゅょゎァィゥェォッャュョヮヵヶ!%),.:;?]}｡｣､･ｧｨｩｪｫｬｭｮｯｰﾞﾟ" invalEndChars="‘“（〔［｛〈《「『【￥＄$([\{｢￡"/>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Arial" charset="0"/>
      </a:defRPr>
    </a:lvl1pPr>
    <a:lvl2pPr marL="457200" algn="l" rtl="0" fontAlgn="base">
      <a:spcBef>
        <a:spcPct val="0"/>
      </a:spcBef>
      <a:spcAft>
        <a:spcPct val="0"/>
      </a:spcAft>
      <a:defRPr sz="2400" kern="1200">
        <a:solidFill>
          <a:schemeClr val="tx1"/>
        </a:solidFill>
        <a:latin typeface="Times New Roman" pitchFamily="18" charset="0"/>
        <a:ea typeface="+mn-ea"/>
        <a:cs typeface="Arial" charset="0"/>
      </a:defRPr>
    </a:lvl2pPr>
    <a:lvl3pPr marL="914400" algn="l" rtl="0" fontAlgn="base">
      <a:spcBef>
        <a:spcPct val="0"/>
      </a:spcBef>
      <a:spcAft>
        <a:spcPct val="0"/>
      </a:spcAft>
      <a:defRPr sz="2400" kern="1200">
        <a:solidFill>
          <a:schemeClr val="tx1"/>
        </a:solidFill>
        <a:latin typeface="Times New Roman" pitchFamily="18" charset="0"/>
        <a:ea typeface="+mn-ea"/>
        <a:cs typeface="Arial" charset="0"/>
      </a:defRPr>
    </a:lvl3pPr>
    <a:lvl4pPr marL="1371600" algn="l" rtl="0" fontAlgn="base">
      <a:spcBef>
        <a:spcPct val="0"/>
      </a:spcBef>
      <a:spcAft>
        <a:spcPct val="0"/>
      </a:spcAft>
      <a:defRPr sz="2400" kern="1200">
        <a:solidFill>
          <a:schemeClr val="tx1"/>
        </a:solidFill>
        <a:latin typeface="Times New Roman" pitchFamily="18" charset="0"/>
        <a:ea typeface="+mn-ea"/>
        <a:cs typeface="Arial" charset="0"/>
      </a:defRPr>
    </a:lvl4pPr>
    <a:lvl5pPr marL="1828800" algn="l" rtl="0" fontAlgn="base">
      <a:spcBef>
        <a:spcPct val="0"/>
      </a:spcBef>
      <a:spcAft>
        <a:spcPct val="0"/>
      </a:spcAft>
      <a:defRPr sz="2400" kern="1200">
        <a:solidFill>
          <a:schemeClr val="tx1"/>
        </a:solidFill>
        <a:latin typeface="Times New Roman" pitchFamily="18" charset="0"/>
        <a:ea typeface="+mn-ea"/>
        <a:cs typeface="Arial" charset="0"/>
      </a:defRPr>
    </a:lvl5pPr>
    <a:lvl6pPr marL="2286000" algn="l" defTabSz="914400" rtl="0" eaLnBrk="1" latinLnBrk="0" hangingPunct="1">
      <a:defRPr sz="2400" kern="1200">
        <a:solidFill>
          <a:schemeClr val="tx1"/>
        </a:solidFill>
        <a:latin typeface="Times New Roman" pitchFamily="18" charset="0"/>
        <a:ea typeface="+mn-ea"/>
        <a:cs typeface="Arial" charset="0"/>
      </a:defRPr>
    </a:lvl6pPr>
    <a:lvl7pPr marL="2743200" algn="l" defTabSz="914400" rtl="0" eaLnBrk="1" latinLnBrk="0" hangingPunct="1">
      <a:defRPr sz="2400" kern="1200">
        <a:solidFill>
          <a:schemeClr val="tx1"/>
        </a:solidFill>
        <a:latin typeface="Times New Roman" pitchFamily="18" charset="0"/>
        <a:ea typeface="+mn-ea"/>
        <a:cs typeface="Arial" charset="0"/>
      </a:defRPr>
    </a:lvl7pPr>
    <a:lvl8pPr marL="3200400" algn="l" defTabSz="914400" rtl="0" eaLnBrk="1" latinLnBrk="0" hangingPunct="1">
      <a:defRPr sz="2400" kern="1200">
        <a:solidFill>
          <a:schemeClr val="tx1"/>
        </a:solidFill>
        <a:latin typeface="Times New Roman" pitchFamily="18" charset="0"/>
        <a:ea typeface="+mn-ea"/>
        <a:cs typeface="Arial" charset="0"/>
      </a:defRPr>
    </a:lvl8pPr>
    <a:lvl9pPr marL="3657600" algn="l" defTabSz="914400" rtl="0" eaLnBrk="1" latinLnBrk="0" hangingPunct="1">
      <a:defRPr sz="2400" kern="1200">
        <a:solidFill>
          <a:schemeClr val="tx1"/>
        </a:solidFill>
        <a:latin typeface="Times New Roman" pitchFamily="18"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2" d="100"/>
          <a:sy n="72" d="100"/>
        </p:scale>
        <p:origin x="1120"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35.emf"/><Relationship Id="rId1" Type="http://schemas.openxmlformats.org/officeDocument/2006/relationships/image" Target="../media/image3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p:cNvSpPr>
            <a:spLocks noChangeArrowheads="1"/>
          </p:cNvSpPr>
          <p:nvPr/>
        </p:nvSpPr>
        <p:spPr bwMode="auto">
          <a:xfrm>
            <a:off x="6391275" y="8750300"/>
            <a:ext cx="39687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0" tIns="44446" rIns="90480" bIns="44446" anchor="ctr">
            <a:spAutoFit/>
          </a:bodyPr>
          <a:lstStyle/>
          <a:p>
            <a:pPr algn="r" defTabSz="912813" eaLnBrk="0" hangingPunct="0"/>
            <a:fld id="{7C027CD9-30B8-48CC-8D2E-A8BE8293BEA6}" type="slidenum">
              <a:rPr lang="en-US" sz="1400">
                <a:latin typeface="Arial" charset="0"/>
              </a:rPr>
              <a:pPr algn="r" defTabSz="912813" eaLnBrk="0" hangingPunct="0"/>
              <a:t>‹#›</a:t>
            </a:fld>
            <a:endParaRPr lang="en-US" sz="1400">
              <a:latin typeface="Arial" charset="0"/>
            </a:endParaRPr>
          </a:p>
        </p:txBody>
      </p:sp>
    </p:spTree>
    <p:extLst>
      <p:ext uri="{BB962C8B-B14F-4D97-AF65-F5344CB8AC3E}">
        <p14:creationId xmlns:p14="http://schemas.microsoft.com/office/powerpoint/2010/main" val="5674080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14400" y="4344988"/>
            <a:ext cx="5027613" cy="4114800"/>
          </a:xfrm>
          <a:prstGeom prst="rect">
            <a:avLst/>
          </a:prstGeom>
          <a:noFill/>
          <a:ln w="12700">
            <a:noFill/>
            <a:miter lim="800000"/>
            <a:headEnd/>
            <a:tailEnd/>
          </a:ln>
          <a:effectLst/>
        </p:spPr>
        <p:txBody>
          <a:bodyPr vert="horz" wrap="square" lIns="90480" tIns="44446" rIns="90480" bIns="44446" numCol="1" anchor="t" anchorCtr="0" compatLnSpc="1">
            <a:prstTxWarp prst="textNoShape">
              <a:avLst/>
            </a:prstTxWarp>
          </a:bodyPr>
          <a:lstStyle/>
          <a:p>
            <a:pPr lvl="0"/>
            <a:r>
              <a:rPr lang="en-US" noProof="0"/>
              <a:t>Click to edit Master notes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4819" name="Rectangle 3"/>
          <p:cNvSpPr>
            <a:spLocks noGrp="1" noRot="1" noChangeAspect="1" noChangeArrowheads="1" noTextEdit="1"/>
          </p:cNvSpPr>
          <p:nvPr>
            <p:ph type="sldImg" idx="2"/>
          </p:nvPr>
        </p:nvSpPr>
        <p:spPr bwMode="auto">
          <a:xfrm>
            <a:off x="1143000" y="684213"/>
            <a:ext cx="4578350" cy="343376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34820" name="Rectangle 4"/>
          <p:cNvSpPr>
            <a:spLocks noChangeArrowheads="1"/>
          </p:cNvSpPr>
          <p:nvPr/>
        </p:nvSpPr>
        <p:spPr bwMode="auto">
          <a:xfrm>
            <a:off x="6391275" y="8750300"/>
            <a:ext cx="39687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0" tIns="44446" rIns="90480" bIns="44446" anchor="ctr">
            <a:spAutoFit/>
          </a:bodyPr>
          <a:lstStyle/>
          <a:p>
            <a:pPr algn="r" defTabSz="912813" eaLnBrk="0" hangingPunct="0"/>
            <a:fld id="{130F5697-1DDA-4273-BE61-874C22CEF47E}" type="slidenum">
              <a:rPr lang="en-US" sz="1400">
                <a:latin typeface="Arial" charset="0"/>
              </a:rPr>
              <a:pPr algn="r" defTabSz="912813" eaLnBrk="0" hangingPunct="0"/>
              <a:t>‹#›</a:t>
            </a:fld>
            <a:endParaRPr lang="en-US" sz="1400">
              <a:latin typeface="Arial" charset="0"/>
            </a:endParaRPr>
          </a:p>
        </p:txBody>
      </p:sp>
    </p:spTree>
    <p:extLst>
      <p:ext uri="{BB962C8B-B14F-4D97-AF65-F5344CB8AC3E}">
        <p14:creationId xmlns:p14="http://schemas.microsoft.com/office/powerpoint/2010/main" val="391868916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93818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Equivalent to 10% annual interest rate</a:t>
            </a:r>
          </a:p>
        </p:txBody>
      </p:sp>
    </p:spTree>
    <p:extLst>
      <p:ext uri="{BB962C8B-B14F-4D97-AF65-F5344CB8AC3E}">
        <p14:creationId xmlns:p14="http://schemas.microsoft.com/office/powerpoint/2010/main" val="17788666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800152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1.xml"/><Relationship Id="rId1" Type="http://schemas.openxmlformats.org/officeDocument/2006/relationships/themeOverride" Target="../theme/themeOverride1.xml"/><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4" name="Rectangle 3"/>
          <p:cNvSpPr/>
          <p:nvPr/>
        </p:nvSpPr>
        <p:spPr bwMode="white">
          <a:xfrm>
            <a:off x="0" y="5970588"/>
            <a:ext cx="9144000" cy="887412"/>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0" hangingPunct="0">
              <a:defRPr/>
            </a:pPr>
            <a:endParaRPr lang="en-US"/>
          </a:p>
        </p:txBody>
      </p:sp>
      <p:sp>
        <p:nvSpPr>
          <p:cNvPr id="5" name="Rectangle 4"/>
          <p:cNvSpPr/>
          <p:nvPr/>
        </p:nvSpPr>
        <p:spPr>
          <a:xfrm>
            <a:off x="-9525" y="6053138"/>
            <a:ext cx="2249488" cy="712787"/>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0" hangingPunct="0">
              <a:defRPr/>
            </a:pPr>
            <a:endParaRPr lang="en-US"/>
          </a:p>
        </p:txBody>
      </p:sp>
      <p:sp>
        <p:nvSpPr>
          <p:cNvPr id="6" name="Rectangle 5"/>
          <p:cNvSpPr/>
          <p:nvPr/>
        </p:nvSpPr>
        <p:spPr>
          <a:xfrm>
            <a:off x="2359025" y="6043613"/>
            <a:ext cx="6784975" cy="714375"/>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0" hangingPunct="0">
              <a:defRPr/>
            </a:pPr>
            <a:endParaRPr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endParaRPr lang="en-US" dirty="0"/>
          </a:p>
        </p:txBody>
      </p:sp>
      <p:sp>
        <p:nvSpPr>
          <p:cNvPr id="7" name="Date Placeholder 27"/>
          <p:cNvSpPr>
            <a:spLocks noGrp="1"/>
          </p:cNvSpPr>
          <p:nvPr>
            <p:ph type="dt" sz="half" idx="10"/>
          </p:nvPr>
        </p:nvSpPr>
        <p:spPr>
          <a:xfrm>
            <a:off x="76200" y="6069013"/>
            <a:ext cx="2057400" cy="685800"/>
          </a:xfrm>
        </p:spPr>
        <p:txBody>
          <a:bodyPr>
            <a:noAutofit/>
          </a:bodyPr>
          <a:lstStyle>
            <a:lvl1pPr algn="ctr">
              <a:defRPr sz="2000">
                <a:solidFill>
                  <a:srgbClr val="FFFFFF"/>
                </a:solidFill>
              </a:defRPr>
            </a:lvl1pPr>
          </a:lstStyle>
          <a:p>
            <a:pPr>
              <a:defRPr/>
            </a:pPr>
            <a:endParaRPr lang="en-US"/>
          </a:p>
        </p:txBody>
      </p:sp>
      <p:sp>
        <p:nvSpPr>
          <p:cNvPr id="10" name="Footer Placeholder 16"/>
          <p:cNvSpPr>
            <a:spLocks noGrp="1"/>
          </p:cNvSpPr>
          <p:nvPr>
            <p:ph type="ftr" sz="quarter" idx="11"/>
          </p:nvPr>
        </p:nvSpPr>
        <p:spPr>
          <a:xfrm>
            <a:off x="2085975" y="236538"/>
            <a:ext cx="5867400" cy="365125"/>
          </a:xfrm>
        </p:spPr>
        <p:txBody>
          <a:bodyPr/>
          <a:lstStyle>
            <a:lvl1pPr algn="r">
              <a:defRPr>
                <a:solidFill>
                  <a:schemeClr val="tx2"/>
                </a:solidFill>
              </a:defRPr>
            </a:lvl1pPr>
          </a:lstStyle>
          <a:p>
            <a:pPr>
              <a:defRPr/>
            </a:pPr>
            <a:endParaRPr lang="en-US"/>
          </a:p>
        </p:txBody>
      </p:sp>
      <p:sp>
        <p:nvSpPr>
          <p:cNvPr id="11" name="Slide Number Placeholder 28"/>
          <p:cNvSpPr>
            <a:spLocks noGrp="1"/>
          </p:cNvSpPr>
          <p:nvPr>
            <p:ph type="sldNum" sz="quarter" idx="12"/>
          </p:nvPr>
        </p:nvSpPr>
        <p:spPr>
          <a:xfrm>
            <a:off x="8001000" y="228600"/>
            <a:ext cx="838200" cy="381000"/>
          </a:xfrm>
        </p:spPr>
        <p:txBody>
          <a:bodyPr/>
          <a:lstStyle>
            <a:lvl1pPr>
              <a:defRPr smtClean="0">
                <a:solidFill>
                  <a:schemeClr val="tx2"/>
                </a:solidFill>
              </a:defRPr>
            </a:lvl1pPr>
          </a:lstStyle>
          <a:p>
            <a:pPr>
              <a:defRPr/>
            </a:pPr>
            <a:fld id="{81B2DF9E-B149-4ECD-91DB-CA901E845AE9}" type="slidenum">
              <a:rPr lang="en-US"/>
              <a:pPr>
                <a:defRPr/>
              </a:pPr>
              <a:t>‹#›</a:t>
            </a:fld>
            <a:endParaRPr lang="en-US"/>
          </a:p>
        </p:txBody>
      </p:sp>
    </p:spTree>
    <p:extLst>
      <p:ext uri="{BB962C8B-B14F-4D97-AF65-F5344CB8AC3E}">
        <p14:creationId xmlns:p14="http://schemas.microsoft.com/office/powerpoint/2010/main" val="241916004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29" descr="LOGOs_430+202_just_110508.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148513" y="6324600"/>
            <a:ext cx="16906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9" descr="LOGOs_430+202_just_110508.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148513" y="6324600"/>
            <a:ext cx="16906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612648" y="228600"/>
            <a:ext cx="8153400" cy="990600"/>
          </a:xfrm>
        </p:spPr>
        <p:txBody>
          <a:bodyPr>
            <a:normAutofit/>
          </a:bodyPr>
          <a:lstStyle>
            <a:lvl1pPr>
              <a:defRPr sz="4000" baseline="0">
                <a:latin typeface="+mj-lt"/>
              </a:defRPr>
            </a:lvl1pPr>
          </a:lstStyle>
          <a:p>
            <a:r>
              <a:rPr lang="en-US"/>
              <a:t>Click to edit Master title style</a:t>
            </a:r>
            <a:endParaRPr lang="en-US" dirty="0"/>
          </a:p>
        </p:txBody>
      </p:sp>
      <p:sp>
        <p:nvSpPr>
          <p:cNvPr id="8" name="Content Placeholder 7"/>
          <p:cNvSpPr>
            <a:spLocks noGrp="1"/>
          </p:cNvSpPr>
          <p:nvPr>
            <p:ph sz="quarter" idx="1"/>
          </p:nvPr>
        </p:nvSpPr>
        <p:spPr>
          <a:xfrm>
            <a:off x="612648" y="1600200"/>
            <a:ext cx="8153400" cy="4495800"/>
          </a:xfrm>
        </p:spPr>
        <p:txBody>
          <a:bodyPr>
            <a:normAutofit/>
          </a:bodyPr>
          <a:lstStyle>
            <a:lvl1pPr>
              <a:defRPr sz="2400" baseline="0">
                <a:latin typeface="+mj-lt"/>
              </a:defRPr>
            </a:lvl1pPr>
            <a:lvl2pPr>
              <a:defRPr sz="2400" baseline="0">
                <a:latin typeface="+mj-lt"/>
              </a:defRPr>
            </a:lvl2pPr>
            <a:lvl3pPr>
              <a:defRPr sz="2400" baseline="0">
                <a:latin typeface="+mj-lt"/>
              </a:defRPr>
            </a:lvl3pPr>
            <a:lvl4pPr>
              <a:defRPr sz="2400" baseline="0">
                <a:latin typeface="+mj-lt"/>
              </a:defRPr>
            </a:lvl4pPr>
            <a:lvl5pPr>
              <a:defRPr sz="2400" baseline="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13"/>
          <p:cNvSpPr>
            <a:spLocks noGrp="1"/>
          </p:cNvSpPr>
          <p:nvPr>
            <p:ph type="dt" sz="half" idx="10"/>
          </p:nvPr>
        </p:nvSpPr>
        <p:spPr/>
        <p:txBody>
          <a:bodyPr/>
          <a:lstStyle>
            <a:lvl1pPr>
              <a:defRPr/>
            </a:lvl1pPr>
          </a:lstStyle>
          <a:p>
            <a:pPr>
              <a:defRPr/>
            </a:pPr>
            <a:endParaRPr lang="en-US"/>
          </a:p>
        </p:txBody>
      </p:sp>
      <p:sp>
        <p:nvSpPr>
          <p:cNvPr id="7" name="Footer Placeholder 2"/>
          <p:cNvSpPr>
            <a:spLocks noGrp="1"/>
          </p:cNvSpPr>
          <p:nvPr>
            <p:ph type="ftr" sz="quarter" idx="11"/>
          </p:nvPr>
        </p:nvSpPr>
        <p:spPr/>
        <p:txBody>
          <a:bodyPr/>
          <a:lstStyle>
            <a:lvl1pPr>
              <a:defRPr/>
            </a:lvl1pPr>
          </a:lstStyle>
          <a:p>
            <a:pPr>
              <a:defRPr/>
            </a:pPr>
            <a:endParaRPr lang="en-US"/>
          </a:p>
        </p:txBody>
      </p:sp>
      <p:sp>
        <p:nvSpPr>
          <p:cNvPr id="9" name="Slide Number Placeholder 22"/>
          <p:cNvSpPr>
            <a:spLocks noGrp="1"/>
          </p:cNvSpPr>
          <p:nvPr>
            <p:ph type="sldNum" sz="quarter" idx="12"/>
          </p:nvPr>
        </p:nvSpPr>
        <p:spPr/>
        <p:txBody>
          <a:bodyPr/>
          <a:lstStyle>
            <a:lvl1pPr>
              <a:defRPr smtClean="0"/>
            </a:lvl1pPr>
          </a:lstStyle>
          <a:p>
            <a:pPr>
              <a:defRPr/>
            </a:pPr>
            <a:fld id="{A0841F23-D189-41D9-9747-E01DB953E15A}" type="slidenum">
              <a:rPr lang="en-US"/>
              <a:pPr>
                <a:defRPr/>
              </a:pPr>
              <a:t>‹#›</a:t>
            </a:fld>
            <a:endParaRPr lang="en-US"/>
          </a:p>
        </p:txBody>
      </p:sp>
    </p:spTree>
    <p:extLst>
      <p:ext uri="{BB962C8B-B14F-4D97-AF65-F5344CB8AC3E}">
        <p14:creationId xmlns:p14="http://schemas.microsoft.com/office/powerpoint/2010/main" val="40264718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4" name="Rectangle 3"/>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0" hangingPunct="0">
              <a:defRPr/>
            </a:pPr>
            <a:endParaRPr lang="en-US"/>
          </a:p>
        </p:txBody>
      </p:sp>
      <p:sp>
        <p:nvSpPr>
          <p:cNvPr id="5" name="Rectangle 4"/>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0" hangingPunct="0">
              <a:defRPr/>
            </a:pPr>
            <a:endParaRPr lang="en-US"/>
          </a:p>
        </p:txBody>
      </p:sp>
      <p:sp>
        <p:nvSpPr>
          <p:cNvPr id="6" name="Rectangle 5"/>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0" hangingPunct="0">
              <a:defRPr/>
            </a:pPr>
            <a:endParaRPr lang="en-US"/>
          </a:p>
        </p:txBody>
      </p:sp>
      <p:sp>
        <p:nvSpPr>
          <p:cNvPr id="3" name="Text Placeholder 2"/>
          <p:cNvSpPr>
            <a:spLocks noGrp="1"/>
          </p:cNvSpPr>
          <p:nvPr>
            <p:ph type="body" idx="1"/>
          </p:nvPr>
        </p:nvSpPr>
        <p:spPr>
          <a:xfrm>
            <a:off x="1371600" y="2743200"/>
            <a:ext cx="7123113" cy="1673225"/>
          </a:xfrm>
        </p:spPr>
        <p:txBody>
          <a:bodyPr/>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lang="en-US"/>
              <a:t>Click to edit Master title style</a:t>
            </a:r>
          </a:p>
        </p:txBody>
      </p:sp>
      <p:sp>
        <p:nvSpPr>
          <p:cNvPr id="7" name="Date Placeholder 11"/>
          <p:cNvSpPr>
            <a:spLocks noGrp="1"/>
          </p:cNvSpPr>
          <p:nvPr>
            <p:ph type="dt" sz="half" idx="10"/>
          </p:nvPr>
        </p:nvSpPr>
        <p:spPr/>
        <p:txBody>
          <a:bodyPr/>
          <a:lstStyle>
            <a:lvl1pPr>
              <a:defRPr/>
            </a:lvl1pPr>
          </a:lstStyle>
          <a:p>
            <a:pPr>
              <a:defRPr/>
            </a:pPr>
            <a:endParaRPr lang="en-US"/>
          </a:p>
        </p:txBody>
      </p:sp>
      <p:sp>
        <p:nvSpPr>
          <p:cNvPr id="8" name="Slide Number Placeholder 12"/>
          <p:cNvSpPr>
            <a:spLocks noGrp="1"/>
          </p:cNvSpPr>
          <p:nvPr>
            <p:ph type="sldNum" sz="quarter" idx="11"/>
          </p:nvPr>
        </p:nvSpPr>
        <p:spPr>
          <a:xfrm>
            <a:off x="0" y="1752600"/>
            <a:ext cx="1295400" cy="701675"/>
          </a:xfrm>
        </p:spPr>
        <p:txBody>
          <a:bodyPr>
            <a:noAutofit/>
          </a:bodyPr>
          <a:lstStyle>
            <a:lvl1pPr>
              <a:defRPr sz="2400" smtClean="0">
                <a:solidFill>
                  <a:srgbClr val="FFFFFF"/>
                </a:solidFill>
              </a:defRPr>
            </a:lvl1pPr>
          </a:lstStyle>
          <a:p>
            <a:pPr>
              <a:defRPr/>
            </a:pPr>
            <a:fld id="{DF54D116-B739-41B8-A000-A0DD5381050B}" type="slidenum">
              <a:rPr lang="en-US"/>
              <a:pPr>
                <a:defRPr/>
              </a:pPr>
              <a:t>‹#›</a:t>
            </a:fld>
            <a:endParaRPr lang="en-US"/>
          </a:p>
        </p:txBody>
      </p:sp>
      <p:sp>
        <p:nvSpPr>
          <p:cNvPr id="9" name="Footer Placeholder 13"/>
          <p:cNvSpPr>
            <a:spLocks noGrp="1"/>
          </p:cNvSpPr>
          <p:nvPr>
            <p:ph type="ftr" sz="quarter" idx="12"/>
          </p:nvPr>
        </p:nvSpPr>
        <p:spPr/>
        <p:txBody>
          <a:bodyPr/>
          <a:lstStyle>
            <a:lvl1pPr>
              <a:defRPr/>
            </a:lvl1pPr>
          </a:lstStyle>
          <a:p>
            <a:pPr>
              <a:defRPr/>
            </a:pPr>
            <a:endParaRPr lang="en-US"/>
          </a:p>
        </p:txBody>
      </p:sp>
    </p:spTree>
    <p:extLst>
      <p:ext uri="{BB962C8B-B14F-4D97-AF65-F5344CB8AC3E}">
        <p14:creationId xmlns:p14="http://schemas.microsoft.com/office/powerpoint/2010/main" val="75433254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5" name="Picture 29" descr="LOGOs_430+202_just_110508.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148513" y="6324600"/>
            <a:ext cx="16906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844901"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7"/>
          <p:cNvSpPr>
            <a:spLocks noGrp="1"/>
          </p:cNvSpPr>
          <p:nvPr>
            <p:ph type="dt" sz="half" idx="10"/>
          </p:nvPr>
        </p:nvSpPr>
        <p:spPr/>
        <p:txBody>
          <a:bodyPr rtlCol="0"/>
          <a:lstStyle>
            <a:lvl1pPr>
              <a:defRPr/>
            </a:lvl1pPr>
          </a:lstStyle>
          <a:p>
            <a:pPr>
              <a:defRPr/>
            </a:pPr>
            <a:endParaRPr lang="en-US"/>
          </a:p>
        </p:txBody>
      </p:sp>
      <p:sp>
        <p:nvSpPr>
          <p:cNvPr id="7" name="Slide Number Placeholder 9"/>
          <p:cNvSpPr>
            <a:spLocks noGrp="1"/>
          </p:cNvSpPr>
          <p:nvPr>
            <p:ph type="sldNum" sz="quarter" idx="11"/>
          </p:nvPr>
        </p:nvSpPr>
        <p:spPr/>
        <p:txBody>
          <a:bodyPr rtlCol="0"/>
          <a:lstStyle>
            <a:lvl1pPr>
              <a:defRPr smtClean="0"/>
            </a:lvl1pPr>
          </a:lstStyle>
          <a:p>
            <a:pPr>
              <a:defRPr/>
            </a:pPr>
            <a:fld id="{2F9A80E7-2929-40FF-856A-A25882B7D048}" type="slidenum">
              <a:rPr lang="en-US"/>
              <a:pPr>
                <a:defRPr/>
              </a:pPr>
              <a:t>‹#›</a:t>
            </a:fld>
            <a:endParaRPr lang="en-US"/>
          </a:p>
        </p:txBody>
      </p:sp>
      <p:sp>
        <p:nvSpPr>
          <p:cNvPr id="8" name="Footer Placeholder 11"/>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p14="http://schemas.microsoft.com/office/powerpoint/2010/main" val="1734470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lstStyle>
            <a:lvl1pPr>
              <a:defRPr/>
            </a:lvl1pPr>
          </a:lstStyle>
          <a:p>
            <a:r>
              <a:rPr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800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7" name="Date Placeholder 9"/>
          <p:cNvSpPr>
            <a:spLocks noGrp="1"/>
          </p:cNvSpPr>
          <p:nvPr>
            <p:ph type="dt" sz="half" idx="10"/>
          </p:nvPr>
        </p:nvSpPr>
        <p:spPr/>
        <p:txBody>
          <a:bodyPr rtlCol="0"/>
          <a:lstStyle>
            <a:lvl1pPr>
              <a:defRPr/>
            </a:lvl1pPr>
          </a:lstStyle>
          <a:p>
            <a:pPr>
              <a:defRPr/>
            </a:pPr>
            <a:endParaRPr lang="en-US"/>
          </a:p>
        </p:txBody>
      </p:sp>
      <p:sp>
        <p:nvSpPr>
          <p:cNvPr id="8" name="Slide Number Placeholder 11"/>
          <p:cNvSpPr>
            <a:spLocks noGrp="1"/>
          </p:cNvSpPr>
          <p:nvPr>
            <p:ph type="sldNum" sz="quarter" idx="11"/>
          </p:nvPr>
        </p:nvSpPr>
        <p:spPr/>
        <p:txBody>
          <a:bodyPr rtlCol="0"/>
          <a:lstStyle>
            <a:lvl1pPr>
              <a:defRPr smtClean="0"/>
            </a:lvl1pPr>
          </a:lstStyle>
          <a:p>
            <a:pPr>
              <a:defRPr/>
            </a:pPr>
            <a:fld id="{8C8D2AB8-46EE-48B0-9288-9F70B780F13C}" type="slidenum">
              <a:rPr lang="en-US"/>
              <a:pPr>
                <a:defRPr/>
              </a:pPr>
              <a:t>‹#›</a:t>
            </a:fld>
            <a:endParaRPr lang="en-US"/>
          </a:p>
        </p:txBody>
      </p:sp>
      <p:sp>
        <p:nvSpPr>
          <p:cNvPr id="9" name="Footer Placeholder 13"/>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p14="http://schemas.microsoft.com/office/powerpoint/2010/main" val="2552483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3" name="Picture 29" descr="LOGOs_430+202_just_110508.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148513" y="6324600"/>
            <a:ext cx="16906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smtClean="0"/>
            </a:lvl1pPr>
          </a:lstStyle>
          <a:p>
            <a:pPr>
              <a:defRPr/>
            </a:pPr>
            <a:fld id="{171C4267-8970-430F-B9B7-EA11299B2778}" type="slidenum">
              <a:rPr lang="en-US"/>
              <a:pPr>
                <a:defRPr/>
              </a:pPr>
              <a:t>‹#›</a:t>
            </a:fld>
            <a:endParaRPr lang="en-US"/>
          </a:p>
        </p:txBody>
      </p:sp>
    </p:spTree>
    <p:extLst>
      <p:ext uri="{BB962C8B-B14F-4D97-AF65-F5344CB8AC3E}">
        <p14:creationId xmlns:p14="http://schemas.microsoft.com/office/powerpoint/2010/main" val="25356934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endParaRPr lang="en-US"/>
          </a:p>
        </p:txBody>
      </p:sp>
      <p:sp>
        <p:nvSpPr>
          <p:cNvPr id="3" name="Footer Placeholder 2"/>
          <p:cNvSpPr>
            <a:spLocks noGrp="1"/>
          </p:cNvSpPr>
          <p:nvPr>
            <p:ph type="ftr" sz="quarter" idx="11"/>
          </p:nvPr>
        </p:nvSpPr>
        <p:spPr/>
        <p:txBody>
          <a:bodyPr/>
          <a:lstStyle>
            <a:lvl1pPr>
              <a:defRPr/>
            </a:lvl1pPr>
          </a:lstStyle>
          <a:p>
            <a:pPr>
              <a:defRPr/>
            </a:pPr>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smtClean="0">
                <a:solidFill>
                  <a:schemeClr val="tx2"/>
                </a:solidFill>
              </a:defRPr>
            </a:lvl1pPr>
          </a:lstStyle>
          <a:p>
            <a:pPr>
              <a:defRPr/>
            </a:pPr>
            <a:fld id="{2C06B922-E665-41CE-A35F-5DAE037B1B30}" type="slidenum">
              <a:rPr lang="en-US"/>
              <a:pPr>
                <a:defRPr/>
              </a:pPr>
              <a:t>‹#›</a:t>
            </a:fld>
            <a:endParaRPr lang="en-US"/>
          </a:p>
        </p:txBody>
      </p:sp>
    </p:spTree>
    <p:extLst>
      <p:ext uri="{BB962C8B-B14F-4D97-AF65-F5344CB8AC3E}">
        <p14:creationId xmlns:p14="http://schemas.microsoft.com/office/powerpoint/2010/main" val="24000984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lstStyle>
            <a:lvl1pPr algn="l">
              <a:buNone/>
              <a:defRPr sz="4400" b="0"/>
            </a:lvl1pPr>
          </a:lstStyle>
          <a:p>
            <a:r>
              <a:rPr lang="en-US"/>
              <a:t>Click to edit Master title style</a:t>
            </a:r>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a:lvl1pPr>
          </a:lstStyle>
          <a:p>
            <a:pPr>
              <a:defRPr/>
            </a:pPr>
            <a:endParaRPr lang="en-US"/>
          </a:p>
        </p:txBody>
      </p:sp>
      <p:sp>
        <p:nvSpPr>
          <p:cNvPr id="6" name="Footer Placeholder 2"/>
          <p:cNvSpPr>
            <a:spLocks noGrp="1"/>
          </p:cNvSpPr>
          <p:nvPr>
            <p:ph type="ftr" sz="quarter" idx="11"/>
          </p:nvPr>
        </p:nvSpPr>
        <p:spPr/>
        <p:txBody>
          <a:bodyPr/>
          <a:lstStyle>
            <a:lvl1pPr>
              <a:defRPr/>
            </a:lvl1pPr>
          </a:lstStyle>
          <a:p>
            <a:pPr>
              <a:defRPr/>
            </a:pPr>
            <a:endParaRPr lang="en-US"/>
          </a:p>
        </p:txBody>
      </p:sp>
      <p:sp>
        <p:nvSpPr>
          <p:cNvPr id="7" name="Slide Number Placeholder 22"/>
          <p:cNvSpPr>
            <a:spLocks noGrp="1"/>
          </p:cNvSpPr>
          <p:nvPr>
            <p:ph type="sldNum" sz="quarter" idx="12"/>
          </p:nvPr>
        </p:nvSpPr>
        <p:spPr/>
        <p:txBody>
          <a:bodyPr/>
          <a:lstStyle>
            <a:lvl1pPr>
              <a:defRPr/>
            </a:lvl1pPr>
          </a:lstStyle>
          <a:p>
            <a:pPr>
              <a:defRPr/>
            </a:pPr>
            <a:fld id="{D8778B09-F83E-46FE-9839-A4FF8A80F276}" type="slidenum">
              <a:rPr lang="en-US"/>
              <a:pPr>
                <a:defRPr/>
              </a:pPr>
              <a:t>‹#›</a:t>
            </a:fld>
            <a:endParaRPr lang="en-US"/>
          </a:p>
        </p:txBody>
      </p:sp>
    </p:spTree>
    <p:extLst>
      <p:ext uri="{BB962C8B-B14F-4D97-AF65-F5344CB8AC3E}">
        <p14:creationId xmlns:p14="http://schemas.microsoft.com/office/powerpoint/2010/main" val="2466122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5" name="Rectangle 4"/>
          <p:cNvSpPr/>
          <p:nvPr/>
        </p:nvSpPr>
        <p:spPr bwMode="white">
          <a:xfrm>
            <a:off x="-9525" y="4572000"/>
            <a:ext cx="9144000" cy="88741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0" hangingPunct="0">
              <a:defRPr/>
            </a:pPr>
            <a:endParaRPr lang="en-US"/>
          </a:p>
        </p:txBody>
      </p:sp>
      <p:sp>
        <p:nvSpPr>
          <p:cNvPr id="6" name="Rectangle 5"/>
          <p:cNvSpPr/>
          <p:nvPr/>
        </p:nvSpPr>
        <p:spPr>
          <a:xfrm>
            <a:off x="-9525" y="4664075"/>
            <a:ext cx="1463675" cy="712788"/>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0" hangingPunct="0">
              <a:defRPr/>
            </a:pPr>
            <a:endParaRPr lang="en-US"/>
          </a:p>
        </p:txBody>
      </p:sp>
      <p:sp>
        <p:nvSpPr>
          <p:cNvPr id="7" name="Rectangle 6"/>
          <p:cNvSpPr/>
          <p:nvPr/>
        </p:nvSpPr>
        <p:spPr>
          <a:xfrm>
            <a:off x="1544638" y="4654550"/>
            <a:ext cx="7599362" cy="712788"/>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0" hangingPunct="0">
              <a:defRPr/>
            </a:pPr>
            <a:endParaRPr lang="en-US"/>
          </a:p>
        </p:txBody>
      </p:sp>
      <p:sp>
        <p:nvSpPr>
          <p:cNvPr id="8" name="Rectangle 7"/>
          <p:cNvSpPr/>
          <p:nvPr/>
        </p:nvSpPr>
        <p:spPr bwMode="white">
          <a:xfrm>
            <a:off x="1447800" y="0"/>
            <a:ext cx="100013" cy="6867525"/>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0" hangingPunct="0">
              <a:defRPr/>
            </a:pPr>
            <a:endParaRPr lang="en-US"/>
          </a:p>
        </p:txBody>
      </p:sp>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a:r>
              <a:rPr lang="en-US"/>
              <a:t>Click to edit Master text styles</a:t>
            </a:r>
          </a:p>
        </p:txBody>
      </p:sp>
      <p:sp>
        <p:nvSpPr>
          <p:cNvPr id="2" name="Title 1"/>
          <p:cNvSpPr>
            <a:spLocks noGrp="1"/>
          </p:cNvSpPr>
          <p:nvPr>
            <p:ph type="title"/>
          </p:nvPr>
        </p:nvSpPr>
        <p:spPr>
          <a:xfrm>
            <a:off x="1600200" y="4648200"/>
            <a:ext cx="7315200" cy="685800"/>
          </a:xfrm>
        </p:spPr>
        <p:txBody>
          <a:bodyPr/>
          <a:lstStyle>
            <a:lvl1pPr algn="l">
              <a:buNone/>
              <a:defRPr sz="2800" b="0">
                <a:solidFill>
                  <a:srgbClr val="FFFFFF"/>
                </a:solidFill>
              </a:defRPr>
            </a:lvl1pPr>
          </a:lstStyle>
          <a:p>
            <a:r>
              <a:rPr lang="en-US"/>
              <a:t>Click to edit Master title style</a:t>
            </a:r>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11"/>
          <p:cNvSpPr>
            <a:spLocks noGrp="1"/>
          </p:cNvSpPr>
          <p:nvPr>
            <p:ph type="dt" sz="half" idx="10"/>
          </p:nvPr>
        </p:nvSpPr>
        <p:spPr>
          <a:xfrm>
            <a:off x="6248400" y="6248400"/>
            <a:ext cx="2667000" cy="365125"/>
          </a:xfrm>
        </p:spPr>
        <p:txBody>
          <a:bodyPr rtlCol="0"/>
          <a:lstStyle>
            <a:lvl1pPr>
              <a:defRPr/>
            </a:lvl1pPr>
          </a:lstStyle>
          <a:p>
            <a:pPr>
              <a:defRPr/>
            </a:pPr>
            <a:endParaRPr lang="en-US"/>
          </a:p>
        </p:txBody>
      </p:sp>
      <p:sp>
        <p:nvSpPr>
          <p:cNvPr id="10" name="Slide Number Placeholder 12"/>
          <p:cNvSpPr>
            <a:spLocks noGrp="1"/>
          </p:cNvSpPr>
          <p:nvPr>
            <p:ph type="sldNum" sz="quarter" idx="11"/>
          </p:nvPr>
        </p:nvSpPr>
        <p:spPr>
          <a:xfrm>
            <a:off x="0" y="4667250"/>
            <a:ext cx="1447800" cy="663575"/>
          </a:xfrm>
        </p:spPr>
        <p:txBody>
          <a:bodyPr rtlCol="0"/>
          <a:lstStyle>
            <a:lvl1pPr>
              <a:defRPr sz="2800" smtClean="0"/>
            </a:lvl1pPr>
          </a:lstStyle>
          <a:p>
            <a:pPr>
              <a:defRPr/>
            </a:pPr>
            <a:fld id="{004CF0EB-2408-43CE-A878-FAB98C71A970}" type="slidenum">
              <a:rPr lang="en-US"/>
              <a:pPr>
                <a:defRPr/>
              </a:pPr>
              <a:t>‹#›</a:t>
            </a:fld>
            <a:endParaRPr lang="en-US"/>
          </a:p>
        </p:txBody>
      </p:sp>
      <p:sp>
        <p:nvSpPr>
          <p:cNvPr id="11" name="Footer Placeholder 13"/>
          <p:cNvSpPr>
            <a:spLocks noGrp="1"/>
          </p:cNvSpPr>
          <p:nvPr>
            <p:ph type="ftr" sz="quarter" idx="12"/>
          </p:nvPr>
        </p:nvSpPr>
        <p:spPr>
          <a:xfrm>
            <a:off x="1600200" y="6248400"/>
            <a:ext cx="4572000" cy="365125"/>
          </a:xfrm>
        </p:spPr>
        <p:txBody>
          <a:bodyPr rtlCol="0"/>
          <a:lstStyle>
            <a:lvl1pPr>
              <a:defRPr/>
            </a:lvl1pPr>
          </a:lstStyle>
          <a:p>
            <a:pPr>
              <a:defRPr/>
            </a:pPr>
            <a:endParaRPr lang="en-US"/>
          </a:p>
        </p:txBody>
      </p:sp>
    </p:spTree>
    <p:extLst>
      <p:ext uri="{BB962C8B-B14F-4D97-AF65-F5344CB8AC3E}">
        <p14:creationId xmlns:p14="http://schemas.microsoft.com/office/powerpoint/2010/main" val="3202418073"/>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07CC95BB-B507-4FAA-BFE6-5F26FDCA7B71}" type="slidenum">
              <a:rPr lang="en-US"/>
              <a:pPr>
                <a:defRPr/>
              </a:pPr>
              <a:t>‹#›</a:t>
            </a:fld>
            <a:endParaRPr lang="en-US"/>
          </a:p>
        </p:txBody>
      </p:sp>
    </p:spTree>
    <p:extLst>
      <p:ext uri="{BB962C8B-B14F-4D97-AF65-F5344CB8AC3E}">
        <p14:creationId xmlns:p14="http://schemas.microsoft.com/office/powerpoint/2010/main" val="639686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p:cNvSpPr/>
          <p:nvPr/>
        </p:nvSpPr>
        <p:spPr bwMode="white">
          <a:xfrm>
            <a:off x="6096000" y="0"/>
            <a:ext cx="320675"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0" hangingPunct="0">
              <a:defRPr/>
            </a:pPr>
            <a:endParaRPr lang="en-US"/>
          </a:p>
        </p:txBody>
      </p:sp>
      <p:sp>
        <p:nvSpPr>
          <p:cNvPr id="5" name="Rectangle 4"/>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0" hangingPunct="0">
              <a:defRPr/>
            </a:pPr>
            <a:endParaRPr lang="en-US"/>
          </a:p>
        </p:txBody>
      </p:sp>
      <p:sp>
        <p:nvSpPr>
          <p:cNvPr id="6" name="Rectangle 5"/>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0" hangingPunct="0">
              <a:defRPr/>
            </a:pPr>
            <a:endParaRPr lang="en-US"/>
          </a:p>
        </p:txBody>
      </p:sp>
      <p:sp>
        <p:nvSpPr>
          <p:cNvPr id="2" name="Vertical Title 1"/>
          <p:cNvSpPr>
            <a:spLocks noGrp="1"/>
          </p:cNvSpPr>
          <p:nvPr>
            <p:ph type="title" orient="vert"/>
          </p:nvPr>
        </p:nvSpPr>
        <p:spPr>
          <a:xfrm>
            <a:off x="6553200" y="609600"/>
            <a:ext cx="2057400" cy="55165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6553200" y="6248400"/>
            <a:ext cx="2209800" cy="365125"/>
          </a:xfrm>
        </p:spPr>
        <p:txBody>
          <a:bodyPr/>
          <a:lstStyle>
            <a:lvl1pPr>
              <a:defRPr/>
            </a:lvl1pPr>
          </a:lstStyle>
          <a:p>
            <a:pPr>
              <a:defRPr/>
            </a:pPr>
            <a:endParaRPr lang="en-US"/>
          </a:p>
        </p:txBody>
      </p:sp>
      <p:sp>
        <p:nvSpPr>
          <p:cNvPr id="8" name="Footer Placeholder 4"/>
          <p:cNvSpPr>
            <a:spLocks noGrp="1"/>
          </p:cNvSpPr>
          <p:nvPr>
            <p:ph type="ftr" sz="quarter" idx="11"/>
          </p:nvPr>
        </p:nvSpPr>
        <p:spPr>
          <a:xfrm>
            <a:off x="457200" y="6248400"/>
            <a:ext cx="5573713" cy="365125"/>
          </a:xfrm>
        </p:spPr>
        <p:txBody>
          <a:bodyPr/>
          <a:lstStyle>
            <a:lvl1pPr>
              <a:defRPr/>
            </a:lvl1pPr>
          </a:lstStyle>
          <a:p>
            <a:pPr>
              <a:defRPr/>
            </a:pPr>
            <a:endParaRPr lang="en-US"/>
          </a:p>
        </p:txBody>
      </p:sp>
      <p:sp>
        <p:nvSpPr>
          <p:cNvPr id="9" name="Slide Number Placeholder 5"/>
          <p:cNvSpPr>
            <a:spLocks noGrp="1"/>
          </p:cNvSpPr>
          <p:nvPr>
            <p:ph type="sldNum" sz="quarter" idx="12"/>
          </p:nvPr>
        </p:nvSpPr>
        <p:spPr>
          <a:xfrm rot="5400000">
            <a:off x="5989638" y="144462"/>
            <a:ext cx="533400" cy="244475"/>
          </a:xfrm>
        </p:spPr>
        <p:txBody>
          <a:bodyPr/>
          <a:lstStyle>
            <a:lvl1pPr>
              <a:defRPr smtClean="0"/>
            </a:lvl1pPr>
          </a:lstStyle>
          <a:p>
            <a:pPr>
              <a:defRPr/>
            </a:pPr>
            <a:fld id="{B798F6C9-D144-4FA7-8966-9FFB53F3A3CF}" type="slidenum">
              <a:rPr lang="en-US"/>
              <a:pPr>
                <a:defRPr/>
              </a:pPr>
              <a:t>‹#›</a:t>
            </a:fld>
            <a:endParaRPr lang="en-US"/>
          </a:p>
        </p:txBody>
      </p:sp>
    </p:spTree>
    <p:extLst>
      <p:ext uri="{BB962C8B-B14F-4D97-AF65-F5344CB8AC3E}">
        <p14:creationId xmlns:p14="http://schemas.microsoft.com/office/powerpoint/2010/main" val="4242080895"/>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Slide">
    <p:bg>
      <p:bgRef idx="1001">
        <a:schemeClr val="bg2"/>
      </p:bgRef>
    </p:bg>
    <p:spTree>
      <p:nvGrpSpPr>
        <p:cNvPr id="1" name=""/>
        <p:cNvGrpSpPr/>
        <p:nvPr/>
      </p:nvGrpSpPr>
      <p:grpSpPr>
        <a:xfrm>
          <a:off x="0" y="0"/>
          <a:ext cx="0" cy="0"/>
          <a:chOff x="0" y="0"/>
          <a:chExt cx="0" cy="0"/>
        </a:xfrm>
      </p:grpSpPr>
      <p:pic>
        <p:nvPicPr>
          <p:cNvPr id="12" name="Picture 11" descr="Lg-Ghosted-Shield-offset_red.jpg"/>
          <p:cNvPicPr>
            <a:picLocks noChangeAspect="1"/>
          </p:cNvPicPr>
          <p:nvPr userDrawn="1"/>
        </p:nvPicPr>
        <p:blipFill>
          <a:blip r:embed="rId3"/>
          <a:stretch>
            <a:fillRect/>
          </a:stretch>
        </p:blipFill>
        <p:spPr>
          <a:xfrm>
            <a:off x="0" y="0"/>
            <a:ext cx="9144000" cy="6858000"/>
          </a:xfrm>
          <a:prstGeom prst="rect">
            <a:avLst/>
          </a:prstGeom>
        </p:spPr>
      </p:pic>
      <p:sp>
        <p:nvSpPr>
          <p:cNvPr id="13" name="Rectangle 12"/>
          <p:cNvSpPr/>
          <p:nvPr userDrawn="1"/>
        </p:nvSpPr>
        <p:spPr bwMode="white">
          <a:xfrm>
            <a:off x="0" y="5970588"/>
            <a:ext cx="9144000" cy="887412"/>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4" name="Rectangle 13"/>
          <p:cNvSpPr/>
          <p:nvPr userDrawn="1"/>
        </p:nvSpPr>
        <p:spPr>
          <a:xfrm>
            <a:off x="-9525" y="6053138"/>
            <a:ext cx="2249488" cy="712787"/>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5" name="Rectangle 14"/>
          <p:cNvSpPr/>
          <p:nvPr userDrawn="1"/>
        </p:nvSpPr>
        <p:spPr>
          <a:xfrm>
            <a:off x="2359025" y="6043613"/>
            <a:ext cx="6784975" cy="714375"/>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6" name="Title 7"/>
          <p:cNvSpPr>
            <a:spLocks noGrp="1"/>
          </p:cNvSpPr>
          <p:nvPr>
            <p:ph type="ctrTitle"/>
          </p:nvPr>
        </p:nvSpPr>
        <p:spPr>
          <a:xfrm>
            <a:off x="2362200" y="4038600"/>
            <a:ext cx="6477000" cy="1828800"/>
          </a:xfrm>
        </p:spPr>
        <p:txBody>
          <a:bodyPr anchor="b"/>
          <a:lstStyle>
            <a:lvl1pPr>
              <a:defRPr cap="all" baseline="0"/>
            </a:lvl1pPr>
          </a:lstStyle>
          <a:p>
            <a:r>
              <a:rPr lang="en-US"/>
              <a:t>Click to edit Master title style</a:t>
            </a:r>
          </a:p>
        </p:txBody>
      </p:sp>
      <p:sp>
        <p:nvSpPr>
          <p:cNvPr id="17" name="Footer Placeholder 16"/>
          <p:cNvSpPr>
            <a:spLocks noGrp="1"/>
          </p:cNvSpPr>
          <p:nvPr>
            <p:ph type="ftr" sz="quarter" idx="11"/>
          </p:nvPr>
        </p:nvSpPr>
        <p:spPr>
          <a:xfrm>
            <a:off x="2085975" y="236538"/>
            <a:ext cx="5867400" cy="365125"/>
          </a:xfrm>
        </p:spPr>
        <p:txBody>
          <a:bodyPr/>
          <a:lstStyle>
            <a:lvl1pPr algn="r">
              <a:defRPr>
                <a:solidFill>
                  <a:schemeClr val="tx2"/>
                </a:solidFill>
              </a:defRPr>
            </a:lvl1pPr>
          </a:lstStyle>
          <a:p>
            <a:pPr>
              <a:defRPr/>
            </a:pPr>
            <a:endParaRPr lang="en-US"/>
          </a:p>
        </p:txBody>
      </p:sp>
      <p:sp>
        <p:nvSpPr>
          <p:cNvPr id="18"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pPr>
              <a:defRPr/>
            </a:pPr>
            <a:fld id="{7E7CF4D2-22D1-48E5-82E4-BFA1B2240848}" type="slidenum">
              <a:rPr lang="en-US" smtClean="0"/>
              <a:pPr>
                <a:defRPr/>
              </a:pPr>
              <a:t>‹#›</a:t>
            </a:fld>
            <a:endParaRPr lang="en-US"/>
          </a:p>
        </p:txBody>
      </p:sp>
      <p:pic>
        <p:nvPicPr>
          <p:cNvPr id="19" name="Picture 18" descr="Logo-for-gray-bg-ppt-whitemaroon.png"/>
          <p:cNvPicPr>
            <a:picLocks noChangeAspect="1"/>
          </p:cNvPicPr>
          <p:nvPr userDrawn="1"/>
        </p:nvPicPr>
        <p:blipFill>
          <a:blip r:embed="rId4"/>
          <a:stretch>
            <a:fillRect/>
          </a:stretch>
        </p:blipFill>
        <p:spPr>
          <a:xfrm>
            <a:off x="7429166" y="6194310"/>
            <a:ext cx="1591121" cy="439967"/>
          </a:xfrm>
          <a:prstGeom prst="rect">
            <a:avLst/>
          </a:prstGeom>
        </p:spPr>
      </p:pic>
    </p:spTree>
    <p:extLst>
      <p:ext uri="{BB962C8B-B14F-4D97-AF65-F5344CB8AC3E}">
        <p14:creationId xmlns:p14="http://schemas.microsoft.com/office/powerpoint/2010/main" val="4290164800"/>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21"/>
          <p:cNvSpPr>
            <a:spLocks noGrp="1"/>
          </p:cNvSpPr>
          <p:nvPr>
            <p:ph type="title"/>
          </p:nvPr>
        </p:nvSpPr>
        <p:spPr bwMode="auto">
          <a:xfrm>
            <a:off x="609600" y="228600"/>
            <a:ext cx="81534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12"/>
          <p:cNvSpPr>
            <a:spLocks noGrp="1"/>
          </p:cNvSpPr>
          <p:nvPr>
            <p:ph type="body" idx="1"/>
          </p:nvPr>
        </p:nvSpPr>
        <p:spPr bwMode="auto">
          <a:xfrm>
            <a:off x="612775" y="1600200"/>
            <a:ext cx="81534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cs typeface="+mn-cs"/>
              </a:defRPr>
            </a:lvl1pPr>
          </a:lstStyle>
          <a:p>
            <a:pPr>
              <a:defRPr/>
            </a:pPr>
            <a:endParaRPr lang="en-US"/>
          </a:p>
        </p:txBody>
      </p:sp>
      <p:sp>
        <p:nvSpPr>
          <p:cNvPr id="3" name="Footer Placeholder 2"/>
          <p:cNvSpPr>
            <a:spLocks noGrp="1"/>
          </p:cNvSpPr>
          <p:nvPr>
            <p:ph type="ftr" sz="quarter" idx="3"/>
          </p:nvPr>
        </p:nvSpPr>
        <p:spPr>
          <a:xfrm>
            <a:off x="609600" y="6248400"/>
            <a:ext cx="5421313" cy="365125"/>
          </a:xfrm>
          <a:prstGeom prst="rect">
            <a:avLst/>
          </a:prstGeom>
        </p:spPr>
        <p:txBody>
          <a:bodyPr vert="horz" anchor="ctr"/>
          <a:lstStyle>
            <a:lvl1pPr algn="r" eaLnBrk="1" latinLnBrk="0" hangingPunct="1">
              <a:defRPr kumimoji="0" sz="1400">
                <a:solidFill>
                  <a:schemeClr val="tx2"/>
                </a:solidFill>
                <a:cs typeface="+mn-cs"/>
              </a:defRPr>
            </a:lvl1pPr>
          </a:lstStyle>
          <a:p>
            <a:pPr>
              <a:defRPr/>
            </a:pPr>
            <a:endParaRPr lang="en-US"/>
          </a:p>
        </p:txBody>
      </p:sp>
      <p:sp>
        <p:nvSpPr>
          <p:cNvPr id="7" name="Rectangle 6"/>
          <p:cNvSpPr/>
          <p:nvPr/>
        </p:nvSpPr>
        <p:spPr bwMode="white">
          <a:xfrm>
            <a:off x="0" y="1235075"/>
            <a:ext cx="9144000" cy="31908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0" hangingPunct="0">
              <a:defRPr/>
            </a:pPr>
            <a:endParaRPr lang="en-US"/>
          </a:p>
        </p:txBody>
      </p:sp>
      <p:sp>
        <p:nvSpPr>
          <p:cNvPr id="8" name="Rectangle 7"/>
          <p:cNvSpPr/>
          <p:nvPr/>
        </p:nvSpPr>
        <p:spPr>
          <a:xfrm>
            <a:off x="0" y="1279525"/>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0" hangingPunct="0">
              <a:defRPr/>
            </a:pPr>
            <a:endParaRPr lang="en-US"/>
          </a:p>
        </p:txBody>
      </p:sp>
      <p:sp>
        <p:nvSpPr>
          <p:cNvPr id="9" name="Rectangle 8"/>
          <p:cNvSpPr/>
          <p:nvPr/>
        </p:nvSpPr>
        <p:spPr>
          <a:xfrm>
            <a:off x="590550" y="1279525"/>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0" hangingPunct="0">
              <a:defRPr/>
            </a:pPr>
            <a:endParaRPr lang="en-US"/>
          </a:p>
        </p:txBody>
      </p:sp>
      <p:sp>
        <p:nvSpPr>
          <p:cNvPr id="23" name="Slide Number Placeholder 22"/>
          <p:cNvSpPr>
            <a:spLocks noGrp="1"/>
          </p:cNvSpPr>
          <p:nvPr>
            <p:ph type="sldNum" sz="quarter" idx="4"/>
          </p:nvPr>
        </p:nvSpPr>
        <p:spPr>
          <a:xfrm>
            <a:off x="0" y="1271588"/>
            <a:ext cx="533400" cy="244475"/>
          </a:xfrm>
          <a:prstGeom prst="rect">
            <a:avLst/>
          </a:prstGeom>
        </p:spPr>
        <p:txBody>
          <a:bodyPr vert="horz" anchor="ctr" anchorCtr="0">
            <a:normAutofit/>
          </a:bodyPr>
          <a:lstStyle>
            <a:lvl1pPr algn="ctr" eaLnBrk="1" latinLnBrk="0" hangingPunct="1">
              <a:defRPr kumimoji="0" sz="1400" b="1" smtClean="0">
                <a:solidFill>
                  <a:srgbClr val="FFFFFF"/>
                </a:solidFill>
                <a:cs typeface="+mn-cs"/>
              </a:defRPr>
            </a:lvl1pPr>
          </a:lstStyle>
          <a:p>
            <a:pPr>
              <a:defRPr/>
            </a:pPr>
            <a:fld id="{E66144DE-F65E-4598-8A44-1CFE8F43EE6C}"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798" r:id="rId8"/>
    <p:sldLayoutId id="2147483807" r:id="rId9"/>
    <p:sldLayoutId id="2147483799" r:id="rId10"/>
    <p:sldLayoutId id="2147483808" r:id="rId11"/>
    <p:sldLayoutId id="2147483809" r:id="rId12"/>
  </p:sldLayoutIdLst>
  <p:hf hdr="0" ftr="0" dt="0"/>
  <p:txStyles>
    <p:titleStyle>
      <a:lvl1pPr algn="l" rtl="0" fontAlgn="base">
        <a:spcBef>
          <a:spcPct val="0"/>
        </a:spcBef>
        <a:spcAft>
          <a:spcPct val="0"/>
        </a:spcAft>
        <a:defRPr sz="4400" kern="1200">
          <a:solidFill>
            <a:schemeClr val="tx2"/>
          </a:solidFill>
          <a:latin typeface="+mj-lt"/>
          <a:ea typeface="+mj-ea"/>
          <a:cs typeface="+mj-cs"/>
        </a:defRPr>
      </a:lvl1pPr>
      <a:lvl2pPr algn="l" rtl="0" fontAlgn="base">
        <a:spcBef>
          <a:spcPct val="0"/>
        </a:spcBef>
        <a:spcAft>
          <a:spcPct val="0"/>
        </a:spcAft>
        <a:defRPr sz="4400">
          <a:solidFill>
            <a:schemeClr val="tx2"/>
          </a:solidFill>
          <a:latin typeface="Tw Cen MT" pitchFamily="34" charset="0"/>
        </a:defRPr>
      </a:lvl2pPr>
      <a:lvl3pPr algn="l" rtl="0" fontAlgn="base">
        <a:spcBef>
          <a:spcPct val="0"/>
        </a:spcBef>
        <a:spcAft>
          <a:spcPct val="0"/>
        </a:spcAft>
        <a:defRPr sz="4400">
          <a:solidFill>
            <a:schemeClr val="tx2"/>
          </a:solidFill>
          <a:latin typeface="Tw Cen MT" pitchFamily="34" charset="0"/>
        </a:defRPr>
      </a:lvl3pPr>
      <a:lvl4pPr algn="l" rtl="0" fontAlgn="base">
        <a:spcBef>
          <a:spcPct val="0"/>
        </a:spcBef>
        <a:spcAft>
          <a:spcPct val="0"/>
        </a:spcAft>
        <a:defRPr sz="4400">
          <a:solidFill>
            <a:schemeClr val="tx2"/>
          </a:solidFill>
          <a:latin typeface="Tw Cen MT" pitchFamily="34" charset="0"/>
        </a:defRPr>
      </a:lvl4pPr>
      <a:lvl5pPr algn="l" rtl="0" fontAlgn="base">
        <a:spcBef>
          <a:spcPct val="0"/>
        </a:spcBef>
        <a:spcAft>
          <a:spcPct val="0"/>
        </a:spcAft>
        <a:defRPr sz="4400">
          <a:solidFill>
            <a:schemeClr val="tx2"/>
          </a:solidFill>
          <a:latin typeface="Tw Cen MT" pitchFamily="34" charset="0"/>
        </a:defRPr>
      </a:lvl5pPr>
      <a:lvl6pPr marL="457200" algn="l" rtl="0" eaLnBrk="1" fontAlgn="base" hangingPunct="1">
        <a:spcBef>
          <a:spcPct val="0"/>
        </a:spcBef>
        <a:spcAft>
          <a:spcPct val="0"/>
        </a:spcAft>
        <a:defRPr sz="4400">
          <a:solidFill>
            <a:schemeClr val="tx2"/>
          </a:solidFill>
          <a:latin typeface="Tw Cen MT" pitchFamily="34" charset="0"/>
        </a:defRPr>
      </a:lvl6pPr>
      <a:lvl7pPr marL="914400" algn="l" rtl="0" eaLnBrk="1" fontAlgn="base" hangingPunct="1">
        <a:spcBef>
          <a:spcPct val="0"/>
        </a:spcBef>
        <a:spcAft>
          <a:spcPct val="0"/>
        </a:spcAft>
        <a:defRPr sz="4400">
          <a:solidFill>
            <a:schemeClr val="tx2"/>
          </a:solidFill>
          <a:latin typeface="Tw Cen MT" pitchFamily="34" charset="0"/>
        </a:defRPr>
      </a:lvl7pPr>
      <a:lvl8pPr marL="1371600" algn="l" rtl="0" eaLnBrk="1" fontAlgn="base" hangingPunct="1">
        <a:spcBef>
          <a:spcPct val="0"/>
        </a:spcBef>
        <a:spcAft>
          <a:spcPct val="0"/>
        </a:spcAft>
        <a:defRPr sz="4400">
          <a:solidFill>
            <a:schemeClr val="tx2"/>
          </a:solidFill>
          <a:latin typeface="Tw Cen MT" pitchFamily="34" charset="0"/>
        </a:defRPr>
      </a:lvl8pPr>
      <a:lvl9pPr marL="1828800" algn="l" rtl="0" eaLnBrk="1" fontAlgn="base" hangingPunct="1">
        <a:spcBef>
          <a:spcPct val="0"/>
        </a:spcBef>
        <a:spcAft>
          <a:spcPct val="0"/>
        </a:spcAft>
        <a:defRPr sz="4400">
          <a:solidFill>
            <a:schemeClr val="tx2"/>
          </a:solidFill>
          <a:latin typeface="Tw Cen MT" pitchFamily="34" charset="0"/>
        </a:defRPr>
      </a:lvl9pPr>
    </p:titleStyle>
    <p:bodyStyle>
      <a:lvl1pPr marL="319088" indent="-319088" algn="l" rtl="0" fontAlgn="base">
        <a:spcBef>
          <a:spcPts val="700"/>
        </a:spcBef>
        <a:spcAft>
          <a:spcPct val="0"/>
        </a:spcAft>
        <a:buClr>
          <a:schemeClr val="accent2"/>
        </a:buClr>
        <a:buSzPct val="60000"/>
        <a:buFont typeface="Wingdings" pitchFamily="2" charset="2"/>
        <a:buChar char=""/>
        <a:defRPr sz="2900" kern="1200">
          <a:solidFill>
            <a:schemeClr val="tx1"/>
          </a:solidFill>
          <a:latin typeface="+mn-lt"/>
          <a:ea typeface="+mn-ea"/>
          <a:cs typeface="+mn-cs"/>
        </a:defRPr>
      </a:lvl1pPr>
      <a:lvl2pPr marL="639763" indent="-273050" algn="l" rtl="0" fontAlgn="base">
        <a:spcBef>
          <a:spcPts val="550"/>
        </a:spcBef>
        <a:spcAft>
          <a:spcPct val="0"/>
        </a:spcAft>
        <a:buClr>
          <a:schemeClr val="accent1"/>
        </a:buClr>
        <a:buSzPct val="70000"/>
        <a:buFont typeface="Wingdings 2" pitchFamily="18" charset="2"/>
        <a:buChar char=""/>
        <a:defRPr sz="2600" kern="1200">
          <a:solidFill>
            <a:schemeClr val="tx1"/>
          </a:solidFill>
          <a:latin typeface="+mn-lt"/>
          <a:ea typeface="+mn-ea"/>
          <a:cs typeface="+mn-cs"/>
        </a:defRPr>
      </a:lvl2pPr>
      <a:lvl3pPr marL="914400" indent="-228600" algn="l" rtl="0" fontAlgn="base">
        <a:spcBef>
          <a:spcPts val="500"/>
        </a:spcBef>
        <a:spcAft>
          <a:spcPct val="0"/>
        </a:spcAft>
        <a:buClr>
          <a:schemeClr val="accent2"/>
        </a:buClr>
        <a:buSzPct val="75000"/>
        <a:buFont typeface="Wingdings" pitchFamily="2" charset="2"/>
        <a:buChar char=""/>
        <a:defRPr sz="2300" kern="1200">
          <a:solidFill>
            <a:schemeClr val="tx1"/>
          </a:solidFill>
          <a:latin typeface="+mn-lt"/>
          <a:ea typeface="+mn-ea"/>
          <a:cs typeface="+mn-cs"/>
        </a:defRPr>
      </a:lvl3pPr>
      <a:lvl4pPr marL="1371600" indent="-228600" algn="l" rtl="0" fontAlgn="base">
        <a:spcBef>
          <a:spcPts val="400"/>
        </a:spcBef>
        <a:spcAft>
          <a:spcPct val="0"/>
        </a:spcAft>
        <a:buClr>
          <a:srgbClr val="A5AB81"/>
        </a:buClr>
        <a:buSzPct val="75000"/>
        <a:buFont typeface="Wingdings" pitchFamily="2" charset="2"/>
        <a:buChar char=""/>
        <a:defRPr sz="2000" kern="1200">
          <a:solidFill>
            <a:schemeClr val="tx1"/>
          </a:solidFill>
          <a:latin typeface="+mn-lt"/>
          <a:ea typeface="+mn-ea"/>
          <a:cs typeface="+mn-cs"/>
        </a:defRPr>
      </a:lvl4pPr>
      <a:lvl5pPr marL="1828800" indent="-228600" algn="l" rtl="0" fontAlgn="base">
        <a:spcBef>
          <a:spcPts val="400"/>
        </a:spcBef>
        <a:spcAft>
          <a:spcPct val="0"/>
        </a:spcAft>
        <a:buClr>
          <a:srgbClr val="D8B25C"/>
        </a:buClr>
        <a:buSzPct val="65000"/>
        <a:buFont typeface="Wingdings"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8.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9.emf"/></Relationships>
</file>

<file path=ppt/slides/_rels/slide6.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0.emf"/></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cmosurvey.org/wp-content/uploads/2024/11/The_CMO_Survey-Highlights_and_Insights_Report-Fall_2024.pdf"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7.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ncbi.nlm.nih.gov/pmc/articles/PMC2622774/" TargetMode="External"/><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image" Target="../media/image26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28.emf"/></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package" Target="../embeddings/Microsoft_Excel_Worksheet3.xlsx"/><Relationship Id="rId3" Type="http://schemas.openxmlformats.org/officeDocument/2006/relationships/image" Target="../media/image3.png"/><Relationship Id="rId7" Type="http://schemas.openxmlformats.org/officeDocument/2006/relationships/image" Target="../media/image35.emf"/><Relationship Id="rId2" Type="http://schemas.openxmlformats.org/officeDocument/2006/relationships/slideLayout" Target="../slideLayouts/slideLayout6.xml"/><Relationship Id="rId1" Type="http://schemas.openxmlformats.org/officeDocument/2006/relationships/vmlDrawing" Target="../drawings/vmlDrawing6.vml"/><Relationship Id="rId6" Type="http://schemas.openxmlformats.org/officeDocument/2006/relationships/oleObject" Target="../embeddings/oleObject4.bin"/><Relationship Id="rId5" Type="http://schemas.openxmlformats.org/officeDocument/2006/relationships/image" Target="../media/image34.emf"/><Relationship Id="rId10" Type="http://schemas.openxmlformats.org/officeDocument/2006/relationships/image" Target="../media/image151.png"/><Relationship Id="rId4" Type="http://schemas.openxmlformats.org/officeDocument/2006/relationships/package" Target="../embeddings/Microsoft_Excel_Worksheet2.xlsx"/><Relationship Id="rId9" Type="http://schemas.openxmlformats.org/officeDocument/2006/relationships/image" Target="../media/image36.e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36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80.png"/><Relationship Id="rId1" Type="http://schemas.openxmlformats.org/officeDocument/2006/relationships/slideLayout" Target="../slideLayouts/slideLayout2.xml"/><Relationship Id="rId5" Type="http://schemas.openxmlformats.org/officeDocument/2006/relationships/image" Target="../media/image191.png"/><Relationship Id="rId4" Type="http://schemas.openxmlformats.org/officeDocument/2006/relationships/image" Target="../media/image181.png"/></Relationships>
</file>

<file path=ppt/slides/_rels/slide47.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image" Target="../media/image390.png"/><Relationship Id="rId1" Type="http://schemas.openxmlformats.org/officeDocument/2006/relationships/slideLayout" Target="../slideLayouts/slideLayout2.xml"/><Relationship Id="rId6" Type="http://schemas.openxmlformats.org/officeDocument/2006/relationships/image" Target="../media/image150.png"/><Relationship Id="rId5" Type="http://schemas.openxmlformats.org/officeDocument/2006/relationships/image" Target="../media/image220.png"/><Relationship Id="rId4" Type="http://schemas.openxmlformats.org/officeDocument/2006/relationships/image" Target="../media/image210.png"/></Relationships>
</file>

<file path=ppt/slides/_rels/slide4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ctrTitle"/>
          </p:nvPr>
        </p:nvSpPr>
        <p:spPr>
          <a:xfrm>
            <a:off x="2362200" y="4038600"/>
            <a:ext cx="6477000" cy="1828800"/>
          </a:xfrm>
          <a:noFill/>
        </p:spPr>
        <p:txBody>
          <a:bodyPr lIns="90488" tIns="44450" rIns="90488" bIns="44450"/>
          <a:lstStyle/>
          <a:p>
            <a:r>
              <a:rPr lang="en-US" dirty="0"/>
              <a:t>Price Promotions &amp; Customer Lifetime Value</a:t>
            </a:r>
            <a:endParaRPr lang="en-US" i="1" dirty="0"/>
          </a:p>
        </p:txBody>
      </p:sp>
      <p:sp>
        <p:nvSpPr>
          <p:cNvPr id="5" name="Rectangle 3"/>
          <p:cNvSpPr txBox="1">
            <a:spLocks noChangeArrowheads="1"/>
          </p:cNvSpPr>
          <p:nvPr/>
        </p:nvSpPr>
        <p:spPr bwMode="auto">
          <a:xfrm>
            <a:off x="2362200" y="6050037"/>
            <a:ext cx="6705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488" tIns="44450" rIns="90488" bIns="44450" numCol="1" anchor="t" anchorCtr="0" compatLnSpc="1">
            <a:prstTxWarp prst="textNoShape">
              <a:avLst/>
            </a:prstTxWarp>
            <a:normAutofit lnSpcReduction="10000"/>
          </a:bodyPr>
          <a:lstStyle>
            <a:lvl1pPr marL="319088" indent="-319088" algn="l" rtl="0" eaLnBrk="1" fontAlgn="base" hangingPunct="1">
              <a:spcBef>
                <a:spcPts val="700"/>
              </a:spcBef>
              <a:spcAft>
                <a:spcPct val="0"/>
              </a:spcAft>
              <a:buClr>
                <a:schemeClr val="accent2"/>
              </a:buClr>
              <a:buSzPct val="60000"/>
              <a:buFont typeface="Wingdings" pitchFamily="2" charset="2"/>
              <a:buChar char=""/>
              <a:defRPr sz="2900" kern="1200">
                <a:solidFill>
                  <a:schemeClr val="tx1"/>
                </a:solidFill>
                <a:latin typeface="+mn-lt"/>
                <a:ea typeface="+mn-ea"/>
                <a:cs typeface="+mn-cs"/>
              </a:defRPr>
            </a:lvl1pPr>
            <a:lvl2pPr marL="639763" indent="-273050" algn="l" rtl="0" eaLnBrk="1" fontAlgn="base" hangingPunct="1">
              <a:spcBef>
                <a:spcPts val="550"/>
              </a:spcBef>
              <a:spcAft>
                <a:spcPct val="0"/>
              </a:spcAft>
              <a:buClr>
                <a:schemeClr val="accent1"/>
              </a:buClr>
              <a:buSzPct val="70000"/>
              <a:buFont typeface="Wingdings 2" pitchFamily="18" charset="2"/>
              <a:buChar char=""/>
              <a:defRPr sz="2600" kern="1200">
                <a:solidFill>
                  <a:schemeClr val="tx1"/>
                </a:solidFill>
                <a:latin typeface="+mn-lt"/>
                <a:ea typeface="+mn-ea"/>
                <a:cs typeface="+mn-cs"/>
              </a:defRPr>
            </a:lvl2pPr>
            <a:lvl3pPr marL="914400" indent="-228600" algn="l" rtl="0" eaLnBrk="1" fontAlgn="base" hangingPunct="1">
              <a:spcBef>
                <a:spcPts val="500"/>
              </a:spcBef>
              <a:spcAft>
                <a:spcPct val="0"/>
              </a:spcAft>
              <a:buClr>
                <a:schemeClr val="accent2"/>
              </a:buClr>
              <a:buSzPct val="75000"/>
              <a:buFont typeface="Wingdings" pitchFamily="2" charset="2"/>
              <a:buChar char=""/>
              <a:defRPr sz="2300" kern="1200">
                <a:solidFill>
                  <a:schemeClr val="tx1"/>
                </a:solidFill>
                <a:latin typeface="+mn-lt"/>
                <a:ea typeface="+mn-ea"/>
                <a:cs typeface="+mn-cs"/>
              </a:defRPr>
            </a:lvl3pPr>
            <a:lvl4pPr marL="1371600" indent="-228600" algn="l" rtl="0" eaLnBrk="1" fontAlgn="base" hangingPunct="1">
              <a:spcBef>
                <a:spcPts val="400"/>
              </a:spcBef>
              <a:spcAft>
                <a:spcPct val="0"/>
              </a:spcAft>
              <a:buClr>
                <a:srgbClr val="A5AB81"/>
              </a:buClr>
              <a:buSzPct val="75000"/>
              <a:buFont typeface="Wingdings" pitchFamily="2" charset="2"/>
              <a:buChar char=""/>
              <a:defRPr sz="2000" kern="1200">
                <a:solidFill>
                  <a:schemeClr val="tx1"/>
                </a:solidFill>
                <a:latin typeface="+mn-lt"/>
                <a:ea typeface="+mn-ea"/>
                <a:cs typeface="+mn-cs"/>
              </a:defRPr>
            </a:lvl4pPr>
            <a:lvl5pPr marL="1828800" indent="-228600" algn="l" rtl="0" eaLnBrk="1" fontAlgn="base" hangingPunct="1">
              <a:spcBef>
                <a:spcPts val="400"/>
              </a:spcBef>
              <a:spcAft>
                <a:spcPct val="0"/>
              </a:spcAft>
              <a:buClr>
                <a:srgbClr val="D8B25C"/>
              </a:buClr>
              <a:buSzPct val="65000"/>
              <a:buFont typeface="Wingdings"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indent="0">
              <a:buFont typeface="Wingdings" pitchFamily="2" charset="2"/>
              <a:buNone/>
            </a:pPr>
            <a:r>
              <a:rPr lang="en-US" sz="2800" dirty="0"/>
              <a:t>Jean-Pierre </a:t>
            </a:r>
            <a:r>
              <a:rPr lang="en-US" sz="2800" dirty="0" err="1"/>
              <a:t>Dubé</a:t>
            </a:r>
            <a:endParaRPr lang="en-US" sz="2800" dirty="0"/>
          </a:p>
          <a:p>
            <a:pPr marL="0" indent="0">
              <a:buFont typeface="Wingdings" pitchFamily="2" charset="2"/>
              <a:buNone/>
            </a:pPr>
            <a:r>
              <a:rPr lang="en-US" sz="900" b="1" dirty="0">
                <a:latin typeface="Arial" pitchFamily="34" charset="0"/>
                <a:sym typeface="Symbol" pitchFamily="18" charset="2"/>
              </a:rPr>
              <a:t></a:t>
            </a:r>
            <a:r>
              <a:rPr lang="en-US" sz="900" b="1" dirty="0">
                <a:latin typeface="Arial" pitchFamily="34" charset="0"/>
              </a:rPr>
              <a:t> Copyright 2025</a:t>
            </a:r>
          </a:p>
        </p:txBody>
      </p:sp>
      <p:sp>
        <p:nvSpPr>
          <p:cNvPr id="6" name="TextBox 5"/>
          <p:cNvSpPr txBox="1"/>
          <p:nvPr/>
        </p:nvSpPr>
        <p:spPr>
          <a:xfrm>
            <a:off x="152400" y="6137369"/>
            <a:ext cx="1455848" cy="523220"/>
          </a:xfrm>
          <a:prstGeom prst="rect">
            <a:avLst/>
          </a:prstGeom>
          <a:noFill/>
        </p:spPr>
        <p:txBody>
          <a:bodyPr wrap="none" rtlCol="0">
            <a:spAutoFit/>
          </a:bodyPr>
          <a:lstStyle/>
          <a:p>
            <a:r>
              <a:rPr lang="en-US" sz="1400" dirty="0"/>
              <a:t>Pricing Strategies</a:t>
            </a:r>
          </a:p>
          <a:p>
            <a:r>
              <a:rPr lang="en-US" sz="1400" dirty="0"/>
              <a:t>2025</a:t>
            </a:r>
          </a:p>
        </p:txBody>
      </p:sp>
    </p:spTree>
    <p:extLst>
      <p:ext uri="{BB962C8B-B14F-4D97-AF65-F5344CB8AC3E}">
        <p14:creationId xmlns:p14="http://schemas.microsoft.com/office/powerpoint/2010/main" val="1442279007"/>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612775" y="228600"/>
            <a:ext cx="8153400" cy="990600"/>
          </a:xfrm>
        </p:spPr>
        <p:txBody>
          <a:bodyPr/>
          <a:lstStyle/>
          <a:p>
            <a:r>
              <a:rPr lang="en-US"/>
              <a:t>Overview</a:t>
            </a:r>
          </a:p>
        </p:txBody>
      </p:sp>
      <p:sp>
        <p:nvSpPr>
          <p:cNvPr id="6147" name="Rectangle 3"/>
          <p:cNvSpPr>
            <a:spLocks noGrp="1" noChangeArrowheads="1"/>
          </p:cNvSpPr>
          <p:nvPr>
            <p:ph sz="quarter" idx="1"/>
          </p:nvPr>
        </p:nvSpPr>
        <p:spPr>
          <a:xfrm>
            <a:off x="612775" y="1600200"/>
            <a:ext cx="8153400" cy="4495800"/>
          </a:xfrm>
        </p:spPr>
        <p:txBody>
          <a:bodyPr>
            <a:normAutofit/>
          </a:bodyPr>
          <a:lstStyle/>
          <a:p>
            <a:pPr>
              <a:spcAft>
                <a:spcPts val="600"/>
              </a:spcAft>
              <a:defRPr/>
            </a:pPr>
            <a:r>
              <a:rPr lang="en-US" b="1" dirty="0">
                <a:solidFill>
                  <a:srgbClr val="FF0000"/>
                </a:solidFill>
                <a:effectLst>
                  <a:outerShdw blurRad="38100" dist="38100" dir="2700000" algn="tl">
                    <a:srgbClr val="000000">
                      <a:alpha val="43137"/>
                    </a:srgbClr>
                  </a:outerShdw>
                </a:effectLst>
                <a:latin typeface="Showcard Gothic" panose="04020904020102020604" pitchFamily="82" charset="0"/>
              </a:rPr>
              <a:t>P</a:t>
            </a:r>
            <a:r>
              <a:rPr lang="en-US" dirty="0"/>
              <a:t>ricing as an </a:t>
            </a:r>
            <a:r>
              <a:rPr lang="en-US" b="1" dirty="0">
                <a:effectLst>
                  <a:outerShdw blurRad="38100" dist="38100" dir="2700000" algn="tl">
                    <a:srgbClr val="000000">
                      <a:alpha val="43137"/>
                    </a:srgbClr>
                  </a:outerShdw>
                </a:effectLst>
              </a:rPr>
              <a:t>investment</a:t>
            </a:r>
            <a:endParaRPr lang="en-US" dirty="0"/>
          </a:p>
          <a:p>
            <a:pPr lvl="1">
              <a:spcAft>
                <a:spcPts val="1200"/>
              </a:spcAft>
              <a:defRPr/>
            </a:pPr>
            <a:r>
              <a:rPr lang="en-US" b="1" dirty="0">
                <a:solidFill>
                  <a:srgbClr val="FF0000"/>
                </a:solidFill>
                <a:effectLst>
                  <a:outerShdw blurRad="38100" dist="38100" dir="2700000" algn="tl">
                    <a:srgbClr val="000000">
                      <a:alpha val="43137"/>
                    </a:srgbClr>
                  </a:outerShdw>
                </a:effectLst>
                <a:latin typeface="Showcard Gothic" panose="04020904020102020604" pitchFamily="82" charset="0"/>
              </a:rPr>
              <a:t>P</a:t>
            </a:r>
            <a:r>
              <a:rPr lang="en-US" dirty="0"/>
              <a:t>ricing objectives &amp; the </a:t>
            </a:r>
            <a:r>
              <a:rPr lang="en-US" b="1" dirty="0">
                <a:effectLst>
                  <a:outerShdw blurRad="38100" dist="38100" dir="2700000" algn="tl">
                    <a:srgbClr val="000000">
                      <a:alpha val="43137"/>
                    </a:srgbClr>
                  </a:outerShdw>
                </a:effectLst>
              </a:rPr>
              <a:t>lifetime value of the customer</a:t>
            </a:r>
          </a:p>
          <a:p>
            <a:pPr lvl="1">
              <a:spcAft>
                <a:spcPts val="1200"/>
              </a:spcAft>
              <a:defRPr/>
            </a:pPr>
            <a:r>
              <a:rPr lang="en-US" b="1" dirty="0">
                <a:solidFill>
                  <a:srgbClr val="FF0000"/>
                </a:solidFill>
                <a:effectLst>
                  <a:outerShdw blurRad="38100" dist="38100" dir="2700000" algn="tl">
                    <a:srgbClr val="000000">
                      <a:alpha val="43137"/>
                    </a:srgbClr>
                  </a:outerShdw>
                </a:effectLst>
                <a:latin typeface="Showcard Gothic" panose="04020904020102020604" pitchFamily="82" charset="0"/>
              </a:rPr>
              <a:t>P</a:t>
            </a:r>
            <a:r>
              <a:rPr lang="en-US" dirty="0"/>
              <a:t>ricing decisions to balance </a:t>
            </a:r>
            <a:r>
              <a:rPr lang="en-US" b="1" dirty="0">
                <a:effectLst>
                  <a:outerShdw blurRad="38100" dist="38100" dir="2700000" algn="tl">
                    <a:srgbClr val="000000">
                      <a:alpha val="43137"/>
                    </a:srgbClr>
                  </a:outerShdw>
                </a:effectLst>
              </a:rPr>
              <a:t>acquisition</a:t>
            </a:r>
            <a:r>
              <a:rPr lang="en-US" dirty="0"/>
              <a:t> &amp; </a:t>
            </a:r>
            <a:r>
              <a:rPr lang="en-US" b="1" dirty="0">
                <a:effectLst>
                  <a:outerShdw blurRad="38100" dist="38100" dir="2700000" algn="tl">
                    <a:srgbClr val="000000">
                      <a:alpha val="43137"/>
                    </a:srgbClr>
                  </a:outerShdw>
                </a:effectLst>
              </a:rPr>
              <a:t>retention</a:t>
            </a:r>
            <a:endParaRPr lang="en-US" b="1" i="1" dirty="0">
              <a:effectLst>
                <a:outerShdw blurRad="38100" dist="38100" dir="2700000" algn="tl">
                  <a:srgbClr val="000000">
                    <a:alpha val="43137"/>
                  </a:srgbClr>
                </a:outerShdw>
              </a:effectLst>
            </a:endParaRPr>
          </a:p>
          <a:p>
            <a:pPr marL="366713" lvl="1" indent="0" algn="ctr">
              <a:spcAft>
                <a:spcPts val="1200"/>
              </a:spcAft>
              <a:buNone/>
              <a:defRPr/>
            </a:pPr>
            <a:endParaRPr lang="en-US" b="1" dirty="0">
              <a:solidFill>
                <a:srgbClr val="FF0000"/>
              </a:solidFill>
              <a:effectLst>
                <a:outerShdw blurRad="38100" dist="38100" dir="2700000" algn="tl">
                  <a:srgbClr val="000000">
                    <a:alpha val="43137"/>
                  </a:srgbClr>
                </a:outerShdw>
              </a:effectLst>
              <a:latin typeface="Showcard Gothic" panose="04020904020102020604" pitchFamily="82" charset="0"/>
            </a:endParaRPr>
          </a:p>
          <a:p>
            <a:pPr marL="366713" lvl="1" indent="0" algn="ctr">
              <a:spcAft>
                <a:spcPts val="1200"/>
              </a:spcAft>
              <a:buNone/>
              <a:defRPr/>
            </a:pPr>
            <a:r>
              <a:rPr lang="en-US" sz="3200" b="1" dirty="0">
                <a:solidFill>
                  <a:srgbClr val="FF0000"/>
                </a:solidFill>
                <a:effectLst>
                  <a:outerShdw blurRad="38100" dist="38100" dir="2700000" algn="tl">
                    <a:srgbClr val="000000">
                      <a:alpha val="43137"/>
                    </a:srgbClr>
                  </a:outerShdw>
                </a:effectLst>
                <a:latin typeface="Showcard Gothic" panose="04020904020102020604" pitchFamily="82" charset="0"/>
              </a:rPr>
              <a:t>P</a:t>
            </a:r>
            <a:r>
              <a:rPr lang="en-US" sz="3200" b="1" dirty="0">
                <a:solidFill>
                  <a:srgbClr val="FF0000"/>
                </a:solidFill>
                <a:effectLst>
                  <a:outerShdw blurRad="38100" dist="38100" dir="2700000" algn="tl">
                    <a:srgbClr val="000000">
                      <a:alpha val="43137"/>
                    </a:srgbClr>
                  </a:outerShdw>
                </a:effectLst>
              </a:rPr>
              <a:t>ricing</a:t>
            </a:r>
            <a:r>
              <a:rPr lang="en-US" sz="3200" b="1" i="1" dirty="0">
                <a:solidFill>
                  <a:srgbClr val="FF0000"/>
                </a:solidFill>
                <a:effectLst>
                  <a:outerShdw blurRad="38100" dist="38100" dir="2700000" algn="tl">
                    <a:srgbClr val="000000">
                      <a:alpha val="43137"/>
                    </a:srgbClr>
                  </a:outerShdw>
                </a:effectLst>
              </a:rPr>
              <a:t> </a:t>
            </a:r>
            <a:r>
              <a:rPr lang="en-US" sz="3200" dirty="0"/>
              <a:t>&amp;</a:t>
            </a:r>
            <a:r>
              <a:rPr lang="en-US" sz="3200" b="1" i="1" dirty="0">
                <a:solidFill>
                  <a:srgbClr val="FF0000"/>
                </a:solidFill>
                <a:effectLst>
                  <a:outerShdw blurRad="38100" dist="38100" dir="2700000" algn="tl">
                    <a:srgbClr val="000000">
                      <a:alpha val="43137"/>
                    </a:srgbClr>
                  </a:outerShdw>
                </a:effectLst>
              </a:rPr>
              <a:t> CRM</a:t>
            </a:r>
            <a:endParaRPr lang="en-US" b="1" dirty="0">
              <a:solidFill>
                <a:srgbClr val="FF0000"/>
              </a:solidFill>
              <a:effectLst>
                <a:outerShdw blurRad="38100" dist="38100" dir="2700000" algn="tl">
                  <a:srgbClr val="000000">
                    <a:alpha val="43137"/>
                  </a:srgbClr>
                </a:outerShdw>
              </a:effectLst>
            </a:endParaRPr>
          </a:p>
        </p:txBody>
      </p:sp>
      <p:sp>
        <p:nvSpPr>
          <p:cNvPr id="2" name="Slide Number Placeholder 1"/>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2</a:t>
            </a:fld>
            <a:endParaRPr lang="en-US"/>
          </a:p>
        </p:txBody>
      </p:sp>
      <p:sp>
        <p:nvSpPr>
          <p:cNvPr id="3" name="Right Arrow 2"/>
          <p:cNvSpPr/>
          <p:nvPr/>
        </p:nvSpPr>
        <p:spPr>
          <a:xfrm>
            <a:off x="2971800" y="3962400"/>
            <a:ext cx="457200"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0" y="6305139"/>
            <a:ext cx="8610600" cy="533400"/>
          </a:xfrm>
        </p:spPr>
        <p:txBody>
          <a:bodyPr/>
          <a:lstStyle/>
          <a:p>
            <a:r>
              <a:rPr lang="en-US" sz="2400" dirty="0"/>
              <a:t>See Appendix for examples of coupons as </a:t>
            </a:r>
            <a:r>
              <a:rPr lang="en-US" sz="2400" b="1" i="1" dirty="0">
                <a:effectLst>
                  <a:outerShdw blurRad="38100" dist="38100" dir="2700000" algn="tl">
                    <a:srgbClr val="000000">
                      <a:alpha val="43137"/>
                    </a:srgbClr>
                  </a:outerShdw>
                </a:effectLst>
              </a:rPr>
              <a:t>segmented pricing</a:t>
            </a:r>
          </a:p>
        </p:txBody>
      </p:sp>
      <p:sp>
        <p:nvSpPr>
          <p:cNvPr id="3" name="Title 2"/>
          <p:cNvSpPr>
            <a:spLocks noGrp="1"/>
          </p:cNvSpPr>
          <p:nvPr>
            <p:ph type="title"/>
          </p:nvPr>
        </p:nvSpPr>
        <p:spPr/>
        <p:txBody>
          <a:bodyPr/>
          <a:lstStyle/>
          <a:p>
            <a:r>
              <a:rPr lang="en-US" dirty="0"/>
              <a:t>Case Study: Nashua Photo</a:t>
            </a:r>
          </a:p>
        </p:txBody>
      </p:sp>
      <p:sp>
        <p:nvSpPr>
          <p:cNvPr id="4" name="Slide Number Placeholder 3"/>
          <p:cNvSpPr>
            <a:spLocks noGrp="1"/>
          </p:cNvSpPr>
          <p:nvPr>
            <p:ph type="sldNum" sz="quarter" idx="11"/>
          </p:nvPr>
        </p:nvSpPr>
        <p:spPr/>
        <p:txBody>
          <a:bodyPr/>
          <a:lstStyle/>
          <a:p>
            <a:pPr>
              <a:defRPr/>
            </a:pPr>
            <a:fld id="{DF54D116-B739-41B8-A000-A0DD5381050B}" type="slidenum">
              <a:rPr lang="en-US" smtClean="0"/>
              <a:pPr>
                <a:defRPr/>
              </a:pPr>
              <a:t>3</a:t>
            </a:fld>
            <a:endParaRPr lang="en-US"/>
          </a:p>
        </p:txBody>
      </p:sp>
      <p:pic>
        <p:nvPicPr>
          <p:cNvPr id="32770" name="Picture 2" descr="Nashua Logo PNG Transparent &amp;amp; SVG Vector - Freebie Supply"/>
          <p:cNvPicPr>
            <a:picLocks noChangeAspect="1" noChangeArrowheads="1"/>
          </p:cNvPicPr>
          <p:nvPr/>
        </p:nvPicPr>
        <p:blipFill rotWithShape="1">
          <a:blip r:embed="rId2">
            <a:extLst>
              <a:ext uri="{28A0092B-C50C-407E-A947-70E740481C1C}">
                <a14:useLocalDpi xmlns:a14="http://schemas.microsoft.com/office/drawing/2010/main" val="0"/>
              </a:ext>
            </a:extLst>
          </a:blip>
          <a:srcRect t="35252" b="33902"/>
          <a:stretch/>
        </p:blipFill>
        <p:spPr bwMode="auto">
          <a:xfrm>
            <a:off x="228601" y="3810000"/>
            <a:ext cx="3352798" cy="1034197"/>
          </a:xfrm>
          <a:prstGeom prst="rect">
            <a:avLst/>
          </a:prstGeom>
          <a:noFill/>
          <a:extLst>
            <a:ext uri="{909E8E84-426E-40DD-AFC4-6F175D3DCCD1}">
              <a14:hiddenFill xmlns:a14="http://schemas.microsoft.com/office/drawing/2010/main">
                <a:solidFill>
                  <a:srgbClr val="FFFFFF"/>
                </a:solidFill>
              </a14:hiddenFill>
            </a:ext>
          </a:extLst>
        </p:spPr>
      </p:pic>
      <p:pic>
        <p:nvPicPr>
          <p:cNvPr id="32772" name="Picture 4" descr="Nashua Manufacturing Company - Wikipedia"/>
          <p:cNvPicPr>
            <a:picLocks noChangeAspect="1" noChangeArrowheads="1"/>
          </p:cNvPicPr>
          <p:nvPr/>
        </p:nvPicPr>
        <p:blipFill rotWithShape="1">
          <a:blip r:embed="rId3">
            <a:extLst>
              <a:ext uri="{28A0092B-C50C-407E-A947-70E740481C1C}">
                <a14:useLocalDpi xmlns:a14="http://schemas.microsoft.com/office/drawing/2010/main" val="0"/>
              </a:ext>
            </a:extLst>
          </a:blip>
          <a:srcRect t="13513"/>
          <a:stretch/>
        </p:blipFill>
        <p:spPr bwMode="auto">
          <a:xfrm>
            <a:off x="3581399" y="3160507"/>
            <a:ext cx="5261111" cy="28592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50760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612775" y="228600"/>
            <a:ext cx="8153400" cy="990600"/>
          </a:xfrm>
        </p:spPr>
        <p:txBody>
          <a:bodyPr>
            <a:normAutofit fontScale="90000"/>
          </a:bodyPr>
          <a:lstStyle/>
          <a:p>
            <a:r>
              <a:rPr lang="en-US" sz="4400" dirty="0"/>
              <a:t>Evaluating Price Promotions</a:t>
            </a:r>
            <a:br>
              <a:rPr lang="en-US" sz="4400" dirty="0"/>
            </a:br>
            <a:r>
              <a:rPr lang="en-US" sz="3600" dirty="0"/>
              <a:t>Example: Nashua Photo</a:t>
            </a:r>
          </a:p>
        </p:txBody>
      </p:sp>
      <p:sp>
        <p:nvSpPr>
          <p:cNvPr id="10243" name="Rectangle 3"/>
          <p:cNvSpPr>
            <a:spLocks noGrp="1" noChangeArrowheads="1"/>
          </p:cNvSpPr>
          <p:nvPr>
            <p:ph sz="quarter" idx="1"/>
          </p:nvPr>
        </p:nvSpPr>
        <p:spPr>
          <a:xfrm>
            <a:off x="609600" y="1752600"/>
            <a:ext cx="7772400" cy="4648200"/>
          </a:xfrm>
        </p:spPr>
        <p:txBody>
          <a:bodyPr/>
          <a:lstStyle/>
          <a:p>
            <a:pPr>
              <a:lnSpc>
                <a:spcPct val="90000"/>
              </a:lnSpc>
              <a:spcAft>
                <a:spcPts val="1200"/>
              </a:spcAft>
              <a:defRPr/>
            </a:pPr>
            <a:r>
              <a:rPr lang="en-US" dirty="0"/>
              <a:t>Based on 1993 </a:t>
            </a:r>
            <a:r>
              <a:rPr lang="en-US" i="1" dirty="0"/>
              <a:t>Efficiency Report, </a:t>
            </a:r>
            <a:r>
              <a:rPr lang="en-US" dirty="0"/>
              <a:t>how does Nashua evaluate its price promotion campaigns?</a:t>
            </a:r>
          </a:p>
        </p:txBody>
      </p:sp>
      <p:sp>
        <p:nvSpPr>
          <p:cNvPr id="2" name="Slide Number Placeholder 1"/>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4</a:t>
            </a:fld>
            <a:endParaRPr lang="en-US"/>
          </a:p>
        </p:txBody>
      </p:sp>
      <p:sp>
        <p:nvSpPr>
          <p:cNvPr id="8" name="TextBox 7"/>
          <p:cNvSpPr txBox="1"/>
          <p:nvPr/>
        </p:nvSpPr>
        <p:spPr>
          <a:xfrm>
            <a:off x="457200" y="6400800"/>
            <a:ext cx="2398413" cy="276999"/>
          </a:xfrm>
          <a:prstGeom prst="rect">
            <a:avLst/>
          </a:prstGeom>
          <a:noFill/>
        </p:spPr>
        <p:txBody>
          <a:bodyPr wrap="none" rtlCol="0">
            <a:spAutoFit/>
          </a:bodyPr>
          <a:lstStyle/>
          <a:p>
            <a:r>
              <a:rPr lang="en-US" sz="1200" dirty="0">
                <a:solidFill>
                  <a:srgbClr val="FF0000"/>
                </a:solidFill>
              </a:rPr>
              <a:t>Click to see entire list of campaigns</a:t>
            </a:r>
          </a:p>
        </p:txBody>
      </p:sp>
      <p:cxnSp>
        <p:nvCxnSpPr>
          <p:cNvPr id="10" name="Straight Arrow Connector 9"/>
          <p:cNvCxnSpPr/>
          <p:nvPr/>
        </p:nvCxnSpPr>
        <p:spPr>
          <a:xfrm flipV="1">
            <a:off x="1981200" y="6096000"/>
            <a:ext cx="76200" cy="3048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7010401" y="3200400"/>
            <a:ext cx="1981200" cy="923330"/>
          </a:xfrm>
          <a:prstGeom prst="rect">
            <a:avLst/>
          </a:prstGeom>
          <a:noFill/>
        </p:spPr>
        <p:txBody>
          <a:bodyPr wrap="square" rtlCol="0">
            <a:spAutoFit/>
          </a:bodyPr>
          <a:lstStyle/>
          <a:p>
            <a:r>
              <a:rPr lang="en-US" sz="1800" dirty="0"/>
              <a:t>Average cost per respondent across campaigns is $2.40</a:t>
            </a:r>
          </a:p>
        </p:txBody>
      </p:sp>
      <p:graphicFrame>
        <p:nvGraphicFramePr>
          <p:cNvPr id="7" name="Object 6"/>
          <p:cNvGraphicFramePr>
            <a:graphicFrameLocks noChangeAspect="1"/>
          </p:cNvGraphicFramePr>
          <p:nvPr/>
        </p:nvGraphicFramePr>
        <p:xfrm>
          <a:off x="609600" y="2514600"/>
          <a:ext cx="5972175" cy="3543300"/>
        </p:xfrm>
        <a:graphic>
          <a:graphicData uri="http://schemas.openxmlformats.org/presentationml/2006/ole">
            <mc:AlternateContent xmlns:mc="http://schemas.openxmlformats.org/markup-compatibility/2006">
              <mc:Choice xmlns:v="urn:schemas-microsoft-com:vml" Requires="v">
                <p:oleObj spid="_x0000_s32801" name="Worksheet" r:id="rId3" imgW="5972099" imgH="3543210" progId="Excel.Sheet.12">
                  <p:embed/>
                </p:oleObj>
              </mc:Choice>
              <mc:Fallback>
                <p:oleObj name="Worksheet" r:id="rId3" imgW="5972099" imgH="3543210" progId="Excel.Sheet.12">
                  <p:embed/>
                  <p:pic>
                    <p:nvPicPr>
                      <p:cNvPr id="7" name="Object 6"/>
                      <p:cNvPicPr/>
                      <p:nvPr/>
                    </p:nvPicPr>
                    <p:blipFill>
                      <a:blip r:embed="rId4"/>
                      <a:stretch>
                        <a:fillRect/>
                      </a:stretch>
                    </p:blipFill>
                    <p:spPr>
                      <a:xfrm>
                        <a:off x="609600" y="2514600"/>
                        <a:ext cx="5972175" cy="3543300"/>
                      </a:xfrm>
                      <a:prstGeom prst="rect">
                        <a:avLst/>
                      </a:prstGeom>
                    </p:spPr>
                  </p:pic>
                </p:oleObj>
              </mc:Fallback>
            </mc:AlternateContent>
          </a:graphicData>
        </a:graphic>
      </p:graphicFrame>
    </p:spTree>
    <p:extLst>
      <p:ext uri="{BB962C8B-B14F-4D97-AF65-F5344CB8AC3E}">
        <p14:creationId xmlns:p14="http://schemas.microsoft.com/office/powerpoint/2010/main" val="2834504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612775" y="228600"/>
            <a:ext cx="8153400" cy="990600"/>
          </a:xfrm>
        </p:spPr>
        <p:txBody>
          <a:bodyPr>
            <a:normAutofit fontScale="90000"/>
          </a:bodyPr>
          <a:lstStyle/>
          <a:p>
            <a:r>
              <a:rPr lang="en-US" sz="4400" dirty="0"/>
              <a:t>Evaluating Price Promotions</a:t>
            </a:r>
            <a:br>
              <a:rPr lang="en-US" sz="4400" dirty="0"/>
            </a:br>
            <a:r>
              <a:rPr lang="en-US" sz="3600" dirty="0"/>
              <a:t>Example: Nashua Photo</a:t>
            </a:r>
          </a:p>
        </p:txBody>
      </p:sp>
      <p:sp>
        <p:nvSpPr>
          <p:cNvPr id="10243" name="Rectangle 3"/>
          <p:cNvSpPr>
            <a:spLocks noGrp="1" noChangeArrowheads="1"/>
          </p:cNvSpPr>
          <p:nvPr>
            <p:ph sz="quarter" idx="1"/>
          </p:nvPr>
        </p:nvSpPr>
        <p:spPr>
          <a:xfrm>
            <a:off x="609600" y="1752600"/>
            <a:ext cx="7772400" cy="4648200"/>
          </a:xfrm>
        </p:spPr>
        <p:txBody>
          <a:bodyPr/>
          <a:lstStyle/>
          <a:p>
            <a:pPr>
              <a:lnSpc>
                <a:spcPct val="90000"/>
              </a:lnSpc>
              <a:spcAft>
                <a:spcPts val="0"/>
              </a:spcAft>
              <a:defRPr/>
            </a:pPr>
            <a:r>
              <a:rPr lang="en-US" dirty="0"/>
              <a:t>How effective are these campaigns?</a:t>
            </a:r>
          </a:p>
          <a:p>
            <a:pPr lvl="1">
              <a:lnSpc>
                <a:spcPct val="90000"/>
              </a:lnSpc>
              <a:spcBef>
                <a:spcPts val="0"/>
              </a:spcBef>
              <a:spcAft>
                <a:spcPts val="1200"/>
              </a:spcAft>
              <a:defRPr/>
            </a:pPr>
            <a:r>
              <a:rPr lang="en-US" dirty="0" err="1"/>
              <a:t>Avg</a:t>
            </a:r>
            <a:r>
              <a:rPr lang="en-US" dirty="0"/>
              <a:t> promotional GM = $1.07</a:t>
            </a:r>
          </a:p>
        </p:txBody>
      </p:sp>
      <p:sp>
        <p:nvSpPr>
          <p:cNvPr id="2" name="Slide Number Placeholder 1"/>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5</a:t>
            </a:fld>
            <a:endParaRPr lang="en-US"/>
          </a:p>
        </p:txBody>
      </p:sp>
      <p:sp>
        <p:nvSpPr>
          <p:cNvPr id="6" name="TextBox 5"/>
          <p:cNvSpPr txBox="1"/>
          <p:nvPr/>
        </p:nvSpPr>
        <p:spPr>
          <a:xfrm>
            <a:off x="457200" y="6400800"/>
            <a:ext cx="2398413" cy="276999"/>
          </a:xfrm>
          <a:prstGeom prst="rect">
            <a:avLst/>
          </a:prstGeom>
          <a:noFill/>
        </p:spPr>
        <p:txBody>
          <a:bodyPr wrap="none" rtlCol="0">
            <a:spAutoFit/>
          </a:bodyPr>
          <a:lstStyle/>
          <a:p>
            <a:r>
              <a:rPr lang="en-US" sz="1200" dirty="0">
                <a:solidFill>
                  <a:srgbClr val="FF0000"/>
                </a:solidFill>
              </a:rPr>
              <a:t>Click to see entire list of campaigns</a:t>
            </a:r>
          </a:p>
        </p:txBody>
      </p:sp>
      <p:cxnSp>
        <p:nvCxnSpPr>
          <p:cNvPr id="8" name="Straight Arrow Connector 7"/>
          <p:cNvCxnSpPr/>
          <p:nvPr/>
        </p:nvCxnSpPr>
        <p:spPr>
          <a:xfrm flipV="1">
            <a:off x="1981200" y="6096000"/>
            <a:ext cx="76200" cy="3048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3" name="Object 2"/>
          <p:cNvGraphicFramePr>
            <a:graphicFrameLocks noChangeAspect="1"/>
          </p:cNvGraphicFramePr>
          <p:nvPr/>
        </p:nvGraphicFramePr>
        <p:xfrm>
          <a:off x="609600" y="2514600"/>
          <a:ext cx="8343900" cy="3416300"/>
        </p:xfrm>
        <a:graphic>
          <a:graphicData uri="http://schemas.openxmlformats.org/presentationml/2006/ole">
            <mc:AlternateContent xmlns:mc="http://schemas.openxmlformats.org/markup-compatibility/2006">
              <mc:Choice xmlns:v="urn:schemas-microsoft-com:vml" Requires="v">
                <p:oleObj spid="_x0000_s33825" name="Worksheet" r:id="rId3" imgW="8343827" imgH="3416220" progId="Excel.Sheet.12">
                  <p:embed/>
                </p:oleObj>
              </mc:Choice>
              <mc:Fallback>
                <p:oleObj name="Worksheet" r:id="rId3" imgW="8343827" imgH="3416220" progId="Excel.Sheet.12">
                  <p:embed/>
                  <p:pic>
                    <p:nvPicPr>
                      <p:cNvPr id="3" name="Object 2"/>
                      <p:cNvPicPr>
                        <a:picLocks noChangeAspect="1" noChangeArrowheads="1"/>
                      </p:cNvPicPr>
                      <p:nvPr/>
                    </p:nvPicPr>
                    <p:blipFill>
                      <a:blip r:embed="rId4"/>
                      <a:srcRect/>
                      <a:stretch>
                        <a:fillRect/>
                      </a:stretch>
                    </p:blipFill>
                    <p:spPr bwMode="auto">
                      <a:xfrm>
                        <a:off x="609600" y="2514600"/>
                        <a:ext cx="83439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TextBox 3"/>
          <p:cNvSpPr txBox="1"/>
          <p:nvPr/>
        </p:nvSpPr>
        <p:spPr>
          <a:xfrm>
            <a:off x="2895600" y="6228711"/>
            <a:ext cx="4254691" cy="461665"/>
          </a:xfrm>
          <a:prstGeom prst="rect">
            <a:avLst/>
          </a:prstGeom>
          <a:solidFill>
            <a:srgbClr val="7030A0">
              <a:alpha val="13000"/>
            </a:srgbClr>
          </a:solidFill>
        </p:spPr>
        <p:txBody>
          <a:bodyPr wrap="none" rtlCol="0">
            <a:spAutoFit/>
          </a:bodyPr>
          <a:lstStyle/>
          <a:p>
            <a:r>
              <a:rPr lang="en-US" u="sng" dirty="0">
                <a:solidFill>
                  <a:srgbClr val="7030A0"/>
                </a:solidFill>
              </a:rPr>
              <a:t>Only 4 campaigns with ROMI&gt;0</a:t>
            </a:r>
          </a:p>
        </p:txBody>
      </p:sp>
      <p:sp>
        <p:nvSpPr>
          <p:cNvPr id="5" name="Rectangle 4"/>
          <p:cNvSpPr/>
          <p:nvPr/>
        </p:nvSpPr>
        <p:spPr>
          <a:xfrm>
            <a:off x="6858000" y="2514600"/>
            <a:ext cx="2095500" cy="3416300"/>
          </a:xfrm>
          <a:prstGeom prst="rect">
            <a:avLst/>
          </a:prstGeom>
          <a:solidFill>
            <a:schemeClr val="accent1">
              <a:alpha val="1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8153400" y="1524000"/>
            <a:ext cx="895350" cy="726357"/>
          </a:xfrm>
          <a:prstGeom prst="roundRect">
            <a:avLst/>
          </a:prstGeom>
          <a:solidFill>
            <a:schemeClr val="accent1">
              <a:alpha val="4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Return on marketing investment</a:t>
            </a:r>
          </a:p>
        </p:txBody>
      </p:sp>
      <p:cxnSp>
        <p:nvCxnSpPr>
          <p:cNvPr id="10" name="Straight Arrow Connector 9"/>
          <p:cNvCxnSpPr>
            <a:stCxn id="7" idx="2"/>
          </p:cNvCxnSpPr>
          <p:nvPr/>
        </p:nvCxnSpPr>
        <p:spPr>
          <a:xfrm>
            <a:off x="8601075" y="2250357"/>
            <a:ext cx="9525" cy="2642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1582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ppt_x"/>
                                          </p:val>
                                        </p:tav>
                                        <p:tav tm="100000">
                                          <p:val>
                                            <p:strVal val="#ppt_x"/>
                                          </p:val>
                                        </p:tav>
                                      </p:tavLst>
                                    </p:anim>
                                    <p:anim calcmode="lin" valueType="num">
                                      <p:cBhvr additive="base">
                                        <p:cTn id="2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animBg="1"/>
      <p:bldP spid="5" grpId="0" animBg="1"/>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612775" y="228600"/>
            <a:ext cx="8153400" cy="990600"/>
          </a:xfrm>
        </p:spPr>
        <p:txBody>
          <a:bodyPr>
            <a:normAutofit fontScale="90000"/>
          </a:bodyPr>
          <a:lstStyle/>
          <a:p>
            <a:r>
              <a:rPr lang="en-US" sz="4400" dirty="0"/>
              <a:t>Evaluating Price Promotions</a:t>
            </a:r>
            <a:br>
              <a:rPr lang="en-US" sz="4400" dirty="0"/>
            </a:br>
            <a:r>
              <a:rPr lang="en-US" sz="3600" dirty="0"/>
              <a:t>Example: Nashua Photo</a:t>
            </a:r>
          </a:p>
        </p:txBody>
      </p:sp>
      <p:sp>
        <p:nvSpPr>
          <p:cNvPr id="10243" name="Rectangle 3"/>
          <p:cNvSpPr>
            <a:spLocks noGrp="1" noChangeArrowheads="1"/>
          </p:cNvSpPr>
          <p:nvPr>
            <p:ph sz="quarter" idx="1"/>
          </p:nvPr>
        </p:nvSpPr>
        <p:spPr>
          <a:xfrm>
            <a:off x="609600" y="1752600"/>
            <a:ext cx="7772400" cy="4648200"/>
          </a:xfrm>
        </p:spPr>
        <p:txBody>
          <a:bodyPr/>
          <a:lstStyle/>
          <a:p>
            <a:pPr>
              <a:lnSpc>
                <a:spcPct val="90000"/>
              </a:lnSpc>
              <a:spcAft>
                <a:spcPts val="1200"/>
              </a:spcAft>
              <a:defRPr/>
            </a:pPr>
            <a:r>
              <a:rPr lang="en-US" dirty="0"/>
              <a:t>What about cannibalization of bounce-back mailers? Suppose 10% of </a:t>
            </a:r>
            <a:r>
              <a:rPr lang="en-US" i="1" dirty="0"/>
              <a:t>repeats</a:t>
            </a:r>
            <a:r>
              <a:rPr lang="en-US" dirty="0"/>
              <a:t> would have used bounce-back…</a:t>
            </a:r>
          </a:p>
        </p:txBody>
      </p:sp>
      <p:sp>
        <p:nvSpPr>
          <p:cNvPr id="2" name="Slide Number Placeholder 1"/>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6</a:t>
            </a:fld>
            <a:endParaRPr lang="en-US"/>
          </a:p>
        </p:txBody>
      </p:sp>
      <p:sp>
        <p:nvSpPr>
          <p:cNvPr id="6" name="TextBox 5"/>
          <p:cNvSpPr txBox="1"/>
          <p:nvPr/>
        </p:nvSpPr>
        <p:spPr>
          <a:xfrm>
            <a:off x="457200" y="6400800"/>
            <a:ext cx="2398413" cy="276999"/>
          </a:xfrm>
          <a:prstGeom prst="rect">
            <a:avLst/>
          </a:prstGeom>
          <a:noFill/>
        </p:spPr>
        <p:txBody>
          <a:bodyPr wrap="none" rtlCol="0">
            <a:spAutoFit/>
          </a:bodyPr>
          <a:lstStyle/>
          <a:p>
            <a:r>
              <a:rPr lang="en-US" sz="1200" dirty="0">
                <a:solidFill>
                  <a:srgbClr val="FF0000"/>
                </a:solidFill>
              </a:rPr>
              <a:t>Click to see entire list of campaigns</a:t>
            </a:r>
          </a:p>
        </p:txBody>
      </p:sp>
      <p:cxnSp>
        <p:nvCxnSpPr>
          <p:cNvPr id="8" name="Straight Arrow Connector 7"/>
          <p:cNvCxnSpPr/>
          <p:nvPr/>
        </p:nvCxnSpPr>
        <p:spPr>
          <a:xfrm flipV="1">
            <a:off x="1981200" y="6096000"/>
            <a:ext cx="76200" cy="3048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3" name="Object 2"/>
          <p:cNvGraphicFramePr>
            <a:graphicFrameLocks noChangeAspect="1"/>
          </p:cNvGraphicFramePr>
          <p:nvPr/>
        </p:nvGraphicFramePr>
        <p:xfrm>
          <a:off x="609600" y="2514600"/>
          <a:ext cx="8343900" cy="3416300"/>
        </p:xfrm>
        <a:graphic>
          <a:graphicData uri="http://schemas.openxmlformats.org/presentationml/2006/ole">
            <mc:AlternateContent xmlns:mc="http://schemas.openxmlformats.org/markup-compatibility/2006">
              <mc:Choice xmlns:v="urn:schemas-microsoft-com:vml" Requires="v">
                <p:oleObj spid="_x0000_s34849" name="Worksheet" r:id="rId3" imgW="8343827" imgH="3416220" progId="Excel.Sheet.12">
                  <p:embed/>
                </p:oleObj>
              </mc:Choice>
              <mc:Fallback>
                <p:oleObj name="Worksheet" r:id="rId3" imgW="8343827" imgH="3416220" progId="Excel.Sheet.12">
                  <p:embed/>
                  <p:pic>
                    <p:nvPicPr>
                      <p:cNvPr id="3" name="Object 2"/>
                      <p:cNvPicPr>
                        <a:picLocks noChangeAspect="1" noChangeArrowheads="1"/>
                      </p:cNvPicPr>
                      <p:nvPr/>
                    </p:nvPicPr>
                    <p:blipFill>
                      <a:blip r:embed="rId4"/>
                      <a:srcRect/>
                      <a:stretch>
                        <a:fillRect/>
                      </a:stretch>
                    </p:blipFill>
                    <p:spPr bwMode="auto">
                      <a:xfrm>
                        <a:off x="609600" y="2514600"/>
                        <a:ext cx="83439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TextBox 3"/>
          <p:cNvSpPr txBox="1"/>
          <p:nvPr/>
        </p:nvSpPr>
        <p:spPr>
          <a:xfrm>
            <a:off x="2895600" y="6228711"/>
            <a:ext cx="4254691" cy="461665"/>
          </a:xfrm>
          <a:prstGeom prst="rect">
            <a:avLst/>
          </a:prstGeom>
          <a:solidFill>
            <a:srgbClr val="7030A0">
              <a:alpha val="9000"/>
            </a:srgbClr>
          </a:solidFill>
        </p:spPr>
        <p:txBody>
          <a:bodyPr wrap="none" rtlCol="0">
            <a:spAutoFit/>
          </a:bodyPr>
          <a:lstStyle/>
          <a:p>
            <a:r>
              <a:rPr lang="en-US" u="sng" dirty="0">
                <a:solidFill>
                  <a:srgbClr val="7030A0"/>
                </a:solidFill>
              </a:rPr>
              <a:t>Only 1 campaigns with ROMI&gt;0</a:t>
            </a:r>
          </a:p>
        </p:txBody>
      </p:sp>
    </p:spTree>
    <p:extLst>
      <p:ext uri="{BB962C8B-B14F-4D97-AF65-F5344CB8AC3E}">
        <p14:creationId xmlns:p14="http://schemas.microsoft.com/office/powerpoint/2010/main" val="1030265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612775" y="228600"/>
            <a:ext cx="8153400" cy="990600"/>
          </a:xfrm>
        </p:spPr>
        <p:txBody>
          <a:bodyPr/>
          <a:lstStyle/>
          <a:p>
            <a:r>
              <a:rPr lang="en-US"/>
              <a:t>Long Run Effects of Promotions</a:t>
            </a:r>
          </a:p>
        </p:txBody>
      </p:sp>
      <p:sp>
        <p:nvSpPr>
          <p:cNvPr id="11267" name="Rectangle 3"/>
          <p:cNvSpPr>
            <a:spLocks noGrp="1" noChangeArrowheads="1"/>
          </p:cNvSpPr>
          <p:nvPr>
            <p:ph sz="quarter" idx="1"/>
          </p:nvPr>
        </p:nvSpPr>
        <p:spPr>
          <a:xfrm>
            <a:off x="612775" y="1600200"/>
            <a:ext cx="8153400" cy="4495800"/>
          </a:xfrm>
        </p:spPr>
        <p:txBody>
          <a:bodyPr/>
          <a:lstStyle/>
          <a:p>
            <a:pPr>
              <a:spcAft>
                <a:spcPts val="1200"/>
              </a:spcAft>
              <a:defRPr/>
            </a:pPr>
            <a:endParaRPr lang="en-US" dirty="0"/>
          </a:p>
          <a:p>
            <a:pPr>
              <a:spcAft>
                <a:spcPts val="1200"/>
              </a:spcAft>
              <a:defRPr/>
            </a:pPr>
            <a:r>
              <a:rPr lang="en-US" dirty="0"/>
              <a:t>Price promotion induces </a:t>
            </a:r>
            <a:r>
              <a:rPr lang="en-US" b="1" dirty="0">
                <a:effectLst>
                  <a:outerShdw blurRad="38100" dist="38100" dir="2700000" algn="tl">
                    <a:srgbClr val="000000">
                      <a:alpha val="43137"/>
                    </a:srgbClr>
                  </a:outerShdw>
                </a:effectLst>
              </a:rPr>
              <a:t>trial</a:t>
            </a:r>
          </a:p>
          <a:p>
            <a:pPr>
              <a:spcAft>
                <a:spcPts val="1200"/>
              </a:spcAft>
              <a:defRPr/>
            </a:pPr>
            <a:r>
              <a:rPr lang="en-US" dirty="0"/>
              <a:t>Trial may lead to future </a:t>
            </a:r>
            <a:r>
              <a:rPr lang="en-US" b="1" dirty="0">
                <a:effectLst>
                  <a:outerShdw blurRad="38100" dist="38100" dir="2700000" algn="tl">
                    <a:srgbClr val="000000">
                      <a:alpha val="43137"/>
                    </a:srgbClr>
                  </a:outerShdw>
                </a:effectLst>
              </a:rPr>
              <a:t>repeat</a:t>
            </a:r>
            <a:r>
              <a:rPr lang="en-US" dirty="0"/>
              <a:t> purchases</a:t>
            </a:r>
          </a:p>
          <a:p>
            <a:pPr>
              <a:defRPr/>
            </a:pPr>
            <a:endParaRPr lang="en-US" dirty="0"/>
          </a:p>
          <a:p>
            <a:pPr marL="0" indent="0" algn="ctr">
              <a:buNone/>
              <a:defRPr/>
            </a:pPr>
            <a:r>
              <a:rPr lang="en-US" i="1" dirty="0"/>
              <a:t>How much should firm be willing to </a:t>
            </a:r>
            <a:r>
              <a:rPr lang="en-US" b="1" i="1" dirty="0">
                <a:effectLst>
                  <a:outerShdw blurRad="38100" dist="38100" dir="2700000" algn="tl">
                    <a:srgbClr val="000000">
                      <a:alpha val="43137"/>
                    </a:srgbClr>
                  </a:outerShdw>
                </a:effectLst>
              </a:rPr>
              <a:t>discount</a:t>
            </a:r>
            <a:r>
              <a:rPr lang="en-US" i="1" dirty="0"/>
              <a:t> price to acquire a new customer?</a:t>
            </a:r>
          </a:p>
        </p:txBody>
      </p:sp>
      <p:sp>
        <p:nvSpPr>
          <p:cNvPr id="2" name="Slide Number Placeholder 1"/>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7</a:t>
            </a:fld>
            <a:endParaRPr lang="en-US"/>
          </a:p>
        </p:txBody>
      </p:sp>
      <p:pic>
        <p:nvPicPr>
          <p:cNvPr id="4" name="Picture 3"/>
          <p:cNvPicPr>
            <a:picLocks noChangeAspect="1"/>
          </p:cNvPicPr>
          <p:nvPr/>
        </p:nvPicPr>
        <p:blipFill rotWithShape="1">
          <a:blip r:embed="rId2"/>
          <a:srcRect l="6977" t="5367" b="6055"/>
          <a:stretch/>
        </p:blipFill>
        <p:spPr>
          <a:xfrm>
            <a:off x="3581400" y="4953000"/>
            <a:ext cx="2586005" cy="1600200"/>
          </a:xfrm>
          <a:prstGeom prst="rect">
            <a:avLst/>
          </a:prstGeom>
        </p:spPr>
      </p:pic>
    </p:spTree>
    <p:extLst>
      <p:ext uri="{BB962C8B-B14F-4D97-AF65-F5344CB8AC3E}">
        <p14:creationId xmlns:p14="http://schemas.microsoft.com/office/powerpoint/2010/main" val="23629081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378952" cy="990600"/>
          </a:xfrm>
        </p:spPr>
        <p:txBody>
          <a:bodyPr>
            <a:noAutofit/>
          </a:bodyPr>
          <a:lstStyle/>
          <a:p>
            <a:r>
              <a:rPr lang="en-US" sz="2800" dirty="0"/>
              <a:t>“Companies spend 19.6% more on customer acquisition than on customer retention, up from 14.7% in 2022”</a:t>
            </a:r>
          </a:p>
        </p:txBody>
      </p:sp>
      <p:sp>
        <p:nvSpPr>
          <p:cNvPr id="4" name="Slide Number Placeholder 3"/>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8</a:t>
            </a:fld>
            <a:endParaRPr lang="en-US"/>
          </a:p>
        </p:txBody>
      </p:sp>
      <p:sp>
        <p:nvSpPr>
          <p:cNvPr id="7" name="Rectangle 6"/>
          <p:cNvSpPr/>
          <p:nvPr/>
        </p:nvSpPr>
        <p:spPr>
          <a:xfrm>
            <a:off x="531843" y="6251607"/>
            <a:ext cx="2095510" cy="276999"/>
          </a:xfrm>
          <a:prstGeom prst="rect">
            <a:avLst/>
          </a:prstGeom>
        </p:spPr>
        <p:txBody>
          <a:bodyPr wrap="none">
            <a:spAutoFit/>
          </a:bodyPr>
          <a:lstStyle/>
          <a:p>
            <a:pPr marL="0" indent="0">
              <a:spcAft>
                <a:spcPts val="1200"/>
              </a:spcAft>
              <a:buNone/>
            </a:pPr>
            <a:r>
              <a:rPr lang="en-US" sz="1200" dirty="0"/>
              <a:t>Source: </a:t>
            </a:r>
            <a:r>
              <a:rPr lang="en-US" sz="1200" dirty="0">
                <a:hlinkClick r:id="rId2"/>
              </a:rPr>
              <a:t>CMOSurvey.org, 2024</a:t>
            </a:r>
            <a:endParaRPr lang="en-US" sz="1200" dirty="0"/>
          </a:p>
        </p:txBody>
      </p:sp>
      <p:sp>
        <p:nvSpPr>
          <p:cNvPr id="3" name="Rectangle 2"/>
          <p:cNvSpPr/>
          <p:nvPr/>
        </p:nvSpPr>
        <p:spPr>
          <a:xfrm>
            <a:off x="8439150" y="5389605"/>
            <a:ext cx="381000" cy="76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Content Placeholder 8">
            <a:extLst>
              <a:ext uri="{FF2B5EF4-FFF2-40B4-BE49-F238E27FC236}">
                <a16:creationId xmlns:a16="http://schemas.microsoft.com/office/drawing/2014/main" id="{5FEC4A95-4D82-492B-BB67-115C9B63920F}"/>
              </a:ext>
            </a:extLst>
          </p:cNvPr>
          <p:cNvPicPr>
            <a:picLocks noGrp="1" noChangeAspect="1"/>
          </p:cNvPicPr>
          <p:nvPr>
            <p:ph sz="quarter" idx="1"/>
          </p:nvPr>
        </p:nvPicPr>
        <p:blipFill>
          <a:blip r:embed="rId3"/>
          <a:stretch>
            <a:fillRect/>
          </a:stretch>
        </p:blipFill>
        <p:spPr>
          <a:xfrm>
            <a:off x="1303195" y="1600200"/>
            <a:ext cx="6772560" cy="4495800"/>
          </a:xfrm>
        </p:spPr>
      </p:pic>
    </p:spTree>
    <p:extLst>
      <p:ext uri="{BB962C8B-B14F-4D97-AF65-F5344CB8AC3E}">
        <p14:creationId xmlns:p14="http://schemas.microsoft.com/office/powerpoint/2010/main" val="359968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 name="Rectangle 8"/>
              <p:cNvSpPr txBox="1">
                <a:spLocks noChangeArrowheads="1"/>
              </p:cNvSpPr>
              <p:nvPr/>
            </p:nvSpPr>
            <p:spPr bwMode="auto">
              <a:xfrm>
                <a:off x="612775" y="1676400"/>
                <a:ext cx="7772400" cy="4876800"/>
              </a:xfrm>
              <a:prstGeom prst="rect">
                <a:avLst/>
              </a:prstGeom>
              <a:noFill/>
              <a:ln w="9525">
                <a:noFill/>
                <a:miter lim="800000"/>
                <a:headEnd/>
                <a:tailEnd/>
              </a:ln>
            </p:spPr>
            <p:txBody>
              <a:bodyPr/>
              <a:lstStyle/>
              <a:p>
                <a:pPr marL="342900" indent="-342900" eaLnBrk="0" hangingPunct="0">
                  <a:spcBef>
                    <a:spcPct val="20000"/>
                  </a:spcBef>
                  <a:buClr>
                    <a:schemeClr val="accent1"/>
                  </a:buClr>
                  <a:buSzPct val="70000"/>
                  <a:buFont typeface="Monotype Sorts" pitchFamily="2" charset="2"/>
                  <a:buNone/>
                  <a:defRPr/>
                </a:pPr>
                <a:r>
                  <a:rPr kumimoji="1" lang="en-US" b="1" kern="0" dirty="0">
                    <a:latin typeface="+mj-lt"/>
                    <a:cs typeface="+mn-cs"/>
                  </a:rPr>
                  <a:t>What is CLV of a customer who will spend $10 each period (starting today) over some time horizon (e.g., annuity)?</a:t>
                </a:r>
              </a:p>
              <a:p>
                <a:pPr marL="342900" indent="-342900" algn="ctr" eaLnBrk="0" hangingPunct="0">
                  <a:spcBef>
                    <a:spcPct val="20000"/>
                  </a:spcBef>
                  <a:buClr>
                    <a:schemeClr val="accent1"/>
                  </a:buClr>
                  <a:buSzPct val="70000"/>
                  <a:buFont typeface="Monotype Sorts" pitchFamily="2" charset="2"/>
                  <a:buNone/>
                  <a:defRPr/>
                </a:pPr>
                <a:r>
                  <a:rPr kumimoji="1" lang="en-US" u="sng" kern="0" dirty="0">
                    <a:latin typeface="+mn-lt"/>
                    <a:cs typeface="+mn-cs"/>
                  </a:rPr>
                  <a:t>Infinite horizon</a:t>
                </a:r>
                <a:r>
                  <a:rPr kumimoji="1" lang="en-US" sz="2000" kern="0" dirty="0">
                    <a:latin typeface="+mn-lt"/>
                    <a:cs typeface="+mn-cs"/>
                  </a:rPr>
                  <a:t> (i.e., perpetuity)</a:t>
                </a:r>
                <a:endParaRPr kumimoji="1" lang="en-US" kern="0" dirty="0">
                  <a:latin typeface="+mn-lt"/>
                  <a:cs typeface="+mn-cs"/>
                </a:endParaRPr>
              </a:p>
              <a:p>
                <a:pPr marL="342900" indent="-342900" algn="ctr" eaLnBrk="0" hangingPunct="0">
                  <a:spcBef>
                    <a:spcPct val="20000"/>
                  </a:spcBef>
                  <a:buClr>
                    <a:schemeClr val="accent1"/>
                  </a:buClr>
                  <a:buSzPct val="70000"/>
                  <a:buFont typeface="Monotype Sorts" pitchFamily="2" charset="2"/>
                  <a:buNone/>
                  <a:defRPr/>
                </a:pPr>
                <a14:m>
                  <m:oMath xmlns:m="http://schemas.openxmlformats.org/officeDocument/2006/math">
                    <m:r>
                      <a:rPr kumimoji="1" lang="en-US" b="1" i="1" kern="0" smtClean="0">
                        <a:latin typeface="Cambria Math"/>
                      </a:rPr>
                      <m:t>𝑵𝑷𝑽</m:t>
                    </m:r>
                    <m:r>
                      <a:rPr kumimoji="1" lang="en-US" b="1" i="1" kern="0">
                        <a:latin typeface="Cambria Math"/>
                      </a:rPr>
                      <m:t>=$</m:t>
                    </m:r>
                    <m:r>
                      <a:rPr kumimoji="1" lang="en-US" b="1" i="1" kern="0">
                        <a:latin typeface="Cambria Math"/>
                      </a:rPr>
                      <m:t>𝟏𝟎</m:t>
                    </m:r>
                    <m:r>
                      <a:rPr kumimoji="1" lang="en-US" b="1" i="1" kern="0">
                        <a:latin typeface="Cambria Math"/>
                      </a:rPr>
                      <m:t>+</m:t>
                    </m:r>
                    <m:d>
                      <m:dPr>
                        <m:ctrlPr>
                          <a:rPr kumimoji="1" lang="en-US" b="1" i="1" kern="0">
                            <a:latin typeface="Cambria Math" panose="02040503050406030204" pitchFamily="18" charset="0"/>
                          </a:rPr>
                        </m:ctrlPr>
                      </m:dPr>
                      <m:e>
                        <m:f>
                          <m:fPr>
                            <m:ctrlPr>
                              <a:rPr kumimoji="1" lang="en-US" b="1" i="1" kern="0">
                                <a:latin typeface="Cambria Math" panose="02040503050406030204" pitchFamily="18" charset="0"/>
                              </a:rPr>
                            </m:ctrlPr>
                          </m:fPr>
                          <m:num>
                            <m:r>
                              <a:rPr kumimoji="1" lang="en-US" b="1" i="1" kern="0">
                                <a:latin typeface="Cambria Math"/>
                              </a:rPr>
                              <m:t>𝟏</m:t>
                            </m:r>
                          </m:num>
                          <m:den>
                            <m:r>
                              <a:rPr kumimoji="1" lang="en-US" b="1" i="1" kern="0">
                                <a:latin typeface="Cambria Math"/>
                              </a:rPr>
                              <m:t>𝟏</m:t>
                            </m:r>
                            <m:r>
                              <a:rPr kumimoji="1" lang="en-US" b="1" i="1" kern="0">
                                <a:latin typeface="Cambria Math"/>
                              </a:rPr>
                              <m:t>+</m:t>
                            </m:r>
                            <m:r>
                              <a:rPr kumimoji="1" lang="en-US" b="1" i="1" kern="0">
                                <a:latin typeface="Cambria Math"/>
                              </a:rPr>
                              <m:t>𝒓</m:t>
                            </m:r>
                          </m:den>
                        </m:f>
                      </m:e>
                    </m:d>
                    <m:r>
                      <a:rPr kumimoji="1" lang="en-US" b="1" i="1" kern="0">
                        <a:latin typeface="Cambria Math"/>
                      </a:rPr>
                      <m:t>$</m:t>
                    </m:r>
                    <m:r>
                      <a:rPr kumimoji="1" lang="en-US" b="1" i="1" kern="0">
                        <a:latin typeface="Cambria Math"/>
                      </a:rPr>
                      <m:t>𝟏𝟎</m:t>
                    </m:r>
                  </m:oMath>
                </a14:m>
                <a:r>
                  <a:rPr kumimoji="1" lang="en-US" b="1" kern="0" dirty="0"/>
                  <a:t>+</a:t>
                </a:r>
                <a14:m>
                  <m:oMath xmlns:m="http://schemas.openxmlformats.org/officeDocument/2006/math">
                    <m:sSup>
                      <m:sSupPr>
                        <m:ctrlPr>
                          <a:rPr kumimoji="1" lang="en-US" b="1" i="1" kern="0">
                            <a:latin typeface="Cambria Math" panose="02040503050406030204" pitchFamily="18" charset="0"/>
                          </a:rPr>
                        </m:ctrlPr>
                      </m:sSupPr>
                      <m:e>
                        <m:d>
                          <m:dPr>
                            <m:ctrlPr>
                              <a:rPr kumimoji="1" lang="en-US" b="1" i="1" kern="0">
                                <a:latin typeface="Cambria Math" panose="02040503050406030204" pitchFamily="18" charset="0"/>
                              </a:rPr>
                            </m:ctrlPr>
                          </m:dPr>
                          <m:e>
                            <m:f>
                              <m:fPr>
                                <m:ctrlPr>
                                  <a:rPr kumimoji="1" lang="en-US" b="1" i="1" kern="0">
                                    <a:latin typeface="Cambria Math" panose="02040503050406030204" pitchFamily="18" charset="0"/>
                                  </a:rPr>
                                </m:ctrlPr>
                              </m:fPr>
                              <m:num>
                                <m:r>
                                  <a:rPr kumimoji="1" lang="en-US" b="1" i="1" kern="0">
                                    <a:latin typeface="Cambria Math"/>
                                  </a:rPr>
                                  <m:t>𝟏</m:t>
                                </m:r>
                              </m:num>
                              <m:den>
                                <m:r>
                                  <a:rPr kumimoji="1" lang="en-US" b="1" i="1" kern="0">
                                    <a:latin typeface="Cambria Math"/>
                                  </a:rPr>
                                  <m:t>𝟏</m:t>
                                </m:r>
                                <m:r>
                                  <a:rPr kumimoji="1" lang="en-US" b="1" i="1" kern="0">
                                    <a:latin typeface="Cambria Math"/>
                                  </a:rPr>
                                  <m:t>+</m:t>
                                </m:r>
                                <m:r>
                                  <a:rPr kumimoji="1" lang="en-US" b="1" i="1" kern="0">
                                    <a:latin typeface="Cambria Math"/>
                                  </a:rPr>
                                  <m:t>𝒓</m:t>
                                </m:r>
                              </m:den>
                            </m:f>
                          </m:e>
                        </m:d>
                      </m:e>
                      <m:sup>
                        <m:r>
                          <a:rPr kumimoji="1" lang="en-US" b="1" i="1" kern="0">
                            <a:latin typeface="Cambria Math"/>
                          </a:rPr>
                          <m:t>𝟐</m:t>
                        </m:r>
                      </m:sup>
                    </m:sSup>
                    <m:r>
                      <a:rPr kumimoji="1" lang="en-US" b="1" i="1" kern="0">
                        <a:latin typeface="Cambria Math"/>
                      </a:rPr>
                      <m:t>$</m:t>
                    </m:r>
                    <m:r>
                      <a:rPr kumimoji="1" lang="en-US" b="1" i="1" kern="0">
                        <a:latin typeface="Cambria Math"/>
                      </a:rPr>
                      <m:t>𝟏𝟎</m:t>
                    </m:r>
                    <m:r>
                      <a:rPr kumimoji="1" lang="en-US" b="1" i="1" kern="0">
                        <a:latin typeface="Cambria Math"/>
                      </a:rPr>
                      <m:t>+…</m:t>
                    </m:r>
                  </m:oMath>
                </a14:m>
                <a:endParaRPr kumimoji="1" lang="en-US" b="1" kern="0" dirty="0"/>
              </a:p>
              <a:p>
                <a:pPr marL="342900" indent="-342900" algn="ctr" eaLnBrk="0" hangingPunct="0">
                  <a:spcBef>
                    <a:spcPts val="2400"/>
                  </a:spcBef>
                  <a:buClr>
                    <a:schemeClr val="accent1"/>
                  </a:buClr>
                  <a:buSzPct val="70000"/>
                  <a:buFont typeface="Monotype Sorts" pitchFamily="2" charset="2"/>
                  <a:buNone/>
                  <a:defRPr/>
                </a:pPr>
                <a:r>
                  <a:rPr kumimoji="1" lang="en-US" sz="2000" kern="0" dirty="0">
                    <a:latin typeface="+mn-lt"/>
                    <a:cs typeface="+mn-cs"/>
                  </a:rPr>
                  <a:t>This is the same as</a:t>
                </a:r>
              </a:p>
              <a:p>
                <a:pPr marL="342900" indent="-342900" algn="ctr" eaLnBrk="0" hangingPunct="0">
                  <a:spcBef>
                    <a:spcPct val="20000"/>
                  </a:spcBef>
                  <a:buClr>
                    <a:schemeClr val="accent1"/>
                  </a:buClr>
                  <a:buSzPct val="70000"/>
                  <a:buFont typeface="Monotype Sorts" pitchFamily="2" charset="2"/>
                  <a:buNone/>
                  <a:defRPr/>
                </a:pPr>
                <a14:m>
                  <m:oMathPara xmlns:m="http://schemas.openxmlformats.org/officeDocument/2006/math">
                    <m:oMathParaPr>
                      <m:jc m:val="centerGroup"/>
                    </m:oMathParaPr>
                    <m:oMath xmlns:m="http://schemas.openxmlformats.org/officeDocument/2006/math">
                      <m:r>
                        <a:rPr kumimoji="1" lang="en-US" sz="2000" b="1" i="1" kern="0" smtClean="0">
                          <a:solidFill>
                            <a:srgbClr val="7030A0"/>
                          </a:solidFill>
                          <a:latin typeface="Cambria Math"/>
                          <a:cs typeface="+mn-cs"/>
                        </a:rPr>
                        <m:t>𝜹</m:t>
                      </m:r>
                      <m:r>
                        <a:rPr kumimoji="1" lang="en-US" sz="2000" b="0" i="1" kern="0" smtClean="0">
                          <a:latin typeface="Cambria Math"/>
                          <a:cs typeface="+mn-cs"/>
                        </a:rPr>
                        <m:t>=</m:t>
                      </m:r>
                      <m:f>
                        <m:fPr>
                          <m:ctrlPr>
                            <a:rPr kumimoji="1" lang="en-US" sz="2000" b="0" i="1" kern="0" smtClean="0">
                              <a:latin typeface="Cambria Math" panose="02040503050406030204" pitchFamily="18" charset="0"/>
                              <a:cs typeface="+mn-cs"/>
                            </a:rPr>
                          </m:ctrlPr>
                        </m:fPr>
                        <m:num>
                          <m:r>
                            <a:rPr kumimoji="1" lang="en-US" sz="2000" b="0" i="1" kern="0" smtClean="0">
                              <a:latin typeface="Cambria Math"/>
                              <a:cs typeface="+mn-cs"/>
                            </a:rPr>
                            <m:t>1</m:t>
                          </m:r>
                        </m:num>
                        <m:den>
                          <m:r>
                            <a:rPr kumimoji="1" lang="en-US" sz="2000" b="1" i="1" kern="0" smtClean="0">
                              <a:latin typeface="Cambria Math"/>
                              <a:cs typeface="+mn-cs"/>
                            </a:rPr>
                            <m:t>𝟏</m:t>
                          </m:r>
                          <m:r>
                            <a:rPr kumimoji="1" lang="en-US" sz="2000" b="1" i="1" kern="0" smtClean="0">
                              <a:latin typeface="Cambria Math"/>
                              <a:cs typeface="+mn-cs"/>
                            </a:rPr>
                            <m:t>+</m:t>
                          </m:r>
                          <m:r>
                            <a:rPr kumimoji="1" lang="en-US" sz="2000" b="1" i="1" kern="0" smtClean="0">
                              <a:latin typeface="Cambria Math"/>
                              <a:cs typeface="+mn-cs"/>
                            </a:rPr>
                            <m:t>𝒓</m:t>
                          </m:r>
                        </m:den>
                      </m:f>
                    </m:oMath>
                  </m:oMathPara>
                </a14:m>
                <a:endParaRPr kumimoji="1" lang="en-US" sz="2000" b="0" kern="0" dirty="0">
                  <a:latin typeface="+mn-lt"/>
                  <a:cs typeface="+mn-cs"/>
                </a:endParaRPr>
              </a:p>
              <a:p>
                <a:pPr marL="342900" indent="-342900" algn="ctr" eaLnBrk="0" hangingPunct="0">
                  <a:spcBef>
                    <a:spcPts val="1800"/>
                  </a:spcBef>
                  <a:buClr>
                    <a:schemeClr val="accent1"/>
                  </a:buClr>
                  <a:buSzPct val="70000"/>
                  <a:buFont typeface="Monotype Sorts" pitchFamily="2" charset="2"/>
                  <a:buNone/>
                  <a:defRPr/>
                </a:pPr>
                <a:r>
                  <a:rPr kumimoji="1" lang="en-US" b="0" kern="0" dirty="0">
                    <a:cs typeface="+mn-cs"/>
                  </a:rPr>
                  <a:t> </a:t>
                </a:r>
                <a14:m>
                  <m:oMath xmlns:m="http://schemas.openxmlformats.org/officeDocument/2006/math">
                    <m:r>
                      <a:rPr kumimoji="1" lang="en-US" b="1" i="1" kern="0" smtClean="0">
                        <a:latin typeface="Cambria Math"/>
                        <a:cs typeface="+mn-cs"/>
                      </a:rPr>
                      <m:t>𝑵𝑷𝑽</m:t>
                    </m:r>
                    <m:r>
                      <a:rPr kumimoji="1" lang="en-US" b="0" i="1" kern="0" smtClean="0">
                        <a:latin typeface="Cambria Math"/>
                        <a:cs typeface="+mn-cs"/>
                      </a:rPr>
                      <m:t>=$</m:t>
                    </m:r>
                    <m:r>
                      <a:rPr kumimoji="1" lang="en-US" b="1" i="1" kern="0" smtClean="0">
                        <a:latin typeface="Cambria Math"/>
                        <a:cs typeface="+mn-cs"/>
                      </a:rPr>
                      <m:t>𝟏𝟎</m:t>
                    </m:r>
                    <m:r>
                      <a:rPr kumimoji="1" lang="en-US" b="0" i="1" kern="0" smtClean="0">
                        <a:latin typeface="Cambria Math"/>
                        <a:cs typeface="+mn-cs"/>
                      </a:rPr>
                      <m:t>+</m:t>
                    </m:r>
                    <m:r>
                      <a:rPr kumimoji="1" lang="en-US" b="1" i="1" kern="0" smtClean="0">
                        <a:solidFill>
                          <a:srgbClr val="7030A0"/>
                        </a:solidFill>
                        <a:latin typeface="Cambria Math"/>
                        <a:cs typeface="+mn-cs"/>
                      </a:rPr>
                      <m:t>𝜹</m:t>
                    </m:r>
                    <m:r>
                      <a:rPr kumimoji="1" lang="en-US" b="0" i="1" kern="0" smtClean="0">
                        <a:latin typeface="Cambria Math"/>
                        <a:cs typeface="+mn-cs"/>
                      </a:rPr>
                      <m:t>$</m:t>
                    </m:r>
                    <m:r>
                      <a:rPr kumimoji="1" lang="en-US" b="1" i="1" kern="0" smtClean="0">
                        <a:latin typeface="Cambria Math"/>
                        <a:cs typeface="+mn-cs"/>
                      </a:rPr>
                      <m:t>𝟏𝟎</m:t>
                    </m:r>
                    <m:r>
                      <a:rPr kumimoji="1" lang="en-US" b="0" i="1" kern="0" smtClean="0">
                        <a:latin typeface="Cambria Math"/>
                        <a:cs typeface="+mn-cs"/>
                      </a:rPr>
                      <m:t>+</m:t>
                    </m:r>
                    <m:sSup>
                      <m:sSupPr>
                        <m:ctrlPr>
                          <a:rPr kumimoji="1" lang="en-US" b="0" i="1" kern="0" smtClean="0">
                            <a:latin typeface="Cambria Math" panose="02040503050406030204" pitchFamily="18" charset="0"/>
                            <a:cs typeface="+mn-cs"/>
                          </a:rPr>
                        </m:ctrlPr>
                      </m:sSupPr>
                      <m:e>
                        <m:r>
                          <a:rPr kumimoji="1" lang="en-US" b="1" i="1" kern="0" smtClean="0">
                            <a:solidFill>
                              <a:srgbClr val="7030A0"/>
                            </a:solidFill>
                            <a:latin typeface="Cambria Math"/>
                            <a:cs typeface="+mn-cs"/>
                          </a:rPr>
                          <m:t>𝜹</m:t>
                        </m:r>
                      </m:e>
                      <m:sup>
                        <m:r>
                          <a:rPr kumimoji="1" lang="en-US" b="0" i="1" kern="0" smtClean="0">
                            <a:latin typeface="Cambria Math"/>
                            <a:cs typeface="+mn-cs"/>
                          </a:rPr>
                          <m:t>2</m:t>
                        </m:r>
                      </m:sup>
                    </m:sSup>
                    <m:r>
                      <a:rPr kumimoji="1" lang="en-US" b="0" i="1" kern="0" smtClean="0">
                        <a:latin typeface="Cambria Math"/>
                        <a:cs typeface="+mn-cs"/>
                      </a:rPr>
                      <m:t>$</m:t>
                    </m:r>
                    <m:r>
                      <a:rPr kumimoji="1" lang="en-US" b="1" i="1" kern="0" smtClean="0">
                        <a:latin typeface="Cambria Math"/>
                        <a:cs typeface="+mn-cs"/>
                      </a:rPr>
                      <m:t>𝟏𝟎</m:t>
                    </m:r>
                    <m:r>
                      <a:rPr kumimoji="1" lang="en-US" b="0" i="1" kern="0" smtClean="0">
                        <a:latin typeface="Cambria Math"/>
                        <a:cs typeface="+mn-cs"/>
                      </a:rPr>
                      <m:t>+…</m:t>
                    </m:r>
                  </m:oMath>
                </a14:m>
                <a:endParaRPr kumimoji="1" lang="en-US" b="0" kern="0" dirty="0">
                  <a:latin typeface="+mn-lt"/>
                  <a:cs typeface="+mn-cs"/>
                </a:endParaRPr>
              </a:p>
              <a:p>
                <a:pPr marL="342900" indent="-342900" algn="ctr" eaLnBrk="0" hangingPunct="0">
                  <a:spcBef>
                    <a:spcPct val="20000"/>
                  </a:spcBef>
                  <a:buClr>
                    <a:schemeClr val="accent1"/>
                  </a:buClr>
                  <a:buSzPct val="70000"/>
                  <a:buFont typeface="Monotype Sorts" pitchFamily="2" charset="2"/>
                  <a:buNone/>
                  <a:defRPr/>
                </a:pPr>
                <a:r>
                  <a:rPr kumimoji="1" lang="en-US" b="0" kern="0" dirty="0">
                    <a:cs typeface="+mn-cs"/>
                  </a:rPr>
                  <a:t> </a:t>
                </a:r>
                <a14:m>
                  <m:oMath xmlns:m="http://schemas.openxmlformats.org/officeDocument/2006/math">
                    <m:r>
                      <a:rPr kumimoji="1" lang="en-US" b="0" i="1" kern="0" smtClean="0">
                        <a:latin typeface="Cambria Math"/>
                        <a:cs typeface="+mn-cs"/>
                      </a:rPr>
                      <m:t>=</m:t>
                    </m:r>
                    <m:f>
                      <m:fPr>
                        <m:ctrlPr>
                          <a:rPr kumimoji="1" lang="en-US" b="0" i="1" kern="0" smtClean="0">
                            <a:latin typeface="Cambria Math" panose="02040503050406030204" pitchFamily="18" charset="0"/>
                            <a:cs typeface="+mn-cs"/>
                          </a:rPr>
                        </m:ctrlPr>
                      </m:fPr>
                      <m:num>
                        <m:r>
                          <a:rPr kumimoji="1" lang="en-US" b="0" i="1" kern="0" smtClean="0">
                            <a:latin typeface="Cambria Math"/>
                            <a:cs typeface="+mn-cs"/>
                          </a:rPr>
                          <m:t>$</m:t>
                        </m:r>
                        <m:r>
                          <a:rPr kumimoji="1" lang="en-US" b="1" i="1" kern="0" smtClean="0">
                            <a:latin typeface="Cambria Math"/>
                            <a:cs typeface="+mn-cs"/>
                          </a:rPr>
                          <m:t>𝟏𝟎</m:t>
                        </m:r>
                      </m:num>
                      <m:den>
                        <m:r>
                          <a:rPr kumimoji="1" lang="en-US" b="0" i="1" kern="0" smtClean="0">
                            <a:latin typeface="Cambria Math"/>
                            <a:cs typeface="+mn-cs"/>
                          </a:rPr>
                          <m:t>1−</m:t>
                        </m:r>
                        <m:r>
                          <a:rPr kumimoji="1" lang="en-US" b="1" i="1" kern="0" smtClean="0">
                            <a:solidFill>
                              <a:srgbClr val="7030A0"/>
                            </a:solidFill>
                            <a:latin typeface="Cambria Math"/>
                            <a:cs typeface="+mn-cs"/>
                          </a:rPr>
                          <m:t>𝜹</m:t>
                        </m:r>
                      </m:den>
                    </m:f>
                    <m:r>
                      <a:rPr kumimoji="1" lang="en-US" b="0" i="1" kern="0" smtClean="0">
                        <a:latin typeface="Cambria Math"/>
                        <a:cs typeface="+mn-cs"/>
                      </a:rPr>
                      <m:t>                                </m:t>
                    </m:r>
                  </m:oMath>
                </a14:m>
                <a:endParaRPr kumimoji="1" lang="en-US" b="0" kern="0" dirty="0">
                  <a:latin typeface="+mn-lt"/>
                  <a:cs typeface="+mn-cs"/>
                </a:endParaRPr>
              </a:p>
              <a:p>
                <a:pPr marL="342900" indent="-342900" algn="ctr" eaLnBrk="0" hangingPunct="0">
                  <a:spcBef>
                    <a:spcPct val="20000"/>
                  </a:spcBef>
                  <a:buClr>
                    <a:schemeClr val="accent1"/>
                  </a:buClr>
                  <a:buSzPct val="70000"/>
                  <a:buFont typeface="Monotype Sorts" pitchFamily="2" charset="2"/>
                  <a:buNone/>
                  <a:defRPr/>
                </a:pPr>
                <a:r>
                  <a:rPr kumimoji="1" lang="en-US" b="0" kern="0" dirty="0">
                    <a:cs typeface="+mn-cs"/>
                  </a:rPr>
                  <a:t>⇒ </a:t>
                </a:r>
                <a14:m>
                  <m:oMath xmlns:m="http://schemas.openxmlformats.org/officeDocument/2006/math">
                    <m:r>
                      <a:rPr kumimoji="1" lang="en-US" b="1" i="1" kern="0" smtClean="0">
                        <a:latin typeface="Cambria Math"/>
                        <a:cs typeface="+mn-cs"/>
                      </a:rPr>
                      <m:t>𝑵𝑷𝑽</m:t>
                    </m:r>
                    <m:r>
                      <a:rPr kumimoji="1" lang="en-US" b="0" i="1" kern="0" smtClean="0">
                        <a:latin typeface="Cambria Math"/>
                        <a:cs typeface="+mn-cs"/>
                      </a:rPr>
                      <m:t>=$</m:t>
                    </m:r>
                    <m:r>
                      <a:rPr kumimoji="1" lang="en-US" b="1" i="1" kern="0" smtClean="0">
                        <a:latin typeface="Cambria Math"/>
                        <a:cs typeface="+mn-cs"/>
                      </a:rPr>
                      <m:t>𝟏𝟎</m:t>
                    </m:r>
                    <m:r>
                      <a:rPr kumimoji="1" lang="en-US" b="0" i="1" kern="0" smtClean="0">
                        <a:latin typeface="Cambria Math"/>
                        <a:cs typeface="+mn-cs"/>
                      </a:rPr>
                      <m:t>+</m:t>
                    </m:r>
                    <m:r>
                      <a:rPr kumimoji="1" lang="en-US" b="1" i="1" kern="0" smtClean="0">
                        <a:solidFill>
                          <a:srgbClr val="7030A0"/>
                        </a:solidFill>
                        <a:latin typeface="Cambria Math"/>
                        <a:cs typeface="+mn-cs"/>
                      </a:rPr>
                      <m:t>𝜹</m:t>
                    </m:r>
                    <m:r>
                      <a:rPr kumimoji="1" lang="en-US" b="1" i="1" kern="0" smtClean="0">
                        <a:latin typeface="Cambria Math"/>
                        <a:cs typeface="+mn-cs"/>
                      </a:rPr>
                      <m:t>𝑵𝑷𝑽</m:t>
                    </m:r>
                    <m:r>
                      <a:rPr kumimoji="1" lang="en-US" b="0" i="1" kern="0" smtClean="0">
                        <a:latin typeface="Cambria Math"/>
                        <a:cs typeface="+mn-cs"/>
                      </a:rPr>
                      <m:t>                             </m:t>
                    </m:r>
                  </m:oMath>
                </a14:m>
                <a:endParaRPr kumimoji="1" lang="en-US" b="0" kern="0" dirty="0">
                  <a:latin typeface="+mn-lt"/>
                  <a:cs typeface="+mn-cs"/>
                </a:endParaRPr>
              </a:p>
              <a:p>
                <a:pPr marL="342900" indent="-342900" algn="ctr" eaLnBrk="0" hangingPunct="0">
                  <a:spcBef>
                    <a:spcPct val="20000"/>
                  </a:spcBef>
                  <a:buClr>
                    <a:schemeClr val="accent1"/>
                  </a:buClr>
                  <a:buSzPct val="70000"/>
                  <a:buFont typeface="Monotype Sorts" pitchFamily="2" charset="2"/>
                  <a:buNone/>
                  <a:defRPr/>
                </a:pPr>
                <a:endParaRPr kumimoji="1" lang="en-US" kern="0" dirty="0">
                  <a:latin typeface="+mn-lt"/>
                  <a:cs typeface="+mn-cs"/>
                </a:endParaRPr>
              </a:p>
            </p:txBody>
          </p:sp>
        </mc:Choice>
        <mc:Fallback xmlns="">
          <p:sp>
            <p:nvSpPr>
              <p:cNvPr id="15" name="Rectangle 8"/>
              <p:cNvSpPr txBox="1">
                <a:spLocks noRot="1" noChangeAspect="1" noMove="1" noResize="1" noEditPoints="1" noAdjustHandles="1" noChangeArrowheads="1" noChangeShapeType="1" noTextEdit="1"/>
              </p:cNvSpPr>
              <p:nvPr/>
            </p:nvSpPr>
            <p:spPr bwMode="auto">
              <a:xfrm>
                <a:off x="612775" y="1676400"/>
                <a:ext cx="7772400" cy="4876800"/>
              </a:xfrm>
              <a:prstGeom prst="rect">
                <a:avLst/>
              </a:prstGeom>
              <a:blipFill>
                <a:blip r:embed="rId2"/>
                <a:stretch>
                  <a:fillRect l="-1255" t="-1000" r="-941" b="-3000"/>
                </a:stretch>
              </a:blipFill>
              <a:ln w="9525">
                <a:noFill/>
                <a:miter lim="800000"/>
                <a:headEnd/>
                <a:tailEnd/>
              </a:ln>
            </p:spPr>
            <p:txBody>
              <a:bodyPr/>
              <a:lstStyle/>
              <a:p>
                <a:r>
                  <a:rPr lang="en-US">
                    <a:noFill/>
                  </a:rPr>
                  <a:t> </a:t>
                </a:r>
              </a:p>
            </p:txBody>
          </p:sp>
        </mc:Fallback>
      </mc:AlternateContent>
      <p:sp>
        <p:nvSpPr>
          <p:cNvPr id="1027" name="Rectangle 7"/>
          <p:cNvSpPr>
            <a:spLocks noGrp="1" noChangeArrowheads="1"/>
          </p:cNvSpPr>
          <p:nvPr>
            <p:ph type="title"/>
          </p:nvPr>
        </p:nvSpPr>
        <p:spPr>
          <a:xfrm>
            <a:off x="612774" y="228600"/>
            <a:ext cx="8378826" cy="990600"/>
          </a:xfrm>
        </p:spPr>
        <p:txBody>
          <a:bodyPr>
            <a:normAutofit fontScale="90000"/>
          </a:bodyPr>
          <a:lstStyle/>
          <a:p>
            <a:pPr>
              <a:defRPr/>
            </a:pPr>
            <a:r>
              <a:rPr lang="en-US" sz="4400" dirty="0"/>
              <a:t>Customer Lifetime Value (CLV)</a:t>
            </a:r>
            <a:br>
              <a:rPr lang="en-US" sz="4400" dirty="0"/>
            </a:br>
            <a:r>
              <a:rPr lang="en-US" sz="3600" dirty="0"/>
              <a:t>Simple NPV Calculation for customer’s </a:t>
            </a:r>
            <a:r>
              <a:rPr lang="en-US" sz="3600" i="1" dirty="0"/>
              <a:t>cash-flow</a:t>
            </a:r>
            <a:endParaRPr lang="en-US" sz="3600" dirty="0"/>
          </a:p>
        </p:txBody>
      </p:sp>
      <p:sp>
        <p:nvSpPr>
          <p:cNvPr id="19461" name="Text Box 10"/>
          <p:cNvSpPr txBox="1">
            <a:spLocks noChangeArrowheads="1"/>
          </p:cNvSpPr>
          <p:nvPr/>
        </p:nvSpPr>
        <p:spPr bwMode="auto">
          <a:xfrm>
            <a:off x="6526118" y="4114800"/>
            <a:ext cx="2313082"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1600" b="1" dirty="0">
                <a:solidFill>
                  <a:srgbClr val="FF3300"/>
                </a:solidFill>
              </a:rPr>
              <a:t>r</a:t>
            </a:r>
            <a:r>
              <a:rPr lang="en-US" sz="1600" dirty="0">
                <a:solidFill>
                  <a:srgbClr val="FF3300"/>
                </a:solidFill>
              </a:rPr>
              <a:t> = interest rate</a:t>
            </a:r>
          </a:p>
          <a:p>
            <a:pPr algn="ctr"/>
            <a:r>
              <a:rPr lang="en-US" sz="1600" dirty="0">
                <a:solidFill>
                  <a:srgbClr val="FF3300"/>
                </a:solidFill>
              </a:rPr>
              <a:t>i.e., Firm’s cost of capital</a:t>
            </a:r>
          </a:p>
        </p:txBody>
      </p:sp>
      <p:sp>
        <p:nvSpPr>
          <p:cNvPr id="19462" name="Text Box 14"/>
          <p:cNvSpPr txBox="1">
            <a:spLocks noChangeArrowheads="1"/>
          </p:cNvSpPr>
          <p:nvPr/>
        </p:nvSpPr>
        <p:spPr bwMode="auto">
          <a:xfrm>
            <a:off x="7224713" y="5072063"/>
            <a:ext cx="18097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p>
        </p:txBody>
      </p:sp>
      <p:sp>
        <p:nvSpPr>
          <p:cNvPr id="1031" name="Text Box 15"/>
          <p:cNvSpPr txBox="1">
            <a:spLocks noChangeArrowheads="1"/>
          </p:cNvSpPr>
          <p:nvPr/>
        </p:nvSpPr>
        <p:spPr bwMode="auto">
          <a:xfrm>
            <a:off x="2057400" y="4432434"/>
            <a:ext cx="13985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dirty="0">
                <a:solidFill>
                  <a:srgbClr val="FF3300"/>
                </a:solidFill>
              </a:rPr>
              <a:t>discount factor</a:t>
            </a:r>
          </a:p>
        </p:txBody>
      </p:sp>
      <p:sp>
        <p:nvSpPr>
          <p:cNvPr id="1032" name="Line 19"/>
          <p:cNvSpPr>
            <a:spLocks noChangeShapeType="1"/>
          </p:cNvSpPr>
          <p:nvPr/>
        </p:nvSpPr>
        <p:spPr bwMode="auto">
          <a:xfrm flipV="1">
            <a:off x="3505200" y="4584834"/>
            <a:ext cx="381000" cy="0"/>
          </a:xfrm>
          <a:prstGeom prst="line">
            <a:avLst/>
          </a:prstGeom>
          <a:noFill/>
          <a:ln w="127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lIns="90488" tIns="44450" rIns="90488" bIns="44450"/>
          <a:lstStyle/>
          <a:p>
            <a:endParaRPr lang="en-US"/>
          </a:p>
        </p:txBody>
      </p:sp>
      <p:sp>
        <p:nvSpPr>
          <p:cNvPr id="19465" name="Line 20"/>
          <p:cNvSpPr>
            <a:spLocks noChangeShapeType="1"/>
          </p:cNvSpPr>
          <p:nvPr/>
        </p:nvSpPr>
        <p:spPr bwMode="auto">
          <a:xfrm flipH="1" flipV="1">
            <a:off x="5715000" y="3670434"/>
            <a:ext cx="838200" cy="762000"/>
          </a:xfrm>
          <a:prstGeom prst="line">
            <a:avLst/>
          </a:prstGeom>
          <a:noFill/>
          <a:ln w="127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lIns="90488" tIns="44450" rIns="90488" bIns="44450"/>
          <a:lstStyle/>
          <a:p>
            <a:endParaRPr lang="en-US"/>
          </a:p>
        </p:txBody>
      </p:sp>
      <p:sp>
        <p:nvSpPr>
          <p:cNvPr id="1034" name="Text Box 21"/>
          <p:cNvSpPr txBox="1">
            <a:spLocks noChangeArrowheads="1"/>
          </p:cNvSpPr>
          <p:nvPr/>
        </p:nvSpPr>
        <p:spPr bwMode="auto">
          <a:xfrm>
            <a:off x="6324600" y="5728493"/>
            <a:ext cx="2311400"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dirty="0">
                <a:solidFill>
                  <a:srgbClr val="FF3300"/>
                </a:solidFill>
              </a:rPr>
              <a:t>this recursive formulation</a:t>
            </a:r>
          </a:p>
          <a:p>
            <a:r>
              <a:rPr lang="en-US" sz="1600" dirty="0">
                <a:solidFill>
                  <a:srgbClr val="FF3300"/>
                </a:solidFill>
              </a:rPr>
              <a:t>will be useful shortly.</a:t>
            </a:r>
          </a:p>
        </p:txBody>
      </p:sp>
      <p:sp>
        <p:nvSpPr>
          <p:cNvPr id="1035" name="Line 22"/>
          <p:cNvSpPr>
            <a:spLocks noChangeShapeType="1"/>
          </p:cNvSpPr>
          <p:nvPr/>
        </p:nvSpPr>
        <p:spPr bwMode="auto">
          <a:xfrm flipH="1">
            <a:off x="5105400" y="6019800"/>
            <a:ext cx="1219200" cy="255587"/>
          </a:xfrm>
          <a:prstGeom prst="line">
            <a:avLst/>
          </a:prstGeom>
          <a:noFill/>
          <a:ln w="127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lIns="90488" tIns="44450" rIns="90488" bIns="44450"/>
          <a:lstStyle/>
          <a:p>
            <a:endParaRPr lang="en-US"/>
          </a:p>
        </p:txBody>
      </p:sp>
      <p:sp>
        <p:nvSpPr>
          <p:cNvPr id="4" name="Slide Number Placeholder 3"/>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9</a:t>
            </a:fld>
            <a:endParaRPr lang="en-US"/>
          </a:p>
        </p:txBody>
      </p:sp>
    </p:spTree>
    <p:extLst>
      <p:ext uri="{BB962C8B-B14F-4D97-AF65-F5344CB8AC3E}">
        <p14:creationId xmlns:p14="http://schemas.microsoft.com/office/powerpoint/2010/main" val="1719203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6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46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3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xEl>
                                              <p:pRg st="4" end="4"/>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
                                            <p:txEl>
                                              <p:pRg st="7" end="7"/>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03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0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1" grpId="0"/>
      <p:bldP spid="1031" grpId="0"/>
      <p:bldP spid="1032" grpId="0" animBg="1"/>
      <p:bldP spid="19465" grpId="0" animBg="1"/>
      <p:bldP spid="1034" grpId="0"/>
      <p:bldP spid="103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8534400" cy="990600"/>
          </a:xfrm>
        </p:spPr>
        <p:txBody>
          <a:bodyPr/>
          <a:lstStyle/>
          <a:p>
            <a:r>
              <a:rPr lang="en-US" sz="4000" dirty="0"/>
              <a:t>LR promotion benefit: </a:t>
            </a:r>
            <a:r>
              <a:rPr lang="en-US" sz="4000" b="1" dirty="0">
                <a:solidFill>
                  <a:srgbClr val="FF0000"/>
                </a:solidFill>
                <a:effectLst>
                  <a:outerShdw blurRad="38100" dist="38100" dir="2700000" algn="tl">
                    <a:srgbClr val="000000">
                      <a:alpha val="43137"/>
                    </a:srgbClr>
                  </a:outerShdw>
                </a:effectLst>
              </a:rPr>
              <a:t>Customer Journey</a:t>
            </a:r>
            <a:br>
              <a:rPr lang="en-US" sz="4000" dirty="0"/>
            </a:br>
            <a:r>
              <a:rPr lang="en-US" sz="3200" dirty="0"/>
              <a:t>example: Nashua Photo</a:t>
            </a:r>
            <a:endParaRPr lang="en-US" sz="4000" dirty="0"/>
          </a:p>
        </p:txBody>
      </p:sp>
      <p:sp>
        <p:nvSpPr>
          <p:cNvPr id="3" name="Slide Number Placeholder 2"/>
          <p:cNvSpPr>
            <a:spLocks noGrp="1"/>
          </p:cNvSpPr>
          <p:nvPr>
            <p:ph type="sldNum" sz="quarter" idx="12"/>
          </p:nvPr>
        </p:nvSpPr>
        <p:spPr/>
        <p:txBody>
          <a:bodyPr>
            <a:normAutofit fontScale="85000" lnSpcReduction="20000"/>
          </a:bodyPr>
          <a:lstStyle/>
          <a:p>
            <a:pPr>
              <a:defRPr/>
            </a:pPr>
            <a:fld id="{171C4267-8970-430F-B9B7-EA11299B2778}" type="slidenum">
              <a:rPr lang="en-US" smtClean="0"/>
              <a:pPr>
                <a:defRPr/>
              </a:pPr>
              <a:t>10</a:t>
            </a:fld>
            <a:endParaRPr lang="en-US"/>
          </a:p>
        </p:txBody>
      </p:sp>
      <p:sp>
        <p:nvSpPr>
          <p:cNvPr id="5" name="Rounded Rectangle 4"/>
          <p:cNvSpPr/>
          <p:nvPr/>
        </p:nvSpPr>
        <p:spPr>
          <a:xfrm>
            <a:off x="2818423" y="3367678"/>
            <a:ext cx="1752600" cy="838200"/>
          </a:xfrm>
          <a:prstGeom prst="round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First-time Buyer (B)</a:t>
            </a:r>
          </a:p>
        </p:txBody>
      </p:sp>
      <p:sp>
        <p:nvSpPr>
          <p:cNvPr id="6" name="Rounded Rectangle 5"/>
          <p:cNvSpPr/>
          <p:nvPr/>
        </p:nvSpPr>
        <p:spPr>
          <a:xfrm>
            <a:off x="4761523" y="4431275"/>
            <a:ext cx="1752600" cy="838200"/>
          </a:xfrm>
          <a:prstGeom prst="round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Return Buyer (R)</a:t>
            </a:r>
          </a:p>
        </p:txBody>
      </p:sp>
      <p:sp>
        <p:nvSpPr>
          <p:cNvPr id="12" name="Arc 11"/>
          <p:cNvSpPr/>
          <p:nvPr/>
        </p:nvSpPr>
        <p:spPr>
          <a:xfrm rot="788462">
            <a:off x="3733642" y="2267470"/>
            <a:ext cx="3903013" cy="7338165"/>
          </a:xfrm>
          <a:prstGeom prst="arc">
            <a:avLst>
              <a:gd name="adj1" fmla="val 16014398"/>
              <a:gd name="adj2" fmla="val 19956514"/>
            </a:avLst>
          </a:prstGeom>
          <a:ln>
            <a:solidFill>
              <a:schemeClr val="bg1">
                <a:lumMod val="50000"/>
              </a:schemeClr>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Arc 13"/>
          <p:cNvSpPr/>
          <p:nvPr/>
        </p:nvSpPr>
        <p:spPr>
          <a:xfrm rot="16918148">
            <a:off x="8178972" y="4970533"/>
            <a:ext cx="1075639" cy="692112"/>
          </a:xfrm>
          <a:prstGeom prst="arc">
            <a:avLst>
              <a:gd name="adj1" fmla="val 14820981"/>
              <a:gd name="adj2" fmla="val 10022237"/>
            </a:avLst>
          </a:prstGeom>
          <a:ln>
            <a:solidFill>
              <a:schemeClr val="bg1">
                <a:lumMod val="50000"/>
              </a:schemeClr>
            </a:solidFill>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Rounded Rectangle 15"/>
          <p:cNvSpPr/>
          <p:nvPr/>
        </p:nvSpPr>
        <p:spPr>
          <a:xfrm>
            <a:off x="6825437" y="5461095"/>
            <a:ext cx="1752600" cy="838200"/>
          </a:xfrm>
          <a:prstGeom prst="round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Loyal Buyer </a:t>
            </a:r>
          </a:p>
          <a:p>
            <a:pPr algn="ctr"/>
            <a:r>
              <a:rPr lang="en-US" sz="2000" dirty="0"/>
              <a:t>(L)</a:t>
            </a:r>
          </a:p>
        </p:txBody>
      </p:sp>
      <p:sp>
        <p:nvSpPr>
          <p:cNvPr id="17" name="Arc 16"/>
          <p:cNvSpPr/>
          <p:nvPr/>
        </p:nvSpPr>
        <p:spPr>
          <a:xfrm rot="10509100">
            <a:off x="3563541" y="3113473"/>
            <a:ext cx="2395965" cy="1849528"/>
          </a:xfrm>
          <a:prstGeom prst="arc">
            <a:avLst>
              <a:gd name="adj1" fmla="val 16497889"/>
              <a:gd name="adj2" fmla="val 21312755"/>
            </a:avLst>
          </a:prstGeom>
          <a:ln>
            <a:solidFill>
              <a:schemeClr val="bg1">
                <a:lumMod val="50000"/>
              </a:schemeClr>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Arc 17"/>
          <p:cNvSpPr/>
          <p:nvPr/>
        </p:nvSpPr>
        <p:spPr>
          <a:xfrm rot="10509100">
            <a:off x="5521196" y="4197139"/>
            <a:ext cx="2395965" cy="1849528"/>
          </a:xfrm>
          <a:prstGeom prst="arc">
            <a:avLst>
              <a:gd name="adj1" fmla="val 16200000"/>
              <a:gd name="adj2" fmla="val 21312755"/>
            </a:avLst>
          </a:prstGeom>
          <a:ln>
            <a:solidFill>
              <a:schemeClr val="bg1">
                <a:lumMod val="50000"/>
              </a:schemeClr>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Oval 19"/>
          <p:cNvSpPr/>
          <p:nvPr/>
        </p:nvSpPr>
        <p:spPr>
          <a:xfrm>
            <a:off x="152400" y="1676400"/>
            <a:ext cx="2705100" cy="137025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t>Promo sent to prospective customer</a:t>
            </a:r>
            <a:endParaRPr lang="en-US" dirty="0"/>
          </a:p>
        </p:txBody>
      </p:sp>
      <p:sp>
        <p:nvSpPr>
          <p:cNvPr id="24" name="Rounded Rectangle 23"/>
          <p:cNvSpPr/>
          <p:nvPr/>
        </p:nvSpPr>
        <p:spPr>
          <a:xfrm>
            <a:off x="4571023" y="1919879"/>
            <a:ext cx="1752600" cy="838200"/>
          </a:xfrm>
          <a:prstGeom prst="round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Terminate</a:t>
            </a:r>
          </a:p>
        </p:txBody>
      </p:sp>
      <p:cxnSp>
        <p:nvCxnSpPr>
          <p:cNvPr id="26" name="Straight Arrow Connector 25"/>
          <p:cNvCxnSpPr/>
          <p:nvPr/>
        </p:nvCxnSpPr>
        <p:spPr>
          <a:xfrm>
            <a:off x="2743200" y="2758079"/>
            <a:ext cx="951523" cy="5334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V="1">
            <a:off x="2951773" y="2224680"/>
            <a:ext cx="1504950" cy="13684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2425667" y="2950935"/>
            <a:ext cx="526106" cy="338554"/>
          </a:xfrm>
          <a:prstGeom prst="rect">
            <a:avLst/>
          </a:prstGeom>
          <a:noFill/>
        </p:spPr>
        <p:txBody>
          <a:bodyPr wrap="none" rtlCol="0">
            <a:spAutoFit/>
          </a:bodyPr>
          <a:lstStyle/>
          <a:p>
            <a:r>
              <a:rPr lang="en-US" sz="1600" dirty="0">
                <a:solidFill>
                  <a:srgbClr val="0070C0"/>
                </a:solidFill>
              </a:rPr>
              <a:t>Buy</a:t>
            </a:r>
          </a:p>
        </p:txBody>
      </p:sp>
      <p:sp>
        <p:nvSpPr>
          <p:cNvPr id="35" name="TextBox 34"/>
          <p:cNvSpPr txBox="1"/>
          <p:nvPr/>
        </p:nvSpPr>
        <p:spPr>
          <a:xfrm>
            <a:off x="3047077" y="1886126"/>
            <a:ext cx="885179" cy="338554"/>
          </a:xfrm>
          <a:prstGeom prst="rect">
            <a:avLst/>
          </a:prstGeom>
          <a:noFill/>
        </p:spPr>
        <p:txBody>
          <a:bodyPr wrap="none" rtlCol="0">
            <a:spAutoFit/>
          </a:bodyPr>
          <a:lstStyle/>
          <a:p>
            <a:r>
              <a:rPr lang="en-US" sz="1600" dirty="0">
                <a:solidFill>
                  <a:srgbClr val="0070C0"/>
                </a:solidFill>
              </a:rPr>
              <a:t>Not Buy</a:t>
            </a:r>
          </a:p>
        </p:txBody>
      </p:sp>
      <p:sp>
        <p:nvSpPr>
          <p:cNvPr id="38" name="Arc 37"/>
          <p:cNvSpPr/>
          <p:nvPr/>
        </p:nvSpPr>
        <p:spPr>
          <a:xfrm rot="7329316">
            <a:off x="3661416" y="1969524"/>
            <a:ext cx="2193174" cy="1634182"/>
          </a:xfrm>
          <a:prstGeom prst="arc">
            <a:avLst>
              <a:gd name="adj1" fmla="val 14274976"/>
              <a:gd name="adj2" fmla="val 20310156"/>
            </a:avLst>
          </a:prstGeom>
          <a:ln>
            <a:solidFill>
              <a:schemeClr val="bg1">
                <a:lumMod val="50000"/>
              </a:schemeClr>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9" name="Arc 38"/>
          <p:cNvSpPr/>
          <p:nvPr/>
        </p:nvSpPr>
        <p:spPr>
          <a:xfrm rot="7329316">
            <a:off x="3266506" y="2453144"/>
            <a:ext cx="3179657" cy="2192163"/>
          </a:xfrm>
          <a:prstGeom prst="arc">
            <a:avLst>
              <a:gd name="adj1" fmla="val 12308148"/>
              <a:gd name="adj2" fmla="val 17410193"/>
            </a:avLst>
          </a:prstGeom>
          <a:ln>
            <a:solidFill>
              <a:schemeClr val="bg1">
                <a:lumMod val="50000"/>
              </a:schemeClr>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0" name="TextBox 39"/>
          <p:cNvSpPr txBox="1"/>
          <p:nvPr/>
        </p:nvSpPr>
        <p:spPr>
          <a:xfrm>
            <a:off x="3526789" y="4777177"/>
            <a:ext cx="607859" cy="369332"/>
          </a:xfrm>
          <a:prstGeom prst="rect">
            <a:avLst/>
          </a:prstGeom>
          <a:noFill/>
        </p:spPr>
        <p:txBody>
          <a:bodyPr wrap="none" rtlCol="0">
            <a:spAutoFit/>
          </a:bodyPr>
          <a:lstStyle/>
          <a:p>
            <a:r>
              <a:rPr lang="en-US" sz="1800" dirty="0">
                <a:solidFill>
                  <a:schemeClr val="bg1">
                    <a:lumMod val="50000"/>
                  </a:schemeClr>
                </a:solidFill>
              </a:rPr>
              <a:t>40%</a:t>
            </a:r>
          </a:p>
        </p:txBody>
      </p:sp>
      <p:sp>
        <p:nvSpPr>
          <p:cNvPr id="41" name="TextBox 40"/>
          <p:cNvSpPr txBox="1"/>
          <p:nvPr/>
        </p:nvSpPr>
        <p:spPr>
          <a:xfrm>
            <a:off x="4748241" y="3179893"/>
            <a:ext cx="607859" cy="369332"/>
          </a:xfrm>
          <a:prstGeom prst="rect">
            <a:avLst/>
          </a:prstGeom>
          <a:noFill/>
        </p:spPr>
        <p:txBody>
          <a:bodyPr wrap="none" rtlCol="0">
            <a:spAutoFit/>
          </a:bodyPr>
          <a:lstStyle/>
          <a:p>
            <a:r>
              <a:rPr lang="en-US" sz="1800" dirty="0">
                <a:solidFill>
                  <a:schemeClr val="bg1">
                    <a:lumMod val="50000"/>
                  </a:schemeClr>
                </a:solidFill>
              </a:rPr>
              <a:t>60%</a:t>
            </a:r>
          </a:p>
        </p:txBody>
      </p:sp>
      <p:sp>
        <p:nvSpPr>
          <p:cNvPr id="42" name="TextBox 41"/>
          <p:cNvSpPr txBox="1"/>
          <p:nvPr/>
        </p:nvSpPr>
        <p:spPr>
          <a:xfrm>
            <a:off x="5333893" y="5782097"/>
            <a:ext cx="607859" cy="369332"/>
          </a:xfrm>
          <a:prstGeom prst="rect">
            <a:avLst/>
          </a:prstGeom>
          <a:noFill/>
        </p:spPr>
        <p:txBody>
          <a:bodyPr wrap="none" rtlCol="0">
            <a:spAutoFit/>
          </a:bodyPr>
          <a:lstStyle/>
          <a:p>
            <a:r>
              <a:rPr lang="en-US" sz="1800" dirty="0">
                <a:solidFill>
                  <a:schemeClr val="bg1">
                    <a:lumMod val="50000"/>
                  </a:schemeClr>
                </a:solidFill>
              </a:rPr>
              <a:t>80%</a:t>
            </a:r>
          </a:p>
        </p:txBody>
      </p:sp>
      <p:sp>
        <p:nvSpPr>
          <p:cNvPr id="43" name="TextBox 42"/>
          <p:cNvSpPr txBox="1"/>
          <p:nvPr/>
        </p:nvSpPr>
        <p:spPr>
          <a:xfrm>
            <a:off x="5960802" y="3668905"/>
            <a:ext cx="607859" cy="369332"/>
          </a:xfrm>
          <a:prstGeom prst="rect">
            <a:avLst/>
          </a:prstGeom>
          <a:noFill/>
        </p:spPr>
        <p:txBody>
          <a:bodyPr wrap="none" rtlCol="0">
            <a:spAutoFit/>
          </a:bodyPr>
          <a:lstStyle/>
          <a:p>
            <a:r>
              <a:rPr lang="en-US" sz="1800" dirty="0">
                <a:solidFill>
                  <a:schemeClr val="bg1">
                    <a:lumMod val="50000"/>
                  </a:schemeClr>
                </a:solidFill>
              </a:rPr>
              <a:t>20%</a:t>
            </a:r>
          </a:p>
        </p:txBody>
      </p:sp>
      <p:sp>
        <p:nvSpPr>
          <p:cNvPr id="44" name="TextBox 43"/>
          <p:cNvSpPr txBox="1"/>
          <p:nvPr/>
        </p:nvSpPr>
        <p:spPr>
          <a:xfrm>
            <a:off x="8473098" y="4430712"/>
            <a:ext cx="607859" cy="369332"/>
          </a:xfrm>
          <a:prstGeom prst="rect">
            <a:avLst/>
          </a:prstGeom>
          <a:noFill/>
        </p:spPr>
        <p:txBody>
          <a:bodyPr wrap="none" rtlCol="0">
            <a:spAutoFit/>
          </a:bodyPr>
          <a:lstStyle/>
          <a:p>
            <a:r>
              <a:rPr lang="en-US" sz="1800" dirty="0">
                <a:solidFill>
                  <a:schemeClr val="bg1">
                    <a:lumMod val="50000"/>
                  </a:schemeClr>
                </a:solidFill>
              </a:rPr>
              <a:t>90%</a:t>
            </a:r>
          </a:p>
        </p:txBody>
      </p:sp>
      <p:sp>
        <p:nvSpPr>
          <p:cNvPr id="45" name="TextBox 44"/>
          <p:cNvSpPr txBox="1"/>
          <p:nvPr/>
        </p:nvSpPr>
        <p:spPr>
          <a:xfrm>
            <a:off x="7658864" y="3965198"/>
            <a:ext cx="607859" cy="369332"/>
          </a:xfrm>
          <a:prstGeom prst="rect">
            <a:avLst/>
          </a:prstGeom>
          <a:noFill/>
        </p:spPr>
        <p:txBody>
          <a:bodyPr wrap="none" rtlCol="0">
            <a:spAutoFit/>
          </a:bodyPr>
          <a:lstStyle/>
          <a:p>
            <a:r>
              <a:rPr lang="en-US" sz="1800" dirty="0">
                <a:solidFill>
                  <a:schemeClr val="bg1">
                    <a:lumMod val="50000"/>
                  </a:schemeClr>
                </a:solidFill>
              </a:rPr>
              <a:t>10%</a:t>
            </a:r>
          </a:p>
        </p:txBody>
      </p:sp>
      <p:sp>
        <p:nvSpPr>
          <p:cNvPr id="46" name="TextBox 45"/>
          <p:cNvSpPr txBox="1"/>
          <p:nvPr/>
        </p:nvSpPr>
        <p:spPr>
          <a:xfrm>
            <a:off x="7315200" y="1676400"/>
            <a:ext cx="1765757" cy="1077218"/>
          </a:xfrm>
          <a:prstGeom prst="rect">
            <a:avLst/>
          </a:prstGeom>
          <a:noFill/>
        </p:spPr>
        <p:txBody>
          <a:bodyPr wrap="square" rtlCol="0">
            <a:spAutoFit/>
          </a:bodyPr>
          <a:lstStyle/>
          <a:p>
            <a:pPr algn="ctr"/>
            <a:r>
              <a:rPr lang="en-US" sz="1600" dirty="0">
                <a:solidFill>
                  <a:srgbClr val="FF0000"/>
                </a:solidFill>
              </a:rPr>
              <a:t>Start 4 semi-annual bounce-back mailers for first-timers</a:t>
            </a:r>
          </a:p>
        </p:txBody>
      </p:sp>
      <p:cxnSp>
        <p:nvCxnSpPr>
          <p:cNvPr id="50" name="Straight Arrow Connector 49"/>
          <p:cNvCxnSpPr/>
          <p:nvPr/>
        </p:nvCxnSpPr>
        <p:spPr>
          <a:xfrm>
            <a:off x="6323623" y="2234973"/>
            <a:ext cx="1143977"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152400" y="5625131"/>
            <a:ext cx="4899770" cy="584775"/>
          </a:xfrm>
          <a:prstGeom prst="rect">
            <a:avLst/>
          </a:prstGeom>
        </p:spPr>
        <p:txBody>
          <a:bodyPr wrap="square">
            <a:spAutoFit/>
          </a:bodyPr>
          <a:lstStyle/>
          <a:p>
            <a:pPr marL="115888" indent="-115888">
              <a:lnSpc>
                <a:spcPct val="80000"/>
              </a:lnSpc>
              <a:spcBef>
                <a:spcPts val="600"/>
              </a:spcBef>
              <a:spcAft>
                <a:spcPts val="600"/>
              </a:spcAft>
              <a:buFont typeface="Wingdings" panose="05000000000000000000" pitchFamily="2" charset="2"/>
              <a:buChar char="§"/>
              <a:defRPr/>
            </a:pPr>
            <a:r>
              <a:rPr lang="en-US" sz="2000" dirty="0">
                <a:solidFill>
                  <a:schemeClr val="bg1">
                    <a:lumMod val="50000"/>
                  </a:schemeClr>
                </a:solidFill>
                <a:effectLst>
                  <a:outerShdw blurRad="38100" dist="38100" dir="2700000" algn="tl">
                    <a:srgbClr val="000000">
                      <a:alpha val="43137"/>
                    </a:srgbClr>
                  </a:outerShdw>
                </a:effectLst>
              </a:rPr>
              <a:t>transition probabilities</a:t>
            </a:r>
            <a:r>
              <a:rPr lang="en-US" sz="2000" dirty="0"/>
              <a:t>: use existing field data or run field experiment to obtain these</a:t>
            </a:r>
          </a:p>
        </p:txBody>
      </p:sp>
      <p:sp>
        <p:nvSpPr>
          <p:cNvPr id="7" name="TextBox 6"/>
          <p:cNvSpPr txBox="1"/>
          <p:nvPr/>
        </p:nvSpPr>
        <p:spPr>
          <a:xfrm>
            <a:off x="2950583" y="4419600"/>
            <a:ext cx="615874" cy="253916"/>
          </a:xfrm>
          <a:prstGeom prst="rect">
            <a:avLst/>
          </a:prstGeom>
          <a:noFill/>
        </p:spPr>
        <p:txBody>
          <a:bodyPr wrap="none" rtlCol="0">
            <a:spAutoFit/>
          </a:bodyPr>
          <a:lstStyle/>
          <a:p>
            <a:r>
              <a:rPr lang="en-US" sz="1050" b="1" dirty="0">
                <a:solidFill>
                  <a:srgbClr val="FF0000"/>
                </a:solidFill>
                <a:latin typeface="Rockwell Condensed" panose="02060603050405020104" pitchFamily="18" charset="0"/>
              </a:rPr>
              <a:t>Get ‘</a:t>
            </a:r>
            <a:r>
              <a:rPr lang="en-US" sz="1050" b="1" dirty="0" err="1">
                <a:solidFill>
                  <a:srgbClr val="FF0000"/>
                </a:solidFill>
                <a:latin typeface="Rockwell Condensed" panose="02060603050405020104" pitchFamily="18" charset="0"/>
              </a:rPr>
              <a:t>Em</a:t>
            </a:r>
            <a:endParaRPr lang="en-US" sz="1050" b="1" dirty="0">
              <a:solidFill>
                <a:srgbClr val="FF0000"/>
              </a:solidFill>
              <a:latin typeface="Rockwell Condensed" panose="02060603050405020104" pitchFamily="18" charset="0"/>
            </a:endParaRPr>
          </a:p>
        </p:txBody>
      </p:sp>
      <p:sp>
        <p:nvSpPr>
          <p:cNvPr id="30" name="TextBox 29"/>
          <p:cNvSpPr txBox="1"/>
          <p:nvPr/>
        </p:nvSpPr>
        <p:spPr>
          <a:xfrm>
            <a:off x="4857361" y="5392841"/>
            <a:ext cx="700833" cy="253916"/>
          </a:xfrm>
          <a:prstGeom prst="rect">
            <a:avLst/>
          </a:prstGeom>
          <a:noFill/>
        </p:spPr>
        <p:txBody>
          <a:bodyPr wrap="none" rtlCol="0">
            <a:spAutoFit/>
          </a:bodyPr>
          <a:lstStyle/>
          <a:p>
            <a:r>
              <a:rPr lang="en-US" sz="1050" b="1" dirty="0">
                <a:solidFill>
                  <a:srgbClr val="FF0000"/>
                </a:solidFill>
                <a:latin typeface="Rockwell Condensed" panose="02060603050405020104" pitchFamily="18" charset="0"/>
              </a:rPr>
              <a:t>Keep ‘</a:t>
            </a:r>
            <a:r>
              <a:rPr lang="en-US" sz="1050" b="1" dirty="0" err="1">
                <a:solidFill>
                  <a:srgbClr val="FF0000"/>
                </a:solidFill>
                <a:latin typeface="Rockwell Condensed" panose="02060603050405020104" pitchFamily="18" charset="0"/>
              </a:rPr>
              <a:t>Em</a:t>
            </a:r>
            <a:endParaRPr lang="en-US" sz="1050" b="1" dirty="0">
              <a:solidFill>
                <a:srgbClr val="FF0000"/>
              </a:solidFill>
              <a:latin typeface="Rockwell Condensed" panose="02060603050405020104" pitchFamily="18" charset="0"/>
            </a:endParaRPr>
          </a:p>
        </p:txBody>
      </p:sp>
      <p:sp>
        <p:nvSpPr>
          <p:cNvPr id="31" name="TextBox 30"/>
          <p:cNvSpPr txBox="1"/>
          <p:nvPr/>
        </p:nvSpPr>
        <p:spPr>
          <a:xfrm>
            <a:off x="6350492" y="6376778"/>
            <a:ext cx="712054" cy="253916"/>
          </a:xfrm>
          <a:prstGeom prst="rect">
            <a:avLst/>
          </a:prstGeom>
          <a:noFill/>
        </p:spPr>
        <p:txBody>
          <a:bodyPr wrap="none" rtlCol="0">
            <a:spAutoFit/>
          </a:bodyPr>
          <a:lstStyle/>
          <a:p>
            <a:r>
              <a:rPr lang="en-US" sz="1050" b="1" dirty="0">
                <a:solidFill>
                  <a:srgbClr val="FF0000"/>
                </a:solidFill>
                <a:latin typeface="Rockwell Condensed" panose="02060603050405020104" pitchFamily="18" charset="0"/>
              </a:rPr>
              <a:t>Grow ‘</a:t>
            </a:r>
            <a:r>
              <a:rPr lang="en-US" sz="1050" b="1" dirty="0" err="1">
                <a:solidFill>
                  <a:srgbClr val="FF0000"/>
                </a:solidFill>
                <a:latin typeface="Rockwell Condensed" panose="02060603050405020104" pitchFamily="18" charset="0"/>
              </a:rPr>
              <a:t>Em</a:t>
            </a:r>
            <a:endParaRPr lang="en-US" sz="1050" b="1" dirty="0">
              <a:solidFill>
                <a:srgbClr val="FF0000"/>
              </a:solidFill>
              <a:latin typeface="Rockwell Condensed" panose="02060603050405020104" pitchFamily="18" charset="0"/>
            </a:endParaRPr>
          </a:p>
        </p:txBody>
      </p:sp>
    </p:spTree>
    <p:extLst>
      <p:ext uri="{BB962C8B-B14F-4D97-AF65-F5344CB8AC3E}">
        <p14:creationId xmlns:p14="http://schemas.microsoft.com/office/powerpoint/2010/main" val="1962525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1"/>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2" grpId="0" animBg="1"/>
      <p:bldP spid="14" grpId="0" animBg="1"/>
      <p:bldP spid="16" grpId="0" animBg="1"/>
      <p:bldP spid="17" grpId="0" animBg="1"/>
      <p:bldP spid="18" grpId="0" animBg="1"/>
      <p:bldP spid="24" grpId="0" animBg="1"/>
      <p:bldP spid="34" grpId="0"/>
      <p:bldP spid="35" grpId="0"/>
      <p:bldP spid="38" grpId="0" animBg="1"/>
      <p:bldP spid="39" grpId="0" animBg="1"/>
      <p:bldP spid="40" grpId="0"/>
      <p:bldP spid="41" grpId="0"/>
      <p:bldP spid="42" grpId="0"/>
      <p:bldP spid="43" grpId="0"/>
      <p:bldP spid="44" grpId="0"/>
      <p:bldP spid="45" grpId="0"/>
      <p:bldP spid="46" grpId="0"/>
      <p:bldP spid="27" grpId="0"/>
      <p:bldP spid="7" grpId="0"/>
      <p:bldP spid="30" grpId="0"/>
      <p:bldP spid="3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612648" y="1600200"/>
                <a:ext cx="8378952" cy="4953000"/>
              </a:xfrm>
            </p:spPr>
            <p:txBody>
              <a:bodyPr>
                <a:normAutofit fontScale="70000" lnSpcReduction="20000"/>
              </a:bodyPr>
              <a:lstStyle/>
              <a:p>
                <a:pPr>
                  <a:spcBef>
                    <a:spcPts val="1200"/>
                  </a:spcBef>
                  <a:spcAft>
                    <a:spcPts val="1200"/>
                  </a:spcAft>
                </a:pPr>
                <a:r>
                  <a:rPr lang="en-US" dirty="0"/>
                  <a:t>Customer purchase cycle: 6 months</a:t>
                </a:r>
              </a:p>
              <a:p>
                <a:pPr>
                  <a:spcBef>
                    <a:spcPts val="1200"/>
                  </a:spcBef>
                </a:pPr>
                <a:r>
                  <a:rPr lang="en-US" dirty="0"/>
                  <a:t>Discounting</a:t>
                </a:r>
              </a:p>
              <a:p>
                <a:pPr lvl="1"/>
                <a:r>
                  <a:rPr lang="en-US" sz="1900" dirty="0"/>
                  <a:t>Semi-annual discount rate: </a:t>
                </a:r>
                <a14:m>
                  <m:oMath xmlns:m="http://schemas.openxmlformats.org/officeDocument/2006/math">
                    <m:r>
                      <a:rPr lang="en-US" sz="1900" i="1" dirty="0" smtClean="0">
                        <a:latin typeface="Cambria Math"/>
                      </a:rPr>
                      <m:t>𝑟</m:t>
                    </m:r>
                    <m:r>
                      <a:rPr lang="en-US" sz="1900" i="1" dirty="0" smtClean="0">
                        <a:latin typeface="Cambria Math"/>
                      </a:rPr>
                      <m:t> = 4.88%</m:t>
                    </m:r>
                  </m:oMath>
                </a14:m>
                <a:endParaRPr lang="en-US" sz="1900" dirty="0"/>
              </a:p>
              <a:p>
                <a:pPr lvl="1">
                  <a:spcAft>
                    <a:spcPts val="1200"/>
                  </a:spcAft>
                </a:pPr>
                <a:r>
                  <a:rPr lang="en-US" sz="1900" dirty="0"/>
                  <a:t>Semi-annual discount factor: </a:t>
                </a:r>
              </a:p>
              <a:p>
                <a:pPr marL="366713" lvl="1" indent="0">
                  <a:spcAft>
                    <a:spcPts val="1200"/>
                  </a:spcAft>
                  <a:buNone/>
                </a:pPr>
                <a:r>
                  <a:rPr lang="en-US" b="1" dirty="0">
                    <a:solidFill>
                      <a:srgbClr val="7030A0"/>
                    </a:solidFill>
                    <a:effectLst>
                      <a:outerShdw blurRad="38100" dist="38100" dir="2700000" algn="tl">
                        <a:srgbClr val="000000">
                          <a:alpha val="43137"/>
                        </a:srgbClr>
                      </a:outerShdw>
                    </a:effectLst>
                  </a:rPr>
                  <a:t>			</a:t>
                </a:r>
                <a14:m>
                  <m:oMath xmlns:m="http://schemas.openxmlformats.org/officeDocument/2006/math">
                    <m:r>
                      <a:rPr lang="en-US" b="1" i="1" dirty="0" smtClean="0">
                        <a:solidFill>
                          <a:srgbClr val="7030A0"/>
                        </a:solidFill>
                        <a:effectLst>
                          <a:outerShdw blurRad="38100" dist="38100" dir="2700000" algn="tl">
                            <a:srgbClr val="000000">
                              <a:alpha val="43137"/>
                            </a:srgbClr>
                          </a:outerShdw>
                        </a:effectLst>
                        <a:latin typeface="Cambria Math"/>
                      </a:rPr>
                      <m:t>𝜹</m:t>
                    </m:r>
                    <m:r>
                      <a:rPr lang="en-US" i="1" dirty="0">
                        <a:latin typeface="Cambria Math"/>
                      </a:rPr>
                      <m:t> =</m:t>
                    </m:r>
                    <m:f>
                      <m:fPr>
                        <m:ctrlPr>
                          <a:rPr lang="en-US" b="0" i="1" dirty="0" smtClean="0">
                            <a:latin typeface="Cambria Math" panose="02040503050406030204" pitchFamily="18" charset="0"/>
                          </a:rPr>
                        </m:ctrlPr>
                      </m:fPr>
                      <m:num>
                        <m:r>
                          <a:rPr lang="en-US" b="0" i="1" dirty="0" smtClean="0">
                            <a:latin typeface="Cambria Math"/>
                          </a:rPr>
                          <m:t>1</m:t>
                        </m:r>
                      </m:num>
                      <m:den>
                        <m:r>
                          <a:rPr lang="en-US" i="1" dirty="0">
                            <a:latin typeface="Cambria Math"/>
                          </a:rPr>
                          <m:t>1+</m:t>
                        </m:r>
                        <m:r>
                          <a:rPr lang="en-US" i="1" dirty="0">
                            <a:latin typeface="Cambria Math"/>
                          </a:rPr>
                          <m:t>𝑟</m:t>
                        </m:r>
                      </m:den>
                    </m:f>
                    <m:r>
                      <a:rPr lang="en-US" b="0" i="1" dirty="0" smtClean="0">
                        <a:latin typeface="Cambria Math"/>
                      </a:rPr>
                      <m:t>=0.95</m:t>
                    </m:r>
                  </m:oMath>
                </a14:m>
                <a:endParaRPr lang="en-US" dirty="0"/>
              </a:p>
              <a:p>
                <a:pPr>
                  <a:spcBef>
                    <a:spcPts val="1200"/>
                  </a:spcBef>
                </a:pPr>
                <a:r>
                  <a:rPr lang="en-US" dirty="0"/>
                  <a:t>Bounce-back mailers (BB):</a:t>
                </a:r>
              </a:p>
              <a:p>
                <a:pPr lvl="1"/>
                <a:r>
                  <a:rPr lang="en-US" sz="1900" dirty="0"/>
                  <a:t>Cost per bounce-back mailer: </a:t>
                </a:r>
                <a14:m>
                  <m:oMath xmlns:m="http://schemas.openxmlformats.org/officeDocument/2006/math">
                    <m:r>
                      <a:rPr lang="en-US" sz="1900" i="1" dirty="0" smtClean="0">
                        <a:latin typeface="Cambria Math" panose="02040503050406030204" pitchFamily="18" charset="0"/>
                      </a:rPr>
                      <m:t>$0.35</m:t>
                    </m:r>
                  </m:oMath>
                </a14:m>
                <a:endParaRPr lang="en-US" sz="1900" dirty="0"/>
              </a:p>
              <a:p>
                <a:pPr lvl="1">
                  <a:spcAft>
                    <a:spcPts val="0"/>
                  </a:spcAft>
                </a:pPr>
                <a:r>
                  <a:rPr lang="en-US" sz="2000" dirty="0"/>
                  <a:t>Assume can’t convert churned customers back</a:t>
                </a:r>
              </a:p>
              <a:p>
                <a:pPr lvl="1">
                  <a:spcAft>
                    <a:spcPts val="0"/>
                  </a:spcAft>
                </a:pPr>
                <a:r>
                  <a:rPr lang="en-US" sz="1900" dirty="0"/>
                  <a:t>PV of mail cost: 	</a:t>
                </a:r>
              </a:p>
              <a:p>
                <a:pPr marL="366713" lvl="1" indent="0">
                  <a:spcAft>
                    <a:spcPts val="0"/>
                  </a:spcAft>
                  <a:buNone/>
                </a:pPr>
                <a:r>
                  <a:rPr lang="en-US" b="1" dirty="0">
                    <a:solidFill>
                      <a:srgbClr val="7030A0"/>
                    </a:solidFill>
                    <a:effectLst>
                      <a:outerShdw blurRad="38100" dist="38100" dir="2700000" algn="tl">
                        <a:srgbClr val="000000">
                          <a:alpha val="43137"/>
                        </a:srgbClr>
                      </a:outerShdw>
                    </a:effectLst>
                  </a:rPr>
                  <a:t>			</a:t>
                </a:r>
                <a14:m>
                  <m:oMath xmlns:m="http://schemas.openxmlformats.org/officeDocument/2006/math">
                    <m:r>
                      <a:rPr lang="en-US" b="1" i="1" dirty="0" smtClean="0">
                        <a:solidFill>
                          <a:srgbClr val="7030A0"/>
                        </a:solidFill>
                        <a:effectLst>
                          <a:outerShdw blurRad="38100" dist="38100" dir="2700000" algn="tl">
                            <a:srgbClr val="000000">
                              <a:alpha val="43137"/>
                            </a:srgbClr>
                          </a:outerShdw>
                        </a:effectLst>
                        <a:latin typeface="Cambria Math"/>
                      </a:rPr>
                      <m:t>𝒄</m:t>
                    </m:r>
                    <m:r>
                      <a:rPr lang="en-US" i="1" dirty="0">
                        <a:latin typeface="Cambria Math"/>
                      </a:rPr>
                      <m:t> =</m:t>
                    </m:r>
                    <m:r>
                      <a:rPr lang="en-US" b="0" i="1" dirty="0" smtClean="0">
                        <a:latin typeface="Cambria Math"/>
                      </a:rPr>
                      <m:t>0.35+</m:t>
                    </m:r>
                    <m:r>
                      <a:rPr lang="en-US" b="0" i="1" dirty="0" smtClean="0">
                        <a:latin typeface="Cambria Math"/>
                      </a:rPr>
                      <m:t>𝛿</m:t>
                    </m:r>
                    <m:r>
                      <a:rPr lang="en-US" b="0" i="1" dirty="0" smtClean="0">
                        <a:latin typeface="Cambria Math"/>
                      </a:rPr>
                      <m:t>0.35+</m:t>
                    </m:r>
                    <m:sSup>
                      <m:sSupPr>
                        <m:ctrlPr>
                          <a:rPr lang="en-US" b="0" i="1" dirty="0" smtClean="0">
                            <a:latin typeface="Cambria Math" panose="02040503050406030204" pitchFamily="18" charset="0"/>
                          </a:rPr>
                        </m:ctrlPr>
                      </m:sSupPr>
                      <m:e>
                        <m:r>
                          <a:rPr lang="en-US" b="0" i="1" dirty="0" smtClean="0">
                            <a:latin typeface="Cambria Math"/>
                          </a:rPr>
                          <m:t>𝛿</m:t>
                        </m:r>
                      </m:e>
                      <m:sup>
                        <m:r>
                          <a:rPr lang="en-US" b="0" i="1" dirty="0" smtClean="0">
                            <a:latin typeface="Cambria Math"/>
                          </a:rPr>
                          <m:t>2</m:t>
                        </m:r>
                      </m:sup>
                    </m:sSup>
                    <m:r>
                      <a:rPr lang="en-US" b="0" i="1" dirty="0" smtClean="0">
                        <a:latin typeface="Cambria Math"/>
                      </a:rPr>
                      <m:t>0.35+</m:t>
                    </m:r>
                    <m:sSup>
                      <m:sSupPr>
                        <m:ctrlPr>
                          <a:rPr lang="en-US" b="0" i="1" dirty="0" smtClean="0">
                            <a:latin typeface="Cambria Math" panose="02040503050406030204" pitchFamily="18" charset="0"/>
                          </a:rPr>
                        </m:ctrlPr>
                      </m:sSupPr>
                      <m:e>
                        <m:r>
                          <a:rPr lang="en-US" b="0" i="1" dirty="0" smtClean="0">
                            <a:latin typeface="Cambria Math"/>
                          </a:rPr>
                          <m:t>𝛿</m:t>
                        </m:r>
                      </m:e>
                      <m:sup>
                        <m:r>
                          <a:rPr lang="en-US" b="0" i="1" dirty="0" smtClean="0">
                            <a:latin typeface="Cambria Math"/>
                          </a:rPr>
                          <m:t>3</m:t>
                        </m:r>
                      </m:sup>
                    </m:sSup>
                    <m:r>
                      <a:rPr lang="en-US" b="0" i="1" dirty="0" smtClean="0">
                        <a:latin typeface="Cambria Math"/>
                      </a:rPr>
                      <m:t>0.35=$1.31</m:t>
                    </m:r>
                  </m:oMath>
                </a14:m>
                <a:endParaRPr lang="en-US" b="0" dirty="0"/>
              </a:p>
              <a:p>
                <a:pPr marL="319088" lvl="1" indent="-319088">
                  <a:spcBef>
                    <a:spcPts val="1200"/>
                  </a:spcBef>
                  <a:buClr>
                    <a:schemeClr val="accent2"/>
                  </a:buClr>
                  <a:buSzPct val="60000"/>
                  <a:buFont typeface="Wingdings" pitchFamily="2" charset="2"/>
                  <a:buChar char=""/>
                </a:pPr>
                <a:r>
                  <a:rPr lang="en-US" dirty="0"/>
                  <a:t>Gross Margin per repeat order:</a:t>
                </a:r>
              </a:p>
              <a:p>
                <a:pPr marL="593725" lvl="2" indent="-319088">
                  <a:spcBef>
                    <a:spcPts val="1200"/>
                  </a:spcBef>
                  <a:buSzPct val="60000"/>
                  <a:buFont typeface="Wingdings" pitchFamily="2" charset="2"/>
                  <a:buChar char=""/>
                </a:pPr>
                <a:r>
                  <a:rPr lang="en-US" sz="1700" dirty="0"/>
                  <a:t>$2.27 if bounce-back (full price) [83.98% of repeats]</a:t>
                </a:r>
              </a:p>
              <a:p>
                <a:pPr marL="593725" lvl="2" indent="-319088">
                  <a:spcBef>
                    <a:spcPts val="1200"/>
                  </a:spcBef>
                  <a:buSzPct val="60000"/>
                  <a:buFont typeface="Wingdings" pitchFamily="2" charset="2"/>
                  <a:buChar char=""/>
                </a:pPr>
                <a:r>
                  <a:rPr lang="en-US" sz="1700" dirty="0"/>
                  <a:t>$1.06 if use promo mailer [12.02% of repeats]</a:t>
                </a:r>
                <a:endParaRPr lang="en-US" dirty="0"/>
              </a:p>
              <a:p>
                <a:pPr marL="0" lvl="1" indent="0">
                  <a:spcBef>
                    <a:spcPts val="1200"/>
                  </a:spcBef>
                  <a:buClr>
                    <a:schemeClr val="accent2"/>
                  </a:buClr>
                  <a:buSzPct val="60000"/>
                  <a:buNone/>
                </a:pPr>
                <a:r>
                  <a:rPr lang="en-US" b="1" dirty="0">
                    <a:solidFill>
                      <a:srgbClr val="7030A0"/>
                    </a:solidFill>
                    <a:effectLst>
                      <a:outerShdw blurRad="38100" dist="38100" dir="2700000" algn="tl">
                        <a:srgbClr val="000000">
                          <a:alpha val="43137"/>
                        </a:srgbClr>
                      </a:outerShdw>
                    </a:effectLst>
                  </a:rPr>
                  <a:t>			</a:t>
                </a:r>
                <a14:m>
                  <m:oMath xmlns:m="http://schemas.openxmlformats.org/officeDocument/2006/math">
                    <m:r>
                      <a:rPr lang="en-US" b="1" i="1" dirty="0" smtClean="0">
                        <a:solidFill>
                          <a:srgbClr val="7030A0"/>
                        </a:solidFill>
                        <a:effectLst>
                          <a:outerShdw blurRad="38100" dist="38100" dir="2700000" algn="tl">
                            <a:srgbClr val="000000">
                              <a:alpha val="43137"/>
                            </a:srgbClr>
                          </a:outerShdw>
                        </a:effectLst>
                        <a:latin typeface="Cambria Math"/>
                      </a:rPr>
                      <m:t>𝒎</m:t>
                    </m:r>
                    <m:r>
                      <a:rPr lang="en-US" b="0" i="1" dirty="0" smtClean="0">
                        <a:latin typeface="Cambria Math"/>
                      </a:rPr>
                      <m:t>=$2.</m:t>
                    </m:r>
                    <m:r>
                      <a:rPr lang="en-US" b="0" i="0" dirty="0" smtClean="0">
                        <a:latin typeface="Cambria Math" panose="02040503050406030204" pitchFamily="18" charset="0"/>
                      </a:rPr>
                      <m:t>07</m:t>
                    </m:r>
                  </m:oMath>
                </a14:m>
                <a:endParaRPr lang="en-US" b="0" dirty="0"/>
              </a:p>
              <a:p>
                <a:pPr marL="319088" lvl="1" indent="-319088">
                  <a:spcBef>
                    <a:spcPts val="1200"/>
                  </a:spcBef>
                  <a:buClr>
                    <a:schemeClr val="accent2"/>
                  </a:buClr>
                  <a:buSzPct val="60000"/>
                  <a:buFont typeface="Wingdings" pitchFamily="2" charset="2"/>
                  <a:buChar char=""/>
                </a:pPr>
                <a:endParaRPr lang="en-US" dirty="0"/>
              </a:p>
              <a:p>
                <a:pPr>
                  <a:spcBef>
                    <a:spcPts val="1200"/>
                  </a:spcBef>
                </a:pPr>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612648" y="1600200"/>
                <a:ext cx="8378952" cy="4953000"/>
              </a:xfrm>
              <a:blipFill>
                <a:blip r:embed="rId3"/>
                <a:stretch>
                  <a:fillRect t="-1355"/>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11</a:t>
            </a:fld>
            <a:endParaRPr lang="en-US"/>
          </a:p>
        </p:txBody>
      </p:sp>
      <p:sp>
        <p:nvSpPr>
          <p:cNvPr id="5" name="Title 1"/>
          <p:cNvSpPr>
            <a:spLocks noGrp="1"/>
          </p:cNvSpPr>
          <p:nvPr>
            <p:ph type="title"/>
          </p:nvPr>
        </p:nvSpPr>
        <p:spPr>
          <a:xfrm>
            <a:off x="609600" y="228600"/>
            <a:ext cx="8153400" cy="990600"/>
          </a:xfrm>
        </p:spPr>
        <p:txBody>
          <a:bodyPr>
            <a:normAutofit fontScale="90000"/>
          </a:bodyPr>
          <a:lstStyle/>
          <a:p>
            <a:r>
              <a:rPr lang="en-US" sz="4400" dirty="0"/>
              <a:t>Assumptions to measure LR benefits</a:t>
            </a:r>
            <a:br>
              <a:rPr lang="en-US" sz="4400" dirty="0"/>
            </a:br>
            <a:r>
              <a:rPr lang="en-US" sz="3600" dirty="0"/>
              <a:t>example: Nashua Photo</a:t>
            </a:r>
            <a:endParaRPr lang="en-US" sz="4400" dirty="0"/>
          </a:p>
        </p:txBody>
      </p:sp>
    </p:spTree>
    <p:extLst>
      <p:ext uri="{BB962C8B-B14F-4D97-AF65-F5344CB8AC3E}">
        <p14:creationId xmlns:p14="http://schemas.microsoft.com/office/powerpoint/2010/main" val="39610791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pPr marL="342900" lvl="1" indent="-342900">
                  <a:spcBef>
                    <a:spcPts val="1200"/>
                  </a:spcBef>
                  <a:spcAft>
                    <a:spcPts val="1200"/>
                  </a:spcAft>
                  <a:buClr>
                    <a:schemeClr val="accent2"/>
                  </a:buClr>
                  <a:buSzPct val="60000"/>
                  <a:buFont typeface="Wingdings" panose="05000000000000000000" pitchFamily="2" charset="2"/>
                  <a:buChar char="Ø"/>
                </a:pPr>
                <a14:m>
                  <m:oMath xmlns:m="http://schemas.openxmlformats.org/officeDocument/2006/math">
                    <m:r>
                      <a:rPr lang="en-US" b="1" i="1" dirty="0" smtClean="0">
                        <a:latin typeface="Cambria Math"/>
                      </a:rPr>
                      <m:t>𝑩</m:t>
                    </m:r>
                    <m:r>
                      <a:rPr lang="en-US" i="1" dirty="0">
                        <a:latin typeface="Cambria Math"/>
                      </a:rPr>
                      <m:t> =</m:t>
                    </m:r>
                    <m:r>
                      <a:rPr lang="en-US" b="0" i="1" dirty="0" smtClean="0">
                        <a:latin typeface="Cambria Math"/>
                      </a:rPr>
                      <m:t>𝑃𝑟𝑜𝑏</m:t>
                    </m:r>
                    <m:d>
                      <m:dPr>
                        <m:ctrlPr>
                          <a:rPr lang="en-US" b="0" i="1" dirty="0" smtClean="0">
                            <a:latin typeface="Cambria Math" panose="02040503050406030204" pitchFamily="18" charset="0"/>
                          </a:rPr>
                        </m:ctrlPr>
                      </m:dPr>
                      <m:e>
                        <m:r>
                          <a:rPr lang="en-US" b="0" i="1" dirty="0" smtClean="0">
                            <a:latin typeface="Cambria Math"/>
                          </a:rPr>
                          <m:t>𝑛𝑜𝑡</m:t>
                        </m:r>
                        <m:r>
                          <a:rPr lang="en-US" b="0" i="1" dirty="0" smtClean="0">
                            <a:latin typeface="Cambria Math"/>
                          </a:rPr>
                          <m:t> </m:t>
                        </m:r>
                        <m:r>
                          <a:rPr lang="en-US" b="0" i="1" dirty="0" smtClean="0">
                            <a:latin typeface="Cambria Math"/>
                          </a:rPr>
                          <m:t>𝐵𝑢𝑦</m:t>
                        </m:r>
                      </m:e>
                      <m:e>
                        <m:r>
                          <a:rPr lang="en-US" b="1" i="1" dirty="0" smtClean="0">
                            <a:latin typeface="Cambria Math"/>
                          </a:rPr>
                          <m:t>𝑩</m:t>
                        </m:r>
                      </m:e>
                    </m:d>
                    <m:d>
                      <m:dPr>
                        <m:ctrlPr>
                          <a:rPr lang="en-US" b="0" i="1" dirty="0" smtClean="0">
                            <a:latin typeface="Cambria Math" panose="02040503050406030204" pitchFamily="18" charset="0"/>
                          </a:rPr>
                        </m:ctrlPr>
                      </m:dPr>
                      <m:e>
                        <m:r>
                          <a:rPr lang="en-US" b="0" i="1" dirty="0" smtClean="0">
                            <a:latin typeface="Cambria Math"/>
                          </a:rPr>
                          <m:t>−</m:t>
                        </m:r>
                        <m:r>
                          <a:rPr lang="en-US" b="1" i="1" dirty="0" smtClean="0">
                            <a:solidFill>
                              <a:srgbClr val="7030A0"/>
                            </a:solidFill>
                            <a:effectLst>
                              <a:outerShdw blurRad="38100" dist="38100" dir="2700000" algn="tl">
                                <a:srgbClr val="000000">
                                  <a:alpha val="43137"/>
                                </a:srgbClr>
                              </a:outerShdw>
                            </a:effectLst>
                            <a:latin typeface="Cambria Math"/>
                          </a:rPr>
                          <m:t>𝒄</m:t>
                        </m:r>
                      </m:e>
                    </m:d>
                    <m:r>
                      <a:rPr lang="en-US" b="0" i="1" dirty="0" smtClean="0">
                        <a:latin typeface="Cambria Math"/>
                      </a:rPr>
                      <m:t>+</m:t>
                    </m:r>
                    <m:r>
                      <a:rPr lang="en-US" b="0" i="1" dirty="0" smtClean="0">
                        <a:latin typeface="Cambria Math"/>
                      </a:rPr>
                      <m:t>𝑃𝑟𝑜𝑏</m:t>
                    </m:r>
                    <m:r>
                      <a:rPr lang="en-US" b="0" i="1" dirty="0" smtClean="0">
                        <a:latin typeface="Cambria Math"/>
                      </a:rPr>
                      <m:t>(</m:t>
                    </m:r>
                    <m:r>
                      <a:rPr lang="en-US" b="0" i="1" dirty="0" smtClean="0">
                        <a:latin typeface="Cambria Math"/>
                      </a:rPr>
                      <m:t>𝐵𝑢𝑦</m:t>
                    </m:r>
                    <m:r>
                      <a:rPr lang="en-US" b="0" i="1" dirty="0" smtClean="0">
                        <a:latin typeface="Cambria Math"/>
                      </a:rPr>
                      <m:t>|</m:t>
                    </m:r>
                    <m:r>
                      <a:rPr lang="en-US" b="1" i="1" dirty="0" smtClean="0">
                        <a:latin typeface="Cambria Math"/>
                      </a:rPr>
                      <m:t>𝑩</m:t>
                    </m:r>
                    <m:r>
                      <a:rPr lang="en-US" b="0" i="1" dirty="0" smtClean="0">
                        <a:latin typeface="Cambria Math"/>
                      </a:rPr>
                      <m:t>)(</m:t>
                    </m:r>
                    <m:r>
                      <a:rPr lang="en-US" b="1" i="1" dirty="0" smtClean="0">
                        <a:solidFill>
                          <a:srgbClr val="7030A0"/>
                        </a:solidFill>
                        <a:effectLst>
                          <a:outerShdw blurRad="38100" dist="38100" dir="2700000" algn="tl">
                            <a:srgbClr val="000000">
                              <a:alpha val="43137"/>
                            </a:srgbClr>
                          </a:outerShdw>
                        </a:effectLst>
                        <a:latin typeface="Cambria Math"/>
                      </a:rPr>
                      <m:t>𝒎</m:t>
                    </m:r>
                    <m:r>
                      <a:rPr lang="en-US" b="0" i="1" dirty="0" smtClean="0">
                        <a:latin typeface="Cambria Math"/>
                      </a:rPr>
                      <m:t>+</m:t>
                    </m:r>
                    <m:r>
                      <a:rPr lang="en-US" b="1" i="1" dirty="0" smtClean="0">
                        <a:solidFill>
                          <a:srgbClr val="7030A0"/>
                        </a:solidFill>
                        <a:effectLst>
                          <a:outerShdw blurRad="38100" dist="38100" dir="2700000" algn="tl">
                            <a:srgbClr val="000000">
                              <a:alpha val="43137"/>
                            </a:srgbClr>
                          </a:outerShdw>
                        </a:effectLst>
                        <a:latin typeface="Cambria Math"/>
                      </a:rPr>
                      <m:t>𝜹</m:t>
                    </m:r>
                    <m:r>
                      <a:rPr lang="en-US" b="1" i="1" dirty="0" smtClean="0">
                        <a:latin typeface="Cambria Math"/>
                      </a:rPr>
                      <m:t>𝑹</m:t>
                    </m:r>
                    <m:r>
                      <a:rPr lang="en-US" b="0" i="1" dirty="0" smtClean="0">
                        <a:latin typeface="Cambria Math"/>
                      </a:rPr>
                      <m:t>)</m:t>
                    </m:r>
                  </m:oMath>
                </a14:m>
                <a:endParaRPr lang="en-US" dirty="0"/>
              </a:p>
              <a:p>
                <a:pPr marL="342900" lvl="1" indent="-342900">
                  <a:spcBef>
                    <a:spcPts val="1200"/>
                  </a:spcBef>
                  <a:spcAft>
                    <a:spcPts val="1200"/>
                  </a:spcAft>
                  <a:buClr>
                    <a:schemeClr val="accent2"/>
                  </a:buClr>
                  <a:buSzPct val="60000"/>
                  <a:buFont typeface="Wingdings" panose="05000000000000000000" pitchFamily="2" charset="2"/>
                  <a:buChar char="Ø"/>
                </a:pPr>
                <a14:m>
                  <m:oMath xmlns:m="http://schemas.openxmlformats.org/officeDocument/2006/math">
                    <m:r>
                      <a:rPr lang="en-US" b="1" i="1" dirty="0" smtClean="0">
                        <a:latin typeface="Cambria Math"/>
                      </a:rPr>
                      <m:t>𝑹</m:t>
                    </m:r>
                    <m:r>
                      <a:rPr lang="en-US" i="1" dirty="0">
                        <a:latin typeface="Cambria Math"/>
                      </a:rPr>
                      <m:t> =</m:t>
                    </m:r>
                    <m:r>
                      <a:rPr lang="en-US" i="1" dirty="0">
                        <a:latin typeface="Cambria Math"/>
                      </a:rPr>
                      <m:t>𝑃𝑟𝑜𝑏</m:t>
                    </m:r>
                    <m:d>
                      <m:dPr>
                        <m:ctrlPr>
                          <a:rPr lang="en-US" i="1" dirty="0">
                            <a:latin typeface="Cambria Math" panose="02040503050406030204" pitchFamily="18" charset="0"/>
                          </a:rPr>
                        </m:ctrlPr>
                      </m:dPr>
                      <m:e>
                        <m:r>
                          <a:rPr lang="en-US" b="0" i="1" dirty="0" smtClean="0">
                            <a:latin typeface="Cambria Math"/>
                          </a:rPr>
                          <m:t>𝑛𝑜𝑡</m:t>
                        </m:r>
                        <m:r>
                          <a:rPr lang="en-US" b="0" i="1" dirty="0" smtClean="0">
                            <a:latin typeface="Cambria Math"/>
                          </a:rPr>
                          <m:t> </m:t>
                        </m:r>
                        <m:r>
                          <a:rPr lang="en-US" i="1" dirty="0">
                            <a:latin typeface="Cambria Math"/>
                          </a:rPr>
                          <m:t>𝐵𝑢𝑦</m:t>
                        </m:r>
                      </m:e>
                      <m:e>
                        <m:r>
                          <a:rPr lang="en-US" b="1" i="1" dirty="0" smtClean="0">
                            <a:latin typeface="Cambria Math"/>
                          </a:rPr>
                          <m:t>𝑹</m:t>
                        </m:r>
                      </m:e>
                    </m:d>
                    <m:d>
                      <m:dPr>
                        <m:ctrlPr>
                          <a:rPr lang="en-US" i="1" dirty="0">
                            <a:latin typeface="Cambria Math" panose="02040503050406030204" pitchFamily="18" charset="0"/>
                          </a:rPr>
                        </m:ctrlPr>
                      </m:dPr>
                      <m:e>
                        <m:r>
                          <a:rPr lang="en-US" b="0" i="1" dirty="0" smtClean="0">
                            <a:latin typeface="Cambria Math"/>
                          </a:rPr>
                          <m:t>0</m:t>
                        </m:r>
                      </m:e>
                    </m:d>
                    <m:r>
                      <a:rPr lang="en-US" i="1" dirty="0">
                        <a:latin typeface="Cambria Math"/>
                      </a:rPr>
                      <m:t>+</m:t>
                    </m:r>
                    <m:r>
                      <a:rPr lang="en-US" i="1" dirty="0">
                        <a:latin typeface="Cambria Math"/>
                      </a:rPr>
                      <m:t>𝑃𝑟𝑜𝑏</m:t>
                    </m:r>
                    <m:r>
                      <a:rPr lang="en-US" i="1" dirty="0">
                        <a:latin typeface="Cambria Math"/>
                      </a:rPr>
                      <m:t>(</m:t>
                    </m:r>
                    <m:r>
                      <a:rPr lang="en-US" i="1" dirty="0">
                        <a:latin typeface="Cambria Math"/>
                      </a:rPr>
                      <m:t>𝐵𝑢𝑦</m:t>
                    </m:r>
                    <m:r>
                      <a:rPr lang="en-US" i="1" dirty="0">
                        <a:latin typeface="Cambria Math"/>
                      </a:rPr>
                      <m:t>|</m:t>
                    </m:r>
                    <m:r>
                      <a:rPr lang="en-US" b="1" i="1" dirty="0" smtClean="0">
                        <a:latin typeface="Cambria Math"/>
                      </a:rPr>
                      <m:t>𝑹</m:t>
                    </m:r>
                    <m:r>
                      <a:rPr lang="en-US" i="1" dirty="0">
                        <a:latin typeface="Cambria Math"/>
                      </a:rPr>
                      <m:t>)(</m:t>
                    </m:r>
                    <m:r>
                      <a:rPr lang="en-US" b="1" i="1" dirty="0" smtClean="0">
                        <a:solidFill>
                          <a:srgbClr val="7030A0"/>
                        </a:solidFill>
                        <a:effectLst>
                          <a:outerShdw blurRad="38100" dist="38100" dir="2700000" algn="tl">
                            <a:srgbClr val="000000">
                              <a:alpha val="43137"/>
                            </a:srgbClr>
                          </a:outerShdw>
                        </a:effectLst>
                        <a:latin typeface="Cambria Math"/>
                      </a:rPr>
                      <m:t>𝒎</m:t>
                    </m:r>
                    <m:r>
                      <a:rPr lang="en-US" i="1" dirty="0">
                        <a:latin typeface="Cambria Math"/>
                      </a:rPr>
                      <m:t>+</m:t>
                    </m:r>
                    <m:r>
                      <a:rPr lang="en-US" b="1" i="1" dirty="0" smtClean="0">
                        <a:solidFill>
                          <a:srgbClr val="7030A0"/>
                        </a:solidFill>
                        <a:effectLst>
                          <a:outerShdw blurRad="38100" dist="38100" dir="2700000" algn="tl">
                            <a:srgbClr val="000000">
                              <a:alpha val="43137"/>
                            </a:srgbClr>
                          </a:outerShdw>
                        </a:effectLst>
                        <a:latin typeface="Cambria Math"/>
                      </a:rPr>
                      <m:t>𝜹</m:t>
                    </m:r>
                    <m:r>
                      <a:rPr lang="en-US" b="1" i="1" dirty="0" smtClean="0">
                        <a:latin typeface="Cambria Math"/>
                      </a:rPr>
                      <m:t>𝑳</m:t>
                    </m:r>
                    <m:r>
                      <a:rPr lang="en-US" i="1" dirty="0">
                        <a:latin typeface="Cambria Math"/>
                      </a:rPr>
                      <m:t>)</m:t>
                    </m:r>
                  </m:oMath>
                </a14:m>
                <a:endParaRPr lang="en-US" dirty="0"/>
              </a:p>
              <a:p>
                <a:pPr marL="342900" lvl="1" indent="-342900">
                  <a:spcBef>
                    <a:spcPts val="1200"/>
                  </a:spcBef>
                  <a:spcAft>
                    <a:spcPts val="1200"/>
                  </a:spcAft>
                  <a:buClr>
                    <a:schemeClr val="accent2"/>
                  </a:buClr>
                  <a:buSzPct val="60000"/>
                  <a:buFont typeface="Wingdings" panose="05000000000000000000" pitchFamily="2" charset="2"/>
                  <a:buChar char="Ø"/>
                </a:pPr>
                <a14:m>
                  <m:oMath xmlns:m="http://schemas.openxmlformats.org/officeDocument/2006/math">
                    <m:r>
                      <a:rPr lang="en-US" b="1" i="1" dirty="0" smtClean="0">
                        <a:latin typeface="Cambria Math"/>
                      </a:rPr>
                      <m:t>𝑳</m:t>
                    </m:r>
                    <m:r>
                      <a:rPr lang="en-US" i="1" dirty="0">
                        <a:latin typeface="Cambria Math"/>
                      </a:rPr>
                      <m:t> =</m:t>
                    </m:r>
                    <m:r>
                      <a:rPr lang="en-US" i="1" dirty="0">
                        <a:latin typeface="Cambria Math"/>
                      </a:rPr>
                      <m:t>𝑃𝑟𝑜𝑏</m:t>
                    </m:r>
                    <m:d>
                      <m:dPr>
                        <m:ctrlPr>
                          <a:rPr lang="en-US" i="1" dirty="0">
                            <a:latin typeface="Cambria Math" panose="02040503050406030204" pitchFamily="18" charset="0"/>
                          </a:rPr>
                        </m:ctrlPr>
                      </m:dPr>
                      <m:e>
                        <m:r>
                          <a:rPr lang="en-US" b="0" i="1" dirty="0" smtClean="0">
                            <a:latin typeface="Cambria Math"/>
                          </a:rPr>
                          <m:t>𝑛𝑜𝑡</m:t>
                        </m:r>
                        <m:r>
                          <a:rPr lang="en-US" b="0" i="1" dirty="0" smtClean="0">
                            <a:latin typeface="Cambria Math"/>
                          </a:rPr>
                          <m:t> </m:t>
                        </m:r>
                        <m:r>
                          <a:rPr lang="en-US" i="1" dirty="0">
                            <a:latin typeface="Cambria Math"/>
                          </a:rPr>
                          <m:t>𝐵𝑢𝑦</m:t>
                        </m:r>
                      </m:e>
                      <m:e>
                        <m:r>
                          <a:rPr lang="en-US" b="1" i="1" dirty="0" smtClean="0">
                            <a:latin typeface="Cambria Math"/>
                          </a:rPr>
                          <m:t>𝑳</m:t>
                        </m:r>
                      </m:e>
                    </m:d>
                    <m:d>
                      <m:dPr>
                        <m:ctrlPr>
                          <a:rPr lang="en-US" i="1" dirty="0">
                            <a:latin typeface="Cambria Math" panose="02040503050406030204" pitchFamily="18" charset="0"/>
                          </a:rPr>
                        </m:ctrlPr>
                      </m:dPr>
                      <m:e>
                        <m:r>
                          <a:rPr lang="en-US" b="0" i="1" dirty="0" smtClean="0">
                            <a:latin typeface="Cambria Math"/>
                          </a:rPr>
                          <m:t>0</m:t>
                        </m:r>
                      </m:e>
                    </m:d>
                    <m:r>
                      <a:rPr lang="en-US" i="1" dirty="0">
                        <a:latin typeface="Cambria Math"/>
                      </a:rPr>
                      <m:t>+</m:t>
                    </m:r>
                    <m:r>
                      <a:rPr lang="en-US" i="1" dirty="0">
                        <a:latin typeface="Cambria Math"/>
                      </a:rPr>
                      <m:t>𝑃𝑟𝑜𝑏</m:t>
                    </m:r>
                    <m:r>
                      <a:rPr lang="en-US" i="1" dirty="0">
                        <a:latin typeface="Cambria Math"/>
                      </a:rPr>
                      <m:t>(</m:t>
                    </m:r>
                    <m:r>
                      <a:rPr lang="en-US" i="1" dirty="0">
                        <a:latin typeface="Cambria Math"/>
                      </a:rPr>
                      <m:t>𝐵𝑢𝑦</m:t>
                    </m:r>
                    <m:r>
                      <a:rPr lang="en-US" i="1" dirty="0">
                        <a:latin typeface="Cambria Math"/>
                      </a:rPr>
                      <m:t>|</m:t>
                    </m:r>
                    <m:r>
                      <a:rPr lang="en-US" b="1" i="1" dirty="0" smtClean="0">
                        <a:latin typeface="Cambria Math"/>
                      </a:rPr>
                      <m:t>𝑳</m:t>
                    </m:r>
                    <m:r>
                      <a:rPr lang="en-US" i="1" dirty="0">
                        <a:latin typeface="Cambria Math"/>
                      </a:rPr>
                      <m:t>)(</m:t>
                    </m:r>
                    <m:r>
                      <a:rPr lang="en-US" b="1" i="1" dirty="0" smtClean="0">
                        <a:solidFill>
                          <a:srgbClr val="7030A0"/>
                        </a:solidFill>
                        <a:effectLst>
                          <a:outerShdw blurRad="38100" dist="38100" dir="2700000" algn="tl">
                            <a:srgbClr val="000000">
                              <a:alpha val="43137"/>
                            </a:srgbClr>
                          </a:outerShdw>
                        </a:effectLst>
                        <a:latin typeface="Cambria Math"/>
                      </a:rPr>
                      <m:t>𝒎</m:t>
                    </m:r>
                    <m:r>
                      <a:rPr lang="en-US" i="1" dirty="0">
                        <a:latin typeface="Cambria Math"/>
                      </a:rPr>
                      <m:t>+</m:t>
                    </m:r>
                    <m:r>
                      <a:rPr lang="en-US" b="1" i="1" dirty="0" smtClean="0">
                        <a:solidFill>
                          <a:srgbClr val="7030A0"/>
                        </a:solidFill>
                        <a:effectLst>
                          <a:outerShdw blurRad="38100" dist="38100" dir="2700000" algn="tl">
                            <a:srgbClr val="000000">
                              <a:alpha val="43137"/>
                            </a:srgbClr>
                          </a:outerShdw>
                        </a:effectLst>
                        <a:latin typeface="Cambria Math"/>
                      </a:rPr>
                      <m:t>𝜹</m:t>
                    </m:r>
                    <m:r>
                      <a:rPr lang="en-US" b="1" i="1" dirty="0" smtClean="0">
                        <a:latin typeface="Cambria Math"/>
                      </a:rPr>
                      <m:t>𝑳</m:t>
                    </m:r>
                    <m:r>
                      <a:rPr lang="en-US" i="1" dirty="0">
                        <a:latin typeface="Cambria Math"/>
                      </a:rPr>
                      <m:t>)</m:t>
                    </m:r>
                  </m:oMath>
                </a14:m>
                <a:endParaRPr lang="en-US" dirty="0"/>
              </a:p>
              <a:p>
                <a:pPr marL="0" lvl="1" indent="0">
                  <a:spcBef>
                    <a:spcPts val="1200"/>
                  </a:spcBef>
                  <a:spcAft>
                    <a:spcPts val="1200"/>
                  </a:spcAft>
                  <a:buClr>
                    <a:schemeClr val="accent2"/>
                  </a:buClr>
                  <a:buSzPct val="60000"/>
                  <a:buNone/>
                </a:pPr>
                <a:r>
                  <a:rPr lang="en-US" dirty="0"/>
                  <a:t>where</a:t>
                </a:r>
              </a:p>
              <a:p>
                <a:pPr>
                  <a:spcBef>
                    <a:spcPts val="1200"/>
                  </a:spcBef>
                  <a:spcAft>
                    <a:spcPts val="1200"/>
                  </a:spcAft>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a:blip r:embed="rId2"/>
                <a:stretch>
                  <a:fillRect l="-1197"/>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12</a:t>
            </a:fld>
            <a:endParaRPr lang="en-US"/>
          </a:p>
        </p:txBody>
      </p:sp>
      <p:sp>
        <p:nvSpPr>
          <p:cNvPr id="5" name="Title 1"/>
          <p:cNvSpPr>
            <a:spLocks noGrp="1"/>
          </p:cNvSpPr>
          <p:nvPr>
            <p:ph type="title"/>
          </p:nvPr>
        </p:nvSpPr>
        <p:spPr>
          <a:xfrm>
            <a:off x="609600" y="228600"/>
            <a:ext cx="8153400" cy="990600"/>
          </a:xfrm>
        </p:spPr>
        <p:txBody>
          <a:bodyPr>
            <a:normAutofit fontScale="90000"/>
          </a:bodyPr>
          <a:lstStyle/>
          <a:p>
            <a:r>
              <a:rPr lang="en-US" sz="4400" dirty="0"/>
              <a:t>CLV of a Buyer model</a:t>
            </a:r>
            <a:br>
              <a:rPr lang="en-US" sz="4400" dirty="0"/>
            </a:br>
            <a:r>
              <a:rPr lang="en-US" sz="3600" dirty="0"/>
              <a:t>example: Nashua Photo’s 3 buyer types</a:t>
            </a:r>
            <a:endParaRPr lang="en-US" sz="4400" dirty="0"/>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nvGraphicFramePr>
            <p:xfrm>
              <a:off x="1447800" y="4343400"/>
              <a:ext cx="6096000" cy="111252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1" i="1" dirty="0" smtClean="0">
                                    <a:solidFill>
                                      <a:srgbClr val="7030A0"/>
                                    </a:solidFill>
                                    <a:effectLst>
                                      <a:outerShdw blurRad="38100" dist="38100" dir="2700000" algn="tl">
                                        <a:srgbClr val="000000">
                                          <a:alpha val="43137"/>
                                        </a:srgbClr>
                                      </a:outerShdw>
                                    </a:effectLst>
                                    <a:latin typeface="Cambria Math"/>
                                  </a:rPr>
                                  <m:t>𝒄</m:t>
                                </m:r>
                                <m:r>
                                  <a:rPr lang="en-US" b="0" i="1" dirty="0" smtClean="0">
                                    <a:solidFill>
                                      <a:schemeClr val="tx1"/>
                                    </a:solidFill>
                                    <a:latin typeface="Cambria Math"/>
                                  </a:rPr>
                                  <m:t>=$1.31</m:t>
                                </m:r>
                              </m:oMath>
                            </m:oMathPara>
                          </a14:m>
                          <a:endParaRPr lang="en-US" b="0" dirty="0">
                            <a:solidFill>
                              <a:schemeClr val="tx1"/>
                            </a:solidFill>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b="0" i="1" dirty="0" smtClean="0">
                                    <a:solidFill>
                                      <a:schemeClr val="tx1"/>
                                    </a:solidFill>
                                    <a:latin typeface="Cambria Math"/>
                                  </a:rPr>
                                  <m:t>𝑃𝑟𝑜𝑏</m:t>
                                </m:r>
                                <m:d>
                                  <m:dPr>
                                    <m:ctrlPr>
                                      <a:rPr lang="en-US" b="0" i="1" dirty="0" smtClean="0">
                                        <a:solidFill>
                                          <a:schemeClr val="tx1"/>
                                        </a:solidFill>
                                        <a:latin typeface="Cambria Math" panose="02040503050406030204" pitchFamily="18" charset="0"/>
                                      </a:rPr>
                                    </m:ctrlPr>
                                  </m:dPr>
                                  <m:e>
                                    <m:r>
                                      <a:rPr lang="en-US" b="0" i="1" dirty="0" smtClean="0">
                                        <a:solidFill>
                                          <a:schemeClr val="tx1"/>
                                        </a:solidFill>
                                        <a:latin typeface="Cambria Math"/>
                                      </a:rPr>
                                      <m:t>𝐵𝑢𝑦</m:t>
                                    </m:r>
                                  </m:e>
                                  <m:e>
                                    <m:r>
                                      <a:rPr lang="en-US" b="1" i="1" dirty="0" smtClean="0">
                                        <a:solidFill>
                                          <a:schemeClr val="tx1"/>
                                        </a:solidFill>
                                        <a:latin typeface="Cambria Math"/>
                                      </a:rPr>
                                      <m:t>𝑩</m:t>
                                    </m:r>
                                  </m:e>
                                </m:d>
                                <m:r>
                                  <a:rPr lang="en-US" b="0" i="1" dirty="0" smtClean="0">
                                    <a:solidFill>
                                      <a:schemeClr val="tx1"/>
                                    </a:solidFill>
                                    <a:latin typeface="Cambria Math"/>
                                  </a:rPr>
                                  <m:t>=0.4</m:t>
                                </m:r>
                              </m:oMath>
                            </m:oMathPara>
                          </a14:m>
                          <a:endParaRPr lang="en-US" dirty="0">
                            <a:solidFill>
                              <a:schemeClr val="tx1"/>
                            </a:solidFill>
                          </a:endParaRPr>
                        </a:p>
                      </a:txBody>
                      <a:tcPr>
                        <a:solidFill>
                          <a:schemeClr val="bg1"/>
                        </a:solidFill>
                      </a:tcPr>
                    </a:tc>
                    <a:extLst>
                      <a:ext uri="{0D108BD9-81ED-4DB2-BD59-A6C34878D82A}">
                        <a16:rowId xmlns:a16="http://schemas.microsoft.com/office/drawing/2014/main" val="10000"/>
                      </a:ext>
                    </a:extLst>
                  </a:tr>
                  <a:tr h="37084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1" i="1" dirty="0" smtClean="0">
                                    <a:solidFill>
                                      <a:srgbClr val="7030A0"/>
                                    </a:solidFill>
                                    <a:effectLst>
                                      <a:outerShdw blurRad="38100" dist="38100" dir="2700000" algn="tl">
                                        <a:srgbClr val="000000">
                                          <a:alpha val="43137"/>
                                        </a:srgbClr>
                                      </a:outerShdw>
                                    </a:effectLst>
                                    <a:latin typeface="Cambria Math"/>
                                  </a:rPr>
                                  <m:t>𝒎</m:t>
                                </m:r>
                                <m:r>
                                  <a:rPr lang="en-US" i="1" dirty="0">
                                    <a:latin typeface="Cambria Math"/>
                                  </a:rPr>
                                  <m:t>=$</m:t>
                                </m:r>
                                <m:r>
                                  <a:rPr lang="en-US" b="0" i="1" dirty="0" smtClean="0">
                                    <a:latin typeface="Cambria Math"/>
                                  </a:rPr>
                                  <m:t>2.27</m:t>
                                </m:r>
                              </m:oMath>
                            </m:oMathPara>
                          </a14:m>
                          <a:endParaRPr lang="en-US"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b="0" i="1" dirty="0" smtClean="0">
                                    <a:latin typeface="Cambria Math"/>
                                  </a:rPr>
                                  <m:t>𝑃𝑟𝑜𝑏</m:t>
                                </m:r>
                                <m:d>
                                  <m:dPr>
                                    <m:ctrlPr>
                                      <a:rPr lang="en-US" b="0" i="1" dirty="0" smtClean="0">
                                        <a:latin typeface="Cambria Math" panose="02040503050406030204" pitchFamily="18" charset="0"/>
                                      </a:rPr>
                                    </m:ctrlPr>
                                  </m:dPr>
                                  <m:e>
                                    <m:r>
                                      <a:rPr lang="en-US" b="0" i="1" dirty="0" smtClean="0">
                                        <a:latin typeface="Cambria Math"/>
                                      </a:rPr>
                                      <m:t>𝐵𝑢𝑦</m:t>
                                    </m:r>
                                  </m:e>
                                  <m:e>
                                    <m:r>
                                      <a:rPr lang="en-US" b="1" i="1" dirty="0" smtClean="0">
                                        <a:latin typeface="Cambria Math"/>
                                      </a:rPr>
                                      <m:t>𝑹</m:t>
                                    </m:r>
                                  </m:e>
                                </m:d>
                                <m:r>
                                  <a:rPr lang="en-US" b="0" i="1" dirty="0" smtClean="0">
                                    <a:latin typeface="Cambria Math"/>
                                  </a:rPr>
                                  <m:t>=0.8</m:t>
                                </m:r>
                              </m:oMath>
                            </m:oMathPara>
                          </a14:m>
                          <a:endParaRPr lang="en-US" dirty="0"/>
                        </a:p>
                      </a:txBody>
                      <a:tcPr>
                        <a:solidFill>
                          <a:schemeClr val="bg1"/>
                        </a:solidFill>
                      </a:tcPr>
                    </a:tc>
                    <a:extLst>
                      <a:ext uri="{0D108BD9-81ED-4DB2-BD59-A6C34878D82A}">
                        <a16:rowId xmlns:a16="http://schemas.microsoft.com/office/drawing/2014/main" val="10001"/>
                      </a:ext>
                    </a:extLst>
                  </a:tr>
                  <a:tr h="37084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1" i="1" dirty="0" smtClean="0">
                                    <a:solidFill>
                                      <a:srgbClr val="7030A0"/>
                                    </a:solidFill>
                                    <a:effectLst>
                                      <a:outerShdw blurRad="38100" dist="38100" dir="2700000" algn="tl">
                                        <a:srgbClr val="000000">
                                          <a:alpha val="43137"/>
                                        </a:srgbClr>
                                      </a:outerShdw>
                                    </a:effectLst>
                                    <a:latin typeface="Cambria Math"/>
                                  </a:rPr>
                                  <m:t>𝜹</m:t>
                                </m:r>
                                <m:r>
                                  <a:rPr lang="en-US" i="1" dirty="0">
                                    <a:latin typeface="Cambria Math"/>
                                  </a:rPr>
                                  <m:t>=0.</m:t>
                                </m:r>
                                <m:r>
                                  <a:rPr lang="en-US" b="0" i="1" dirty="0" smtClean="0">
                                    <a:latin typeface="Cambria Math"/>
                                  </a:rPr>
                                  <m:t>9</m:t>
                                </m:r>
                                <m:r>
                                  <a:rPr lang="en-US" i="1" dirty="0">
                                    <a:latin typeface="Cambria Math"/>
                                  </a:rPr>
                                  <m:t>5</m:t>
                                </m:r>
                              </m:oMath>
                            </m:oMathPara>
                          </a14:m>
                          <a:endParaRPr lang="en-US" dirty="0"/>
                        </a:p>
                      </a:txBody>
                      <a:tcP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dirty="0" smtClean="0">
                                    <a:latin typeface="Cambria Math"/>
                                  </a:rPr>
                                  <m:t>𝑃𝑟𝑜𝑏</m:t>
                                </m:r>
                                <m:d>
                                  <m:dPr>
                                    <m:ctrlPr>
                                      <a:rPr lang="en-US" b="0" i="1" dirty="0" smtClean="0">
                                        <a:latin typeface="Cambria Math" panose="02040503050406030204" pitchFamily="18" charset="0"/>
                                      </a:rPr>
                                    </m:ctrlPr>
                                  </m:dPr>
                                  <m:e>
                                    <m:r>
                                      <a:rPr lang="en-US" b="0" i="1" dirty="0" smtClean="0">
                                        <a:latin typeface="Cambria Math"/>
                                      </a:rPr>
                                      <m:t>𝐵𝑢𝑦</m:t>
                                    </m:r>
                                  </m:e>
                                  <m:e>
                                    <m:r>
                                      <a:rPr lang="en-US" b="1" i="1" dirty="0" smtClean="0">
                                        <a:latin typeface="Cambria Math"/>
                                      </a:rPr>
                                      <m:t>𝑳</m:t>
                                    </m:r>
                                  </m:e>
                                </m:d>
                                <m:r>
                                  <a:rPr lang="en-US" b="0" i="1" dirty="0" smtClean="0">
                                    <a:latin typeface="Cambria Math"/>
                                  </a:rPr>
                                  <m:t>=0.9</m:t>
                                </m:r>
                              </m:oMath>
                            </m:oMathPara>
                          </a14:m>
                          <a:endParaRPr lang="en-US" dirty="0"/>
                        </a:p>
                      </a:txBody>
                      <a:tcPr>
                        <a:solidFill>
                          <a:schemeClr val="bg1"/>
                        </a:solidFill>
                      </a:tcPr>
                    </a:tc>
                    <a:extLst>
                      <a:ext uri="{0D108BD9-81ED-4DB2-BD59-A6C34878D82A}">
                        <a16:rowId xmlns:a16="http://schemas.microsoft.com/office/drawing/2014/main" val="10002"/>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405314334"/>
                  </p:ext>
                </p:extLst>
              </p:nvPr>
            </p:nvGraphicFramePr>
            <p:xfrm>
              <a:off x="1447800" y="4343400"/>
              <a:ext cx="6096000" cy="111252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endParaRPr lang="en-US"/>
                        </a:p>
                      </a:txBody>
                      <a:tcPr>
                        <a:blipFill>
                          <a:blip r:embed="rId3"/>
                          <a:stretch>
                            <a:fillRect l="-200" t="-1639" r="-100599" b="-211475"/>
                          </a:stretch>
                        </a:blipFill>
                      </a:tcPr>
                    </a:tc>
                    <a:tc>
                      <a:txBody>
                        <a:bodyPr/>
                        <a:lstStyle/>
                        <a:p>
                          <a:endParaRPr lang="en-US"/>
                        </a:p>
                      </a:txBody>
                      <a:tcPr>
                        <a:blipFill>
                          <a:blip r:embed="rId3"/>
                          <a:stretch>
                            <a:fillRect l="-100400" t="-1639" r="-800" b="-211475"/>
                          </a:stretch>
                        </a:blipFill>
                      </a:tcPr>
                    </a:tc>
                    <a:extLst>
                      <a:ext uri="{0D108BD9-81ED-4DB2-BD59-A6C34878D82A}">
                        <a16:rowId xmlns:a16="http://schemas.microsoft.com/office/drawing/2014/main" val="10000"/>
                      </a:ext>
                    </a:extLst>
                  </a:tr>
                  <a:tr h="370840">
                    <a:tc>
                      <a:txBody>
                        <a:bodyPr/>
                        <a:lstStyle/>
                        <a:p>
                          <a:endParaRPr lang="en-US"/>
                        </a:p>
                      </a:txBody>
                      <a:tcPr>
                        <a:blipFill>
                          <a:blip r:embed="rId3"/>
                          <a:stretch>
                            <a:fillRect l="-200" t="-101639" r="-100599" b="-111475"/>
                          </a:stretch>
                        </a:blipFill>
                      </a:tcPr>
                    </a:tc>
                    <a:tc>
                      <a:txBody>
                        <a:bodyPr/>
                        <a:lstStyle/>
                        <a:p>
                          <a:endParaRPr lang="en-US"/>
                        </a:p>
                      </a:txBody>
                      <a:tcPr>
                        <a:blipFill>
                          <a:blip r:embed="rId3"/>
                          <a:stretch>
                            <a:fillRect l="-100400" t="-101639" r="-800" b="-111475"/>
                          </a:stretch>
                        </a:blipFill>
                      </a:tcPr>
                    </a:tc>
                    <a:extLst>
                      <a:ext uri="{0D108BD9-81ED-4DB2-BD59-A6C34878D82A}">
                        <a16:rowId xmlns:a16="http://schemas.microsoft.com/office/drawing/2014/main" val="10001"/>
                      </a:ext>
                    </a:extLst>
                  </a:tr>
                  <a:tr h="370840">
                    <a:tc>
                      <a:txBody>
                        <a:bodyPr/>
                        <a:lstStyle/>
                        <a:p>
                          <a:endParaRPr lang="en-US"/>
                        </a:p>
                      </a:txBody>
                      <a:tcPr>
                        <a:blipFill>
                          <a:blip r:embed="rId3"/>
                          <a:stretch>
                            <a:fillRect l="-200" t="-201639" r="-100599" b="-11475"/>
                          </a:stretch>
                        </a:blipFill>
                      </a:tcPr>
                    </a:tc>
                    <a:tc>
                      <a:txBody>
                        <a:bodyPr/>
                        <a:lstStyle/>
                        <a:p>
                          <a:endParaRPr lang="en-US"/>
                        </a:p>
                      </a:txBody>
                      <a:tcPr>
                        <a:blipFill>
                          <a:blip r:embed="rId3"/>
                          <a:stretch>
                            <a:fillRect l="-100400" t="-201639" r="-800" b="-11475"/>
                          </a:stretch>
                        </a:blipFill>
                      </a:tcPr>
                    </a:tc>
                    <a:extLst>
                      <a:ext uri="{0D108BD9-81ED-4DB2-BD59-A6C34878D82A}">
                        <a16:rowId xmlns:a16="http://schemas.microsoft.com/office/drawing/2014/main" val="10002"/>
                      </a:ext>
                    </a:extLst>
                  </a:tr>
                </a:tbl>
              </a:graphicData>
            </a:graphic>
          </p:graphicFrame>
        </mc:Fallback>
      </mc:AlternateContent>
      <p:sp>
        <p:nvSpPr>
          <p:cNvPr id="6" name="TextBox 5"/>
          <p:cNvSpPr txBox="1"/>
          <p:nvPr/>
        </p:nvSpPr>
        <p:spPr>
          <a:xfrm>
            <a:off x="76200" y="1676400"/>
            <a:ext cx="590226" cy="338554"/>
          </a:xfrm>
          <a:prstGeom prst="rect">
            <a:avLst/>
          </a:prstGeom>
          <a:noFill/>
        </p:spPr>
        <p:txBody>
          <a:bodyPr wrap="none" rtlCol="0">
            <a:spAutoFit/>
          </a:bodyPr>
          <a:lstStyle/>
          <a:p>
            <a:r>
              <a:rPr lang="en-US" sz="800" dirty="0">
                <a:solidFill>
                  <a:schemeClr val="accent2">
                    <a:lumMod val="75000"/>
                  </a:schemeClr>
                </a:solidFill>
              </a:rPr>
              <a:t>First-time</a:t>
            </a:r>
          </a:p>
          <a:p>
            <a:pPr algn="ctr"/>
            <a:r>
              <a:rPr lang="en-US" sz="800" dirty="0">
                <a:solidFill>
                  <a:schemeClr val="accent2">
                    <a:lumMod val="75000"/>
                  </a:schemeClr>
                </a:solidFill>
              </a:rPr>
              <a:t>buyer</a:t>
            </a:r>
          </a:p>
        </p:txBody>
      </p:sp>
      <p:sp>
        <p:nvSpPr>
          <p:cNvPr id="7" name="TextBox 6"/>
          <p:cNvSpPr txBox="1"/>
          <p:nvPr/>
        </p:nvSpPr>
        <p:spPr>
          <a:xfrm>
            <a:off x="173181" y="2373189"/>
            <a:ext cx="468398" cy="338554"/>
          </a:xfrm>
          <a:prstGeom prst="rect">
            <a:avLst/>
          </a:prstGeom>
          <a:noFill/>
        </p:spPr>
        <p:txBody>
          <a:bodyPr wrap="none" rtlCol="0">
            <a:spAutoFit/>
          </a:bodyPr>
          <a:lstStyle/>
          <a:p>
            <a:r>
              <a:rPr lang="en-US" sz="800" dirty="0">
                <a:solidFill>
                  <a:schemeClr val="accent2">
                    <a:lumMod val="75000"/>
                  </a:schemeClr>
                </a:solidFill>
              </a:rPr>
              <a:t>Repeat</a:t>
            </a:r>
          </a:p>
          <a:p>
            <a:pPr algn="ctr"/>
            <a:r>
              <a:rPr lang="en-US" sz="800" dirty="0">
                <a:solidFill>
                  <a:schemeClr val="accent2">
                    <a:lumMod val="75000"/>
                  </a:schemeClr>
                </a:solidFill>
              </a:rPr>
              <a:t>buyer</a:t>
            </a:r>
          </a:p>
        </p:txBody>
      </p:sp>
      <p:sp>
        <p:nvSpPr>
          <p:cNvPr id="8" name="TextBox 7"/>
          <p:cNvSpPr txBox="1"/>
          <p:nvPr/>
        </p:nvSpPr>
        <p:spPr>
          <a:xfrm>
            <a:off x="181613" y="3027532"/>
            <a:ext cx="451534" cy="338554"/>
          </a:xfrm>
          <a:prstGeom prst="rect">
            <a:avLst/>
          </a:prstGeom>
          <a:noFill/>
        </p:spPr>
        <p:txBody>
          <a:bodyPr wrap="none" rtlCol="0">
            <a:spAutoFit/>
          </a:bodyPr>
          <a:lstStyle/>
          <a:p>
            <a:r>
              <a:rPr lang="en-US" sz="800" dirty="0">
                <a:solidFill>
                  <a:schemeClr val="accent2">
                    <a:lumMod val="75000"/>
                  </a:schemeClr>
                </a:solidFill>
              </a:rPr>
              <a:t>Loyal</a:t>
            </a:r>
          </a:p>
          <a:p>
            <a:pPr algn="ctr"/>
            <a:r>
              <a:rPr lang="en-US" sz="800" dirty="0">
                <a:solidFill>
                  <a:schemeClr val="accent2">
                    <a:lumMod val="75000"/>
                  </a:schemeClr>
                </a:solidFill>
              </a:rPr>
              <a:t>buyer</a:t>
            </a:r>
          </a:p>
        </p:txBody>
      </p:sp>
    </p:spTree>
    <p:extLst>
      <p:ext uri="{BB962C8B-B14F-4D97-AF65-F5344CB8AC3E}">
        <p14:creationId xmlns:p14="http://schemas.microsoft.com/office/powerpoint/2010/main" val="7957552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pPr marL="342900" lvl="1" indent="-342900">
                  <a:spcBef>
                    <a:spcPts val="1200"/>
                  </a:spcBef>
                  <a:spcAft>
                    <a:spcPts val="1200"/>
                  </a:spcAft>
                  <a:buClr>
                    <a:schemeClr val="accent2"/>
                  </a:buClr>
                  <a:buSzPct val="60000"/>
                  <a:buFont typeface="Wingdings" panose="05000000000000000000" pitchFamily="2" charset="2"/>
                  <a:buChar char="Ø"/>
                </a:pPr>
                <a14:m>
                  <m:oMath xmlns:m="http://schemas.openxmlformats.org/officeDocument/2006/math">
                    <m:r>
                      <a:rPr lang="en-US" b="1" i="1" dirty="0" smtClean="0">
                        <a:latin typeface="Cambria Math"/>
                      </a:rPr>
                      <m:t>𝑩</m:t>
                    </m:r>
                    <m:r>
                      <a:rPr lang="en-US" i="1" dirty="0">
                        <a:latin typeface="Cambria Math"/>
                      </a:rPr>
                      <m:t> =</m:t>
                    </m:r>
                    <m:r>
                      <a:rPr lang="en-US" b="0" i="1" dirty="0" smtClean="0">
                        <a:latin typeface="Cambria Math"/>
                      </a:rPr>
                      <m:t>0.6</m:t>
                    </m:r>
                    <m:r>
                      <a:rPr lang="en-US" b="0" i="1" dirty="0" smtClean="0">
                        <a:latin typeface="Cambria Math"/>
                        <a:ea typeface="Cambria Math"/>
                      </a:rPr>
                      <m:t>×</m:t>
                    </m:r>
                    <m:d>
                      <m:dPr>
                        <m:ctrlPr>
                          <a:rPr lang="en-US" b="0" i="1" dirty="0" smtClean="0">
                            <a:latin typeface="Cambria Math" panose="02040503050406030204" pitchFamily="18" charset="0"/>
                          </a:rPr>
                        </m:ctrlPr>
                      </m:dPr>
                      <m:e>
                        <m:r>
                          <a:rPr lang="en-US" b="0" i="1" dirty="0" smtClean="0">
                            <a:latin typeface="Cambria Math"/>
                          </a:rPr>
                          <m:t>−$1.31</m:t>
                        </m:r>
                      </m:e>
                    </m:d>
                    <m:r>
                      <a:rPr lang="en-US" b="0" i="1" dirty="0" smtClean="0">
                        <a:latin typeface="Cambria Math" panose="02040503050406030204" pitchFamily="18" charset="0"/>
                      </a:rPr>
                      <m:t> </m:t>
                    </m:r>
                    <m:r>
                      <a:rPr lang="en-US" b="0" i="1" dirty="0" smtClean="0">
                        <a:latin typeface="Cambria Math"/>
                      </a:rPr>
                      <m:t>+</m:t>
                    </m:r>
                    <m:r>
                      <a:rPr lang="en-US" b="0" i="1" dirty="0" smtClean="0">
                        <a:latin typeface="Cambria Math" panose="02040503050406030204" pitchFamily="18" charset="0"/>
                      </a:rPr>
                      <m:t> </m:t>
                    </m:r>
                    <m:r>
                      <a:rPr lang="en-US" b="0" i="1" dirty="0" smtClean="0">
                        <a:latin typeface="Cambria Math"/>
                      </a:rPr>
                      <m:t>0.4</m:t>
                    </m:r>
                    <m:r>
                      <a:rPr lang="en-US" b="0" i="1" dirty="0" smtClean="0">
                        <a:latin typeface="Cambria Math"/>
                        <a:ea typeface="Cambria Math"/>
                      </a:rPr>
                      <m:t>×</m:t>
                    </m:r>
                    <m:r>
                      <a:rPr lang="en-US" b="0" i="1" dirty="0" smtClean="0">
                        <a:latin typeface="Cambria Math"/>
                      </a:rPr>
                      <m:t>($2.</m:t>
                    </m:r>
                    <m:r>
                      <a:rPr lang="en-US" b="0" i="1" dirty="0" smtClean="0">
                        <a:latin typeface="Cambria Math" panose="02040503050406030204" pitchFamily="18" charset="0"/>
                      </a:rPr>
                      <m:t>0</m:t>
                    </m:r>
                    <m:r>
                      <a:rPr lang="en-US" b="0" i="1" dirty="0" smtClean="0">
                        <a:latin typeface="Cambria Math"/>
                      </a:rPr>
                      <m:t>7+0.95</m:t>
                    </m:r>
                    <m:r>
                      <a:rPr lang="en-US" b="1" i="1" dirty="0" smtClean="0">
                        <a:latin typeface="Cambria Math"/>
                      </a:rPr>
                      <m:t>𝑹</m:t>
                    </m:r>
                    <m:r>
                      <a:rPr lang="en-US" b="0" i="1" dirty="0" smtClean="0">
                        <a:latin typeface="Cambria Math"/>
                      </a:rPr>
                      <m:t>)</m:t>
                    </m:r>
                  </m:oMath>
                </a14:m>
                <a:endParaRPr lang="en-US" dirty="0"/>
              </a:p>
              <a:p>
                <a:pPr marL="342900" lvl="1" indent="-342900">
                  <a:spcBef>
                    <a:spcPts val="1200"/>
                  </a:spcBef>
                  <a:spcAft>
                    <a:spcPts val="1200"/>
                  </a:spcAft>
                  <a:buClr>
                    <a:schemeClr val="accent2"/>
                  </a:buClr>
                  <a:buSzPct val="60000"/>
                  <a:buFont typeface="Wingdings" panose="05000000000000000000" pitchFamily="2" charset="2"/>
                  <a:buChar char="Ø"/>
                </a:pPr>
                <a14:m>
                  <m:oMath xmlns:m="http://schemas.openxmlformats.org/officeDocument/2006/math">
                    <m:r>
                      <a:rPr lang="en-US" b="1" i="1" dirty="0" smtClean="0">
                        <a:latin typeface="Cambria Math"/>
                      </a:rPr>
                      <m:t>𝑹</m:t>
                    </m:r>
                    <m:r>
                      <a:rPr lang="en-US" i="1" dirty="0">
                        <a:latin typeface="Cambria Math"/>
                      </a:rPr>
                      <m:t> =</m:t>
                    </m:r>
                    <m:r>
                      <a:rPr lang="en-US" b="0" i="1" dirty="0" smtClean="0">
                        <a:latin typeface="Cambria Math"/>
                      </a:rPr>
                      <m:t>0.2</m:t>
                    </m:r>
                    <m:r>
                      <a:rPr lang="en-US" i="1" dirty="0" smtClean="0">
                        <a:latin typeface="Cambria Math"/>
                        <a:ea typeface="Cambria Math"/>
                      </a:rPr>
                      <m:t>×</m:t>
                    </m:r>
                    <m:d>
                      <m:dPr>
                        <m:ctrlPr>
                          <a:rPr lang="en-US" i="1" dirty="0" smtClean="0">
                            <a:latin typeface="Cambria Math" panose="02040503050406030204" pitchFamily="18" charset="0"/>
                            <a:ea typeface="Cambria Math"/>
                          </a:rPr>
                        </m:ctrlPr>
                      </m:dPr>
                      <m:e>
                        <m:r>
                          <a:rPr lang="en-US" b="0" i="1" dirty="0" smtClean="0">
                            <a:latin typeface="Cambria Math" panose="02040503050406030204" pitchFamily="18" charset="0"/>
                            <a:ea typeface="Cambria Math"/>
                          </a:rPr>
                          <m:t>    </m:t>
                        </m:r>
                        <m:r>
                          <a:rPr lang="en-US" i="1" dirty="0">
                            <a:latin typeface="Cambria Math"/>
                            <a:ea typeface="Cambria Math"/>
                          </a:rPr>
                          <m:t>$0</m:t>
                        </m:r>
                        <m:r>
                          <a:rPr lang="en-US" b="0" i="1" dirty="0" smtClean="0">
                            <a:latin typeface="Cambria Math" panose="02040503050406030204" pitchFamily="18" charset="0"/>
                            <a:ea typeface="Cambria Math"/>
                          </a:rPr>
                          <m:t>      </m:t>
                        </m:r>
                      </m:e>
                    </m:d>
                    <m:r>
                      <a:rPr lang="en-US" b="0" i="1" dirty="0" smtClean="0">
                        <a:latin typeface="Cambria Math" panose="02040503050406030204" pitchFamily="18" charset="0"/>
                        <a:ea typeface="Cambria Math"/>
                      </a:rPr>
                      <m:t> </m:t>
                    </m:r>
                    <m:r>
                      <a:rPr lang="en-US" i="1" dirty="0">
                        <a:latin typeface="Cambria Math"/>
                      </a:rPr>
                      <m:t>+</m:t>
                    </m:r>
                    <m:r>
                      <a:rPr lang="en-US" b="0" i="1" dirty="0" smtClean="0">
                        <a:latin typeface="Cambria Math" panose="02040503050406030204" pitchFamily="18" charset="0"/>
                      </a:rPr>
                      <m:t> </m:t>
                    </m:r>
                    <m:r>
                      <a:rPr lang="en-US" i="1" dirty="0" smtClean="0">
                        <a:latin typeface="Cambria Math"/>
                      </a:rPr>
                      <m:t>0</m:t>
                    </m:r>
                    <m:r>
                      <a:rPr lang="en-US" b="0" i="1" dirty="0" smtClean="0">
                        <a:latin typeface="Cambria Math"/>
                      </a:rPr>
                      <m:t>.8</m:t>
                    </m:r>
                    <m:r>
                      <a:rPr lang="en-US" b="0" i="1" dirty="0" smtClean="0">
                        <a:latin typeface="Cambria Math"/>
                        <a:ea typeface="Cambria Math"/>
                      </a:rPr>
                      <m:t>×</m:t>
                    </m:r>
                    <m:r>
                      <a:rPr lang="en-US" i="1" dirty="0">
                        <a:latin typeface="Cambria Math"/>
                      </a:rPr>
                      <m:t>($2.</m:t>
                    </m:r>
                    <m:r>
                      <a:rPr lang="en-US" b="0" i="1" dirty="0" smtClean="0">
                        <a:latin typeface="Cambria Math" panose="02040503050406030204" pitchFamily="18" charset="0"/>
                      </a:rPr>
                      <m:t>0</m:t>
                    </m:r>
                    <m:r>
                      <a:rPr lang="en-US" i="1" dirty="0">
                        <a:latin typeface="Cambria Math"/>
                      </a:rPr>
                      <m:t>7+0.95</m:t>
                    </m:r>
                    <m:r>
                      <a:rPr lang="en-US" b="1" i="1" dirty="0" smtClean="0">
                        <a:latin typeface="Cambria Math"/>
                      </a:rPr>
                      <m:t>𝑳</m:t>
                    </m:r>
                    <m:r>
                      <a:rPr lang="en-US" i="1" dirty="0">
                        <a:latin typeface="Cambria Math"/>
                      </a:rPr>
                      <m:t>)</m:t>
                    </m:r>
                  </m:oMath>
                </a14:m>
                <a:endParaRPr lang="en-US" dirty="0"/>
              </a:p>
              <a:p>
                <a:pPr marL="342900" lvl="1" indent="-342900">
                  <a:spcBef>
                    <a:spcPts val="1200"/>
                  </a:spcBef>
                  <a:spcAft>
                    <a:spcPts val="1200"/>
                  </a:spcAft>
                  <a:buClr>
                    <a:schemeClr val="accent2"/>
                  </a:buClr>
                  <a:buSzPct val="60000"/>
                  <a:buFont typeface="Wingdings" panose="05000000000000000000" pitchFamily="2" charset="2"/>
                  <a:buChar char="Ø"/>
                </a:pPr>
                <a14:m>
                  <m:oMath xmlns:m="http://schemas.openxmlformats.org/officeDocument/2006/math">
                    <m:r>
                      <a:rPr lang="en-US" b="1" i="1" dirty="0" smtClean="0">
                        <a:latin typeface="Cambria Math"/>
                      </a:rPr>
                      <m:t>𝑳</m:t>
                    </m:r>
                    <m:r>
                      <a:rPr lang="en-US" i="1" dirty="0">
                        <a:latin typeface="Cambria Math"/>
                      </a:rPr>
                      <m:t> =</m:t>
                    </m:r>
                    <m:r>
                      <a:rPr lang="en-US" i="1" dirty="0" smtClean="0">
                        <a:latin typeface="Cambria Math"/>
                      </a:rPr>
                      <m:t>0</m:t>
                    </m:r>
                    <m:r>
                      <a:rPr lang="en-US" b="0" i="1" dirty="0" smtClean="0">
                        <a:latin typeface="Cambria Math"/>
                      </a:rPr>
                      <m:t>.1</m:t>
                    </m:r>
                    <m:r>
                      <a:rPr lang="en-US" b="0" i="1" dirty="0" smtClean="0">
                        <a:latin typeface="Cambria Math"/>
                        <a:ea typeface="Cambria Math"/>
                      </a:rPr>
                      <m:t>×</m:t>
                    </m:r>
                    <m:d>
                      <m:dPr>
                        <m:ctrlPr>
                          <a:rPr lang="en-US" i="1" dirty="0">
                            <a:latin typeface="Cambria Math" panose="02040503050406030204" pitchFamily="18" charset="0"/>
                            <a:ea typeface="Cambria Math"/>
                          </a:rPr>
                        </m:ctrlPr>
                      </m:dPr>
                      <m:e>
                        <m:r>
                          <a:rPr lang="en-US" b="0" i="1" dirty="0" smtClean="0">
                            <a:latin typeface="Cambria Math" panose="02040503050406030204" pitchFamily="18" charset="0"/>
                            <a:ea typeface="Cambria Math"/>
                          </a:rPr>
                          <m:t>     </m:t>
                        </m:r>
                        <m:r>
                          <a:rPr lang="en-US" i="1" dirty="0">
                            <a:latin typeface="Cambria Math"/>
                            <a:ea typeface="Cambria Math"/>
                          </a:rPr>
                          <m:t>$0</m:t>
                        </m:r>
                        <m:r>
                          <a:rPr lang="en-US" b="0" i="1" dirty="0" smtClean="0">
                            <a:latin typeface="Cambria Math" panose="02040503050406030204" pitchFamily="18" charset="0"/>
                            <a:ea typeface="Cambria Math"/>
                          </a:rPr>
                          <m:t>      </m:t>
                        </m:r>
                      </m:e>
                    </m:d>
                    <m:r>
                      <a:rPr lang="en-US" b="0" i="1" dirty="0" smtClean="0">
                        <a:latin typeface="Cambria Math" panose="02040503050406030204" pitchFamily="18" charset="0"/>
                        <a:ea typeface="Cambria Math"/>
                      </a:rPr>
                      <m:t> </m:t>
                    </m:r>
                    <m:r>
                      <a:rPr lang="en-US" i="1" dirty="0">
                        <a:latin typeface="Cambria Math"/>
                      </a:rPr>
                      <m:t>+</m:t>
                    </m:r>
                    <m:r>
                      <a:rPr lang="en-US" b="0" i="1" dirty="0" smtClean="0">
                        <a:latin typeface="Cambria Math" panose="02040503050406030204" pitchFamily="18" charset="0"/>
                      </a:rPr>
                      <m:t> </m:t>
                    </m:r>
                    <m:r>
                      <a:rPr lang="en-US" i="1" dirty="0" smtClean="0">
                        <a:latin typeface="Cambria Math"/>
                      </a:rPr>
                      <m:t>0</m:t>
                    </m:r>
                    <m:r>
                      <a:rPr lang="en-US" b="0" i="1" dirty="0" smtClean="0">
                        <a:latin typeface="Cambria Math"/>
                      </a:rPr>
                      <m:t>.9</m:t>
                    </m:r>
                    <m:r>
                      <a:rPr lang="en-US" b="0" i="1" dirty="0" smtClean="0">
                        <a:latin typeface="Cambria Math"/>
                        <a:ea typeface="Cambria Math"/>
                      </a:rPr>
                      <m:t>×</m:t>
                    </m:r>
                    <m:r>
                      <a:rPr lang="en-US" i="1" dirty="0">
                        <a:latin typeface="Cambria Math"/>
                      </a:rPr>
                      <m:t>($2.</m:t>
                    </m:r>
                    <m:r>
                      <a:rPr lang="en-US" b="0" i="1" dirty="0" smtClean="0">
                        <a:latin typeface="Cambria Math" panose="02040503050406030204" pitchFamily="18" charset="0"/>
                      </a:rPr>
                      <m:t>0</m:t>
                    </m:r>
                    <m:r>
                      <a:rPr lang="en-US" i="1" dirty="0">
                        <a:latin typeface="Cambria Math"/>
                      </a:rPr>
                      <m:t>7+0.95</m:t>
                    </m:r>
                    <m:r>
                      <a:rPr lang="en-US" b="1" i="1" dirty="0" smtClean="0">
                        <a:latin typeface="Cambria Math"/>
                      </a:rPr>
                      <m:t>𝑳</m:t>
                    </m:r>
                    <m:r>
                      <a:rPr lang="en-US" i="1" dirty="0">
                        <a:latin typeface="Cambria Math"/>
                      </a:rPr>
                      <m:t>)</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a:blip r:embed="rId2"/>
                <a:stretch>
                  <a:fillRect l="-15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13</a:t>
            </a:fld>
            <a:endParaRPr lang="en-US"/>
          </a:p>
        </p:txBody>
      </p:sp>
      <p:sp>
        <p:nvSpPr>
          <p:cNvPr id="6" name="Text Box 7"/>
          <p:cNvSpPr txBox="1">
            <a:spLocks noChangeArrowheads="1"/>
          </p:cNvSpPr>
          <p:nvPr/>
        </p:nvSpPr>
        <p:spPr bwMode="auto">
          <a:xfrm>
            <a:off x="1524000" y="4712764"/>
            <a:ext cx="6073780" cy="1505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342900" indent="-342900">
              <a:spcBef>
                <a:spcPts val="600"/>
              </a:spcBef>
              <a:spcAft>
                <a:spcPts val="600"/>
              </a:spcAft>
              <a:buFont typeface="Wingdings" panose="05000000000000000000" pitchFamily="2" charset="2"/>
              <a:buChar char="q"/>
            </a:pPr>
            <a:r>
              <a:rPr lang="en-US" i="1" dirty="0"/>
              <a:t>Can you solve it?  </a:t>
            </a:r>
            <a:r>
              <a:rPr lang="en-US" sz="1600" dirty="0"/>
              <a:t>(you could literally use pencil &amp; paper)</a:t>
            </a:r>
            <a:endParaRPr lang="en-US" dirty="0"/>
          </a:p>
          <a:p>
            <a:pPr marL="342900" indent="-342900">
              <a:spcBef>
                <a:spcPts val="600"/>
              </a:spcBef>
              <a:spcAft>
                <a:spcPts val="600"/>
              </a:spcAft>
              <a:buFont typeface="Wingdings" panose="05000000000000000000" pitchFamily="2" charset="2"/>
              <a:buChar char="q"/>
            </a:pPr>
            <a:r>
              <a:rPr lang="en-US" i="1" dirty="0"/>
              <a:t>Can you interpret the solution?</a:t>
            </a:r>
          </a:p>
          <a:p>
            <a:pPr marL="342900" indent="-342900">
              <a:spcBef>
                <a:spcPts val="600"/>
              </a:spcBef>
              <a:spcAft>
                <a:spcPts val="600"/>
              </a:spcAft>
              <a:buFont typeface="Wingdings" panose="05000000000000000000" pitchFamily="2" charset="2"/>
              <a:buChar char="q"/>
            </a:pPr>
            <a:r>
              <a:rPr lang="en-US" i="1" dirty="0"/>
              <a:t>Let’s ask </a:t>
            </a:r>
            <a:r>
              <a:rPr lang="en-US" i="1" dirty="0" err="1"/>
              <a:t>ChatGPT</a:t>
            </a:r>
            <a:r>
              <a:rPr lang="en-US" i="1" dirty="0"/>
              <a:t>!!!!</a:t>
            </a:r>
          </a:p>
        </p:txBody>
      </p:sp>
      <p:sp>
        <p:nvSpPr>
          <p:cNvPr id="8" name="Title 1"/>
          <p:cNvSpPr>
            <a:spLocks noGrp="1"/>
          </p:cNvSpPr>
          <p:nvPr>
            <p:ph type="title"/>
          </p:nvPr>
        </p:nvSpPr>
        <p:spPr>
          <a:xfrm>
            <a:off x="609600" y="228600"/>
            <a:ext cx="8153400" cy="990600"/>
          </a:xfrm>
        </p:spPr>
        <p:txBody>
          <a:bodyPr>
            <a:normAutofit fontScale="90000"/>
          </a:bodyPr>
          <a:lstStyle/>
          <a:p>
            <a:r>
              <a:rPr lang="en-US" sz="4400" dirty="0"/>
              <a:t>CLV of a Buyer model</a:t>
            </a:r>
            <a:br>
              <a:rPr lang="en-US" sz="4400" dirty="0"/>
            </a:br>
            <a:r>
              <a:rPr lang="en-US" sz="3600" dirty="0"/>
              <a:t>example: Nashua Photo’s 3 buyer types</a:t>
            </a:r>
            <a:endParaRPr lang="en-US" sz="4400" dirty="0"/>
          </a:p>
        </p:txBody>
      </p:sp>
      <p:sp>
        <p:nvSpPr>
          <p:cNvPr id="7" name="TextBox 6"/>
          <p:cNvSpPr txBox="1"/>
          <p:nvPr/>
        </p:nvSpPr>
        <p:spPr>
          <a:xfrm>
            <a:off x="76200" y="1676400"/>
            <a:ext cx="590226" cy="338554"/>
          </a:xfrm>
          <a:prstGeom prst="rect">
            <a:avLst/>
          </a:prstGeom>
          <a:noFill/>
        </p:spPr>
        <p:txBody>
          <a:bodyPr wrap="none" rtlCol="0">
            <a:spAutoFit/>
          </a:bodyPr>
          <a:lstStyle/>
          <a:p>
            <a:r>
              <a:rPr lang="en-US" sz="800" dirty="0">
                <a:solidFill>
                  <a:schemeClr val="accent2">
                    <a:lumMod val="75000"/>
                  </a:schemeClr>
                </a:solidFill>
              </a:rPr>
              <a:t>First-time</a:t>
            </a:r>
          </a:p>
          <a:p>
            <a:pPr algn="ctr"/>
            <a:r>
              <a:rPr lang="en-US" sz="800" dirty="0">
                <a:solidFill>
                  <a:schemeClr val="accent2">
                    <a:lumMod val="75000"/>
                  </a:schemeClr>
                </a:solidFill>
              </a:rPr>
              <a:t>buyer</a:t>
            </a:r>
          </a:p>
        </p:txBody>
      </p:sp>
      <p:sp>
        <p:nvSpPr>
          <p:cNvPr id="9" name="TextBox 8"/>
          <p:cNvSpPr txBox="1"/>
          <p:nvPr/>
        </p:nvSpPr>
        <p:spPr>
          <a:xfrm>
            <a:off x="173181" y="2373189"/>
            <a:ext cx="468398" cy="338554"/>
          </a:xfrm>
          <a:prstGeom prst="rect">
            <a:avLst/>
          </a:prstGeom>
          <a:noFill/>
        </p:spPr>
        <p:txBody>
          <a:bodyPr wrap="none" rtlCol="0">
            <a:spAutoFit/>
          </a:bodyPr>
          <a:lstStyle/>
          <a:p>
            <a:r>
              <a:rPr lang="en-US" sz="800" dirty="0">
                <a:solidFill>
                  <a:schemeClr val="accent2">
                    <a:lumMod val="75000"/>
                  </a:schemeClr>
                </a:solidFill>
              </a:rPr>
              <a:t>Repeat</a:t>
            </a:r>
          </a:p>
          <a:p>
            <a:pPr algn="ctr"/>
            <a:r>
              <a:rPr lang="en-US" sz="800" dirty="0">
                <a:solidFill>
                  <a:schemeClr val="accent2">
                    <a:lumMod val="75000"/>
                  </a:schemeClr>
                </a:solidFill>
              </a:rPr>
              <a:t>buyer</a:t>
            </a:r>
          </a:p>
        </p:txBody>
      </p:sp>
      <p:sp>
        <p:nvSpPr>
          <p:cNvPr id="10" name="TextBox 9"/>
          <p:cNvSpPr txBox="1"/>
          <p:nvPr/>
        </p:nvSpPr>
        <p:spPr>
          <a:xfrm>
            <a:off x="181613" y="3027532"/>
            <a:ext cx="451534" cy="338554"/>
          </a:xfrm>
          <a:prstGeom prst="rect">
            <a:avLst/>
          </a:prstGeom>
          <a:noFill/>
        </p:spPr>
        <p:txBody>
          <a:bodyPr wrap="none" rtlCol="0">
            <a:spAutoFit/>
          </a:bodyPr>
          <a:lstStyle/>
          <a:p>
            <a:r>
              <a:rPr lang="en-US" sz="800" dirty="0">
                <a:solidFill>
                  <a:schemeClr val="accent2">
                    <a:lumMod val="75000"/>
                  </a:schemeClr>
                </a:solidFill>
              </a:rPr>
              <a:t>Loyal</a:t>
            </a:r>
          </a:p>
          <a:p>
            <a:pPr algn="ctr"/>
            <a:r>
              <a:rPr lang="en-US" sz="800" dirty="0">
                <a:solidFill>
                  <a:schemeClr val="accent2">
                    <a:lumMod val="75000"/>
                  </a:schemeClr>
                </a:solidFill>
              </a:rPr>
              <a:t>buyer</a:t>
            </a:r>
          </a:p>
        </p:txBody>
      </p:sp>
      <p:sp>
        <p:nvSpPr>
          <p:cNvPr id="2" name="Rectangle 1"/>
          <p:cNvSpPr/>
          <p:nvPr/>
        </p:nvSpPr>
        <p:spPr>
          <a:xfrm>
            <a:off x="1600200" y="3839722"/>
            <a:ext cx="6172200" cy="461665"/>
          </a:xfrm>
          <a:prstGeom prst="rect">
            <a:avLst/>
          </a:prstGeom>
        </p:spPr>
        <p:txBody>
          <a:bodyPr wrap="square">
            <a:spAutoFit/>
          </a:bodyPr>
          <a:lstStyle/>
          <a:p>
            <a:pPr>
              <a:spcAft>
                <a:spcPts val="1200"/>
              </a:spcAft>
            </a:pPr>
            <a:r>
              <a:rPr lang="en-US" dirty="0">
                <a:solidFill>
                  <a:srgbClr val="0070C0"/>
                </a:solidFill>
              </a:rPr>
              <a:t>3 equations &amp; 3 unknowns: </a:t>
            </a:r>
            <a:r>
              <a:rPr lang="en-US" b="1" i="1" dirty="0"/>
              <a:t>B</a:t>
            </a:r>
            <a:r>
              <a:rPr lang="en-US" dirty="0">
                <a:solidFill>
                  <a:srgbClr val="0070C0"/>
                </a:solidFill>
              </a:rPr>
              <a:t>, </a:t>
            </a:r>
            <a:r>
              <a:rPr lang="en-US" b="1" i="1" dirty="0"/>
              <a:t>R</a:t>
            </a:r>
            <a:r>
              <a:rPr lang="en-US" dirty="0">
                <a:solidFill>
                  <a:srgbClr val="0070C0"/>
                </a:solidFill>
              </a:rPr>
              <a:t> and </a:t>
            </a:r>
            <a:r>
              <a:rPr lang="en-US" b="1" i="1" dirty="0"/>
              <a:t>L</a:t>
            </a:r>
          </a:p>
        </p:txBody>
      </p:sp>
      <p:sp>
        <p:nvSpPr>
          <p:cNvPr id="5" name="Right Arrow 4"/>
          <p:cNvSpPr/>
          <p:nvPr/>
        </p:nvSpPr>
        <p:spPr>
          <a:xfrm>
            <a:off x="864580" y="3848888"/>
            <a:ext cx="659420" cy="4433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57732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14</a:t>
            </a:fld>
            <a:endParaRPr lang="en-US"/>
          </a:p>
        </p:txBody>
      </p:sp>
      <p:sp>
        <p:nvSpPr>
          <p:cNvPr id="8" name="Title 1"/>
          <p:cNvSpPr>
            <a:spLocks noGrp="1"/>
          </p:cNvSpPr>
          <p:nvPr>
            <p:ph type="title"/>
          </p:nvPr>
        </p:nvSpPr>
        <p:spPr>
          <a:xfrm>
            <a:off x="609600" y="228600"/>
            <a:ext cx="8153400" cy="990600"/>
          </a:xfrm>
        </p:spPr>
        <p:txBody>
          <a:bodyPr>
            <a:normAutofit fontScale="90000"/>
          </a:bodyPr>
          <a:lstStyle/>
          <a:p>
            <a:r>
              <a:rPr lang="en-US" sz="4400" dirty="0"/>
              <a:t>CLV of a Buyer model</a:t>
            </a:r>
            <a:br>
              <a:rPr lang="en-US" sz="4400" dirty="0"/>
            </a:br>
            <a:r>
              <a:rPr lang="en-US" sz="3600" dirty="0"/>
              <a:t>example: Nashua Photo’s 3 buyer types</a:t>
            </a:r>
            <a:endParaRPr lang="en-US" sz="4400" dirty="0"/>
          </a:p>
        </p:txBody>
      </p:sp>
      <p:pic>
        <p:nvPicPr>
          <p:cNvPr id="13" name="Picture 12">
            <a:extLst>
              <a:ext uri="{FF2B5EF4-FFF2-40B4-BE49-F238E27FC236}">
                <a16:creationId xmlns:a16="http://schemas.microsoft.com/office/drawing/2014/main" id="{551F1E66-5A83-4964-9E9D-CB58E3E488CF}"/>
              </a:ext>
            </a:extLst>
          </p:cNvPr>
          <p:cNvPicPr>
            <a:picLocks noChangeAspect="1"/>
          </p:cNvPicPr>
          <p:nvPr/>
        </p:nvPicPr>
        <p:blipFill rotWithShape="1">
          <a:blip r:embed="rId2"/>
          <a:srcRect b="57723"/>
          <a:stretch/>
        </p:blipFill>
        <p:spPr>
          <a:xfrm>
            <a:off x="551895" y="1752600"/>
            <a:ext cx="8049748" cy="1905000"/>
          </a:xfrm>
          <a:prstGeom prst="rect">
            <a:avLst/>
          </a:prstGeom>
        </p:spPr>
      </p:pic>
    </p:spTree>
    <p:extLst>
      <p:ext uri="{BB962C8B-B14F-4D97-AF65-F5344CB8AC3E}">
        <p14:creationId xmlns:p14="http://schemas.microsoft.com/office/powerpoint/2010/main" val="8614983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15</a:t>
            </a:fld>
            <a:endParaRPr lang="en-US"/>
          </a:p>
        </p:txBody>
      </p:sp>
      <p:sp>
        <p:nvSpPr>
          <p:cNvPr id="8" name="Title 1"/>
          <p:cNvSpPr>
            <a:spLocks noGrp="1"/>
          </p:cNvSpPr>
          <p:nvPr>
            <p:ph type="title"/>
          </p:nvPr>
        </p:nvSpPr>
        <p:spPr>
          <a:xfrm>
            <a:off x="609600" y="228600"/>
            <a:ext cx="8153400" cy="990600"/>
          </a:xfrm>
        </p:spPr>
        <p:txBody>
          <a:bodyPr>
            <a:normAutofit fontScale="90000"/>
          </a:bodyPr>
          <a:lstStyle/>
          <a:p>
            <a:r>
              <a:rPr lang="en-US" sz="4400" dirty="0"/>
              <a:t>CLV of a Buyer model</a:t>
            </a:r>
            <a:br>
              <a:rPr lang="en-US" sz="4400" dirty="0"/>
            </a:br>
            <a:r>
              <a:rPr lang="en-US" sz="3600" dirty="0"/>
              <a:t>example: Nashua Photo’s 3 buyer types</a:t>
            </a:r>
            <a:endParaRPr lang="en-US" sz="4400" dirty="0"/>
          </a:p>
        </p:txBody>
      </p:sp>
      <p:pic>
        <p:nvPicPr>
          <p:cNvPr id="13" name="Picture 12">
            <a:extLst>
              <a:ext uri="{FF2B5EF4-FFF2-40B4-BE49-F238E27FC236}">
                <a16:creationId xmlns:a16="http://schemas.microsoft.com/office/drawing/2014/main" id="{551F1E66-5A83-4964-9E9D-CB58E3E488CF}"/>
              </a:ext>
            </a:extLst>
          </p:cNvPr>
          <p:cNvPicPr>
            <a:picLocks noChangeAspect="1"/>
          </p:cNvPicPr>
          <p:nvPr/>
        </p:nvPicPr>
        <p:blipFill>
          <a:blip r:embed="rId2"/>
          <a:stretch>
            <a:fillRect/>
          </a:stretch>
        </p:blipFill>
        <p:spPr>
          <a:xfrm>
            <a:off x="551895" y="1752600"/>
            <a:ext cx="8049748" cy="4505954"/>
          </a:xfrm>
          <a:prstGeom prst="rect">
            <a:avLst/>
          </a:prstGeom>
        </p:spPr>
      </p:pic>
      <p:sp>
        <p:nvSpPr>
          <p:cNvPr id="2" name="TextBox 1">
            <a:extLst>
              <a:ext uri="{FF2B5EF4-FFF2-40B4-BE49-F238E27FC236}">
                <a16:creationId xmlns:a16="http://schemas.microsoft.com/office/drawing/2014/main" id="{56E5704B-8F74-4679-A359-5E7BC236C9C7}"/>
              </a:ext>
            </a:extLst>
          </p:cNvPr>
          <p:cNvSpPr txBox="1"/>
          <p:nvPr/>
        </p:nvSpPr>
        <p:spPr>
          <a:xfrm>
            <a:off x="457200" y="6398567"/>
            <a:ext cx="5240987" cy="369332"/>
          </a:xfrm>
          <a:prstGeom prst="rect">
            <a:avLst/>
          </a:prstGeom>
          <a:noFill/>
        </p:spPr>
        <p:txBody>
          <a:bodyPr wrap="none" rtlCol="0">
            <a:spAutoFit/>
          </a:bodyPr>
          <a:lstStyle/>
          <a:p>
            <a:r>
              <a:rPr lang="en-US" sz="1800" dirty="0">
                <a:solidFill>
                  <a:srgbClr val="FF0000"/>
                </a:solidFill>
              </a:rPr>
              <a:t>See Appendix for solution using (i) Excel solver, (ii) R</a:t>
            </a:r>
          </a:p>
        </p:txBody>
      </p:sp>
      <p:sp>
        <p:nvSpPr>
          <p:cNvPr id="3" name="TextBox 2">
            <a:extLst>
              <a:ext uri="{FF2B5EF4-FFF2-40B4-BE49-F238E27FC236}">
                <a16:creationId xmlns:a16="http://schemas.microsoft.com/office/drawing/2014/main" id="{D624D3A4-A7A5-4262-91FF-2A27BA8721CA}"/>
              </a:ext>
            </a:extLst>
          </p:cNvPr>
          <p:cNvSpPr txBox="1"/>
          <p:nvPr/>
        </p:nvSpPr>
        <p:spPr>
          <a:xfrm>
            <a:off x="4114800" y="4267200"/>
            <a:ext cx="3480440" cy="461665"/>
          </a:xfrm>
          <a:prstGeom prst="rect">
            <a:avLst/>
          </a:prstGeom>
          <a:solidFill>
            <a:schemeClr val="accent1"/>
          </a:solidFill>
        </p:spPr>
        <p:txBody>
          <a:bodyPr wrap="none" rtlCol="0">
            <a:spAutoFit/>
          </a:bodyPr>
          <a:lstStyle/>
          <a:p>
            <a:r>
              <a:rPr lang="en-US" dirty="0"/>
              <a:t>Interpret the solution for </a:t>
            </a:r>
            <a:r>
              <a:rPr lang="en-US" b="1" dirty="0">
                <a:effectLst>
                  <a:outerShdw blurRad="38100" dist="38100" dir="2700000" algn="tl">
                    <a:srgbClr val="000000">
                      <a:alpha val="43137"/>
                    </a:srgbClr>
                  </a:outerShdw>
                </a:effectLst>
              </a:rPr>
              <a:t>B</a:t>
            </a:r>
          </a:p>
        </p:txBody>
      </p:sp>
      <p:cxnSp>
        <p:nvCxnSpPr>
          <p:cNvPr id="6" name="Straight Arrow Connector 5">
            <a:extLst>
              <a:ext uri="{FF2B5EF4-FFF2-40B4-BE49-F238E27FC236}">
                <a16:creationId xmlns:a16="http://schemas.microsoft.com/office/drawing/2014/main" id="{B4436379-9341-4F6C-A84C-2F352471FC8B}"/>
              </a:ext>
            </a:extLst>
          </p:cNvPr>
          <p:cNvCxnSpPr/>
          <p:nvPr/>
        </p:nvCxnSpPr>
        <p:spPr>
          <a:xfrm flipH="1" flipV="1">
            <a:off x="1676400" y="4343400"/>
            <a:ext cx="2362200" cy="15240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6760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normAutofit fontScale="85000" lnSpcReduction="20000"/>
          </a:bodyPr>
          <a:lstStyle/>
          <a:p>
            <a:pPr>
              <a:defRPr/>
            </a:pPr>
            <a:fld id="{171C4267-8970-430F-B9B7-EA11299B2778}" type="slidenum">
              <a:rPr lang="en-US" smtClean="0"/>
              <a:pPr>
                <a:defRPr/>
              </a:pPr>
              <a:t>16</a:t>
            </a:fld>
            <a:endParaRPr lang="en-US"/>
          </a:p>
        </p:txBody>
      </p:sp>
      <mc:AlternateContent xmlns:mc="http://schemas.openxmlformats.org/markup-compatibility/2006" xmlns:a14="http://schemas.microsoft.com/office/drawing/2010/main">
        <mc:Choice Requires="a14">
          <p:sp>
            <p:nvSpPr>
              <p:cNvPr id="6" name="TextBox 5"/>
              <p:cNvSpPr txBox="1"/>
              <p:nvPr/>
            </p:nvSpPr>
            <p:spPr>
              <a:xfrm>
                <a:off x="648096" y="1828800"/>
                <a:ext cx="8114904" cy="3025059"/>
              </a:xfrm>
              <a:prstGeom prst="rect">
                <a:avLst/>
              </a:prstGeom>
              <a:noFill/>
            </p:spPr>
            <p:txBody>
              <a:bodyPr wrap="square" rtlCol="0">
                <a:spAutoFit/>
              </a:bodyPr>
              <a:lstStyle/>
              <a:p>
                <a:r>
                  <a:rPr lang="en-US" b="1" i="1" dirty="0">
                    <a:solidFill>
                      <a:srgbClr val="7030A0"/>
                    </a:solidFill>
                  </a:rPr>
                  <a:t>  </a:t>
                </a:r>
                <a:r>
                  <a:rPr lang="en-US" sz="3200" b="1" i="1" dirty="0" err="1">
                    <a:solidFill>
                      <a:srgbClr val="7030A0"/>
                    </a:solidFill>
                  </a:rPr>
                  <a:t>get‘em</a:t>
                </a:r>
                <a:r>
                  <a:rPr lang="en-US" sz="3200" dirty="0">
                    <a:solidFill>
                      <a:srgbClr val="7030A0"/>
                    </a:solidFill>
                  </a:rPr>
                  <a:t> promotion is investment in acquisition of </a:t>
                </a:r>
                <a:r>
                  <a:rPr lang="en-US" sz="3200" b="1" dirty="0">
                    <a:solidFill>
                      <a:srgbClr val="7030A0"/>
                    </a:solidFill>
                  </a:rPr>
                  <a:t>1</a:t>
                </a:r>
                <a:r>
                  <a:rPr lang="en-US" sz="3200" b="1" baseline="30000" dirty="0">
                    <a:solidFill>
                      <a:srgbClr val="7030A0"/>
                    </a:solidFill>
                  </a:rPr>
                  <a:t>st</a:t>
                </a:r>
                <a:r>
                  <a:rPr lang="en-US" sz="3200" b="1" dirty="0">
                    <a:solidFill>
                      <a:srgbClr val="7030A0"/>
                    </a:solidFill>
                  </a:rPr>
                  <a:t>-time Buyers</a:t>
                </a:r>
                <a:r>
                  <a:rPr lang="en-US" sz="3200" dirty="0">
                    <a:solidFill>
                      <a:srgbClr val="7030A0"/>
                    </a:solidFill>
                  </a:rPr>
                  <a:t> (</a:t>
                </a:r>
                <a:r>
                  <a:rPr lang="en-US" sz="3200" b="1" dirty="0">
                    <a:solidFill>
                      <a:srgbClr val="7030A0"/>
                    </a:solidFill>
                  </a:rPr>
                  <a:t>B</a:t>
                </a:r>
                <a:r>
                  <a:rPr lang="en-US" sz="3200" dirty="0">
                    <a:solidFill>
                      <a:srgbClr val="7030A0"/>
                    </a:solidFill>
                  </a:rPr>
                  <a:t>) where </a:t>
                </a:r>
                <a14:m>
                  <m:oMath xmlns:m="http://schemas.openxmlformats.org/officeDocument/2006/math">
                    <m:r>
                      <a:rPr lang="en-US" sz="3200" b="1" i="1" smtClean="0">
                        <a:solidFill>
                          <a:srgbClr val="7030A0"/>
                        </a:solidFill>
                        <a:latin typeface="Cambria Math" panose="02040503050406030204" pitchFamily="18" charset="0"/>
                      </a:rPr>
                      <m:t>𝑪𝑳</m:t>
                    </m:r>
                    <m:sSup>
                      <m:sSupPr>
                        <m:ctrlPr>
                          <a:rPr lang="en-US" sz="3200" b="1" i="1" smtClean="0">
                            <a:solidFill>
                              <a:srgbClr val="7030A0"/>
                            </a:solidFill>
                            <a:latin typeface="Cambria Math" panose="02040503050406030204" pitchFamily="18" charset="0"/>
                          </a:rPr>
                        </m:ctrlPr>
                      </m:sSupPr>
                      <m:e>
                        <m:r>
                          <a:rPr lang="en-US" sz="3200" b="1" i="1" smtClean="0">
                            <a:solidFill>
                              <a:srgbClr val="7030A0"/>
                            </a:solidFill>
                            <a:latin typeface="Cambria Math" panose="02040503050406030204" pitchFamily="18" charset="0"/>
                          </a:rPr>
                          <m:t>𝑽</m:t>
                        </m:r>
                      </m:e>
                      <m:sup>
                        <m:r>
                          <a:rPr lang="en-US" sz="3200" b="1" i="1" smtClean="0">
                            <a:solidFill>
                              <a:srgbClr val="7030A0"/>
                            </a:solidFill>
                            <a:latin typeface="Cambria Math" panose="02040503050406030204" pitchFamily="18" charset="0"/>
                          </a:rPr>
                          <m:t>𝑩</m:t>
                        </m:r>
                      </m:sup>
                    </m:sSup>
                    <m:r>
                      <a:rPr lang="en-US" sz="3200" b="1" i="1" smtClean="0">
                        <a:solidFill>
                          <a:srgbClr val="7030A0"/>
                        </a:solidFill>
                        <a:latin typeface="Cambria Math" panose="02040503050406030204" pitchFamily="18" charset="0"/>
                      </a:rPr>
                      <m:t>=$</m:t>
                    </m:r>
                    <m:r>
                      <a:rPr lang="en-US" sz="3200" b="1" i="1" smtClean="0">
                        <a:solidFill>
                          <a:srgbClr val="7030A0"/>
                        </a:solidFill>
                        <a:latin typeface="Cambria Math" panose="02040503050406030204" pitchFamily="18" charset="0"/>
                      </a:rPr>
                      <m:t>𝟒</m:t>
                    </m:r>
                    <m:r>
                      <a:rPr lang="en-US" sz="3200" b="1" i="1" smtClean="0">
                        <a:solidFill>
                          <a:srgbClr val="7030A0"/>
                        </a:solidFill>
                        <a:latin typeface="Cambria Math" panose="02040503050406030204" pitchFamily="18" charset="0"/>
                      </a:rPr>
                      <m:t>.</m:t>
                    </m:r>
                    <m:r>
                      <a:rPr lang="en-US" sz="3200" b="1" i="1" smtClean="0">
                        <a:solidFill>
                          <a:srgbClr val="7030A0"/>
                        </a:solidFill>
                        <a:latin typeface="Cambria Math" panose="02040503050406030204" pitchFamily="18" charset="0"/>
                      </a:rPr>
                      <m:t>𝟑𝟖</m:t>
                    </m:r>
                  </m:oMath>
                </a14:m>
                <a:endParaRPr lang="en-US" sz="3200" b="1" dirty="0">
                  <a:solidFill>
                    <a:srgbClr val="7030A0"/>
                  </a:solidFill>
                </a:endParaRPr>
              </a:p>
              <a:p>
                <a:endParaRPr lang="en-US" sz="3200" b="1" dirty="0">
                  <a:solidFill>
                    <a:srgbClr val="7030A0"/>
                  </a:solidFill>
                </a:endParaRPr>
              </a:p>
              <a:p>
                <a:pPr marL="342900" indent="-342900">
                  <a:buFont typeface="Arial" panose="020B0604020202020204" pitchFamily="34" charset="0"/>
                  <a:buChar char="•"/>
                </a:pPr>
                <a:r>
                  <a:rPr lang="en-US" sz="2200" dirty="0"/>
                  <a:t>Once again A.I. helped us avoid needing to write code (Yeah!)</a:t>
                </a:r>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r>
                  <a:rPr lang="en-US" sz="2800" b="1" dirty="0">
                    <a:effectLst>
                      <a:outerShdw blurRad="38100" dist="38100" dir="2700000" algn="tl">
                        <a:srgbClr val="000000">
                          <a:alpha val="43137"/>
                        </a:srgbClr>
                      </a:outerShdw>
                    </a:effectLst>
                  </a:rPr>
                  <a:t>But … </a:t>
                </a:r>
                <a:r>
                  <a:rPr lang="en-US" sz="2200" dirty="0"/>
                  <a:t>we needed to instruct it on which problem to solve (i.e., you still needed to tell it what equation to solve)</a:t>
                </a:r>
              </a:p>
            </p:txBody>
          </p:sp>
        </mc:Choice>
        <mc:Fallback xmlns="">
          <p:sp>
            <p:nvSpPr>
              <p:cNvPr id="6" name="TextBox 5"/>
              <p:cNvSpPr txBox="1">
                <a:spLocks noRot="1" noChangeAspect="1" noMove="1" noResize="1" noEditPoints="1" noAdjustHandles="1" noChangeArrowheads="1" noChangeShapeType="1" noTextEdit="1"/>
              </p:cNvSpPr>
              <p:nvPr/>
            </p:nvSpPr>
            <p:spPr>
              <a:xfrm>
                <a:off x="648096" y="1828800"/>
                <a:ext cx="8114904" cy="3025059"/>
              </a:xfrm>
              <a:prstGeom prst="rect">
                <a:avLst/>
              </a:prstGeom>
              <a:blipFill>
                <a:blip r:embed="rId2"/>
                <a:stretch>
                  <a:fillRect l="-1877" t="-2823" b="-3226"/>
                </a:stretch>
              </a:blipFill>
            </p:spPr>
            <p:txBody>
              <a:bodyPr/>
              <a:lstStyle/>
              <a:p>
                <a:r>
                  <a:rPr lang="en-US">
                    <a:noFill/>
                  </a:rPr>
                  <a:t> </a:t>
                </a:r>
              </a:p>
            </p:txBody>
          </p:sp>
        </mc:Fallback>
      </mc:AlternateContent>
      <p:sp>
        <p:nvSpPr>
          <p:cNvPr id="17" name="Title 1"/>
          <p:cNvSpPr>
            <a:spLocks noGrp="1"/>
          </p:cNvSpPr>
          <p:nvPr>
            <p:ph type="title"/>
          </p:nvPr>
        </p:nvSpPr>
        <p:spPr>
          <a:xfrm>
            <a:off x="609600" y="228600"/>
            <a:ext cx="8153400" cy="990600"/>
          </a:xfrm>
        </p:spPr>
        <p:txBody>
          <a:bodyPr>
            <a:normAutofit fontScale="90000"/>
          </a:bodyPr>
          <a:lstStyle/>
          <a:p>
            <a:r>
              <a:rPr lang="en-US" sz="4400" dirty="0"/>
              <a:t>CLV of a Buyer</a:t>
            </a:r>
            <a:br>
              <a:rPr lang="en-US" sz="4400" dirty="0"/>
            </a:br>
            <a:r>
              <a:rPr lang="en-US" sz="3600" dirty="0"/>
              <a:t>example: Nashua Photo’s 3 buyer types</a:t>
            </a:r>
            <a:endParaRPr lang="en-US" sz="4400" dirty="0"/>
          </a:p>
        </p:txBody>
      </p:sp>
      <p:sp>
        <p:nvSpPr>
          <p:cNvPr id="8" name="Right Arrow 7"/>
          <p:cNvSpPr/>
          <p:nvPr/>
        </p:nvSpPr>
        <p:spPr>
          <a:xfrm>
            <a:off x="204213" y="2158214"/>
            <a:ext cx="457200" cy="4668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46F27BD-74E7-4AD4-9D30-652E04390A39}"/>
              </a:ext>
            </a:extLst>
          </p:cNvPr>
          <p:cNvSpPr txBox="1"/>
          <p:nvPr/>
        </p:nvSpPr>
        <p:spPr>
          <a:xfrm>
            <a:off x="201227" y="5974191"/>
            <a:ext cx="6809173" cy="646331"/>
          </a:xfrm>
          <a:prstGeom prst="rect">
            <a:avLst/>
          </a:prstGeom>
          <a:noFill/>
        </p:spPr>
        <p:txBody>
          <a:bodyPr wrap="square" rtlCol="0">
            <a:spAutoFit/>
          </a:bodyPr>
          <a:lstStyle/>
          <a:p>
            <a:r>
              <a:rPr lang="en-US" sz="1800" b="1" dirty="0"/>
              <a:t>Note</a:t>
            </a:r>
            <a:r>
              <a:rPr lang="en-US" sz="1800" dirty="0"/>
              <a:t>: </a:t>
            </a:r>
            <a:r>
              <a:rPr lang="en-US" sz="1800" i="1" dirty="0"/>
              <a:t>R</a:t>
            </a:r>
            <a:r>
              <a:rPr lang="en-US" sz="1800" dirty="0"/>
              <a:t> and </a:t>
            </a:r>
            <a:r>
              <a:rPr lang="en-US" sz="1800" i="1" dirty="0"/>
              <a:t>Excel</a:t>
            </a:r>
            <a:r>
              <a:rPr lang="en-US" sz="1800" dirty="0"/>
              <a:t> solutions will give slightly different results because above I’ve rounded the discount factor to 0.95</a:t>
            </a:r>
          </a:p>
        </p:txBody>
      </p:sp>
    </p:spTree>
    <p:extLst>
      <p:ext uri="{BB962C8B-B14F-4D97-AF65-F5344CB8AC3E}">
        <p14:creationId xmlns:p14="http://schemas.microsoft.com/office/powerpoint/2010/main" val="33467451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ChangeArrowheads="1"/>
          </p:cNvSpPr>
          <p:nvPr>
            <p:ph sz="quarter" idx="1"/>
          </p:nvPr>
        </p:nvSpPr>
        <p:spPr>
          <a:xfrm>
            <a:off x="612775" y="1600200"/>
            <a:ext cx="8153400" cy="4495800"/>
          </a:xfrm>
        </p:spPr>
        <p:txBody>
          <a:bodyPr/>
          <a:lstStyle/>
          <a:p>
            <a:pPr>
              <a:spcAft>
                <a:spcPts val="1200"/>
              </a:spcAft>
              <a:defRPr/>
            </a:pPr>
            <a:r>
              <a:rPr lang="en-US" dirty="0"/>
              <a:t>Which coupons are valuable when positive CLV is added?</a:t>
            </a:r>
          </a:p>
        </p:txBody>
      </p:sp>
      <p:sp>
        <p:nvSpPr>
          <p:cNvPr id="2" name="Slide Number Placeholder 1"/>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17</a:t>
            </a:fld>
            <a:endParaRPr lang="en-US"/>
          </a:p>
        </p:txBody>
      </p:sp>
      <p:graphicFrame>
        <p:nvGraphicFramePr>
          <p:cNvPr id="7" name="Object 6"/>
          <p:cNvGraphicFramePr>
            <a:graphicFrameLocks noChangeAspect="1"/>
          </p:cNvGraphicFramePr>
          <p:nvPr/>
        </p:nvGraphicFramePr>
        <p:xfrm>
          <a:off x="609600" y="2209800"/>
          <a:ext cx="8343900" cy="3416300"/>
        </p:xfrm>
        <a:graphic>
          <a:graphicData uri="http://schemas.openxmlformats.org/presentationml/2006/ole">
            <mc:AlternateContent xmlns:mc="http://schemas.openxmlformats.org/markup-compatibility/2006">
              <mc:Choice xmlns:v="urn:schemas-microsoft-com:vml" Requires="v">
                <p:oleObj spid="_x0000_s39956" name="Worksheet" r:id="rId3" imgW="8343827" imgH="3416220" progId="Excel.Sheet.12">
                  <p:embed/>
                </p:oleObj>
              </mc:Choice>
              <mc:Fallback>
                <p:oleObj name="Worksheet" r:id="rId3" imgW="8343827" imgH="3416220" progId="Excel.Sheet.12">
                  <p:embed/>
                  <p:pic>
                    <p:nvPicPr>
                      <p:cNvPr id="7" name="Object 6"/>
                      <p:cNvPicPr>
                        <a:picLocks noChangeAspect="1" noChangeArrowheads="1"/>
                      </p:cNvPicPr>
                      <p:nvPr/>
                    </p:nvPicPr>
                    <p:blipFill>
                      <a:blip r:embed="rId4"/>
                      <a:srcRect/>
                      <a:stretch>
                        <a:fillRect/>
                      </a:stretch>
                    </p:blipFill>
                    <p:spPr bwMode="auto">
                      <a:xfrm>
                        <a:off x="609600" y="2209800"/>
                        <a:ext cx="83439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TextBox 7"/>
          <p:cNvSpPr txBox="1"/>
          <p:nvPr/>
        </p:nvSpPr>
        <p:spPr>
          <a:xfrm>
            <a:off x="685800" y="5915452"/>
            <a:ext cx="6809236" cy="830997"/>
          </a:xfrm>
          <a:prstGeom prst="rect">
            <a:avLst/>
          </a:prstGeom>
          <a:solidFill>
            <a:srgbClr val="7030A0">
              <a:alpha val="20000"/>
            </a:srgbClr>
          </a:solidFill>
        </p:spPr>
        <p:txBody>
          <a:bodyPr wrap="none" rtlCol="0">
            <a:spAutoFit/>
          </a:bodyPr>
          <a:lstStyle/>
          <a:p>
            <a:r>
              <a:rPr lang="en-US" dirty="0">
                <a:solidFill>
                  <a:srgbClr val="7030A0"/>
                </a:solidFill>
              </a:rPr>
              <a:t>Accounting for CLV, </a:t>
            </a:r>
            <a:r>
              <a:rPr lang="en-US" u="sng" dirty="0">
                <a:solidFill>
                  <a:srgbClr val="7030A0"/>
                </a:solidFill>
              </a:rPr>
              <a:t>103 campaigns with ROMI&gt;0!!!</a:t>
            </a:r>
          </a:p>
          <a:p>
            <a:pPr algn="ctr"/>
            <a:r>
              <a:rPr lang="en-US" dirty="0">
                <a:solidFill>
                  <a:srgbClr val="7030A0"/>
                </a:solidFill>
              </a:rPr>
              <a:t>(over 80% of campaigns!)</a:t>
            </a:r>
          </a:p>
        </p:txBody>
      </p:sp>
      <p:sp>
        <p:nvSpPr>
          <p:cNvPr id="10" name="Rectangle 2"/>
          <p:cNvSpPr>
            <a:spLocks noGrp="1" noChangeArrowheads="1"/>
          </p:cNvSpPr>
          <p:nvPr>
            <p:ph type="title"/>
          </p:nvPr>
        </p:nvSpPr>
        <p:spPr>
          <a:xfrm>
            <a:off x="612775" y="228600"/>
            <a:ext cx="8153400" cy="990600"/>
          </a:xfrm>
        </p:spPr>
        <p:txBody>
          <a:bodyPr>
            <a:normAutofit fontScale="90000"/>
          </a:bodyPr>
          <a:lstStyle/>
          <a:p>
            <a:r>
              <a:rPr lang="en-US" sz="4400" dirty="0"/>
              <a:t>Evaluating Price Promotions with CLV</a:t>
            </a:r>
            <a:br>
              <a:rPr lang="en-US" sz="4400" dirty="0"/>
            </a:br>
            <a:r>
              <a:rPr lang="en-US" sz="3600" dirty="0"/>
              <a:t>Example: Nashua Photo</a:t>
            </a:r>
          </a:p>
        </p:txBody>
      </p:sp>
    </p:spTree>
    <p:extLst>
      <p:ext uri="{BB962C8B-B14F-4D97-AF65-F5344CB8AC3E}">
        <p14:creationId xmlns:p14="http://schemas.microsoft.com/office/powerpoint/2010/main" val="3450836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a:t>Price Promotion &amp; CLV of customer</a:t>
            </a:r>
            <a:br>
              <a:rPr lang="en-US" sz="4400" dirty="0"/>
            </a:br>
            <a:r>
              <a:rPr lang="en-US" sz="3600" dirty="0"/>
              <a:t>Example: Free Unlimited Service at Sprint</a:t>
            </a:r>
          </a:p>
        </p:txBody>
      </p:sp>
      <p:sp>
        <p:nvSpPr>
          <p:cNvPr id="3" name="Content Placeholder 2"/>
          <p:cNvSpPr>
            <a:spLocks noGrp="1"/>
          </p:cNvSpPr>
          <p:nvPr>
            <p:ph sz="quarter" idx="1"/>
          </p:nvPr>
        </p:nvSpPr>
        <p:spPr>
          <a:xfrm>
            <a:off x="612648" y="1600200"/>
            <a:ext cx="8153400" cy="5181600"/>
          </a:xfrm>
        </p:spPr>
        <p:txBody>
          <a:bodyPr>
            <a:normAutofit fontScale="92500" lnSpcReduction="10000"/>
          </a:bodyPr>
          <a:lstStyle/>
          <a:p>
            <a:pPr marL="0" indent="0" algn="ctr">
              <a:buNone/>
            </a:pPr>
            <a:r>
              <a:rPr lang="en-US" sz="2800" dirty="0"/>
              <a:t>“</a:t>
            </a:r>
            <a:r>
              <a:rPr lang="en-US" sz="2800" i="1" dirty="0"/>
              <a:t>Sprint’s Latest Salvo in Wireless Price War: Free, Unlimited Service</a:t>
            </a:r>
            <a:r>
              <a:rPr lang="en-US" dirty="0"/>
              <a:t>”</a:t>
            </a:r>
          </a:p>
          <a:p>
            <a:pPr marL="0" indent="0" algn="r">
              <a:spcBef>
                <a:spcPts val="1200"/>
              </a:spcBef>
              <a:spcAft>
                <a:spcPts val="1200"/>
              </a:spcAft>
              <a:buNone/>
            </a:pPr>
            <a:r>
              <a:rPr lang="en-US" sz="1800" dirty="0"/>
              <a:t>Ryan </a:t>
            </a:r>
            <a:r>
              <a:rPr lang="en-US" sz="1800" dirty="0" err="1"/>
              <a:t>Knutsen</a:t>
            </a:r>
            <a:r>
              <a:rPr lang="en-US" sz="1800" dirty="0"/>
              <a:t>, </a:t>
            </a:r>
            <a:r>
              <a:rPr lang="en-US" sz="1800" i="1" dirty="0"/>
              <a:t>Wall Street Journal</a:t>
            </a:r>
            <a:r>
              <a:rPr lang="en-US" sz="1800" dirty="0"/>
              <a:t>, 6-13-2017</a:t>
            </a:r>
          </a:p>
          <a:p>
            <a:r>
              <a:rPr lang="en-US" dirty="0"/>
              <a:t>One year free service if switch from rival</a:t>
            </a:r>
          </a:p>
          <a:p>
            <a:pPr lvl="1"/>
            <a:r>
              <a:rPr lang="en-US" dirty="0"/>
              <a:t>Unlimited text, data, calling</a:t>
            </a:r>
          </a:p>
          <a:p>
            <a:pPr lvl="1">
              <a:spcAft>
                <a:spcPts val="1200"/>
              </a:spcAft>
            </a:pPr>
            <a:r>
              <a:rPr lang="en-US" b="1" dirty="0"/>
              <a:t>Hidden</a:t>
            </a:r>
            <a:r>
              <a:rPr lang="en-US" dirty="0"/>
              <a:t>: sim card ($2.99), shipping ($10), monthly fees and taxes</a:t>
            </a:r>
          </a:p>
          <a:p>
            <a:r>
              <a:rPr lang="en-US" u="sng" dirty="0"/>
              <a:t>Sprint’s argument</a:t>
            </a:r>
            <a:r>
              <a:rPr lang="en-US" dirty="0"/>
              <a:t>:</a:t>
            </a:r>
          </a:p>
          <a:p>
            <a:pPr lvl="1"/>
            <a:r>
              <a:rPr lang="en-US" dirty="0"/>
              <a:t>Offer only advertised online and sign-up online</a:t>
            </a:r>
          </a:p>
          <a:p>
            <a:pPr lvl="1">
              <a:spcAft>
                <a:spcPts val="1200"/>
              </a:spcAft>
            </a:pPr>
            <a:r>
              <a:rPr lang="en-US" dirty="0"/>
              <a:t>Lower acquisition cost than other forms of advertising</a:t>
            </a:r>
          </a:p>
          <a:p>
            <a:r>
              <a:rPr lang="en-US" u="sng" dirty="0"/>
              <a:t>Concern</a:t>
            </a:r>
            <a:r>
              <a:rPr lang="en-US" dirty="0"/>
              <a:t>: </a:t>
            </a:r>
          </a:p>
          <a:p>
            <a:pPr lvl="1"/>
            <a:r>
              <a:rPr lang="en-US" dirty="0"/>
              <a:t>Targeted at Verizon customers</a:t>
            </a:r>
          </a:p>
          <a:p>
            <a:pPr lvl="1"/>
            <a:r>
              <a:rPr lang="en-US" dirty="0"/>
              <a:t>competitive reaction!</a:t>
            </a:r>
          </a:p>
        </p:txBody>
      </p:sp>
      <p:sp>
        <p:nvSpPr>
          <p:cNvPr id="4" name="Slide Number Placeholder 3"/>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18</a:t>
            </a:fld>
            <a:endParaRPr lang="en-US"/>
          </a:p>
        </p:txBody>
      </p:sp>
      <p:sp>
        <p:nvSpPr>
          <p:cNvPr id="5" name="Oval 4"/>
          <p:cNvSpPr/>
          <p:nvPr/>
        </p:nvSpPr>
        <p:spPr>
          <a:xfrm>
            <a:off x="2153653" y="2909409"/>
            <a:ext cx="533400" cy="533400"/>
          </a:xfrm>
          <a:prstGeom prst="ellipse">
            <a:avLst/>
          </a:prstGeom>
          <a:solidFill>
            <a:srgbClr val="FF0000">
              <a:alpha val="3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a:stCxn id="11" idx="1"/>
          </p:cNvCxnSpPr>
          <p:nvPr/>
        </p:nvCxnSpPr>
        <p:spPr>
          <a:xfrm flipH="1" flipV="1">
            <a:off x="2763255" y="3138010"/>
            <a:ext cx="4592050" cy="7396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H="1">
            <a:off x="6477000" y="3276600"/>
            <a:ext cx="914400" cy="4572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7355305" y="2981143"/>
            <a:ext cx="867545" cy="461665"/>
          </a:xfrm>
          <a:prstGeom prst="rect">
            <a:avLst/>
          </a:prstGeom>
          <a:noFill/>
        </p:spPr>
        <p:txBody>
          <a:bodyPr wrap="none" rtlCol="0">
            <a:spAutoFit/>
          </a:bodyPr>
          <a:lstStyle/>
          <a:p>
            <a:r>
              <a:rPr lang="en-US" dirty="0">
                <a:solidFill>
                  <a:srgbClr val="FF0000"/>
                </a:solidFill>
              </a:rPr>
              <a:t>Free?</a:t>
            </a:r>
          </a:p>
        </p:txBody>
      </p:sp>
    </p:spTree>
    <p:extLst>
      <p:ext uri="{BB962C8B-B14F-4D97-AF65-F5344CB8AC3E}">
        <p14:creationId xmlns:p14="http://schemas.microsoft.com/office/powerpoint/2010/main" val="50247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a:t>CLV Pricing and </a:t>
            </a:r>
            <a:r>
              <a:rPr lang="en-US" sz="4400" b="1" dirty="0">
                <a:effectLst>
                  <a:outerShdw blurRad="38100" dist="38100" dir="2700000" algn="tl">
                    <a:srgbClr val="000000">
                      <a:alpha val="43137"/>
                    </a:srgbClr>
                  </a:outerShdw>
                </a:effectLst>
              </a:rPr>
              <a:t>Marketing for </a:t>
            </a:r>
            <a:r>
              <a:rPr lang="en-US" sz="4400" b="1" u="sng" dirty="0">
                <a:effectLst>
                  <a:outerShdw blurRad="38100" dist="38100" dir="2700000" algn="tl">
                    <a:srgbClr val="000000">
                      <a:alpha val="43137"/>
                    </a:srgbClr>
                  </a:outerShdw>
                </a:effectLst>
              </a:rPr>
              <a:t>Bad</a:t>
            </a:r>
            <a:r>
              <a:rPr lang="en-US" sz="4400" dirty="0"/>
              <a:t>?</a:t>
            </a:r>
            <a:br>
              <a:rPr lang="en-US" sz="4400" b="1" dirty="0"/>
            </a:br>
            <a:r>
              <a:rPr lang="en-US" sz="3600" dirty="0"/>
              <a:t>Example: Free OxyContin &amp;</a:t>
            </a:r>
            <a:r>
              <a:rPr lang="en-US" sz="3600" dirty="0">
                <a:latin typeface="Cooper Black" panose="0208090404030B020404" pitchFamily="18" charset="0"/>
              </a:rPr>
              <a:t> addiction</a:t>
            </a:r>
          </a:p>
        </p:txBody>
      </p:sp>
      <p:sp>
        <p:nvSpPr>
          <p:cNvPr id="3" name="Content Placeholder 2"/>
          <p:cNvSpPr>
            <a:spLocks noGrp="1"/>
          </p:cNvSpPr>
          <p:nvPr>
            <p:ph sz="quarter" idx="1"/>
          </p:nvPr>
        </p:nvSpPr>
        <p:spPr>
          <a:xfrm>
            <a:off x="612648" y="1600200"/>
            <a:ext cx="8153400" cy="5181600"/>
          </a:xfrm>
        </p:spPr>
        <p:txBody>
          <a:bodyPr>
            <a:normAutofit/>
          </a:bodyPr>
          <a:lstStyle/>
          <a:p>
            <a:r>
              <a:rPr lang="en-US" dirty="0"/>
              <a:t>Purdue used a “patient starter coupon program”</a:t>
            </a:r>
          </a:p>
          <a:p>
            <a:pPr lvl="1"/>
            <a:r>
              <a:rPr lang="en-US" dirty="0"/>
              <a:t>Free limited-time subscription for 7 to 30 days</a:t>
            </a:r>
          </a:p>
          <a:p>
            <a:pPr lvl="1"/>
            <a:r>
              <a:rPr lang="en-US" dirty="0"/>
              <a:t>34,000 coupons redeemed nationally in 2001</a:t>
            </a:r>
          </a:p>
        </p:txBody>
      </p:sp>
      <p:sp>
        <p:nvSpPr>
          <p:cNvPr id="4" name="Slide Number Placeholder 3"/>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19</a:t>
            </a:fld>
            <a:endParaRPr lang="en-US"/>
          </a:p>
        </p:txBody>
      </p:sp>
      <p:pic>
        <p:nvPicPr>
          <p:cNvPr id="31746" name="Picture 2" descr="Image result for &quot;oxycontin&quot; &quot;coupon&quot; &quot;free&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3352800"/>
            <a:ext cx="6096000" cy="290285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28600" y="6553200"/>
            <a:ext cx="2754280" cy="215444"/>
          </a:xfrm>
          <a:prstGeom prst="rect">
            <a:avLst/>
          </a:prstGeom>
          <a:noFill/>
        </p:spPr>
        <p:txBody>
          <a:bodyPr wrap="none" rtlCol="0">
            <a:spAutoFit/>
          </a:bodyPr>
          <a:lstStyle/>
          <a:p>
            <a:r>
              <a:rPr lang="en-US" sz="800" dirty="0"/>
              <a:t>See </a:t>
            </a:r>
            <a:r>
              <a:rPr lang="en-US" sz="800" dirty="0">
                <a:hlinkClick r:id="rId3"/>
              </a:rPr>
              <a:t>https://www.ncbi.nlm.nih.gov/pmc/articles/PMC2622774/</a:t>
            </a:r>
            <a:endParaRPr lang="en-US" sz="800" dirty="0"/>
          </a:p>
        </p:txBody>
      </p:sp>
      <p:pic>
        <p:nvPicPr>
          <p:cNvPr id="32772" name="Picture 4" descr="Walter White (Breaking Bad) - Wikipedi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01000" y="4038600"/>
            <a:ext cx="985300" cy="131671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File:Red x.svg - Wikipedia"/>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813548" y="5029200"/>
            <a:ext cx="1219200" cy="121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5762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a:t>CLV Pricing and </a:t>
            </a:r>
            <a:r>
              <a:rPr lang="en-US" sz="4400" b="1" dirty="0">
                <a:effectLst>
                  <a:outerShdw blurRad="38100" dist="38100" dir="2700000" algn="tl">
                    <a:srgbClr val="000000">
                      <a:alpha val="43137"/>
                    </a:srgbClr>
                  </a:outerShdw>
                </a:effectLst>
              </a:rPr>
              <a:t>Marketing for </a:t>
            </a:r>
            <a:r>
              <a:rPr lang="en-US" sz="4400" b="1" u="sng" dirty="0">
                <a:effectLst>
                  <a:outerShdw blurRad="38100" dist="38100" dir="2700000" algn="tl">
                    <a:srgbClr val="000000">
                      <a:alpha val="43137"/>
                    </a:srgbClr>
                  </a:outerShdw>
                </a:effectLst>
              </a:rPr>
              <a:t>Good</a:t>
            </a:r>
            <a:r>
              <a:rPr lang="en-US" sz="4400" b="1" dirty="0">
                <a:effectLst>
                  <a:outerShdw blurRad="38100" dist="38100" dir="2700000" algn="tl">
                    <a:srgbClr val="000000">
                      <a:alpha val="43137"/>
                    </a:srgbClr>
                  </a:outerShdw>
                </a:effectLst>
              </a:rPr>
              <a:t>?</a:t>
            </a:r>
            <a:br>
              <a:rPr lang="en-US" sz="4400" b="1" dirty="0"/>
            </a:br>
            <a:r>
              <a:rPr lang="en-US" sz="3600" dirty="0"/>
              <a:t>Example: Netflix and inattention</a:t>
            </a:r>
          </a:p>
        </p:txBody>
      </p:sp>
      <p:sp>
        <p:nvSpPr>
          <p:cNvPr id="3" name="Content Placeholder 2"/>
          <p:cNvSpPr>
            <a:spLocks noGrp="1"/>
          </p:cNvSpPr>
          <p:nvPr>
            <p:ph sz="quarter" idx="1"/>
          </p:nvPr>
        </p:nvSpPr>
        <p:spPr>
          <a:xfrm>
            <a:off x="612648" y="1600200"/>
            <a:ext cx="8153400" cy="5181600"/>
          </a:xfrm>
        </p:spPr>
        <p:txBody>
          <a:bodyPr>
            <a:normAutofit/>
          </a:bodyPr>
          <a:lstStyle/>
          <a:p>
            <a:pPr marL="0" indent="0">
              <a:buNone/>
            </a:pPr>
            <a:r>
              <a:rPr lang="en-US" b="1" dirty="0"/>
              <a:t>“Netflix’s Plan to Auto-Cancel Subscriptions Is Radically Sane”</a:t>
            </a:r>
          </a:p>
          <a:p>
            <a:pPr marL="0" indent="0" algn="r">
              <a:buNone/>
            </a:pPr>
            <a:r>
              <a:rPr lang="en-US" sz="1600" dirty="0"/>
              <a:t>Brian Barrett, </a:t>
            </a:r>
            <a:r>
              <a:rPr lang="en-US" sz="1600" i="1" dirty="0"/>
              <a:t>Wired</a:t>
            </a:r>
            <a:r>
              <a:rPr lang="en-US" sz="1600" dirty="0"/>
              <a:t>, May 24, 2020</a:t>
            </a:r>
          </a:p>
          <a:p>
            <a:pPr marL="0" indent="0">
              <a:buNone/>
            </a:pPr>
            <a:endParaRPr lang="en-US" dirty="0"/>
          </a:p>
          <a:p>
            <a:pPr marL="0" indent="0">
              <a:buNone/>
            </a:pPr>
            <a:r>
              <a:rPr lang="en-US" sz="2000" i="1" dirty="0"/>
              <a:t>“If you don’t watch anything on Netflix for a year after you join, the company will send you an email asking if you want to keep your membership. You’ll also get a message if you go two years without watching anything on Netflix at any point. If you write back to say, "Yes, please keep charging me for all these seasons of Riverdale I’m ignoring," nothing changes. If you ask to cancel or don’t write back at all, Netflix automatically stops charging you.”</a:t>
            </a:r>
          </a:p>
        </p:txBody>
      </p:sp>
      <p:sp>
        <p:nvSpPr>
          <p:cNvPr id="4" name="Slide Number Placeholder 3"/>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20</a:t>
            </a:fld>
            <a:endParaRPr lang="en-US"/>
          </a:p>
        </p:txBody>
      </p:sp>
      <p:pic>
        <p:nvPicPr>
          <p:cNvPr id="32772" name="Picture 4" descr="Netflix 'Shuffle Play' Feature Randomly Streams Selected Titles - Variet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24200" y="5105400"/>
            <a:ext cx="2032000" cy="1143000"/>
          </a:xfrm>
          <a:prstGeom prst="rect">
            <a:avLst/>
          </a:prstGeom>
          <a:noFill/>
          <a:extLst>
            <a:ext uri="{909E8E84-426E-40DD-AFC4-6F175D3DCCD1}">
              <a14:hiddenFill xmlns:a14="http://schemas.microsoft.com/office/drawing/2010/main">
                <a:solidFill>
                  <a:srgbClr val="FFFFFF"/>
                </a:solidFill>
              </a14:hiddenFill>
            </a:ext>
          </a:extLst>
        </p:spPr>
      </p:pic>
      <p:pic>
        <p:nvPicPr>
          <p:cNvPr id="32770" name="Picture 2" descr="Green tick checkmark vector icon for checkbox marker symbol Green tick checkmark vector icon for checkbox marker symbol check mark stock illustrations"/>
          <p:cNvPicPr>
            <a:picLocks noChangeAspect="1" noChangeArrowheads="1"/>
          </p:cNvPicPr>
          <p:nvPr/>
        </p:nvPicPr>
        <p:blipFill rotWithShape="1">
          <a:blip r:embed="rId3">
            <a:extLst>
              <a:ext uri="{28A0092B-C50C-407E-A947-70E740481C1C}">
                <a14:useLocalDpi xmlns:a14="http://schemas.microsoft.com/office/drawing/2010/main" val="0"/>
              </a:ext>
            </a:extLst>
          </a:blip>
          <a:srcRect l="27451" t="24837" r="28104" b="25490"/>
          <a:stretch/>
        </p:blipFill>
        <p:spPr bwMode="auto">
          <a:xfrm>
            <a:off x="7467600" y="4724400"/>
            <a:ext cx="1159043" cy="12954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0662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1-enhanced.jpeg"/>
          <p:cNvPicPr/>
          <p:nvPr/>
        </p:nvPicPr>
        <p:blipFill>
          <a:blip r:embed="rId2"/>
          <a:srcRect l="5431" r="5431"/>
          <a:stretch>
            <a:fillRect/>
          </a:stretch>
        </p:blipFill>
        <p:spPr>
          <a:xfrm>
            <a:off x="-7074" y="0"/>
            <a:ext cx="9158146" cy="6858000"/>
          </a:xfrm>
          <a:prstGeom prst="rect">
            <a:avLst/>
          </a:prstGeom>
          <a:ln w="12700">
            <a:miter lim="400000"/>
          </a:ln>
        </p:spPr>
      </p:pic>
      <p:sp>
        <p:nvSpPr>
          <p:cNvPr id="6" name="Shape 25"/>
          <p:cNvSpPr/>
          <p:nvPr/>
        </p:nvSpPr>
        <p:spPr>
          <a:xfrm>
            <a:off x="-7145" y="5245101"/>
            <a:ext cx="9158293" cy="629744"/>
          </a:xfrm>
          <a:prstGeom prst="rect">
            <a:avLst/>
          </a:prstGeom>
          <a:solidFill>
            <a:srgbClr val="83B10A">
              <a:alpha val="90000"/>
            </a:srgbClr>
          </a:solidFill>
          <a:ln w="12700">
            <a:miter lim="400000"/>
          </a:ln>
        </p:spPr>
        <p:txBody>
          <a:bodyPr lIns="0" tIns="0" rIns="0" bIns="0" anchor="ctr"/>
          <a:lstStyle/>
          <a:p>
            <a:pPr lvl="0" algn="ctr">
              <a:lnSpc>
                <a:spcPct val="100000"/>
              </a:lnSpc>
              <a:defRPr sz="2400">
                <a:solidFill>
                  <a:srgbClr val="83B10A"/>
                </a:solidFill>
                <a:latin typeface="Arial"/>
                <a:ea typeface="Arial"/>
                <a:cs typeface="Arial"/>
                <a:sym typeface="Arial"/>
              </a:defRPr>
            </a:pPr>
            <a:endParaRPr/>
          </a:p>
        </p:txBody>
      </p:sp>
      <p:pic>
        <p:nvPicPr>
          <p:cNvPr id="7" name="image2.png"/>
          <p:cNvPicPr/>
          <p:nvPr/>
        </p:nvPicPr>
        <p:blipFill>
          <a:blip r:embed="rId3"/>
          <a:stretch>
            <a:fillRect/>
          </a:stretch>
        </p:blipFill>
        <p:spPr>
          <a:xfrm>
            <a:off x="241299" y="5387688"/>
            <a:ext cx="2348352" cy="325582"/>
          </a:xfrm>
          <a:prstGeom prst="rect">
            <a:avLst/>
          </a:prstGeom>
          <a:ln w="12700">
            <a:miter lim="400000"/>
          </a:ln>
        </p:spPr>
      </p:pic>
      <p:sp>
        <p:nvSpPr>
          <p:cNvPr id="2" name="Title 1"/>
          <p:cNvSpPr>
            <a:spLocks noGrp="1"/>
          </p:cNvSpPr>
          <p:nvPr>
            <p:ph type="title"/>
          </p:nvPr>
        </p:nvSpPr>
        <p:spPr>
          <a:xfrm>
            <a:off x="612648" y="228600"/>
            <a:ext cx="8302752" cy="990600"/>
          </a:xfrm>
        </p:spPr>
        <p:txBody>
          <a:bodyPr>
            <a:normAutofit fontScale="90000"/>
          </a:bodyPr>
          <a:lstStyle/>
          <a:p>
            <a:r>
              <a:rPr lang="en-US" sz="4900" dirty="0">
                <a:solidFill>
                  <a:schemeClr val="bg1"/>
                </a:solidFill>
              </a:rPr>
              <a:t>CLV Pricing: </a:t>
            </a:r>
            <a:r>
              <a:rPr lang="en-US" sz="4900" b="1" dirty="0">
                <a:solidFill>
                  <a:schemeClr val="bg1"/>
                </a:solidFill>
                <a:effectLst>
                  <a:outerShdw blurRad="38100" dist="38100" dir="2700000" algn="tl">
                    <a:srgbClr val="000000">
                      <a:alpha val="43137"/>
                    </a:srgbClr>
                  </a:outerShdw>
                </a:effectLst>
              </a:rPr>
              <a:t>acquisition</a:t>
            </a:r>
            <a:r>
              <a:rPr lang="en-US" sz="4900" dirty="0">
                <a:solidFill>
                  <a:schemeClr val="bg1"/>
                </a:solidFill>
              </a:rPr>
              <a:t> &amp; </a:t>
            </a:r>
            <a:r>
              <a:rPr lang="en-US" sz="4900" b="1" dirty="0">
                <a:solidFill>
                  <a:schemeClr val="bg1"/>
                </a:solidFill>
                <a:effectLst>
                  <a:outerShdw blurRad="38100" dist="38100" dir="2700000" algn="tl">
                    <a:srgbClr val="000000">
                      <a:alpha val="43137"/>
                    </a:srgbClr>
                  </a:outerShdw>
                </a:effectLst>
              </a:rPr>
              <a:t>retention</a:t>
            </a:r>
            <a:br>
              <a:rPr lang="en-US" sz="4900" dirty="0">
                <a:solidFill>
                  <a:schemeClr val="bg1"/>
                </a:solidFill>
              </a:rPr>
            </a:br>
            <a:r>
              <a:rPr lang="en-US" sz="3600" dirty="0">
                <a:solidFill>
                  <a:schemeClr val="bg1"/>
                </a:solidFill>
              </a:rPr>
              <a:t>Example: Ziprecruiter.com</a:t>
            </a:r>
            <a:endParaRPr lang="en-US" dirty="0">
              <a:solidFill>
                <a:schemeClr val="bg1"/>
              </a:solidFill>
            </a:endParaRPr>
          </a:p>
        </p:txBody>
      </p:sp>
      <p:sp>
        <p:nvSpPr>
          <p:cNvPr id="3" name="Content Placeholder 2"/>
          <p:cNvSpPr>
            <a:spLocks noGrp="1"/>
          </p:cNvSpPr>
          <p:nvPr>
            <p:ph sz="quarter" idx="1"/>
          </p:nvPr>
        </p:nvSpPr>
        <p:spPr/>
        <p:txBody>
          <a:bodyPr/>
          <a:lstStyle/>
          <a:p>
            <a:pPr>
              <a:spcBef>
                <a:spcPts val="1200"/>
              </a:spcBef>
              <a:spcAft>
                <a:spcPts val="600"/>
              </a:spcAft>
            </a:pPr>
            <a:r>
              <a:rPr lang="en-US" dirty="0">
                <a:solidFill>
                  <a:schemeClr val="bg1"/>
                </a:solidFill>
              </a:rPr>
              <a:t>Recall online recruiting B2B pricing experiment</a:t>
            </a:r>
          </a:p>
          <a:p>
            <a:pPr>
              <a:spcBef>
                <a:spcPts val="1200"/>
              </a:spcBef>
              <a:spcAft>
                <a:spcPts val="600"/>
              </a:spcAft>
            </a:pPr>
            <a:r>
              <a:rPr lang="en-US" dirty="0">
                <a:solidFill>
                  <a:schemeClr val="bg1"/>
                </a:solidFill>
              </a:rPr>
              <a:t>Originally charging $99 per month</a:t>
            </a:r>
          </a:p>
          <a:p>
            <a:pPr>
              <a:spcBef>
                <a:spcPts val="1200"/>
              </a:spcBef>
              <a:spcAft>
                <a:spcPts val="600"/>
              </a:spcAft>
            </a:pPr>
            <a:r>
              <a:rPr lang="en-US" dirty="0">
                <a:solidFill>
                  <a:schemeClr val="bg1"/>
                </a:solidFill>
              </a:rPr>
              <a:t>August 2015, tested 10 randomized price levels</a:t>
            </a:r>
          </a:p>
          <a:p>
            <a:pPr>
              <a:spcBef>
                <a:spcPts val="1200"/>
              </a:spcBef>
              <a:spcAft>
                <a:spcPts val="600"/>
              </a:spcAft>
            </a:pPr>
            <a:r>
              <a:rPr lang="en-US" dirty="0">
                <a:solidFill>
                  <a:schemeClr val="bg1"/>
                </a:solidFill>
              </a:rPr>
              <a:t>Determined $281 </a:t>
            </a:r>
            <a:r>
              <a:rPr lang="en-US" b="1" dirty="0">
                <a:solidFill>
                  <a:schemeClr val="bg1"/>
                </a:solidFill>
              </a:rPr>
              <a:t>optimal</a:t>
            </a:r>
            <a:r>
              <a:rPr lang="en-US" dirty="0">
                <a:solidFill>
                  <a:schemeClr val="bg1"/>
                </a:solidFill>
              </a:rPr>
              <a:t> in short-run</a:t>
            </a:r>
          </a:p>
          <a:p>
            <a:pPr marL="0" indent="0" algn="ctr">
              <a:spcBef>
                <a:spcPts val="1200"/>
              </a:spcBef>
              <a:spcAft>
                <a:spcPts val="600"/>
              </a:spcAft>
              <a:buNone/>
            </a:pPr>
            <a:r>
              <a:rPr lang="en-US" sz="3600" dirty="0">
                <a:solidFill>
                  <a:srgbClr val="FFFF00"/>
                </a:solidFill>
              </a:rPr>
              <a:t>Can $99 be rationalized under CLV?</a:t>
            </a:r>
          </a:p>
        </p:txBody>
      </p:sp>
      <p:sp>
        <p:nvSpPr>
          <p:cNvPr id="11" name="Rectangle 10"/>
          <p:cNvSpPr/>
          <p:nvPr/>
        </p:nvSpPr>
        <p:spPr>
          <a:xfrm>
            <a:off x="590550" y="1279525"/>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2" name="Rectangle 11"/>
          <p:cNvSpPr/>
          <p:nvPr/>
        </p:nvSpPr>
        <p:spPr>
          <a:xfrm>
            <a:off x="0" y="1279525"/>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4" name="Rectangle 13"/>
          <p:cNvSpPr/>
          <p:nvPr/>
        </p:nvSpPr>
        <p:spPr>
          <a:xfrm>
            <a:off x="0" y="1279525"/>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5" name="Slide Number Placeholder 22"/>
          <p:cNvSpPr txBox="1">
            <a:spLocks/>
          </p:cNvSpPr>
          <p:nvPr/>
        </p:nvSpPr>
        <p:spPr>
          <a:xfrm>
            <a:off x="0" y="1271588"/>
            <a:ext cx="533400" cy="244475"/>
          </a:xfrm>
          <a:prstGeom prst="rect">
            <a:avLst/>
          </a:prstGeom>
        </p:spPr>
        <p:txBody>
          <a:bodyPr vert="horz" anchor="ctr" anchorCtr="0">
            <a:normAutofit fontScale="85000" lnSpcReduction="20000"/>
          </a:bodyPr>
          <a:lstStyle>
            <a:defPPr>
              <a:defRPr lang="en-US"/>
            </a:defPPr>
            <a:lvl1pPr algn="ctr" rtl="0" eaLnBrk="1" fontAlgn="base" latinLnBrk="0" hangingPunct="1">
              <a:spcBef>
                <a:spcPct val="0"/>
              </a:spcBef>
              <a:spcAft>
                <a:spcPct val="0"/>
              </a:spcAft>
              <a:defRPr kumimoji="0" sz="1400" b="1" kern="1200">
                <a:solidFill>
                  <a:srgbClr val="FFFFFF"/>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defRPr/>
            </a:pPr>
            <a:fld id="{03344F6F-13B5-4D25-905C-51D49F0CCD0B}" type="slidenum">
              <a:rPr lang="en-US" smtClean="0"/>
              <a:pPr>
                <a:defRPr/>
              </a:pPr>
              <a:t>21</a:t>
            </a:fld>
            <a:endParaRPr lang="en-US" dirty="0"/>
          </a:p>
        </p:txBody>
      </p:sp>
    </p:spTree>
    <p:extLst>
      <p:ext uri="{BB962C8B-B14F-4D97-AF65-F5344CB8AC3E}">
        <p14:creationId xmlns:p14="http://schemas.microsoft.com/office/powerpoint/2010/main" val="10638731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pPr>
              <a:spcBef>
                <a:spcPts val="1200"/>
              </a:spcBef>
              <a:spcAft>
                <a:spcPts val="1200"/>
              </a:spcAft>
            </a:pPr>
            <a:r>
              <a:rPr lang="en-US" dirty="0"/>
              <a:t>What about customer</a:t>
            </a:r>
            <a:r>
              <a:rPr lang="en-US" b="1" dirty="0">
                <a:effectLst>
                  <a:outerShdw blurRad="38100" dist="38100" dir="2700000" algn="tl">
                    <a:srgbClr val="000000">
                      <a:alpha val="43137"/>
                    </a:srgbClr>
                  </a:outerShdw>
                </a:effectLst>
              </a:rPr>
              <a:t> retention</a:t>
            </a:r>
            <a:r>
              <a:rPr lang="en-US" dirty="0"/>
              <a:t>?</a:t>
            </a:r>
          </a:p>
          <a:p>
            <a:pPr lvl="1">
              <a:spcBef>
                <a:spcPts val="1200"/>
              </a:spcBef>
              <a:spcAft>
                <a:spcPts val="1200"/>
              </a:spcAft>
            </a:pPr>
            <a:r>
              <a:rPr lang="en-US" dirty="0"/>
              <a:t>Cash flows from all subsequent months customer survives</a:t>
            </a:r>
          </a:p>
          <a:p>
            <a:pPr lvl="1">
              <a:spcBef>
                <a:spcPts val="1200"/>
              </a:spcBef>
              <a:spcAft>
                <a:spcPts val="1200"/>
              </a:spcAft>
            </a:pPr>
            <a:r>
              <a:rPr lang="en-US" dirty="0"/>
              <a:t>Plausible that retention decreases for higher prices</a:t>
            </a:r>
          </a:p>
          <a:p>
            <a:pPr>
              <a:spcBef>
                <a:spcPts val="1200"/>
              </a:spcBef>
              <a:spcAft>
                <a:spcPts val="1200"/>
              </a:spcAft>
            </a:pPr>
            <a:r>
              <a:rPr lang="en-US" dirty="0"/>
              <a:t>So retention is not a fixed number, it’s a </a:t>
            </a:r>
            <a:r>
              <a:rPr lang="en-US" b="1" dirty="0"/>
              <a:t>function</a:t>
            </a:r>
            <a:r>
              <a:rPr lang="en-US" dirty="0"/>
              <a:t> of price</a:t>
            </a:r>
          </a:p>
        </p:txBody>
      </p:sp>
      <p:sp>
        <p:nvSpPr>
          <p:cNvPr id="4" name="Slide Number Placeholder 3"/>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22</a:t>
            </a:fld>
            <a:endParaRPr lang="en-US"/>
          </a:p>
        </p:txBody>
      </p:sp>
      <p:sp>
        <p:nvSpPr>
          <p:cNvPr id="6" name="Title 1"/>
          <p:cNvSpPr>
            <a:spLocks noGrp="1"/>
          </p:cNvSpPr>
          <p:nvPr>
            <p:ph type="title"/>
          </p:nvPr>
        </p:nvSpPr>
        <p:spPr>
          <a:xfrm>
            <a:off x="612648" y="228600"/>
            <a:ext cx="8153400" cy="990600"/>
          </a:xfrm>
        </p:spPr>
        <p:txBody>
          <a:bodyPr>
            <a:normAutofit fontScale="90000"/>
          </a:bodyPr>
          <a:lstStyle/>
          <a:p>
            <a:r>
              <a:rPr lang="en-US" sz="4400" dirty="0"/>
              <a:t>Pricing and CLV at </a:t>
            </a:r>
            <a:r>
              <a:rPr lang="en-US" sz="4400" dirty="0" err="1"/>
              <a:t>Ziprecruiter</a:t>
            </a:r>
            <a:br>
              <a:rPr lang="en-US" sz="4400" dirty="0"/>
            </a:br>
            <a:r>
              <a:rPr lang="en-US" sz="3600" dirty="0"/>
              <a:t>Pricing &amp; Retention</a:t>
            </a:r>
            <a:endParaRPr lang="en-US" sz="3100" dirty="0"/>
          </a:p>
        </p:txBody>
      </p:sp>
    </p:spTree>
    <p:extLst>
      <p:ext uri="{BB962C8B-B14F-4D97-AF65-F5344CB8AC3E}">
        <p14:creationId xmlns:p14="http://schemas.microsoft.com/office/powerpoint/2010/main" val="6210032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pPr>
                  <a:spcBef>
                    <a:spcPts val="1200"/>
                  </a:spcBef>
                  <a:spcAft>
                    <a:spcPts val="1200"/>
                  </a:spcAft>
                </a:pPr>
                <a:r>
                  <a:rPr lang="en-US" dirty="0"/>
                  <a:t>Immediately after experiment, don’t observe retention rates</a:t>
                </a:r>
              </a:p>
              <a:p>
                <a:pPr>
                  <a:spcBef>
                    <a:spcPts val="1200"/>
                  </a:spcBef>
                  <a:spcAft>
                    <a:spcPts val="1200"/>
                  </a:spcAft>
                </a:pPr>
                <a:r>
                  <a:rPr lang="en-US" dirty="0"/>
                  <a:t>So need an assumption</a:t>
                </a:r>
              </a:p>
              <a:p>
                <a:pPr>
                  <a:spcBef>
                    <a:spcPts val="1200"/>
                  </a:spcBef>
                  <a:spcAft>
                    <a:spcPts val="2400"/>
                  </a:spcAft>
                </a:pPr>
                <a:r>
                  <a:rPr lang="en-US" dirty="0"/>
                  <a:t>For instance, assume at price </a:t>
                </a:r>
                <a14:m>
                  <m:oMath xmlns:m="http://schemas.openxmlformats.org/officeDocument/2006/math">
                    <m:r>
                      <a:rPr lang="en-US" b="1" i="1">
                        <a:latin typeface="Cambria Math" panose="02040503050406030204" pitchFamily="18" charset="0"/>
                      </a:rPr>
                      <m:t>𝒑</m:t>
                    </m:r>
                  </m:oMath>
                </a14:m>
                <a:r>
                  <a:rPr lang="en-US" b="1" dirty="0">
                    <a:latin typeface="Cambria Math"/>
                  </a:rPr>
                  <a:t>:</a:t>
                </a:r>
              </a:p>
              <a:p>
                <a:pPr marL="366713" lvl="1" indent="0">
                  <a:spcBef>
                    <a:spcPts val="1200"/>
                  </a:spcBef>
                  <a:spcAft>
                    <a:spcPts val="1200"/>
                  </a:spcAft>
                  <a:buNone/>
                </a:pPr>
                <a14:m>
                  <m:oMathPara xmlns:m="http://schemas.openxmlformats.org/officeDocument/2006/math">
                    <m:oMathParaPr>
                      <m:jc m:val="center"/>
                    </m:oMathParaPr>
                    <m:oMath xmlns:m="http://schemas.openxmlformats.org/officeDocument/2006/math">
                      <m:r>
                        <a:rPr lang="en-US" sz="2800" i="1" smtClean="0">
                          <a:latin typeface="Cambria Math"/>
                        </a:rPr>
                        <m:t>𝑃</m:t>
                      </m:r>
                      <m:r>
                        <a:rPr lang="en-US" sz="2800" i="1">
                          <a:latin typeface="Cambria Math"/>
                        </a:rPr>
                        <m:t>𝑟𝑜𝑏</m:t>
                      </m:r>
                      <m:d>
                        <m:dPr>
                          <m:ctrlPr>
                            <a:rPr lang="en-US" sz="2800" i="1">
                              <a:latin typeface="Cambria Math" panose="02040503050406030204" pitchFamily="18" charset="0"/>
                            </a:rPr>
                          </m:ctrlPr>
                        </m:dPr>
                        <m:e>
                          <m:r>
                            <a:rPr lang="en-US" sz="2800" i="1">
                              <a:latin typeface="Cambria Math"/>
                            </a:rPr>
                            <m:t>𝑡𝑟𝑖𝑎𝑙</m:t>
                          </m:r>
                          <m:r>
                            <a:rPr lang="en-US" sz="2800" i="1">
                              <a:latin typeface="Cambria Math"/>
                            </a:rPr>
                            <m:t>|</m:t>
                          </m:r>
                          <m:r>
                            <a:rPr lang="en-US" sz="2800" b="1" i="1">
                              <a:latin typeface="Cambria Math"/>
                            </a:rPr>
                            <m:t>𝒑</m:t>
                          </m:r>
                        </m:e>
                      </m:d>
                      <m:r>
                        <a:rPr lang="en-US" sz="2800" i="1">
                          <a:latin typeface="Cambria Math"/>
                        </a:rPr>
                        <m:t>=</m:t>
                      </m:r>
                      <m:r>
                        <a:rPr lang="en-US" sz="2800" i="1">
                          <a:latin typeface="Cambria Math"/>
                        </a:rPr>
                        <m:t>𝑃𝑟𝑜𝑏</m:t>
                      </m:r>
                      <m:r>
                        <a:rPr lang="en-US" sz="2800" i="1">
                          <a:latin typeface="Cambria Math"/>
                        </a:rPr>
                        <m:t> </m:t>
                      </m:r>
                      <m:d>
                        <m:dPr>
                          <m:ctrlPr>
                            <a:rPr lang="en-US" sz="2800" i="1">
                              <a:latin typeface="Cambria Math" panose="02040503050406030204" pitchFamily="18" charset="0"/>
                            </a:rPr>
                          </m:ctrlPr>
                        </m:dPr>
                        <m:e>
                          <m:r>
                            <a:rPr lang="en-US" sz="2800" i="1">
                              <a:latin typeface="Cambria Math"/>
                            </a:rPr>
                            <m:t>𝑟𝑒𝑡</m:t>
                          </m:r>
                          <m:r>
                            <a:rPr lang="en-US" sz="2800" i="1">
                              <a:latin typeface="Cambria Math" panose="02040503050406030204" pitchFamily="18" charset="0"/>
                            </a:rPr>
                            <m:t>𝑒𝑛𝑡𝑖𝑜𝑛</m:t>
                          </m:r>
                        </m:e>
                        <m:e>
                          <m:r>
                            <a:rPr lang="en-US" sz="2800" b="1" i="1">
                              <a:latin typeface="Cambria Math"/>
                            </a:rPr>
                            <m:t>𝒑</m:t>
                          </m:r>
                        </m:e>
                      </m:d>
                    </m:oMath>
                  </m:oMathPara>
                </a14:m>
                <a:endParaRPr lang="en-US" sz="2800" b="1" dirty="0"/>
              </a:p>
              <a:p>
                <a:pPr lvl="1">
                  <a:spcBef>
                    <a:spcPts val="2400"/>
                  </a:spcBef>
                  <a:spcAft>
                    <a:spcPts val="1200"/>
                  </a:spcAft>
                </a:pPr>
                <a:r>
                  <a:rPr lang="en-US" dirty="0"/>
                  <a:t>Monthly discount rate:     </a:t>
                </a:r>
                <a14:m>
                  <m:oMath xmlns:m="http://schemas.openxmlformats.org/officeDocument/2006/math">
                    <m:r>
                      <a:rPr lang="en-US" b="1" i="1" dirty="0" smtClean="0">
                        <a:solidFill>
                          <a:srgbClr val="7030A0"/>
                        </a:solidFill>
                        <a:effectLst>
                          <a:outerShdw blurRad="38100" dist="38100" dir="2700000" algn="tl">
                            <a:srgbClr val="000000">
                              <a:alpha val="43137"/>
                            </a:srgbClr>
                          </a:outerShdw>
                        </a:effectLst>
                        <a:latin typeface="Cambria Math"/>
                      </a:rPr>
                      <m:t>𝒓</m:t>
                    </m:r>
                    <m:r>
                      <a:rPr lang="en-US" i="1" dirty="0" smtClean="0">
                        <a:latin typeface="Cambria Math"/>
                      </a:rPr>
                      <m:t>=0.4%</m:t>
                    </m:r>
                  </m:oMath>
                </a14:m>
                <a:r>
                  <a:rPr lang="en-US" dirty="0"/>
                  <a:t> (i.e., annual rate = 5%)</a:t>
                </a:r>
              </a:p>
              <a:p>
                <a:pPr lvl="1">
                  <a:spcBef>
                    <a:spcPts val="1200"/>
                  </a:spcBef>
                  <a:spcAft>
                    <a:spcPts val="1200"/>
                  </a:spcAft>
                  <a:buSzPct val="90000"/>
                  <a:buBlip>
                    <a:blip r:embed="rId2"/>
                  </a:buBlip>
                </a:pPr>
                <a:r>
                  <a:rPr lang="en-US" dirty="0"/>
                  <a:t>Monthly discount factor: </a:t>
                </a:r>
                <a14:m>
                  <m:oMath xmlns:m="http://schemas.openxmlformats.org/officeDocument/2006/math">
                    <m:r>
                      <a:rPr lang="en-US" b="0" i="0" smtClean="0">
                        <a:latin typeface="Cambria Math" panose="02040503050406030204" pitchFamily="18" charset="0"/>
                      </a:rPr>
                      <m:t> </m:t>
                    </m:r>
                    <m:r>
                      <a:rPr lang="en-US" b="1" i="1" smtClean="0">
                        <a:solidFill>
                          <a:srgbClr val="7030A0"/>
                        </a:solidFill>
                        <a:effectLst>
                          <a:outerShdw blurRad="38100" dist="38100" dir="2700000" algn="tl">
                            <a:srgbClr val="000000">
                              <a:alpha val="43137"/>
                            </a:srgbClr>
                          </a:outerShdw>
                        </a:effectLst>
                        <a:latin typeface="Cambria Math"/>
                      </a:rPr>
                      <m:t>𝜹</m:t>
                    </m:r>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1+</m:t>
                        </m:r>
                        <m:r>
                          <a:rPr lang="en-US" b="1" i="1" smtClean="0">
                            <a:solidFill>
                              <a:srgbClr val="7030A0"/>
                            </a:solidFill>
                            <a:effectLst>
                              <a:outerShdw blurRad="38100" dist="38100" dir="2700000" algn="tl">
                                <a:srgbClr val="000000">
                                  <a:alpha val="43137"/>
                                </a:srgbClr>
                              </a:outerShdw>
                            </a:effectLst>
                            <a:latin typeface="Cambria Math"/>
                          </a:rPr>
                          <m:t>𝒓</m:t>
                        </m:r>
                      </m:den>
                    </m:f>
                    <m:r>
                      <a:rPr lang="en-US" b="0" i="1" smtClean="0">
                        <a:latin typeface="Cambria Math"/>
                      </a:rPr>
                      <m:t>=0.996</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a:blip r:embed="rId3"/>
                <a:stretch>
                  <a:fillRect l="-150" t="-1085" r="-75"/>
                </a:stretch>
              </a:blipFill>
            </p:spPr>
            <p:txBody>
              <a:bodyPr/>
              <a:lstStyle/>
              <a:p>
                <a:r>
                  <a:rPr lang="en-US">
                    <a:noFill/>
                  </a:rPr>
                  <a:t> </a:t>
                </a:r>
              </a:p>
            </p:txBody>
          </p:sp>
        </mc:Fallback>
      </mc:AlternateContent>
      <p:sp>
        <p:nvSpPr>
          <p:cNvPr id="7" name="Slide Number Placeholder 3"/>
          <p:cNvSpPr>
            <a:spLocks noGrp="1"/>
          </p:cNvSpPr>
          <p:nvPr>
            <p:ph type="sldNum" sz="quarter" idx="12"/>
          </p:nvPr>
        </p:nvSpPr>
        <p:spPr>
          <a:xfrm>
            <a:off x="0" y="1271588"/>
            <a:ext cx="533400" cy="244475"/>
          </a:xfrm>
        </p:spPr>
        <p:txBody>
          <a:bodyPr>
            <a:normAutofit fontScale="85000" lnSpcReduction="20000"/>
          </a:bodyPr>
          <a:lstStyle/>
          <a:p>
            <a:pPr>
              <a:defRPr/>
            </a:pPr>
            <a:fld id="{5B184A58-70F9-4372-8361-D0A248C9554D}" type="slidenum">
              <a:rPr lang="en-US" smtClean="0"/>
              <a:pPr>
                <a:defRPr/>
              </a:pPr>
              <a:t>23</a:t>
            </a:fld>
            <a:endParaRPr lang="en-US"/>
          </a:p>
        </p:txBody>
      </p:sp>
      <p:sp>
        <p:nvSpPr>
          <p:cNvPr id="10" name="Title 1"/>
          <p:cNvSpPr>
            <a:spLocks noGrp="1"/>
          </p:cNvSpPr>
          <p:nvPr>
            <p:ph type="title"/>
          </p:nvPr>
        </p:nvSpPr>
        <p:spPr>
          <a:xfrm>
            <a:off x="612648" y="228600"/>
            <a:ext cx="8153400" cy="990600"/>
          </a:xfrm>
        </p:spPr>
        <p:txBody>
          <a:bodyPr>
            <a:normAutofit fontScale="90000"/>
          </a:bodyPr>
          <a:lstStyle/>
          <a:p>
            <a:r>
              <a:rPr lang="en-US" sz="4400" dirty="0"/>
              <a:t>Pricing and CLV at </a:t>
            </a:r>
            <a:r>
              <a:rPr lang="en-US" sz="4400" dirty="0" err="1"/>
              <a:t>Ziprecruiter</a:t>
            </a:r>
            <a:br>
              <a:rPr lang="en-US" sz="4400" dirty="0"/>
            </a:br>
            <a:r>
              <a:rPr lang="en-US" sz="3600" dirty="0"/>
              <a:t>Measuring Retention</a:t>
            </a:r>
            <a:endParaRPr lang="en-US" dirty="0"/>
          </a:p>
        </p:txBody>
      </p:sp>
      <p:sp>
        <p:nvSpPr>
          <p:cNvPr id="2" name="Rectangle 1"/>
          <p:cNvSpPr/>
          <p:nvPr/>
        </p:nvSpPr>
        <p:spPr>
          <a:xfrm>
            <a:off x="276532" y="6307723"/>
            <a:ext cx="5535361" cy="338554"/>
          </a:xfrm>
          <a:prstGeom prst="rect">
            <a:avLst/>
          </a:prstGeom>
        </p:spPr>
        <p:txBody>
          <a:bodyPr wrap="none">
            <a:spAutoFit/>
          </a:bodyPr>
          <a:lstStyle/>
          <a:p>
            <a:r>
              <a:rPr lang="en-US" sz="1600" dirty="0"/>
              <a:t>See Appendix for retroactive analysis using actual retention rates</a:t>
            </a:r>
          </a:p>
        </p:txBody>
      </p:sp>
    </p:spTree>
    <p:extLst>
      <p:ext uri="{BB962C8B-B14F-4D97-AF65-F5344CB8AC3E}">
        <p14:creationId xmlns:p14="http://schemas.microsoft.com/office/powerpoint/2010/main" val="17609872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649237" y="2050213"/>
            <a:ext cx="7848600" cy="2369387"/>
          </a:xfrm>
          <a:prstGeom prst="rect">
            <a:avLst/>
          </a:prstGeom>
          <a:solidFill>
            <a:srgbClr val="FFFF00">
              <a:alpha val="1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612648" y="1600200"/>
                <a:ext cx="8378952" cy="2286000"/>
              </a:xfrm>
            </p:spPr>
            <p:txBody>
              <a:bodyPr>
                <a:normAutofit fontScale="25000" lnSpcReduction="20000"/>
              </a:bodyPr>
              <a:lstStyle/>
              <a:p>
                <a:pPr>
                  <a:spcBef>
                    <a:spcPts val="1200"/>
                  </a:spcBef>
                  <a:spcAft>
                    <a:spcPts val="2400"/>
                  </a:spcAft>
                </a:pPr>
                <a:r>
                  <a:rPr lang="en-US" sz="8000" dirty="0"/>
                  <a:t>Expected Net Present Value of revenues at a given price </a:t>
                </a:r>
                <a:r>
                  <a:rPr lang="en-US" sz="8000" b="1" dirty="0"/>
                  <a:t>p</a:t>
                </a:r>
                <a:r>
                  <a:rPr lang="en-US" sz="8000" dirty="0"/>
                  <a:t>:</a:t>
                </a:r>
              </a:p>
              <a:p>
                <a:pPr marL="0" indent="0">
                  <a:spcBef>
                    <a:spcPts val="1200"/>
                  </a:spcBef>
                  <a:spcAft>
                    <a:spcPts val="1200"/>
                  </a:spcAft>
                  <a:buNone/>
                </a:pPr>
                <a:endParaRPr lang="en-US" sz="2000" b="0" i="1" dirty="0">
                  <a:latin typeface="Cambria Math" panose="02040503050406030204" pitchFamily="18" charset="0"/>
                </a:endParaRPr>
              </a:p>
              <a:p>
                <a:pPr marL="0" indent="0">
                  <a:spcBef>
                    <a:spcPts val="1200"/>
                  </a:spcBef>
                  <a:spcAft>
                    <a:spcPts val="1200"/>
                  </a:spcAft>
                  <a:buNone/>
                </a:pPr>
                <a14:m>
                  <m:oMathPara xmlns:m="http://schemas.openxmlformats.org/officeDocument/2006/math">
                    <m:oMathParaPr>
                      <m:jc m:val="left"/>
                    </m:oMathParaPr>
                    <m:oMath xmlns:m="http://schemas.openxmlformats.org/officeDocument/2006/math">
                      <m:r>
                        <a:rPr lang="en-US" sz="8000" b="0" i="1" smtClean="0">
                          <a:latin typeface="Cambria Math" panose="02040503050406030204" pitchFamily="18" charset="0"/>
                        </a:rPr>
                        <m:t>𝑁𝑃</m:t>
                      </m:r>
                      <m:r>
                        <a:rPr lang="en-US" sz="8000" b="0" i="1" smtClean="0">
                          <a:latin typeface="Cambria Math"/>
                        </a:rPr>
                        <m:t>𝑉</m:t>
                      </m:r>
                      <m:r>
                        <a:rPr lang="en-US" sz="8000" b="0" i="1" smtClean="0">
                          <a:latin typeface="Cambria Math"/>
                        </a:rPr>
                        <m:t>=</m:t>
                      </m:r>
                      <m:r>
                        <a:rPr lang="en-US" sz="8000" b="1" i="1" smtClean="0">
                          <a:latin typeface="Cambria Math"/>
                        </a:rPr>
                        <m:t>𝒑</m:t>
                      </m:r>
                      <m:r>
                        <a:rPr lang="en-US" sz="8000" b="0" i="1" smtClean="0">
                          <a:latin typeface="Cambria Math"/>
                        </a:rPr>
                        <m:t>𝑃𝑟𝑜𝑏</m:t>
                      </m:r>
                      <m:d>
                        <m:dPr>
                          <m:ctrlPr>
                            <a:rPr lang="en-US" sz="8000" b="0" i="1" smtClean="0">
                              <a:latin typeface="Cambria Math" panose="02040503050406030204" pitchFamily="18" charset="0"/>
                            </a:rPr>
                          </m:ctrlPr>
                        </m:dPr>
                        <m:e>
                          <m:r>
                            <a:rPr lang="en-US" sz="8000" b="0" i="1" smtClean="0">
                              <a:latin typeface="Cambria Math"/>
                            </a:rPr>
                            <m:t>𝑏𝑢𝑦</m:t>
                          </m:r>
                          <m:r>
                            <a:rPr lang="en-US" sz="8000" b="0" i="1" smtClean="0">
                              <a:latin typeface="Cambria Math"/>
                            </a:rPr>
                            <m:t>|</m:t>
                          </m:r>
                          <m:r>
                            <a:rPr lang="en-US" sz="8000" b="1" i="1" smtClean="0">
                              <a:latin typeface="Cambria Math"/>
                            </a:rPr>
                            <m:t>𝒑</m:t>
                          </m:r>
                        </m:e>
                      </m:d>
                      <m:r>
                        <a:rPr lang="en-US" sz="8000" b="0" i="1" smtClean="0">
                          <a:latin typeface="Cambria Math"/>
                        </a:rPr>
                        <m:t>+</m:t>
                      </m:r>
                      <m:r>
                        <a:rPr lang="en-US" sz="8000" b="0" i="1" smtClean="0">
                          <a:latin typeface="Cambria Math"/>
                        </a:rPr>
                        <m:t>𝛿</m:t>
                      </m:r>
                      <m:r>
                        <a:rPr lang="en-US" sz="8000" b="1" i="1">
                          <a:latin typeface="Cambria Math"/>
                        </a:rPr>
                        <m:t>𝒑</m:t>
                      </m:r>
                      <m:sSup>
                        <m:sSupPr>
                          <m:ctrlPr>
                            <a:rPr lang="en-US" sz="8000" b="1" i="1" smtClean="0">
                              <a:latin typeface="Cambria Math" panose="02040503050406030204" pitchFamily="18" charset="0"/>
                            </a:rPr>
                          </m:ctrlPr>
                        </m:sSupPr>
                        <m:e>
                          <m:d>
                            <m:dPr>
                              <m:begChr m:val="["/>
                              <m:endChr m:val="]"/>
                              <m:ctrlPr>
                                <a:rPr lang="en-US" sz="8000" b="1" i="1" smtClean="0">
                                  <a:latin typeface="Cambria Math" panose="02040503050406030204" pitchFamily="18" charset="0"/>
                                </a:rPr>
                              </m:ctrlPr>
                            </m:dPr>
                            <m:e>
                              <m:r>
                                <a:rPr lang="en-US" sz="8000" i="1">
                                  <a:latin typeface="Cambria Math"/>
                                </a:rPr>
                                <m:t>𝑃𝑟𝑜𝑏</m:t>
                              </m:r>
                              <m:d>
                                <m:dPr>
                                  <m:ctrlPr>
                                    <a:rPr lang="en-US" sz="8000" i="1">
                                      <a:latin typeface="Cambria Math" panose="02040503050406030204" pitchFamily="18" charset="0"/>
                                    </a:rPr>
                                  </m:ctrlPr>
                                </m:dPr>
                                <m:e>
                                  <m:r>
                                    <a:rPr lang="en-US" sz="8000" i="1">
                                      <a:latin typeface="Cambria Math"/>
                                    </a:rPr>
                                    <m:t>𝑏𝑢𝑦</m:t>
                                  </m:r>
                                  <m:r>
                                    <a:rPr lang="en-US" sz="8000" i="1">
                                      <a:latin typeface="Cambria Math"/>
                                    </a:rPr>
                                    <m:t>|</m:t>
                                  </m:r>
                                  <m:r>
                                    <a:rPr lang="en-US" sz="8000" b="1" i="1">
                                      <a:latin typeface="Cambria Math"/>
                                    </a:rPr>
                                    <m:t>𝒑</m:t>
                                  </m:r>
                                </m:e>
                              </m:d>
                            </m:e>
                          </m:d>
                        </m:e>
                        <m:sup>
                          <m:r>
                            <a:rPr lang="en-US" sz="8000" b="1" i="1" smtClean="0">
                              <a:latin typeface="Cambria Math"/>
                            </a:rPr>
                            <m:t>𝟐</m:t>
                          </m:r>
                        </m:sup>
                      </m:sSup>
                      <m:r>
                        <a:rPr lang="en-US" sz="8000" b="1" i="1" smtClean="0">
                          <a:latin typeface="Cambria Math"/>
                        </a:rPr>
                        <m:t>+</m:t>
                      </m:r>
                      <m:sSup>
                        <m:sSupPr>
                          <m:ctrlPr>
                            <a:rPr lang="en-US" sz="8000" b="1" i="1" smtClean="0">
                              <a:latin typeface="Cambria Math" panose="02040503050406030204" pitchFamily="18" charset="0"/>
                            </a:rPr>
                          </m:ctrlPr>
                        </m:sSupPr>
                        <m:e>
                          <m:r>
                            <a:rPr lang="en-US" sz="8000" i="1">
                              <a:latin typeface="Cambria Math"/>
                            </a:rPr>
                            <m:t>𝛿</m:t>
                          </m:r>
                        </m:e>
                        <m:sup>
                          <m:r>
                            <a:rPr lang="en-US" sz="8000" b="1" i="1" smtClean="0">
                              <a:latin typeface="Cambria Math"/>
                            </a:rPr>
                            <m:t>𝟐</m:t>
                          </m:r>
                        </m:sup>
                      </m:sSup>
                      <m:r>
                        <a:rPr lang="en-US" sz="8000" b="1" i="1">
                          <a:latin typeface="Cambria Math"/>
                        </a:rPr>
                        <m:t>𝒑</m:t>
                      </m:r>
                      <m:sSup>
                        <m:sSupPr>
                          <m:ctrlPr>
                            <a:rPr lang="en-US" sz="8000" b="1" i="1">
                              <a:latin typeface="Cambria Math" panose="02040503050406030204" pitchFamily="18" charset="0"/>
                            </a:rPr>
                          </m:ctrlPr>
                        </m:sSupPr>
                        <m:e>
                          <m:d>
                            <m:dPr>
                              <m:begChr m:val="["/>
                              <m:endChr m:val="]"/>
                              <m:ctrlPr>
                                <a:rPr lang="en-US" sz="8000" b="1" i="1">
                                  <a:latin typeface="Cambria Math" panose="02040503050406030204" pitchFamily="18" charset="0"/>
                                </a:rPr>
                              </m:ctrlPr>
                            </m:dPr>
                            <m:e>
                              <m:r>
                                <a:rPr lang="en-US" sz="8000" i="1">
                                  <a:latin typeface="Cambria Math"/>
                                </a:rPr>
                                <m:t>𝑃𝑟𝑜𝑏</m:t>
                              </m:r>
                              <m:d>
                                <m:dPr>
                                  <m:ctrlPr>
                                    <a:rPr lang="en-US" sz="8000" i="1">
                                      <a:latin typeface="Cambria Math" panose="02040503050406030204" pitchFamily="18" charset="0"/>
                                    </a:rPr>
                                  </m:ctrlPr>
                                </m:dPr>
                                <m:e>
                                  <m:r>
                                    <a:rPr lang="en-US" sz="8000" i="1">
                                      <a:latin typeface="Cambria Math"/>
                                    </a:rPr>
                                    <m:t>𝑏𝑢𝑦</m:t>
                                  </m:r>
                                  <m:r>
                                    <a:rPr lang="en-US" sz="8000" i="1">
                                      <a:latin typeface="Cambria Math"/>
                                    </a:rPr>
                                    <m:t>|</m:t>
                                  </m:r>
                                  <m:r>
                                    <a:rPr lang="en-US" sz="8000" b="1" i="1">
                                      <a:latin typeface="Cambria Math"/>
                                    </a:rPr>
                                    <m:t>𝒑</m:t>
                                  </m:r>
                                </m:e>
                              </m:d>
                            </m:e>
                          </m:d>
                        </m:e>
                        <m:sup>
                          <m:r>
                            <a:rPr lang="en-US" sz="8000" b="1" i="1" smtClean="0">
                              <a:latin typeface="Cambria Math"/>
                            </a:rPr>
                            <m:t>𝟑</m:t>
                          </m:r>
                        </m:sup>
                      </m:sSup>
                      <m:r>
                        <a:rPr lang="en-US" sz="8000" b="1" i="1" smtClean="0">
                          <a:latin typeface="Cambria Math"/>
                        </a:rPr>
                        <m:t>+…</m:t>
                      </m:r>
                    </m:oMath>
                  </m:oMathPara>
                </a14:m>
                <a:endParaRPr lang="en-US" sz="8000" i="1" dirty="0">
                  <a:latin typeface="Cambria Math"/>
                </a:endParaRPr>
              </a:p>
              <a:p>
                <a:pPr marL="0" indent="0">
                  <a:spcBef>
                    <a:spcPts val="1200"/>
                  </a:spcBef>
                  <a:spcAft>
                    <a:spcPts val="1200"/>
                  </a:spcAft>
                  <a:buNone/>
                </a:pPr>
                <a:endParaRPr lang="en-US" sz="8000" b="0" i="1" dirty="0">
                  <a:latin typeface="Cambria Math" panose="02040503050406030204" pitchFamily="18" charset="0"/>
                </a:endParaRPr>
              </a:p>
              <a:p>
                <a:pPr marL="0" indent="0">
                  <a:spcBef>
                    <a:spcPts val="1200"/>
                  </a:spcBef>
                  <a:spcAft>
                    <a:spcPts val="1200"/>
                  </a:spcAft>
                  <a:buNone/>
                </a:pPr>
                <a14:m>
                  <m:oMathPara xmlns:m="http://schemas.openxmlformats.org/officeDocument/2006/math">
                    <m:oMathParaPr>
                      <m:jc m:val="left"/>
                    </m:oMathParaPr>
                    <m:oMath xmlns:m="http://schemas.openxmlformats.org/officeDocument/2006/math">
                      <m:r>
                        <a:rPr lang="en-US" sz="8000" b="0" i="1" smtClean="0">
                          <a:latin typeface="Cambria Math" panose="02040503050406030204" pitchFamily="18" charset="0"/>
                        </a:rPr>
                        <m:t>          = </m:t>
                      </m:r>
                      <m:f>
                        <m:fPr>
                          <m:ctrlPr>
                            <a:rPr lang="en-US" sz="8000" b="1" i="1" smtClean="0">
                              <a:latin typeface="Cambria Math" panose="02040503050406030204" pitchFamily="18" charset="0"/>
                            </a:rPr>
                          </m:ctrlPr>
                        </m:fPr>
                        <m:num>
                          <m:r>
                            <a:rPr lang="en-US" sz="8000" b="1" i="1" smtClean="0">
                              <a:latin typeface="Cambria Math"/>
                            </a:rPr>
                            <m:t>𝟏</m:t>
                          </m:r>
                        </m:num>
                        <m:den>
                          <m:r>
                            <a:rPr lang="en-US" sz="8000" b="1" i="1" smtClean="0">
                              <a:latin typeface="Cambria Math"/>
                            </a:rPr>
                            <m:t>𝟏</m:t>
                          </m:r>
                          <m:r>
                            <a:rPr lang="en-US" sz="8000" b="1" i="1" smtClean="0">
                              <a:latin typeface="Cambria Math"/>
                            </a:rPr>
                            <m:t>−</m:t>
                          </m:r>
                          <m:r>
                            <a:rPr lang="en-US" sz="8000" b="1" i="1" smtClean="0">
                              <a:latin typeface="Cambria Math"/>
                            </a:rPr>
                            <m:t>𝜹</m:t>
                          </m:r>
                          <m:r>
                            <a:rPr lang="en-US" sz="8000" i="1">
                              <a:latin typeface="Cambria Math"/>
                            </a:rPr>
                            <m:t>𝑃𝑟𝑜𝑏</m:t>
                          </m:r>
                          <m:d>
                            <m:dPr>
                              <m:ctrlPr>
                                <a:rPr lang="en-US" sz="8000" i="1">
                                  <a:latin typeface="Cambria Math" panose="02040503050406030204" pitchFamily="18" charset="0"/>
                                </a:rPr>
                              </m:ctrlPr>
                            </m:dPr>
                            <m:e>
                              <m:r>
                                <a:rPr lang="en-US" sz="8000" i="1">
                                  <a:latin typeface="Cambria Math"/>
                                </a:rPr>
                                <m:t>𝑏𝑢𝑦</m:t>
                              </m:r>
                              <m:r>
                                <a:rPr lang="en-US" sz="8000" i="1">
                                  <a:latin typeface="Cambria Math"/>
                                </a:rPr>
                                <m:t>|</m:t>
                              </m:r>
                              <m:r>
                                <a:rPr lang="en-US" sz="8000" b="1" i="1">
                                  <a:latin typeface="Cambria Math"/>
                                </a:rPr>
                                <m:t>𝒑</m:t>
                              </m:r>
                            </m:e>
                          </m:d>
                        </m:den>
                      </m:f>
                      <m:r>
                        <a:rPr lang="en-US" sz="8000" b="1" i="1">
                          <a:latin typeface="Cambria Math"/>
                        </a:rPr>
                        <m:t>𝒑</m:t>
                      </m:r>
                      <m:r>
                        <a:rPr lang="en-US" sz="8000" i="1">
                          <a:latin typeface="Cambria Math"/>
                        </a:rPr>
                        <m:t>𝑃𝑟𝑜𝑏</m:t>
                      </m:r>
                      <m:d>
                        <m:dPr>
                          <m:ctrlPr>
                            <a:rPr lang="en-US" sz="8000" i="1">
                              <a:latin typeface="Cambria Math" panose="02040503050406030204" pitchFamily="18" charset="0"/>
                            </a:rPr>
                          </m:ctrlPr>
                        </m:dPr>
                        <m:e>
                          <m:r>
                            <a:rPr lang="en-US" sz="8000" i="1">
                              <a:latin typeface="Cambria Math"/>
                            </a:rPr>
                            <m:t>𝑏𝑢𝑦</m:t>
                          </m:r>
                          <m:r>
                            <a:rPr lang="en-US" sz="8000" i="1">
                              <a:latin typeface="Cambria Math"/>
                            </a:rPr>
                            <m:t>|</m:t>
                          </m:r>
                          <m:r>
                            <a:rPr lang="en-US" sz="8000" b="1" i="1">
                              <a:latin typeface="Cambria Math"/>
                            </a:rPr>
                            <m:t>𝒑</m:t>
                          </m:r>
                        </m:e>
                      </m:d>
                      <m:r>
                        <a:rPr lang="en-US" sz="8000" b="0" i="1" smtClean="0">
                          <a:latin typeface="Cambria Math"/>
                        </a:rPr>
                        <m:t>                                                 </m:t>
                      </m:r>
                    </m:oMath>
                  </m:oMathPara>
                </a14:m>
                <a:endParaRPr lang="en-US" sz="16000"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612648" y="1600200"/>
                <a:ext cx="8378952" cy="2286000"/>
              </a:xfrm>
              <a:blipFill>
                <a:blip r:embed="rId2"/>
                <a:stretch>
                  <a:fillRect t="-4000" b="-13600"/>
                </a:stretch>
              </a:blipFill>
            </p:spPr>
            <p:txBody>
              <a:bodyPr/>
              <a:lstStyle/>
              <a:p>
                <a:r>
                  <a:rPr lang="en-US">
                    <a:noFill/>
                  </a:rPr>
                  <a:t> </a:t>
                </a:r>
              </a:p>
            </p:txBody>
          </p:sp>
        </mc:Fallback>
      </mc:AlternateContent>
      <p:sp>
        <p:nvSpPr>
          <p:cNvPr id="11" name="Slide Number Placeholder 3"/>
          <p:cNvSpPr>
            <a:spLocks noGrp="1"/>
          </p:cNvSpPr>
          <p:nvPr>
            <p:ph type="sldNum" sz="quarter" idx="12"/>
          </p:nvPr>
        </p:nvSpPr>
        <p:spPr>
          <a:xfrm>
            <a:off x="0" y="1271588"/>
            <a:ext cx="533400" cy="244475"/>
          </a:xfrm>
        </p:spPr>
        <p:txBody>
          <a:bodyPr>
            <a:normAutofit fontScale="85000" lnSpcReduction="20000"/>
          </a:bodyPr>
          <a:lstStyle/>
          <a:p>
            <a:pPr>
              <a:defRPr/>
            </a:pPr>
            <a:fld id="{5B184A58-70F9-4372-8361-D0A248C9554D}" type="slidenum">
              <a:rPr lang="en-US" smtClean="0"/>
              <a:pPr>
                <a:defRPr/>
              </a:pPr>
              <a:t>24</a:t>
            </a:fld>
            <a:endParaRPr lang="en-US"/>
          </a:p>
        </p:txBody>
      </p:sp>
      <p:sp>
        <p:nvSpPr>
          <p:cNvPr id="15" name="Title 1"/>
          <p:cNvSpPr>
            <a:spLocks noGrp="1"/>
          </p:cNvSpPr>
          <p:nvPr>
            <p:ph type="title"/>
          </p:nvPr>
        </p:nvSpPr>
        <p:spPr>
          <a:xfrm>
            <a:off x="612648" y="228600"/>
            <a:ext cx="8153400" cy="990600"/>
          </a:xfrm>
        </p:spPr>
        <p:txBody>
          <a:bodyPr>
            <a:normAutofit fontScale="90000"/>
          </a:bodyPr>
          <a:lstStyle/>
          <a:p>
            <a:r>
              <a:rPr lang="en-US" sz="4400" dirty="0"/>
              <a:t>Pricing and CLV at </a:t>
            </a:r>
            <a:r>
              <a:rPr lang="en-US" sz="4400" dirty="0" err="1"/>
              <a:t>Ziprecruiter</a:t>
            </a:r>
            <a:br>
              <a:rPr lang="en-US" sz="4400" dirty="0"/>
            </a:br>
            <a:r>
              <a:rPr lang="en-US" sz="3600" dirty="0"/>
              <a:t>Assume retention rate same as acquisition rate</a:t>
            </a:r>
            <a:endParaRPr lang="en-US" dirty="0"/>
          </a:p>
        </p:txBody>
      </p:sp>
      <mc:AlternateContent xmlns:mc="http://schemas.openxmlformats.org/markup-compatibility/2006" xmlns:a14="http://schemas.microsoft.com/office/drawing/2010/main">
        <mc:Choice Requires="a14">
          <p:sp>
            <p:nvSpPr>
              <p:cNvPr id="2" name="Rectangle 1"/>
              <p:cNvSpPr/>
              <p:nvPr/>
            </p:nvSpPr>
            <p:spPr>
              <a:xfrm>
                <a:off x="4701097" y="4450630"/>
                <a:ext cx="4413363" cy="707886"/>
              </a:xfrm>
              <a:prstGeom prst="rect">
                <a:avLst/>
              </a:prstGeom>
            </p:spPr>
            <p:txBody>
              <a:bodyPr wrap="square">
                <a:spAutoFit/>
              </a:bodyPr>
              <a:lstStyle/>
              <a:p>
                <a:pPr>
                  <a:spcBef>
                    <a:spcPts val="600"/>
                  </a:spcBef>
                  <a:spcAft>
                    <a:spcPts val="600"/>
                  </a:spcAft>
                </a:pPr>
                <a:r>
                  <a:rPr lang="en-US" sz="1600" dirty="0">
                    <a:solidFill>
                      <a:srgbClr val="7030A0"/>
                    </a:solidFill>
                  </a:rPr>
                  <a:t>Probability customer survives for </a:t>
                </a:r>
                <a:r>
                  <a:rPr lang="en-US" sz="1600" b="1" i="1" dirty="0">
                    <a:solidFill>
                      <a:srgbClr val="7030A0"/>
                    </a:solidFill>
                  </a:rPr>
                  <a:t>t</a:t>
                </a:r>
                <a:r>
                  <a:rPr lang="en-US" sz="1600" b="1" dirty="0">
                    <a:solidFill>
                      <a:srgbClr val="7030A0"/>
                    </a:solidFill>
                  </a:rPr>
                  <a:t> </a:t>
                </a:r>
                <a:r>
                  <a:rPr lang="en-US" sz="1600" dirty="0">
                    <a:solidFill>
                      <a:srgbClr val="7030A0"/>
                    </a:solidFill>
                  </a:rPr>
                  <a:t>months:</a:t>
                </a:r>
              </a:p>
              <a:p>
                <a:pPr marL="0" lvl="1" indent="0">
                  <a:spcBef>
                    <a:spcPts val="600"/>
                  </a:spcBef>
                  <a:spcAft>
                    <a:spcPts val="600"/>
                  </a:spcAft>
                  <a:buClr>
                    <a:schemeClr val="accent2"/>
                  </a:buClr>
                  <a:buSzPct val="60000"/>
                  <a:buNone/>
                </a:pPr>
                <a14:m>
                  <m:oMathPara xmlns:m="http://schemas.openxmlformats.org/officeDocument/2006/math">
                    <m:oMathParaPr>
                      <m:jc m:val="centerGroup"/>
                    </m:oMathParaPr>
                    <m:oMath xmlns:m="http://schemas.openxmlformats.org/officeDocument/2006/math">
                      <m:r>
                        <a:rPr lang="en-US" sz="1400" i="1">
                          <a:solidFill>
                            <a:srgbClr val="7030A0"/>
                          </a:solidFill>
                          <a:latin typeface="Cambria Math"/>
                        </a:rPr>
                        <m:t>𝑃𝑟𝑜𝑏</m:t>
                      </m:r>
                      <m:d>
                        <m:dPr>
                          <m:ctrlPr>
                            <a:rPr lang="en-US" sz="1400" i="1">
                              <a:solidFill>
                                <a:srgbClr val="7030A0"/>
                              </a:solidFill>
                              <a:latin typeface="Cambria Math" panose="02040503050406030204" pitchFamily="18" charset="0"/>
                            </a:rPr>
                          </m:ctrlPr>
                        </m:dPr>
                        <m:e>
                          <m:r>
                            <a:rPr lang="en-US" sz="1400" i="1">
                              <a:solidFill>
                                <a:srgbClr val="7030A0"/>
                              </a:solidFill>
                              <a:latin typeface="Cambria Math"/>
                            </a:rPr>
                            <m:t>𝑏𝑢𝑦</m:t>
                          </m:r>
                          <m:r>
                            <a:rPr lang="en-US" sz="1400" i="1">
                              <a:solidFill>
                                <a:srgbClr val="7030A0"/>
                              </a:solidFill>
                              <a:latin typeface="Cambria Math"/>
                            </a:rPr>
                            <m:t>|</m:t>
                          </m:r>
                          <m:r>
                            <a:rPr lang="en-US" sz="1400" b="1" i="1">
                              <a:solidFill>
                                <a:srgbClr val="7030A0"/>
                              </a:solidFill>
                              <a:latin typeface="Cambria Math"/>
                            </a:rPr>
                            <m:t>𝒑</m:t>
                          </m:r>
                        </m:e>
                      </m:d>
                      <m:r>
                        <a:rPr lang="en-US" sz="1400" i="1">
                          <a:solidFill>
                            <a:srgbClr val="7030A0"/>
                          </a:solidFill>
                          <a:latin typeface="Cambria Math"/>
                          <a:ea typeface="Cambria Math"/>
                        </a:rPr>
                        <m:t>×…×</m:t>
                      </m:r>
                      <m:r>
                        <a:rPr lang="en-US" sz="1400" i="1">
                          <a:solidFill>
                            <a:srgbClr val="7030A0"/>
                          </a:solidFill>
                          <a:latin typeface="Cambria Math"/>
                        </a:rPr>
                        <m:t>𝑃𝑟𝑜𝑏</m:t>
                      </m:r>
                      <m:d>
                        <m:dPr>
                          <m:ctrlPr>
                            <a:rPr lang="en-US" sz="1400" i="1">
                              <a:solidFill>
                                <a:srgbClr val="7030A0"/>
                              </a:solidFill>
                              <a:latin typeface="Cambria Math" panose="02040503050406030204" pitchFamily="18" charset="0"/>
                            </a:rPr>
                          </m:ctrlPr>
                        </m:dPr>
                        <m:e>
                          <m:r>
                            <a:rPr lang="en-US" sz="1400" i="1">
                              <a:solidFill>
                                <a:srgbClr val="7030A0"/>
                              </a:solidFill>
                              <a:latin typeface="Cambria Math"/>
                            </a:rPr>
                            <m:t>𝑏𝑢𝑦</m:t>
                          </m:r>
                          <m:r>
                            <a:rPr lang="en-US" sz="1400" i="1">
                              <a:solidFill>
                                <a:srgbClr val="7030A0"/>
                              </a:solidFill>
                              <a:latin typeface="Cambria Math"/>
                            </a:rPr>
                            <m:t>|</m:t>
                          </m:r>
                          <m:r>
                            <a:rPr lang="en-US" sz="1400" b="1" i="1">
                              <a:solidFill>
                                <a:srgbClr val="7030A0"/>
                              </a:solidFill>
                              <a:latin typeface="Cambria Math"/>
                            </a:rPr>
                            <m:t>𝒑</m:t>
                          </m:r>
                        </m:e>
                      </m:d>
                      <m:r>
                        <a:rPr lang="en-US" sz="1400" b="1" i="1">
                          <a:solidFill>
                            <a:srgbClr val="7030A0"/>
                          </a:solidFill>
                          <a:latin typeface="Cambria Math"/>
                        </a:rPr>
                        <m:t>=</m:t>
                      </m:r>
                      <m:sSup>
                        <m:sSupPr>
                          <m:ctrlPr>
                            <a:rPr lang="en-US" sz="1400" b="1" i="1">
                              <a:solidFill>
                                <a:srgbClr val="7030A0"/>
                              </a:solidFill>
                              <a:latin typeface="Cambria Math" panose="02040503050406030204" pitchFamily="18" charset="0"/>
                            </a:rPr>
                          </m:ctrlPr>
                        </m:sSupPr>
                        <m:e>
                          <m:d>
                            <m:dPr>
                              <m:begChr m:val="["/>
                              <m:endChr m:val="]"/>
                              <m:ctrlPr>
                                <a:rPr lang="en-US" sz="1400" b="1" i="1">
                                  <a:solidFill>
                                    <a:srgbClr val="7030A0"/>
                                  </a:solidFill>
                                  <a:latin typeface="Cambria Math" panose="02040503050406030204" pitchFamily="18" charset="0"/>
                                </a:rPr>
                              </m:ctrlPr>
                            </m:dPr>
                            <m:e>
                              <m:r>
                                <a:rPr lang="en-US" sz="1400" i="1">
                                  <a:solidFill>
                                    <a:srgbClr val="7030A0"/>
                                  </a:solidFill>
                                  <a:latin typeface="Cambria Math"/>
                                </a:rPr>
                                <m:t>𝑃𝑟𝑜𝑏</m:t>
                              </m:r>
                              <m:d>
                                <m:dPr>
                                  <m:ctrlPr>
                                    <a:rPr lang="en-US" sz="1400" i="1">
                                      <a:solidFill>
                                        <a:srgbClr val="7030A0"/>
                                      </a:solidFill>
                                      <a:latin typeface="Cambria Math" panose="02040503050406030204" pitchFamily="18" charset="0"/>
                                    </a:rPr>
                                  </m:ctrlPr>
                                </m:dPr>
                                <m:e>
                                  <m:r>
                                    <a:rPr lang="en-US" sz="1400" i="1">
                                      <a:solidFill>
                                        <a:srgbClr val="7030A0"/>
                                      </a:solidFill>
                                      <a:latin typeface="Cambria Math"/>
                                    </a:rPr>
                                    <m:t>𝑏𝑢𝑦</m:t>
                                  </m:r>
                                  <m:r>
                                    <a:rPr lang="en-US" sz="1400" i="1">
                                      <a:solidFill>
                                        <a:srgbClr val="7030A0"/>
                                      </a:solidFill>
                                      <a:latin typeface="Cambria Math"/>
                                    </a:rPr>
                                    <m:t>|</m:t>
                                  </m:r>
                                  <m:r>
                                    <a:rPr lang="en-US" sz="1400" b="1" i="1">
                                      <a:solidFill>
                                        <a:srgbClr val="7030A0"/>
                                      </a:solidFill>
                                      <a:latin typeface="Cambria Math"/>
                                    </a:rPr>
                                    <m:t>𝒑</m:t>
                                  </m:r>
                                </m:e>
                              </m:d>
                            </m:e>
                          </m:d>
                        </m:e>
                        <m:sup>
                          <m:r>
                            <a:rPr lang="en-US" sz="1400" b="1" i="1">
                              <a:solidFill>
                                <a:srgbClr val="7030A0"/>
                              </a:solidFill>
                              <a:latin typeface="Cambria Math"/>
                            </a:rPr>
                            <m:t>𝒕</m:t>
                          </m:r>
                        </m:sup>
                      </m:sSup>
                    </m:oMath>
                  </m:oMathPara>
                </a14:m>
                <a:endParaRPr lang="en-US" sz="1800" dirty="0"/>
              </a:p>
            </p:txBody>
          </p:sp>
        </mc:Choice>
        <mc:Fallback xmlns="">
          <p:sp>
            <p:nvSpPr>
              <p:cNvPr id="2" name="Rectangle 1"/>
              <p:cNvSpPr>
                <a:spLocks noRot="1" noChangeAspect="1" noMove="1" noResize="1" noEditPoints="1" noAdjustHandles="1" noChangeArrowheads="1" noChangeShapeType="1" noTextEdit="1"/>
              </p:cNvSpPr>
              <p:nvPr/>
            </p:nvSpPr>
            <p:spPr>
              <a:xfrm>
                <a:off x="4701097" y="4450630"/>
                <a:ext cx="4413363" cy="707886"/>
              </a:xfrm>
              <a:prstGeom prst="rect">
                <a:avLst/>
              </a:prstGeom>
              <a:blipFill>
                <a:blip r:embed="rId3"/>
                <a:stretch>
                  <a:fillRect l="-691" t="-2586"/>
                </a:stretch>
              </a:blipFill>
            </p:spPr>
            <p:txBody>
              <a:bodyPr/>
              <a:lstStyle/>
              <a:p>
                <a:r>
                  <a:rPr lang="en-US">
                    <a:noFill/>
                  </a:rPr>
                  <a:t> </a:t>
                </a:r>
              </a:p>
            </p:txBody>
          </p:sp>
        </mc:Fallback>
      </mc:AlternateContent>
      <p:cxnSp>
        <p:nvCxnSpPr>
          <p:cNvPr id="14" name="Straight Arrow Connector 13"/>
          <p:cNvCxnSpPr/>
          <p:nvPr/>
        </p:nvCxnSpPr>
        <p:spPr>
          <a:xfrm flipH="1" flipV="1">
            <a:off x="4891064" y="3093929"/>
            <a:ext cx="1700462" cy="1325671"/>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V="1">
            <a:off x="6628114" y="3093929"/>
            <a:ext cx="348579" cy="1356701"/>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20" name="Right Brace 19"/>
          <p:cNvSpPr/>
          <p:nvPr/>
        </p:nvSpPr>
        <p:spPr>
          <a:xfrm rot="5400000">
            <a:off x="4466840" y="2216699"/>
            <a:ext cx="167297" cy="1587163"/>
          </a:xfrm>
          <a:prstGeom prst="rightBrace">
            <a:avLst/>
          </a:prstGeom>
          <a:ln>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Right Brace 20"/>
          <p:cNvSpPr/>
          <p:nvPr/>
        </p:nvSpPr>
        <p:spPr>
          <a:xfrm rot="5400000">
            <a:off x="6928766" y="2216699"/>
            <a:ext cx="167297" cy="1587163"/>
          </a:xfrm>
          <a:prstGeom prst="rightBrace">
            <a:avLst/>
          </a:prstGeom>
          <a:ln>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Rectangle 6"/>
              <p:cNvSpPr/>
              <p:nvPr/>
            </p:nvSpPr>
            <p:spPr>
              <a:xfrm>
                <a:off x="667991" y="5791200"/>
                <a:ext cx="7920502" cy="830997"/>
              </a:xfrm>
              <a:prstGeom prst="rect">
                <a:avLst/>
              </a:prstGeom>
            </p:spPr>
            <p:txBody>
              <a:bodyPr wrap="none">
                <a:spAutoFit/>
              </a:bodyPr>
              <a:lstStyle/>
              <a:p>
                <a:r>
                  <a:rPr lang="en-US" u="sng" dirty="0"/>
                  <a:t>Recall</a:t>
                </a:r>
                <a:r>
                  <a:rPr lang="en-US" dirty="0"/>
                  <a:t>: </a:t>
                </a:r>
                <a14:m>
                  <m:oMath xmlns:m="http://schemas.openxmlformats.org/officeDocument/2006/math">
                    <m:r>
                      <a:rPr lang="en-US" i="1" smtClean="0">
                        <a:solidFill>
                          <a:schemeClr val="tx1"/>
                        </a:solidFill>
                        <a:latin typeface="Cambria Math"/>
                      </a:rPr>
                      <m:t>𝑃𝑟𝑜𝑏</m:t>
                    </m:r>
                    <m:d>
                      <m:dPr>
                        <m:ctrlPr>
                          <a:rPr lang="en-US" i="1">
                            <a:solidFill>
                              <a:schemeClr val="tx1"/>
                            </a:solidFill>
                            <a:latin typeface="Cambria Math" panose="02040503050406030204" pitchFamily="18" charset="0"/>
                          </a:rPr>
                        </m:ctrlPr>
                      </m:dPr>
                      <m:e>
                        <m:r>
                          <a:rPr lang="en-US" i="1">
                            <a:solidFill>
                              <a:schemeClr val="tx1"/>
                            </a:solidFill>
                            <a:latin typeface="Cambria Math"/>
                          </a:rPr>
                          <m:t>𝑏𝑢𝑦</m:t>
                        </m:r>
                        <m:r>
                          <a:rPr lang="en-US" i="1">
                            <a:solidFill>
                              <a:schemeClr val="tx1"/>
                            </a:solidFill>
                            <a:latin typeface="Cambria Math"/>
                          </a:rPr>
                          <m:t>|</m:t>
                        </m:r>
                        <m:r>
                          <a:rPr lang="en-US" b="1" i="1">
                            <a:solidFill>
                              <a:schemeClr val="tx1"/>
                            </a:solidFill>
                            <a:latin typeface="Cambria Math"/>
                          </a:rPr>
                          <m:t>𝒑</m:t>
                        </m:r>
                      </m:e>
                    </m:d>
                  </m:oMath>
                </a14:m>
                <a:r>
                  <a:rPr lang="en-US" dirty="0">
                    <a:solidFill>
                      <a:schemeClr val="tx1"/>
                    </a:solidFill>
                  </a:rPr>
                  <a:t> can be estimated via logistic regression</a:t>
                </a:r>
              </a:p>
              <a:p>
                <a:r>
                  <a:rPr lang="en-US" dirty="0">
                    <a:solidFill>
                      <a:schemeClr val="tx1"/>
                    </a:solidFill>
                  </a:rPr>
                  <a:t>(see module 2 and Appendix)</a:t>
                </a:r>
              </a:p>
            </p:txBody>
          </p:sp>
        </mc:Choice>
        <mc:Fallback xmlns="">
          <p:sp>
            <p:nvSpPr>
              <p:cNvPr id="7" name="Rectangle 6"/>
              <p:cNvSpPr>
                <a:spLocks noRot="1" noChangeAspect="1" noMove="1" noResize="1" noEditPoints="1" noAdjustHandles="1" noChangeArrowheads="1" noChangeShapeType="1" noTextEdit="1"/>
              </p:cNvSpPr>
              <p:nvPr/>
            </p:nvSpPr>
            <p:spPr>
              <a:xfrm>
                <a:off x="667991" y="5791200"/>
                <a:ext cx="7920502" cy="830997"/>
              </a:xfrm>
              <a:prstGeom prst="rect">
                <a:avLst/>
              </a:prstGeom>
              <a:blipFill>
                <a:blip r:embed="rId4"/>
                <a:stretch>
                  <a:fillRect l="-1232" t="-5882" b="-16176"/>
                </a:stretch>
              </a:blipFill>
            </p:spPr>
            <p:txBody>
              <a:bodyPr/>
              <a:lstStyle/>
              <a:p>
                <a:r>
                  <a:rPr lang="en-US">
                    <a:noFill/>
                  </a:rPr>
                  <a:t> </a:t>
                </a:r>
              </a:p>
            </p:txBody>
          </p:sp>
        </mc:Fallback>
      </mc:AlternateContent>
      <p:sp>
        <p:nvSpPr>
          <p:cNvPr id="4" name="TextBox 3"/>
          <p:cNvSpPr txBox="1"/>
          <p:nvPr/>
        </p:nvSpPr>
        <p:spPr>
          <a:xfrm>
            <a:off x="1447800" y="2050213"/>
            <a:ext cx="1689886" cy="461665"/>
          </a:xfrm>
          <a:prstGeom prst="rect">
            <a:avLst/>
          </a:prstGeom>
          <a:noFill/>
        </p:spPr>
        <p:txBody>
          <a:bodyPr wrap="none" rtlCol="0">
            <a:spAutoFit/>
          </a:bodyPr>
          <a:lstStyle/>
          <a:p>
            <a:r>
              <a:rPr lang="en-US" b="1" dirty="0">
                <a:solidFill>
                  <a:srgbClr val="FF0000"/>
                </a:solidFill>
                <a:effectLst>
                  <a:outerShdw blurRad="38100" dist="38100" dir="2700000" algn="tl">
                    <a:srgbClr val="000000">
                      <a:alpha val="43137"/>
                    </a:srgbClr>
                  </a:outerShdw>
                </a:effectLst>
              </a:rPr>
              <a:t>Acquisition</a:t>
            </a:r>
          </a:p>
        </p:txBody>
      </p:sp>
      <p:sp>
        <p:nvSpPr>
          <p:cNvPr id="5" name="Left Brace 4"/>
          <p:cNvSpPr/>
          <p:nvPr/>
        </p:nvSpPr>
        <p:spPr>
          <a:xfrm rot="5400000">
            <a:off x="2253281" y="1782598"/>
            <a:ext cx="78923" cy="1537486"/>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Left Brace 15"/>
          <p:cNvSpPr/>
          <p:nvPr/>
        </p:nvSpPr>
        <p:spPr>
          <a:xfrm rot="5400000">
            <a:off x="5933915" y="127595"/>
            <a:ext cx="63803" cy="4832370"/>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p:cNvSpPr txBox="1"/>
          <p:nvPr/>
        </p:nvSpPr>
        <p:spPr>
          <a:xfrm>
            <a:off x="3901583" y="2050212"/>
            <a:ext cx="3756156" cy="461665"/>
          </a:xfrm>
          <a:prstGeom prst="rect">
            <a:avLst/>
          </a:prstGeom>
          <a:noFill/>
        </p:spPr>
        <p:txBody>
          <a:bodyPr wrap="none" rtlCol="0">
            <a:spAutoFit/>
          </a:bodyPr>
          <a:lstStyle/>
          <a:p>
            <a:r>
              <a:rPr lang="en-US" dirty="0">
                <a:solidFill>
                  <a:srgbClr val="FF0000"/>
                </a:solidFill>
              </a:rPr>
              <a:t>Discounted future </a:t>
            </a:r>
            <a:r>
              <a:rPr lang="en-US" b="1" dirty="0">
                <a:solidFill>
                  <a:srgbClr val="FF0000"/>
                </a:solidFill>
                <a:effectLst>
                  <a:outerShdw blurRad="38100" dist="38100" dir="2700000" algn="tl">
                    <a:srgbClr val="000000">
                      <a:alpha val="43137"/>
                    </a:srgbClr>
                  </a:outerShdw>
                </a:effectLst>
              </a:rPr>
              <a:t>Retention</a:t>
            </a:r>
          </a:p>
        </p:txBody>
      </p:sp>
      <p:sp>
        <p:nvSpPr>
          <p:cNvPr id="19" name="TextBox 18"/>
          <p:cNvSpPr txBox="1"/>
          <p:nvPr/>
        </p:nvSpPr>
        <p:spPr>
          <a:xfrm>
            <a:off x="1317801" y="4597696"/>
            <a:ext cx="2447608" cy="584775"/>
          </a:xfrm>
          <a:prstGeom prst="rect">
            <a:avLst/>
          </a:prstGeom>
          <a:noFill/>
        </p:spPr>
        <p:txBody>
          <a:bodyPr wrap="square" rtlCol="0">
            <a:spAutoFit/>
          </a:bodyPr>
          <a:lstStyle/>
          <a:p>
            <a:pPr algn="ctr"/>
            <a:r>
              <a:rPr lang="en-US" sz="1600" b="1" dirty="0">
                <a:solidFill>
                  <a:srgbClr val="FF0000"/>
                </a:solidFill>
                <a:effectLst>
                  <a:outerShdw blurRad="38100" dist="38100" dir="2700000" algn="tl">
                    <a:srgbClr val="000000">
                      <a:alpha val="43137"/>
                    </a:srgbClr>
                  </a:outerShdw>
                </a:effectLst>
              </a:rPr>
              <a:t>Retention value</a:t>
            </a:r>
          </a:p>
          <a:p>
            <a:pPr algn="ctr"/>
            <a:r>
              <a:rPr lang="en-US" sz="1600" dirty="0">
                <a:solidFill>
                  <a:srgbClr val="FF0000"/>
                </a:solidFill>
              </a:rPr>
              <a:t>(i.e., CLV)</a:t>
            </a:r>
          </a:p>
        </p:txBody>
      </p:sp>
      <p:sp>
        <p:nvSpPr>
          <p:cNvPr id="22" name="Left Brace 21"/>
          <p:cNvSpPr/>
          <p:nvPr/>
        </p:nvSpPr>
        <p:spPr>
          <a:xfrm rot="16200000">
            <a:off x="2394611" y="3207209"/>
            <a:ext cx="393293" cy="2331298"/>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p:cNvSpPr txBox="1"/>
          <p:nvPr/>
        </p:nvSpPr>
        <p:spPr>
          <a:xfrm>
            <a:off x="1329074" y="3625498"/>
            <a:ext cx="2621230" cy="461665"/>
          </a:xfrm>
          <a:prstGeom prst="rect">
            <a:avLst/>
          </a:prstGeom>
          <a:noFill/>
        </p:spPr>
        <p:txBody>
          <a:bodyPr wrap="none" rtlCol="0">
            <a:spAutoFit/>
          </a:bodyPr>
          <a:lstStyle/>
          <a:p>
            <a:r>
              <a:rPr lang="en-US" dirty="0">
                <a:solidFill>
                  <a:srgbClr val="FF0000"/>
                </a:solidFill>
              </a:rPr>
              <a:t>(                             )</a:t>
            </a:r>
          </a:p>
        </p:txBody>
      </p:sp>
    </p:spTree>
    <p:extLst>
      <p:ext uri="{BB962C8B-B14F-4D97-AF65-F5344CB8AC3E}">
        <p14:creationId xmlns:p14="http://schemas.microsoft.com/office/powerpoint/2010/main" val="1493556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p:bldP spid="20" grpId="0" animBg="1"/>
      <p:bldP spid="21" grpId="0" animBg="1"/>
      <p:bldP spid="7" grpId="0"/>
      <p:bldP spid="4" grpId="0"/>
      <p:bldP spid="5" grpId="0" animBg="1"/>
      <p:bldP spid="16" grpId="0" animBg="1"/>
      <p:bldP spid="17" grpId="0"/>
      <p:bldP spid="19" grpId="0"/>
      <p:bldP spid="22" grpId="0" animBg="1"/>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normAutofit fontScale="85000" lnSpcReduction="20000"/>
          </a:bodyPr>
          <a:lstStyle/>
          <a:p>
            <a:pPr>
              <a:defRPr/>
            </a:pPr>
            <a:fld id="{5B184A58-70F9-4372-8361-D0A248C9554D}" type="slidenum">
              <a:rPr lang="en-US" smtClean="0"/>
              <a:pPr>
                <a:defRPr/>
              </a:pPr>
              <a:t>25</a:t>
            </a:fld>
            <a:endParaRPr lang="en-US"/>
          </a:p>
        </p:txBody>
      </p:sp>
      <p:sp>
        <p:nvSpPr>
          <p:cNvPr id="7" name="Content Placeholder 2"/>
          <p:cNvSpPr txBox="1">
            <a:spLocks/>
          </p:cNvSpPr>
          <p:nvPr/>
        </p:nvSpPr>
        <p:spPr bwMode="auto">
          <a:xfrm>
            <a:off x="522658" y="6172200"/>
            <a:ext cx="664014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2500"/>
          </a:bodyPr>
          <a:lstStyle>
            <a:lvl1pPr marL="319088" indent="-319088" algn="l" rtl="0" eaLnBrk="1" fontAlgn="base" hangingPunct="1">
              <a:spcBef>
                <a:spcPts val="700"/>
              </a:spcBef>
              <a:spcAft>
                <a:spcPct val="0"/>
              </a:spcAft>
              <a:buClr>
                <a:schemeClr val="accent2"/>
              </a:buClr>
              <a:buSzPct val="60000"/>
              <a:buFont typeface="Wingdings" pitchFamily="2" charset="2"/>
              <a:buChar char=""/>
              <a:defRPr sz="2400" kern="1200" baseline="0">
                <a:solidFill>
                  <a:schemeClr val="tx1"/>
                </a:solidFill>
                <a:latin typeface="+mj-lt"/>
                <a:ea typeface="+mn-ea"/>
                <a:cs typeface="+mn-cs"/>
              </a:defRPr>
            </a:lvl1pPr>
            <a:lvl2pPr marL="639763" indent="-273050" algn="l" rtl="0" eaLnBrk="1" fontAlgn="base" hangingPunct="1">
              <a:spcBef>
                <a:spcPts val="550"/>
              </a:spcBef>
              <a:spcAft>
                <a:spcPct val="0"/>
              </a:spcAft>
              <a:buClr>
                <a:schemeClr val="accent1"/>
              </a:buClr>
              <a:buSzPct val="70000"/>
              <a:buFont typeface="Wingdings 2" pitchFamily="18" charset="2"/>
              <a:buChar char=""/>
              <a:defRPr sz="2400" kern="1200" baseline="0">
                <a:solidFill>
                  <a:schemeClr val="tx1"/>
                </a:solidFill>
                <a:latin typeface="+mj-lt"/>
                <a:ea typeface="+mn-ea"/>
                <a:cs typeface="+mn-cs"/>
              </a:defRPr>
            </a:lvl2pPr>
            <a:lvl3pPr marL="914400" indent="-228600" algn="l" rtl="0" eaLnBrk="1" fontAlgn="base" hangingPunct="1">
              <a:spcBef>
                <a:spcPts val="500"/>
              </a:spcBef>
              <a:spcAft>
                <a:spcPct val="0"/>
              </a:spcAft>
              <a:buClr>
                <a:schemeClr val="accent2"/>
              </a:buClr>
              <a:buSzPct val="75000"/>
              <a:buFont typeface="Wingdings" pitchFamily="2" charset="2"/>
              <a:buChar char=""/>
              <a:defRPr sz="2400" kern="1200" baseline="0">
                <a:solidFill>
                  <a:schemeClr val="tx1"/>
                </a:solidFill>
                <a:latin typeface="+mj-lt"/>
                <a:ea typeface="+mn-ea"/>
                <a:cs typeface="+mn-cs"/>
              </a:defRPr>
            </a:lvl3pPr>
            <a:lvl4pPr marL="1371600" indent="-228600" algn="l" rtl="0" eaLnBrk="1" fontAlgn="base" hangingPunct="1">
              <a:spcBef>
                <a:spcPts val="400"/>
              </a:spcBef>
              <a:spcAft>
                <a:spcPct val="0"/>
              </a:spcAft>
              <a:buClr>
                <a:srgbClr val="A5AB81"/>
              </a:buClr>
              <a:buSzPct val="75000"/>
              <a:buFont typeface="Wingdings" pitchFamily="2" charset="2"/>
              <a:buChar char=""/>
              <a:defRPr sz="2400" kern="1200" baseline="0">
                <a:solidFill>
                  <a:schemeClr val="tx1"/>
                </a:solidFill>
                <a:latin typeface="+mj-lt"/>
                <a:ea typeface="+mn-ea"/>
                <a:cs typeface="+mn-cs"/>
              </a:defRPr>
            </a:lvl4pPr>
            <a:lvl5pPr marL="1828800" indent="-228600" algn="l" rtl="0" eaLnBrk="1" fontAlgn="base" hangingPunct="1">
              <a:spcBef>
                <a:spcPts val="400"/>
              </a:spcBef>
              <a:spcAft>
                <a:spcPct val="0"/>
              </a:spcAft>
              <a:buClr>
                <a:srgbClr val="D8B25C"/>
              </a:buClr>
              <a:buSzPct val="65000"/>
              <a:buFont typeface="Wingdings" pitchFamily="2" charset="2"/>
              <a:buChar char=""/>
              <a:defRPr sz="2400" kern="1200" baseline="0">
                <a:solidFill>
                  <a:schemeClr val="tx1"/>
                </a:solidFill>
                <a:latin typeface="+mj-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indent="0">
              <a:spcAft>
                <a:spcPts val="0"/>
              </a:spcAft>
              <a:buNone/>
              <a:defRPr/>
            </a:pPr>
            <a:r>
              <a:rPr lang="en-US" sz="2600" b="1" dirty="0">
                <a:effectLst>
                  <a:outerShdw blurRad="38100" dist="38100" dir="2700000" algn="tl">
                    <a:srgbClr val="000000">
                      <a:alpha val="43137"/>
                    </a:srgbClr>
                  </a:outerShdw>
                </a:effectLst>
              </a:rPr>
              <a:t>Optimal lifetime value price</a:t>
            </a:r>
            <a:r>
              <a:rPr lang="en-US" sz="2600" dirty="0"/>
              <a:t> slightly lower: </a:t>
            </a:r>
            <a:r>
              <a:rPr lang="en-US" sz="2600" dirty="0">
                <a:solidFill>
                  <a:srgbClr val="FFC000"/>
                </a:solidFill>
              </a:rPr>
              <a:t>$240</a:t>
            </a:r>
            <a:endParaRPr lang="en-US" sz="2600" dirty="0"/>
          </a:p>
        </p:txBody>
      </p:sp>
      <p:sp>
        <p:nvSpPr>
          <p:cNvPr id="11" name="Title 1"/>
          <p:cNvSpPr>
            <a:spLocks noGrp="1"/>
          </p:cNvSpPr>
          <p:nvPr>
            <p:ph type="title"/>
          </p:nvPr>
        </p:nvSpPr>
        <p:spPr>
          <a:xfrm>
            <a:off x="612648" y="228600"/>
            <a:ext cx="8153400" cy="990600"/>
          </a:xfrm>
        </p:spPr>
        <p:txBody>
          <a:bodyPr>
            <a:normAutofit fontScale="90000"/>
          </a:bodyPr>
          <a:lstStyle/>
          <a:p>
            <a:r>
              <a:rPr lang="en-US" sz="4400" dirty="0"/>
              <a:t>Pricing and CLV at </a:t>
            </a:r>
            <a:r>
              <a:rPr lang="en-US" sz="4400" dirty="0" err="1"/>
              <a:t>Ziprecruiter</a:t>
            </a:r>
            <a:br>
              <a:rPr lang="en-US" sz="4400" dirty="0"/>
            </a:br>
            <a:r>
              <a:rPr lang="en-US" sz="3600" dirty="0"/>
              <a:t>Assume retention rate same as acquisition rate</a:t>
            </a:r>
            <a:endParaRPr lang="en-US" dirty="0"/>
          </a:p>
        </p:txBody>
      </p:sp>
      <p:pic>
        <p:nvPicPr>
          <p:cNvPr id="28676" name="Picture 4"/>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2153469" y="1600200"/>
            <a:ext cx="5072012" cy="4495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7086600" y="5180111"/>
            <a:ext cx="1990994" cy="307777"/>
          </a:xfrm>
          <a:prstGeom prst="rect">
            <a:avLst/>
          </a:prstGeom>
          <a:noFill/>
        </p:spPr>
        <p:txBody>
          <a:bodyPr wrap="none" rtlCol="0">
            <a:spAutoFit/>
          </a:bodyPr>
          <a:lstStyle/>
          <a:p>
            <a:r>
              <a:rPr lang="en-US" sz="1400" dirty="0"/>
              <a:t>See Appendix for R code</a:t>
            </a:r>
          </a:p>
        </p:txBody>
      </p:sp>
      <p:sp>
        <p:nvSpPr>
          <p:cNvPr id="3" name="TextBox 2"/>
          <p:cNvSpPr txBox="1"/>
          <p:nvPr/>
        </p:nvSpPr>
        <p:spPr>
          <a:xfrm flipH="1">
            <a:off x="4105656" y="2286000"/>
            <a:ext cx="530352" cy="215444"/>
          </a:xfrm>
          <a:prstGeom prst="rect">
            <a:avLst/>
          </a:prstGeom>
          <a:solidFill>
            <a:schemeClr val="bg1"/>
          </a:solidFill>
        </p:spPr>
        <p:txBody>
          <a:bodyPr wrap="square" rtlCol="0">
            <a:spAutoFit/>
          </a:bodyPr>
          <a:lstStyle/>
          <a:p>
            <a:r>
              <a:rPr lang="en-US" sz="800" dirty="0"/>
              <a:t>(</a:t>
            </a:r>
            <a:r>
              <a:rPr lang="en-US" sz="800" i="1" dirty="0"/>
              <a:t>r</a:t>
            </a:r>
            <a:r>
              <a:rPr lang="en-US" sz="800" dirty="0"/>
              <a:t>=0.05)</a:t>
            </a:r>
            <a:endParaRPr lang="en-US" sz="800" i="1" dirty="0"/>
          </a:p>
        </p:txBody>
      </p:sp>
      <p:sp>
        <p:nvSpPr>
          <p:cNvPr id="5" name="TextBox 4"/>
          <p:cNvSpPr txBox="1"/>
          <p:nvPr/>
        </p:nvSpPr>
        <p:spPr>
          <a:xfrm>
            <a:off x="4726219" y="2784157"/>
            <a:ext cx="492443" cy="276999"/>
          </a:xfrm>
          <a:prstGeom prst="rect">
            <a:avLst/>
          </a:prstGeom>
          <a:noFill/>
        </p:spPr>
        <p:txBody>
          <a:bodyPr wrap="none" rtlCol="0">
            <a:spAutoFit/>
          </a:bodyPr>
          <a:lstStyle/>
          <a:p>
            <a:r>
              <a:rPr lang="en-US" sz="1200" dirty="0">
                <a:solidFill>
                  <a:srgbClr val="FF0000"/>
                </a:solidFill>
              </a:rPr>
              <a:t>$249</a:t>
            </a:r>
          </a:p>
        </p:txBody>
      </p:sp>
      <p:sp>
        <p:nvSpPr>
          <p:cNvPr id="9" name="TextBox 8"/>
          <p:cNvSpPr txBox="1"/>
          <p:nvPr/>
        </p:nvSpPr>
        <p:spPr>
          <a:xfrm>
            <a:off x="164553" y="2864208"/>
            <a:ext cx="1816648" cy="3046988"/>
          </a:xfrm>
          <a:prstGeom prst="rect">
            <a:avLst/>
          </a:prstGeom>
          <a:noFill/>
        </p:spPr>
        <p:txBody>
          <a:bodyPr wrap="square" rtlCol="0">
            <a:spAutoFit/>
          </a:bodyPr>
          <a:lstStyle/>
          <a:p>
            <a:r>
              <a:rPr lang="en-US" sz="1600" b="1" u="sng" dirty="0">
                <a:solidFill>
                  <a:srgbClr val="FF0000"/>
                </a:solidFill>
              </a:rPr>
              <a:t>Note</a:t>
            </a:r>
            <a:r>
              <a:rPr lang="en-US" sz="1600" dirty="0">
                <a:solidFill>
                  <a:srgbClr val="FF0000"/>
                </a:solidFill>
              </a:rPr>
              <a:t>: </a:t>
            </a:r>
          </a:p>
          <a:p>
            <a:r>
              <a:rPr lang="en-US" sz="1600" dirty="0">
                <a:solidFill>
                  <a:srgbClr val="FF0000"/>
                </a:solidFill>
              </a:rPr>
              <a:t>Pricing to CLV did not improve </a:t>
            </a:r>
            <a:r>
              <a:rPr lang="en-US" sz="1600" dirty="0" err="1">
                <a:solidFill>
                  <a:srgbClr val="FF0000"/>
                </a:solidFill>
              </a:rPr>
              <a:t>Ziprecruiter’s</a:t>
            </a:r>
            <a:r>
              <a:rPr lang="en-US" sz="1600" dirty="0">
                <a:solidFill>
                  <a:srgbClr val="FF0000"/>
                </a:solidFill>
              </a:rPr>
              <a:t> profits much due to relatively low repeat rates</a:t>
            </a:r>
          </a:p>
          <a:p>
            <a:endParaRPr lang="en-US" sz="1600" dirty="0">
              <a:solidFill>
                <a:srgbClr val="FF0000"/>
              </a:solidFill>
            </a:endParaRPr>
          </a:p>
          <a:p>
            <a:r>
              <a:rPr lang="en-US" sz="1600" b="1" dirty="0">
                <a:solidFill>
                  <a:srgbClr val="FF0000"/>
                </a:solidFill>
                <a:effectLst>
                  <a:outerShdw blurRad="38100" dist="38100" dir="2700000" algn="tl">
                    <a:srgbClr val="000000">
                      <a:alpha val="43137"/>
                    </a:srgbClr>
                  </a:outerShdw>
                </a:effectLst>
              </a:rPr>
              <a:t>Growth</a:t>
            </a:r>
            <a:r>
              <a:rPr lang="en-US" sz="1600" dirty="0">
                <a:solidFill>
                  <a:srgbClr val="FF0000"/>
                </a:solidFill>
              </a:rPr>
              <a:t> mainly from static optimization as in weeks 2 &amp; 5</a:t>
            </a:r>
          </a:p>
        </p:txBody>
      </p:sp>
    </p:spTree>
    <p:extLst>
      <p:ext uri="{BB962C8B-B14F-4D97-AF65-F5344CB8AC3E}">
        <p14:creationId xmlns:p14="http://schemas.microsoft.com/office/powerpoint/2010/main" val="3056716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Pricing and CLV at Amazon</a:t>
            </a:r>
          </a:p>
        </p:txBody>
      </p:sp>
      <p:sp>
        <p:nvSpPr>
          <p:cNvPr id="3" name="Content Placeholder 2"/>
          <p:cNvSpPr>
            <a:spLocks noGrp="1"/>
          </p:cNvSpPr>
          <p:nvPr>
            <p:ph sz="quarter" idx="1"/>
          </p:nvPr>
        </p:nvSpPr>
        <p:spPr/>
        <p:txBody>
          <a:bodyPr/>
          <a:lstStyle/>
          <a:p>
            <a:endParaRPr lang="en-US"/>
          </a:p>
        </p:txBody>
      </p:sp>
      <p:sp>
        <p:nvSpPr>
          <p:cNvPr id="4" name="Slide Number Placeholder 3"/>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26</a:t>
            </a:fld>
            <a:endParaRPr lang="en-US"/>
          </a:p>
        </p:txBody>
      </p:sp>
      <p:pic>
        <p:nvPicPr>
          <p:cNvPr id="5" name="Picture 4"/>
          <p:cNvPicPr/>
          <p:nvPr/>
        </p:nvPicPr>
        <p:blipFill rotWithShape="1">
          <a:blip r:embed="rId2"/>
          <a:srcRect l="24573" t="17854" r="1603" b="14720"/>
          <a:stretch/>
        </p:blipFill>
        <p:spPr bwMode="auto">
          <a:xfrm>
            <a:off x="381000" y="1600200"/>
            <a:ext cx="7696200" cy="47244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8551741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612775" y="228600"/>
            <a:ext cx="8153400" cy="990600"/>
          </a:xfrm>
        </p:spPr>
        <p:txBody>
          <a:bodyPr/>
          <a:lstStyle/>
          <a:p>
            <a:r>
              <a:rPr lang="en-US" dirty="0"/>
              <a:t>Take-Away</a:t>
            </a:r>
          </a:p>
        </p:txBody>
      </p:sp>
      <p:sp>
        <p:nvSpPr>
          <p:cNvPr id="22531" name="Rectangle 3"/>
          <p:cNvSpPr>
            <a:spLocks noGrp="1" noChangeArrowheads="1"/>
          </p:cNvSpPr>
          <p:nvPr>
            <p:ph sz="quarter" idx="1"/>
          </p:nvPr>
        </p:nvSpPr>
        <p:spPr>
          <a:xfrm>
            <a:off x="609600" y="1676400"/>
            <a:ext cx="8153400" cy="4495800"/>
          </a:xfrm>
        </p:spPr>
        <p:txBody>
          <a:bodyPr>
            <a:noAutofit/>
          </a:bodyPr>
          <a:lstStyle/>
          <a:p>
            <a:pPr>
              <a:spcBef>
                <a:spcPts val="1200"/>
              </a:spcBef>
              <a:spcAft>
                <a:spcPts val="1200"/>
              </a:spcAft>
              <a:defRPr/>
            </a:pPr>
            <a:r>
              <a:rPr lang="en-US" b="1" dirty="0">
                <a:solidFill>
                  <a:srgbClr val="FF0000"/>
                </a:solidFill>
                <a:effectLst>
                  <a:outerShdw blurRad="38100" dist="38100" dir="2700000" algn="tl">
                    <a:srgbClr val="000000">
                      <a:alpha val="43137"/>
                    </a:srgbClr>
                  </a:outerShdw>
                </a:effectLst>
                <a:latin typeface="Showcard Gothic" panose="04020904020102020604" pitchFamily="82" charset="0"/>
              </a:rPr>
              <a:t>P</a:t>
            </a:r>
            <a:r>
              <a:rPr lang="en-US" dirty="0"/>
              <a:t>rice discounts and </a:t>
            </a:r>
            <a:r>
              <a:rPr lang="en-US" b="1" dirty="0">
                <a:solidFill>
                  <a:srgbClr val="FF0000"/>
                </a:solidFill>
                <a:effectLst>
                  <a:outerShdw blurRad="38100" dist="38100" dir="2700000" algn="tl">
                    <a:srgbClr val="000000">
                      <a:alpha val="43137"/>
                    </a:srgbClr>
                  </a:outerShdw>
                </a:effectLst>
              </a:rPr>
              <a:t>CLV</a:t>
            </a:r>
          </a:p>
          <a:p>
            <a:pPr>
              <a:spcBef>
                <a:spcPts val="1200"/>
              </a:spcBef>
              <a:spcAft>
                <a:spcPts val="1200"/>
              </a:spcAft>
              <a:defRPr/>
            </a:pPr>
            <a:r>
              <a:rPr lang="en-US" b="1" dirty="0">
                <a:solidFill>
                  <a:srgbClr val="FF0000"/>
                </a:solidFill>
                <a:effectLst>
                  <a:outerShdw blurRad="38100" dist="38100" dir="2700000" algn="tl">
                    <a:srgbClr val="000000">
                      <a:alpha val="43137"/>
                    </a:srgbClr>
                  </a:outerShdw>
                </a:effectLst>
                <a:latin typeface="Showcard Gothic" panose="04020904020102020604" pitchFamily="82" charset="0"/>
              </a:rPr>
              <a:t>P</a:t>
            </a:r>
            <a:r>
              <a:rPr lang="en-US" dirty="0"/>
              <a:t>ricing &amp; </a:t>
            </a:r>
            <a:r>
              <a:rPr lang="en-US" b="1" dirty="0">
                <a:solidFill>
                  <a:srgbClr val="FF0000"/>
                </a:solidFill>
                <a:effectLst>
                  <a:outerShdw blurRad="38100" dist="38100" dir="2700000" algn="tl">
                    <a:srgbClr val="000000">
                      <a:alpha val="43137"/>
                    </a:srgbClr>
                  </a:outerShdw>
                </a:effectLst>
              </a:rPr>
              <a:t>CRM</a:t>
            </a:r>
            <a:r>
              <a:rPr lang="en-US" dirty="0"/>
              <a:t> – balancing </a:t>
            </a:r>
            <a:r>
              <a:rPr lang="en-US" b="1" dirty="0">
                <a:effectLst>
                  <a:outerShdw blurRad="38100" dist="38100" dir="2700000" algn="tl">
                    <a:srgbClr val="000000">
                      <a:alpha val="43137"/>
                    </a:srgbClr>
                  </a:outerShdw>
                </a:effectLst>
              </a:rPr>
              <a:t>acquisition</a:t>
            </a:r>
            <a:r>
              <a:rPr lang="en-US" dirty="0"/>
              <a:t> &amp; </a:t>
            </a:r>
            <a:r>
              <a:rPr lang="en-US" b="1" dirty="0">
                <a:effectLst>
                  <a:outerShdw blurRad="38100" dist="38100" dir="2700000" algn="tl">
                    <a:srgbClr val="000000">
                      <a:alpha val="43137"/>
                    </a:srgbClr>
                  </a:outerShdw>
                </a:effectLst>
              </a:rPr>
              <a:t>retention</a:t>
            </a:r>
          </a:p>
          <a:p>
            <a:pPr marL="0" indent="0" algn="ctr">
              <a:spcBef>
                <a:spcPts val="1200"/>
              </a:spcBef>
              <a:spcAft>
                <a:spcPts val="1200"/>
              </a:spcAft>
              <a:buNone/>
              <a:defRPr/>
            </a:pPr>
            <a:r>
              <a:rPr lang="en-US" dirty="0"/>
              <a:t>Think </a:t>
            </a:r>
            <a:r>
              <a:rPr lang="en-US" i="1" dirty="0">
                <a:effectLst>
                  <a:outerShdw blurRad="38100" dist="38100" dir="2700000" algn="tl">
                    <a:srgbClr val="000000">
                      <a:alpha val="43137"/>
                    </a:srgbClr>
                  </a:outerShdw>
                </a:effectLst>
              </a:rPr>
              <a:t>Razors &amp; Blades</a:t>
            </a:r>
            <a:r>
              <a:rPr lang="en-US" i="1" dirty="0"/>
              <a:t> over time</a:t>
            </a:r>
            <a:r>
              <a:rPr lang="en-US" dirty="0"/>
              <a:t> (initial trial = Razor)</a:t>
            </a:r>
          </a:p>
          <a:p>
            <a:pPr>
              <a:spcBef>
                <a:spcPts val="1200"/>
              </a:spcBef>
              <a:spcAft>
                <a:spcPts val="1200"/>
              </a:spcAft>
              <a:defRPr/>
            </a:pPr>
            <a:r>
              <a:rPr lang="en-US" dirty="0"/>
              <a:t>See Appendix for “</a:t>
            </a:r>
            <a:r>
              <a:rPr lang="en-US" i="1" dirty="0"/>
              <a:t>Freemium</a:t>
            </a:r>
            <a:r>
              <a:rPr lang="en-US" dirty="0"/>
              <a:t>” as pricing to CLV</a:t>
            </a:r>
          </a:p>
        </p:txBody>
      </p:sp>
      <p:sp>
        <p:nvSpPr>
          <p:cNvPr id="2" name="Slide Number Placeholder 1"/>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a:t>Coupons as Segmentation</a:t>
            </a:r>
            <a:endParaRPr lang="en-US" dirty="0"/>
          </a:p>
        </p:txBody>
      </p:sp>
      <p:sp>
        <p:nvSpPr>
          <p:cNvPr id="3" name="Title 2"/>
          <p:cNvSpPr>
            <a:spLocks noGrp="1"/>
          </p:cNvSpPr>
          <p:nvPr>
            <p:ph type="title"/>
          </p:nvPr>
        </p:nvSpPr>
        <p:spPr/>
        <p:txBody>
          <a:bodyPr/>
          <a:lstStyle/>
          <a:p>
            <a:r>
              <a:rPr lang="en-US" dirty="0"/>
              <a:t>Extra</a:t>
            </a:r>
          </a:p>
        </p:txBody>
      </p:sp>
      <p:sp>
        <p:nvSpPr>
          <p:cNvPr id="4" name="Slide Number Placeholder 3"/>
          <p:cNvSpPr>
            <a:spLocks noGrp="1"/>
          </p:cNvSpPr>
          <p:nvPr>
            <p:ph type="sldNum" sz="quarter" idx="11"/>
          </p:nvPr>
        </p:nvSpPr>
        <p:spPr/>
        <p:txBody>
          <a:bodyPr/>
          <a:lstStyle/>
          <a:p>
            <a:pPr>
              <a:defRPr/>
            </a:pPr>
            <a:fld id="{DF54D116-B739-41B8-A000-A0DD5381050B}" type="slidenum">
              <a:rPr lang="en-US" smtClean="0"/>
              <a:pPr>
                <a:defRPr/>
              </a:pPr>
              <a:t>28</a:t>
            </a:fld>
            <a:endParaRPr lang="en-US"/>
          </a:p>
        </p:txBody>
      </p:sp>
    </p:spTree>
    <p:extLst>
      <p:ext uri="{BB962C8B-B14F-4D97-AF65-F5344CB8AC3E}">
        <p14:creationId xmlns:p14="http://schemas.microsoft.com/office/powerpoint/2010/main" val="14126891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609600" y="228600"/>
            <a:ext cx="8153400" cy="990600"/>
          </a:xfrm>
        </p:spPr>
        <p:txBody>
          <a:bodyPr>
            <a:normAutofit fontScale="90000"/>
          </a:bodyPr>
          <a:lstStyle/>
          <a:p>
            <a:pPr>
              <a:defRPr/>
            </a:pPr>
            <a:r>
              <a:rPr lang="en-US" sz="4400" dirty="0"/>
              <a:t>Promotions as a “One Time Gain”</a:t>
            </a:r>
            <a:br>
              <a:rPr lang="en-US" sz="4400" dirty="0"/>
            </a:br>
            <a:r>
              <a:rPr lang="en-US" sz="3600" dirty="0"/>
              <a:t>Example: Coupons…But </a:t>
            </a:r>
            <a:r>
              <a:rPr lang="en-US" sz="3600" i="1" dirty="0"/>
              <a:t>is it always profitable?</a:t>
            </a:r>
          </a:p>
        </p:txBody>
      </p:sp>
      <p:sp>
        <p:nvSpPr>
          <p:cNvPr id="9219" name="Rectangle 3"/>
          <p:cNvSpPr>
            <a:spLocks noGrp="1" noChangeArrowheads="1"/>
          </p:cNvSpPr>
          <p:nvPr>
            <p:ph sz="quarter" idx="1"/>
          </p:nvPr>
        </p:nvSpPr>
        <p:spPr>
          <a:xfrm>
            <a:off x="612775" y="1600200"/>
            <a:ext cx="8153400" cy="5029200"/>
          </a:xfrm>
        </p:spPr>
        <p:txBody>
          <a:bodyPr>
            <a:normAutofit fontScale="92500" lnSpcReduction="10000"/>
          </a:bodyPr>
          <a:lstStyle/>
          <a:p>
            <a:pPr>
              <a:lnSpc>
                <a:spcPct val="90000"/>
              </a:lnSpc>
              <a:spcBef>
                <a:spcPts val="0"/>
              </a:spcBef>
              <a:defRPr/>
            </a:pPr>
            <a:r>
              <a:rPr lang="en-US" dirty="0"/>
              <a:t>2 types of customers who vary in disutility of coupon</a:t>
            </a:r>
          </a:p>
          <a:p>
            <a:pPr marL="457200" lvl="1" indent="0">
              <a:lnSpc>
                <a:spcPct val="90000"/>
              </a:lnSpc>
              <a:spcBef>
                <a:spcPts val="0"/>
              </a:spcBef>
              <a:buFont typeface="Wingdings 2" pitchFamily="18" charset="2"/>
              <a:buNone/>
              <a:defRPr/>
            </a:pPr>
            <a:r>
              <a:rPr lang="en-US" u="sng" dirty="0"/>
              <a:t>Segment</a:t>
            </a:r>
            <a:r>
              <a:rPr lang="en-US" dirty="0"/>
              <a:t>	</a:t>
            </a:r>
            <a:r>
              <a:rPr lang="en-US" u="sng" dirty="0"/>
              <a:t>WTP</a:t>
            </a:r>
            <a:r>
              <a:rPr lang="en-US" dirty="0"/>
              <a:t>	</a:t>
            </a:r>
            <a:r>
              <a:rPr lang="en-US" u="sng" dirty="0"/>
              <a:t>Disutility</a:t>
            </a:r>
            <a:r>
              <a:rPr lang="en-US" dirty="0"/>
              <a:t>	</a:t>
            </a:r>
            <a:r>
              <a:rPr lang="en-US" u="sng" dirty="0"/>
              <a:t>Size</a:t>
            </a:r>
            <a:r>
              <a:rPr lang="en-US" dirty="0"/>
              <a:t>  </a:t>
            </a:r>
          </a:p>
          <a:p>
            <a:pPr lvl="1">
              <a:lnSpc>
                <a:spcPct val="90000"/>
              </a:lnSpc>
              <a:spcBef>
                <a:spcPts val="0"/>
              </a:spcBef>
              <a:buFontTx/>
              <a:buNone/>
              <a:defRPr/>
            </a:pPr>
            <a:r>
              <a:rPr lang="en-US" dirty="0"/>
              <a:t>      H	$15	-$5		100</a:t>
            </a:r>
          </a:p>
          <a:p>
            <a:pPr lvl="1">
              <a:lnSpc>
                <a:spcPct val="90000"/>
              </a:lnSpc>
              <a:buFontTx/>
              <a:buNone/>
              <a:defRPr/>
            </a:pPr>
            <a:r>
              <a:rPr lang="en-US" dirty="0"/>
              <a:t>	   L	$11	-$4		100</a:t>
            </a:r>
          </a:p>
          <a:p>
            <a:pPr>
              <a:defRPr/>
            </a:pPr>
            <a:r>
              <a:rPr lang="en-US" dirty="0"/>
              <a:t>What’s the optimal uniform price?</a:t>
            </a:r>
          </a:p>
          <a:p>
            <a:pPr lvl="1">
              <a:defRPr/>
            </a:pPr>
            <a:r>
              <a:rPr lang="en-US" dirty="0"/>
              <a:t>Strategy 1: Shelf Price=$15, profit: $1500</a:t>
            </a:r>
          </a:p>
          <a:p>
            <a:pPr lvl="1">
              <a:defRPr/>
            </a:pPr>
            <a:r>
              <a:rPr lang="en-US" dirty="0">
                <a:solidFill>
                  <a:srgbClr val="FF0000"/>
                </a:solidFill>
              </a:rPr>
              <a:t>Strategy 2: Shelf Price=$11, profit: $2200</a:t>
            </a:r>
          </a:p>
          <a:p>
            <a:pPr>
              <a:spcBef>
                <a:spcPts val="1800"/>
              </a:spcBef>
              <a:defRPr/>
            </a:pPr>
            <a:r>
              <a:rPr lang="en-US" dirty="0"/>
              <a:t>What’s the optimal coupon price?</a:t>
            </a:r>
          </a:p>
          <a:p>
            <a:pPr lvl="1">
              <a:defRPr/>
            </a:pPr>
            <a:r>
              <a:rPr lang="en-US" dirty="0"/>
              <a:t>hint: This is just product line pricing…</a:t>
            </a:r>
          </a:p>
          <a:p>
            <a:pPr lvl="1">
              <a:defRPr/>
            </a:pPr>
            <a:r>
              <a:rPr lang="en-US" dirty="0"/>
              <a:t>Strategy 3: </a:t>
            </a:r>
          </a:p>
          <a:p>
            <a:pPr lvl="2">
              <a:defRPr/>
            </a:pPr>
            <a:r>
              <a:rPr lang="en-US" dirty="0">
                <a:solidFill>
                  <a:srgbClr val="FF0000"/>
                </a:solidFill>
              </a:rPr>
              <a:t>Coupon face value: $4.99</a:t>
            </a:r>
          </a:p>
          <a:p>
            <a:pPr lvl="2">
              <a:defRPr/>
            </a:pPr>
            <a:r>
              <a:rPr lang="en-US" dirty="0">
                <a:solidFill>
                  <a:srgbClr val="FF0000"/>
                </a:solidFill>
              </a:rPr>
              <a:t>Shelf Price: $7 + $4.99 = $11.99</a:t>
            </a:r>
          </a:p>
          <a:p>
            <a:pPr lvl="2">
              <a:defRPr/>
            </a:pPr>
            <a:r>
              <a:rPr lang="en-US" dirty="0">
                <a:solidFill>
                  <a:srgbClr val="FF0000"/>
                </a:solidFill>
              </a:rPr>
              <a:t>Profit = $1199 + $700 = $1899</a:t>
            </a:r>
          </a:p>
        </p:txBody>
      </p:sp>
      <p:sp>
        <p:nvSpPr>
          <p:cNvPr id="2" name="Slide Number Placeholder 1"/>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29</a:t>
            </a:fld>
            <a:endParaRPr lang="en-US"/>
          </a:p>
        </p:txBody>
      </p:sp>
      <p:sp>
        <p:nvSpPr>
          <p:cNvPr id="3" name="Oval 2"/>
          <p:cNvSpPr/>
          <p:nvPr/>
        </p:nvSpPr>
        <p:spPr>
          <a:xfrm>
            <a:off x="3352800" y="2438400"/>
            <a:ext cx="609600" cy="3810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76300" y="3581400"/>
            <a:ext cx="5562600" cy="533400"/>
          </a:xfrm>
          <a:prstGeom prst="rect">
            <a:avLst/>
          </a:prstGeom>
          <a:solidFill>
            <a:srgbClr val="FF0000">
              <a:alpha val="13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02237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9">
                                            <p:txEl>
                                              <p:pRg st="9"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219">
                                            <p:txEl>
                                              <p:pRg st="10" end="1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219">
                                            <p:txEl>
                                              <p:pRg st="11" end="1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219">
                                            <p:txEl>
                                              <p:pRg st="12" end="1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609600" y="228600"/>
            <a:ext cx="8153400" cy="990600"/>
          </a:xfrm>
        </p:spPr>
        <p:txBody>
          <a:bodyPr>
            <a:normAutofit fontScale="90000"/>
          </a:bodyPr>
          <a:lstStyle/>
          <a:p>
            <a:pPr>
              <a:defRPr/>
            </a:pPr>
            <a:r>
              <a:rPr lang="en-US" sz="4400" dirty="0"/>
              <a:t>Promotions as a “One Time Gain”</a:t>
            </a:r>
            <a:br>
              <a:rPr lang="en-US" sz="4400" dirty="0"/>
            </a:br>
            <a:r>
              <a:rPr lang="en-US" sz="3600" b="1" dirty="0"/>
              <a:t>Exercise</a:t>
            </a:r>
            <a:endParaRPr lang="en-US" sz="3600" b="1" i="1" dirty="0"/>
          </a:p>
        </p:txBody>
      </p:sp>
      <p:sp>
        <p:nvSpPr>
          <p:cNvPr id="9219" name="Rectangle 3"/>
          <p:cNvSpPr>
            <a:spLocks noGrp="1" noChangeArrowheads="1"/>
          </p:cNvSpPr>
          <p:nvPr>
            <p:ph sz="quarter" idx="1"/>
          </p:nvPr>
        </p:nvSpPr>
        <p:spPr>
          <a:xfrm>
            <a:off x="612775" y="1600200"/>
            <a:ext cx="8153400" cy="5029200"/>
          </a:xfrm>
        </p:spPr>
        <p:txBody>
          <a:bodyPr>
            <a:normAutofit/>
          </a:bodyPr>
          <a:lstStyle/>
          <a:p>
            <a:pPr>
              <a:lnSpc>
                <a:spcPct val="90000"/>
              </a:lnSpc>
              <a:spcBef>
                <a:spcPts val="0"/>
              </a:spcBef>
              <a:defRPr/>
            </a:pPr>
            <a:r>
              <a:rPr lang="en-US" dirty="0"/>
              <a:t>Would you ever offer both a coupon and a price discount at the same time?</a:t>
            </a:r>
          </a:p>
          <a:p>
            <a:pPr>
              <a:lnSpc>
                <a:spcPct val="90000"/>
              </a:lnSpc>
              <a:spcBef>
                <a:spcPts val="0"/>
              </a:spcBef>
              <a:defRPr/>
            </a:pPr>
            <a:endParaRPr lang="en-US" dirty="0"/>
          </a:p>
          <a:p>
            <a:pPr>
              <a:lnSpc>
                <a:spcPct val="90000"/>
              </a:lnSpc>
              <a:spcBef>
                <a:spcPts val="0"/>
              </a:spcBef>
              <a:defRPr/>
            </a:pPr>
            <a:r>
              <a:rPr lang="en-US" dirty="0"/>
              <a:t>2 types of customers who vary in disutility of coupon</a:t>
            </a:r>
          </a:p>
          <a:p>
            <a:pPr marL="457200" lvl="1" indent="0">
              <a:lnSpc>
                <a:spcPct val="90000"/>
              </a:lnSpc>
              <a:spcBef>
                <a:spcPts val="0"/>
              </a:spcBef>
              <a:buFont typeface="Wingdings 2" pitchFamily="18" charset="2"/>
              <a:buNone/>
              <a:defRPr/>
            </a:pPr>
            <a:r>
              <a:rPr lang="en-US" u="sng" dirty="0"/>
              <a:t>Segment</a:t>
            </a:r>
            <a:r>
              <a:rPr lang="en-US" dirty="0"/>
              <a:t>	</a:t>
            </a:r>
            <a:r>
              <a:rPr lang="en-US" u="sng" dirty="0"/>
              <a:t>WTP</a:t>
            </a:r>
            <a:r>
              <a:rPr lang="en-US" dirty="0"/>
              <a:t>	</a:t>
            </a:r>
            <a:r>
              <a:rPr lang="en-US" u="sng" dirty="0"/>
              <a:t>Disutility</a:t>
            </a:r>
            <a:r>
              <a:rPr lang="en-US" dirty="0"/>
              <a:t>	</a:t>
            </a:r>
            <a:r>
              <a:rPr lang="en-US" u="sng" dirty="0"/>
              <a:t>Size</a:t>
            </a:r>
            <a:r>
              <a:rPr lang="en-US" dirty="0"/>
              <a:t>  </a:t>
            </a:r>
          </a:p>
          <a:p>
            <a:pPr lvl="1">
              <a:lnSpc>
                <a:spcPct val="90000"/>
              </a:lnSpc>
              <a:spcBef>
                <a:spcPts val="0"/>
              </a:spcBef>
              <a:buFontTx/>
              <a:buNone/>
              <a:defRPr/>
            </a:pPr>
            <a:r>
              <a:rPr lang="en-US" dirty="0"/>
              <a:t>      H	$15	-$5		100</a:t>
            </a:r>
          </a:p>
          <a:p>
            <a:pPr lvl="1">
              <a:lnSpc>
                <a:spcPct val="90000"/>
              </a:lnSpc>
              <a:buFontTx/>
              <a:buNone/>
              <a:defRPr/>
            </a:pPr>
            <a:r>
              <a:rPr lang="en-US" dirty="0"/>
              <a:t>	   L	$7	-$1		100</a:t>
            </a:r>
          </a:p>
        </p:txBody>
      </p:sp>
      <p:sp>
        <p:nvSpPr>
          <p:cNvPr id="2" name="Slide Number Placeholder 1"/>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30</a:t>
            </a:fld>
            <a:endParaRPr lang="en-US"/>
          </a:p>
        </p:txBody>
      </p:sp>
    </p:spTree>
    <p:extLst>
      <p:ext uri="{BB962C8B-B14F-4D97-AF65-F5344CB8AC3E}">
        <p14:creationId xmlns:p14="http://schemas.microsoft.com/office/powerpoint/2010/main" val="32207750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dirty="0"/>
              <a:t>Using </a:t>
            </a:r>
            <a:r>
              <a:rPr lang="en-US" i="1" dirty="0"/>
              <a:t>Solver</a:t>
            </a:r>
            <a:r>
              <a:rPr lang="en-US" dirty="0"/>
              <a:t> in Excel to compute CLV of consumers at different stages of relationship</a:t>
            </a:r>
          </a:p>
        </p:txBody>
      </p:sp>
      <p:sp>
        <p:nvSpPr>
          <p:cNvPr id="3" name="Title 2"/>
          <p:cNvSpPr>
            <a:spLocks noGrp="1"/>
          </p:cNvSpPr>
          <p:nvPr>
            <p:ph type="title"/>
          </p:nvPr>
        </p:nvSpPr>
        <p:spPr/>
        <p:txBody>
          <a:bodyPr/>
          <a:lstStyle/>
          <a:p>
            <a:r>
              <a:rPr lang="en-US" dirty="0"/>
              <a:t>Extra</a:t>
            </a:r>
          </a:p>
        </p:txBody>
      </p:sp>
      <p:sp>
        <p:nvSpPr>
          <p:cNvPr id="4" name="Slide Number Placeholder 3"/>
          <p:cNvSpPr>
            <a:spLocks noGrp="1"/>
          </p:cNvSpPr>
          <p:nvPr>
            <p:ph type="sldNum" sz="quarter" idx="11"/>
          </p:nvPr>
        </p:nvSpPr>
        <p:spPr/>
        <p:txBody>
          <a:bodyPr/>
          <a:lstStyle/>
          <a:p>
            <a:pPr>
              <a:defRPr/>
            </a:pPr>
            <a:fld id="{DF54D116-B739-41B8-A000-A0DD5381050B}" type="slidenum">
              <a:rPr lang="en-US" smtClean="0"/>
              <a:pPr>
                <a:defRPr/>
              </a:pPr>
              <a:t>31</a:t>
            </a:fld>
            <a:endParaRPr lang="en-US"/>
          </a:p>
        </p:txBody>
      </p:sp>
    </p:spTree>
    <p:extLst>
      <p:ext uri="{BB962C8B-B14F-4D97-AF65-F5344CB8AC3E}">
        <p14:creationId xmlns:p14="http://schemas.microsoft.com/office/powerpoint/2010/main" val="21200837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solver add-in</a:t>
            </a:r>
          </a:p>
        </p:txBody>
      </p:sp>
      <p:sp>
        <p:nvSpPr>
          <p:cNvPr id="3" name="Content Placeholder 2"/>
          <p:cNvSpPr>
            <a:spLocks noGrp="1"/>
          </p:cNvSpPr>
          <p:nvPr>
            <p:ph sz="quarter" idx="1"/>
          </p:nvPr>
        </p:nvSpPr>
        <p:spPr/>
        <p:txBody>
          <a:bodyPr/>
          <a:lstStyle/>
          <a:p>
            <a:pPr marL="0" indent="0">
              <a:buNone/>
            </a:pPr>
            <a:r>
              <a:rPr lang="en-US" dirty="0"/>
              <a:t>In Excel:</a:t>
            </a:r>
          </a:p>
          <a:p>
            <a:pPr marL="457200" indent="-457200">
              <a:buFont typeface="+mj-lt"/>
              <a:buAutoNum type="arabicPeriod"/>
            </a:pPr>
            <a:r>
              <a:rPr lang="en-US" dirty="0"/>
              <a:t>Go to “Options,” then “add-ins” and select “solver”</a:t>
            </a:r>
          </a:p>
          <a:p>
            <a:pPr marL="457200" indent="-457200">
              <a:buFont typeface="+mj-lt"/>
              <a:buAutoNum type="arabicPeriod"/>
            </a:pPr>
            <a:r>
              <a:rPr lang="en-US" dirty="0"/>
              <a:t>Under “Manage” select “Excel Add-ins”</a:t>
            </a:r>
          </a:p>
          <a:p>
            <a:pPr marL="457200" indent="-457200">
              <a:buFont typeface="+mj-lt"/>
              <a:buAutoNum type="arabicPeriod"/>
            </a:pPr>
            <a:r>
              <a:rPr lang="en-US" dirty="0"/>
              <a:t>In menu above, select “Solver Add-in”</a:t>
            </a:r>
          </a:p>
          <a:p>
            <a:pPr marL="457200" indent="-457200">
              <a:buFont typeface="+mj-lt"/>
              <a:buAutoNum type="arabicPeriod"/>
            </a:pPr>
            <a:r>
              <a:rPr lang="en-US" dirty="0"/>
              <a:t>Click “Go”</a:t>
            </a:r>
          </a:p>
          <a:p>
            <a:pPr marL="457200" indent="-457200">
              <a:buFont typeface="+mj-lt"/>
              <a:buAutoNum type="arabicPeriod"/>
            </a:pPr>
            <a:r>
              <a:rPr lang="en-US" dirty="0"/>
              <a:t>Make sure “Solver Add-in” is checked and hit “ok”</a:t>
            </a:r>
          </a:p>
        </p:txBody>
      </p:sp>
      <p:sp>
        <p:nvSpPr>
          <p:cNvPr id="4" name="Slide Number Placeholder 3"/>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32</a:t>
            </a:fld>
            <a:endParaRPr lang="en-US"/>
          </a:p>
        </p:txBody>
      </p:sp>
    </p:spTree>
    <p:extLst>
      <p:ext uri="{BB962C8B-B14F-4D97-AF65-F5344CB8AC3E}">
        <p14:creationId xmlns:p14="http://schemas.microsoft.com/office/powerpoint/2010/main" val="3466812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spreadsheet</a:t>
            </a:r>
          </a:p>
        </p:txBody>
      </p:sp>
      <p:sp>
        <p:nvSpPr>
          <p:cNvPr id="3" name="Content Placeholder 2"/>
          <p:cNvSpPr>
            <a:spLocks noGrp="1"/>
          </p:cNvSpPr>
          <p:nvPr>
            <p:ph sz="quarter" idx="1"/>
          </p:nvPr>
        </p:nvSpPr>
        <p:spPr>
          <a:xfrm>
            <a:off x="6172200" y="1600200"/>
            <a:ext cx="2593848" cy="4495800"/>
          </a:xfrm>
        </p:spPr>
        <p:txBody>
          <a:bodyPr/>
          <a:lstStyle/>
          <a:p>
            <a:r>
              <a:rPr lang="en-US" dirty="0"/>
              <a:t>This is the spreadsheet built into the slides</a:t>
            </a:r>
          </a:p>
        </p:txBody>
      </p:sp>
      <p:sp>
        <p:nvSpPr>
          <p:cNvPr id="4" name="Slide Number Placeholder 3"/>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33</a:t>
            </a:fld>
            <a:endParaRPr lang="en-US"/>
          </a:p>
        </p:txBody>
      </p:sp>
      <p:graphicFrame>
        <p:nvGraphicFramePr>
          <p:cNvPr id="20" name="Object 19"/>
          <p:cNvGraphicFramePr>
            <a:graphicFrameLocks noChangeAspect="1"/>
          </p:cNvGraphicFramePr>
          <p:nvPr/>
        </p:nvGraphicFramePr>
        <p:xfrm>
          <a:off x="612648" y="1676400"/>
          <a:ext cx="5340350" cy="4064000"/>
        </p:xfrm>
        <a:graphic>
          <a:graphicData uri="http://schemas.openxmlformats.org/presentationml/2006/ole">
            <mc:AlternateContent xmlns:mc="http://schemas.openxmlformats.org/markup-compatibility/2006">
              <mc:Choice xmlns:v="urn:schemas-microsoft-com:vml" Requires="v">
                <p:oleObj spid="_x0000_s41986" name="Worksheet" r:id="rId3" imgW="10413854" imgH="7924916" progId="Excel.Sheet.12">
                  <p:embed/>
                </p:oleObj>
              </mc:Choice>
              <mc:Fallback>
                <p:oleObj name="Worksheet" r:id="rId3" imgW="10413854" imgH="7924916" progId="Excel.Sheet.12">
                  <p:embed/>
                  <p:pic>
                    <p:nvPicPr>
                      <p:cNvPr id="20" name="Object 19"/>
                      <p:cNvPicPr/>
                      <p:nvPr/>
                    </p:nvPicPr>
                    <p:blipFill>
                      <a:blip r:embed="rId4"/>
                      <a:stretch>
                        <a:fillRect/>
                      </a:stretch>
                    </p:blipFill>
                    <p:spPr>
                      <a:xfrm>
                        <a:off x="612648" y="1676400"/>
                        <a:ext cx="5340350" cy="4064000"/>
                      </a:xfrm>
                      <a:prstGeom prst="rect">
                        <a:avLst/>
                      </a:prstGeom>
                    </p:spPr>
                  </p:pic>
                </p:oleObj>
              </mc:Fallback>
            </mc:AlternateContent>
          </a:graphicData>
        </a:graphic>
      </p:graphicFrame>
    </p:spTree>
    <p:extLst>
      <p:ext uri="{BB962C8B-B14F-4D97-AF65-F5344CB8AC3E}">
        <p14:creationId xmlns:p14="http://schemas.microsoft.com/office/powerpoint/2010/main" val="7557916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Use solver to compute CLV of consumer types B, R and L</a:t>
            </a:r>
          </a:p>
        </p:txBody>
      </p:sp>
      <p:sp>
        <p:nvSpPr>
          <p:cNvPr id="3" name="Content Placeholder 2"/>
          <p:cNvSpPr>
            <a:spLocks noGrp="1"/>
          </p:cNvSpPr>
          <p:nvPr>
            <p:ph sz="quarter" idx="1"/>
          </p:nvPr>
        </p:nvSpPr>
        <p:spPr/>
        <p:txBody>
          <a:bodyPr>
            <a:normAutofit/>
          </a:bodyPr>
          <a:lstStyle/>
          <a:p>
            <a:pPr marL="457200" indent="-457200">
              <a:buFont typeface="+mj-lt"/>
              <a:buAutoNum type="arabicPeriod"/>
            </a:pPr>
            <a:r>
              <a:rPr lang="en-US" sz="2000" dirty="0"/>
              <a:t>Go to “Data” tab and click on “Solver” in “Analysis” group</a:t>
            </a:r>
          </a:p>
        </p:txBody>
      </p:sp>
      <p:sp>
        <p:nvSpPr>
          <p:cNvPr id="4" name="Slide Number Placeholder 3"/>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34</a:t>
            </a:fld>
            <a:endParaRPr lang="en-US"/>
          </a:p>
        </p:txBody>
      </p:sp>
      <p:pic>
        <p:nvPicPr>
          <p:cNvPr id="11" name="Picture 10"/>
          <p:cNvPicPr>
            <a:picLocks noChangeAspect="1"/>
          </p:cNvPicPr>
          <p:nvPr/>
        </p:nvPicPr>
        <p:blipFill rotWithShape="1">
          <a:blip r:embed="rId3"/>
          <a:srcRect r="32302" b="22727"/>
          <a:stretch/>
        </p:blipFill>
        <p:spPr>
          <a:xfrm>
            <a:off x="381000" y="2281565"/>
            <a:ext cx="6553200" cy="4207520"/>
          </a:xfrm>
          <a:prstGeom prst="rect">
            <a:avLst/>
          </a:prstGeom>
        </p:spPr>
      </p:pic>
      <p:cxnSp>
        <p:nvCxnSpPr>
          <p:cNvPr id="12" name="Straight Arrow Connector 11"/>
          <p:cNvCxnSpPr/>
          <p:nvPr/>
        </p:nvCxnSpPr>
        <p:spPr>
          <a:xfrm flipV="1">
            <a:off x="5410200" y="2667000"/>
            <a:ext cx="679450" cy="717550"/>
          </a:xfrm>
          <a:prstGeom prst="straightConnector1">
            <a:avLst/>
          </a:prstGeom>
          <a:ln>
            <a:solidFill>
              <a:srgbClr val="FF0000"/>
            </a:solidFill>
            <a:tailEnd type="triangle"/>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33297636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Enter equations into solver</a:t>
            </a:r>
          </a:p>
        </p:txBody>
      </p:sp>
      <p:sp>
        <p:nvSpPr>
          <p:cNvPr id="3" name="Content Placeholder 2"/>
          <p:cNvSpPr>
            <a:spLocks noGrp="1"/>
          </p:cNvSpPr>
          <p:nvPr>
            <p:ph sz="quarter" idx="1"/>
          </p:nvPr>
        </p:nvSpPr>
        <p:spPr/>
        <p:txBody>
          <a:bodyPr>
            <a:normAutofit/>
          </a:bodyPr>
          <a:lstStyle/>
          <a:p>
            <a:pPr marL="457200" indent="-457200">
              <a:buFont typeface="+mj-lt"/>
              <a:buAutoNum type="arabicPeriod" startAt="2"/>
            </a:pPr>
            <a:r>
              <a:rPr lang="en-US" sz="2000" dirty="0"/>
              <a:t>In “Set Objective” box, insert cell reference C31, where we set formula for first equation of system.</a:t>
            </a:r>
          </a:p>
          <a:p>
            <a:pPr marL="457200" indent="-457200">
              <a:buFont typeface="+mj-lt"/>
              <a:buAutoNum type="arabicPeriod" startAt="2"/>
            </a:pPr>
            <a:r>
              <a:rPr lang="en-US" sz="2000" dirty="0"/>
              <a:t>Select the objective as “Max”.</a:t>
            </a:r>
          </a:p>
          <a:p>
            <a:pPr marL="457200" indent="-457200">
              <a:buFont typeface="+mj-lt"/>
              <a:buAutoNum type="arabicPeriod" startAt="2"/>
            </a:pPr>
            <a:r>
              <a:rPr lang="en-US" sz="2000" dirty="0"/>
              <a:t>Insert range of cell references B31, B33 and B35 in the “By Changing Variable Cells” box.</a:t>
            </a:r>
          </a:p>
        </p:txBody>
      </p:sp>
      <p:sp>
        <p:nvSpPr>
          <p:cNvPr id="4" name="Slide Number Placeholder 3"/>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35</a:t>
            </a:fld>
            <a:endParaRPr lang="en-US"/>
          </a:p>
        </p:txBody>
      </p:sp>
      <p:pic>
        <p:nvPicPr>
          <p:cNvPr id="5" name="Picture 4"/>
          <p:cNvPicPr/>
          <p:nvPr/>
        </p:nvPicPr>
        <p:blipFill rotWithShape="1">
          <a:blip r:embed="rId2"/>
          <a:srcRect r="75748" b="57265"/>
          <a:stretch/>
        </p:blipFill>
        <p:spPr bwMode="auto">
          <a:xfrm>
            <a:off x="3352800" y="3200400"/>
            <a:ext cx="3302000" cy="3536992"/>
          </a:xfrm>
          <a:prstGeom prst="rect">
            <a:avLst/>
          </a:prstGeom>
          <a:ln>
            <a:noFill/>
          </a:ln>
          <a:extLst>
            <a:ext uri="{53640926-AAD7-44D8-BBD7-CCE9431645EC}">
              <a14:shadowObscured xmlns:a14="http://schemas.microsoft.com/office/drawing/2010/main"/>
            </a:ext>
          </a:extLst>
        </p:spPr>
      </p:pic>
      <p:sp>
        <p:nvSpPr>
          <p:cNvPr id="6" name="Rectangle 5"/>
          <p:cNvSpPr/>
          <p:nvPr/>
        </p:nvSpPr>
        <p:spPr>
          <a:xfrm>
            <a:off x="3557016" y="4544568"/>
            <a:ext cx="457200" cy="3108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13139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Enter constraints</a:t>
            </a:r>
          </a:p>
        </p:txBody>
      </p:sp>
      <p:sp>
        <p:nvSpPr>
          <p:cNvPr id="3" name="Content Placeholder 2"/>
          <p:cNvSpPr>
            <a:spLocks noGrp="1"/>
          </p:cNvSpPr>
          <p:nvPr>
            <p:ph sz="quarter" idx="1"/>
          </p:nvPr>
        </p:nvSpPr>
        <p:spPr/>
        <p:txBody>
          <a:bodyPr/>
          <a:lstStyle/>
          <a:p>
            <a:pPr marL="457200" indent="-457200">
              <a:buFont typeface="+mj-lt"/>
              <a:buAutoNum type="arabicPeriod" startAt="5"/>
            </a:pPr>
            <a:r>
              <a:rPr lang="en-US" sz="2000" dirty="0"/>
              <a:t>In “Subject to Constraints” box, add constraints for each of the equations by clicking on “Add” button.</a:t>
            </a:r>
          </a:p>
          <a:p>
            <a:pPr marL="663575" lvl="1" indent="-342900"/>
            <a:r>
              <a:rPr lang="en-US" sz="1800" dirty="0"/>
              <a:t>In “Add Constraints” window, enter the constraints for all equations one by one by pressing “Add” button. Press OK button when done with adding all the constraints.</a:t>
            </a:r>
            <a:endParaRPr lang="en-US" dirty="0"/>
          </a:p>
          <a:p>
            <a:pPr marL="457200" indent="-457200">
              <a:buFont typeface="+mj-lt"/>
              <a:buAutoNum type="arabicPeriod"/>
            </a:pPr>
            <a:endParaRPr lang="en-US" dirty="0"/>
          </a:p>
        </p:txBody>
      </p:sp>
      <p:sp>
        <p:nvSpPr>
          <p:cNvPr id="4" name="Slide Number Placeholder 3"/>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36</a:t>
            </a:fld>
            <a:endParaRPr lang="en-US"/>
          </a:p>
        </p:txBody>
      </p:sp>
      <p:pic>
        <p:nvPicPr>
          <p:cNvPr id="5" name="Picture 4"/>
          <p:cNvPicPr/>
          <p:nvPr/>
        </p:nvPicPr>
        <p:blipFill rotWithShape="1">
          <a:blip r:embed="rId2"/>
          <a:srcRect l="32799" t="26591" r="29487" b="54985"/>
          <a:stretch/>
        </p:blipFill>
        <p:spPr bwMode="auto">
          <a:xfrm>
            <a:off x="838200" y="3505200"/>
            <a:ext cx="5522595" cy="151765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9904822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Now solve the system</a:t>
            </a:r>
          </a:p>
        </p:txBody>
      </p:sp>
      <p:sp>
        <p:nvSpPr>
          <p:cNvPr id="3" name="Content Placeholder 2"/>
          <p:cNvSpPr>
            <a:spLocks noGrp="1"/>
          </p:cNvSpPr>
          <p:nvPr>
            <p:ph sz="quarter" idx="1"/>
          </p:nvPr>
        </p:nvSpPr>
        <p:spPr/>
        <p:txBody>
          <a:bodyPr/>
          <a:lstStyle/>
          <a:p>
            <a:pPr marL="457200" indent="-457200">
              <a:buFont typeface="+mj-lt"/>
              <a:buAutoNum type="arabicPeriod" startAt="6"/>
            </a:pPr>
            <a:r>
              <a:rPr lang="en-US" dirty="0"/>
              <a:t>Press “Solve” button</a:t>
            </a:r>
          </a:p>
        </p:txBody>
      </p:sp>
      <p:sp>
        <p:nvSpPr>
          <p:cNvPr id="4" name="Slide Number Placeholder 3"/>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37</a:t>
            </a:fld>
            <a:endParaRPr lang="en-US"/>
          </a:p>
        </p:txBody>
      </p:sp>
      <p:pic>
        <p:nvPicPr>
          <p:cNvPr id="5" name="Picture 4"/>
          <p:cNvPicPr/>
          <p:nvPr/>
        </p:nvPicPr>
        <p:blipFill rotWithShape="1">
          <a:blip r:embed="rId2"/>
          <a:srcRect r="75748" b="57265"/>
          <a:stretch/>
        </p:blipFill>
        <p:spPr bwMode="auto">
          <a:xfrm>
            <a:off x="1387348" y="2559008"/>
            <a:ext cx="3302000" cy="3536992"/>
          </a:xfrm>
          <a:prstGeom prst="rect">
            <a:avLst/>
          </a:prstGeom>
          <a:ln>
            <a:noFill/>
          </a:ln>
          <a:extLst>
            <a:ext uri="{53640926-AAD7-44D8-BBD7-CCE9431645EC}">
              <a14:shadowObscured xmlns:a14="http://schemas.microsoft.com/office/drawing/2010/main"/>
            </a:ext>
          </a:extLst>
        </p:spPr>
      </p:pic>
      <p:cxnSp>
        <p:nvCxnSpPr>
          <p:cNvPr id="6" name="Straight Arrow Connector 5"/>
          <p:cNvCxnSpPr/>
          <p:nvPr/>
        </p:nvCxnSpPr>
        <p:spPr>
          <a:xfrm flipH="1">
            <a:off x="3733800" y="5105400"/>
            <a:ext cx="1371600" cy="685800"/>
          </a:xfrm>
          <a:prstGeom prst="straightConnector1">
            <a:avLst/>
          </a:prstGeom>
          <a:ln>
            <a:solidFill>
              <a:srgbClr val="FF0000"/>
            </a:solidFill>
            <a:tailEnd type="triangle"/>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12993521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Solved</a:t>
            </a:r>
          </a:p>
        </p:txBody>
      </p:sp>
      <p:sp>
        <p:nvSpPr>
          <p:cNvPr id="3" name="Content Placeholder 2"/>
          <p:cNvSpPr>
            <a:spLocks noGrp="1"/>
          </p:cNvSpPr>
          <p:nvPr>
            <p:ph sz="quarter" idx="1"/>
          </p:nvPr>
        </p:nvSpPr>
        <p:spPr/>
        <p:txBody>
          <a:bodyPr/>
          <a:lstStyle/>
          <a:p>
            <a:r>
              <a:rPr lang="en-US" dirty="0"/>
              <a:t>Here’s the solution</a:t>
            </a:r>
          </a:p>
        </p:txBody>
      </p:sp>
      <p:sp>
        <p:nvSpPr>
          <p:cNvPr id="4" name="Slide Number Placeholder 3"/>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38</a:t>
            </a:fld>
            <a:endParaRPr lang="en-US"/>
          </a:p>
        </p:txBody>
      </p:sp>
      <p:pic>
        <p:nvPicPr>
          <p:cNvPr id="6" name="Picture 5"/>
          <p:cNvPicPr/>
          <p:nvPr/>
        </p:nvPicPr>
        <p:blipFill rotWithShape="1">
          <a:blip r:embed="rId2"/>
          <a:srcRect r="49573" b="23836"/>
          <a:stretch/>
        </p:blipFill>
        <p:spPr bwMode="auto">
          <a:xfrm>
            <a:off x="685800" y="2209800"/>
            <a:ext cx="4946650" cy="4202430"/>
          </a:xfrm>
          <a:prstGeom prst="rect">
            <a:avLst/>
          </a:prstGeom>
          <a:ln>
            <a:noFill/>
          </a:ln>
          <a:extLst>
            <a:ext uri="{53640926-AAD7-44D8-BBD7-CCE9431645EC}">
              <a14:shadowObscured xmlns:a14="http://schemas.microsoft.com/office/drawing/2010/main"/>
            </a:ext>
          </a:extLst>
        </p:spPr>
      </p:pic>
      <p:sp>
        <p:nvSpPr>
          <p:cNvPr id="7" name="Oval 6"/>
          <p:cNvSpPr/>
          <p:nvPr/>
        </p:nvSpPr>
        <p:spPr>
          <a:xfrm>
            <a:off x="1524000" y="5410200"/>
            <a:ext cx="381000" cy="1143000"/>
          </a:xfrm>
          <a:prstGeom prst="ellipse">
            <a:avLst/>
          </a:prstGeom>
          <a:solidFill>
            <a:srgbClr val="FF0000">
              <a:alpha val="1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p:cNvCxnSpPr/>
          <p:nvPr/>
        </p:nvCxnSpPr>
        <p:spPr>
          <a:xfrm flipH="1">
            <a:off x="1978152" y="4953000"/>
            <a:ext cx="1371600" cy="685800"/>
          </a:xfrm>
          <a:prstGeom prst="straightConnector1">
            <a:avLst/>
          </a:prstGeom>
          <a:ln>
            <a:solidFill>
              <a:srgbClr val="FF0000"/>
            </a:solidFill>
            <a:tailEnd type="triangle"/>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32857770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0" name="Text Box 8"/>
          <p:cNvSpPr txBox="1">
            <a:spLocks noChangeArrowheads="1"/>
          </p:cNvSpPr>
          <p:nvPr/>
        </p:nvSpPr>
        <p:spPr bwMode="auto">
          <a:xfrm>
            <a:off x="7315201" y="4940300"/>
            <a:ext cx="1828800" cy="905376"/>
          </a:xfrm>
          <a:prstGeom prst="rect">
            <a:avLst/>
          </a:prstGeom>
          <a:noFill/>
          <a:ln w="6350">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square" lIns="90488" tIns="44450" rIns="90488" bIns="44450">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1600" dirty="0">
                <a:solidFill>
                  <a:srgbClr val="FF3300"/>
                </a:solidFill>
              </a:rPr>
              <a:t>Click to see CLV analysis via solver </a:t>
            </a:r>
          </a:p>
          <a:p>
            <a:pPr>
              <a:spcBef>
                <a:spcPts val="600"/>
              </a:spcBef>
            </a:pPr>
            <a:r>
              <a:rPr lang="en-US" sz="1600" dirty="0">
                <a:solidFill>
                  <a:srgbClr val="FF3300"/>
                </a:solidFill>
              </a:rPr>
              <a:t>(steps in Appendix)</a:t>
            </a:r>
          </a:p>
        </p:txBody>
      </p:sp>
      <p:sp>
        <p:nvSpPr>
          <p:cNvPr id="26631" name="Line 9"/>
          <p:cNvSpPr>
            <a:spLocks noChangeShapeType="1"/>
          </p:cNvSpPr>
          <p:nvPr/>
        </p:nvSpPr>
        <p:spPr bwMode="auto">
          <a:xfrm flipH="1" flipV="1">
            <a:off x="7106714" y="3376473"/>
            <a:ext cx="284686" cy="1563825"/>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90488" tIns="44450" rIns="90488" bIns="44450"/>
          <a:lstStyle/>
          <a:p>
            <a:endParaRPr lang="en-US"/>
          </a:p>
        </p:txBody>
      </p:sp>
      <p:pic>
        <p:nvPicPr>
          <p:cNvPr id="26632" name="Picture 29" descr="LOGOs_430+202_just_110508.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48513" y="6324600"/>
            <a:ext cx="16906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normAutofit fontScale="85000" lnSpcReduction="20000"/>
          </a:bodyPr>
          <a:lstStyle/>
          <a:p>
            <a:pPr>
              <a:defRPr/>
            </a:pPr>
            <a:fld id="{171C4267-8970-430F-B9B7-EA11299B2778}" type="slidenum">
              <a:rPr lang="en-US" smtClean="0"/>
              <a:pPr>
                <a:defRPr/>
              </a:pPr>
              <a:t>39</a:t>
            </a:fld>
            <a:endParaRPr lang="en-US"/>
          </a:p>
        </p:txBody>
      </p:sp>
      <p:graphicFrame>
        <p:nvGraphicFramePr>
          <p:cNvPr id="3" name="Object 2"/>
          <p:cNvGraphicFramePr>
            <a:graphicFrameLocks noChangeAspect="1"/>
          </p:cNvGraphicFramePr>
          <p:nvPr/>
        </p:nvGraphicFramePr>
        <p:xfrm>
          <a:off x="1590675" y="1828800"/>
          <a:ext cx="5953125" cy="1428750"/>
        </p:xfrm>
        <a:graphic>
          <a:graphicData uri="http://schemas.openxmlformats.org/presentationml/2006/ole">
            <mc:AlternateContent xmlns:mc="http://schemas.openxmlformats.org/markup-compatibility/2006">
              <mc:Choice xmlns:v="urn:schemas-microsoft-com:vml" Requires="v">
                <p:oleObj spid="_x0000_s43010" name="Worksheet" r:id="rId4" imgW="5953190" imgH="1428840" progId="Excel.Sheet.12">
                  <p:embed/>
                </p:oleObj>
              </mc:Choice>
              <mc:Fallback>
                <p:oleObj name="Worksheet" r:id="rId4" imgW="5953190" imgH="1428840" progId="Excel.Sheet.12">
                  <p:embed/>
                  <p:pic>
                    <p:nvPicPr>
                      <p:cNvPr id="3" name="Object 2"/>
                      <p:cNvPicPr/>
                      <p:nvPr/>
                    </p:nvPicPr>
                    <p:blipFill>
                      <a:blip r:embed="rId5"/>
                      <a:stretch>
                        <a:fillRect/>
                      </a:stretch>
                    </p:blipFill>
                    <p:spPr>
                      <a:xfrm>
                        <a:off x="1590675" y="1828800"/>
                        <a:ext cx="5953125" cy="1428750"/>
                      </a:xfrm>
                      <a:prstGeom prst="rect">
                        <a:avLst/>
                      </a:prstGeom>
                    </p:spPr>
                  </p:pic>
                </p:oleObj>
              </mc:Fallback>
            </mc:AlternateContent>
          </a:graphicData>
        </a:graphic>
      </p:graphicFrame>
      <p:graphicFrame>
        <p:nvGraphicFramePr>
          <p:cNvPr id="4" name="Object 3"/>
          <p:cNvGraphicFramePr>
            <a:graphicFrameLocks noChangeAspect="1"/>
          </p:cNvGraphicFramePr>
          <p:nvPr/>
        </p:nvGraphicFramePr>
        <p:xfrm>
          <a:off x="2514600" y="3459163"/>
          <a:ext cx="3381375" cy="923925"/>
        </p:xfrm>
        <a:graphic>
          <a:graphicData uri="http://schemas.openxmlformats.org/presentationml/2006/ole">
            <mc:AlternateContent xmlns:mc="http://schemas.openxmlformats.org/markup-compatibility/2006">
              <mc:Choice xmlns:v="urn:schemas-microsoft-com:vml" Requires="v">
                <p:oleObj spid="_x0000_s43011" name="Worksheet" r:id="rId6" imgW="3381254" imgH="923940" progId="Excel.Sheet.12">
                  <p:embed/>
                </p:oleObj>
              </mc:Choice>
              <mc:Fallback>
                <p:oleObj name="Worksheet" r:id="rId6" imgW="3381254" imgH="923940" progId="Excel.Sheet.12">
                  <p:embed/>
                  <p:pic>
                    <p:nvPicPr>
                      <p:cNvPr id="4" name="Object 3"/>
                      <p:cNvPicPr>
                        <a:picLocks noChangeAspect="1" noChangeArrowheads="1"/>
                      </p:cNvPicPr>
                      <p:nvPr/>
                    </p:nvPicPr>
                    <p:blipFill>
                      <a:blip r:embed="rId7"/>
                      <a:srcRect/>
                      <a:stretch>
                        <a:fillRect/>
                      </a:stretch>
                    </p:blipFill>
                    <p:spPr bwMode="auto">
                      <a:xfrm>
                        <a:off x="2514600" y="3459163"/>
                        <a:ext cx="33813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4"/>
          <p:cNvGraphicFramePr>
            <a:graphicFrameLocks noChangeAspect="1"/>
          </p:cNvGraphicFramePr>
          <p:nvPr/>
        </p:nvGraphicFramePr>
        <p:xfrm>
          <a:off x="2514600" y="4580323"/>
          <a:ext cx="3381375" cy="923925"/>
        </p:xfrm>
        <a:graphic>
          <a:graphicData uri="http://schemas.openxmlformats.org/presentationml/2006/ole">
            <mc:AlternateContent xmlns:mc="http://schemas.openxmlformats.org/markup-compatibility/2006">
              <mc:Choice xmlns:v="urn:schemas-microsoft-com:vml" Requires="v">
                <p:oleObj spid="_x0000_s43012" name="Worksheet" r:id="rId8" imgW="3381254" imgH="923940" progId="Excel.Sheet.12">
                  <p:embed/>
                </p:oleObj>
              </mc:Choice>
              <mc:Fallback>
                <p:oleObj name="Worksheet" r:id="rId8" imgW="3381254" imgH="923940" progId="Excel.Sheet.12">
                  <p:embed/>
                  <p:pic>
                    <p:nvPicPr>
                      <p:cNvPr id="5" name="Object 4"/>
                      <p:cNvPicPr>
                        <a:picLocks noChangeAspect="1" noChangeArrowheads="1"/>
                      </p:cNvPicPr>
                      <p:nvPr/>
                    </p:nvPicPr>
                    <p:blipFill>
                      <a:blip r:embed="rId9"/>
                      <a:srcRect/>
                      <a:stretch>
                        <a:fillRect/>
                      </a:stretch>
                    </p:blipFill>
                    <p:spPr bwMode="auto">
                      <a:xfrm>
                        <a:off x="2514600" y="4580323"/>
                        <a:ext cx="33813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Line 9"/>
          <p:cNvSpPr>
            <a:spLocks noChangeShapeType="1"/>
          </p:cNvSpPr>
          <p:nvPr/>
        </p:nvSpPr>
        <p:spPr bwMode="auto">
          <a:xfrm flipH="1" flipV="1">
            <a:off x="6014249" y="4153146"/>
            <a:ext cx="1300950" cy="787153"/>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90488" tIns="44450" rIns="90488" bIns="44450"/>
          <a:lstStyle/>
          <a:p>
            <a:endParaRPr lang="en-US"/>
          </a:p>
        </p:txBody>
      </p:sp>
      <p:sp>
        <p:nvSpPr>
          <p:cNvPr id="14" name="Line 9"/>
          <p:cNvSpPr>
            <a:spLocks noChangeShapeType="1"/>
          </p:cNvSpPr>
          <p:nvPr/>
        </p:nvSpPr>
        <p:spPr bwMode="auto">
          <a:xfrm flipH="1">
            <a:off x="5943600" y="5019398"/>
            <a:ext cx="1371600" cy="86001"/>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90488" tIns="44450" rIns="90488" bIns="44450"/>
          <a:lstStyle/>
          <a:p>
            <a:endParaRPr lang="en-US"/>
          </a:p>
        </p:txBody>
      </p:sp>
      <mc:AlternateContent xmlns:mc="http://schemas.openxmlformats.org/markup-compatibility/2006" xmlns:a14="http://schemas.microsoft.com/office/drawing/2010/main">
        <mc:Choice Requires="a14">
          <p:sp>
            <p:nvSpPr>
              <p:cNvPr id="6" name="TextBox 5"/>
              <p:cNvSpPr txBox="1"/>
              <p:nvPr/>
            </p:nvSpPr>
            <p:spPr>
              <a:xfrm>
                <a:off x="457200" y="5909101"/>
                <a:ext cx="6649514" cy="837537"/>
              </a:xfrm>
              <a:prstGeom prst="rect">
                <a:avLst/>
              </a:prstGeom>
              <a:noFill/>
            </p:spPr>
            <p:txBody>
              <a:bodyPr wrap="square" rtlCol="0">
                <a:spAutoFit/>
              </a:bodyPr>
              <a:lstStyle/>
              <a:p>
                <a:r>
                  <a:rPr lang="en-US" b="1" i="1" dirty="0">
                    <a:solidFill>
                      <a:srgbClr val="7030A0"/>
                    </a:solidFill>
                  </a:rPr>
                  <a:t>  </a:t>
                </a:r>
                <a:r>
                  <a:rPr lang="en-US" b="1" i="1" dirty="0" err="1">
                    <a:solidFill>
                      <a:srgbClr val="7030A0"/>
                    </a:solidFill>
                  </a:rPr>
                  <a:t>get‘em</a:t>
                </a:r>
                <a:r>
                  <a:rPr lang="en-US" dirty="0">
                    <a:solidFill>
                      <a:srgbClr val="7030A0"/>
                    </a:solidFill>
                  </a:rPr>
                  <a:t> promotion is investment in acquisition of </a:t>
                </a:r>
                <a:r>
                  <a:rPr lang="en-US" b="1" dirty="0">
                    <a:solidFill>
                      <a:srgbClr val="7030A0"/>
                    </a:solidFill>
                  </a:rPr>
                  <a:t>1</a:t>
                </a:r>
                <a:r>
                  <a:rPr lang="en-US" b="1" baseline="30000" dirty="0">
                    <a:solidFill>
                      <a:srgbClr val="7030A0"/>
                    </a:solidFill>
                  </a:rPr>
                  <a:t>st</a:t>
                </a:r>
                <a:r>
                  <a:rPr lang="en-US" b="1" dirty="0">
                    <a:solidFill>
                      <a:srgbClr val="7030A0"/>
                    </a:solidFill>
                  </a:rPr>
                  <a:t>-time Buyers</a:t>
                </a:r>
                <a:r>
                  <a:rPr lang="en-US" dirty="0">
                    <a:solidFill>
                      <a:srgbClr val="7030A0"/>
                    </a:solidFill>
                  </a:rPr>
                  <a:t> (</a:t>
                </a:r>
                <a:r>
                  <a:rPr lang="en-US" b="1" dirty="0">
                    <a:solidFill>
                      <a:srgbClr val="7030A0"/>
                    </a:solidFill>
                  </a:rPr>
                  <a:t>B</a:t>
                </a:r>
                <a:r>
                  <a:rPr lang="en-US" dirty="0">
                    <a:solidFill>
                      <a:srgbClr val="7030A0"/>
                    </a:solidFill>
                  </a:rPr>
                  <a:t>) where </a:t>
                </a:r>
                <a14:m>
                  <m:oMath xmlns:m="http://schemas.openxmlformats.org/officeDocument/2006/math">
                    <m:r>
                      <a:rPr lang="en-US" b="1" i="1" smtClean="0">
                        <a:solidFill>
                          <a:srgbClr val="7030A0"/>
                        </a:solidFill>
                        <a:latin typeface="Cambria Math" panose="02040503050406030204" pitchFamily="18" charset="0"/>
                      </a:rPr>
                      <m:t>𝑪𝑳</m:t>
                    </m:r>
                    <m:sSup>
                      <m:sSupPr>
                        <m:ctrlPr>
                          <a:rPr lang="en-US" b="1" i="1" smtClean="0">
                            <a:solidFill>
                              <a:srgbClr val="7030A0"/>
                            </a:solidFill>
                            <a:latin typeface="Cambria Math" panose="02040503050406030204" pitchFamily="18" charset="0"/>
                          </a:rPr>
                        </m:ctrlPr>
                      </m:sSupPr>
                      <m:e>
                        <m:r>
                          <a:rPr lang="en-US" b="1" i="1" smtClean="0">
                            <a:solidFill>
                              <a:srgbClr val="7030A0"/>
                            </a:solidFill>
                            <a:latin typeface="Cambria Math" panose="02040503050406030204" pitchFamily="18" charset="0"/>
                          </a:rPr>
                          <m:t>𝑽</m:t>
                        </m:r>
                      </m:e>
                      <m:sup>
                        <m:r>
                          <a:rPr lang="en-US" b="1" i="1" smtClean="0">
                            <a:solidFill>
                              <a:srgbClr val="7030A0"/>
                            </a:solidFill>
                            <a:latin typeface="Cambria Math" panose="02040503050406030204" pitchFamily="18" charset="0"/>
                          </a:rPr>
                          <m:t>𝑩</m:t>
                        </m:r>
                      </m:sup>
                    </m:sSup>
                    <m:r>
                      <a:rPr lang="en-US" b="1" i="1" smtClean="0">
                        <a:solidFill>
                          <a:srgbClr val="7030A0"/>
                        </a:solidFill>
                        <a:latin typeface="Cambria Math" panose="02040503050406030204" pitchFamily="18" charset="0"/>
                      </a:rPr>
                      <m:t>=$</m:t>
                    </m:r>
                    <m:r>
                      <a:rPr lang="en-US" b="1" i="1" smtClean="0">
                        <a:solidFill>
                          <a:srgbClr val="7030A0"/>
                        </a:solidFill>
                        <a:latin typeface="Cambria Math" panose="02040503050406030204" pitchFamily="18" charset="0"/>
                      </a:rPr>
                      <m:t>𝟒</m:t>
                    </m:r>
                    <m:r>
                      <a:rPr lang="en-US" b="1" i="1" smtClean="0">
                        <a:solidFill>
                          <a:srgbClr val="7030A0"/>
                        </a:solidFill>
                        <a:latin typeface="Cambria Math" panose="02040503050406030204" pitchFamily="18" charset="0"/>
                      </a:rPr>
                      <m:t>.</m:t>
                    </m:r>
                    <m:r>
                      <a:rPr lang="en-US" b="1" i="1" smtClean="0">
                        <a:solidFill>
                          <a:srgbClr val="7030A0"/>
                        </a:solidFill>
                        <a:latin typeface="Cambria Math" panose="02040503050406030204" pitchFamily="18" charset="0"/>
                      </a:rPr>
                      <m:t>𝟒𝟗</m:t>
                    </m:r>
                  </m:oMath>
                </a14:m>
                <a:endParaRPr lang="en-US" b="1" dirty="0">
                  <a:solidFill>
                    <a:srgbClr val="7030A0"/>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457200" y="5909101"/>
                <a:ext cx="6649514" cy="837537"/>
              </a:xfrm>
              <a:prstGeom prst="rect">
                <a:avLst/>
              </a:prstGeom>
              <a:blipFill>
                <a:blip r:embed="rId10"/>
                <a:stretch>
                  <a:fillRect l="-1375" t="-5797" b="-15217"/>
                </a:stretch>
              </a:blipFill>
            </p:spPr>
            <p:txBody>
              <a:bodyPr/>
              <a:lstStyle/>
              <a:p>
                <a:r>
                  <a:rPr lang="en-US">
                    <a:noFill/>
                  </a:rPr>
                  <a:t> </a:t>
                </a:r>
              </a:p>
            </p:txBody>
          </p:sp>
        </mc:Fallback>
      </mc:AlternateContent>
      <p:sp>
        <p:nvSpPr>
          <p:cNvPr id="17" name="Title 1"/>
          <p:cNvSpPr>
            <a:spLocks noGrp="1"/>
          </p:cNvSpPr>
          <p:nvPr>
            <p:ph type="title"/>
          </p:nvPr>
        </p:nvSpPr>
        <p:spPr>
          <a:xfrm>
            <a:off x="609600" y="228600"/>
            <a:ext cx="8153400" cy="990600"/>
          </a:xfrm>
        </p:spPr>
        <p:txBody>
          <a:bodyPr>
            <a:normAutofit fontScale="90000"/>
          </a:bodyPr>
          <a:lstStyle/>
          <a:p>
            <a:r>
              <a:rPr lang="en-US" sz="4400" dirty="0"/>
              <a:t>CLV of a Buyer</a:t>
            </a:r>
            <a:br>
              <a:rPr lang="en-US" sz="4400" dirty="0"/>
            </a:br>
            <a:r>
              <a:rPr lang="en-US" sz="3600" dirty="0"/>
              <a:t>example: Nashua Photo’s 3 buyer types</a:t>
            </a:r>
            <a:endParaRPr lang="en-US" sz="4400" dirty="0"/>
          </a:p>
        </p:txBody>
      </p:sp>
      <p:sp>
        <p:nvSpPr>
          <p:cNvPr id="8" name="Right Arrow 7"/>
          <p:cNvSpPr/>
          <p:nvPr/>
        </p:nvSpPr>
        <p:spPr>
          <a:xfrm>
            <a:off x="395770" y="6019800"/>
            <a:ext cx="2286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08870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dirty="0"/>
              <a:t>I personally think this </a:t>
            </a:r>
            <a:r>
              <a:rPr lang="en-US"/>
              <a:t>is easier!</a:t>
            </a:r>
          </a:p>
        </p:txBody>
      </p:sp>
      <p:sp>
        <p:nvSpPr>
          <p:cNvPr id="3" name="Title 2"/>
          <p:cNvSpPr>
            <a:spLocks noGrp="1"/>
          </p:cNvSpPr>
          <p:nvPr>
            <p:ph type="title"/>
          </p:nvPr>
        </p:nvSpPr>
        <p:spPr/>
        <p:txBody>
          <a:bodyPr/>
          <a:lstStyle/>
          <a:p>
            <a:r>
              <a:rPr lang="en-US" dirty="0"/>
              <a:t>Using R to solve Nashua</a:t>
            </a:r>
          </a:p>
        </p:txBody>
      </p:sp>
      <p:sp>
        <p:nvSpPr>
          <p:cNvPr id="4" name="Slide Number Placeholder 3"/>
          <p:cNvSpPr>
            <a:spLocks noGrp="1"/>
          </p:cNvSpPr>
          <p:nvPr>
            <p:ph type="sldNum" sz="quarter" idx="11"/>
          </p:nvPr>
        </p:nvSpPr>
        <p:spPr/>
        <p:txBody>
          <a:bodyPr/>
          <a:lstStyle/>
          <a:p>
            <a:pPr>
              <a:defRPr/>
            </a:pPr>
            <a:fld id="{DF54D116-B739-41B8-A000-A0DD5381050B}" type="slidenum">
              <a:rPr lang="en-US" smtClean="0"/>
              <a:pPr>
                <a:defRPr/>
              </a:pPr>
              <a:t>40</a:t>
            </a:fld>
            <a:endParaRPr lang="en-US"/>
          </a:p>
        </p:txBody>
      </p:sp>
    </p:spTree>
    <p:extLst>
      <p:ext uri="{BB962C8B-B14F-4D97-AF65-F5344CB8AC3E}">
        <p14:creationId xmlns:p14="http://schemas.microsoft.com/office/powerpoint/2010/main" val="11559840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612648" y="1600200"/>
                <a:ext cx="8153400" cy="5029200"/>
              </a:xfrm>
            </p:spPr>
            <p:txBody>
              <a:bodyPr>
                <a:normAutofit/>
              </a:bodyPr>
              <a:lstStyle/>
              <a:p>
                <a:r>
                  <a:rPr lang="en-US" dirty="0"/>
                  <a:t>In my opinion, it’s much easier to solve the LTV model using R</a:t>
                </a:r>
              </a:p>
              <a:p>
                <a:r>
                  <a:rPr lang="en-US" dirty="0"/>
                  <a:t>Recall our model is:</a:t>
                </a:r>
              </a:p>
              <a:p>
                <a:pPr marL="342900" lvl="1" indent="-342900">
                  <a:spcBef>
                    <a:spcPts val="1200"/>
                  </a:spcBef>
                  <a:spcAft>
                    <a:spcPts val="1200"/>
                  </a:spcAft>
                  <a:buClr>
                    <a:schemeClr val="accent2"/>
                  </a:buClr>
                  <a:buSzPct val="60000"/>
                  <a:buFont typeface="Wingdings" panose="05000000000000000000" pitchFamily="2" charset="2"/>
                  <a:buChar char="Ø"/>
                </a:pPr>
                <a14:m>
                  <m:oMath xmlns:m="http://schemas.openxmlformats.org/officeDocument/2006/math">
                    <m:r>
                      <a:rPr lang="en-US" b="1" i="1" dirty="0">
                        <a:latin typeface="Cambria Math"/>
                      </a:rPr>
                      <m:t>𝑩</m:t>
                    </m:r>
                    <m:r>
                      <a:rPr lang="en-US" i="1" dirty="0">
                        <a:latin typeface="Cambria Math"/>
                      </a:rPr>
                      <m:t> =0.6</m:t>
                    </m:r>
                    <m:r>
                      <a:rPr lang="en-US" i="1" dirty="0">
                        <a:latin typeface="Cambria Math"/>
                        <a:ea typeface="Cambria Math"/>
                      </a:rPr>
                      <m:t>×</m:t>
                    </m:r>
                    <m:d>
                      <m:dPr>
                        <m:ctrlPr>
                          <a:rPr lang="en-US" i="1" dirty="0">
                            <a:latin typeface="Cambria Math" panose="02040503050406030204" pitchFamily="18" charset="0"/>
                          </a:rPr>
                        </m:ctrlPr>
                      </m:dPr>
                      <m:e>
                        <m:r>
                          <a:rPr lang="en-US" i="1" dirty="0">
                            <a:latin typeface="Cambria Math"/>
                          </a:rPr>
                          <m:t>−$1.31</m:t>
                        </m:r>
                      </m:e>
                    </m:d>
                    <m:r>
                      <a:rPr lang="en-US" i="1" dirty="0">
                        <a:latin typeface="Cambria Math" panose="02040503050406030204" pitchFamily="18" charset="0"/>
                      </a:rPr>
                      <m:t> </m:t>
                    </m:r>
                    <m:r>
                      <a:rPr lang="en-US" i="1" dirty="0">
                        <a:latin typeface="Cambria Math"/>
                      </a:rPr>
                      <m:t>+</m:t>
                    </m:r>
                    <m:r>
                      <a:rPr lang="en-US" i="1" dirty="0">
                        <a:latin typeface="Cambria Math" panose="02040503050406030204" pitchFamily="18" charset="0"/>
                      </a:rPr>
                      <m:t> </m:t>
                    </m:r>
                    <m:r>
                      <a:rPr lang="en-US" i="1" dirty="0">
                        <a:latin typeface="Cambria Math"/>
                      </a:rPr>
                      <m:t>0.4</m:t>
                    </m:r>
                    <m:r>
                      <a:rPr lang="en-US" i="1" dirty="0">
                        <a:latin typeface="Cambria Math"/>
                        <a:ea typeface="Cambria Math"/>
                      </a:rPr>
                      <m:t>×</m:t>
                    </m:r>
                    <m:r>
                      <a:rPr lang="en-US" i="1" dirty="0">
                        <a:latin typeface="Cambria Math"/>
                      </a:rPr>
                      <m:t>($2.</m:t>
                    </m:r>
                    <m:r>
                      <a:rPr lang="en-US" i="1" dirty="0">
                        <a:latin typeface="Cambria Math" panose="02040503050406030204" pitchFamily="18" charset="0"/>
                      </a:rPr>
                      <m:t>0</m:t>
                    </m:r>
                    <m:r>
                      <a:rPr lang="en-US" i="1" dirty="0">
                        <a:latin typeface="Cambria Math"/>
                      </a:rPr>
                      <m:t>7+0.95</m:t>
                    </m:r>
                    <m:r>
                      <a:rPr lang="en-US" b="1" i="1" dirty="0">
                        <a:latin typeface="Cambria Math"/>
                      </a:rPr>
                      <m:t>𝑹</m:t>
                    </m:r>
                    <m:r>
                      <a:rPr lang="en-US" i="1" dirty="0">
                        <a:latin typeface="Cambria Math"/>
                      </a:rPr>
                      <m:t>)</m:t>
                    </m:r>
                  </m:oMath>
                </a14:m>
                <a:endParaRPr lang="en-US" dirty="0"/>
              </a:p>
              <a:p>
                <a:pPr marL="342900" lvl="1" indent="-342900">
                  <a:spcBef>
                    <a:spcPts val="1200"/>
                  </a:spcBef>
                  <a:spcAft>
                    <a:spcPts val="1200"/>
                  </a:spcAft>
                  <a:buClr>
                    <a:schemeClr val="accent2"/>
                  </a:buClr>
                  <a:buSzPct val="60000"/>
                  <a:buFont typeface="Wingdings" panose="05000000000000000000" pitchFamily="2" charset="2"/>
                  <a:buChar char="Ø"/>
                </a:pPr>
                <a14:m>
                  <m:oMath xmlns:m="http://schemas.openxmlformats.org/officeDocument/2006/math">
                    <m:r>
                      <a:rPr lang="en-US" b="1" i="1" dirty="0">
                        <a:latin typeface="Cambria Math"/>
                      </a:rPr>
                      <m:t>𝑹</m:t>
                    </m:r>
                    <m:r>
                      <a:rPr lang="en-US" i="1" dirty="0">
                        <a:latin typeface="Cambria Math"/>
                      </a:rPr>
                      <m:t> =0.2</m:t>
                    </m:r>
                    <m:r>
                      <a:rPr lang="en-US" i="1" dirty="0">
                        <a:latin typeface="Cambria Math"/>
                        <a:ea typeface="Cambria Math"/>
                      </a:rPr>
                      <m:t>×</m:t>
                    </m:r>
                    <m:d>
                      <m:dPr>
                        <m:ctrlPr>
                          <a:rPr lang="en-US" i="1" dirty="0">
                            <a:latin typeface="Cambria Math" panose="02040503050406030204" pitchFamily="18" charset="0"/>
                            <a:ea typeface="Cambria Math"/>
                          </a:rPr>
                        </m:ctrlPr>
                      </m:dPr>
                      <m:e>
                        <m:r>
                          <a:rPr lang="en-US" i="1" dirty="0">
                            <a:latin typeface="Cambria Math" panose="02040503050406030204" pitchFamily="18" charset="0"/>
                            <a:ea typeface="Cambria Math"/>
                          </a:rPr>
                          <m:t>    </m:t>
                        </m:r>
                        <m:r>
                          <a:rPr lang="en-US" i="1" dirty="0">
                            <a:latin typeface="Cambria Math"/>
                            <a:ea typeface="Cambria Math"/>
                          </a:rPr>
                          <m:t>$0</m:t>
                        </m:r>
                        <m:r>
                          <a:rPr lang="en-US" i="1" dirty="0">
                            <a:latin typeface="Cambria Math" panose="02040503050406030204" pitchFamily="18" charset="0"/>
                            <a:ea typeface="Cambria Math"/>
                          </a:rPr>
                          <m:t>      </m:t>
                        </m:r>
                      </m:e>
                    </m:d>
                    <m:r>
                      <a:rPr lang="en-US" i="1" dirty="0">
                        <a:latin typeface="Cambria Math" panose="02040503050406030204" pitchFamily="18" charset="0"/>
                        <a:ea typeface="Cambria Math"/>
                      </a:rPr>
                      <m:t> </m:t>
                    </m:r>
                    <m:r>
                      <a:rPr lang="en-US" i="1" dirty="0">
                        <a:latin typeface="Cambria Math"/>
                      </a:rPr>
                      <m:t>+</m:t>
                    </m:r>
                    <m:r>
                      <a:rPr lang="en-US" i="1" dirty="0">
                        <a:latin typeface="Cambria Math" panose="02040503050406030204" pitchFamily="18" charset="0"/>
                      </a:rPr>
                      <m:t> </m:t>
                    </m:r>
                    <m:r>
                      <a:rPr lang="en-US" i="1" dirty="0">
                        <a:latin typeface="Cambria Math"/>
                      </a:rPr>
                      <m:t>0.8</m:t>
                    </m:r>
                    <m:r>
                      <a:rPr lang="en-US" i="1" dirty="0">
                        <a:latin typeface="Cambria Math"/>
                        <a:ea typeface="Cambria Math"/>
                      </a:rPr>
                      <m:t>×</m:t>
                    </m:r>
                    <m:r>
                      <a:rPr lang="en-US" i="1" dirty="0">
                        <a:latin typeface="Cambria Math"/>
                      </a:rPr>
                      <m:t>($2.</m:t>
                    </m:r>
                    <m:r>
                      <a:rPr lang="en-US" i="1" dirty="0">
                        <a:latin typeface="Cambria Math" panose="02040503050406030204" pitchFamily="18" charset="0"/>
                      </a:rPr>
                      <m:t>0</m:t>
                    </m:r>
                    <m:r>
                      <a:rPr lang="en-US" i="1" dirty="0">
                        <a:latin typeface="Cambria Math"/>
                      </a:rPr>
                      <m:t>7+0.95</m:t>
                    </m:r>
                    <m:r>
                      <a:rPr lang="en-US" b="1" i="1" dirty="0">
                        <a:latin typeface="Cambria Math"/>
                      </a:rPr>
                      <m:t>𝑳</m:t>
                    </m:r>
                    <m:r>
                      <a:rPr lang="en-US" i="1" dirty="0">
                        <a:latin typeface="Cambria Math"/>
                      </a:rPr>
                      <m:t>)</m:t>
                    </m:r>
                  </m:oMath>
                </a14:m>
                <a:endParaRPr lang="en-US" dirty="0"/>
              </a:p>
              <a:p>
                <a:pPr marL="342900" lvl="1" indent="-342900">
                  <a:spcBef>
                    <a:spcPts val="1200"/>
                  </a:spcBef>
                  <a:spcAft>
                    <a:spcPts val="1200"/>
                  </a:spcAft>
                  <a:buClr>
                    <a:schemeClr val="accent2"/>
                  </a:buClr>
                  <a:buSzPct val="60000"/>
                  <a:buFont typeface="Wingdings" panose="05000000000000000000" pitchFamily="2" charset="2"/>
                  <a:buChar char="Ø"/>
                </a:pPr>
                <a14:m>
                  <m:oMath xmlns:m="http://schemas.openxmlformats.org/officeDocument/2006/math">
                    <m:r>
                      <a:rPr lang="en-US" b="1" i="1" dirty="0">
                        <a:latin typeface="Cambria Math"/>
                      </a:rPr>
                      <m:t>𝑳</m:t>
                    </m:r>
                    <m:r>
                      <a:rPr lang="en-US" i="1" dirty="0">
                        <a:latin typeface="Cambria Math"/>
                      </a:rPr>
                      <m:t> =0.1</m:t>
                    </m:r>
                    <m:r>
                      <a:rPr lang="en-US" i="1" dirty="0">
                        <a:latin typeface="Cambria Math"/>
                        <a:ea typeface="Cambria Math"/>
                      </a:rPr>
                      <m:t>×</m:t>
                    </m:r>
                    <m:d>
                      <m:dPr>
                        <m:ctrlPr>
                          <a:rPr lang="en-US" i="1" dirty="0">
                            <a:latin typeface="Cambria Math" panose="02040503050406030204" pitchFamily="18" charset="0"/>
                            <a:ea typeface="Cambria Math"/>
                          </a:rPr>
                        </m:ctrlPr>
                      </m:dPr>
                      <m:e>
                        <m:r>
                          <a:rPr lang="en-US" i="1" dirty="0">
                            <a:latin typeface="Cambria Math" panose="02040503050406030204" pitchFamily="18" charset="0"/>
                            <a:ea typeface="Cambria Math"/>
                          </a:rPr>
                          <m:t>     </m:t>
                        </m:r>
                        <m:r>
                          <a:rPr lang="en-US" i="1" dirty="0">
                            <a:latin typeface="Cambria Math"/>
                            <a:ea typeface="Cambria Math"/>
                          </a:rPr>
                          <m:t>$0</m:t>
                        </m:r>
                        <m:r>
                          <a:rPr lang="en-US" i="1" dirty="0">
                            <a:latin typeface="Cambria Math" panose="02040503050406030204" pitchFamily="18" charset="0"/>
                            <a:ea typeface="Cambria Math"/>
                          </a:rPr>
                          <m:t>      </m:t>
                        </m:r>
                      </m:e>
                    </m:d>
                    <m:r>
                      <a:rPr lang="en-US" i="1" dirty="0">
                        <a:latin typeface="Cambria Math" panose="02040503050406030204" pitchFamily="18" charset="0"/>
                        <a:ea typeface="Cambria Math"/>
                      </a:rPr>
                      <m:t> </m:t>
                    </m:r>
                    <m:r>
                      <a:rPr lang="en-US" i="1" dirty="0">
                        <a:latin typeface="Cambria Math"/>
                      </a:rPr>
                      <m:t>+</m:t>
                    </m:r>
                    <m:r>
                      <a:rPr lang="en-US" i="1" dirty="0">
                        <a:latin typeface="Cambria Math" panose="02040503050406030204" pitchFamily="18" charset="0"/>
                      </a:rPr>
                      <m:t> </m:t>
                    </m:r>
                    <m:r>
                      <a:rPr lang="en-US" i="1" dirty="0">
                        <a:latin typeface="Cambria Math"/>
                      </a:rPr>
                      <m:t>0.9</m:t>
                    </m:r>
                    <m:r>
                      <a:rPr lang="en-US" i="1" dirty="0">
                        <a:latin typeface="Cambria Math"/>
                        <a:ea typeface="Cambria Math"/>
                      </a:rPr>
                      <m:t>×</m:t>
                    </m:r>
                    <m:r>
                      <a:rPr lang="en-US" i="1" dirty="0">
                        <a:latin typeface="Cambria Math"/>
                      </a:rPr>
                      <m:t>($2.</m:t>
                    </m:r>
                    <m:r>
                      <a:rPr lang="en-US" i="1" dirty="0">
                        <a:latin typeface="Cambria Math" panose="02040503050406030204" pitchFamily="18" charset="0"/>
                      </a:rPr>
                      <m:t>0</m:t>
                    </m:r>
                    <m:r>
                      <a:rPr lang="en-US" i="1" dirty="0">
                        <a:latin typeface="Cambria Math"/>
                      </a:rPr>
                      <m:t>7+0.95</m:t>
                    </m:r>
                    <m:r>
                      <a:rPr lang="en-US" b="1" i="1" dirty="0">
                        <a:latin typeface="Cambria Math"/>
                      </a:rPr>
                      <m:t>𝑳</m:t>
                    </m:r>
                    <m:r>
                      <a:rPr lang="en-US" i="1" dirty="0">
                        <a:latin typeface="Cambria Math"/>
                      </a:rPr>
                      <m:t>)</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612648" y="1600200"/>
                <a:ext cx="8153400" cy="5029200"/>
              </a:xfrm>
              <a:blipFill>
                <a:blip r:embed="rId2"/>
                <a:stretch>
                  <a:fillRect l="-150" t="-97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41</a:t>
            </a:fld>
            <a:endParaRPr lang="en-US"/>
          </a:p>
        </p:txBody>
      </p:sp>
    </p:spTree>
    <p:extLst>
      <p:ext uri="{BB962C8B-B14F-4D97-AF65-F5344CB8AC3E}">
        <p14:creationId xmlns:p14="http://schemas.microsoft.com/office/powerpoint/2010/main" val="6467090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Writing the model in matrix form</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612648" y="1600200"/>
                <a:ext cx="8153400" cy="5029200"/>
              </a:xfrm>
            </p:spPr>
            <p:txBody>
              <a:bodyPr>
                <a:normAutofit/>
              </a:bodyPr>
              <a:lstStyle/>
              <a:p>
                <a:r>
                  <a:rPr lang="en-US" dirty="0"/>
                  <a:t>We can re-write this as follows:</a:t>
                </a:r>
              </a:p>
              <a:p>
                <a:pPr marL="342900" lvl="1" indent="-342900">
                  <a:spcBef>
                    <a:spcPts val="1200"/>
                  </a:spcBef>
                  <a:spcAft>
                    <a:spcPts val="1200"/>
                  </a:spcAft>
                  <a:buClr>
                    <a:schemeClr val="accent2"/>
                  </a:buClr>
                  <a:buSzPct val="60000"/>
                  <a:buFont typeface="Wingdings" panose="05000000000000000000" pitchFamily="2" charset="2"/>
                  <a:buChar char="Ø"/>
                </a:pPr>
                <a14:m>
                  <m:oMath xmlns:m="http://schemas.openxmlformats.org/officeDocument/2006/math">
                    <m:r>
                      <a:rPr lang="en-US" b="1" i="1" dirty="0">
                        <a:latin typeface="Cambria Math"/>
                      </a:rPr>
                      <m:t>𝑩</m:t>
                    </m:r>
                    <m:r>
                      <a:rPr lang="en-US" b="1" i="1" dirty="0" smtClean="0">
                        <a:latin typeface="Cambria Math" panose="02040503050406030204" pitchFamily="18" charset="0"/>
                      </a:rPr>
                      <m:t> −</m:t>
                    </m:r>
                    <m:r>
                      <a:rPr lang="en-US" i="1" dirty="0">
                        <a:latin typeface="Cambria Math"/>
                      </a:rPr>
                      <m:t>0.4</m:t>
                    </m:r>
                    <m:r>
                      <a:rPr lang="en-US" b="0" i="1" dirty="0" smtClean="0">
                        <a:latin typeface="Cambria Math" panose="02040503050406030204" pitchFamily="18" charset="0"/>
                      </a:rPr>
                      <m:t>×.95</m:t>
                    </m:r>
                    <m:r>
                      <a:rPr lang="en-US" b="1" i="1" dirty="0" smtClean="0">
                        <a:latin typeface="Cambria Math" panose="02040503050406030204" pitchFamily="18" charset="0"/>
                      </a:rPr>
                      <m:t>𝑹</m:t>
                    </m:r>
                    <m:r>
                      <a:rPr lang="en-US" b="0" i="1" dirty="0" smtClean="0">
                        <a:latin typeface="Cambria Math" panose="02040503050406030204" pitchFamily="18" charset="0"/>
                      </a:rPr>
                      <m:t>=</m:t>
                    </m:r>
                    <m:r>
                      <a:rPr lang="en-US" i="1" dirty="0">
                        <a:latin typeface="Cambria Math"/>
                      </a:rPr>
                      <m:t>0.6</m:t>
                    </m:r>
                    <m:r>
                      <a:rPr lang="en-US" i="1" dirty="0">
                        <a:latin typeface="Cambria Math"/>
                        <a:ea typeface="Cambria Math"/>
                      </a:rPr>
                      <m:t>×</m:t>
                    </m:r>
                    <m:d>
                      <m:dPr>
                        <m:ctrlPr>
                          <a:rPr lang="en-US" i="1" dirty="0">
                            <a:latin typeface="Cambria Math" panose="02040503050406030204" pitchFamily="18" charset="0"/>
                          </a:rPr>
                        </m:ctrlPr>
                      </m:dPr>
                      <m:e>
                        <m:r>
                          <a:rPr lang="en-US" i="1" dirty="0">
                            <a:latin typeface="Cambria Math"/>
                          </a:rPr>
                          <m:t>−1.31</m:t>
                        </m:r>
                      </m:e>
                    </m:d>
                    <m:r>
                      <a:rPr lang="en-US" i="1" dirty="0">
                        <a:latin typeface="Cambria Math" panose="02040503050406030204" pitchFamily="18" charset="0"/>
                      </a:rPr>
                      <m:t> </m:t>
                    </m:r>
                    <m:r>
                      <a:rPr lang="en-US" i="1" dirty="0">
                        <a:latin typeface="Cambria Math"/>
                      </a:rPr>
                      <m:t>+</m:t>
                    </m:r>
                    <m:r>
                      <a:rPr lang="en-US" b="0" i="1" dirty="0" smtClean="0">
                        <a:latin typeface="Cambria Math" panose="02040503050406030204" pitchFamily="18" charset="0"/>
                      </a:rPr>
                      <m:t>0.4</m:t>
                    </m:r>
                    <m:r>
                      <a:rPr lang="en-US" i="1" dirty="0">
                        <a:latin typeface="Cambria Math"/>
                        <a:ea typeface="Cambria Math"/>
                      </a:rPr>
                      <m:t>×</m:t>
                    </m:r>
                    <m:r>
                      <a:rPr lang="en-US" i="1" dirty="0">
                        <a:latin typeface="Cambria Math"/>
                      </a:rPr>
                      <m:t>2.</m:t>
                    </m:r>
                    <m:r>
                      <a:rPr lang="en-US" i="1" dirty="0">
                        <a:latin typeface="Cambria Math" panose="02040503050406030204" pitchFamily="18" charset="0"/>
                      </a:rPr>
                      <m:t>0</m:t>
                    </m:r>
                    <m:r>
                      <a:rPr lang="en-US" i="1" dirty="0">
                        <a:latin typeface="Cambria Math"/>
                      </a:rPr>
                      <m:t>7</m:t>
                    </m:r>
                  </m:oMath>
                </a14:m>
                <a:endParaRPr lang="en-US" dirty="0"/>
              </a:p>
              <a:p>
                <a:pPr marL="342900" lvl="1" indent="-342900">
                  <a:spcBef>
                    <a:spcPts val="1200"/>
                  </a:spcBef>
                  <a:spcAft>
                    <a:spcPts val="1200"/>
                  </a:spcAft>
                  <a:buClr>
                    <a:schemeClr val="accent2"/>
                  </a:buClr>
                  <a:buSzPct val="60000"/>
                  <a:buFont typeface="Wingdings" panose="05000000000000000000" pitchFamily="2" charset="2"/>
                  <a:buChar char="Ø"/>
                </a:pPr>
                <a14:m>
                  <m:oMath xmlns:m="http://schemas.openxmlformats.org/officeDocument/2006/math">
                    <m:r>
                      <a:rPr lang="en-US" b="1" i="1" dirty="0">
                        <a:latin typeface="Cambria Math"/>
                      </a:rPr>
                      <m:t>𝑹</m:t>
                    </m:r>
                    <m:r>
                      <a:rPr lang="en-US" b="1" i="1" dirty="0" smtClean="0">
                        <a:latin typeface="Cambria Math" panose="02040503050406030204" pitchFamily="18" charset="0"/>
                      </a:rPr>
                      <m:t>−</m:t>
                    </m:r>
                    <m:r>
                      <a:rPr lang="en-US" i="1" dirty="0">
                        <a:latin typeface="Cambria Math"/>
                      </a:rPr>
                      <m:t>0.</m:t>
                    </m:r>
                    <m:r>
                      <a:rPr lang="en-US" b="0" i="1" dirty="0" smtClean="0">
                        <a:latin typeface="Cambria Math" panose="02040503050406030204" pitchFamily="18" charset="0"/>
                      </a:rPr>
                      <m:t>8</m:t>
                    </m:r>
                    <m:r>
                      <a:rPr lang="en-US" i="1" dirty="0">
                        <a:latin typeface="Cambria Math" panose="02040503050406030204" pitchFamily="18" charset="0"/>
                      </a:rPr>
                      <m:t>×.95</m:t>
                    </m:r>
                    <m:r>
                      <a:rPr lang="en-US" b="1" i="1" dirty="0" smtClean="0">
                        <a:latin typeface="Cambria Math" panose="02040503050406030204" pitchFamily="18" charset="0"/>
                      </a:rPr>
                      <m:t>𝑳</m:t>
                    </m:r>
                    <m:r>
                      <a:rPr lang="en-US" i="1" dirty="0">
                        <a:latin typeface="Cambria Math"/>
                      </a:rPr>
                      <m:t>=</m:t>
                    </m:r>
                    <m:r>
                      <a:rPr lang="en-US" i="1" dirty="0">
                        <a:latin typeface="Cambria Math" panose="02040503050406030204" pitchFamily="18" charset="0"/>
                      </a:rPr>
                      <m:t> </m:t>
                    </m:r>
                    <m:r>
                      <a:rPr lang="en-US" i="1" dirty="0">
                        <a:latin typeface="Cambria Math"/>
                      </a:rPr>
                      <m:t>0.8</m:t>
                    </m:r>
                    <m:r>
                      <a:rPr lang="en-US" i="1" dirty="0">
                        <a:latin typeface="Cambria Math"/>
                        <a:ea typeface="Cambria Math"/>
                      </a:rPr>
                      <m:t>×</m:t>
                    </m:r>
                    <m:r>
                      <a:rPr lang="en-US" i="1" dirty="0">
                        <a:latin typeface="Cambria Math"/>
                      </a:rPr>
                      <m:t>2.</m:t>
                    </m:r>
                    <m:r>
                      <a:rPr lang="en-US" i="1" dirty="0">
                        <a:latin typeface="Cambria Math" panose="02040503050406030204" pitchFamily="18" charset="0"/>
                      </a:rPr>
                      <m:t>0</m:t>
                    </m:r>
                    <m:r>
                      <a:rPr lang="en-US" i="1" dirty="0">
                        <a:latin typeface="Cambria Math"/>
                      </a:rPr>
                      <m:t>7</m:t>
                    </m:r>
                  </m:oMath>
                </a14:m>
                <a:endParaRPr lang="en-US" dirty="0"/>
              </a:p>
              <a:p>
                <a:pPr marL="342900" lvl="1" indent="-342900">
                  <a:spcBef>
                    <a:spcPts val="1200"/>
                  </a:spcBef>
                  <a:spcAft>
                    <a:spcPts val="1200"/>
                  </a:spcAft>
                  <a:buClr>
                    <a:schemeClr val="accent2"/>
                  </a:buClr>
                  <a:buSzPct val="60000"/>
                  <a:buFont typeface="Wingdings" panose="05000000000000000000" pitchFamily="2" charset="2"/>
                  <a:buChar char="Ø"/>
                </a:pPr>
                <a14:m>
                  <m:oMath xmlns:m="http://schemas.openxmlformats.org/officeDocument/2006/math">
                    <m:r>
                      <a:rPr lang="en-US" b="1" i="1" dirty="0">
                        <a:latin typeface="Cambria Math"/>
                      </a:rPr>
                      <m:t>𝑳</m:t>
                    </m:r>
                    <m:r>
                      <a:rPr lang="en-US" b="0" i="1" dirty="0" smtClean="0">
                        <a:latin typeface="Cambria Math" panose="02040503050406030204" pitchFamily="18" charset="0"/>
                      </a:rPr>
                      <m:t>×(1−0.9×0.95)</m:t>
                    </m:r>
                    <m:r>
                      <a:rPr lang="en-US" i="1" dirty="0">
                        <a:latin typeface="Cambria Math"/>
                      </a:rPr>
                      <m:t>=0.9</m:t>
                    </m:r>
                    <m:r>
                      <a:rPr lang="en-US" i="1" dirty="0">
                        <a:latin typeface="Cambria Math"/>
                        <a:ea typeface="Cambria Math"/>
                      </a:rPr>
                      <m:t>×</m:t>
                    </m:r>
                    <m:r>
                      <a:rPr lang="en-US" i="1" dirty="0">
                        <a:latin typeface="Cambria Math"/>
                      </a:rPr>
                      <m:t>2.</m:t>
                    </m:r>
                    <m:r>
                      <a:rPr lang="en-US" i="1" dirty="0">
                        <a:latin typeface="Cambria Math" panose="02040503050406030204" pitchFamily="18" charset="0"/>
                      </a:rPr>
                      <m:t>0</m:t>
                    </m:r>
                    <m:r>
                      <a:rPr lang="en-US" i="1" dirty="0">
                        <a:latin typeface="Cambria Math"/>
                      </a:rPr>
                      <m:t>7</m:t>
                    </m:r>
                  </m:oMath>
                </a14:m>
                <a:endParaRPr lang="en-US" dirty="0"/>
              </a:p>
              <a:p>
                <a:pPr marL="0" indent="0">
                  <a:buNone/>
                </a:pPr>
                <a:r>
                  <a:rPr lang="en-US" dirty="0"/>
                  <a:t>OR</a:t>
                </a:r>
              </a:p>
              <a:p>
                <a:pPr marL="0" indent="0">
                  <a:buNone/>
                </a:pPr>
                <a14:m>
                  <m:oMathPara xmlns:m="http://schemas.openxmlformats.org/officeDocument/2006/math">
                    <m:oMathParaPr>
                      <m:jc m:val="centerGroup"/>
                    </m:oMathParaPr>
                    <m:oMath xmlns:m="http://schemas.openxmlformats.org/officeDocument/2006/math">
                      <m:r>
                        <a:rPr lang="en-US" sz="4000" b="1" i="1" dirty="0" smtClean="0">
                          <a:solidFill>
                            <a:srgbClr val="FF0000"/>
                          </a:solidFill>
                          <a:latin typeface="Cambria Math" panose="02040503050406030204" pitchFamily="18" charset="0"/>
                        </a:rPr>
                        <m:t>𝑨𝑿</m:t>
                      </m:r>
                      <m:r>
                        <a:rPr lang="en-US" sz="4000" i="1" dirty="0">
                          <a:solidFill>
                            <a:srgbClr val="FF0000"/>
                          </a:solidFill>
                          <a:latin typeface="Cambria Math"/>
                        </a:rPr>
                        <m:t>=</m:t>
                      </m:r>
                      <m:r>
                        <a:rPr lang="en-US" sz="4000" b="1" i="1" dirty="0" smtClean="0">
                          <a:solidFill>
                            <a:srgbClr val="FF0000"/>
                          </a:solidFill>
                          <a:latin typeface="Cambria Math" panose="02040503050406030204" pitchFamily="18" charset="0"/>
                        </a:rPr>
                        <m:t>𝒃</m:t>
                      </m:r>
                    </m:oMath>
                  </m:oMathPara>
                </a14:m>
                <a:endParaRPr lang="en-US" sz="4000" b="1" dirty="0">
                  <a:solidFill>
                    <a:srgbClr val="FF0000"/>
                  </a:solidFill>
                </a:endParaRPr>
              </a:p>
              <a:p>
                <a:pPr marL="0" indent="0">
                  <a:buNone/>
                </a:pPr>
                <a:r>
                  <a:rPr lang="en-US" dirty="0"/>
                  <a:t>where </a:t>
                </a:r>
                <a14:m>
                  <m:oMath xmlns:m="http://schemas.openxmlformats.org/officeDocument/2006/math">
                    <m:r>
                      <a:rPr lang="en-US" b="1" i="1" smtClean="0">
                        <a:latin typeface="Cambria Math" panose="02040503050406030204" pitchFamily="18" charset="0"/>
                      </a:rPr>
                      <m:t>𝑨</m:t>
                    </m:r>
                    <m:r>
                      <a:rPr lang="en-US" b="1" i="1" smtClean="0">
                        <a:latin typeface="Cambria Math" panose="02040503050406030204" pitchFamily="18" charset="0"/>
                      </a:rPr>
                      <m:t>=</m:t>
                    </m:r>
                    <m:d>
                      <m:dPr>
                        <m:begChr m:val="["/>
                        <m:endChr m:val="]"/>
                        <m:ctrlPr>
                          <a:rPr lang="en-US" b="1" i="1" smtClean="0">
                            <a:latin typeface="Cambria Math" panose="02040503050406030204" pitchFamily="18" charset="0"/>
                          </a:rPr>
                        </m:ctrlPr>
                      </m:dPr>
                      <m:e>
                        <m:m>
                          <m:mPr>
                            <m:plcHide m:val="on"/>
                            <m:mcs>
                              <m:mc>
                                <m:mcPr>
                                  <m:count m:val="3"/>
                                  <m:mcJc m:val="center"/>
                                </m:mcPr>
                              </m:mc>
                            </m:mcs>
                            <m:ctrlPr>
                              <a:rPr lang="en-US" b="1" i="1">
                                <a:latin typeface="Cambria Math" panose="02040503050406030204" pitchFamily="18" charset="0"/>
                              </a:rPr>
                            </m:ctrlPr>
                          </m:mPr>
                          <m:mr>
                            <m:e>
                              <m:r>
                                <a:rPr lang="en-US" b="1" i="1">
                                  <a:latin typeface="Cambria Math" panose="02040503050406030204" pitchFamily="18" charset="0"/>
                                </a:rPr>
                                <m:t>𝟏</m:t>
                              </m:r>
                            </m:e>
                            <m:e>
                              <m:r>
                                <a:rPr lang="en-US" b="1" i="1" smtClean="0">
                                  <a:latin typeface="Cambria Math" panose="02040503050406030204" pitchFamily="18" charset="0"/>
                                </a:rPr>
                                <m:t>−</m:t>
                              </m:r>
                              <m:r>
                                <a:rPr lang="en-US" b="1" i="1" smtClean="0">
                                  <a:latin typeface="Cambria Math" panose="02040503050406030204" pitchFamily="18" charset="0"/>
                                </a:rPr>
                                <m:t>𝟎</m:t>
                              </m:r>
                              <m:r>
                                <a:rPr lang="en-US" b="1" i="1" smtClean="0">
                                  <a:latin typeface="Cambria Math" panose="02040503050406030204" pitchFamily="18" charset="0"/>
                                </a:rPr>
                                <m:t>.</m:t>
                              </m:r>
                              <m:r>
                                <a:rPr lang="en-US" b="1" i="1" smtClean="0">
                                  <a:latin typeface="Cambria Math" panose="02040503050406030204" pitchFamily="18" charset="0"/>
                                </a:rPr>
                                <m:t>𝟑𝟖</m:t>
                              </m:r>
                            </m:e>
                            <m:e>
                              <m:r>
                                <a:rPr lang="en-US" b="1" i="1">
                                  <a:latin typeface="Cambria Math" panose="02040503050406030204" pitchFamily="18" charset="0"/>
                                </a:rPr>
                                <m:t>𝟎</m:t>
                              </m:r>
                            </m:e>
                          </m:mr>
                          <m:mr>
                            <m:e>
                              <m:r>
                                <a:rPr lang="en-US" b="1" i="1">
                                  <a:latin typeface="Cambria Math" panose="02040503050406030204" pitchFamily="18" charset="0"/>
                                </a:rPr>
                                <m:t>𝟎</m:t>
                              </m:r>
                            </m:e>
                            <m:e>
                              <m:r>
                                <a:rPr lang="en-US" b="1" i="1">
                                  <a:latin typeface="Cambria Math" panose="02040503050406030204" pitchFamily="18" charset="0"/>
                                </a:rPr>
                                <m:t>𝟏</m:t>
                              </m:r>
                            </m:e>
                            <m:e>
                              <m:r>
                                <a:rPr lang="en-US" b="1" i="1" smtClean="0">
                                  <a:latin typeface="Cambria Math" panose="02040503050406030204" pitchFamily="18" charset="0"/>
                                </a:rPr>
                                <m:t>−</m:t>
                              </m:r>
                              <m:r>
                                <a:rPr lang="en-US" b="1" i="1" smtClean="0">
                                  <a:latin typeface="Cambria Math" panose="02040503050406030204" pitchFamily="18" charset="0"/>
                                </a:rPr>
                                <m:t>𝟎</m:t>
                              </m:r>
                              <m:r>
                                <a:rPr lang="en-US" b="1" i="1" smtClean="0">
                                  <a:latin typeface="Cambria Math" panose="02040503050406030204" pitchFamily="18" charset="0"/>
                                </a:rPr>
                                <m:t>.</m:t>
                              </m:r>
                              <m:r>
                                <a:rPr lang="en-US" b="1" i="1" smtClean="0">
                                  <a:latin typeface="Cambria Math" panose="02040503050406030204" pitchFamily="18" charset="0"/>
                                </a:rPr>
                                <m:t>𝟕𝟔</m:t>
                              </m:r>
                            </m:e>
                          </m:mr>
                          <m:mr>
                            <m:e>
                              <m:r>
                                <a:rPr lang="en-US" b="1" i="1">
                                  <a:latin typeface="Cambria Math" panose="02040503050406030204" pitchFamily="18" charset="0"/>
                                </a:rPr>
                                <m:t>𝟎</m:t>
                              </m:r>
                            </m:e>
                            <m:e>
                              <m:r>
                                <a:rPr lang="en-US" b="1" i="1">
                                  <a:latin typeface="Cambria Math" panose="02040503050406030204" pitchFamily="18" charset="0"/>
                                </a:rPr>
                                <m:t>𝟎</m:t>
                              </m:r>
                            </m:e>
                            <m:e>
                              <m:r>
                                <a:rPr lang="en-US" b="1" i="1" smtClean="0">
                                  <a:latin typeface="Cambria Math" panose="02040503050406030204" pitchFamily="18" charset="0"/>
                                </a:rPr>
                                <m:t>𝟎</m:t>
                              </m:r>
                              <m:r>
                                <a:rPr lang="en-US" b="1" i="1" smtClean="0">
                                  <a:latin typeface="Cambria Math" panose="02040503050406030204" pitchFamily="18" charset="0"/>
                                </a:rPr>
                                <m:t>.</m:t>
                              </m:r>
                              <m:r>
                                <a:rPr lang="en-US" b="1" i="1" smtClean="0">
                                  <a:latin typeface="Cambria Math" panose="02040503050406030204" pitchFamily="18" charset="0"/>
                                </a:rPr>
                                <m:t>𝟏𝟒</m:t>
                              </m:r>
                            </m:e>
                          </m:mr>
                        </m:m>
                      </m:e>
                    </m:d>
                    <m:r>
                      <a:rPr lang="en-US" b="1" i="1" smtClean="0">
                        <a:latin typeface="Cambria Math" panose="02040503050406030204" pitchFamily="18" charset="0"/>
                      </a:rPr>
                      <m:t>,</m:t>
                    </m:r>
                    <m:r>
                      <a:rPr lang="en-US" b="1" i="1" smtClean="0">
                        <a:latin typeface="Cambria Math" panose="02040503050406030204" pitchFamily="18" charset="0"/>
                      </a:rPr>
                      <m:t>𝒃</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r>
                                <a:rPr lang="en-US" b="0" i="1" smtClean="0">
                                  <a:latin typeface="Cambria Math" panose="02040503050406030204" pitchFamily="18" charset="0"/>
                                </a:rPr>
                                <m:t>.048</m:t>
                              </m:r>
                            </m:e>
                          </m:mr>
                          <m:mr>
                            <m:e>
                              <m:r>
                                <a:rPr lang="en-US" b="0" i="1" smtClean="0">
                                  <a:latin typeface="Cambria Math" panose="02040503050406030204" pitchFamily="18" charset="0"/>
                                </a:rPr>
                                <m:t>1.66</m:t>
                              </m:r>
                            </m:e>
                          </m:mr>
                          <m:mr>
                            <m:e>
                              <m:r>
                                <a:rPr lang="en-US" b="0" i="1" smtClean="0">
                                  <a:latin typeface="Cambria Math" panose="02040503050406030204" pitchFamily="18" charset="0"/>
                                </a:rPr>
                                <m:t>1.86</m:t>
                              </m:r>
                            </m:e>
                          </m:mr>
                        </m:m>
                      </m:e>
                    </m:d>
                    <m:r>
                      <a:rPr lang="en-US" b="0" i="1" smtClean="0">
                        <a:latin typeface="Cambria Math" panose="02040503050406030204" pitchFamily="18" charset="0"/>
                      </a:rPr>
                      <m:t>,</m:t>
                    </m:r>
                    <m:r>
                      <a:rPr lang="en-US" b="1" i="1" smtClean="0">
                        <a:latin typeface="Cambria Math" panose="02040503050406030204" pitchFamily="18" charset="0"/>
                      </a:rPr>
                      <m:t>𝑿</m:t>
                    </m:r>
                    <m:r>
                      <a:rPr lang="en-US" b="0" i="1" smtClean="0">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1"/>
                                  <m:mcJc m:val="center"/>
                                </m:mcPr>
                              </m:mc>
                            </m:mcs>
                            <m:ctrlPr>
                              <a:rPr lang="en-US" b="1" i="1">
                                <a:latin typeface="Cambria Math" panose="02040503050406030204" pitchFamily="18" charset="0"/>
                              </a:rPr>
                            </m:ctrlPr>
                          </m:mPr>
                          <m:mr>
                            <m:e>
                              <m:r>
                                <a:rPr lang="en-US" b="1" i="1" smtClean="0">
                                  <a:latin typeface="Cambria Math" panose="02040503050406030204" pitchFamily="18" charset="0"/>
                                </a:rPr>
                                <m:t>𝑩</m:t>
                              </m:r>
                            </m:e>
                          </m:mr>
                          <m:mr>
                            <m:e>
                              <m:r>
                                <a:rPr lang="en-US" b="1" i="1" smtClean="0">
                                  <a:latin typeface="Cambria Math" panose="02040503050406030204" pitchFamily="18" charset="0"/>
                                </a:rPr>
                                <m:t>𝑹</m:t>
                              </m:r>
                            </m:e>
                          </m:mr>
                          <m:mr>
                            <m:e>
                              <m:r>
                                <a:rPr lang="en-US" b="1" i="1" smtClean="0">
                                  <a:latin typeface="Cambria Math" panose="02040503050406030204" pitchFamily="18" charset="0"/>
                                </a:rPr>
                                <m:t>𝑳</m:t>
                              </m:r>
                            </m:e>
                          </m:mr>
                        </m:m>
                      </m:e>
                    </m:d>
                  </m:oMath>
                </a14:m>
                <a:endParaRPr lang="en-US" b="1"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612648" y="1600200"/>
                <a:ext cx="8153400" cy="5029200"/>
              </a:xfrm>
              <a:blipFill>
                <a:blip r:embed="rId2"/>
                <a:stretch>
                  <a:fillRect l="-1197" t="-97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42</a:t>
            </a:fld>
            <a:endParaRPr lang="en-US"/>
          </a:p>
        </p:txBody>
      </p:sp>
    </p:spTree>
    <p:extLst>
      <p:ext uri="{BB962C8B-B14F-4D97-AF65-F5344CB8AC3E}">
        <p14:creationId xmlns:p14="http://schemas.microsoft.com/office/powerpoint/2010/main" val="24477699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solve this using R</a:t>
            </a:r>
          </a:p>
        </p:txBody>
      </p:sp>
      <p:sp>
        <p:nvSpPr>
          <p:cNvPr id="3" name="Content Placeholder 2"/>
          <p:cNvSpPr>
            <a:spLocks noGrp="1"/>
          </p:cNvSpPr>
          <p:nvPr>
            <p:ph sz="quarter" idx="1"/>
          </p:nvPr>
        </p:nvSpPr>
        <p:spPr/>
        <p:txBody>
          <a:bodyPr>
            <a:normAutofit fontScale="55000" lnSpcReduction="20000"/>
          </a:bodyPr>
          <a:lstStyle/>
          <a:p>
            <a:pPr marL="0" indent="0">
              <a:buNone/>
            </a:pPr>
            <a:r>
              <a:rPr lang="en-US" dirty="0"/>
              <a:t>library(</a:t>
            </a:r>
            <a:r>
              <a:rPr lang="en-US" dirty="0" err="1"/>
              <a:t>matlib</a:t>
            </a:r>
            <a:r>
              <a:rPr lang="en-US" dirty="0"/>
              <a:t>)</a:t>
            </a:r>
          </a:p>
          <a:p>
            <a:pPr marL="0" indent="0">
              <a:buNone/>
            </a:pPr>
            <a:endParaRPr lang="en-US" dirty="0"/>
          </a:p>
          <a:p>
            <a:pPr marL="0" indent="0">
              <a:buNone/>
            </a:pPr>
            <a:r>
              <a:rPr lang="en-US" dirty="0"/>
              <a:t>m = 2.07</a:t>
            </a:r>
          </a:p>
          <a:p>
            <a:pPr marL="0" indent="0">
              <a:buNone/>
            </a:pPr>
            <a:r>
              <a:rPr lang="en-US" dirty="0"/>
              <a:t>c = </a:t>
            </a:r>
            <a:r>
              <a:rPr lang="en-US" dirty="0" err="1"/>
              <a:t>as.matrix</a:t>
            </a:r>
            <a:r>
              <a:rPr lang="en-US" dirty="0"/>
              <a:t>(c(-1.3,0,0))</a:t>
            </a:r>
          </a:p>
          <a:p>
            <a:pPr marL="0" indent="0">
              <a:buNone/>
            </a:pPr>
            <a:r>
              <a:rPr lang="en-US" dirty="0" err="1"/>
              <a:t>Prob</a:t>
            </a:r>
            <a:r>
              <a:rPr lang="en-US" dirty="0"/>
              <a:t> = </a:t>
            </a:r>
            <a:r>
              <a:rPr lang="en-US" dirty="0" err="1"/>
              <a:t>as.matrix</a:t>
            </a:r>
            <a:r>
              <a:rPr lang="en-US" dirty="0"/>
              <a:t>(c(.6,.2,.1))</a:t>
            </a:r>
          </a:p>
          <a:p>
            <a:pPr marL="0" indent="0">
              <a:buNone/>
            </a:pPr>
            <a:r>
              <a:rPr lang="en-US" dirty="0"/>
              <a:t>Prob1 = 1-Prob</a:t>
            </a:r>
          </a:p>
          <a:p>
            <a:pPr marL="0" indent="0">
              <a:buNone/>
            </a:pPr>
            <a:r>
              <a:rPr lang="en-US" dirty="0"/>
              <a:t>delta = 1/1.0488</a:t>
            </a:r>
          </a:p>
          <a:p>
            <a:pPr marL="0" indent="0">
              <a:buNone/>
            </a:pPr>
            <a:endParaRPr lang="en-US" dirty="0"/>
          </a:p>
          <a:p>
            <a:pPr marL="0" indent="0">
              <a:buNone/>
            </a:pPr>
            <a:r>
              <a:rPr lang="en-US" dirty="0"/>
              <a:t>A = matrix(0,3,3)</a:t>
            </a:r>
          </a:p>
          <a:p>
            <a:pPr marL="0" indent="0">
              <a:buNone/>
            </a:pPr>
            <a:r>
              <a:rPr lang="en-US" dirty="0" err="1"/>
              <a:t>diag</a:t>
            </a:r>
            <a:r>
              <a:rPr lang="en-US" dirty="0"/>
              <a:t>(A) = 1</a:t>
            </a:r>
          </a:p>
          <a:p>
            <a:pPr marL="0" indent="0">
              <a:buNone/>
            </a:pPr>
            <a:r>
              <a:rPr lang="en-US" dirty="0"/>
              <a:t>A[1,2] = -delta*Prob1[1]</a:t>
            </a:r>
          </a:p>
          <a:p>
            <a:pPr marL="0" indent="0">
              <a:buNone/>
            </a:pPr>
            <a:r>
              <a:rPr lang="en-US" dirty="0"/>
              <a:t>A[2,3] = -delta*Prob1[2]</a:t>
            </a:r>
          </a:p>
          <a:p>
            <a:pPr marL="0" indent="0">
              <a:buNone/>
            </a:pPr>
            <a:r>
              <a:rPr lang="en-US" dirty="0"/>
              <a:t>A[3,3] = 1-delta*Prob1[3]</a:t>
            </a:r>
          </a:p>
          <a:p>
            <a:pPr marL="0" indent="0">
              <a:buNone/>
            </a:pPr>
            <a:r>
              <a:rPr lang="en-US" dirty="0"/>
              <a:t>b = </a:t>
            </a:r>
            <a:r>
              <a:rPr lang="en-US" dirty="0" err="1"/>
              <a:t>Prob</a:t>
            </a:r>
            <a:r>
              <a:rPr lang="en-US" dirty="0"/>
              <a:t>*c +(1-Prob)*m</a:t>
            </a:r>
          </a:p>
          <a:p>
            <a:pPr marL="0" indent="0">
              <a:buNone/>
            </a:pPr>
            <a:r>
              <a:rPr lang="en-US" dirty="0"/>
              <a:t># Display the Equation</a:t>
            </a:r>
          </a:p>
          <a:p>
            <a:pPr marL="0" indent="0">
              <a:buNone/>
            </a:pPr>
            <a:r>
              <a:rPr lang="en-US" dirty="0" err="1"/>
              <a:t>showEqn</a:t>
            </a:r>
            <a:r>
              <a:rPr lang="en-US" dirty="0"/>
              <a:t>(A, b)</a:t>
            </a:r>
          </a:p>
          <a:p>
            <a:pPr marL="0" indent="0">
              <a:buNone/>
            </a:pPr>
            <a:r>
              <a:rPr lang="en-US" dirty="0"/>
              <a:t># Solve the system</a:t>
            </a:r>
          </a:p>
          <a:p>
            <a:pPr marL="0" indent="0">
              <a:buNone/>
            </a:pPr>
            <a:r>
              <a:rPr lang="en-US" dirty="0"/>
              <a:t>solve(A, b)</a:t>
            </a:r>
          </a:p>
        </p:txBody>
      </p:sp>
      <p:sp>
        <p:nvSpPr>
          <p:cNvPr id="4" name="Slide Number Placeholder 3"/>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43</a:t>
            </a:fld>
            <a:endParaRPr lang="en-US"/>
          </a:p>
        </p:txBody>
      </p:sp>
    </p:spTree>
    <p:extLst>
      <p:ext uri="{BB962C8B-B14F-4D97-AF65-F5344CB8AC3E}">
        <p14:creationId xmlns:p14="http://schemas.microsoft.com/office/powerpoint/2010/main" val="35756758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endParaRPr lang="en-US"/>
          </a:p>
        </p:txBody>
      </p:sp>
      <p:sp>
        <p:nvSpPr>
          <p:cNvPr id="3" name="Title 2"/>
          <p:cNvSpPr>
            <a:spLocks noGrp="1"/>
          </p:cNvSpPr>
          <p:nvPr>
            <p:ph type="title"/>
          </p:nvPr>
        </p:nvSpPr>
        <p:spPr/>
        <p:txBody>
          <a:bodyPr/>
          <a:lstStyle/>
          <a:p>
            <a:r>
              <a:rPr lang="en-US" dirty="0"/>
              <a:t>Freemium as Pricing and CLV</a:t>
            </a:r>
          </a:p>
        </p:txBody>
      </p:sp>
      <p:sp>
        <p:nvSpPr>
          <p:cNvPr id="4" name="Slide Number Placeholder 3"/>
          <p:cNvSpPr>
            <a:spLocks noGrp="1"/>
          </p:cNvSpPr>
          <p:nvPr>
            <p:ph type="sldNum" sz="quarter" idx="11"/>
          </p:nvPr>
        </p:nvSpPr>
        <p:spPr/>
        <p:txBody>
          <a:bodyPr/>
          <a:lstStyle/>
          <a:p>
            <a:pPr>
              <a:defRPr/>
            </a:pPr>
            <a:fld id="{DF54D116-B739-41B8-A000-A0DD5381050B}" type="slidenum">
              <a:rPr lang="en-US" smtClean="0"/>
              <a:pPr>
                <a:defRPr/>
              </a:pPr>
              <a:t>44</a:t>
            </a:fld>
            <a:endParaRPr lang="en-US"/>
          </a:p>
        </p:txBody>
      </p:sp>
    </p:spTree>
    <p:extLst>
      <p:ext uri="{BB962C8B-B14F-4D97-AF65-F5344CB8AC3E}">
        <p14:creationId xmlns:p14="http://schemas.microsoft.com/office/powerpoint/2010/main" val="41135622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Freemium</a:t>
            </a:r>
            <a:r>
              <a:rPr lang="en-US" dirty="0"/>
              <a:t> and CLV</a:t>
            </a:r>
          </a:p>
        </p:txBody>
      </p:sp>
      <p:sp>
        <p:nvSpPr>
          <p:cNvPr id="3" name="Content Placeholder 2"/>
          <p:cNvSpPr>
            <a:spLocks noGrp="1"/>
          </p:cNvSpPr>
          <p:nvPr>
            <p:ph sz="quarter" idx="1"/>
          </p:nvPr>
        </p:nvSpPr>
        <p:spPr>
          <a:xfrm>
            <a:off x="612648" y="1600200"/>
            <a:ext cx="8153400" cy="1371600"/>
          </a:xfrm>
        </p:spPr>
        <p:txBody>
          <a:bodyPr/>
          <a:lstStyle/>
          <a:p>
            <a:r>
              <a:rPr lang="en-US" dirty="0"/>
              <a:t>Many software firms offer </a:t>
            </a:r>
            <a:r>
              <a:rPr lang="en-US" b="1" i="1" dirty="0">
                <a:effectLst>
                  <a:outerShdw blurRad="38100" dist="38100" dir="2700000" algn="tl">
                    <a:srgbClr val="000000">
                      <a:alpha val="43137"/>
                    </a:srgbClr>
                  </a:outerShdw>
                </a:effectLst>
              </a:rPr>
              <a:t>freemium</a:t>
            </a:r>
            <a:r>
              <a:rPr lang="en-US" dirty="0"/>
              <a:t> versions to new customers</a:t>
            </a:r>
          </a:p>
          <a:p>
            <a:pPr lvl="1"/>
            <a:r>
              <a:rPr lang="en-US" dirty="0"/>
              <a:t>Free to induce trial</a:t>
            </a:r>
          </a:p>
          <a:p>
            <a:pPr lvl="1"/>
            <a:r>
              <a:rPr lang="en-US" dirty="0"/>
              <a:t>Then charge for upgrade as user’s needs grow</a:t>
            </a:r>
          </a:p>
        </p:txBody>
      </p:sp>
      <p:sp>
        <p:nvSpPr>
          <p:cNvPr id="4" name="Slide Number Placeholder 3"/>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45</a:t>
            </a:fld>
            <a:endParaRPr lang="en-US"/>
          </a:p>
        </p:txBody>
      </p:sp>
      <p:pic>
        <p:nvPicPr>
          <p:cNvPr id="31746" name="Picture 2" descr="Why A Freemium Is Not A Business Model But A Growth And Branding ..."/>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870" t="2478" r="12150" b="15737"/>
          <a:stretch/>
        </p:blipFill>
        <p:spPr bwMode="auto">
          <a:xfrm>
            <a:off x="2667000" y="3124200"/>
            <a:ext cx="3505200" cy="2514600"/>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2"/>
          <p:cNvSpPr txBox="1">
            <a:spLocks/>
          </p:cNvSpPr>
          <p:nvPr/>
        </p:nvSpPr>
        <p:spPr bwMode="auto">
          <a:xfrm>
            <a:off x="612648" y="6096000"/>
            <a:ext cx="815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19088" indent="-319088" algn="l" rtl="0" fontAlgn="base">
              <a:spcBef>
                <a:spcPts val="700"/>
              </a:spcBef>
              <a:spcAft>
                <a:spcPct val="0"/>
              </a:spcAft>
              <a:buClr>
                <a:schemeClr val="accent2"/>
              </a:buClr>
              <a:buSzPct val="60000"/>
              <a:buFont typeface="Wingdings" pitchFamily="2" charset="2"/>
              <a:buChar char=""/>
              <a:defRPr sz="2400" kern="1200" baseline="0">
                <a:solidFill>
                  <a:schemeClr val="tx1"/>
                </a:solidFill>
                <a:latin typeface="+mj-lt"/>
                <a:ea typeface="+mn-ea"/>
                <a:cs typeface="+mn-cs"/>
              </a:defRPr>
            </a:lvl1pPr>
            <a:lvl2pPr marL="639763" indent="-273050" algn="l" rtl="0" fontAlgn="base">
              <a:spcBef>
                <a:spcPts val="550"/>
              </a:spcBef>
              <a:spcAft>
                <a:spcPct val="0"/>
              </a:spcAft>
              <a:buClr>
                <a:schemeClr val="accent1"/>
              </a:buClr>
              <a:buSzPct val="70000"/>
              <a:buFont typeface="Wingdings 2" pitchFamily="18" charset="2"/>
              <a:buChar char=""/>
              <a:defRPr sz="2400" kern="1200" baseline="0">
                <a:solidFill>
                  <a:schemeClr val="tx1"/>
                </a:solidFill>
                <a:latin typeface="+mj-lt"/>
                <a:ea typeface="+mn-ea"/>
                <a:cs typeface="+mn-cs"/>
              </a:defRPr>
            </a:lvl2pPr>
            <a:lvl3pPr marL="914400" indent="-228600" algn="l" rtl="0" fontAlgn="base">
              <a:spcBef>
                <a:spcPts val="500"/>
              </a:spcBef>
              <a:spcAft>
                <a:spcPct val="0"/>
              </a:spcAft>
              <a:buClr>
                <a:schemeClr val="accent2"/>
              </a:buClr>
              <a:buSzPct val="75000"/>
              <a:buFont typeface="Wingdings" pitchFamily="2" charset="2"/>
              <a:buChar char=""/>
              <a:defRPr sz="2400" kern="1200" baseline="0">
                <a:solidFill>
                  <a:schemeClr val="tx1"/>
                </a:solidFill>
                <a:latin typeface="+mj-lt"/>
                <a:ea typeface="+mn-ea"/>
                <a:cs typeface="+mn-cs"/>
              </a:defRPr>
            </a:lvl3pPr>
            <a:lvl4pPr marL="1371600" indent="-228600" algn="l" rtl="0" fontAlgn="base">
              <a:spcBef>
                <a:spcPts val="400"/>
              </a:spcBef>
              <a:spcAft>
                <a:spcPct val="0"/>
              </a:spcAft>
              <a:buClr>
                <a:srgbClr val="A5AB81"/>
              </a:buClr>
              <a:buSzPct val="75000"/>
              <a:buFont typeface="Wingdings" pitchFamily="2" charset="2"/>
              <a:buChar char=""/>
              <a:defRPr sz="2400" kern="1200" baseline="0">
                <a:solidFill>
                  <a:schemeClr val="tx1"/>
                </a:solidFill>
                <a:latin typeface="+mj-lt"/>
                <a:ea typeface="+mn-ea"/>
                <a:cs typeface="+mn-cs"/>
              </a:defRPr>
            </a:lvl4pPr>
            <a:lvl5pPr marL="1828800" indent="-228600" algn="l" rtl="0" fontAlgn="base">
              <a:spcBef>
                <a:spcPts val="400"/>
              </a:spcBef>
              <a:spcAft>
                <a:spcPct val="0"/>
              </a:spcAft>
              <a:buClr>
                <a:srgbClr val="D8B25C"/>
              </a:buClr>
              <a:buSzPct val="65000"/>
              <a:buFont typeface="Wingdings" pitchFamily="2" charset="2"/>
              <a:buChar char=""/>
              <a:defRPr sz="2400" kern="1200" baseline="0">
                <a:solidFill>
                  <a:schemeClr val="tx1"/>
                </a:solidFill>
                <a:latin typeface="+mj-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indent="0">
              <a:buNone/>
            </a:pPr>
            <a:r>
              <a:rPr lang="en-US" i="1" dirty="0"/>
              <a:t>Let’s formalize this model …</a:t>
            </a:r>
          </a:p>
        </p:txBody>
      </p:sp>
    </p:spTree>
    <p:extLst>
      <p:ext uri="{BB962C8B-B14F-4D97-AF65-F5344CB8AC3E}">
        <p14:creationId xmlns:p14="http://schemas.microsoft.com/office/powerpoint/2010/main" val="12015810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effectLst>
                  <a:outerShdw blurRad="38100" dist="38100" dir="2700000" algn="tl">
                    <a:srgbClr val="000000">
                      <a:alpha val="43137"/>
                    </a:srgbClr>
                  </a:outerShdw>
                </a:effectLst>
              </a:rPr>
              <a:t>Freemium </a:t>
            </a:r>
            <a:r>
              <a:rPr lang="en-US" dirty="0"/>
              <a:t>and CLV</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en-US" dirty="0">
                    <a:effectLst>
                      <a:outerShdw blurRad="38100" dist="38100" dir="2700000" algn="tl">
                        <a:srgbClr val="000000">
                          <a:alpha val="43137"/>
                        </a:srgbClr>
                      </a:outerShdw>
                    </a:effectLst>
                  </a:rPr>
                  <a:t>freemium</a:t>
                </a:r>
                <a:r>
                  <a:rPr lang="en-US" dirty="0"/>
                  <a:t> model:</a:t>
                </a:r>
              </a:p>
              <a:p>
                <a:pPr lvl="1"/>
                <a:r>
                  <a:rPr lang="en-US" dirty="0"/>
                  <a:t>F = free version, with ad revenues </a:t>
                </a:r>
                <a14:m>
                  <m:oMath xmlns:m="http://schemas.openxmlformats.org/officeDocument/2006/math">
                    <m:r>
                      <a:rPr lang="en-US" dirty="0">
                        <a:latin typeface="Cambria Math" panose="02040503050406030204" pitchFamily="18" charset="0"/>
                      </a:rPr>
                      <m:t>$</m:t>
                    </m:r>
                    <m:r>
                      <a:rPr lang="en-US" b="1" i="1" dirty="0">
                        <a:latin typeface="Cambria Math" panose="02040503050406030204" pitchFamily="18" charset="0"/>
                      </a:rPr>
                      <m:t>𝒂</m:t>
                    </m:r>
                  </m:oMath>
                </a14:m>
                <a:endParaRPr lang="en-US" b="1" dirty="0"/>
              </a:p>
              <a:p>
                <a:pPr lvl="1"/>
                <a:r>
                  <a:rPr lang="en-US" dirty="0"/>
                  <a:t>P = paid version, with price </a:t>
                </a:r>
                <a14:m>
                  <m:oMath xmlns:m="http://schemas.openxmlformats.org/officeDocument/2006/math">
                    <m:r>
                      <a:rPr lang="en-US" dirty="0">
                        <a:latin typeface="Cambria Math" panose="02040503050406030204" pitchFamily="18" charset="0"/>
                      </a:rPr>
                      <m:t>$</m:t>
                    </m:r>
                    <m:r>
                      <a:rPr lang="en-US" b="1" i="1" dirty="0" smtClean="0">
                        <a:latin typeface="Cambria Math" panose="02040503050406030204" pitchFamily="18" charset="0"/>
                      </a:rPr>
                      <m:t>𝒑</m:t>
                    </m:r>
                  </m:oMath>
                </a14:m>
                <a:endParaRPr lang="en-US" b="1" dirty="0"/>
              </a:p>
              <a:p>
                <a:r>
                  <a:rPr lang="en-US" dirty="0"/>
                  <a:t>Assume: after upgrading to paid, never downgrade to free</a:t>
                </a:r>
              </a:p>
              <a:p>
                <a:r>
                  <a:rPr lang="en-US" dirty="0"/>
                  <a:t>CLV for a freemium customer:</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a:blip r:embed="rId2"/>
                <a:stretch>
                  <a:fillRect l="-224" t="-122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46</a:t>
            </a:fld>
            <a:endParaRPr lang="en-US"/>
          </a:p>
        </p:txBody>
      </p:sp>
      <p:sp>
        <p:nvSpPr>
          <p:cNvPr id="7" name="Left Brace 6"/>
          <p:cNvSpPr/>
          <p:nvPr/>
        </p:nvSpPr>
        <p:spPr>
          <a:xfrm rot="16200000">
            <a:off x="4375666" y="4006334"/>
            <a:ext cx="164068" cy="11430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p:cNvSpPr txBox="1"/>
          <p:nvPr/>
        </p:nvSpPr>
        <p:spPr>
          <a:xfrm>
            <a:off x="3810000" y="4712612"/>
            <a:ext cx="1326004" cy="430887"/>
          </a:xfrm>
          <a:prstGeom prst="rect">
            <a:avLst/>
          </a:prstGeom>
          <a:noFill/>
        </p:spPr>
        <p:txBody>
          <a:bodyPr wrap="none" rtlCol="0">
            <a:spAutoFit/>
          </a:bodyPr>
          <a:lstStyle/>
          <a:p>
            <a:r>
              <a:rPr lang="en-US" sz="1100" dirty="0">
                <a:solidFill>
                  <a:srgbClr val="00B0F0"/>
                </a:solidFill>
              </a:rPr>
              <a:t>Recurring cash flow</a:t>
            </a:r>
          </a:p>
          <a:p>
            <a:pPr algn="ctr"/>
            <a:r>
              <a:rPr lang="en-US" sz="1100" dirty="0">
                <a:solidFill>
                  <a:srgbClr val="00B0F0"/>
                </a:solidFill>
              </a:rPr>
              <a:t>from free</a:t>
            </a:r>
          </a:p>
        </p:txBody>
      </p:sp>
      <p:sp>
        <p:nvSpPr>
          <p:cNvPr id="9" name="Right Brace 8"/>
          <p:cNvSpPr/>
          <p:nvPr/>
        </p:nvSpPr>
        <p:spPr>
          <a:xfrm>
            <a:off x="6096000" y="2057400"/>
            <a:ext cx="304800" cy="91440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FF0000"/>
              </a:solidFill>
            </a:endParaRPr>
          </a:p>
        </p:txBody>
      </p:sp>
      <mc:AlternateContent xmlns:mc="http://schemas.openxmlformats.org/markup-compatibility/2006" xmlns:a14="http://schemas.microsoft.com/office/drawing/2010/main">
        <mc:Choice Requires="a14">
          <p:sp>
            <p:nvSpPr>
              <p:cNvPr id="10" name="TextBox 9"/>
              <p:cNvSpPr txBox="1"/>
              <p:nvPr/>
            </p:nvSpPr>
            <p:spPr>
              <a:xfrm>
                <a:off x="6430004" y="2345323"/>
                <a:ext cx="1378583" cy="338554"/>
              </a:xfrm>
              <a:prstGeom prst="rect">
                <a:avLst/>
              </a:prstGeom>
              <a:noFill/>
            </p:spPr>
            <p:txBody>
              <a:bodyPr wrap="none" rtlCol="0">
                <a:spAutoFit/>
              </a:bodyPr>
              <a:lstStyle/>
              <a:p>
                <a:r>
                  <a:rPr lang="en-US" sz="1600" dirty="0">
                    <a:solidFill>
                      <a:srgbClr val="FF0000"/>
                    </a:solidFill>
                  </a:rPr>
                  <a:t>Usually </a:t>
                </a:r>
                <a14:m>
                  <m:oMath xmlns:m="http://schemas.openxmlformats.org/officeDocument/2006/math">
                    <m:r>
                      <a:rPr lang="en-US" sz="1600" i="1" dirty="0">
                        <a:solidFill>
                          <a:srgbClr val="FF0000"/>
                        </a:solidFill>
                        <a:latin typeface="Cambria Math" panose="02040503050406030204" pitchFamily="18" charset="0"/>
                      </a:rPr>
                      <m:t>𝑎</m:t>
                    </m:r>
                    <m:r>
                      <a:rPr lang="en-US" sz="1600" b="0" i="1" dirty="0" smtClean="0">
                        <a:solidFill>
                          <a:srgbClr val="FF0000"/>
                        </a:solidFill>
                        <a:latin typeface="Cambria Math" panose="02040503050406030204" pitchFamily="18" charset="0"/>
                      </a:rPr>
                      <m:t>&lt;</m:t>
                    </m:r>
                    <m:r>
                      <a:rPr lang="en-US" sz="1600" b="0" i="1" dirty="0" smtClean="0">
                        <a:solidFill>
                          <a:srgbClr val="FF0000"/>
                        </a:solidFill>
                        <a:latin typeface="Cambria Math" panose="02040503050406030204" pitchFamily="18" charset="0"/>
                      </a:rPr>
                      <m:t>𝑝</m:t>
                    </m:r>
                  </m:oMath>
                </a14:m>
                <a:endParaRPr lang="en-US" sz="1600" dirty="0">
                  <a:solidFill>
                    <a:srgbClr val="FF0000"/>
                  </a:solidFill>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6430004" y="2345323"/>
                <a:ext cx="1378583" cy="338554"/>
              </a:xfrm>
              <a:prstGeom prst="rect">
                <a:avLst/>
              </a:prstGeom>
              <a:blipFill>
                <a:blip r:embed="rId4"/>
                <a:stretch>
                  <a:fillRect l="-2655" t="-5455" b="-2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1067558" y="4044497"/>
                <a:ext cx="402905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7030A0"/>
                          </a:solidFill>
                          <a:latin typeface="Cambria Math" panose="02040503050406030204" pitchFamily="18" charset="0"/>
                        </a:rPr>
                        <m:t>𝐹</m:t>
                      </m:r>
                      <m:r>
                        <a:rPr lang="en-US" b="0" i="1" smtClean="0">
                          <a:latin typeface="Cambria Math" panose="02040503050406030204" pitchFamily="18" charset="0"/>
                        </a:rPr>
                        <m:t>=</m:t>
                      </m:r>
                      <m:r>
                        <a:rPr lang="en-US" i="1" dirty="0">
                          <a:latin typeface="Cambria Math"/>
                        </a:rPr>
                        <m:t>𝑃𝑟</m:t>
                      </m:r>
                      <m:r>
                        <a:rPr lang="en-US" i="1" dirty="0">
                          <a:latin typeface="Cambria Math"/>
                        </a:rPr>
                        <m:t>(</m:t>
                      </m:r>
                      <m:r>
                        <a:rPr lang="en-US" b="0" i="1" dirty="0" smtClean="0">
                          <a:latin typeface="Cambria Math" panose="02040503050406030204" pitchFamily="18" charset="0"/>
                        </a:rPr>
                        <m:t>𝑟𝑒𝑛𝑒𝑤</m:t>
                      </m:r>
                      <m:r>
                        <a:rPr lang="en-US" b="0" i="1" dirty="0" smtClean="0">
                          <a:latin typeface="Cambria Math" panose="02040503050406030204" pitchFamily="18" charset="0"/>
                        </a:rPr>
                        <m:t> </m:t>
                      </m:r>
                      <m:r>
                        <a:rPr lang="en-US" b="0" i="1" dirty="0" smtClean="0">
                          <a:latin typeface="Cambria Math" panose="02040503050406030204" pitchFamily="18" charset="0"/>
                        </a:rPr>
                        <m:t>𝐹𝑟𝑒𝑒</m:t>
                      </m:r>
                      <m:r>
                        <a:rPr lang="en-US" i="1" dirty="0">
                          <a:latin typeface="Cambria Math"/>
                        </a:rPr>
                        <m:t>)</m:t>
                      </m:r>
                      <m:d>
                        <m:dPr>
                          <m:ctrlPr>
                            <a:rPr lang="en-US" i="1" dirty="0">
                              <a:latin typeface="Cambria Math" panose="02040503050406030204" pitchFamily="18" charset="0"/>
                            </a:rPr>
                          </m:ctrlPr>
                        </m:dPr>
                        <m:e>
                          <m:r>
                            <a:rPr lang="en-US" b="1" i="1" dirty="0" smtClean="0">
                              <a:latin typeface="Cambria Math" panose="02040503050406030204" pitchFamily="18" charset="0"/>
                            </a:rPr>
                            <m:t>𝒂</m:t>
                          </m:r>
                          <m:r>
                            <a:rPr lang="en-US" b="0" i="1" dirty="0" smtClean="0">
                              <a:latin typeface="Cambria Math" panose="02040503050406030204" pitchFamily="18" charset="0"/>
                            </a:rPr>
                            <m:t>+</m:t>
                          </m:r>
                          <m:r>
                            <a:rPr lang="en-US" i="1" dirty="0">
                              <a:latin typeface="Cambria Math"/>
                            </a:rPr>
                            <m:t>𝛿</m:t>
                          </m:r>
                          <m:r>
                            <a:rPr lang="en-US" b="0" i="1" dirty="0" smtClean="0">
                              <a:solidFill>
                                <a:srgbClr val="7030A0"/>
                              </a:solidFill>
                              <a:latin typeface="Cambria Math" panose="02040503050406030204" pitchFamily="18" charset="0"/>
                            </a:rPr>
                            <m:t>𝐹</m:t>
                          </m:r>
                        </m:e>
                      </m:d>
                    </m:oMath>
                  </m:oMathPara>
                </a14:m>
                <a:endParaRPr lang="en-US" dirty="0"/>
              </a:p>
            </p:txBody>
          </p:sp>
        </mc:Choice>
        <mc:Fallback xmlns="">
          <p:sp>
            <p:nvSpPr>
              <p:cNvPr id="11" name="TextBox 10"/>
              <p:cNvSpPr txBox="1">
                <a:spLocks noRot="1" noChangeAspect="1" noMove="1" noResize="1" noEditPoints="1" noAdjustHandles="1" noChangeArrowheads="1" noChangeShapeType="1" noTextEdit="1"/>
              </p:cNvSpPr>
              <p:nvPr/>
            </p:nvSpPr>
            <p:spPr>
              <a:xfrm>
                <a:off x="1067558" y="4044497"/>
                <a:ext cx="4029052" cy="369332"/>
              </a:xfrm>
              <a:prstGeom prst="rect">
                <a:avLst/>
              </a:prstGeom>
              <a:blipFill>
                <a:blip r:embed="rId5"/>
                <a:stretch>
                  <a:fillRect l="-1210" b="-36066"/>
                </a:stretch>
              </a:blipFill>
            </p:spPr>
            <p:txBody>
              <a:bodyPr/>
              <a:lstStyle/>
              <a:p>
                <a:r>
                  <a:rPr lang="en-US">
                    <a:noFill/>
                  </a:rPr>
                  <a:t> </a:t>
                </a:r>
              </a:p>
            </p:txBody>
          </p:sp>
        </mc:Fallback>
      </mc:AlternateContent>
    </p:spTree>
    <p:extLst>
      <p:ext uri="{BB962C8B-B14F-4D97-AF65-F5344CB8AC3E}">
        <p14:creationId xmlns:p14="http://schemas.microsoft.com/office/powerpoint/2010/main" val="4223248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Freemium</a:t>
            </a:r>
            <a:r>
              <a:rPr lang="en-US" dirty="0"/>
              <a:t> and CLV</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en-US" dirty="0">
                    <a:effectLst>
                      <a:outerShdw blurRad="38100" dist="38100" dir="2700000" algn="tl">
                        <a:srgbClr val="000000">
                          <a:alpha val="43137"/>
                        </a:srgbClr>
                      </a:outerShdw>
                    </a:effectLst>
                  </a:rPr>
                  <a:t>freemium</a:t>
                </a:r>
                <a:r>
                  <a:rPr lang="en-US" dirty="0"/>
                  <a:t> model:</a:t>
                </a:r>
              </a:p>
              <a:p>
                <a:pPr lvl="1"/>
                <a:r>
                  <a:rPr lang="en-US" dirty="0"/>
                  <a:t>F = free version, with ad revenues </a:t>
                </a:r>
                <a14:m>
                  <m:oMath xmlns:m="http://schemas.openxmlformats.org/officeDocument/2006/math">
                    <m:r>
                      <a:rPr lang="en-US" dirty="0">
                        <a:latin typeface="Cambria Math" panose="02040503050406030204" pitchFamily="18" charset="0"/>
                      </a:rPr>
                      <m:t>$</m:t>
                    </m:r>
                    <m:r>
                      <a:rPr lang="en-US" b="1" i="1" dirty="0">
                        <a:latin typeface="Cambria Math" panose="02040503050406030204" pitchFamily="18" charset="0"/>
                      </a:rPr>
                      <m:t>𝒂</m:t>
                    </m:r>
                  </m:oMath>
                </a14:m>
                <a:endParaRPr lang="en-US" b="1" dirty="0"/>
              </a:p>
              <a:p>
                <a:pPr lvl="1"/>
                <a:r>
                  <a:rPr lang="en-US" dirty="0"/>
                  <a:t>P = paid version, with price </a:t>
                </a:r>
                <a14:m>
                  <m:oMath xmlns:m="http://schemas.openxmlformats.org/officeDocument/2006/math">
                    <m:r>
                      <a:rPr lang="en-US" dirty="0">
                        <a:latin typeface="Cambria Math" panose="02040503050406030204" pitchFamily="18" charset="0"/>
                      </a:rPr>
                      <m:t>$</m:t>
                    </m:r>
                    <m:r>
                      <a:rPr lang="en-US" b="1" i="1" dirty="0" smtClean="0">
                        <a:latin typeface="Cambria Math" panose="02040503050406030204" pitchFamily="18" charset="0"/>
                      </a:rPr>
                      <m:t>𝒑</m:t>
                    </m:r>
                  </m:oMath>
                </a14:m>
                <a:endParaRPr lang="en-US" b="1" dirty="0"/>
              </a:p>
              <a:p>
                <a:r>
                  <a:rPr lang="en-US" dirty="0"/>
                  <a:t>Assume: after upgrading to paid, never downgrade to free</a:t>
                </a:r>
              </a:p>
              <a:p>
                <a:r>
                  <a:rPr lang="en-US" dirty="0"/>
                  <a:t>CLV for a freemium customer:</a:t>
                </a:r>
              </a:p>
              <a:p>
                <a:endParaRPr lang="en-US" dirty="0"/>
              </a:p>
              <a:p>
                <a:pPr marL="0" indent="0">
                  <a:spcBef>
                    <a:spcPts val="1800"/>
                  </a:spcBef>
                  <a:buNone/>
                </a:pPr>
                <a:r>
                  <a:rPr lang="en-US" dirty="0"/>
                  <a:t>where</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a:blip r:embed="rId2"/>
                <a:stretch>
                  <a:fillRect l="-1197" t="-122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47</a:t>
            </a:fld>
            <a:endParaRPr lang="en-US"/>
          </a:p>
        </p:txBody>
      </p:sp>
      <mc:AlternateContent xmlns:mc="http://schemas.openxmlformats.org/markup-compatibility/2006" xmlns:a14="http://schemas.microsoft.com/office/drawing/2010/main">
        <mc:Choice Requires="a14">
          <p:sp>
            <p:nvSpPr>
              <p:cNvPr id="5" name="TextBox 4"/>
              <p:cNvSpPr txBox="1"/>
              <p:nvPr/>
            </p:nvSpPr>
            <p:spPr>
              <a:xfrm>
                <a:off x="1067558" y="4044497"/>
                <a:ext cx="807644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7030A0"/>
                          </a:solidFill>
                          <a:latin typeface="Cambria Math" panose="02040503050406030204" pitchFamily="18" charset="0"/>
                        </a:rPr>
                        <m:t>𝐹</m:t>
                      </m:r>
                      <m:r>
                        <a:rPr lang="en-US" b="0" i="1" smtClean="0">
                          <a:latin typeface="Cambria Math" panose="02040503050406030204" pitchFamily="18" charset="0"/>
                        </a:rPr>
                        <m:t>=</m:t>
                      </m:r>
                      <m:r>
                        <a:rPr lang="en-US" i="1" dirty="0">
                          <a:latin typeface="Cambria Math"/>
                        </a:rPr>
                        <m:t>𝑃𝑟</m:t>
                      </m:r>
                      <m:r>
                        <a:rPr lang="en-US" i="1" dirty="0">
                          <a:latin typeface="Cambria Math"/>
                        </a:rPr>
                        <m:t>(</m:t>
                      </m:r>
                      <m:r>
                        <a:rPr lang="en-US" b="0" i="1" dirty="0" smtClean="0">
                          <a:latin typeface="Cambria Math" panose="02040503050406030204" pitchFamily="18" charset="0"/>
                        </a:rPr>
                        <m:t>𝑟𝑒𝑛𝑒𝑤</m:t>
                      </m:r>
                      <m:r>
                        <a:rPr lang="en-US" b="0" i="1" dirty="0" smtClean="0">
                          <a:latin typeface="Cambria Math" panose="02040503050406030204" pitchFamily="18" charset="0"/>
                        </a:rPr>
                        <m:t> </m:t>
                      </m:r>
                      <m:r>
                        <a:rPr lang="en-US" b="0" i="1" dirty="0" smtClean="0">
                          <a:latin typeface="Cambria Math" panose="02040503050406030204" pitchFamily="18" charset="0"/>
                        </a:rPr>
                        <m:t>𝐹𝑟𝑒𝑒</m:t>
                      </m:r>
                      <m:r>
                        <a:rPr lang="en-US" i="1" dirty="0">
                          <a:latin typeface="Cambria Math"/>
                        </a:rPr>
                        <m:t>)</m:t>
                      </m:r>
                      <m:d>
                        <m:dPr>
                          <m:ctrlPr>
                            <a:rPr lang="en-US" i="1" dirty="0">
                              <a:latin typeface="Cambria Math" panose="02040503050406030204" pitchFamily="18" charset="0"/>
                            </a:rPr>
                          </m:ctrlPr>
                        </m:dPr>
                        <m:e>
                          <m:r>
                            <a:rPr lang="en-US" b="1" i="1" dirty="0" smtClean="0">
                              <a:latin typeface="Cambria Math" panose="02040503050406030204" pitchFamily="18" charset="0"/>
                            </a:rPr>
                            <m:t>𝒂</m:t>
                          </m:r>
                          <m:r>
                            <a:rPr lang="en-US" b="0" i="1" dirty="0" smtClean="0">
                              <a:latin typeface="Cambria Math" panose="02040503050406030204" pitchFamily="18" charset="0"/>
                            </a:rPr>
                            <m:t>+</m:t>
                          </m:r>
                          <m:r>
                            <a:rPr lang="en-US" i="1" dirty="0">
                              <a:latin typeface="Cambria Math"/>
                            </a:rPr>
                            <m:t>𝛿</m:t>
                          </m:r>
                          <m:r>
                            <a:rPr lang="en-US" b="0" i="1" dirty="0" smtClean="0">
                              <a:solidFill>
                                <a:srgbClr val="7030A0"/>
                              </a:solidFill>
                              <a:latin typeface="Cambria Math" panose="02040503050406030204" pitchFamily="18" charset="0"/>
                            </a:rPr>
                            <m:t>𝐹</m:t>
                          </m:r>
                        </m:e>
                      </m:d>
                      <m:r>
                        <a:rPr lang="en-US" i="1" dirty="0">
                          <a:latin typeface="Cambria Math"/>
                        </a:rPr>
                        <m:t>+</m:t>
                      </m:r>
                      <m:r>
                        <a:rPr lang="en-US" i="1" dirty="0">
                          <a:latin typeface="Cambria Math"/>
                        </a:rPr>
                        <m:t>𝑃𝑟</m:t>
                      </m:r>
                      <m:r>
                        <a:rPr lang="en-US" i="1" dirty="0">
                          <a:latin typeface="Cambria Math"/>
                        </a:rPr>
                        <m:t>(</m:t>
                      </m:r>
                      <m:r>
                        <a:rPr lang="en-US" b="0" i="1" dirty="0" smtClean="0">
                          <a:latin typeface="Cambria Math" panose="02040503050406030204" pitchFamily="18" charset="0"/>
                        </a:rPr>
                        <m:t>𝑃𝑎𝑖𝑑</m:t>
                      </m:r>
                      <m:r>
                        <a:rPr lang="en-US" b="0" i="1" dirty="0" smtClean="0">
                          <a:latin typeface="Cambria Math" panose="02040503050406030204" pitchFamily="18" charset="0"/>
                        </a:rPr>
                        <m:t> </m:t>
                      </m:r>
                      <m:r>
                        <a:rPr lang="en-US" b="0" i="1" dirty="0" smtClean="0">
                          <a:latin typeface="Cambria Math" panose="02040503050406030204" pitchFamily="18" charset="0"/>
                        </a:rPr>
                        <m:t>𝑢𝑝𝑔𝑟𝑎𝑑𝑒</m:t>
                      </m:r>
                      <m:r>
                        <a:rPr lang="en-US" i="1" dirty="0">
                          <a:latin typeface="Cambria Math"/>
                        </a:rPr>
                        <m:t>)(</m:t>
                      </m:r>
                      <m:r>
                        <a:rPr lang="en-US" b="1" i="1" dirty="0" smtClean="0">
                          <a:latin typeface="Cambria Math" panose="02040503050406030204" pitchFamily="18" charset="0"/>
                        </a:rPr>
                        <m:t>𝒑</m:t>
                      </m:r>
                      <m:r>
                        <a:rPr lang="en-US" i="1" dirty="0">
                          <a:latin typeface="Cambria Math"/>
                        </a:rPr>
                        <m:t>+</m:t>
                      </m:r>
                      <m:r>
                        <a:rPr lang="en-US" i="1" dirty="0">
                          <a:latin typeface="Cambria Math"/>
                        </a:rPr>
                        <m:t>𝛿</m:t>
                      </m:r>
                      <m:r>
                        <a:rPr lang="en-US" b="0" i="1" dirty="0" smtClean="0">
                          <a:solidFill>
                            <a:srgbClr val="00B050"/>
                          </a:solidFill>
                          <a:latin typeface="Cambria Math" panose="02040503050406030204" pitchFamily="18" charset="0"/>
                        </a:rPr>
                        <m:t>𝑃</m:t>
                      </m:r>
                      <m:r>
                        <a:rPr lang="en-US" i="1" dirty="0">
                          <a:latin typeface="Cambria Math"/>
                        </a:rPr>
                        <m:t>)</m:t>
                      </m:r>
                    </m:oMath>
                  </m:oMathPara>
                </a14:m>
                <a:endParaRPr lang="en-US" dirty="0"/>
              </a:p>
            </p:txBody>
          </p:sp>
        </mc:Choice>
        <mc:Fallback xmlns="">
          <p:sp>
            <p:nvSpPr>
              <p:cNvPr id="5" name="TextBox 4"/>
              <p:cNvSpPr txBox="1">
                <a:spLocks noRot="1" noChangeAspect="1" noMove="1" noResize="1" noEditPoints="1" noAdjustHandles="1" noChangeArrowheads="1" noChangeShapeType="1" noTextEdit="1"/>
              </p:cNvSpPr>
              <p:nvPr/>
            </p:nvSpPr>
            <p:spPr>
              <a:xfrm>
                <a:off x="1067558" y="4044497"/>
                <a:ext cx="8076442" cy="369332"/>
              </a:xfrm>
              <a:prstGeom prst="rect">
                <a:avLst/>
              </a:prstGeom>
              <a:blipFill>
                <a:blip r:embed="rId3"/>
                <a:stretch>
                  <a:fillRect l="-302" r="-830" b="-3606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1275930" y="5105400"/>
                <a:ext cx="7556492" cy="1300549"/>
              </a:xfrm>
              <a:prstGeom prst="rect">
                <a:avLst/>
              </a:prstGeom>
              <a:noFill/>
            </p:spPr>
            <p:txBody>
              <a:bodyPr wrap="none" lIns="0" tIns="0" rIns="0" bIns="0" rtlCol="0">
                <a:spAutoFit/>
              </a:bodyPr>
              <a:lstStyle/>
              <a:p>
                <a:pPr marL="0" indent="0">
                  <a:spcBef>
                    <a:spcPts val="1200"/>
                  </a:spcBef>
                  <a:spcAft>
                    <a:spcPts val="1200"/>
                  </a:spcAft>
                  <a:buNone/>
                </a:pPr>
                <a14:m>
                  <m:oMathPara xmlns:m="http://schemas.openxmlformats.org/officeDocument/2006/math">
                    <m:oMathParaPr>
                      <m:jc m:val="left"/>
                    </m:oMathParaPr>
                    <m:oMath xmlns:m="http://schemas.openxmlformats.org/officeDocument/2006/math">
                      <m:r>
                        <a:rPr lang="en-US" b="0" i="1" smtClean="0">
                          <a:solidFill>
                            <a:srgbClr val="00B050"/>
                          </a:solidFill>
                          <a:latin typeface="Cambria Math" panose="02040503050406030204" pitchFamily="18" charset="0"/>
                        </a:rPr>
                        <m:t>𝑃</m:t>
                      </m:r>
                      <m:r>
                        <a:rPr lang="en-US" b="0" i="1" smtClean="0">
                          <a:latin typeface="Cambria Math" panose="02040503050406030204" pitchFamily="18" charset="0"/>
                        </a:rPr>
                        <m:t>=</m:t>
                      </m:r>
                      <m:r>
                        <a:rPr lang="en-US" b="1" i="1">
                          <a:latin typeface="Cambria Math"/>
                        </a:rPr>
                        <m:t>𝒑</m:t>
                      </m:r>
                      <m:r>
                        <a:rPr lang="en-US" i="1">
                          <a:latin typeface="Cambria Math"/>
                        </a:rPr>
                        <m:t>𝑃𝑟𝑜𝑏</m:t>
                      </m:r>
                      <m:d>
                        <m:dPr>
                          <m:ctrlPr>
                            <a:rPr lang="en-US" i="1">
                              <a:latin typeface="Cambria Math" panose="02040503050406030204" pitchFamily="18" charset="0"/>
                            </a:rPr>
                          </m:ctrlPr>
                        </m:dPr>
                        <m:e>
                          <m:r>
                            <a:rPr lang="en-US" b="0" i="1" smtClean="0">
                              <a:latin typeface="Cambria Math" panose="02040503050406030204" pitchFamily="18" charset="0"/>
                            </a:rPr>
                            <m:t>𝑟𝑒𝑛𝑒𝑤</m:t>
                          </m:r>
                          <m:r>
                            <a:rPr lang="en-US" b="0" i="1" smtClean="0">
                              <a:latin typeface="Cambria Math" panose="02040503050406030204" pitchFamily="18" charset="0"/>
                            </a:rPr>
                            <m:t> </m:t>
                          </m:r>
                          <m:r>
                            <a:rPr lang="en-US" b="0" i="1" smtClean="0">
                              <a:latin typeface="Cambria Math" panose="02040503050406030204" pitchFamily="18" charset="0"/>
                            </a:rPr>
                            <m:t>𝑝𝑎𝑖𝑑</m:t>
                          </m:r>
                        </m:e>
                      </m:d>
                      <m:r>
                        <a:rPr lang="en-US" i="1">
                          <a:latin typeface="Cambria Math"/>
                        </a:rPr>
                        <m:t>+</m:t>
                      </m:r>
                      <m:r>
                        <a:rPr lang="en-US" i="1">
                          <a:latin typeface="Cambria Math"/>
                        </a:rPr>
                        <m:t>𝛿</m:t>
                      </m:r>
                      <m:r>
                        <a:rPr lang="en-US" b="1" i="1">
                          <a:latin typeface="Cambria Math"/>
                        </a:rPr>
                        <m:t>𝒑</m:t>
                      </m:r>
                      <m:sSup>
                        <m:sSupPr>
                          <m:ctrlPr>
                            <a:rPr lang="en-US" b="1" i="1">
                              <a:latin typeface="Cambria Math" panose="02040503050406030204" pitchFamily="18" charset="0"/>
                            </a:rPr>
                          </m:ctrlPr>
                        </m:sSupPr>
                        <m:e>
                          <m:d>
                            <m:dPr>
                              <m:begChr m:val="["/>
                              <m:endChr m:val="]"/>
                              <m:ctrlPr>
                                <a:rPr lang="en-US" b="1" i="1">
                                  <a:latin typeface="Cambria Math" panose="02040503050406030204" pitchFamily="18" charset="0"/>
                                </a:rPr>
                              </m:ctrlPr>
                            </m:dPr>
                            <m:e>
                              <m:r>
                                <a:rPr lang="en-US" i="1">
                                  <a:latin typeface="Cambria Math"/>
                                </a:rPr>
                                <m:t>𝑃𝑟𝑜𝑏</m:t>
                              </m:r>
                              <m:d>
                                <m:dPr>
                                  <m:ctrlPr>
                                    <a:rPr lang="en-US" i="1">
                                      <a:latin typeface="Cambria Math" panose="02040503050406030204" pitchFamily="18" charset="0"/>
                                    </a:rPr>
                                  </m:ctrlPr>
                                </m:dPr>
                                <m:e>
                                  <m:r>
                                    <a:rPr lang="en-US" i="1" smtClean="0">
                                      <a:latin typeface="Cambria Math" panose="02040503050406030204" pitchFamily="18" charset="0"/>
                                    </a:rPr>
                                    <m:t>𝑟</m:t>
                                  </m:r>
                                  <m:r>
                                    <a:rPr lang="en-US" b="0" i="1" smtClean="0">
                                      <a:latin typeface="Cambria Math" panose="02040503050406030204" pitchFamily="18" charset="0"/>
                                    </a:rPr>
                                    <m:t>𝑒𝑛𝑒𝑤</m:t>
                                  </m:r>
                                  <m:r>
                                    <a:rPr lang="en-US" b="0" i="1" smtClean="0">
                                      <a:latin typeface="Cambria Math" panose="02040503050406030204" pitchFamily="18" charset="0"/>
                                    </a:rPr>
                                    <m:t> </m:t>
                                  </m:r>
                                  <m:r>
                                    <a:rPr lang="en-US" b="0" i="1" smtClean="0">
                                      <a:latin typeface="Cambria Math" panose="02040503050406030204" pitchFamily="18" charset="0"/>
                                    </a:rPr>
                                    <m:t>𝑝𝑎𝑖𝑑</m:t>
                                  </m:r>
                                </m:e>
                              </m:d>
                            </m:e>
                          </m:d>
                        </m:e>
                        <m:sup>
                          <m:r>
                            <a:rPr lang="en-US" b="1" i="1">
                              <a:latin typeface="Cambria Math"/>
                            </a:rPr>
                            <m:t>𝟐</m:t>
                          </m:r>
                        </m:sup>
                      </m:sSup>
                      <m:r>
                        <a:rPr lang="en-US" b="1" i="1">
                          <a:latin typeface="Cambria Math"/>
                        </a:rPr>
                        <m:t>+…</m:t>
                      </m:r>
                    </m:oMath>
                  </m:oMathPara>
                </a14:m>
                <a:endParaRPr lang="en-US"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1" i="1" dirty="0">
                          <a:latin typeface="Cambria Math" panose="02040503050406030204" pitchFamily="18" charset="0"/>
                        </a:rPr>
                        <m:t>𝒑</m:t>
                      </m:r>
                      <m:f>
                        <m:fPr>
                          <m:ctrlPr>
                            <a:rPr lang="en-US" b="0" i="1" dirty="0" smtClean="0">
                              <a:latin typeface="Cambria Math" panose="02040503050406030204" pitchFamily="18" charset="0"/>
                            </a:rPr>
                          </m:ctrlPr>
                        </m:fPr>
                        <m:num>
                          <m:r>
                            <a:rPr lang="en-US" i="1" dirty="0">
                              <a:latin typeface="Cambria Math"/>
                            </a:rPr>
                            <m:t>𝑃𝑟</m:t>
                          </m:r>
                          <m:r>
                            <a:rPr lang="en-US" i="1" dirty="0">
                              <a:latin typeface="Cambria Math"/>
                            </a:rPr>
                            <m:t>(</m:t>
                          </m:r>
                          <m:r>
                            <a:rPr lang="en-US" b="0" i="1" dirty="0" smtClean="0">
                              <a:latin typeface="Cambria Math" panose="02040503050406030204" pitchFamily="18" charset="0"/>
                            </a:rPr>
                            <m:t>𝑟𝑒𝑛𝑒𝑤</m:t>
                          </m:r>
                          <m:r>
                            <a:rPr lang="en-US" b="0" i="1" dirty="0" smtClean="0">
                              <a:latin typeface="Cambria Math" panose="02040503050406030204" pitchFamily="18" charset="0"/>
                            </a:rPr>
                            <m:t> </m:t>
                          </m:r>
                          <m:r>
                            <a:rPr lang="en-US" i="1" dirty="0">
                              <a:latin typeface="Cambria Math" panose="02040503050406030204" pitchFamily="18" charset="0"/>
                            </a:rPr>
                            <m:t>𝑃𝑎𝑖𝑑</m:t>
                          </m:r>
                          <m:r>
                            <a:rPr lang="en-US" i="1" dirty="0">
                              <a:latin typeface="Cambria Math"/>
                            </a:rPr>
                            <m:t>)</m:t>
                          </m:r>
                        </m:num>
                        <m:den>
                          <m:r>
                            <a:rPr lang="en-US" b="0" i="1" dirty="0" smtClean="0">
                              <a:latin typeface="Cambria Math" panose="02040503050406030204" pitchFamily="18" charset="0"/>
                            </a:rPr>
                            <m:t>1−</m:t>
                          </m:r>
                          <m:r>
                            <a:rPr lang="en-US" b="0" i="1" dirty="0" smtClean="0">
                              <a:latin typeface="Cambria Math" panose="02040503050406030204" pitchFamily="18" charset="0"/>
                            </a:rPr>
                            <m:t>𝛿</m:t>
                          </m:r>
                          <m:r>
                            <a:rPr lang="en-US" i="1" dirty="0">
                              <a:latin typeface="Cambria Math"/>
                            </a:rPr>
                            <m:t>𝑃𝑟</m:t>
                          </m:r>
                          <m:r>
                            <a:rPr lang="en-US" i="1" dirty="0">
                              <a:latin typeface="Cambria Math"/>
                            </a:rPr>
                            <m:t>(</m:t>
                          </m:r>
                          <m:r>
                            <a:rPr lang="en-US" i="1" dirty="0">
                              <a:latin typeface="Cambria Math" panose="02040503050406030204" pitchFamily="18" charset="0"/>
                            </a:rPr>
                            <m:t>𝑟𝑒𝑛𝑒𝑤</m:t>
                          </m:r>
                          <m:r>
                            <a:rPr lang="en-US" i="1" dirty="0">
                              <a:latin typeface="Cambria Math" panose="02040503050406030204" pitchFamily="18" charset="0"/>
                            </a:rPr>
                            <m:t> </m:t>
                          </m:r>
                          <m:r>
                            <a:rPr lang="en-US" i="1" dirty="0">
                              <a:latin typeface="Cambria Math" panose="02040503050406030204" pitchFamily="18" charset="0"/>
                            </a:rPr>
                            <m:t>𝑃𝑎𝑖𝑑</m:t>
                          </m:r>
                          <m:r>
                            <a:rPr lang="en-US" i="1" dirty="0">
                              <a:latin typeface="Cambria Math"/>
                            </a:rPr>
                            <m:t>)</m:t>
                          </m:r>
                        </m:den>
                      </m:f>
                      <m:r>
                        <a:rPr lang="en-US" b="0" i="1" dirty="0" smtClean="0">
                          <a:latin typeface="Cambria Math" panose="02040503050406030204" pitchFamily="18" charset="0"/>
                        </a:rPr>
                        <m:t>                                                      </m:t>
                      </m:r>
                    </m:oMath>
                  </m:oMathPara>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1275930" y="5105400"/>
                <a:ext cx="7556492" cy="1300549"/>
              </a:xfrm>
              <a:prstGeom prst="rect">
                <a:avLst/>
              </a:prstGeom>
              <a:blipFill>
                <a:blip r:embed="rId4"/>
                <a:stretch>
                  <a:fillRect/>
                </a:stretch>
              </a:blipFill>
            </p:spPr>
            <p:txBody>
              <a:bodyPr/>
              <a:lstStyle/>
              <a:p>
                <a:r>
                  <a:rPr lang="en-US">
                    <a:noFill/>
                  </a:rPr>
                  <a:t> </a:t>
                </a:r>
              </a:p>
            </p:txBody>
          </p:sp>
        </mc:Fallback>
      </mc:AlternateContent>
      <p:sp>
        <p:nvSpPr>
          <p:cNvPr id="7" name="Left Brace 6"/>
          <p:cNvSpPr/>
          <p:nvPr/>
        </p:nvSpPr>
        <p:spPr>
          <a:xfrm rot="16200000">
            <a:off x="6737866" y="3537466"/>
            <a:ext cx="164068" cy="19050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p:cNvSpPr txBox="1"/>
          <p:nvPr/>
        </p:nvSpPr>
        <p:spPr>
          <a:xfrm>
            <a:off x="6131819" y="4603890"/>
            <a:ext cx="1523174" cy="430887"/>
          </a:xfrm>
          <a:prstGeom prst="rect">
            <a:avLst/>
          </a:prstGeom>
          <a:noFill/>
        </p:spPr>
        <p:txBody>
          <a:bodyPr wrap="none" rtlCol="0">
            <a:spAutoFit/>
          </a:bodyPr>
          <a:lstStyle/>
          <a:p>
            <a:r>
              <a:rPr lang="en-US" sz="1100" dirty="0">
                <a:solidFill>
                  <a:srgbClr val="00B0F0"/>
                </a:solidFill>
              </a:rPr>
              <a:t>Potential acquired cash </a:t>
            </a:r>
          </a:p>
          <a:p>
            <a:pPr algn="ctr"/>
            <a:r>
              <a:rPr lang="en-US" sz="1100" dirty="0">
                <a:solidFill>
                  <a:srgbClr val="00B0F0"/>
                </a:solidFill>
              </a:rPr>
              <a:t>flows from paid</a:t>
            </a:r>
          </a:p>
        </p:txBody>
      </p:sp>
      <p:sp>
        <p:nvSpPr>
          <p:cNvPr id="9" name="Right Brace 8"/>
          <p:cNvSpPr/>
          <p:nvPr/>
        </p:nvSpPr>
        <p:spPr>
          <a:xfrm>
            <a:off x="6096000" y="2057400"/>
            <a:ext cx="304800" cy="91440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FF0000"/>
              </a:solidFill>
            </a:endParaRPr>
          </a:p>
        </p:txBody>
      </p:sp>
      <mc:AlternateContent xmlns:mc="http://schemas.openxmlformats.org/markup-compatibility/2006" xmlns:a14="http://schemas.microsoft.com/office/drawing/2010/main">
        <mc:Choice Requires="a14">
          <p:sp>
            <p:nvSpPr>
              <p:cNvPr id="10" name="TextBox 9"/>
              <p:cNvSpPr txBox="1"/>
              <p:nvPr/>
            </p:nvSpPr>
            <p:spPr>
              <a:xfrm>
                <a:off x="6430004" y="2345323"/>
                <a:ext cx="1398332" cy="338554"/>
              </a:xfrm>
              <a:prstGeom prst="rect">
                <a:avLst/>
              </a:prstGeom>
              <a:noFill/>
            </p:spPr>
            <p:txBody>
              <a:bodyPr wrap="none" rtlCol="0">
                <a:spAutoFit/>
              </a:bodyPr>
              <a:lstStyle/>
              <a:p>
                <a:r>
                  <a:rPr lang="en-US" sz="1600" dirty="0">
                    <a:solidFill>
                      <a:srgbClr val="FF0000"/>
                    </a:solidFill>
                  </a:rPr>
                  <a:t>Usually </a:t>
                </a:r>
                <a14:m>
                  <m:oMath xmlns:m="http://schemas.openxmlformats.org/officeDocument/2006/math">
                    <m:r>
                      <a:rPr lang="en-US" sz="1600" b="1" i="1" dirty="0">
                        <a:solidFill>
                          <a:srgbClr val="FF0000"/>
                        </a:solidFill>
                        <a:latin typeface="Cambria Math" panose="02040503050406030204" pitchFamily="18" charset="0"/>
                      </a:rPr>
                      <m:t>𝒂</m:t>
                    </m:r>
                    <m:r>
                      <a:rPr lang="en-US" sz="1600" b="0" i="1" dirty="0" smtClean="0">
                        <a:solidFill>
                          <a:srgbClr val="FF0000"/>
                        </a:solidFill>
                        <a:latin typeface="Cambria Math" panose="02040503050406030204" pitchFamily="18" charset="0"/>
                      </a:rPr>
                      <m:t>&lt;</m:t>
                    </m:r>
                    <m:r>
                      <a:rPr lang="en-US" sz="1600" b="1" i="1" dirty="0" smtClean="0">
                        <a:solidFill>
                          <a:srgbClr val="FF0000"/>
                        </a:solidFill>
                        <a:latin typeface="Cambria Math" panose="02040503050406030204" pitchFamily="18" charset="0"/>
                      </a:rPr>
                      <m:t>𝒑</m:t>
                    </m:r>
                  </m:oMath>
                </a14:m>
                <a:endParaRPr lang="en-US" sz="1600" b="1" dirty="0">
                  <a:solidFill>
                    <a:srgbClr val="FF0000"/>
                  </a:solidFill>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6430004" y="2345323"/>
                <a:ext cx="1398332" cy="338554"/>
              </a:xfrm>
              <a:prstGeom prst="rect">
                <a:avLst/>
              </a:prstGeom>
              <a:blipFill>
                <a:blip r:embed="rId5"/>
                <a:stretch>
                  <a:fillRect l="-2620" t="-5455" b="-2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612648" y="6420229"/>
                <a:ext cx="6280758" cy="369332"/>
              </a:xfrm>
              <a:prstGeom prst="rect">
                <a:avLst/>
              </a:prstGeom>
              <a:noFill/>
              <a:ln>
                <a:solidFill>
                  <a:srgbClr val="FF3300"/>
                </a:solidFill>
              </a:ln>
            </p:spPr>
            <p:txBody>
              <a:bodyPr wrap="none" rtlCol="0">
                <a:spAutoFit/>
              </a:bodyPr>
              <a:lstStyle/>
              <a:p>
                <a:r>
                  <a:rPr lang="en-US" sz="1800" u="sng" dirty="0">
                    <a:solidFill>
                      <a:srgbClr val="FF0000"/>
                    </a:solidFill>
                  </a:rPr>
                  <a:t>Careful</a:t>
                </a:r>
                <a:r>
                  <a:rPr lang="en-US" sz="1800" dirty="0">
                    <a:solidFill>
                      <a:srgbClr val="FF0000"/>
                    </a:solidFill>
                  </a:rPr>
                  <a:t>: </a:t>
                </a:r>
                <a14:m>
                  <m:oMath xmlns:m="http://schemas.openxmlformats.org/officeDocument/2006/math">
                    <m:r>
                      <a:rPr lang="en-US" sz="1800" i="1" dirty="0" smtClean="0">
                        <a:solidFill>
                          <a:srgbClr val="FF0000"/>
                        </a:solidFill>
                        <a:latin typeface="Cambria Math"/>
                      </a:rPr>
                      <m:t>𝑃𝑟</m:t>
                    </m:r>
                    <m:r>
                      <a:rPr lang="en-US" sz="1800" i="1" dirty="0" smtClean="0">
                        <a:solidFill>
                          <a:srgbClr val="FF0000"/>
                        </a:solidFill>
                        <a:latin typeface="Cambria Math"/>
                      </a:rPr>
                      <m:t>(</m:t>
                    </m:r>
                    <m:r>
                      <a:rPr lang="en-US" sz="1800" i="1" dirty="0">
                        <a:solidFill>
                          <a:srgbClr val="FF0000"/>
                        </a:solidFill>
                        <a:latin typeface="Cambria Math" panose="02040503050406030204" pitchFamily="18" charset="0"/>
                      </a:rPr>
                      <m:t>𝑟𝑒𝑛𝑒𝑤</m:t>
                    </m:r>
                    <m:r>
                      <a:rPr lang="en-US" sz="1800" i="1" dirty="0">
                        <a:solidFill>
                          <a:srgbClr val="FF0000"/>
                        </a:solidFill>
                        <a:latin typeface="Cambria Math" panose="02040503050406030204" pitchFamily="18" charset="0"/>
                      </a:rPr>
                      <m:t> </m:t>
                    </m:r>
                    <m:r>
                      <a:rPr lang="en-US" sz="1800" i="1" dirty="0">
                        <a:solidFill>
                          <a:srgbClr val="FF0000"/>
                        </a:solidFill>
                        <a:latin typeface="Cambria Math" panose="02040503050406030204" pitchFamily="18" charset="0"/>
                      </a:rPr>
                      <m:t>𝑃𝑎𝑖𝑑</m:t>
                    </m:r>
                    <m:r>
                      <a:rPr lang="en-US" sz="1800" i="1" dirty="0">
                        <a:solidFill>
                          <a:srgbClr val="FF0000"/>
                        </a:solidFill>
                        <a:latin typeface="Cambria Math"/>
                      </a:rPr>
                      <m:t>)</m:t>
                    </m:r>
                  </m:oMath>
                </a14:m>
                <a:r>
                  <a:rPr lang="en-US" sz="1800" dirty="0">
                    <a:solidFill>
                      <a:srgbClr val="FF0000"/>
                    </a:solidFill>
                  </a:rPr>
                  <a:t> probably depends on </a:t>
                </a:r>
                <a14:m>
                  <m:oMath xmlns:m="http://schemas.openxmlformats.org/officeDocument/2006/math">
                    <m:r>
                      <a:rPr lang="en-US" sz="1800" b="1" i="1" dirty="0">
                        <a:solidFill>
                          <a:srgbClr val="FF0000"/>
                        </a:solidFill>
                        <a:latin typeface="Cambria Math" panose="02040503050406030204" pitchFamily="18" charset="0"/>
                      </a:rPr>
                      <m:t>𝒑</m:t>
                    </m:r>
                  </m:oMath>
                </a14:m>
                <a:r>
                  <a:rPr lang="en-US" sz="1800" dirty="0">
                    <a:solidFill>
                      <a:srgbClr val="FF0000"/>
                    </a:solidFill>
                  </a:rPr>
                  <a:t> and falls as </a:t>
                </a:r>
                <a14:m>
                  <m:oMath xmlns:m="http://schemas.openxmlformats.org/officeDocument/2006/math">
                    <m:r>
                      <a:rPr lang="en-US" sz="1800" b="1" i="1" dirty="0">
                        <a:solidFill>
                          <a:srgbClr val="FF0000"/>
                        </a:solidFill>
                        <a:latin typeface="Cambria Math" panose="02040503050406030204" pitchFamily="18" charset="0"/>
                      </a:rPr>
                      <m:t>𝒑</m:t>
                    </m:r>
                    <m:r>
                      <a:rPr lang="en-US" sz="1800" b="1" i="1" dirty="0" smtClean="0">
                        <a:solidFill>
                          <a:srgbClr val="FF0000"/>
                        </a:solidFill>
                        <a:latin typeface="Cambria Math" panose="02040503050406030204" pitchFamily="18" charset="0"/>
                        <a:ea typeface="Cambria Math" panose="02040503050406030204" pitchFamily="18" charset="0"/>
                      </a:rPr>
                      <m:t>↑</m:t>
                    </m:r>
                  </m:oMath>
                </a14:m>
                <a:endParaRPr lang="en-US" sz="1800" dirty="0">
                  <a:solidFill>
                    <a:srgbClr val="FF0000"/>
                  </a:solidFill>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612648" y="6420229"/>
                <a:ext cx="6280758" cy="369332"/>
              </a:xfrm>
              <a:prstGeom prst="rect">
                <a:avLst/>
              </a:prstGeom>
              <a:blipFill>
                <a:blip r:embed="rId6"/>
                <a:stretch>
                  <a:fillRect l="-775" t="-6349" b="-22222"/>
                </a:stretch>
              </a:blipFill>
              <a:ln>
                <a:solidFill>
                  <a:srgbClr val="FF3300"/>
                </a:solidFill>
              </a:ln>
            </p:spPr>
            <p:txBody>
              <a:bodyPr/>
              <a:lstStyle/>
              <a:p>
                <a:r>
                  <a:rPr lang="en-US">
                    <a:noFill/>
                  </a:rPr>
                  <a:t> </a:t>
                </a:r>
              </a:p>
            </p:txBody>
          </p:sp>
        </mc:Fallback>
      </mc:AlternateContent>
    </p:spTree>
    <p:extLst>
      <p:ext uri="{BB962C8B-B14F-4D97-AF65-F5344CB8AC3E}">
        <p14:creationId xmlns:p14="http://schemas.microsoft.com/office/powerpoint/2010/main" val="2239073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effectLst>
                  <a:outerShdw blurRad="38100" dist="38100" dir="2700000" algn="tl">
                    <a:srgbClr val="000000">
                      <a:alpha val="43137"/>
                    </a:srgbClr>
                  </a:outerShdw>
                </a:effectLst>
              </a:rPr>
              <a:t>Selection effects</a:t>
            </a:r>
            <a:r>
              <a:rPr lang="en-US" dirty="0"/>
              <a:t> of introductory pricing</a:t>
            </a:r>
            <a:br>
              <a:rPr lang="en-US" dirty="0"/>
            </a:br>
            <a:r>
              <a:rPr lang="en-US" sz="3200" dirty="0"/>
              <a:t>Discounting to </a:t>
            </a:r>
            <a:r>
              <a:rPr lang="en-US" sz="3200" i="1" dirty="0"/>
              <a:t>juice</a:t>
            </a:r>
            <a:r>
              <a:rPr lang="en-US" sz="3200" dirty="0"/>
              <a:t> acquisition rates</a:t>
            </a:r>
          </a:p>
        </p:txBody>
      </p:sp>
      <p:sp>
        <p:nvSpPr>
          <p:cNvPr id="4" name="Slide Number Placeholder 3"/>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48</a:t>
            </a:fld>
            <a:endParaRPr lang="en-US"/>
          </a:p>
        </p:txBody>
      </p:sp>
      <p:pic>
        <p:nvPicPr>
          <p:cNvPr id="6" name="Content Placeholder 5"/>
          <p:cNvPicPr>
            <a:picLocks noGrp="1" noChangeAspect="1"/>
          </p:cNvPicPr>
          <p:nvPr>
            <p:ph sz="quarter" idx="1"/>
          </p:nvPr>
        </p:nvPicPr>
        <p:blipFill rotWithShape="1">
          <a:blip r:embed="rId2"/>
          <a:srcRect l="18022" t="50847" r="59097" b="25424"/>
          <a:stretch/>
        </p:blipFill>
        <p:spPr>
          <a:xfrm>
            <a:off x="1676400" y="1600200"/>
            <a:ext cx="5715000" cy="3333749"/>
          </a:xfrm>
          <a:prstGeom prst="rect">
            <a:avLst/>
          </a:prstGeom>
        </p:spPr>
      </p:pic>
      <p:sp>
        <p:nvSpPr>
          <p:cNvPr id="7" name="TextBox 6"/>
          <p:cNvSpPr txBox="1"/>
          <p:nvPr/>
        </p:nvSpPr>
        <p:spPr>
          <a:xfrm>
            <a:off x="685800" y="5010149"/>
            <a:ext cx="8305800" cy="1323439"/>
          </a:xfrm>
          <a:prstGeom prst="rect">
            <a:avLst/>
          </a:prstGeom>
          <a:noFill/>
        </p:spPr>
        <p:txBody>
          <a:bodyPr wrap="square" rtlCol="0">
            <a:spAutoFit/>
          </a:bodyPr>
          <a:lstStyle/>
          <a:p>
            <a:pPr algn="ctr">
              <a:spcBef>
                <a:spcPts val="1200"/>
              </a:spcBef>
              <a:spcAft>
                <a:spcPts val="0"/>
              </a:spcAft>
            </a:pPr>
            <a:r>
              <a:rPr lang="en-US" sz="2000" dirty="0">
                <a:solidFill>
                  <a:srgbClr val="FF0000"/>
                </a:solidFill>
              </a:rPr>
              <a:t>Customers acquired via discount may be </a:t>
            </a:r>
            <a:r>
              <a:rPr lang="en-US" sz="2000" u="sng" dirty="0">
                <a:solidFill>
                  <a:srgbClr val="FF0000"/>
                </a:solidFill>
              </a:rPr>
              <a:t>most likely to churn</a:t>
            </a:r>
            <a:r>
              <a:rPr lang="en-US" sz="2000" dirty="0">
                <a:solidFill>
                  <a:srgbClr val="FF0000"/>
                </a:solidFill>
              </a:rPr>
              <a:t>.</a:t>
            </a:r>
          </a:p>
          <a:p>
            <a:pPr algn="ctr">
              <a:spcBef>
                <a:spcPts val="0"/>
              </a:spcBef>
              <a:spcAft>
                <a:spcPts val="1200"/>
              </a:spcAft>
            </a:pPr>
            <a:r>
              <a:rPr lang="en-US" sz="2000" dirty="0">
                <a:solidFill>
                  <a:srgbClr val="FF0000"/>
                </a:solidFill>
              </a:rPr>
              <a:t>Makes sense, discounts mechanically </a:t>
            </a:r>
            <a:r>
              <a:rPr lang="en-US" sz="2000" i="1" dirty="0">
                <a:solidFill>
                  <a:srgbClr val="FF0000"/>
                </a:solidFill>
              </a:rPr>
              <a:t>select</a:t>
            </a:r>
            <a:r>
              <a:rPr lang="en-US" sz="2000" dirty="0">
                <a:solidFill>
                  <a:srgbClr val="FF0000"/>
                </a:solidFill>
              </a:rPr>
              <a:t> low-value customers at the margin!</a:t>
            </a:r>
          </a:p>
          <a:p>
            <a:pPr marL="342900" indent="-342900">
              <a:spcBef>
                <a:spcPts val="1200"/>
              </a:spcBef>
              <a:spcAft>
                <a:spcPts val="1200"/>
              </a:spcAft>
              <a:buFont typeface="Wingdings" panose="05000000000000000000" pitchFamily="2" charset="2"/>
              <a:buChar char="Ø"/>
            </a:pPr>
            <a:r>
              <a:rPr lang="en-US" sz="2000" dirty="0"/>
              <a:t>Optimized CLV pricing must balance </a:t>
            </a:r>
            <a:r>
              <a:rPr lang="en-US" sz="2000" b="1" dirty="0">
                <a:effectLst>
                  <a:outerShdw blurRad="38100" dist="38100" dir="2700000" algn="tl">
                    <a:srgbClr val="000000">
                      <a:alpha val="43137"/>
                    </a:srgbClr>
                  </a:outerShdw>
                </a:effectLst>
              </a:rPr>
              <a:t>acquisition</a:t>
            </a:r>
            <a:r>
              <a:rPr lang="en-US" sz="2000" dirty="0"/>
              <a:t> &amp; </a:t>
            </a:r>
            <a:r>
              <a:rPr lang="en-US" sz="2000" b="1" dirty="0">
                <a:effectLst>
                  <a:outerShdw blurRad="38100" dist="38100" dir="2700000" algn="tl">
                    <a:srgbClr val="000000">
                      <a:alpha val="43137"/>
                    </a:srgbClr>
                  </a:outerShdw>
                </a:effectLst>
              </a:rPr>
              <a:t>retention</a:t>
            </a:r>
            <a:r>
              <a:rPr lang="en-US" sz="2000" dirty="0"/>
              <a:t>.</a:t>
            </a:r>
          </a:p>
        </p:txBody>
      </p:sp>
    </p:spTree>
    <p:extLst>
      <p:ext uri="{BB962C8B-B14F-4D97-AF65-F5344CB8AC3E}">
        <p14:creationId xmlns:p14="http://schemas.microsoft.com/office/powerpoint/2010/main" val="36178333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dirty="0"/>
              <a:t>CLV at </a:t>
            </a:r>
            <a:r>
              <a:rPr lang="en-US" dirty="0" err="1"/>
              <a:t>Ziprecruiter</a:t>
            </a:r>
            <a:r>
              <a:rPr lang="en-US" dirty="0"/>
              <a:t> using </a:t>
            </a:r>
            <a:r>
              <a:rPr lang="en-US" u="sng" dirty="0"/>
              <a:t>simulated</a:t>
            </a:r>
            <a:r>
              <a:rPr lang="en-US" dirty="0"/>
              <a:t> data.</a:t>
            </a:r>
          </a:p>
          <a:p>
            <a:pPr marL="457200" indent="-457200">
              <a:buFont typeface="Arial" panose="020B0604020202020204" pitchFamily="34" charset="0"/>
              <a:buChar char="•"/>
            </a:pPr>
            <a:r>
              <a:rPr lang="en-US" dirty="0"/>
              <a:t>R code</a:t>
            </a:r>
          </a:p>
          <a:p>
            <a:pPr marL="457200" indent="-457200">
              <a:buFont typeface="Arial" panose="020B0604020202020204" pitchFamily="34" charset="0"/>
              <a:buChar char="•"/>
            </a:pPr>
            <a:r>
              <a:rPr lang="en-US" dirty="0"/>
              <a:t>Results</a:t>
            </a:r>
          </a:p>
          <a:p>
            <a:pPr marL="457200" indent="-457200">
              <a:buFont typeface="Arial" panose="020B0604020202020204" pitchFamily="34" charset="0"/>
              <a:buChar char="•"/>
            </a:pPr>
            <a:r>
              <a:rPr lang="en-US" dirty="0"/>
              <a:t>Figures</a:t>
            </a:r>
          </a:p>
        </p:txBody>
      </p:sp>
      <p:sp>
        <p:nvSpPr>
          <p:cNvPr id="3" name="Title 2"/>
          <p:cNvSpPr>
            <a:spLocks noGrp="1"/>
          </p:cNvSpPr>
          <p:nvPr>
            <p:ph type="title"/>
          </p:nvPr>
        </p:nvSpPr>
        <p:spPr/>
        <p:txBody>
          <a:bodyPr/>
          <a:lstStyle/>
          <a:p>
            <a:r>
              <a:rPr lang="en-US" dirty="0"/>
              <a:t>Extra</a:t>
            </a:r>
          </a:p>
        </p:txBody>
      </p:sp>
      <p:sp>
        <p:nvSpPr>
          <p:cNvPr id="4" name="Slide Number Placeholder 3"/>
          <p:cNvSpPr>
            <a:spLocks noGrp="1"/>
          </p:cNvSpPr>
          <p:nvPr>
            <p:ph type="sldNum" sz="quarter" idx="11"/>
          </p:nvPr>
        </p:nvSpPr>
        <p:spPr/>
        <p:txBody>
          <a:bodyPr/>
          <a:lstStyle/>
          <a:p>
            <a:pPr>
              <a:defRPr/>
            </a:pPr>
            <a:fld id="{DF54D116-B739-41B8-A000-A0DD5381050B}" type="slidenum">
              <a:rPr lang="en-US" smtClean="0"/>
              <a:pPr>
                <a:defRPr/>
              </a:pPr>
              <a:t>49</a:t>
            </a:fld>
            <a:endParaRPr lang="en-US"/>
          </a:p>
        </p:txBody>
      </p:sp>
    </p:spTree>
    <p:extLst>
      <p:ext uri="{BB962C8B-B14F-4D97-AF65-F5344CB8AC3E}">
        <p14:creationId xmlns:p14="http://schemas.microsoft.com/office/powerpoint/2010/main" val="15888791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and code overview</a:t>
            </a:r>
          </a:p>
        </p:txBody>
      </p:sp>
      <p:sp>
        <p:nvSpPr>
          <p:cNvPr id="3" name="Content Placeholder 2"/>
          <p:cNvSpPr>
            <a:spLocks noGrp="1"/>
          </p:cNvSpPr>
          <p:nvPr>
            <p:ph sz="quarter" idx="1"/>
          </p:nvPr>
        </p:nvSpPr>
        <p:spPr>
          <a:xfrm>
            <a:off x="612648" y="1600200"/>
            <a:ext cx="8153400" cy="4953000"/>
          </a:xfrm>
        </p:spPr>
        <p:txBody>
          <a:bodyPr>
            <a:normAutofit/>
          </a:bodyPr>
          <a:lstStyle/>
          <a:p>
            <a:pPr>
              <a:spcBef>
                <a:spcPts val="1200"/>
              </a:spcBef>
              <a:spcAft>
                <a:spcPts val="1200"/>
              </a:spcAft>
            </a:pPr>
            <a:r>
              <a:rPr lang="en-US" dirty="0"/>
              <a:t>The actual </a:t>
            </a:r>
            <a:r>
              <a:rPr lang="en-US" dirty="0" err="1"/>
              <a:t>Ziprecruiter</a:t>
            </a:r>
            <a:r>
              <a:rPr lang="en-US" dirty="0"/>
              <a:t> data are confidential and cannot be circulated</a:t>
            </a:r>
          </a:p>
          <a:p>
            <a:pPr>
              <a:spcBef>
                <a:spcPts val="1200"/>
              </a:spcBef>
              <a:spcAft>
                <a:spcPts val="1200"/>
              </a:spcAft>
            </a:pPr>
            <a:r>
              <a:rPr lang="en-US" dirty="0"/>
              <a:t>So in this Appendix I will provide R code you can use:</a:t>
            </a:r>
          </a:p>
          <a:p>
            <a:pPr marL="823913" lvl="1" indent="-457200">
              <a:spcBef>
                <a:spcPts val="600"/>
              </a:spcBef>
              <a:spcAft>
                <a:spcPts val="600"/>
              </a:spcAft>
              <a:buFont typeface="+mj-lt"/>
              <a:buAutoNum type="arabicPeriod"/>
            </a:pPr>
            <a:r>
              <a:rPr lang="en-US" dirty="0"/>
              <a:t>to simulate hypothetical purchase data</a:t>
            </a:r>
          </a:p>
          <a:p>
            <a:pPr marL="823913" lvl="1" indent="-457200">
              <a:spcBef>
                <a:spcPts val="600"/>
              </a:spcBef>
              <a:spcAft>
                <a:spcPts val="600"/>
              </a:spcAft>
              <a:buFont typeface="+mj-lt"/>
              <a:buAutoNum type="arabicPeriod"/>
            </a:pPr>
            <a:r>
              <a:rPr lang="en-US" dirty="0"/>
              <a:t>to estimate demand</a:t>
            </a:r>
          </a:p>
          <a:p>
            <a:pPr marL="823913" lvl="1" indent="-457200">
              <a:spcBef>
                <a:spcPts val="600"/>
              </a:spcBef>
              <a:spcAft>
                <a:spcPts val="600"/>
              </a:spcAft>
              <a:buFont typeface="+mj-lt"/>
              <a:buAutoNum type="arabicPeriod"/>
            </a:pPr>
            <a:r>
              <a:rPr lang="en-US" dirty="0"/>
              <a:t>to compute optimal monthly prices</a:t>
            </a:r>
          </a:p>
          <a:p>
            <a:pPr marL="823913" lvl="1" indent="-457200">
              <a:spcBef>
                <a:spcPts val="600"/>
              </a:spcBef>
              <a:spcAft>
                <a:spcPts val="1200"/>
              </a:spcAft>
              <a:buFont typeface="+mj-lt"/>
              <a:buAutoNum type="arabicPeriod"/>
            </a:pPr>
            <a:r>
              <a:rPr lang="en-US" dirty="0"/>
              <a:t>to compute optimal prices against the CLV of the customer</a:t>
            </a:r>
          </a:p>
          <a:p>
            <a:pPr marL="388938" indent="-342900">
              <a:spcBef>
                <a:spcPts val="1200"/>
              </a:spcBef>
              <a:spcAft>
                <a:spcPts val="1200"/>
              </a:spcAft>
            </a:pPr>
            <a:r>
              <a:rPr lang="en-US" dirty="0"/>
              <a:t>Although these are simulated data, I set them up to mimic the actual choice behavior from out experiment</a:t>
            </a:r>
          </a:p>
        </p:txBody>
      </p:sp>
      <p:sp>
        <p:nvSpPr>
          <p:cNvPr id="4" name="Slide Number Placeholder 3"/>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50</a:t>
            </a:fld>
            <a:endParaRPr lang="en-US"/>
          </a:p>
        </p:txBody>
      </p:sp>
    </p:spTree>
    <p:extLst>
      <p:ext uri="{BB962C8B-B14F-4D97-AF65-F5344CB8AC3E}">
        <p14:creationId xmlns:p14="http://schemas.microsoft.com/office/powerpoint/2010/main" val="4111825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609600" y="3429000"/>
            <a:ext cx="7391400" cy="1066800"/>
          </a:xfrm>
          <a:prstGeom prst="rect">
            <a:avLst/>
          </a:prstGeom>
          <a:solidFill>
            <a:srgbClr val="FFFF00"/>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t>The Logistic model</a:t>
            </a:r>
          </a:p>
        </p:txBody>
      </p:sp>
      <p:sp>
        <p:nvSpPr>
          <p:cNvPr id="3" name="Content Placeholder 2"/>
          <p:cNvSpPr>
            <a:spLocks noGrp="1"/>
          </p:cNvSpPr>
          <p:nvPr>
            <p:ph sz="quarter" idx="1"/>
          </p:nvPr>
        </p:nvSpPr>
        <p:spPr/>
        <p:txBody>
          <a:bodyPr/>
          <a:lstStyle/>
          <a:p>
            <a:pPr>
              <a:spcBef>
                <a:spcPts val="1200"/>
              </a:spcBef>
              <a:spcAft>
                <a:spcPts val="1200"/>
              </a:spcAft>
            </a:pPr>
            <a:r>
              <a:rPr lang="en-US" dirty="0"/>
              <a:t>To predict membership demand at different price levels, I estimated a “Logit” model</a:t>
            </a:r>
          </a:p>
          <a:p>
            <a:pPr>
              <a:spcBef>
                <a:spcPts val="1200"/>
              </a:spcBef>
              <a:spcAft>
                <a:spcPts val="1200"/>
              </a:spcAft>
            </a:pPr>
            <a:r>
              <a:rPr lang="en-US" dirty="0"/>
              <a:t>The model predicts the probability of buying at a given price</a:t>
            </a:r>
          </a:p>
        </p:txBody>
      </p:sp>
      <p:sp>
        <p:nvSpPr>
          <p:cNvPr id="4" name="Slide Number Placeholder 3"/>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51</a:t>
            </a:fld>
            <a:endParaRPr lang="en-US"/>
          </a:p>
        </p:txBody>
      </p:sp>
      <mc:AlternateContent xmlns:mc="http://schemas.openxmlformats.org/markup-compatibility/2006" xmlns:a14="http://schemas.microsoft.com/office/drawing/2010/main">
        <mc:Choice Requires="a14">
          <p:sp>
            <p:nvSpPr>
              <p:cNvPr id="5" name="Rectangle 4"/>
              <p:cNvSpPr/>
              <p:nvPr/>
            </p:nvSpPr>
            <p:spPr>
              <a:xfrm>
                <a:off x="381000" y="3477165"/>
                <a:ext cx="7543800" cy="74187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000" smtClean="0">
                          <a:latin typeface="Cambria Math" panose="02040503050406030204" pitchFamily="18" charset="0"/>
                        </a:rPr>
                        <m:t>Pr</m:t>
                      </m:r>
                      <m:r>
                        <a:rPr lang="en-US" sz="2000" b="0" i="1" smtClean="0">
                          <a:latin typeface="Cambria Math" panose="02040503050406030204" pitchFamily="18" charset="0"/>
                        </a:rPr>
                        <m:t>𝑜𝑏</m:t>
                      </m:r>
                      <m:d>
                        <m:dPr>
                          <m:ctrlPr>
                            <a:rPr lang="en-US" sz="2000" i="1">
                              <a:latin typeface="Cambria Math" panose="02040503050406030204" pitchFamily="18" charset="0"/>
                            </a:rPr>
                          </m:ctrlPr>
                        </m:dPr>
                        <m:e>
                          <m:r>
                            <a:rPr lang="en-US" sz="2000" i="1">
                              <a:latin typeface="Cambria Math" panose="02040503050406030204" pitchFamily="18" charset="0"/>
                            </a:rPr>
                            <m:t>𝑃𝑎𝑦</m:t>
                          </m:r>
                          <m:r>
                            <a:rPr lang="en-US" sz="2000">
                              <a:latin typeface="Cambria Math" panose="02040503050406030204" pitchFamily="18" charset="0"/>
                            </a:rPr>
                            <m:t> </m:t>
                          </m:r>
                          <m:r>
                            <m:rPr>
                              <m:sty m:val="p"/>
                            </m:rPr>
                            <a:rPr lang="en-US" sz="2000">
                              <a:latin typeface="Cambria Math" panose="02040503050406030204" pitchFamily="18" charset="0"/>
                            </a:rPr>
                            <m:t>for</m:t>
                          </m:r>
                          <m:r>
                            <a:rPr lang="en-US" sz="2000">
                              <a:latin typeface="Cambria Math" panose="02040503050406030204" pitchFamily="18" charset="0"/>
                            </a:rPr>
                            <m:t> </m:t>
                          </m:r>
                          <m:r>
                            <m:rPr>
                              <m:sty m:val="p"/>
                            </m:rPr>
                            <a:rPr lang="en-US" sz="2000">
                              <a:latin typeface="Cambria Math" panose="02040503050406030204" pitchFamily="18" charset="0"/>
                            </a:rPr>
                            <m:t>month</m:t>
                          </m:r>
                          <m:r>
                            <a:rPr lang="en-US" sz="2000">
                              <a:latin typeface="Cambria Math" panose="02040503050406030204" pitchFamily="18" charset="0"/>
                            </a:rPr>
                            <m:t> </m:t>
                          </m:r>
                          <m:r>
                            <m:rPr>
                              <m:sty m:val="p"/>
                            </m:rPr>
                            <a:rPr lang="en-US" sz="2000">
                              <a:latin typeface="Cambria Math" panose="02040503050406030204" pitchFamily="18" charset="0"/>
                            </a:rPr>
                            <m:t>of</m:t>
                          </m:r>
                          <m:r>
                            <a:rPr lang="en-US" sz="2000">
                              <a:latin typeface="Cambria Math" panose="02040503050406030204" pitchFamily="18" charset="0"/>
                            </a:rPr>
                            <m:t> </m:t>
                          </m:r>
                          <m:r>
                            <m:rPr>
                              <m:sty m:val="p"/>
                            </m:rPr>
                            <a:rPr lang="en-US" sz="2000">
                              <a:latin typeface="Cambria Math" panose="02040503050406030204" pitchFamily="18" charset="0"/>
                            </a:rPr>
                            <m:t>service</m:t>
                          </m:r>
                          <m:r>
                            <a:rPr lang="en-US" sz="2000">
                              <a:latin typeface="Cambria Math" panose="02040503050406030204" pitchFamily="18" charset="0"/>
                            </a:rPr>
                            <m:t>|</m:t>
                          </m:r>
                          <m:r>
                            <a:rPr lang="en-US" sz="2000" i="1">
                              <a:latin typeface="Cambria Math" panose="02040503050406030204" pitchFamily="18" charset="0"/>
                            </a:rPr>
                            <m:t>𝑃𝑟𝑖𝑐𝑒</m:t>
                          </m:r>
                        </m:e>
                      </m:d>
                      <m:r>
                        <a:rPr lang="en-US" sz="2000" b="0" i="1" smtClean="0">
                          <a:latin typeface="Cambria Math" panose="02040503050406030204" pitchFamily="18" charset="0"/>
                        </a:rPr>
                        <m:t>=</m:t>
                      </m:r>
                      <m:f>
                        <m:fPr>
                          <m:ctrlPr>
                            <a:rPr lang="en-US" sz="2000" i="1">
                              <a:latin typeface="Cambria Math" panose="02040503050406030204" pitchFamily="18" charset="0"/>
                            </a:rPr>
                          </m:ctrlPr>
                        </m:fPr>
                        <m:num>
                          <m:r>
                            <m:rPr>
                              <m:sty m:val="p"/>
                            </m:rPr>
                            <a:rPr lang="en-US" sz="2000">
                              <a:latin typeface="Cambria Math" panose="02040503050406030204" pitchFamily="18" charset="0"/>
                            </a:rPr>
                            <m:t>exp</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𝛽</m:t>
                                  </m:r>
                                </m:e>
                                <m:sub>
                                  <m:r>
                                    <a:rPr lang="en-US" sz="2000" i="1">
                                      <a:latin typeface="Cambria Math" panose="02040503050406030204" pitchFamily="18" charset="0"/>
                                    </a:rPr>
                                    <m:t>0</m:t>
                                  </m:r>
                                </m:sub>
                              </m:sSub>
                              <m:r>
                                <a:rPr lang="en-US" sz="2000" i="1">
                                  <a:latin typeface="Cambria Math" panose="02040503050406030204" pitchFamily="18" charset="0"/>
                                </a:rPr>
                                <m:t> </m:t>
                              </m:r>
                              <m:r>
                                <a:rPr lang="en-US" sz="200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𝛽</m:t>
                                  </m:r>
                                </m:e>
                                <m:sub>
                                  <m:r>
                                    <a:rPr lang="en-US" sz="2000" i="1">
                                      <a:latin typeface="Cambria Math" panose="02040503050406030204" pitchFamily="18" charset="0"/>
                                    </a:rPr>
                                    <m:t>1</m:t>
                                  </m:r>
                                </m:sub>
                              </m:sSub>
                              <m:r>
                                <a:rPr lang="en-US" sz="2000" i="1">
                                  <a:latin typeface="Cambria Math" panose="02040503050406030204" pitchFamily="18" charset="0"/>
                                </a:rPr>
                                <m:t>𝑃𝑟𝑖𝑐𝑒</m:t>
                              </m:r>
                            </m:e>
                          </m:d>
                        </m:num>
                        <m:den>
                          <m:r>
                            <a:rPr lang="en-US" sz="2000">
                              <a:latin typeface="Cambria Math" panose="02040503050406030204" pitchFamily="18" charset="0"/>
                            </a:rPr>
                            <m:t>1+</m:t>
                          </m:r>
                          <m:r>
                            <m:rPr>
                              <m:sty m:val="p"/>
                            </m:rPr>
                            <a:rPr lang="en-US" sz="2000">
                              <a:latin typeface="Cambria Math" panose="02040503050406030204" pitchFamily="18" charset="0"/>
                            </a:rPr>
                            <m:t>exp</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𝛽</m:t>
                                  </m:r>
                                </m:e>
                                <m:sub>
                                  <m:r>
                                    <a:rPr lang="en-US" sz="2000" i="1">
                                      <a:latin typeface="Cambria Math" panose="02040503050406030204" pitchFamily="18" charset="0"/>
                                    </a:rPr>
                                    <m:t>0</m:t>
                                  </m:r>
                                </m:sub>
                              </m:sSub>
                              <m:r>
                                <a:rPr lang="en-US" sz="2000" i="1">
                                  <a:latin typeface="Cambria Math" panose="02040503050406030204" pitchFamily="18" charset="0"/>
                                </a:rPr>
                                <m:t> </m:t>
                              </m:r>
                              <m:r>
                                <a:rPr lang="en-US" sz="200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𝛽</m:t>
                                  </m:r>
                                </m:e>
                                <m:sub>
                                  <m:r>
                                    <a:rPr lang="en-US" sz="2000" i="1">
                                      <a:latin typeface="Cambria Math" panose="02040503050406030204" pitchFamily="18" charset="0"/>
                                    </a:rPr>
                                    <m:t>1</m:t>
                                  </m:r>
                                </m:sub>
                              </m:sSub>
                              <m:r>
                                <a:rPr lang="en-US" sz="2000" i="1">
                                  <a:latin typeface="Cambria Math" panose="02040503050406030204" pitchFamily="18" charset="0"/>
                                </a:rPr>
                                <m:t>𝑃𝑟𝑖𝑐𝑒</m:t>
                              </m:r>
                            </m:e>
                          </m:d>
                        </m:den>
                      </m:f>
                    </m:oMath>
                  </m:oMathPara>
                </a14:m>
                <a:endParaRPr lang="en-US" sz="2000" dirty="0"/>
              </a:p>
            </p:txBody>
          </p:sp>
        </mc:Choice>
        <mc:Fallback xmlns="">
          <p:sp>
            <p:nvSpPr>
              <p:cNvPr id="5" name="Rectangle 4"/>
              <p:cNvSpPr>
                <a:spLocks noRot="1" noChangeAspect="1" noMove="1" noResize="1" noEditPoints="1" noAdjustHandles="1" noChangeArrowheads="1" noChangeShapeType="1" noTextEdit="1"/>
              </p:cNvSpPr>
              <p:nvPr/>
            </p:nvSpPr>
            <p:spPr>
              <a:xfrm>
                <a:off x="381000" y="3477165"/>
                <a:ext cx="7543800" cy="741870"/>
              </a:xfrm>
              <a:prstGeom prst="rect">
                <a:avLst/>
              </a:prstGeom>
              <a:blipFill rotWithShape="0">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7765999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88585" y="5105400"/>
            <a:ext cx="5410200" cy="838200"/>
          </a:xfrm>
          <a:prstGeom prst="rect">
            <a:avLst/>
          </a:prstGeom>
          <a:solidFill>
            <a:srgbClr val="FFFF00"/>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t>The Logistic model and NPV</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pPr>
                  <a:spcBef>
                    <a:spcPts val="1200"/>
                  </a:spcBef>
                  <a:spcAft>
                    <a:spcPts val="1200"/>
                  </a:spcAft>
                </a:pPr>
                <a:r>
                  <a:rPr lang="en-US" sz="2000" dirty="0"/>
                  <a:t>Suppose we have just run the experiment. We obviously do not know the repeat rates (i.e. retention rates) yet.</a:t>
                </a:r>
              </a:p>
              <a:p>
                <a:pPr>
                  <a:spcBef>
                    <a:spcPts val="1200"/>
                  </a:spcBef>
                  <a:spcAft>
                    <a:spcPts val="1200"/>
                  </a:spcAft>
                </a:pPr>
                <a:r>
                  <a:rPr lang="en-US" sz="2000" dirty="0"/>
                  <a:t>If you need to make an immediate pricing decision, you will need to make an assumption about repeat behavior.</a:t>
                </a:r>
              </a:p>
              <a:p>
                <a:pPr>
                  <a:spcBef>
                    <a:spcPts val="1200"/>
                  </a:spcBef>
                  <a:spcAft>
                    <a:spcPts val="1200"/>
                  </a:spcAft>
                </a:pPr>
                <a:r>
                  <a:rPr lang="en-US" sz="2000" dirty="0"/>
                  <a:t>For this exercise, let’s assume trial and repeat rates are identical each month. For </a:t>
                </a:r>
                <a:r>
                  <a:rPr lang="en-US" sz="2000" dirty="0" err="1"/>
                  <a:t>Ziprecruiter</a:t>
                </a:r>
                <a:r>
                  <a:rPr lang="en-US" sz="2000" dirty="0"/>
                  <a:t>, we later verified this assumption after 6 months had elapsed (in fact, repeat rates were much higher than initial trial rates!)</a:t>
                </a:r>
              </a:p>
              <a:p>
                <a:pPr>
                  <a:spcBef>
                    <a:spcPts val="1200"/>
                  </a:spcBef>
                  <a:spcAft>
                    <a:spcPts val="1200"/>
                  </a:spcAft>
                </a:pPr>
                <a:r>
                  <a:rPr lang="en-US" sz="2000" dirty="0"/>
                  <a:t>Now we can compute the NPV of revenues:</a:t>
                </a:r>
                <a:endParaRPr lang="en-US" dirty="0"/>
              </a:p>
              <a:p>
                <a:pPr marL="0" indent="0">
                  <a:spcBef>
                    <a:spcPts val="1200"/>
                  </a:spcBef>
                  <a:spcAft>
                    <a:spcPts val="1200"/>
                  </a:spcAft>
                  <a:buNone/>
                </a:pPr>
                <a14:m>
                  <m:oMathPara xmlns:m="http://schemas.openxmlformats.org/officeDocument/2006/math">
                    <m:oMathParaPr>
                      <m:jc m:val="center"/>
                    </m:oMathParaPr>
                    <m:oMath xmlns:m="http://schemas.openxmlformats.org/officeDocument/2006/math">
                      <m:r>
                        <a:rPr lang="en-US" sz="2000" i="1">
                          <a:latin typeface="Cambria Math"/>
                        </a:rPr>
                        <m:t>𝑁𝑃𝑉</m:t>
                      </m:r>
                      <m:r>
                        <a:rPr lang="en-US" sz="2000" b="0" i="1" smtClean="0">
                          <a:latin typeface="Cambria Math" panose="02040503050406030204" pitchFamily="18" charset="0"/>
                        </a:rPr>
                        <m:t>(</m:t>
                      </m:r>
                      <m:r>
                        <a:rPr lang="en-US" sz="2000" b="1" i="1" smtClean="0">
                          <a:latin typeface="Cambria Math" panose="02040503050406030204" pitchFamily="18" charset="0"/>
                        </a:rPr>
                        <m:t>𝒑</m:t>
                      </m:r>
                      <m:r>
                        <a:rPr lang="en-US" sz="2000" b="0" i="1" smtClean="0">
                          <a:latin typeface="Cambria Math" panose="02040503050406030204" pitchFamily="18" charset="0"/>
                        </a:rPr>
                        <m:t>)</m:t>
                      </m:r>
                      <m:r>
                        <a:rPr lang="en-US" sz="2000" i="1">
                          <a:latin typeface="Cambria Math"/>
                        </a:rPr>
                        <m:t>=</m:t>
                      </m:r>
                      <m:f>
                        <m:fPr>
                          <m:ctrlPr>
                            <a:rPr lang="en-US" sz="2000" b="1" i="1">
                              <a:latin typeface="Cambria Math" panose="02040503050406030204" pitchFamily="18" charset="0"/>
                            </a:rPr>
                          </m:ctrlPr>
                        </m:fPr>
                        <m:num>
                          <m:r>
                            <a:rPr lang="en-US" sz="2000" b="1" i="1">
                              <a:latin typeface="Cambria Math"/>
                            </a:rPr>
                            <m:t>𝟏</m:t>
                          </m:r>
                        </m:num>
                        <m:den>
                          <m:r>
                            <a:rPr lang="en-US" sz="2000" b="1" i="1">
                              <a:latin typeface="Cambria Math"/>
                            </a:rPr>
                            <m:t>𝟏</m:t>
                          </m:r>
                          <m:r>
                            <a:rPr lang="en-US" sz="2000" b="1" i="1">
                              <a:latin typeface="Cambria Math"/>
                            </a:rPr>
                            <m:t>−</m:t>
                          </m:r>
                          <m:r>
                            <a:rPr lang="en-US" sz="2000" b="1" i="1">
                              <a:latin typeface="Cambria Math"/>
                            </a:rPr>
                            <m:t>𝜹</m:t>
                          </m:r>
                          <m:r>
                            <a:rPr lang="en-US" sz="2000" i="1">
                              <a:latin typeface="Cambria Math"/>
                            </a:rPr>
                            <m:t>𝑃𝑟𝑜𝑏</m:t>
                          </m:r>
                          <m:d>
                            <m:dPr>
                              <m:ctrlPr>
                                <a:rPr lang="en-US" sz="2000" i="1">
                                  <a:latin typeface="Cambria Math" panose="02040503050406030204" pitchFamily="18" charset="0"/>
                                </a:rPr>
                              </m:ctrlPr>
                            </m:dPr>
                            <m:e>
                              <m:r>
                                <a:rPr lang="en-US" sz="2000" i="1">
                                  <a:latin typeface="Cambria Math"/>
                                </a:rPr>
                                <m:t>𝑏𝑢𝑦</m:t>
                              </m:r>
                              <m:r>
                                <a:rPr lang="en-US" sz="2000" i="1">
                                  <a:latin typeface="Cambria Math"/>
                                </a:rPr>
                                <m:t>|</m:t>
                              </m:r>
                              <m:r>
                                <a:rPr lang="en-US" sz="2000" b="1" i="1">
                                  <a:latin typeface="Cambria Math"/>
                                </a:rPr>
                                <m:t>𝒑</m:t>
                              </m:r>
                            </m:e>
                          </m:d>
                        </m:den>
                      </m:f>
                      <m:r>
                        <a:rPr lang="en-US" sz="2000" b="1" i="1">
                          <a:latin typeface="Cambria Math"/>
                        </a:rPr>
                        <m:t>𝒑</m:t>
                      </m:r>
                      <m:r>
                        <a:rPr lang="en-US" sz="2000" i="1">
                          <a:latin typeface="Cambria Math"/>
                        </a:rPr>
                        <m:t>𝑃𝑟𝑜𝑏</m:t>
                      </m:r>
                      <m:d>
                        <m:dPr>
                          <m:ctrlPr>
                            <a:rPr lang="en-US" sz="2000" i="1">
                              <a:latin typeface="Cambria Math" panose="02040503050406030204" pitchFamily="18" charset="0"/>
                            </a:rPr>
                          </m:ctrlPr>
                        </m:dPr>
                        <m:e>
                          <m:r>
                            <a:rPr lang="en-US" sz="2000" i="1">
                              <a:latin typeface="Cambria Math"/>
                            </a:rPr>
                            <m:t>𝑏𝑢𝑦</m:t>
                          </m:r>
                          <m:r>
                            <a:rPr lang="en-US" sz="2000" i="1">
                              <a:latin typeface="Cambria Math"/>
                            </a:rPr>
                            <m:t>|</m:t>
                          </m:r>
                          <m:r>
                            <a:rPr lang="en-US" sz="2000" b="1" i="1">
                              <a:latin typeface="Cambria Math"/>
                            </a:rPr>
                            <m:t>𝒑</m:t>
                          </m:r>
                        </m:e>
                      </m:d>
                      <m:r>
                        <a:rPr lang="en-US" sz="2000" i="1">
                          <a:latin typeface="Cambria Math"/>
                        </a:rPr>
                        <m:t>                                                 </m:t>
                      </m:r>
                    </m:oMath>
                  </m:oMathPara>
                </a14:m>
                <a:endParaRPr lang="en-US" dirty="0"/>
              </a:p>
              <a:p>
                <a:pPr>
                  <a:spcBef>
                    <a:spcPts val="1200"/>
                  </a:spcBef>
                  <a:spcAft>
                    <a:spcPts val="1200"/>
                  </a:spcAft>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2"/>
                <a:stretch>
                  <a:fillRect t="-814" r="-972"/>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52</a:t>
            </a:fld>
            <a:endParaRPr lang="en-US"/>
          </a:p>
        </p:txBody>
      </p:sp>
    </p:spTree>
    <p:extLst>
      <p:ext uri="{BB962C8B-B14F-4D97-AF65-F5344CB8AC3E}">
        <p14:creationId xmlns:p14="http://schemas.microsoft.com/office/powerpoint/2010/main" val="70217598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a:t>A simulation in R to illustrate</a:t>
            </a:r>
            <a:br>
              <a:rPr lang="en-US" sz="4400" dirty="0"/>
            </a:br>
            <a:r>
              <a:rPr lang="en-US" sz="3600" dirty="0"/>
              <a:t>Code to create simulated choice data</a:t>
            </a:r>
          </a:p>
        </p:txBody>
      </p:sp>
      <p:sp>
        <p:nvSpPr>
          <p:cNvPr id="3" name="Content Placeholder 2"/>
          <p:cNvSpPr>
            <a:spLocks noGrp="1"/>
          </p:cNvSpPr>
          <p:nvPr>
            <p:ph sz="quarter" idx="1"/>
          </p:nvPr>
        </p:nvSpPr>
        <p:spPr/>
        <p:txBody>
          <a:bodyPr>
            <a:normAutofit/>
          </a:bodyPr>
          <a:lstStyle/>
          <a:p>
            <a:pPr>
              <a:buFont typeface="Wingdings" panose="05000000000000000000" pitchFamily="2" charset="2"/>
              <a:buChar char="q"/>
            </a:pPr>
            <a:r>
              <a:rPr lang="en-US" sz="2000" dirty="0">
                <a:solidFill>
                  <a:schemeClr val="tx1">
                    <a:lumMod val="95000"/>
                    <a:lumOff val="5000"/>
                  </a:schemeClr>
                </a:solidFill>
              </a:rPr>
              <a:t>The next few slides replicate the logit simulation from the end of the elasticity slides in week 2</a:t>
            </a:r>
          </a:p>
          <a:p>
            <a:pPr marL="0" indent="0">
              <a:buNone/>
            </a:pPr>
            <a:endParaRPr lang="en-US" sz="2000" dirty="0">
              <a:solidFill>
                <a:schemeClr val="tx1">
                  <a:lumMod val="95000"/>
                  <a:lumOff val="5000"/>
                </a:schemeClr>
              </a:solidFill>
            </a:endParaRPr>
          </a:p>
          <a:p>
            <a:pPr>
              <a:buFont typeface="Wingdings" panose="05000000000000000000" pitchFamily="2" charset="2"/>
              <a:buChar char="Ø"/>
            </a:pPr>
            <a:r>
              <a:rPr lang="en-US" sz="2000" dirty="0">
                <a:solidFill>
                  <a:schemeClr val="bg1">
                    <a:lumMod val="50000"/>
                  </a:schemeClr>
                </a:solidFill>
              </a:rPr>
              <a:t>N = 8000 					# number respondents</a:t>
            </a:r>
          </a:p>
          <a:p>
            <a:pPr>
              <a:buFont typeface="Wingdings" panose="05000000000000000000" pitchFamily="2" charset="2"/>
              <a:buChar char="Ø"/>
            </a:pPr>
            <a:r>
              <a:rPr lang="en-US" sz="2000" dirty="0" err="1">
                <a:solidFill>
                  <a:schemeClr val="bg1">
                    <a:lumMod val="50000"/>
                  </a:schemeClr>
                </a:solidFill>
              </a:rPr>
              <a:t>betatrue</a:t>
            </a:r>
            <a:r>
              <a:rPr lang="en-US" sz="2000" dirty="0">
                <a:solidFill>
                  <a:schemeClr val="bg1">
                    <a:lumMod val="50000"/>
                  </a:schemeClr>
                </a:solidFill>
              </a:rPr>
              <a:t> = matrix(c(-0.64,-0.004))		# inter. &amp; price </a:t>
            </a:r>
            <a:r>
              <a:rPr lang="en-US" sz="2000" dirty="0" err="1">
                <a:solidFill>
                  <a:schemeClr val="bg1">
                    <a:lumMod val="50000"/>
                  </a:schemeClr>
                </a:solidFill>
              </a:rPr>
              <a:t>coeff</a:t>
            </a:r>
            <a:endParaRPr lang="en-US" sz="2000" dirty="0">
              <a:solidFill>
                <a:schemeClr val="bg1">
                  <a:lumMod val="50000"/>
                </a:schemeClr>
              </a:solidFill>
            </a:endParaRPr>
          </a:p>
          <a:p>
            <a:pPr>
              <a:buFont typeface="Wingdings" panose="05000000000000000000" pitchFamily="2" charset="2"/>
              <a:buChar char="Ø"/>
            </a:pPr>
            <a:r>
              <a:rPr lang="en-US" sz="2000" dirty="0" err="1">
                <a:solidFill>
                  <a:schemeClr val="bg1">
                    <a:lumMod val="50000"/>
                  </a:schemeClr>
                </a:solidFill>
              </a:rPr>
              <a:t>testprices</a:t>
            </a:r>
            <a:r>
              <a:rPr lang="en-US" sz="2000" dirty="0">
                <a:solidFill>
                  <a:schemeClr val="bg1">
                    <a:lumMod val="50000"/>
                  </a:schemeClr>
                </a:solidFill>
              </a:rPr>
              <a:t>=matrix(c(19,39,59,79,99,159,199,249,299,399))</a:t>
            </a:r>
          </a:p>
          <a:p>
            <a:pPr>
              <a:buFont typeface="Wingdings" panose="05000000000000000000" pitchFamily="2" charset="2"/>
              <a:buChar char="Ø"/>
            </a:pPr>
            <a:r>
              <a:rPr lang="en-US" sz="2000" dirty="0">
                <a:solidFill>
                  <a:schemeClr val="bg1">
                    <a:lumMod val="50000"/>
                  </a:schemeClr>
                </a:solidFill>
              </a:rPr>
              <a:t>Price = sample(</a:t>
            </a:r>
            <a:r>
              <a:rPr lang="en-US" sz="2000" dirty="0" err="1">
                <a:solidFill>
                  <a:schemeClr val="bg1">
                    <a:lumMod val="50000"/>
                  </a:schemeClr>
                </a:solidFill>
              </a:rPr>
              <a:t>testprices,size</a:t>
            </a:r>
            <a:r>
              <a:rPr lang="en-US" sz="2000" dirty="0">
                <a:solidFill>
                  <a:schemeClr val="bg1">
                    <a:lumMod val="50000"/>
                  </a:schemeClr>
                </a:solidFill>
              </a:rPr>
              <a:t>=</a:t>
            </a:r>
            <a:r>
              <a:rPr lang="en-US" sz="2000" dirty="0" err="1">
                <a:solidFill>
                  <a:schemeClr val="bg1">
                    <a:lumMod val="50000"/>
                  </a:schemeClr>
                </a:solidFill>
              </a:rPr>
              <a:t>N,replace</a:t>
            </a:r>
            <a:r>
              <a:rPr lang="en-US" sz="2000" dirty="0">
                <a:solidFill>
                  <a:schemeClr val="bg1">
                    <a:lumMod val="50000"/>
                  </a:schemeClr>
                </a:solidFill>
              </a:rPr>
              <a:t>=T)	# randomize prices</a:t>
            </a:r>
          </a:p>
          <a:p>
            <a:pPr>
              <a:buFont typeface="Wingdings" panose="05000000000000000000" pitchFamily="2" charset="2"/>
              <a:buChar char="Ø"/>
            </a:pPr>
            <a:r>
              <a:rPr lang="en-US" sz="2000" dirty="0">
                <a:solidFill>
                  <a:schemeClr val="bg1">
                    <a:lumMod val="50000"/>
                  </a:schemeClr>
                </a:solidFill>
              </a:rPr>
              <a:t>epsilon = -log(-log(</a:t>
            </a:r>
            <a:r>
              <a:rPr lang="en-US" sz="2000" dirty="0" err="1">
                <a:solidFill>
                  <a:schemeClr val="bg1">
                    <a:lumMod val="50000"/>
                  </a:schemeClr>
                </a:solidFill>
              </a:rPr>
              <a:t>runif</a:t>
            </a:r>
            <a:r>
              <a:rPr lang="en-US" sz="2000" dirty="0">
                <a:solidFill>
                  <a:schemeClr val="bg1">
                    <a:lumMod val="50000"/>
                  </a:schemeClr>
                </a:solidFill>
              </a:rPr>
              <a:t>(N))) +log(-log(</a:t>
            </a:r>
            <a:r>
              <a:rPr lang="en-US" sz="2000" dirty="0" err="1">
                <a:solidFill>
                  <a:schemeClr val="bg1">
                    <a:lumMod val="50000"/>
                  </a:schemeClr>
                </a:solidFill>
              </a:rPr>
              <a:t>runif</a:t>
            </a:r>
            <a:r>
              <a:rPr lang="en-US" sz="2000" dirty="0">
                <a:solidFill>
                  <a:schemeClr val="bg1">
                    <a:lumMod val="50000"/>
                  </a:schemeClr>
                </a:solidFill>
              </a:rPr>
              <a:t>(N)))	# draw logistic errors</a:t>
            </a:r>
          </a:p>
          <a:p>
            <a:pPr>
              <a:buFont typeface="Wingdings" panose="05000000000000000000" pitchFamily="2" charset="2"/>
              <a:buChar char="Ø"/>
            </a:pPr>
            <a:r>
              <a:rPr lang="en-US" sz="2000" dirty="0">
                <a:solidFill>
                  <a:schemeClr val="bg1">
                    <a:lumMod val="50000"/>
                  </a:schemeClr>
                </a:solidFill>
              </a:rPr>
              <a:t>U = </a:t>
            </a:r>
            <a:r>
              <a:rPr lang="en-US" sz="2000" dirty="0" err="1">
                <a:solidFill>
                  <a:schemeClr val="bg1">
                    <a:lumMod val="50000"/>
                  </a:schemeClr>
                </a:solidFill>
              </a:rPr>
              <a:t>betatrue</a:t>
            </a:r>
            <a:r>
              <a:rPr lang="en-US" sz="2000" dirty="0">
                <a:solidFill>
                  <a:schemeClr val="bg1">
                    <a:lumMod val="50000"/>
                  </a:schemeClr>
                </a:solidFill>
              </a:rPr>
              <a:t>[1]+</a:t>
            </a:r>
            <a:r>
              <a:rPr lang="en-US" sz="2000" dirty="0" err="1">
                <a:solidFill>
                  <a:schemeClr val="bg1">
                    <a:lumMod val="50000"/>
                  </a:schemeClr>
                </a:solidFill>
              </a:rPr>
              <a:t>betatrue</a:t>
            </a:r>
            <a:r>
              <a:rPr lang="en-US" sz="2000" dirty="0">
                <a:solidFill>
                  <a:schemeClr val="bg1">
                    <a:lumMod val="50000"/>
                  </a:schemeClr>
                </a:solidFill>
              </a:rPr>
              <a:t>[2]*</a:t>
            </a:r>
            <a:r>
              <a:rPr lang="en-US" sz="2000" dirty="0" err="1">
                <a:solidFill>
                  <a:schemeClr val="bg1">
                    <a:lumMod val="50000"/>
                  </a:schemeClr>
                </a:solidFill>
              </a:rPr>
              <a:t>Price+epsilon</a:t>
            </a:r>
            <a:r>
              <a:rPr lang="en-US" sz="2000" dirty="0">
                <a:solidFill>
                  <a:schemeClr val="bg1">
                    <a:lumMod val="50000"/>
                  </a:schemeClr>
                </a:solidFill>
              </a:rPr>
              <a:t>	# buying utility</a:t>
            </a:r>
          </a:p>
          <a:p>
            <a:pPr>
              <a:buFont typeface="Wingdings" panose="05000000000000000000" pitchFamily="2" charset="2"/>
              <a:buChar char="Ø"/>
            </a:pPr>
            <a:r>
              <a:rPr lang="en-US" sz="2000" dirty="0">
                <a:solidFill>
                  <a:schemeClr val="bg1">
                    <a:lumMod val="50000"/>
                  </a:schemeClr>
                </a:solidFill>
              </a:rPr>
              <a:t>Y = (U&gt;0)*1					# choice data</a:t>
            </a:r>
          </a:p>
        </p:txBody>
      </p:sp>
      <p:sp>
        <p:nvSpPr>
          <p:cNvPr id="4" name="Slide Number Placeholder 3"/>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53</a:t>
            </a:fld>
            <a:endParaRPr lang="en-US"/>
          </a:p>
        </p:txBody>
      </p:sp>
    </p:spTree>
    <p:extLst>
      <p:ext uri="{BB962C8B-B14F-4D97-AF65-F5344CB8AC3E}">
        <p14:creationId xmlns:p14="http://schemas.microsoft.com/office/powerpoint/2010/main" val="24579145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a:t>A simulation in R to illustrate</a:t>
            </a:r>
            <a:br>
              <a:rPr lang="en-US" sz="4400" dirty="0"/>
            </a:br>
            <a:r>
              <a:rPr lang="en-US" sz="3600" dirty="0"/>
              <a:t>Demand Estimation</a:t>
            </a:r>
          </a:p>
        </p:txBody>
      </p:sp>
      <p:sp>
        <p:nvSpPr>
          <p:cNvPr id="3" name="Content Placeholder 2"/>
          <p:cNvSpPr>
            <a:spLocks noGrp="1"/>
          </p:cNvSpPr>
          <p:nvPr>
            <p:ph sz="quarter" idx="1"/>
          </p:nvPr>
        </p:nvSpPr>
        <p:spPr/>
        <p:txBody>
          <a:bodyPr>
            <a:normAutofit/>
          </a:bodyPr>
          <a:lstStyle/>
          <a:p>
            <a:pPr>
              <a:spcBef>
                <a:spcPts val="0"/>
              </a:spcBef>
              <a:buFont typeface="Wingdings" panose="05000000000000000000" pitchFamily="2" charset="2"/>
              <a:buChar char="Ø"/>
            </a:pPr>
            <a:r>
              <a:rPr lang="en-US" sz="2000" dirty="0">
                <a:solidFill>
                  <a:schemeClr val="bg1">
                    <a:lumMod val="50000"/>
                  </a:schemeClr>
                </a:solidFill>
              </a:rPr>
              <a:t>### Estimate Logistic demand using R's built-in function "</a:t>
            </a:r>
            <a:r>
              <a:rPr lang="en-US" sz="2000" dirty="0" err="1">
                <a:solidFill>
                  <a:schemeClr val="bg1">
                    <a:lumMod val="50000"/>
                  </a:schemeClr>
                </a:solidFill>
              </a:rPr>
              <a:t>glm</a:t>
            </a:r>
            <a:r>
              <a:rPr lang="en-US" sz="2000" dirty="0">
                <a:solidFill>
                  <a:schemeClr val="bg1">
                    <a:lumMod val="50000"/>
                  </a:schemeClr>
                </a:solidFill>
              </a:rPr>
              <a:t>"</a:t>
            </a:r>
          </a:p>
          <a:p>
            <a:pPr>
              <a:spcBef>
                <a:spcPts val="0"/>
              </a:spcBef>
              <a:buFont typeface="Wingdings" panose="05000000000000000000" pitchFamily="2" charset="2"/>
              <a:buChar char="Ø"/>
            </a:pPr>
            <a:r>
              <a:rPr lang="en-US" sz="2000" dirty="0">
                <a:solidFill>
                  <a:schemeClr val="bg1">
                    <a:lumMod val="50000"/>
                  </a:schemeClr>
                </a:solidFill>
              </a:rPr>
              <a:t>out = </a:t>
            </a:r>
            <a:r>
              <a:rPr lang="en-US" sz="2000" dirty="0" err="1">
                <a:solidFill>
                  <a:schemeClr val="bg1">
                    <a:lumMod val="50000"/>
                  </a:schemeClr>
                </a:solidFill>
              </a:rPr>
              <a:t>glm</a:t>
            </a:r>
            <a:r>
              <a:rPr lang="en-US" sz="2000" dirty="0">
                <a:solidFill>
                  <a:schemeClr val="bg1">
                    <a:lumMod val="50000"/>
                  </a:schemeClr>
                </a:solidFill>
              </a:rPr>
              <a:t>(</a:t>
            </a:r>
            <a:r>
              <a:rPr lang="en-US" sz="2000" dirty="0" err="1">
                <a:solidFill>
                  <a:schemeClr val="bg1">
                    <a:lumMod val="50000"/>
                  </a:schemeClr>
                </a:solidFill>
              </a:rPr>
              <a:t>Y~Price,family</a:t>
            </a:r>
            <a:r>
              <a:rPr lang="en-US" sz="2000" dirty="0">
                <a:solidFill>
                  <a:schemeClr val="bg1">
                    <a:lumMod val="50000"/>
                  </a:schemeClr>
                </a:solidFill>
              </a:rPr>
              <a:t>="binomial")</a:t>
            </a:r>
          </a:p>
          <a:p>
            <a:pPr>
              <a:spcBef>
                <a:spcPts val="0"/>
              </a:spcBef>
              <a:buFont typeface="Wingdings" panose="05000000000000000000" pitchFamily="2" charset="2"/>
              <a:buChar char="Ø"/>
            </a:pPr>
            <a:r>
              <a:rPr lang="en-US" sz="2000" dirty="0" err="1">
                <a:solidFill>
                  <a:schemeClr val="bg1">
                    <a:lumMod val="50000"/>
                  </a:schemeClr>
                </a:solidFill>
              </a:rPr>
              <a:t>betahat</a:t>
            </a:r>
            <a:r>
              <a:rPr lang="en-US" sz="2000" dirty="0">
                <a:solidFill>
                  <a:schemeClr val="bg1">
                    <a:lumMod val="50000"/>
                  </a:schemeClr>
                </a:solidFill>
              </a:rPr>
              <a:t> = </a:t>
            </a:r>
            <a:r>
              <a:rPr lang="en-US" sz="2000" dirty="0" err="1">
                <a:solidFill>
                  <a:schemeClr val="bg1">
                    <a:lumMod val="50000"/>
                  </a:schemeClr>
                </a:solidFill>
              </a:rPr>
              <a:t>out$coefficients</a:t>
            </a:r>
            <a:endParaRPr lang="en-US" sz="2000" dirty="0">
              <a:solidFill>
                <a:schemeClr val="bg1">
                  <a:lumMod val="50000"/>
                </a:schemeClr>
              </a:solidFill>
            </a:endParaRPr>
          </a:p>
        </p:txBody>
      </p:sp>
      <p:sp>
        <p:nvSpPr>
          <p:cNvPr id="4" name="Slide Number Placeholder 3"/>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54</a:t>
            </a:fld>
            <a:endParaRPr lang="en-US"/>
          </a:p>
        </p:txBody>
      </p:sp>
    </p:spTree>
    <p:extLst>
      <p:ext uri="{BB962C8B-B14F-4D97-AF65-F5344CB8AC3E}">
        <p14:creationId xmlns:p14="http://schemas.microsoft.com/office/powerpoint/2010/main" val="3254663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a:t>A simulation in R to illustrate</a:t>
            </a:r>
            <a:br>
              <a:rPr lang="en-US" sz="4400" dirty="0"/>
            </a:br>
            <a:r>
              <a:rPr lang="en-US" sz="3600" dirty="0"/>
              <a:t>Plot demand estimates</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228600" y="1600200"/>
                <a:ext cx="8763000" cy="4495800"/>
              </a:xfrm>
            </p:spPr>
            <p:txBody>
              <a:bodyPr>
                <a:normAutofit/>
              </a:bodyPr>
              <a:lstStyle/>
              <a:p>
                <a:pPr>
                  <a:spcBef>
                    <a:spcPts val="0"/>
                  </a:spcBef>
                  <a:buFont typeface="Wingdings" panose="05000000000000000000" pitchFamily="2" charset="2"/>
                  <a:buChar char="Ø"/>
                </a:pPr>
                <a:r>
                  <a:rPr lang="en-US" sz="2000" dirty="0">
                    <a:solidFill>
                      <a:schemeClr val="bg1">
                        <a:lumMod val="50000"/>
                      </a:schemeClr>
                    </a:solidFill>
                  </a:rPr>
                  <a:t># Function to compute logit probability</a:t>
                </a:r>
              </a:p>
              <a:p>
                <a:pPr>
                  <a:spcBef>
                    <a:spcPts val="0"/>
                  </a:spcBef>
                  <a:buFont typeface="Wingdings" panose="05000000000000000000" pitchFamily="2" charset="2"/>
                  <a:buChar char="Ø"/>
                </a:pPr>
                <a:r>
                  <a:rPr lang="en-US" sz="2000" dirty="0">
                    <a:solidFill>
                      <a:schemeClr val="bg1">
                        <a:lumMod val="50000"/>
                      </a:schemeClr>
                    </a:solidFill>
                  </a:rPr>
                  <a:t>share = function(</a:t>
                </a:r>
                <a:r>
                  <a:rPr lang="en-US" sz="2000" dirty="0" err="1">
                    <a:solidFill>
                      <a:schemeClr val="bg1">
                        <a:lumMod val="50000"/>
                      </a:schemeClr>
                    </a:solidFill>
                  </a:rPr>
                  <a:t>x,beta</a:t>
                </a:r>
                <a:r>
                  <a:rPr lang="en-US" sz="2000" dirty="0">
                    <a:solidFill>
                      <a:schemeClr val="bg1">
                        <a:lumMod val="50000"/>
                      </a:schemeClr>
                    </a:solidFill>
                  </a:rPr>
                  <a:t>){1/(1+exp(-beta[1]-beta[2]</a:t>
                </a:r>
                <a14:m>
                  <m:oMath xmlns:m="http://schemas.openxmlformats.org/officeDocument/2006/math">
                    <m:r>
                      <m:rPr>
                        <m:nor/>
                      </m:rPr>
                      <a:rPr lang="en-US" sz="2000" dirty="0">
                        <a:solidFill>
                          <a:schemeClr val="bg1">
                            <a:lumMod val="50000"/>
                          </a:schemeClr>
                        </a:solidFill>
                      </a:rPr>
                      <m:t>∗</m:t>
                    </m:r>
                    <m:r>
                      <m:rPr>
                        <m:nor/>
                      </m:rPr>
                      <a:rPr lang="en-US" sz="2000" dirty="0">
                        <a:solidFill>
                          <a:schemeClr val="bg1">
                            <a:lumMod val="50000"/>
                          </a:schemeClr>
                        </a:solidFill>
                      </a:rPr>
                      <m:t>x</m:t>
                    </m:r>
                  </m:oMath>
                </a14:m>
                <a:r>
                  <a:rPr lang="en-US" sz="2000" dirty="0">
                    <a:solidFill>
                      <a:schemeClr val="bg1">
                        <a:lumMod val="50000"/>
                      </a:schemeClr>
                    </a:solidFill>
                  </a:rPr>
                  <a:t>))}</a:t>
                </a:r>
              </a:p>
              <a:p>
                <a:pPr>
                  <a:spcBef>
                    <a:spcPts val="0"/>
                  </a:spcBef>
                  <a:buFont typeface="Wingdings" panose="05000000000000000000" pitchFamily="2" charset="2"/>
                  <a:buChar char="Ø"/>
                </a:pPr>
                <a:endParaRPr lang="en-US" sz="2000" dirty="0">
                  <a:solidFill>
                    <a:schemeClr val="bg1">
                      <a:lumMod val="50000"/>
                    </a:schemeClr>
                  </a:solidFill>
                </a:endParaRPr>
              </a:p>
              <a:p>
                <a:pPr>
                  <a:spcBef>
                    <a:spcPts val="0"/>
                  </a:spcBef>
                  <a:buFont typeface="Wingdings" panose="05000000000000000000" pitchFamily="2" charset="2"/>
                  <a:buChar char="Ø"/>
                </a:pPr>
                <a:r>
                  <a:rPr lang="en-US" sz="2000" dirty="0">
                    <a:solidFill>
                      <a:schemeClr val="bg1">
                        <a:lumMod val="50000"/>
                      </a:schemeClr>
                    </a:solidFill>
                  </a:rPr>
                  <a:t># Plot Predicted Demand along a price grid</a:t>
                </a:r>
              </a:p>
              <a:p>
                <a:pPr>
                  <a:spcBef>
                    <a:spcPts val="0"/>
                  </a:spcBef>
                  <a:buFont typeface="Wingdings" panose="05000000000000000000" pitchFamily="2" charset="2"/>
                  <a:buChar char="Ø"/>
                </a:pPr>
                <a:r>
                  <a:rPr lang="en-US" sz="2000" dirty="0" err="1">
                    <a:solidFill>
                      <a:schemeClr val="bg1">
                        <a:lumMod val="50000"/>
                      </a:schemeClr>
                    </a:solidFill>
                  </a:rPr>
                  <a:t>Pricegrid</a:t>
                </a:r>
                <a:r>
                  <a:rPr lang="en-US" sz="2000" dirty="0">
                    <a:solidFill>
                      <a:schemeClr val="bg1">
                        <a:lumMod val="50000"/>
                      </a:schemeClr>
                    </a:solidFill>
                  </a:rPr>
                  <a:t> = </a:t>
                </a:r>
                <a:r>
                  <a:rPr lang="en-US" sz="2000" dirty="0" err="1">
                    <a:solidFill>
                      <a:schemeClr val="bg1">
                        <a:lumMod val="50000"/>
                      </a:schemeClr>
                    </a:solidFill>
                  </a:rPr>
                  <a:t>seq</a:t>
                </a:r>
                <a:r>
                  <a:rPr lang="en-US" sz="2000" dirty="0">
                    <a:solidFill>
                      <a:schemeClr val="bg1">
                        <a:lumMod val="50000"/>
                      </a:schemeClr>
                    </a:solidFill>
                  </a:rPr>
                  <a:t>(from=20,to=600,by=20)</a:t>
                </a:r>
              </a:p>
              <a:p>
                <a:pPr>
                  <a:spcBef>
                    <a:spcPts val="0"/>
                  </a:spcBef>
                  <a:buFont typeface="Wingdings" panose="05000000000000000000" pitchFamily="2" charset="2"/>
                  <a:buChar char="Ø"/>
                </a:pPr>
                <a:r>
                  <a:rPr lang="en-US" sz="2000" dirty="0" err="1">
                    <a:solidFill>
                      <a:schemeClr val="bg1">
                        <a:lumMod val="50000"/>
                      </a:schemeClr>
                    </a:solidFill>
                  </a:rPr>
                  <a:t>Qgrid</a:t>
                </a:r>
                <a:r>
                  <a:rPr lang="en-US" sz="2000" dirty="0">
                    <a:solidFill>
                      <a:schemeClr val="bg1">
                        <a:lumMod val="50000"/>
                      </a:schemeClr>
                    </a:solidFill>
                  </a:rPr>
                  <a:t> = share(</a:t>
                </a:r>
                <a:r>
                  <a:rPr lang="en-US" sz="2000" dirty="0" err="1">
                    <a:solidFill>
                      <a:schemeClr val="bg1">
                        <a:lumMod val="50000"/>
                      </a:schemeClr>
                    </a:solidFill>
                  </a:rPr>
                  <a:t>Pricegrid,betahat</a:t>
                </a:r>
                <a:r>
                  <a:rPr lang="en-US" sz="2000" dirty="0">
                    <a:solidFill>
                      <a:schemeClr val="bg1">
                        <a:lumMod val="50000"/>
                      </a:schemeClr>
                    </a:solidFill>
                  </a:rPr>
                  <a:t>)</a:t>
                </a:r>
              </a:p>
              <a:p>
                <a:pPr>
                  <a:spcBef>
                    <a:spcPts val="0"/>
                  </a:spcBef>
                  <a:buFont typeface="Wingdings" panose="05000000000000000000" pitchFamily="2" charset="2"/>
                  <a:buChar char="Ø"/>
                </a:pPr>
                <a:r>
                  <a:rPr lang="en-US" sz="2000" dirty="0">
                    <a:solidFill>
                      <a:schemeClr val="bg1">
                        <a:lumMod val="50000"/>
                      </a:schemeClr>
                    </a:solidFill>
                  </a:rPr>
                  <a:t>plot(</a:t>
                </a:r>
                <a:r>
                  <a:rPr lang="en-US" sz="2000" dirty="0" err="1">
                    <a:solidFill>
                      <a:schemeClr val="bg1">
                        <a:lumMod val="50000"/>
                      </a:schemeClr>
                    </a:solidFill>
                  </a:rPr>
                  <a:t>Pricegrid,Qgrid,main</a:t>
                </a:r>
                <a:r>
                  <a:rPr lang="en-US" sz="2000" dirty="0">
                    <a:solidFill>
                      <a:schemeClr val="bg1">
                        <a:lumMod val="50000"/>
                      </a:schemeClr>
                    </a:solidFill>
                  </a:rPr>
                  <a:t>="Monthly </a:t>
                </a:r>
                <a:r>
                  <a:rPr lang="en-US" sz="2000" dirty="0" err="1">
                    <a:solidFill>
                      <a:schemeClr val="bg1">
                        <a:lumMod val="50000"/>
                      </a:schemeClr>
                    </a:solidFill>
                  </a:rPr>
                  <a:t>Demand",type</a:t>
                </a:r>
                <a:r>
                  <a:rPr lang="en-US" sz="2000" dirty="0">
                    <a:solidFill>
                      <a:schemeClr val="bg1">
                        <a:lumMod val="50000"/>
                      </a:schemeClr>
                    </a:solidFill>
                  </a:rPr>
                  <a:t>="n",</a:t>
                </a:r>
                <a:r>
                  <a:rPr lang="en-US" sz="2000" dirty="0" err="1">
                    <a:solidFill>
                      <a:schemeClr val="bg1">
                        <a:lumMod val="50000"/>
                      </a:schemeClr>
                    </a:solidFill>
                  </a:rPr>
                  <a:t>ylab</a:t>
                </a:r>
                <a:r>
                  <a:rPr lang="en-US" sz="2000" dirty="0">
                    <a:solidFill>
                      <a:schemeClr val="bg1">
                        <a:lumMod val="50000"/>
                      </a:schemeClr>
                    </a:solidFill>
                  </a:rPr>
                  <a:t>="conversion",</a:t>
                </a:r>
                <a:r>
                  <a:rPr lang="en-US" sz="2000" dirty="0" err="1">
                    <a:solidFill>
                      <a:schemeClr val="bg1">
                        <a:lumMod val="50000"/>
                      </a:schemeClr>
                    </a:solidFill>
                  </a:rPr>
                  <a:t>xlab</a:t>
                </a:r>
                <a:r>
                  <a:rPr lang="en-US" sz="2000" dirty="0">
                    <a:solidFill>
                      <a:schemeClr val="bg1">
                        <a:lumMod val="50000"/>
                      </a:schemeClr>
                    </a:solidFill>
                  </a:rPr>
                  <a:t>="monthly price ($)")</a:t>
                </a:r>
              </a:p>
              <a:p>
                <a:pPr>
                  <a:spcBef>
                    <a:spcPts val="0"/>
                  </a:spcBef>
                  <a:buFont typeface="Wingdings" panose="05000000000000000000" pitchFamily="2" charset="2"/>
                  <a:buChar char="Ø"/>
                </a:pPr>
                <a:r>
                  <a:rPr lang="en-US" sz="2000" dirty="0">
                    <a:solidFill>
                      <a:schemeClr val="bg1">
                        <a:lumMod val="50000"/>
                      </a:schemeClr>
                    </a:solidFill>
                  </a:rPr>
                  <a:t>lines(</a:t>
                </a:r>
                <a:r>
                  <a:rPr lang="en-US" sz="2000" dirty="0" err="1">
                    <a:solidFill>
                      <a:schemeClr val="bg1">
                        <a:lumMod val="50000"/>
                      </a:schemeClr>
                    </a:solidFill>
                  </a:rPr>
                  <a:t>Pricegrid,Qgrid</a:t>
                </a:r>
                <a:r>
                  <a:rPr lang="en-US" sz="2000" dirty="0">
                    <a:solidFill>
                      <a:schemeClr val="bg1">
                        <a:lumMod val="50000"/>
                      </a:schemeClr>
                    </a:solidFill>
                  </a:rPr>
                  <a:t>)</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228600" y="1600200"/>
                <a:ext cx="8763000" cy="4495800"/>
              </a:xfrm>
              <a:blipFill>
                <a:blip r:embed="rId2"/>
                <a:stretch>
                  <a:fillRect t="-814"/>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55</a:t>
            </a:fld>
            <a:endParaRPr lang="en-US"/>
          </a:p>
        </p:txBody>
      </p:sp>
    </p:spTree>
    <p:extLst>
      <p:ext uri="{BB962C8B-B14F-4D97-AF65-F5344CB8AC3E}">
        <p14:creationId xmlns:p14="http://schemas.microsoft.com/office/powerpoint/2010/main" val="1681457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56</a:t>
            </a:fld>
            <a:endParaRPr lang="en-US"/>
          </a:p>
        </p:txBody>
      </p:sp>
      <p:sp>
        <p:nvSpPr>
          <p:cNvPr id="7" name="Title 1"/>
          <p:cNvSpPr>
            <a:spLocks noGrp="1"/>
          </p:cNvSpPr>
          <p:nvPr>
            <p:ph type="title"/>
          </p:nvPr>
        </p:nvSpPr>
        <p:spPr>
          <a:xfrm>
            <a:off x="612648" y="228600"/>
            <a:ext cx="8153400" cy="990600"/>
          </a:xfrm>
        </p:spPr>
        <p:txBody>
          <a:bodyPr>
            <a:normAutofit fontScale="90000"/>
          </a:bodyPr>
          <a:lstStyle/>
          <a:p>
            <a:r>
              <a:rPr lang="en-US" sz="4400" dirty="0"/>
              <a:t>A simulation in R to illustrate</a:t>
            </a:r>
            <a:br>
              <a:rPr lang="en-US" sz="4400" dirty="0"/>
            </a:br>
            <a:r>
              <a:rPr lang="en-US" sz="3600" dirty="0"/>
              <a:t>Plot demand estimates</a:t>
            </a:r>
          </a:p>
        </p:txBody>
      </p:sp>
      <p:pic>
        <p:nvPicPr>
          <p:cNvPr id="10" name="Content Placeholder 9"/>
          <p:cNvPicPr>
            <a:picLocks noGrp="1" noChangeAspect="1"/>
          </p:cNvPicPr>
          <p:nvPr>
            <p:ph sz="quarter" idx="1"/>
          </p:nvPr>
        </p:nvPicPr>
        <p:blipFill rotWithShape="1">
          <a:blip r:embed="rId2"/>
          <a:srcRect r="34994" b="33898"/>
          <a:stretch/>
        </p:blipFill>
        <p:spPr>
          <a:xfrm>
            <a:off x="1327267" y="1600200"/>
            <a:ext cx="4997333" cy="4756540"/>
          </a:xfrm>
          <a:prstGeom prst="rect">
            <a:avLst/>
          </a:prstGeom>
        </p:spPr>
      </p:pic>
    </p:spTree>
    <p:extLst>
      <p:ext uri="{BB962C8B-B14F-4D97-AF65-F5344CB8AC3E}">
        <p14:creationId xmlns:p14="http://schemas.microsoft.com/office/powerpoint/2010/main" val="21142072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a:t>A simulation in R to illustrate</a:t>
            </a:r>
            <a:br>
              <a:rPr lang="en-US" sz="4400" dirty="0"/>
            </a:br>
            <a:r>
              <a:rPr lang="en-US" sz="3600" dirty="0"/>
              <a:t>Compute Monthly Revenue-maximizing price</a:t>
            </a:r>
          </a:p>
        </p:txBody>
      </p:sp>
      <p:sp>
        <p:nvSpPr>
          <p:cNvPr id="3" name="Content Placeholder 2"/>
          <p:cNvSpPr>
            <a:spLocks noGrp="1"/>
          </p:cNvSpPr>
          <p:nvPr>
            <p:ph sz="quarter" idx="1"/>
          </p:nvPr>
        </p:nvSpPr>
        <p:spPr/>
        <p:txBody>
          <a:bodyPr>
            <a:normAutofit/>
          </a:bodyPr>
          <a:lstStyle/>
          <a:p>
            <a:pPr>
              <a:spcBef>
                <a:spcPts val="0"/>
              </a:spcBef>
              <a:buFont typeface="Wingdings" panose="05000000000000000000" pitchFamily="2" charset="2"/>
              <a:buChar char="Ø"/>
            </a:pPr>
            <a:r>
              <a:rPr lang="en-US" sz="2000" dirty="0">
                <a:solidFill>
                  <a:schemeClr val="bg1">
                    <a:lumMod val="50000"/>
                  </a:schemeClr>
                </a:solidFill>
              </a:rPr>
              <a:t># Function to compute expected </a:t>
            </a:r>
            <a:r>
              <a:rPr lang="en-US" sz="2000" dirty="0" err="1">
                <a:solidFill>
                  <a:schemeClr val="bg1">
                    <a:lumMod val="50000"/>
                  </a:schemeClr>
                </a:solidFill>
              </a:rPr>
              <a:t>montly</a:t>
            </a:r>
            <a:r>
              <a:rPr lang="en-US" sz="2000" dirty="0">
                <a:solidFill>
                  <a:schemeClr val="bg1">
                    <a:lumMod val="50000"/>
                  </a:schemeClr>
                </a:solidFill>
              </a:rPr>
              <a:t> revenue</a:t>
            </a:r>
          </a:p>
          <a:p>
            <a:pPr>
              <a:spcBef>
                <a:spcPts val="0"/>
              </a:spcBef>
              <a:buFont typeface="Wingdings" panose="05000000000000000000" pitchFamily="2" charset="2"/>
              <a:buChar char="Ø"/>
            </a:pPr>
            <a:r>
              <a:rPr lang="en-US" sz="2000" dirty="0" err="1">
                <a:solidFill>
                  <a:schemeClr val="bg1">
                    <a:lumMod val="50000"/>
                  </a:schemeClr>
                </a:solidFill>
              </a:rPr>
              <a:t>Erevenue</a:t>
            </a:r>
            <a:r>
              <a:rPr lang="en-US" sz="2000" dirty="0">
                <a:solidFill>
                  <a:schemeClr val="bg1">
                    <a:lumMod val="50000"/>
                  </a:schemeClr>
                </a:solidFill>
              </a:rPr>
              <a:t> = function(</a:t>
            </a:r>
            <a:r>
              <a:rPr lang="en-US" sz="2000" dirty="0" err="1">
                <a:solidFill>
                  <a:schemeClr val="bg1">
                    <a:lumMod val="50000"/>
                  </a:schemeClr>
                </a:solidFill>
              </a:rPr>
              <a:t>x,beta</a:t>
            </a:r>
            <a:r>
              <a:rPr lang="en-US" sz="2000" dirty="0">
                <a:solidFill>
                  <a:schemeClr val="bg1">
                    <a:lumMod val="50000"/>
                  </a:schemeClr>
                </a:solidFill>
              </a:rPr>
              <a:t>){share(</a:t>
            </a:r>
            <a:r>
              <a:rPr lang="en-US" sz="2000" dirty="0" err="1">
                <a:solidFill>
                  <a:schemeClr val="bg1">
                    <a:lumMod val="50000"/>
                  </a:schemeClr>
                </a:solidFill>
              </a:rPr>
              <a:t>x,beta</a:t>
            </a:r>
            <a:r>
              <a:rPr lang="en-US" sz="2000" dirty="0">
                <a:solidFill>
                  <a:schemeClr val="bg1">
                    <a:lumMod val="50000"/>
                  </a:schemeClr>
                </a:solidFill>
              </a:rPr>
              <a:t>)*x}</a:t>
            </a:r>
          </a:p>
          <a:p>
            <a:pPr>
              <a:spcBef>
                <a:spcPts val="0"/>
              </a:spcBef>
              <a:buFont typeface="Wingdings" panose="05000000000000000000" pitchFamily="2" charset="2"/>
              <a:buChar char="Ø"/>
            </a:pPr>
            <a:endParaRPr lang="en-US" sz="2000" dirty="0">
              <a:solidFill>
                <a:schemeClr val="bg1">
                  <a:lumMod val="50000"/>
                </a:schemeClr>
              </a:solidFill>
            </a:endParaRPr>
          </a:p>
          <a:p>
            <a:pPr>
              <a:spcBef>
                <a:spcPts val="0"/>
              </a:spcBef>
              <a:buFont typeface="Wingdings" panose="05000000000000000000" pitchFamily="2" charset="2"/>
              <a:buChar char="Ø"/>
            </a:pPr>
            <a:r>
              <a:rPr lang="en-US" sz="2000" dirty="0">
                <a:solidFill>
                  <a:schemeClr val="bg1">
                    <a:lumMod val="50000"/>
                  </a:schemeClr>
                </a:solidFill>
              </a:rPr>
              <a:t># Optimal static monthly price</a:t>
            </a:r>
          </a:p>
          <a:p>
            <a:pPr>
              <a:spcBef>
                <a:spcPts val="0"/>
              </a:spcBef>
              <a:buFont typeface="Wingdings" panose="05000000000000000000" pitchFamily="2" charset="2"/>
              <a:buChar char="Ø"/>
            </a:pPr>
            <a:r>
              <a:rPr lang="en-US" sz="2000" dirty="0" err="1">
                <a:solidFill>
                  <a:schemeClr val="bg1">
                    <a:lumMod val="50000"/>
                  </a:schemeClr>
                </a:solidFill>
              </a:rPr>
              <a:t>Pstar</a:t>
            </a:r>
            <a:r>
              <a:rPr lang="en-US" sz="2000" dirty="0">
                <a:solidFill>
                  <a:schemeClr val="bg1">
                    <a:lumMod val="50000"/>
                  </a:schemeClr>
                </a:solidFill>
              </a:rPr>
              <a:t> = round(optimize(</a:t>
            </a:r>
            <a:r>
              <a:rPr lang="en-US" sz="2000" dirty="0" err="1">
                <a:solidFill>
                  <a:schemeClr val="bg1">
                    <a:lumMod val="50000"/>
                  </a:schemeClr>
                </a:solidFill>
              </a:rPr>
              <a:t>Erevenue,c</a:t>
            </a:r>
            <a:r>
              <a:rPr lang="en-US" sz="2000" dirty="0">
                <a:solidFill>
                  <a:schemeClr val="bg1">
                    <a:lumMod val="50000"/>
                  </a:schemeClr>
                </a:solidFill>
              </a:rPr>
              <a:t>(0,1000),beta=</a:t>
            </a:r>
            <a:r>
              <a:rPr lang="en-US" sz="2000" dirty="0" err="1">
                <a:solidFill>
                  <a:schemeClr val="bg1">
                    <a:lumMod val="50000"/>
                  </a:schemeClr>
                </a:solidFill>
              </a:rPr>
              <a:t>betahat,maximum</a:t>
            </a:r>
            <a:r>
              <a:rPr lang="en-US" sz="2000" dirty="0">
                <a:solidFill>
                  <a:schemeClr val="bg1">
                    <a:lumMod val="50000"/>
                  </a:schemeClr>
                </a:solidFill>
              </a:rPr>
              <a:t>=T)$maximum)</a:t>
            </a:r>
          </a:p>
        </p:txBody>
      </p:sp>
      <p:sp>
        <p:nvSpPr>
          <p:cNvPr id="4" name="Slide Number Placeholder 3"/>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57</a:t>
            </a:fld>
            <a:endParaRPr lang="en-US"/>
          </a:p>
        </p:txBody>
      </p:sp>
    </p:spTree>
    <p:extLst>
      <p:ext uri="{BB962C8B-B14F-4D97-AF65-F5344CB8AC3E}">
        <p14:creationId xmlns:p14="http://schemas.microsoft.com/office/powerpoint/2010/main" val="28131125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a:t>A simulation in R to illustrate</a:t>
            </a:r>
            <a:br>
              <a:rPr lang="en-US" sz="4400" dirty="0"/>
            </a:br>
            <a:r>
              <a:rPr lang="en-US" sz="3600" dirty="0"/>
              <a:t>Plot Predicted Monthly Revenue &amp; optimal price</a:t>
            </a:r>
          </a:p>
        </p:txBody>
      </p:sp>
      <p:sp>
        <p:nvSpPr>
          <p:cNvPr id="3" name="Content Placeholder 2"/>
          <p:cNvSpPr>
            <a:spLocks noGrp="1"/>
          </p:cNvSpPr>
          <p:nvPr>
            <p:ph sz="quarter" idx="1"/>
          </p:nvPr>
        </p:nvSpPr>
        <p:spPr>
          <a:xfrm>
            <a:off x="152400" y="1600200"/>
            <a:ext cx="8839200" cy="4495800"/>
          </a:xfrm>
        </p:spPr>
        <p:txBody>
          <a:bodyPr>
            <a:normAutofit/>
          </a:bodyPr>
          <a:lstStyle/>
          <a:p>
            <a:pPr>
              <a:spcBef>
                <a:spcPts val="0"/>
              </a:spcBef>
              <a:buFont typeface="Wingdings" panose="05000000000000000000" pitchFamily="2" charset="2"/>
              <a:buChar char="Ø"/>
            </a:pPr>
            <a:r>
              <a:rPr lang="en-US" sz="2000" dirty="0">
                <a:solidFill>
                  <a:schemeClr val="bg1">
                    <a:lumMod val="50000"/>
                  </a:schemeClr>
                </a:solidFill>
              </a:rPr>
              <a:t>#Plot Predicted Monthly Revenue</a:t>
            </a:r>
          </a:p>
          <a:p>
            <a:pPr>
              <a:spcBef>
                <a:spcPts val="0"/>
              </a:spcBef>
              <a:buFont typeface="Wingdings" panose="05000000000000000000" pitchFamily="2" charset="2"/>
              <a:buChar char="Ø"/>
            </a:pPr>
            <a:r>
              <a:rPr lang="en-US" sz="2000" dirty="0" err="1">
                <a:solidFill>
                  <a:schemeClr val="bg1">
                    <a:lumMod val="50000"/>
                  </a:schemeClr>
                </a:solidFill>
              </a:rPr>
              <a:t>Revgrid</a:t>
            </a:r>
            <a:r>
              <a:rPr lang="en-US" sz="2000" dirty="0">
                <a:solidFill>
                  <a:schemeClr val="bg1">
                    <a:lumMod val="50000"/>
                  </a:schemeClr>
                </a:solidFill>
              </a:rPr>
              <a:t> = </a:t>
            </a:r>
            <a:r>
              <a:rPr lang="en-US" sz="2000" dirty="0" err="1">
                <a:solidFill>
                  <a:schemeClr val="bg1">
                    <a:lumMod val="50000"/>
                  </a:schemeClr>
                </a:solidFill>
              </a:rPr>
              <a:t>Qgrid</a:t>
            </a:r>
            <a:r>
              <a:rPr lang="en-US" sz="2000" dirty="0">
                <a:solidFill>
                  <a:schemeClr val="bg1">
                    <a:lumMod val="50000"/>
                  </a:schemeClr>
                </a:solidFill>
              </a:rPr>
              <a:t>*</a:t>
            </a:r>
            <a:r>
              <a:rPr lang="en-US" sz="2000" dirty="0" err="1">
                <a:solidFill>
                  <a:schemeClr val="bg1">
                    <a:lumMod val="50000"/>
                  </a:schemeClr>
                </a:solidFill>
              </a:rPr>
              <a:t>Pricegrid</a:t>
            </a:r>
            <a:endParaRPr lang="en-US" sz="2000" dirty="0">
              <a:solidFill>
                <a:schemeClr val="bg1">
                  <a:lumMod val="50000"/>
                </a:schemeClr>
              </a:solidFill>
            </a:endParaRPr>
          </a:p>
          <a:p>
            <a:pPr>
              <a:spcBef>
                <a:spcPts val="0"/>
              </a:spcBef>
              <a:buFont typeface="Wingdings" panose="05000000000000000000" pitchFamily="2" charset="2"/>
              <a:buChar char="Ø"/>
            </a:pPr>
            <a:r>
              <a:rPr lang="en-US" sz="2000" dirty="0">
                <a:solidFill>
                  <a:schemeClr val="bg1">
                    <a:lumMod val="50000"/>
                  </a:schemeClr>
                </a:solidFill>
              </a:rPr>
              <a:t>plot(</a:t>
            </a:r>
            <a:r>
              <a:rPr lang="en-US" sz="2000" dirty="0" err="1">
                <a:solidFill>
                  <a:schemeClr val="bg1">
                    <a:lumMod val="50000"/>
                  </a:schemeClr>
                </a:solidFill>
              </a:rPr>
              <a:t>Pricegrid,Revgrid,main</a:t>
            </a:r>
            <a:r>
              <a:rPr lang="en-US" sz="2000" dirty="0">
                <a:solidFill>
                  <a:schemeClr val="bg1">
                    <a:lumMod val="50000"/>
                  </a:schemeClr>
                </a:solidFill>
              </a:rPr>
              <a:t>="Monthly </a:t>
            </a:r>
            <a:r>
              <a:rPr lang="en-US" sz="2000" dirty="0" err="1">
                <a:solidFill>
                  <a:schemeClr val="bg1">
                    <a:lumMod val="50000"/>
                  </a:schemeClr>
                </a:solidFill>
              </a:rPr>
              <a:t>Revenue",type</a:t>
            </a:r>
            <a:r>
              <a:rPr lang="en-US" sz="2000" dirty="0">
                <a:solidFill>
                  <a:schemeClr val="bg1">
                    <a:lumMod val="50000"/>
                  </a:schemeClr>
                </a:solidFill>
              </a:rPr>
              <a:t>="n")</a:t>
            </a:r>
          </a:p>
          <a:p>
            <a:pPr>
              <a:spcBef>
                <a:spcPts val="0"/>
              </a:spcBef>
              <a:buFont typeface="Wingdings" panose="05000000000000000000" pitchFamily="2" charset="2"/>
              <a:buChar char="Ø"/>
            </a:pPr>
            <a:r>
              <a:rPr lang="en-US" sz="2000" dirty="0">
                <a:solidFill>
                  <a:schemeClr val="bg1">
                    <a:lumMod val="50000"/>
                  </a:schemeClr>
                </a:solidFill>
              </a:rPr>
              <a:t>lines(</a:t>
            </a:r>
            <a:r>
              <a:rPr lang="en-US" sz="2000" dirty="0" err="1">
                <a:solidFill>
                  <a:schemeClr val="bg1">
                    <a:lumMod val="50000"/>
                  </a:schemeClr>
                </a:solidFill>
              </a:rPr>
              <a:t>Pricegrid,Revgrid,col</a:t>
            </a:r>
            <a:r>
              <a:rPr lang="en-US" sz="2000" dirty="0">
                <a:solidFill>
                  <a:schemeClr val="bg1">
                    <a:lumMod val="50000"/>
                  </a:schemeClr>
                </a:solidFill>
              </a:rPr>
              <a:t>="navy")</a:t>
            </a:r>
          </a:p>
          <a:p>
            <a:pPr>
              <a:spcBef>
                <a:spcPts val="0"/>
              </a:spcBef>
              <a:buFont typeface="Wingdings" panose="05000000000000000000" pitchFamily="2" charset="2"/>
              <a:buChar char="Ø"/>
            </a:pPr>
            <a:r>
              <a:rPr lang="en-US" sz="2000" dirty="0">
                <a:solidFill>
                  <a:schemeClr val="bg1">
                    <a:lumMod val="50000"/>
                  </a:schemeClr>
                </a:solidFill>
              </a:rPr>
              <a:t>lines(c(</a:t>
            </a:r>
            <a:r>
              <a:rPr lang="en-US" sz="2000" dirty="0" err="1">
                <a:solidFill>
                  <a:schemeClr val="bg1">
                    <a:lumMod val="50000"/>
                  </a:schemeClr>
                </a:solidFill>
              </a:rPr>
              <a:t>Pstar,Pstar</a:t>
            </a:r>
            <a:r>
              <a:rPr lang="en-US" sz="2000" dirty="0">
                <a:solidFill>
                  <a:schemeClr val="bg1">
                    <a:lumMod val="50000"/>
                  </a:schemeClr>
                </a:solidFill>
              </a:rPr>
              <a:t>),c(0,revenue(</a:t>
            </a:r>
            <a:r>
              <a:rPr lang="en-US" sz="2000" dirty="0" err="1">
                <a:solidFill>
                  <a:schemeClr val="bg1">
                    <a:lumMod val="50000"/>
                  </a:schemeClr>
                </a:solidFill>
              </a:rPr>
              <a:t>Pstar,betahat</a:t>
            </a:r>
            <a:r>
              <a:rPr lang="en-US" sz="2000" dirty="0">
                <a:solidFill>
                  <a:schemeClr val="bg1">
                    <a:lumMod val="50000"/>
                  </a:schemeClr>
                </a:solidFill>
              </a:rPr>
              <a:t>)),</a:t>
            </a:r>
            <a:r>
              <a:rPr lang="en-US" sz="2000" dirty="0" err="1">
                <a:solidFill>
                  <a:schemeClr val="bg1">
                    <a:lumMod val="50000"/>
                  </a:schemeClr>
                </a:solidFill>
              </a:rPr>
              <a:t>lty</a:t>
            </a:r>
            <a:r>
              <a:rPr lang="en-US" sz="2000" dirty="0">
                <a:solidFill>
                  <a:schemeClr val="bg1">
                    <a:lumMod val="50000"/>
                  </a:schemeClr>
                </a:solidFill>
              </a:rPr>
              <a:t>=2,col="navy")</a:t>
            </a:r>
          </a:p>
          <a:p>
            <a:pPr>
              <a:spcBef>
                <a:spcPts val="0"/>
              </a:spcBef>
              <a:buFont typeface="Wingdings" panose="05000000000000000000" pitchFamily="2" charset="2"/>
              <a:buChar char="Ø"/>
            </a:pPr>
            <a:r>
              <a:rPr lang="en-US" sz="2000" dirty="0">
                <a:solidFill>
                  <a:schemeClr val="bg1">
                    <a:lumMod val="50000"/>
                  </a:schemeClr>
                </a:solidFill>
              </a:rPr>
              <a:t>text(</a:t>
            </a:r>
            <a:r>
              <a:rPr lang="en-US" sz="2000" dirty="0" err="1">
                <a:solidFill>
                  <a:schemeClr val="bg1">
                    <a:lumMod val="50000"/>
                  </a:schemeClr>
                </a:solidFill>
              </a:rPr>
              <a:t>Pstar,revenue</a:t>
            </a:r>
            <a:r>
              <a:rPr lang="en-US" sz="2000" dirty="0">
                <a:solidFill>
                  <a:schemeClr val="bg1">
                    <a:lumMod val="50000"/>
                  </a:schemeClr>
                </a:solidFill>
              </a:rPr>
              <a:t>(</a:t>
            </a:r>
            <a:r>
              <a:rPr lang="en-US" sz="2000" dirty="0" err="1">
                <a:solidFill>
                  <a:schemeClr val="bg1">
                    <a:lumMod val="50000"/>
                  </a:schemeClr>
                </a:solidFill>
              </a:rPr>
              <a:t>Pstar,betahat</a:t>
            </a:r>
            <a:r>
              <a:rPr lang="en-US" sz="2000" dirty="0">
                <a:solidFill>
                  <a:schemeClr val="bg1">
                    <a:lumMod val="50000"/>
                  </a:schemeClr>
                </a:solidFill>
              </a:rPr>
              <a:t>),paste("optimal price: $",</a:t>
            </a:r>
            <a:r>
              <a:rPr lang="en-US" sz="2000" dirty="0" err="1">
                <a:solidFill>
                  <a:schemeClr val="bg1">
                    <a:lumMod val="50000"/>
                  </a:schemeClr>
                </a:solidFill>
              </a:rPr>
              <a:t>Pstar,sep</a:t>
            </a:r>
            <a:r>
              <a:rPr lang="en-US" sz="2000" dirty="0">
                <a:solidFill>
                  <a:schemeClr val="bg1">
                    <a:lumMod val="50000"/>
                  </a:schemeClr>
                </a:solidFill>
              </a:rPr>
              <a:t>=""),</a:t>
            </a:r>
            <a:r>
              <a:rPr lang="en-US" sz="2000" dirty="0" err="1">
                <a:solidFill>
                  <a:schemeClr val="bg1">
                    <a:lumMod val="50000"/>
                  </a:schemeClr>
                </a:solidFill>
              </a:rPr>
              <a:t>pos</a:t>
            </a:r>
            <a:r>
              <a:rPr lang="en-US" sz="2000" dirty="0">
                <a:solidFill>
                  <a:schemeClr val="bg1">
                    <a:lumMod val="50000"/>
                  </a:schemeClr>
                </a:solidFill>
              </a:rPr>
              <a:t>=1,cex=.5,col="navy")</a:t>
            </a:r>
          </a:p>
        </p:txBody>
      </p:sp>
      <p:sp>
        <p:nvSpPr>
          <p:cNvPr id="4" name="Slide Number Placeholder 3"/>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58</a:t>
            </a:fld>
            <a:endParaRPr lang="en-US"/>
          </a:p>
        </p:txBody>
      </p:sp>
    </p:spTree>
    <p:extLst>
      <p:ext uri="{BB962C8B-B14F-4D97-AF65-F5344CB8AC3E}">
        <p14:creationId xmlns:p14="http://schemas.microsoft.com/office/powerpoint/2010/main" val="123594634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a:t>A simulation in R to illustrate</a:t>
            </a:r>
            <a:br>
              <a:rPr lang="en-US" sz="4400" dirty="0"/>
            </a:br>
            <a:r>
              <a:rPr lang="en-US" sz="3600" dirty="0"/>
              <a:t>Plot Predicted Monthly Revenue &amp; optimal price</a:t>
            </a:r>
          </a:p>
        </p:txBody>
      </p:sp>
      <p:sp>
        <p:nvSpPr>
          <p:cNvPr id="4" name="Slide Number Placeholder 3"/>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59</a:t>
            </a:fld>
            <a:endParaRPr lang="en-US"/>
          </a:p>
        </p:txBody>
      </p:sp>
      <p:pic>
        <p:nvPicPr>
          <p:cNvPr id="6" name="Content Placeholder 5"/>
          <p:cNvPicPr>
            <a:picLocks noGrp="1" noChangeAspect="1"/>
          </p:cNvPicPr>
          <p:nvPr>
            <p:ph sz="quarter" idx="1"/>
          </p:nvPr>
        </p:nvPicPr>
        <p:blipFill rotWithShape="1">
          <a:blip r:embed="rId2"/>
          <a:srcRect r="34994" b="33898"/>
          <a:stretch/>
        </p:blipFill>
        <p:spPr>
          <a:xfrm>
            <a:off x="606749" y="1600199"/>
            <a:ext cx="5413051" cy="5152227"/>
          </a:xfrm>
          <a:prstGeom prst="rect">
            <a:avLst/>
          </a:prstGeom>
        </p:spPr>
      </p:pic>
    </p:spTree>
    <p:extLst>
      <p:ext uri="{BB962C8B-B14F-4D97-AF65-F5344CB8AC3E}">
        <p14:creationId xmlns:p14="http://schemas.microsoft.com/office/powerpoint/2010/main" val="169251299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a:t>A simulation in R to illustrate</a:t>
            </a:r>
            <a:br>
              <a:rPr lang="en-US" sz="4400" dirty="0"/>
            </a:br>
            <a:r>
              <a:rPr lang="en-US" sz="3600" dirty="0"/>
              <a:t>Compute NPV of Revenue maximizing price</a:t>
            </a:r>
          </a:p>
        </p:txBody>
      </p:sp>
      <p:sp>
        <p:nvSpPr>
          <p:cNvPr id="3" name="Content Placeholder 2"/>
          <p:cNvSpPr>
            <a:spLocks noGrp="1"/>
          </p:cNvSpPr>
          <p:nvPr>
            <p:ph sz="quarter" idx="1"/>
          </p:nvPr>
        </p:nvSpPr>
        <p:spPr/>
        <p:txBody>
          <a:bodyPr>
            <a:normAutofit/>
          </a:bodyPr>
          <a:lstStyle/>
          <a:p>
            <a:pPr>
              <a:spcBef>
                <a:spcPts val="0"/>
              </a:spcBef>
              <a:buFont typeface="Wingdings" panose="05000000000000000000" pitchFamily="2" charset="2"/>
              <a:buChar char="Ø"/>
            </a:pPr>
            <a:r>
              <a:rPr lang="en-US" sz="2000" dirty="0">
                <a:solidFill>
                  <a:schemeClr val="bg1">
                    <a:lumMod val="50000"/>
                  </a:schemeClr>
                </a:solidFill>
              </a:rPr>
              <a:t>#Function to compute NPV of Revenue</a:t>
            </a:r>
          </a:p>
          <a:p>
            <a:pPr>
              <a:spcBef>
                <a:spcPts val="0"/>
              </a:spcBef>
              <a:buFont typeface="Wingdings" panose="05000000000000000000" pitchFamily="2" charset="2"/>
              <a:buChar char="Ø"/>
            </a:pPr>
            <a:r>
              <a:rPr lang="en-US" sz="2000" dirty="0" err="1">
                <a:solidFill>
                  <a:schemeClr val="bg1">
                    <a:lumMod val="50000"/>
                  </a:schemeClr>
                </a:solidFill>
              </a:rPr>
              <a:t>NPVrevenue</a:t>
            </a:r>
            <a:r>
              <a:rPr lang="en-US" sz="2000" dirty="0">
                <a:solidFill>
                  <a:schemeClr val="bg1">
                    <a:lumMod val="50000"/>
                  </a:schemeClr>
                </a:solidFill>
              </a:rPr>
              <a:t> = function(</a:t>
            </a:r>
            <a:r>
              <a:rPr lang="en-US" sz="2000" dirty="0" err="1">
                <a:solidFill>
                  <a:schemeClr val="bg1">
                    <a:lumMod val="50000"/>
                  </a:schemeClr>
                </a:solidFill>
              </a:rPr>
              <a:t>p,beta,delta</a:t>
            </a:r>
            <a:r>
              <a:rPr lang="en-US" sz="2000" dirty="0">
                <a:solidFill>
                  <a:schemeClr val="bg1">
                    <a:lumMod val="50000"/>
                  </a:schemeClr>
                </a:solidFill>
              </a:rPr>
              <a:t>){1/(1-delta*share(</a:t>
            </a:r>
            <a:r>
              <a:rPr lang="en-US" sz="2000" dirty="0" err="1">
                <a:solidFill>
                  <a:schemeClr val="bg1">
                    <a:lumMod val="50000"/>
                  </a:schemeClr>
                </a:solidFill>
              </a:rPr>
              <a:t>p,betahat</a:t>
            </a:r>
            <a:r>
              <a:rPr lang="en-US" sz="2000" dirty="0">
                <a:solidFill>
                  <a:schemeClr val="bg1">
                    <a:lumMod val="50000"/>
                  </a:schemeClr>
                </a:solidFill>
              </a:rPr>
              <a:t>))*(share(</a:t>
            </a:r>
            <a:r>
              <a:rPr lang="en-US" sz="2000" dirty="0" err="1">
                <a:solidFill>
                  <a:schemeClr val="bg1">
                    <a:lumMod val="50000"/>
                  </a:schemeClr>
                </a:solidFill>
              </a:rPr>
              <a:t>p,betahat</a:t>
            </a:r>
            <a:r>
              <a:rPr lang="en-US" sz="2000" dirty="0">
                <a:solidFill>
                  <a:schemeClr val="bg1">
                    <a:lumMod val="50000"/>
                  </a:schemeClr>
                </a:solidFill>
              </a:rPr>
              <a:t>)*p)}</a:t>
            </a:r>
          </a:p>
          <a:p>
            <a:pPr>
              <a:spcBef>
                <a:spcPts val="0"/>
              </a:spcBef>
              <a:buFont typeface="Wingdings" panose="05000000000000000000" pitchFamily="2" charset="2"/>
              <a:buChar char="Ø"/>
            </a:pPr>
            <a:endParaRPr lang="en-US" sz="2000" dirty="0">
              <a:solidFill>
                <a:schemeClr val="bg1">
                  <a:lumMod val="50000"/>
                </a:schemeClr>
              </a:solidFill>
            </a:endParaRPr>
          </a:p>
          <a:p>
            <a:pPr>
              <a:spcBef>
                <a:spcPts val="0"/>
              </a:spcBef>
              <a:buFont typeface="Wingdings" panose="05000000000000000000" pitchFamily="2" charset="2"/>
              <a:buChar char="Ø"/>
            </a:pPr>
            <a:r>
              <a:rPr lang="en-US" sz="2000" dirty="0">
                <a:solidFill>
                  <a:schemeClr val="bg1">
                    <a:lumMod val="50000"/>
                  </a:schemeClr>
                </a:solidFill>
              </a:rPr>
              <a:t># Compute NPV-maximizing price</a:t>
            </a:r>
          </a:p>
          <a:p>
            <a:pPr>
              <a:spcBef>
                <a:spcPts val="0"/>
              </a:spcBef>
              <a:buFont typeface="Wingdings" panose="05000000000000000000" pitchFamily="2" charset="2"/>
              <a:buChar char="Ø"/>
            </a:pPr>
            <a:r>
              <a:rPr lang="en-US" sz="2000" dirty="0">
                <a:solidFill>
                  <a:schemeClr val="bg1">
                    <a:lumMod val="50000"/>
                  </a:schemeClr>
                </a:solidFill>
              </a:rPr>
              <a:t>delta = .995</a:t>
            </a:r>
          </a:p>
          <a:p>
            <a:pPr>
              <a:spcBef>
                <a:spcPts val="0"/>
              </a:spcBef>
              <a:buFont typeface="Wingdings" panose="05000000000000000000" pitchFamily="2" charset="2"/>
              <a:buChar char="Ø"/>
            </a:pPr>
            <a:r>
              <a:rPr lang="en-US" sz="2000" dirty="0" err="1">
                <a:solidFill>
                  <a:schemeClr val="bg1">
                    <a:lumMod val="50000"/>
                  </a:schemeClr>
                </a:solidFill>
              </a:rPr>
              <a:t>PstarLR</a:t>
            </a:r>
            <a:r>
              <a:rPr lang="en-US" sz="2000" dirty="0">
                <a:solidFill>
                  <a:schemeClr val="bg1">
                    <a:lumMod val="50000"/>
                  </a:schemeClr>
                </a:solidFill>
              </a:rPr>
              <a:t> = round(optimize(</a:t>
            </a:r>
            <a:r>
              <a:rPr lang="en-US" sz="2000" dirty="0" err="1">
                <a:solidFill>
                  <a:schemeClr val="bg1">
                    <a:lumMod val="50000"/>
                  </a:schemeClr>
                </a:solidFill>
              </a:rPr>
              <a:t>NPVrevenue,c</a:t>
            </a:r>
            <a:r>
              <a:rPr lang="en-US" sz="2000" dirty="0">
                <a:solidFill>
                  <a:schemeClr val="bg1">
                    <a:lumMod val="50000"/>
                  </a:schemeClr>
                </a:solidFill>
              </a:rPr>
              <a:t>(0,1000),beta=</a:t>
            </a:r>
            <a:r>
              <a:rPr lang="en-US" sz="2000" dirty="0" err="1">
                <a:solidFill>
                  <a:schemeClr val="bg1">
                    <a:lumMod val="50000"/>
                  </a:schemeClr>
                </a:solidFill>
              </a:rPr>
              <a:t>betahat,delta</a:t>
            </a:r>
            <a:r>
              <a:rPr lang="en-US" sz="2000" dirty="0">
                <a:solidFill>
                  <a:schemeClr val="bg1">
                    <a:lumMod val="50000"/>
                  </a:schemeClr>
                </a:solidFill>
              </a:rPr>
              <a:t>=</a:t>
            </a:r>
            <a:r>
              <a:rPr lang="en-US" sz="2000" dirty="0" err="1">
                <a:solidFill>
                  <a:schemeClr val="bg1">
                    <a:lumMod val="50000"/>
                  </a:schemeClr>
                </a:solidFill>
              </a:rPr>
              <a:t>delta,maximum</a:t>
            </a:r>
            <a:r>
              <a:rPr lang="en-US" sz="2000" dirty="0">
                <a:solidFill>
                  <a:schemeClr val="bg1">
                    <a:lumMod val="50000"/>
                  </a:schemeClr>
                </a:solidFill>
              </a:rPr>
              <a:t>=T)$maximum)</a:t>
            </a:r>
          </a:p>
        </p:txBody>
      </p:sp>
      <p:sp>
        <p:nvSpPr>
          <p:cNvPr id="4" name="Slide Number Placeholder 3"/>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60</a:t>
            </a:fld>
            <a:endParaRPr lang="en-US"/>
          </a:p>
        </p:txBody>
      </p:sp>
    </p:spTree>
    <p:extLst>
      <p:ext uri="{BB962C8B-B14F-4D97-AF65-F5344CB8AC3E}">
        <p14:creationId xmlns:p14="http://schemas.microsoft.com/office/powerpoint/2010/main" val="397574700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a:t>A simulation in R to illustrate</a:t>
            </a:r>
            <a:br>
              <a:rPr lang="en-US" sz="4400" dirty="0"/>
            </a:br>
            <a:r>
              <a:rPr lang="en-US" sz="3600" dirty="0"/>
              <a:t>Plot monthly revenue and NPV revenue functions</a:t>
            </a:r>
          </a:p>
        </p:txBody>
      </p:sp>
      <p:sp>
        <p:nvSpPr>
          <p:cNvPr id="3" name="Content Placeholder 2"/>
          <p:cNvSpPr>
            <a:spLocks noGrp="1"/>
          </p:cNvSpPr>
          <p:nvPr>
            <p:ph sz="quarter" idx="1"/>
          </p:nvPr>
        </p:nvSpPr>
        <p:spPr>
          <a:xfrm>
            <a:off x="612648" y="1600200"/>
            <a:ext cx="8531352" cy="5029200"/>
          </a:xfrm>
        </p:spPr>
        <p:txBody>
          <a:bodyPr>
            <a:noAutofit/>
          </a:bodyPr>
          <a:lstStyle/>
          <a:p>
            <a:pPr>
              <a:spcBef>
                <a:spcPts val="0"/>
              </a:spcBef>
              <a:buFont typeface="Wingdings" panose="05000000000000000000" pitchFamily="2" charset="2"/>
              <a:buChar char="Ø"/>
            </a:pPr>
            <a:r>
              <a:rPr lang="en-US" sz="1800" dirty="0">
                <a:solidFill>
                  <a:schemeClr val="bg1">
                    <a:lumMod val="50000"/>
                  </a:schemeClr>
                </a:solidFill>
              </a:rPr>
              <a:t># Compute NPV of Revenues along the price grid</a:t>
            </a:r>
          </a:p>
          <a:p>
            <a:pPr>
              <a:spcBef>
                <a:spcPts val="0"/>
              </a:spcBef>
              <a:buFont typeface="Wingdings" panose="05000000000000000000" pitchFamily="2" charset="2"/>
              <a:buChar char="Ø"/>
            </a:pPr>
            <a:r>
              <a:rPr lang="en-US" sz="1800" dirty="0" err="1">
                <a:solidFill>
                  <a:schemeClr val="bg1">
                    <a:lumMod val="50000"/>
                  </a:schemeClr>
                </a:solidFill>
              </a:rPr>
              <a:t>NPVRevgrid</a:t>
            </a:r>
            <a:r>
              <a:rPr lang="en-US" sz="1800" dirty="0">
                <a:solidFill>
                  <a:schemeClr val="bg1">
                    <a:lumMod val="50000"/>
                  </a:schemeClr>
                </a:solidFill>
              </a:rPr>
              <a:t> = NULL</a:t>
            </a:r>
          </a:p>
          <a:p>
            <a:pPr>
              <a:spcBef>
                <a:spcPts val="0"/>
              </a:spcBef>
              <a:buFont typeface="Wingdings" panose="05000000000000000000" pitchFamily="2" charset="2"/>
              <a:buChar char="Ø"/>
            </a:pPr>
            <a:r>
              <a:rPr lang="en-US" sz="1800" dirty="0">
                <a:solidFill>
                  <a:schemeClr val="bg1">
                    <a:lumMod val="50000"/>
                  </a:schemeClr>
                </a:solidFill>
              </a:rPr>
              <a:t>for(</a:t>
            </a:r>
            <a:r>
              <a:rPr lang="en-US" sz="1800" dirty="0" err="1">
                <a:solidFill>
                  <a:schemeClr val="bg1">
                    <a:lumMod val="50000"/>
                  </a:schemeClr>
                </a:solidFill>
              </a:rPr>
              <a:t>tt</a:t>
            </a:r>
            <a:r>
              <a:rPr lang="en-US" sz="1800" dirty="0">
                <a:solidFill>
                  <a:schemeClr val="bg1">
                    <a:lumMod val="50000"/>
                  </a:schemeClr>
                </a:solidFill>
              </a:rPr>
              <a:t> in 1:length(</a:t>
            </a:r>
            <a:r>
              <a:rPr lang="en-US" sz="1800" dirty="0" err="1">
                <a:solidFill>
                  <a:schemeClr val="bg1">
                    <a:lumMod val="50000"/>
                  </a:schemeClr>
                </a:solidFill>
              </a:rPr>
              <a:t>Pricegrid</a:t>
            </a:r>
            <a:r>
              <a:rPr lang="en-US" sz="1800" dirty="0">
                <a:solidFill>
                  <a:schemeClr val="bg1">
                    <a:lumMod val="50000"/>
                  </a:schemeClr>
                </a:solidFill>
              </a:rPr>
              <a:t>)) {</a:t>
            </a:r>
            <a:r>
              <a:rPr lang="en-US" sz="1800" dirty="0" err="1">
                <a:solidFill>
                  <a:schemeClr val="bg1">
                    <a:lumMod val="50000"/>
                  </a:schemeClr>
                </a:solidFill>
              </a:rPr>
              <a:t>NPVRevgrid</a:t>
            </a:r>
            <a:r>
              <a:rPr lang="en-US" sz="1800" dirty="0">
                <a:solidFill>
                  <a:schemeClr val="bg1">
                    <a:lumMod val="50000"/>
                  </a:schemeClr>
                </a:solidFill>
              </a:rPr>
              <a:t> = </a:t>
            </a:r>
            <a:r>
              <a:rPr lang="en-US" sz="1800" dirty="0" err="1">
                <a:solidFill>
                  <a:schemeClr val="bg1">
                    <a:lumMod val="50000"/>
                  </a:schemeClr>
                </a:solidFill>
              </a:rPr>
              <a:t>rbind</a:t>
            </a:r>
            <a:r>
              <a:rPr lang="en-US" sz="1800" dirty="0">
                <a:solidFill>
                  <a:schemeClr val="bg1">
                    <a:lumMod val="50000"/>
                  </a:schemeClr>
                </a:solidFill>
              </a:rPr>
              <a:t>(</a:t>
            </a:r>
            <a:r>
              <a:rPr lang="en-US" sz="1800" dirty="0" err="1">
                <a:solidFill>
                  <a:schemeClr val="bg1">
                    <a:lumMod val="50000"/>
                  </a:schemeClr>
                </a:solidFill>
              </a:rPr>
              <a:t>NPVRevgrid,NPVrevenue</a:t>
            </a:r>
            <a:r>
              <a:rPr lang="en-US" sz="1800" dirty="0">
                <a:solidFill>
                  <a:schemeClr val="bg1">
                    <a:lumMod val="50000"/>
                  </a:schemeClr>
                </a:solidFill>
              </a:rPr>
              <a:t>(</a:t>
            </a:r>
            <a:r>
              <a:rPr lang="en-US" sz="1800" dirty="0" err="1">
                <a:solidFill>
                  <a:schemeClr val="bg1">
                    <a:lumMod val="50000"/>
                  </a:schemeClr>
                </a:solidFill>
              </a:rPr>
              <a:t>Pricegrid</a:t>
            </a:r>
            <a:r>
              <a:rPr lang="en-US" sz="1800" dirty="0">
                <a:solidFill>
                  <a:schemeClr val="bg1">
                    <a:lumMod val="50000"/>
                  </a:schemeClr>
                </a:solidFill>
              </a:rPr>
              <a:t>[</a:t>
            </a:r>
            <a:r>
              <a:rPr lang="en-US" sz="1800" dirty="0" err="1">
                <a:solidFill>
                  <a:schemeClr val="bg1">
                    <a:lumMod val="50000"/>
                  </a:schemeClr>
                </a:solidFill>
              </a:rPr>
              <a:t>tt</a:t>
            </a:r>
            <a:r>
              <a:rPr lang="en-US" sz="1800" dirty="0">
                <a:solidFill>
                  <a:schemeClr val="bg1">
                    <a:lumMod val="50000"/>
                  </a:schemeClr>
                </a:solidFill>
              </a:rPr>
              <a:t>],</a:t>
            </a:r>
            <a:r>
              <a:rPr lang="en-US" sz="1800" dirty="0" err="1">
                <a:solidFill>
                  <a:schemeClr val="bg1">
                    <a:lumMod val="50000"/>
                  </a:schemeClr>
                </a:solidFill>
              </a:rPr>
              <a:t>betahat,delta</a:t>
            </a:r>
            <a:r>
              <a:rPr lang="en-US" sz="1800" dirty="0">
                <a:solidFill>
                  <a:schemeClr val="bg1">
                    <a:lumMod val="50000"/>
                  </a:schemeClr>
                </a:solidFill>
              </a:rPr>
              <a:t>))}</a:t>
            </a:r>
          </a:p>
          <a:p>
            <a:pPr>
              <a:spcBef>
                <a:spcPts val="0"/>
              </a:spcBef>
              <a:buFont typeface="Wingdings" panose="05000000000000000000" pitchFamily="2" charset="2"/>
              <a:buChar char="Ø"/>
            </a:pPr>
            <a:endParaRPr lang="en-US" sz="1800" dirty="0">
              <a:solidFill>
                <a:schemeClr val="bg1">
                  <a:lumMod val="50000"/>
                </a:schemeClr>
              </a:solidFill>
            </a:endParaRPr>
          </a:p>
          <a:p>
            <a:pPr>
              <a:spcBef>
                <a:spcPts val="0"/>
              </a:spcBef>
              <a:buFont typeface="Wingdings" panose="05000000000000000000" pitchFamily="2" charset="2"/>
              <a:buChar char="Ø"/>
            </a:pPr>
            <a:r>
              <a:rPr lang="en-US" sz="1800" dirty="0">
                <a:solidFill>
                  <a:schemeClr val="bg1">
                    <a:lumMod val="50000"/>
                  </a:schemeClr>
                </a:solidFill>
              </a:rPr>
              <a:t>#Plot Predicted Monthly Revenue &amp; NPV of Revenue</a:t>
            </a:r>
          </a:p>
          <a:p>
            <a:pPr>
              <a:spcBef>
                <a:spcPts val="0"/>
              </a:spcBef>
              <a:buFont typeface="Wingdings" panose="05000000000000000000" pitchFamily="2" charset="2"/>
              <a:buChar char="Ø"/>
            </a:pPr>
            <a:r>
              <a:rPr lang="en-US" sz="1800" dirty="0">
                <a:solidFill>
                  <a:schemeClr val="bg1">
                    <a:lumMod val="50000"/>
                  </a:schemeClr>
                </a:solidFill>
              </a:rPr>
              <a:t>plot(</a:t>
            </a:r>
            <a:r>
              <a:rPr lang="en-US" sz="1800" dirty="0" err="1">
                <a:solidFill>
                  <a:schemeClr val="bg1">
                    <a:lumMod val="50000"/>
                  </a:schemeClr>
                </a:solidFill>
              </a:rPr>
              <a:t>Pricegrid,NPVRevgrid,main</a:t>
            </a:r>
            <a:r>
              <a:rPr lang="en-US" sz="1800" dirty="0">
                <a:solidFill>
                  <a:schemeClr val="bg1">
                    <a:lumMod val="50000"/>
                  </a:schemeClr>
                </a:solidFill>
              </a:rPr>
              <a:t>="Expected Monthly </a:t>
            </a:r>
            <a:r>
              <a:rPr lang="en-US" sz="1800" dirty="0" err="1">
                <a:solidFill>
                  <a:schemeClr val="bg1">
                    <a:lumMod val="50000"/>
                  </a:schemeClr>
                </a:solidFill>
              </a:rPr>
              <a:t>Revenue",type</a:t>
            </a:r>
            <a:r>
              <a:rPr lang="en-US" sz="1800" dirty="0">
                <a:solidFill>
                  <a:schemeClr val="bg1">
                    <a:lumMod val="50000"/>
                  </a:schemeClr>
                </a:solidFill>
              </a:rPr>
              <a:t>="n",</a:t>
            </a:r>
            <a:r>
              <a:rPr lang="en-US" sz="1800" dirty="0" err="1">
                <a:solidFill>
                  <a:schemeClr val="bg1">
                    <a:lumMod val="50000"/>
                  </a:schemeClr>
                </a:solidFill>
              </a:rPr>
              <a:t>ylab</a:t>
            </a:r>
            <a:r>
              <a:rPr lang="en-US" sz="1800" dirty="0">
                <a:solidFill>
                  <a:schemeClr val="bg1">
                    <a:lumMod val="50000"/>
                  </a:schemeClr>
                </a:solidFill>
              </a:rPr>
              <a:t>="expected revenue ($)",</a:t>
            </a:r>
            <a:r>
              <a:rPr lang="en-US" sz="1800" dirty="0" err="1">
                <a:solidFill>
                  <a:schemeClr val="bg1">
                    <a:lumMod val="50000"/>
                  </a:schemeClr>
                </a:solidFill>
              </a:rPr>
              <a:t>xlab</a:t>
            </a:r>
            <a:r>
              <a:rPr lang="en-US" sz="1800" dirty="0">
                <a:solidFill>
                  <a:schemeClr val="bg1">
                    <a:lumMod val="50000"/>
                  </a:schemeClr>
                </a:solidFill>
              </a:rPr>
              <a:t>="monthly price ($)")</a:t>
            </a:r>
          </a:p>
          <a:p>
            <a:pPr>
              <a:spcBef>
                <a:spcPts val="0"/>
              </a:spcBef>
              <a:buFont typeface="Wingdings" panose="05000000000000000000" pitchFamily="2" charset="2"/>
              <a:buChar char="Ø"/>
            </a:pPr>
            <a:r>
              <a:rPr lang="en-US" sz="1800" dirty="0">
                <a:solidFill>
                  <a:schemeClr val="bg1">
                    <a:lumMod val="50000"/>
                  </a:schemeClr>
                </a:solidFill>
              </a:rPr>
              <a:t>lines(</a:t>
            </a:r>
            <a:r>
              <a:rPr lang="en-US" sz="1800" dirty="0" err="1">
                <a:solidFill>
                  <a:schemeClr val="bg1">
                    <a:lumMod val="50000"/>
                  </a:schemeClr>
                </a:solidFill>
              </a:rPr>
              <a:t>Pricegrid,Revgrid,col</a:t>
            </a:r>
            <a:r>
              <a:rPr lang="en-US" sz="1800" dirty="0">
                <a:solidFill>
                  <a:schemeClr val="bg1">
                    <a:lumMod val="50000"/>
                  </a:schemeClr>
                </a:solidFill>
              </a:rPr>
              <a:t>="navy")</a:t>
            </a:r>
          </a:p>
          <a:p>
            <a:pPr>
              <a:spcBef>
                <a:spcPts val="0"/>
              </a:spcBef>
              <a:buFont typeface="Wingdings" panose="05000000000000000000" pitchFamily="2" charset="2"/>
              <a:buChar char="Ø"/>
            </a:pPr>
            <a:r>
              <a:rPr lang="en-US" sz="1800" dirty="0">
                <a:solidFill>
                  <a:schemeClr val="bg1">
                    <a:lumMod val="50000"/>
                  </a:schemeClr>
                </a:solidFill>
              </a:rPr>
              <a:t>lines(</a:t>
            </a:r>
            <a:r>
              <a:rPr lang="en-US" sz="1800" dirty="0" err="1">
                <a:solidFill>
                  <a:schemeClr val="bg1">
                    <a:lumMod val="50000"/>
                  </a:schemeClr>
                </a:solidFill>
              </a:rPr>
              <a:t>Pricegrid,NPVRevgrid,col</a:t>
            </a:r>
            <a:r>
              <a:rPr lang="en-US" sz="1800" dirty="0">
                <a:solidFill>
                  <a:schemeClr val="bg1">
                    <a:lumMod val="50000"/>
                  </a:schemeClr>
                </a:solidFill>
              </a:rPr>
              <a:t>="green")</a:t>
            </a:r>
          </a:p>
          <a:p>
            <a:pPr>
              <a:spcBef>
                <a:spcPts val="0"/>
              </a:spcBef>
              <a:buFont typeface="Wingdings" panose="05000000000000000000" pitchFamily="2" charset="2"/>
              <a:buChar char="Ø"/>
            </a:pPr>
            <a:r>
              <a:rPr lang="en-US" sz="1800" dirty="0">
                <a:solidFill>
                  <a:schemeClr val="bg1">
                    <a:lumMod val="50000"/>
                  </a:schemeClr>
                </a:solidFill>
              </a:rPr>
              <a:t>lines(c(</a:t>
            </a:r>
            <a:r>
              <a:rPr lang="en-US" sz="1800" dirty="0" err="1">
                <a:solidFill>
                  <a:schemeClr val="bg1">
                    <a:lumMod val="50000"/>
                  </a:schemeClr>
                </a:solidFill>
              </a:rPr>
              <a:t>Pstar,Pstar</a:t>
            </a:r>
            <a:r>
              <a:rPr lang="en-US" sz="1800" dirty="0">
                <a:solidFill>
                  <a:schemeClr val="bg1">
                    <a:lumMod val="50000"/>
                  </a:schemeClr>
                </a:solidFill>
              </a:rPr>
              <a:t>),c(0,revenue(</a:t>
            </a:r>
            <a:r>
              <a:rPr lang="en-US" sz="1800" dirty="0" err="1">
                <a:solidFill>
                  <a:schemeClr val="bg1">
                    <a:lumMod val="50000"/>
                  </a:schemeClr>
                </a:solidFill>
              </a:rPr>
              <a:t>Pstar,betahat</a:t>
            </a:r>
            <a:r>
              <a:rPr lang="en-US" sz="1800" dirty="0">
                <a:solidFill>
                  <a:schemeClr val="bg1">
                    <a:lumMod val="50000"/>
                  </a:schemeClr>
                </a:solidFill>
              </a:rPr>
              <a:t>)),</a:t>
            </a:r>
            <a:r>
              <a:rPr lang="en-US" sz="1800" dirty="0" err="1">
                <a:solidFill>
                  <a:schemeClr val="bg1">
                    <a:lumMod val="50000"/>
                  </a:schemeClr>
                </a:solidFill>
              </a:rPr>
              <a:t>lty</a:t>
            </a:r>
            <a:r>
              <a:rPr lang="en-US" sz="1800" dirty="0">
                <a:solidFill>
                  <a:schemeClr val="bg1">
                    <a:lumMod val="50000"/>
                  </a:schemeClr>
                </a:solidFill>
              </a:rPr>
              <a:t>=2,col="navy")</a:t>
            </a:r>
          </a:p>
          <a:p>
            <a:pPr>
              <a:spcBef>
                <a:spcPts val="0"/>
              </a:spcBef>
              <a:buFont typeface="Wingdings" panose="05000000000000000000" pitchFamily="2" charset="2"/>
              <a:buChar char="Ø"/>
            </a:pPr>
            <a:r>
              <a:rPr lang="en-US" sz="1800" dirty="0">
                <a:solidFill>
                  <a:schemeClr val="bg1">
                    <a:lumMod val="50000"/>
                  </a:schemeClr>
                </a:solidFill>
              </a:rPr>
              <a:t>text(</a:t>
            </a:r>
            <a:r>
              <a:rPr lang="en-US" sz="1800" dirty="0" err="1">
                <a:solidFill>
                  <a:schemeClr val="bg1">
                    <a:lumMod val="50000"/>
                  </a:schemeClr>
                </a:solidFill>
              </a:rPr>
              <a:t>Pstar,revenue</a:t>
            </a:r>
            <a:r>
              <a:rPr lang="en-US" sz="1800" dirty="0">
                <a:solidFill>
                  <a:schemeClr val="bg1">
                    <a:lumMod val="50000"/>
                  </a:schemeClr>
                </a:solidFill>
              </a:rPr>
              <a:t>(</a:t>
            </a:r>
            <a:r>
              <a:rPr lang="en-US" sz="1800" dirty="0" err="1">
                <a:solidFill>
                  <a:schemeClr val="bg1">
                    <a:lumMod val="50000"/>
                  </a:schemeClr>
                </a:solidFill>
              </a:rPr>
              <a:t>Pstar,betahat</a:t>
            </a:r>
            <a:r>
              <a:rPr lang="en-US" sz="1800" dirty="0">
                <a:solidFill>
                  <a:schemeClr val="bg1">
                    <a:lumMod val="50000"/>
                  </a:schemeClr>
                </a:solidFill>
              </a:rPr>
              <a:t>),paste("optimal price: $",</a:t>
            </a:r>
            <a:r>
              <a:rPr lang="en-US" sz="1800" dirty="0" err="1">
                <a:solidFill>
                  <a:schemeClr val="bg1">
                    <a:lumMod val="50000"/>
                  </a:schemeClr>
                </a:solidFill>
              </a:rPr>
              <a:t>Pstar,sep</a:t>
            </a:r>
            <a:r>
              <a:rPr lang="en-US" sz="1800" dirty="0">
                <a:solidFill>
                  <a:schemeClr val="bg1">
                    <a:lumMod val="50000"/>
                  </a:schemeClr>
                </a:solidFill>
              </a:rPr>
              <a:t>=""),</a:t>
            </a:r>
            <a:r>
              <a:rPr lang="en-US" sz="1800" dirty="0" err="1">
                <a:solidFill>
                  <a:schemeClr val="bg1">
                    <a:lumMod val="50000"/>
                  </a:schemeClr>
                </a:solidFill>
              </a:rPr>
              <a:t>pos</a:t>
            </a:r>
            <a:r>
              <a:rPr lang="en-US" sz="1800" dirty="0">
                <a:solidFill>
                  <a:schemeClr val="bg1">
                    <a:lumMod val="50000"/>
                  </a:schemeClr>
                </a:solidFill>
              </a:rPr>
              <a:t>=1,cex=.5,col="navy")</a:t>
            </a:r>
          </a:p>
          <a:p>
            <a:pPr>
              <a:spcBef>
                <a:spcPts val="0"/>
              </a:spcBef>
              <a:buFont typeface="Wingdings" panose="05000000000000000000" pitchFamily="2" charset="2"/>
              <a:buChar char="Ø"/>
            </a:pPr>
            <a:r>
              <a:rPr lang="en-US" sz="1800" dirty="0">
                <a:solidFill>
                  <a:schemeClr val="bg1">
                    <a:lumMod val="50000"/>
                  </a:schemeClr>
                </a:solidFill>
              </a:rPr>
              <a:t>lines(c(</a:t>
            </a:r>
            <a:r>
              <a:rPr lang="en-US" sz="1800" dirty="0" err="1">
                <a:solidFill>
                  <a:schemeClr val="bg1">
                    <a:lumMod val="50000"/>
                  </a:schemeClr>
                </a:solidFill>
              </a:rPr>
              <a:t>PstarLR,PstarLR</a:t>
            </a:r>
            <a:r>
              <a:rPr lang="en-US" sz="1800" dirty="0">
                <a:solidFill>
                  <a:schemeClr val="bg1">
                    <a:lumMod val="50000"/>
                  </a:schemeClr>
                </a:solidFill>
              </a:rPr>
              <a:t>),c(0,NPVrevenue(</a:t>
            </a:r>
            <a:r>
              <a:rPr lang="en-US" sz="1800" dirty="0" err="1">
                <a:solidFill>
                  <a:schemeClr val="bg1">
                    <a:lumMod val="50000"/>
                  </a:schemeClr>
                </a:solidFill>
              </a:rPr>
              <a:t>PstarLR,betahat,delta</a:t>
            </a:r>
            <a:r>
              <a:rPr lang="en-US" sz="1800" dirty="0">
                <a:solidFill>
                  <a:schemeClr val="bg1">
                    <a:lumMod val="50000"/>
                  </a:schemeClr>
                </a:solidFill>
              </a:rPr>
              <a:t>)),col="green",</a:t>
            </a:r>
            <a:r>
              <a:rPr lang="en-US" sz="1800" dirty="0" err="1">
                <a:solidFill>
                  <a:schemeClr val="bg1">
                    <a:lumMod val="50000"/>
                  </a:schemeClr>
                </a:solidFill>
              </a:rPr>
              <a:t>lty</a:t>
            </a:r>
            <a:r>
              <a:rPr lang="en-US" sz="1800" dirty="0">
                <a:solidFill>
                  <a:schemeClr val="bg1">
                    <a:lumMod val="50000"/>
                  </a:schemeClr>
                </a:solidFill>
              </a:rPr>
              <a:t>=2)</a:t>
            </a:r>
          </a:p>
          <a:p>
            <a:pPr>
              <a:spcBef>
                <a:spcPts val="0"/>
              </a:spcBef>
              <a:buFont typeface="Wingdings" panose="05000000000000000000" pitchFamily="2" charset="2"/>
              <a:buChar char="Ø"/>
            </a:pPr>
            <a:r>
              <a:rPr lang="en-US" sz="1800" dirty="0">
                <a:solidFill>
                  <a:schemeClr val="bg1">
                    <a:lumMod val="50000"/>
                  </a:schemeClr>
                </a:solidFill>
              </a:rPr>
              <a:t>text(</a:t>
            </a:r>
            <a:r>
              <a:rPr lang="en-US" sz="1800" dirty="0" err="1">
                <a:solidFill>
                  <a:schemeClr val="bg1">
                    <a:lumMod val="50000"/>
                  </a:schemeClr>
                </a:solidFill>
              </a:rPr>
              <a:t>PstarLR,NPVrevenue</a:t>
            </a:r>
            <a:r>
              <a:rPr lang="en-US" sz="1800" dirty="0">
                <a:solidFill>
                  <a:schemeClr val="bg1">
                    <a:lumMod val="50000"/>
                  </a:schemeClr>
                </a:solidFill>
              </a:rPr>
              <a:t>(</a:t>
            </a:r>
            <a:r>
              <a:rPr lang="en-US" sz="1800" dirty="0" err="1">
                <a:solidFill>
                  <a:schemeClr val="bg1">
                    <a:lumMod val="50000"/>
                  </a:schemeClr>
                </a:solidFill>
              </a:rPr>
              <a:t>PstarLR,betahat,delta</a:t>
            </a:r>
            <a:r>
              <a:rPr lang="en-US" sz="1800" dirty="0">
                <a:solidFill>
                  <a:schemeClr val="bg1">
                    <a:lumMod val="50000"/>
                  </a:schemeClr>
                </a:solidFill>
              </a:rPr>
              <a:t>),paste("NPV optimal price: $",</a:t>
            </a:r>
            <a:r>
              <a:rPr lang="en-US" sz="1800" dirty="0" err="1">
                <a:solidFill>
                  <a:schemeClr val="bg1">
                    <a:lumMod val="50000"/>
                  </a:schemeClr>
                </a:solidFill>
              </a:rPr>
              <a:t>Pstar,sep</a:t>
            </a:r>
            <a:r>
              <a:rPr lang="en-US" sz="1800" dirty="0">
                <a:solidFill>
                  <a:schemeClr val="bg1">
                    <a:lumMod val="50000"/>
                  </a:schemeClr>
                </a:solidFill>
              </a:rPr>
              <a:t>=""),</a:t>
            </a:r>
            <a:r>
              <a:rPr lang="en-US" sz="1800" dirty="0" err="1">
                <a:solidFill>
                  <a:schemeClr val="bg1">
                    <a:lumMod val="50000"/>
                  </a:schemeClr>
                </a:solidFill>
              </a:rPr>
              <a:t>pos</a:t>
            </a:r>
            <a:r>
              <a:rPr lang="en-US" sz="1800" dirty="0">
                <a:solidFill>
                  <a:schemeClr val="bg1">
                    <a:lumMod val="50000"/>
                  </a:schemeClr>
                </a:solidFill>
              </a:rPr>
              <a:t>=1,cex=.5,col="green")</a:t>
            </a:r>
          </a:p>
          <a:p>
            <a:pPr>
              <a:spcBef>
                <a:spcPts val="0"/>
              </a:spcBef>
              <a:buFont typeface="Wingdings" panose="05000000000000000000" pitchFamily="2" charset="2"/>
              <a:buChar char="Ø"/>
            </a:pPr>
            <a:r>
              <a:rPr lang="en-US" sz="1800" dirty="0">
                <a:solidFill>
                  <a:schemeClr val="bg1">
                    <a:lumMod val="50000"/>
                  </a:schemeClr>
                </a:solidFill>
              </a:rPr>
              <a:t>legend("</a:t>
            </a:r>
            <a:r>
              <a:rPr lang="en-US" sz="1800" dirty="0" err="1">
                <a:solidFill>
                  <a:schemeClr val="bg1">
                    <a:lumMod val="50000"/>
                  </a:schemeClr>
                </a:solidFill>
              </a:rPr>
              <a:t>topleft</a:t>
            </a:r>
            <a:r>
              <a:rPr lang="en-US" sz="1800" dirty="0">
                <a:solidFill>
                  <a:schemeClr val="bg1">
                    <a:lumMod val="50000"/>
                  </a:schemeClr>
                </a:solidFill>
              </a:rPr>
              <a:t>",legend=c("static (delta=0)","NPV (delta=.995)"),fill=c("</a:t>
            </a:r>
            <a:r>
              <a:rPr lang="en-US" sz="1800" dirty="0" err="1">
                <a:solidFill>
                  <a:schemeClr val="bg1">
                    <a:lumMod val="50000"/>
                  </a:schemeClr>
                </a:solidFill>
              </a:rPr>
              <a:t>black","green</a:t>
            </a:r>
            <a:r>
              <a:rPr lang="en-US" sz="1800" dirty="0">
                <a:solidFill>
                  <a:schemeClr val="bg1">
                    <a:lumMod val="50000"/>
                  </a:schemeClr>
                </a:solidFill>
              </a:rPr>
              <a:t>"),</a:t>
            </a:r>
            <a:r>
              <a:rPr lang="en-US" sz="1800" dirty="0" err="1">
                <a:solidFill>
                  <a:schemeClr val="bg1">
                    <a:lumMod val="50000"/>
                  </a:schemeClr>
                </a:solidFill>
              </a:rPr>
              <a:t>cex</a:t>
            </a:r>
            <a:r>
              <a:rPr lang="en-US" sz="1800" dirty="0">
                <a:solidFill>
                  <a:schemeClr val="bg1">
                    <a:lumMod val="50000"/>
                  </a:schemeClr>
                </a:solidFill>
              </a:rPr>
              <a:t>=.7)</a:t>
            </a:r>
          </a:p>
        </p:txBody>
      </p:sp>
      <p:sp>
        <p:nvSpPr>
          <p:cNvPr id="4" name="Slide Number Placeholder 3"/>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61</a:t>
            </a:fld>
            <a:endParaRPr lang="en-US"/>
          </a:p>
        </p:txBody>
      </p:sp>
    </p:spTree>
    <p:extLst>
      <p:ext uri="{BB962C8B-B14F-4D97-AF65-F5344CB8AC3E}">
        <p14:creationId xmlns:p14="http://schemas.microsoft.com/office/powerpoint/2010/main" val="26999877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a:t>A simulation in R to illustrate</a:t>
            </a:r>
            <a:br>
              <a:rPr lang="en-US" sz="4400" dirty="0"/>
            </a:br>
            <a:r>
              <a:rPr lang="en-US" sz="3600" dirty="0"/>
              <a:t>Plot monthly revenue and NPV revenue functions</a:t>
            </a:r>
          </a:p>
        </p:txBody>
      </p:sp>
      <p:sp>
        <p:nvSpPr>
          <p:cNvPr id="4" name="Slide Number Placeholder 3"/>
          <p:cNvSpPr>
            <a:spLocks noGrp="1"/>
          </p:cNvSpPr>
          <p:nvPr>
            <p:ph type="sldNum" sz="quarter" idx="12"/>
          </p:nvPr>
        </p:nvSpPr>
        <p:spPr/>
        <p:txBody>
          <a:bodyPr>
            <a:normAutofit fontScale="85000" lnSpcReduction="20000"/>
          </a:bodyPr>
          <a:lstStyle/>
          <a:p>
            <a:pPr>
              <a:defRPr/>
            </a:pPr>
            <a:fld id="{A0841F23-D189-41D9-9747-E01DB953E15A}" type="slidenum">
              <a:rPr lang="en-US" smtClean="0"/>
              <a:pPr>
                <a:defRPr/>
              </a:pPr>
              <a:t>62</a:t>
            </a:fld>
            <a:endParaRPr lang="en-US"/>
          </a:p>
        </p:txBody>
      </p:sp>
      <p:pic>
        <p:nvPicPr>
          <p:cNvPr id="6" name="Content Placeholder 5"/>
          <p:cNvPicPr>
            <a:picLocks noGrp="1" noChangeAspect="1"/>
          </p:cNvPicPr>
          <p:nvPr>
            <p:ph sz="quarter" idx="1"/>
          </p:nvPr>
        </p:nvPicPr>
        <p:blipFill rotWithShape="1">
          <a:blip r:embed="rId2"/>
          <a:srcRect r="34994" b="33898"/>
          <a:stretch/>
        </p:blipFill>
        <p:spPr>
          <a:xfrm>
            <a:off x="686807" y="1600199"/>
            <a:ext cx="5409193" cy="5148555"/>
          </a:xfrm>
          <a:prstGeom prst="rect">
            <a:avLst/>
          </a:prstGeom>
        </p:spPr>
      </p:pic>
    </p:spTree>
    <p:extLst>
      <p:ext uri="{BB962C8B-B14F-4D97-AF65-F5344CB8AC3E}">
        <p14:creationId xmlns:p14="http://schemas.microsoft.com/office/powerpoint/2010/main" val="251545276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dirty="0"/>
              <a:t>CLV at </a:t>
            </a:r>
            <a:r>
              <a:rPr lang="en-US" dirty="0" err="1"/>
              <a:t>Ziprecruiter</a:t>
            </a:r>
            <a:r>
              <a:rPr lang="en-US" dirty="0"/>
              <a:t> using </a:t>
            </a:r>
            <a:r>
              <a:rPr lang="en-US" u="sng" dirty="0"/>
              <a:t>actual</a:t>
            </a:r>
            <a:r>
              <a:rPr lang="en-US" dirty="0"/>
              <a:t> retention rates</a:t>
            </a:r>
          </a:p>
        </p:txBody>
      </p:sp>
      <p:sp>
        <p:nvSpPr>
          <p:cNvPr id="3" name="Title 2"/>
          <p:cNvSpPr>
            <a:spLocks noGrp="1"/>
          </p:cNvSpPr>
          <p:nvPr>
            <p:ph type="title"/>
          </p:nvPr>
        </p:nvSpPr>
        <p:spPr/>
        <p:txBody>
          <a:bodyPr/>
          <a:lstStyle/>
          <a:p>
            <a:r>
              <a:rPr lang="en-US" dirty="0"/>
              <a:t>Extra</a:t>
            </a:r>
          </a:p>
        </p:txBody>
      </p:sp>
      <p:sp>
        <p:nvSpPr>
          <p:cNvPr id="4" name="Slide Number Placeholder 3"/>
          <p:cNvSpPr>
            <a:spLocks noGrp="1"/>
          </p:cNvSpPr>
          <p:nvPr>
            <p:ph type="sldNum" sz="quarter" idx="11"/>
          </p:nvPr>
        </p:nvSpPr>
        <p:spPr/>
        <p:txBody>
          <a:bodyPr/>
          <a:lstStyle/>
          <a:p>
            <a:pPr>
              <a:defRPr/>
            </a:pPr>
            <a:fld id="{DF54D116-B739-41B8-A000-A0DD5381050B}" type="slidenum">
              <a:rPr lang="en-US" smtClean="0"/>
              <a:pPr>
                <a:defRPr/>
              </a:pPr>
              <a:t>63</a:t>
            </a:fld>
            <a:endParaRPr lang="en-US"/>
          </a:p>
        </p:txBody>
      </p:sp>
    </p:spTree>
    <p:extLst>
      <p:ext uri="{BB962C8B-B14F-4D97-AF65-F5344CB8AC3E}">
        <p14:creationId xmlns:p14="http://schemas.microsoft.com/office/powerpoint/2010/main" val="409034104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fontScale="92500"/>
              </a:bodyPr>
              <a:lstStyle/>
              <a:p>
                <a:pPr>
                  <a:spcBef>
                    <a:spcPts val="1200"/>
                  </a:spcBef>
                  <a:spcAft>
                    <a:spcPts val="1200"/>
                  </a:spcAft>
                </a:pPr>
                <a:r>
                  <a:rPr lang="en-US" dirty="0"/>
                  <a:t>In practice, trial and repeat rates are probably different:</a:t>
                </a:r>
              </a:p>
              <a:p>
                <a:pPr marL="593725" lvl="2" indent="-319088">
                  <a:spcBef>
                    <a:spcPts val="1200"/>
                  </a:spcBef>
                  <a:spcAft>
                    <a:spcPts val="1200"/>
                  </a:spcAft>
                  <a:buSzPct val="60000"/>
                  <a:buFont typeface="Wingdings" pitchFamily="2" charset="2"/>
                  <a:buChar char=""/>
                </a:pPr>
                <a14:m>
                  <m:oMath xmlns:m="http://schemas.openxmlformats.org/officeDocument/2006/math">
                    <m:r>
                      <a:rPr lang="en-US" i="1">
                        <a:latin typeface="Cambria Math"/>
                      </a:rPr>
                      <m:t>𝑃𝑟𝑜𝑏</m:t>
                    </m:r>
                    <m:d>
                      <m:dPr>
                        <m:ctrlPr>
                          <a:rPr lang="en-US" i="1">
                            <a:latin typeface="Cambria Math" panose="02040503050406030204" pitchFamily="18" charset="0"/>
                          </a:rPr>
                        </m:ctrlPr>
                      </m:dPr>
                      <m:e>
                        <m:r>
                          <a:rPr lang="en-US" i="1">
                            <a:latin typeface="Cambria Math"/>
                          </a:rPr>
                          <m:t>𝑡𝑟𝑖𝑎𝑙</m:t>
                        </m:r>
                        <m:r>
                          <a:rPr lang="en-US" i="1">
                            <a:latin typeface="Cambria Math"/>
                          </a:rPr>
                          <m:t>|</m:t>
                        </m:r>
                        <m:r>
                          <a:rPr lang="en-US" b="1" i="1">
                            <a:latin typeface="Cambria Math"/>
                          </a:rPr>
                          <m:t>𝒑</m:t>
                        </m:r>
                      </m:e>
                    </m:d>
                    <m:r>
                      <a:rPr lang="en-US" i="1" smtClean="0">
                        <a:latin typeface="Cambria Math"/>
                        <a:ea typeface="Cambria Math"/>
                      </a:rPr>
                      <m:t>≠</m:t>
                    </m:r>
                    <m:r>
                      <a:rPr lang="en-US" i="1">
                        <a:latin typeface="Cambria Math"/>
                      </a:rPr>
                      <m:t>𝑃𝑟𝑜𝑏</m:t>
                    </m:r>
                    <m:r>
                      <a:rPr lang="en-US" i="1">
                        <a:latin typeface="Cambria Math"/>
                      </a:rPr>
                      <m:t> </m:t>
                    </m:r>
                    <m:d>
                      <m:dPr>
                        <m:ctrlPr>
                          <a:rPr lang="en-US" i="1">
                            <a:latin typeface="Cambria Math" panose="02040503050406030204" pitchFamily="18" charset="0"/>
                          </a:rPr>
                        </m:ctrlPr>
                      </m:dPr>
                      <m:e>
                        <m:r>
                          <a:rPr lang="en-US" i="1">
                            <a:latin typeface="Cambria Math"/>
                          </a:rPr>
                          <m:t>𝑟𝑒</m:t>
                        </m:r>
                        <m:r>
                          <a:rPr lang="en-US" b="0" i="1" smtClean="0">
                            <a:latin typeface="Cambria Math" panose="02040503050406030204" pitchFamily="18" charset="0"/>
                          </a:rPr>
                          <m:t>𝑡𝑒𝑛𝑡𝑖𝑜𝑛</m:t>
                        </m:r>
                      </m:e>
                      <m:e>
                        <m:r>
                          <a:rPr lang="en-US" b="1" i="1">
                            <a:latin typeface="Cambria Math"/>
                          </a:rPr>
                          <m:t>𝒑</m:t>
                        </m:r>
                      </m:e>
                    </m:d>
                  </m:oMath>
                </a14:m>
                <a:endParaRPr lang="en-US" dirty="0"/>
              </a:p>
              <a:p>
                <a:pPr>
                  <a:spcBef>
                    <a:spcPts val="1200"/>
                  </a:spcBef>
                  <a:spcAft>
                    <a:spcPts val="1200"/>
                  </a:spcAft>
                </a:pPr>
                <a:r>
                  <a:rPr lang="en-US" dirty="0"/>
                  <a:t>4 months after experiment, measure actual “retention’ rate as function of price</a:t>
                </a:r>
              </a:p>
              <a:p>
                <a:pPr lvl="1">
                  <a:spcBef>
                    <a:spcPts val="1200"/>
                  </a:spcBef>
                  <a:spcAft>
                    <a:spcPts val="1200"/>
                  </a:spcAft>
                </a:pPr>
                <a:r>
                  <a:rPr lang="en-US" dirty="0"/>
                  <a:t>At </a:t>
                </a:r>
                <a:r>
                  <a:rPr lang="en-US" dirty="0" err="1"/>
                  <a:t>Ziprecruiter</a:t>
                </a:r>
                <a:r>
                  <a:rPr lang="en-US" dirty="0"/>
                  <a:t>, </a:t>
                </a:r>
                <a:r>
                  <a:rPr lang="en-US" b="1" u="sng" dirty="0"/>
                  <a:t>retention rate higher than initial acquisition rate</a:t>
                </a:r>
              </a:p>
              <a:p>
                <a:pPr lvl="1">
                  <a:spcBef>
                    <a:spcPts val="1200"/>
                  </a:spcBef>
                  <a:spcAft>
                    <a:spcPts val="1200"/>
                  </a:spcAft>
                </a:pPr>
                <a:r>
                  <a:rPr lang="en-US" dirty="0"/>
                  <a:t>Estimate repeat purchase probabilities for each of the first four months using the same customers from the experiment</a:t>
                </a:r>
              </a:p>
              <a:p>
                <a:pPr lvl="1">
                  <a:spcBef>
                    <a:spcPts val="1200"/>
                  </a:spcBef>
                  <a:spcAft>
                    <a:spcPts val="1200"/>
                  </a:spcAft>
                </a:pPr>
                <a:r>
                  <a:rPr lang="en-US" dirty="0"/>
                  <a:t>assume repeat probability remains fixed after 4 months</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a:blip r:embed="rId2"/>
                <a:stretch>
                  <a:fillRect l="-75" t="-950" r="-224"/>
                </a:stretch>
              </a:blipFill>
            </p:spPr>
            <p:txBody>
              <a:bodyPr/>
              <a:lstStyle/>
              <a:p>
                <a:r>
                  <a:rPr lang="en-US">
                    <a:noFill/>
                  </a:rPr>
                  <a:t> </a:t>
                </a:r>
              </a:p>
            </p:txBody>
          </p:sp>
        </mc:Fallback>
      </mc:AlternateContent>
      <p:sp>
        <p:nvSpPr>
          <p:cNvPr id="14" name="Slide Number Placeholder 3"/>
          <p:cNvSpPr>
            <a:spLocks noGrp="1"/>
          </p:cNvSpPr>
          <p:nvPr>
            <p:ph type="sldNum" sz="quarter" idx="12"/>
          </p:nvPr>
        </p:nvSpPr>
        <p:spPr>
          <a:xfrm>
            <a:off x="0" y="1271588"/>
            <a:ext cx="533400" cy="244475"/>
          </a:xfrm>
        </p:spPr>
        <p:txBody>
          <a:bodyPr>
            <a:normAutofit fontScale="85000" lnSpcReduction="20000"/>
          </a:bodyPr>
          <a:lstStyle/>
          <a:p>
            <a:pPr>
              <a:defRPr/>
            </a:pPr>
            <a:fld id="{5B184A58-70F9-4372-8361-D0A248C9554D}" type="slidenum">
              <a:rPr lang="en-US" smtClean="0"/>
              <a:pPr>
                <a:defRPr/>
              </a:pPr>
              <a:t>64</a:t>
            </a:fld>
            <a:endParaRPr lang="en-US"/>
          </a:p>
        </p:txBody>
      </p:sp>
      <p:sp>
        <p:nvSpPr>
          <p:cNvPr id="16" name="Title 1"/>
          <p:cNvSpPr>
            <a:spLocks noGrp="1"/>
          </p:cNvSpPr>
          <p:nvPr>
            <p:ph type="title"/>
          </p:nvPr>
        </p:nvSpPr>
        <p:spPr>
          <a:xfrm>
            <a:off x="612648" y="228600"/>
            <a:ext cx="8153400" cy="990600"/>
          </a:xfrm>
        </p:spPr>
        <p:txBody>
          <a:bodyPr>
            <a:normAutofit/>
          </a:bodyPr>
          <a:lstStyle/>
          <a:p>
            <a:r>
              <a:rPr lang="en-US" dirty="0"/>
              <a:t>Pricing and CLV at </a:t>
            </a:r>
            <a:r>
              <a:rPr lang="en-US" dirty="0" err="1"/>
              <a:t>Ziprecruiter</a:t>
            </a:r>
            <a:endParaRPr lang="en-US" sz="3600" dirty="0"/>
          </a:p>
        </p:txBody>
      </p:sp>
    </p:spTree>
    <p:extLst>
      <p:ext uri="{BB962C8B-B14F-4D97-AF65-F5344CB8AC3E}">
        <p14:creationId xmlns:p14="http://schemas.microsoft.com/office/powerpoint/2010/main" val="261116070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normAutofit fontScale="85000" lnSpcReduction="20000"/>
          </a:bodyPr>
          <a:lstStyle/>
          <a:p>
            <a:pPr>
              <a:defRPr/>
            </a:pPr>
            <a:fld id="{5B184A58-70F9-4372-8361-D0A248C9554D}" type="slidenum">
              <a:rPr lang="en-US" smtClean="0"/>
              <a:pPr>
                <a:defRPr/>
              </a:pPr>
              <a:t>65</a:t>
            </a:fld>
            <a:endParaRPr lang="en-US"/>
          </a:p>
        </p:txBody>
      </p:sp>
      <p:sp>
        <p:nvSpPr>
          <p:cNvPr id="11" name="Title 1"/>
          <p:cNvSpPr>
            <a:spLocks noGrp="1"/>
          </p:cNvSpPr>
          <p:nvPr>
            <p:ph type="title"/>
          </p:nvPr>
        </p:nvSpPr>
        <p:spPr>
          <a:xfrm>
            <a:off x="612648" y="228600"/>
            <a:ext cx="8153400" cy="990600"/>
          </a:xfrm>
        </p:spPr>
        <p:txBody>
          <a:bodyPr>
            <a:normAutofit fontScale="90000"/>
          </a:bodyPr>
          <a:lstStyle/>
          <a:p>
            <a:r>
              <a:rPr lang="en-US" sz="4400" dirty="0"/>
              <a:t>Pricing and CLV at </a:t>
            </a:r>
            <a:r>
              <a:rPr lang="en-US" sz="4400" dirty="0" err="1"/>
              <a:t>Ziprecruiter</a:t>
            </a:r>
            <a:br>
              <a:rPr lang="en-US" sz="4400" dirty="0"/>
            </a:br>
            <a:r>
              <a:rPr lang="en-US" sz="3600" dirty="0"/>
              <a:t>use data to measure retention</a:t>
            </a:r>
          </a:p>
        </p:txBody>
      </p:sp>
      <p:pic>
        <p:nvPicPr>
          <p:cNvPr id="31746"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2438225" y="1600200"/>
            <a:ext cx="4502500" cy="4495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extBox 7"/>
          <p:cNvSpPr txBox="1"/>
          <p:nvPr/>
        </p:nvSpPr>
        <p:spPr>
          <a:xfrm flipH="1">
            <a:off x="4343400" y="2286000"/>
            <a:ext cx="530352" cy="215444"/>
          </a:xfrm>
          <a:prstGeom prst="rect">
            <a:avLst/>
          </a:prstGeom>
          <a:solidFill>
            <a:schemeClr val="bg1"/>
          </a:solidFill>
        </p:spPr>
        <p:txBody>
          <a:bodyPr wrap="square" rtlCol="0">
            <a:spAutoFit/>
          </a:bodyPr>
          <a:lstStyle/>
          <a:p>
            <a:r>
              <a:rPr lang="en-US" sz="800" dirty="0"/>
              <a:t>(</a:t>
            </a:r>
            <a:r>
              <a:rPr lang="en-US" sz="800" i="1" dirty="0"/>
              <a:t>r</a:t>
            </a:r>
            <a:r>
              <a:rPr lang="en-US" sz="800" dirty="0"/>
              <a:t>=0.05)</a:t>
            </a:r>
            <a:endParaRPr lang="en-US" sz="800" i="1" dirty="0"/>
          </a:p>
        </p:txBody>
      </p:sp>
      <p:sp>
        <p:nvSpPr>
          <p:cNvPr id="2" name="TextBox 1"/>
          <p:cNvSpPr txBox="1"/>
          <p:nvPr/>
        </p:nvSpPr>
        <p:spPr>
          <a:xfrm>
            <a:off x="5257800" y="4709160"/>
            <a:ext cx="441146" cy="246221"/>
          </a:xfrm>
          <a:prstGeom prst="rect">
            <a:avLst/>
          </a:prstGeom>
          <a:solidFill>
            <a:schemeClr val="bg1"/>
          </a:solidFill>
        </p:spPr>
        <p:txBody>
          <a:bodyPr wrap="none" rtlCol="0">
            <a:spAutoFit/>
          </a:bodyPr>
          <a:lstStyle/>
          <a:p>
            <a:r>
              <a:rPr lang="en-US" sz="1000" dirty="0">
                <a:solidFill>
                  <a:srgbClr val="66FFFF"/>
                </a:solidFill>
              </a:rPr>
              <a:t>$290</a:t>
            </a:r>
          </a:p>
        </p:txBody>
      </p:sp>
      <p:sp>
        <p:nvSpPr>
          <p:cNvPr id="9" name="Content Placeholder 2"/>
          <p:cNvSpPr txBox="1">
            <a:spLocks/>
          </p:cNvSpPr>
          <p:nvPr/>
        </p:nvSpPr>
        <p:spPr bwMode="auto">
          <a:xfrm>
            <a:off x="152400" y="6240847"/>
            <a:ext cx="7239000" cy="472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lnSpcReduction="10000"/>
          </a:bodyPr>
          <a:lstStyle>
            <a:lvl1pPr marL="319088" indent="-319088" algn="l" rtl="0" eaLnBrk="1" fontAlgn="base" hangingPunct="1">
              <a:spcBef>
                <a:spcPts val="700"/>
              </a:spcBef>
              <a:spcAft>
                <a:spcPct val="0"/>
              </a:spcAft>
              <a:buClr>
                <a:schemeClr val="accent2"/>
              </a:buClr>
              <a:buSzPct val="60000"/>
              <a:buFont typeface="Wingdings" pitchFamily="2" charset="2"/>
              <a:buChar char=""/>
              <a:defRPr sz="2400" kern="1200" baseline="0">
                <a:solidFill>
                  <a:schemeClr val="tx1"/>
                </a:solidFill>
                <a:latin typeface="+mj-lt"/>
                <a:ea typeface="+mn-ea"/>
                <a:cs typeface="+mn-cs"/>
              </a:defRPr>
            </a:lvl1pPr>
            <a:lvl2pPr marL="639763" indent="-273050" algn="l" rtl="0" eaLnBrk="1" fontAlgn="base" hangingPunct="1">
              <a:spcBef>
                <a:spcPts val="550"/>
              </a:spcBef>
              <a:spcAft>
                <a:spcPct val="0"/>
              </a:spcAft>
              <a:buClr>
                <a:schemeClr val="accent1"/>
              </a:buClr>
              <a:buSzPct val="70000"/>
              <a:buFont typeface="Wingdings 2" pitchFamily="18" charset="2"/>
              <a:buChar char=""/>
              <a:defRPr sz="2400" kern="1200" baseline="0">
                <a:solidFill>
                  <a:schemeClr val="tx1"/>
                </a:solidFill>
                <a:latin typeface="+mj-lt"/>
                <a:ea typeface="+mn-ea"/>
                <a:cs typeface="+mn-cs"/>
              </a:defRPr>
            </a:lvl2pPr>
            <a:lvl3pPr marL="914400" indent="-228600" algn="l" rtl="0" eaLnBrk="1" fontAlgn="base" hangingPunct="1">
              <a:spcBef>
                <a:spcPts val="500"/>
              </a:spcBef>
              <a:spcAft>
                <a:spcPct val="0"/>
              </a:spcAft>
              <a:buClr>
                <a:schemeClr val="accent2"/>
              </a:buClr>
              <a:buSzPct val="75000"/>
              <a:buFont typeface="Wingdings" pitchFamily="2" charset="2"/>
              <a:buChar char=""/>
              <a:defRPr sz="2400" kern="1200" baseline="0">
                <a:solidFill>
                  <a:schemeClr val="tx1"/>
                </a:solidFill>
                <a:latin typeface="+mj-lt"/>
                <a:ea typeface="+mn-ea"/>
                <a:cs typeface="+mn-cs"/>
              </a:defRPr>
            </a:lvl3pPr>
            <a:lvl4pPr marL="1371600" indent="-228600" algn="l" rtl="0" eaLnBrk="1" fontAlgn="base" hangingPunct="1">
              <a:spcBef>
                <a:spcPts val="400"/>
              </a:spcBef>
              <a:spcAft>
                <a:spcPct val="0"/>
              </a:spcAft>
              <a:buClr>
                <a:srgbClr val="A5AB81"/>
              </a:buClr>
              <a:buSzPct val="75000"/>
              <a:buFont typeface="Wingdings" pitchFamily="2" charset="2"/>
              <a:buChar char=""/>
              <a:defRPr sz="2400" kern="1200" baseline="0">
                <a:solidFill>
                  <a:schemeClr val="tx1"/>
                </a:solidFill>
                <a:latin typeface="+mj-lt"/>
                <a:ea typeface="+mn-ea"/>
                <a:cs typeface="+mn-cs"/>
              </a:defRPr>
            </a:lvl4pPr>
            <a:lvl5pPr marL="1828800" indent="-228600" algn="l" rtl="0" eaLnBrk="1" fontAlgn="base" hangingPunct="1">
              <a:spcBef>
                <a:spcPts val="400"/>
              </a:spcBef>
              <a:spcAft>
                <a:spcPct val="0"/>
              </a:spcAft>
              <a:buClr>
                <a:srgbClr val="D8B25C"/>
              </a:buClr>
              <a:buSzPct val="65000"/>
              <a:buFont typeface="Wingdings" pitchFamily="2" charset="2"/>
              <a:buChar char=""/>
              <a:defRPr sz="2400" kern="1200" baseline="0">
                <a:solidFill>
                  <a:schemeClr val="tx1"/>
                </a:solidFill>
                <a:latin typeface="+mj-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indent="0">
              <a:spcAft>
                <a:spcPts val="0"/>
              </a:spcAft>
              <a:buNone/>
              <a:defRPr/>
            </a:pPr>
            <a:r>
              <a:rPr lang="en-US" sz="2600" b="1" dirty="0">
                <a:effectLst>
                  <a:outerShdw blurRad="38100" dist="38100" dir="2700000" algn="tl">
                    <a:srgbClr val="000000">
                      <a:alpha val="43137"/>
                    </a:srgbClr>
                  </a:outerShdw>
                </a:effectLst>
              </a:rPr>
              <a:t>Optimal price</a:t>
            </a:r>
            <a:r>
              <a:rPr lang="en-US" sz="2600" dirty="0"/>
              <a:t> for </a:t>
            </a:r>
            <a:r>
              <a:rPr lang="en-US" sz="2600" b="1" dirty="0"/>
              <a:t>lifetime value</a:t>
            </a:r>
            <a:r>
              <a:rPr lang="en-US" sz="2600" dirty="0"/>
              <a:t> even lower: </a:t>
            </a:r>
            <a:r>
              <a:rPr lang="en-US" sz="2600" dirty="0">
                <a:solidFill>
                  <a:srgbClr val="FFC000"/>
                </a:solidFill>
              </a:rPr>
              <a:t>$199</a:t>
            </a:r>
            <a:endParaRPr lang="en-US" sz="2600" dirty="0"/>
          </a:p>
        </p:txBody>
      </p:sp>
    </p:spTree>
    <p:extLst>
      <p:ext uri="{BB962C8B-B14F-4D97-AF65-F5344CB8AC3E}">
        <p14:creationId xmlns:p14="http://schemas.microsoft.com/office/powerpoint/2010/main" val="25699532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Pricing Theme">
  <a:themeElements>
    <a:clrScheme name="Custom 9">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0070C0"/>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themeOverride>
</file>

<file path=docProps/app.xml><?xml version="1.0" encoding="utf-8"?>
<Properties xmlns="http://schemas.openxmlformats.org/officeDocument/2006/extended-properties" xmlns:vt="http://schemas.openxmlformats.org/officeDocument/2006/docPropsVTypes">
  <Template>Pricing Theme</Template>
  <TotalTime>16806</TotalTime>
  <Pages>7</Pages>
  <Words>3705</Words>
  <Application>Microsoft Office PowerPoint</Application>
  <PresentationFormat>On-screen Show (4:3)</PresentationFormat>
  <Paragraphs>485</Paragraphs>
  <Slides>65</Slides>
  <Notes>3</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65</vt:i4>
      </vt:variant>
    </vt:vector>
  </HeadingPairs>
  <TitlesOfParts>
    <vt:vector size="77" baseType="lpstr">
      <vt:lpstr>Arial</vt:lpstr>
      <vt:lpstr>Cambria Math</vt:lpstr>
      <vt:lpstr>Cooper Black</vt:lpstr>
      <vt:lpstr>Monotype Sorts</vt:lpstr>
      <vt:lpstr>Rockwell Condensed</vt:lpstr>
      <vt:lpstr>Showcard Gothic</vt:lpstr>
      <vt:lpstr>Times New Roman</vt:lpstr>
      <vt:lpstr>Tw Cen MT</vt:lpstr>
      <vt:lpstr>Wingdings</vt:lpstr>
      <vt:lpstr>Wingdings 2</vt:lpstr>
      <vt:lpstr>Pricing Theme</vt:lpstr>
      <vt:lpstr>Worksheet</vt:lpstr>
      <vt:lpstr>Price Promotions &amp; Customer Lifetime Value</vt:lpstr>
      <vt:lpstr>Overview</vt:lpstr>
      <vt:lpstr>Case Study: Nashua Photo</vt:lpstr>
      <vt:lpstr>Evaluating Price Promotions Example: Nashua Photo</vt:lpstr>
      <vt:lpstr>Evaluating Price Promotions Example: Nashua Photo</vt:lpstr>
      <vt:lpstr>Evaluating Price Promotions Example: Nashua Photo</vt:lpstr>
      <vt:lpstr>Long Run Effects of Promotions</vt:lpstr>
      <vt:lpstr>“Companies spend 19.6% more on customer acquisition than on customer retention, up from 14.7% in 2022”</vt:lpstr>
      <vt:lpstr>Customer Lifetime Value (CLV) Simple NPV Calculation for customer’s cash-flow</vt:lpstr>
      <vt:lpstr>LR promotion benefit: Customer Journey example: Nashua Photo</vt:lpstr>
      <vt:lpstr>Assumptions to measure LR benefits example: Nashua Photo</vt:lpstr>
      <vt:lpstr>CLV of a Buyer model example: Nashua Photo’s 3 buyer types</vt:lpstr>
      <vt:lpstr>CLV of a Buyer model example: Nashua Photo’s 3 buyer types</vt:lpstr>
      <vt:lpstr>CLV of a Buyer model example: Nashua Photo’s 3 buyer types</vt:lpstr>
      <vt:lpstr>CLV of a Buyer model example: Nashua Photo’s 3 buyer types</vt:lpstr>
      <vt:lpstr>CLV of a Buyer example: Nashua Photo’s 3 buyer types</vt:lpstr>
      <vt:lpstr>Evaluating Price Promotions with CLV Example: Nashua Photo</vt:lpstr>
      <vt:lpstr>Price Promotion &amp; CLV of customer Example: Free Unlimited Service at Sprint</vt:lpstr>
      <vt:lpstr>CLV Pricing and Marketing for Bad? Example: Free OxyContin &amp; addiction</vt:lpstr>
      <vt:lpstr>CLV Pricing and Marketing for Good? Example: Netflix and inattention</vt:lpstr>
      <vt:lpstr>CLV Pricing: acquisition &amp; retention Example: Ziprecruiter.com</vt:lpstr>
      <vt:lpstr>Pricing and CLV at Ziprecruiter Pricing &amp; Retention</vt:lpstr>
      <vt:lpstr>Pricing and CLV at Ziprecruiter Measuring Retention</vt:lpstr>
      <vt:lpstr>Pricing and CLV at Ziprecruiter Assume retention rate same as acquisition rate</vt:lpstr>
      <vt:lpstr>Pricing and CLV at Ziprecruiter Assume retention rate same as acquisition rate</vt:lpstr>
      <vt:lpstr>Pricing and CLV at Amazon</vt:lpstr>
      <vt:lpstr>Take-Away</vt:lpstr>
      <vt:lpstr>Extra</vt:lpstr>
      <vt:lpstr>Promotions as a “One Time Gain” Example: Coupons…But is it always profitable?</vt:lpstr>
      <vt:lpstr>Promotions as a “One Time Gain” Exercise</vt:lpstr>
      <vt:lpstr>Extra</vt:lpstr>
      <vt:lpstr>The solver add-in</vt:lpstr>
      <vt:lpstr>The spreadsheet</vt:lpstr>
      <vt:lpstr>Use solver to compute CLV of consumer types B, R and L</vt:lpstr>
      <vt:lpstr>Enter equations into solver</vt:lpstr>
      <vt:lpstr>Enter constraints</vt:lpstr>
      <vt:lpstr>Now solve the system</vt:lpstr>
      <vt:lpstr>Solved</vt:lpstr>
      <vt:lpstr>CLV of a Buyer example: Nashua Photo’s 3 buyer types</vt:lpstr>
      <vt:lpstr>Using R to solve Nashua</vt:lpstr>
      <vt:lpstr>Overview</vt:lpstr>
      <vt:lpstr>Writing the model in matrix form</vt:lpstr>
      <vt:lpstr>Let’s solve this using R</vt:lpstr>
      <vt:lpstr>Freemium as Pricing and CLV</vt:lpstr>
      <vt:lpstr>Freemium and CLV</vt:lpstr>
      <vt:lpstr>Freemium and CLV</vt:lpstr>
      <vt:lpstr>Freemium and CLV</vt:lpstr>
      <vt:lpstr>Selection effects of introductory pricing Discounting to juice acquisition rates</vt:lpstr>
      <vt:lpstr>Extra</vt:lpstr>
      <vt:lpstr>Data and code overview</vt:lpstr>
      <vt:lpstr>The Logistic model</vt:lpstr>
      <vt:lpstr>The Logistic model and NPV</vt:lpstr>
      <vt:lpstr>A simulation in R to illustrate Code to create simulated choice data</vt:lpstr>
      <vt:lpstr>A simulation in R to illustrate Demand Estimation</vt:lpstr>
      <vt:lpstr>A simulation in R to illustrate Plot demand estimates</vt:lpstr>
      <vt:lpstr>A simulation in R to illustrate Plot demand estimates</vt:lpstr>
      <vt:lpstr>A simulation in R to illustrate Compute Monthly Revenue-maximizing price</vt:lpstr>
      <vt:lpstr>A simulation in R to illustrate Plot Predicted Monthly Revenue &amp; optimal price</vt:lpstr>
      <vt:lpstr>A simulation in R to illustrate Plot Predicted Monthly Revenue &amp; optimal price</vt:lpstr>
      <vt:lpstr>A simulation in R to illustrate Compute NPV of Revenue maximizing price</vt:lpstr>
      <vt:lpstr>A simulation in R to illustrate Plot monthly revenue and NPV revenue functions</vt:lpstr>
      <vt:lpstr>A simulation in R to illustrate Plot monthly revenue and NPV revenue functions</vt:lpstr>
      <vt:lpstr>Extra</vt:lpstr>
      <vt:lpstr>Pricing and CLV at Ziprecruiter</vt:lpstr>
      <vt:lpstr>Pricing and CLV at Ziprecruiter use data to measure retention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Pricing Policies MKT 414/STR 423</dc:title>
  <dc:creator>Jean-Pierre Dube</dc:creator>
  <cp:lastModifiedBy>Dube, Jean-Pierre</cp:lastModifiedBy>
  <cp:revision>664</cp:revision>
  <cp:lastPrinted>1999-03-11T17:02:17Z</cp:lastPrinted>
  <dcterms:created xsi:type="dcterms:W3CDTF">1996-09-12T10:14:08Z</dcterms:created>
  <dcterms:modified xsi:type="dcterms:W3CDTF">2025-05-22T22:44:51Z</dcterms:modified>
</cp:coreProperties>
</file>